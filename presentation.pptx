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notesSlides/notesSlide32.xml" ContentType="application/vnd.openxmlformats-officedocument.presentationml.notesSlide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  <p:sldMasterId id="2147483820" r:id="rId2"/>
  </p:sldMasterIdLst>
  <p:notesMasterIdLst>
    <p:notesMasterId r:id="rId270"/>
  </p:notesMasterIdLst>
  <p:sldIdLst>
    <p:sldId id="1190" r:id="rId3"/>
    <p:sldId id="1092" r:id="rId4"/>
    <p:sldId id="1117" r:id="rId5"/>
    <p:sldId id="1118" r:id="rId6"/>
    <p:sldId id="1119" r:id="rId7"/>
    <p:sldId id="1120" r:id="rId8"/>
    <p:sldId id="256" r:id="rId9"/>
    <p:sldId id="257" r:id="rId10"/>
    <p:sldId id="258" r:id="rId11"/>
    <p:sldId id="259" r:id="rId12"/>
    <p:sldId id="1134" r:id="rId13"/>
    <p:sldId id="260" r:id="rId14"/>
    <p:sldId id="1131" r:id="rId15"/>
    <p:sldId id="1129" r:id="rId16"/>
    <p:sldId id="261" r:id="rId17"/>
    <p:sldId id="262" r:id="rId18"/>
    <p:sldId id="263" r:id="rId19"/>
    <p:sldId id="264" r:id="rId20"/>
    <p:sldId id="265" r:id="rId21"/>
    <p:sldId id="267" r:id="rId22"/>
    <p:sldId id="268" r:id="rId23"/>
    <p:sldId id="1313" r:id="rId24"/>
    <p:sldId id="269" r:id="rId25"/>
    <p:sldId id="270" r:id="rId26"/>
    <p:sldId id="272" r:id="rId27"/>
    <p:sldId id="279" r:id="rId28"/>
    <p:sldId id="280" r:id="rId29"/>
    <p:sldId id="281" r:id="rId30"/>
    <p:sldId id="274" r:id="rId31"/>
    <p:sldId id="273" r:id="rId32"/>
    <p:sldId id="276" r:id="rId33"/>
    <p:sldId id="277" r:id="rId34"/>
    <p:sldId id="278" r:id="rId35"/>
    <p:sldId id="1133" r:id="rId36"/>
    <p:sldId id="282" r:id="rId37"/>
    <p:sldId id="283" r:id="rId38"/>
    <p:sldId id="285" r:id="rId39"/>
    <p:sldId id="286" r:id="rId40"/>
    <p:sldId id="275" r:id="rId41"/>
    <p:sldId id="287" r:id="rId42"/>
    <p:sldId id="600" r:id="rId43"/>
    <p:sldId id="616" r:id="rId44"/>
    <p:sldId id="617" r:id="rId45"/>
    <p:sldId id="601" r:id="rId46"/>
    <p:sldId id="602" r:id="rId47"/>
    <p:sldId id="603" r:id="rId48"/>
    <p:sldId id="604" r:id="rId49"/>
    <p:sldId id="605" r:id="rId50"/>
    <p:sldId id="606" r:id="rId51"/>
    <p:sldId id="607" r:id="rId52"/>
    <p:sldId id="608" r:id="rId53"/>
    <p:sldId id="1149" r:id="rId54"/>
    <p:sldId id="559" r:id="rId55"/>
    <p:sldId id="609" r:id="rId56"/>
    <p:sldId id="1191" r:id="rId57"/>
    <p:sldId id="1192" r:id="rId58"/>
    <p:sldId id="613" r:id="rId59"/>
    <p:sldId id="611" r:id="rId60"/>
    <p:sldId id="610" r:id="rId61"/>
    <p:sldId id="589" r:id="rId62"/>
    <p:sldId id="1152" r:id="rId63"/>
    <p:sldId id="612" r:id="rId64"/>
    <p:sldId id="1147" r:id="rId65"/>
    <p:sldId id="614" r:id="rId66"/>
    <p:sldId id="1135" r:id="rId67"/>
    <p:sldId id="615" r:id="rId68"/>
    <p:sldId id="1196" r:id="rId69"/>
    <p:sldId id="1195" r:id="rId70"/>
    <p:sldId id="1194" r:id="rId71"/>
    <p:sldId id="1193" r:id="rId72"/>
    <p:sldId id="430" r:id="rId73"/>
    <p:sldId id="1314" r:id="rId74"/>
    <p:sldId id="1198" r:id="rId75"/>
    <p:sldId id="431" r:id="rId76"/>
    <p:sldId id="1031" r:id="rId77"/>
    <p:sldId id="1030" r:id="rId78"/>
    <p:sldId id="1032" r:id="rId79"/>
    <p:sldId id="1033" r:id="rId80"/>
    <p:sldId id="1034" r:id="rId81"/>
    <p:sldId id="1035" r:id="rId82"/>
    <p:sldId id="1036" r:id="rId83"/>
    <p:sldId id="1037" r:id="rId84"/>
    <p:sldId id="1197" r:id="rId85"/>
    <p:sldId id="1038" r:id="rId86"/>
    <p:sldId id="1039" r:id="rId87"/>
    <p:sldId id="1040" r:id="rId88"/>
    <p:sldId id="1199" r:id="rId89"/>
    <p:sldId id="1042" r:id="rId90"/>
    <p:sldId id="1043" r:id="rId91"/>
    <p:sldId id="1060" r:id="rId92"/>
    <p:sldId id="1061" r:id="rId93"/>
    <p:sldId id="1044" r:id="rId94"/>
    <p:sldId id="1045" r:id="rId95"/>
    <p:sldId id="1046" r:id="rId96"/>
    <p:sldId id="1200" r:id="rId97"/>
    <p:sldId id="1201" r:id="rId98"/>
    <p:sldId id="1202" r:id="rId99"/>
    <p:sldId id="1047" r:id="rId100"/>
    <p:sldId id="1048" r:id="rId101"/>
    <p:sldId id="1049" r:id="rId102"/>
    <p:sldId id="1051" r:id="rId103"/>
    <p:sldId id="1052" r:id="rId104"/>
    <p:sldId id="1053" r:id="rId105"/>
    <p:sldId id="1050" r:id="rId106"/>
    <p:sldId id="1054" r:id="rId107"/>
    <p:sldId id="1203" r:id="rId108"/>
    <p:sldId id="1071" r:id="rId109"/>
    <p:sldId id="1072" r:id="rId110"/>
    <p:sldId id="1204" r:id="rId111"/>
    <p:sldId id="1073" r:id="rId112"/>
    <p:sldId id="1205" r:id="rId113"/>
    <p:sldId id="1206" r:id="rId114"/>
    <p:sldId id="1207" r:id="rId115"/>
    <p:sldId id="1059" r:id="rId116"/>
    <p:sldId id="1208" r:id="rId117"/>
    <p:sldId id="1209" r:id="rId118"/>
    <p:sldId id="1210" r:id="rId119"/>
    <p:sldId id="1211" r:id="rId120"/>
    <p:sldId id="1212" r:id="rId121"/>
    <p:sldId id="1213" r:id="rId122"/>
    <p:sldId id="1214" r:id="rId123"/>
    <p:sldId id="1062" r:id="rId124"/>
    <p:sldId id="1063" r:id="rId125"/>
    <p:sldId id="1215" r:id="rId126"/>
    <p:sldId id="1216" r:id="rId127"/>
    <p:sldId id="1055" r:id="rId128"/>
    <p:sldId id="1217" r:id="rId129"/>
    <p:sldId id="1056" r:id="rId130"/>
    <p:sldId id="1057" r:id="rId131"/>
    <p:sldId id="1218" r:id="rId132"/>
    <p:sldId id="1219" r:id="rId133"/>
    <p:sldId id="1220" r:id="rId134"/>
    <p:sldId id="1221" r:id="rId135"/>
    <p:sldId id="1222" r:id="rId136"/>
    <p:sldId id="1223" r:id="rId137"/>
    <p:sldId id="1224" r:id="rId138"/>
    <p:sldId id="1225" r:id="rId139"/>
    <p:sldId id="1226" r:id="rId140"/>
    <p:sldId id="1227" r:id="rId141"/>
    <p:sldId id="1229" r:id="rId142"/>
    <p:sldId id="1230" r:id="rId143"/>
    <p:sldId id="1231" r:id="rId144"/>
    <p:sldId id="1228" r:id="rId145"/>
    <p:sldId id="1232" r:id="rId146"/>
    <p:sldId id="1233" r:id="rId147"/>
    <p:sldId id="1064" r:id="rId148"/>
    <p:sldId id="1065" r:id="rId149"/>
    <p:sldId id="1234" r:id="rId150"/>
    <p:sldId id="1066" r:id="rId151"/>
    <p:sldId id="1067" r:id="rId152"/>
    <p:sldId id="1235" r:id="rId153"/>
    <p:sldId id="1236" r:id="rId154"/>
    <p:sldId id="291" r:id="rId155"/>
    <p:sldId id="1238" r:id="rId156"/>
    <p:sldId id="1239" r:id="rId157"/>
    <p:sldId id="1240" r:id="rId158"/>
    <p:sldId id="1241" r:id="rId159"/>
    <p:sldId id="1068" r:id="rId160"/>
    <p:sldId id="1242" r:id="rId161"/>
    <p:sldId id="1243" r:id="rId162"/>
    <p:sldId id="1244" r:id="rId163"/>
    <p:sldId id="1237" r:id="rId164"/>
    <p:sldId id="1245" r:id="rId165"/>
    <p:sldId id="1246" r:id="rId166"/>
    <p:sldId id="1247" r:id="rId167"/>
    <p:sldId id="1248" r:id="rId168"/>
    <p:sldId id="1249" r:id="rId169"/>
    <p:sldId id="1076" r:id="rId170"/>
    <p:sldId id="1250" r:id="rId171"/>
    <p:sldId id="1077" r:id="rId172"/>
    <p:sldId id="1251" r:id="rId173"/>
    <p:sldId id="1252" r:id="rId174"/>
    <p:sldId id="1253" r:id="rId175"/>
    <p:sldId id="1254" r:id="rId176"/>
    <p:sldId id="1255" r:id="rId177"/>
    <p:sldId id="1256" r:id="rId178"/>
    <p:sldId id="1257" r:id="rId179"/>
    <p:sldId id="1258" r:id="rId180"/>
    <p:sldId id="1259" r:id="rId181"/>
    <p:sldId id="1260" r:id="rId182"/>
    <p:sldId id="1261" r:id="rId183"/>
    <p:sldId id="1262" r:id="rId184"/>
    <p:sldId id="1263" r:id="rId185"/>
    <p:sldId id="1264" r:id="rId186"/>
    <p:sldId id="1266" r:id="rId187"/>
    <p:sldId id="1267" r:id="rId188"/>
    <p:sldId id="329" r:id="rId189"/>
    <p:sldId id="1265" r:id="rId190"/>
    <p:sldId id="1268" r:id="rId191"/>
    <p:sldId id="1269" r:id="rId192"/>
    <p:sldId id="1270" r:id="rId193"/>
    <p:sldId id="1091" r:id="rId194"/>
    <p:sldId id="1185" r:id="rId195"/>
    <p:sldId id="1271" r:id="rId196"/>
    <p:sldId id="1272" r:id="rId197"/>
    <p:sldId id="1273" r:id="rId198"/>
    <p:sldId id="1187" r:id="rId199"/>
    <p:sldId id="1274" r:id="rId200"/>
    <p:sldId id="1275" r:id="rId201"/>
    <p:sldId id="1186" r:id="rId202"/>
    <p:sldId id="1276" r:id="rId203"/>
    <p:sldId id="1277" r:id="rId204"/>
    <p:sldId id="1278" r:id="rId205"/>
    <p:sldId id="1279" r:id="rId206"/>
    <p:sldId id="1188" r:id="rId207"/>
    <p:sldId id="1280" r:id="rId208"/>
    <p:sldId id="1281" r:id="rId209"/>
    <p:sldId id="1282" r:id="rId210"/>
    <p:sldId id="1283" r:id="rId211"/>
    <p:sldId id="1284" r:id="rId212"/>
    <p:sldId id="1285" r:id="rId213"/>
    <p:sldId id="1286" r:id="rId214"/>
    <p:sldId id="1287" r:id="rId215"/>
    <p:sldId id="1288" r:id="rId216"/>
    <p:sldId id="1289" r:id="rId217"/>
    <p:sldId id="1290" r:id="rId218"/>
    <p:sldId id="1291" r:id="rId219"/>
    <p:sldId id="1292" r:id="rId220"/>
    <p:sldId id="1293" r:id="rId221"/>
    <p:sldId id="1294" r:id="rId222"/>
    <p:sldId id="1295" r:id="rId223"/>
    <p:sldId id="1296" r:id="rId224"/>
    <p:sldId id="1297" r:id="rId225"/>
    <p:sldId id="1298" r:id="rId226"/>
    <p:sldId id="1299" r:id="rId227"/>
    <p:sldId id="1300" r:id="rId228"/>
    <p:sldId id="1301" r:id="rId229"/>
    <p:sldId id="1302" r:id="rId230"/>
    <p:sldId id="1303" r:id="rId231"/>
    <p:sldId id="1304" r:id="rId232"/>
    <p:sldId id="1305" r:id="rId233"/>
    <p:sldId id="1078" r:id="rId234"/>
    <p:sldId id="1079" r:id="rId235"/>
    <p:sldId id="1080" r:id="rId236"/>
    <p:sldId id="1081" r:id="rId237"/>
    <p:sldId id="1082" r:id="rId238"/>
    <p:sldId id="1083" r:id="rId239"/>
    <p:sldId id="1084" r:id="rId240"/>
    <p:sldId id="1306" r:id="rId241"/>
    <p:sldId id="1089" r:id="rId242"/>
    <p:sldId id="1090" r:id="rId243"/>
    <p:sldId id="1308" r:id="rId244"/>
    <p:sldId id="1309" r:id="rId245"/>
    <p:sldId id="1310" r:id="rId246"/>
    <p:sldId id="1311" r:id="rId247"/>
    <p:sldId id="1312" r:id="rId248"/>
    <p:sldId id="1307" r:id="rId249"/>
    <p:sldId id="1074" r:id="rId250"/>
    <p:sldId id="1075" r:id="rId251"/>
    <p:sldId id="1184" r:id="rId252"/>
    <p:sldId id="1167" r:id="rId253"/>
    <p:sldId id="1168" r:id="rId254"/>
    <p:sldId id="1169" r:id="rId255"/>
    <p:sldId id="1170" r:id="rId256"/>
    <p:sldId id="1171" r:id="rId257"/>
    <p:sldId id="1172" r:id="rId258"/>
    <p:sldId id="1173" r:id="rId259"/>
    <p:sldId id="1174" r:id="rId260"/>
    <p:sldId id="1175" r:id="rId261"/>
    <p:sldId id="1176" r:id="rId262"/>
    <p:sldId id="1177" r:id="rId263"/>
    <p:sldId id="1178" r:id="rId264"/>
    <p:sldId id="1179" r:id="rId265"/>
    <p:sldId id="1180" r:id="rId266"/>
    <p:sldId id="1181" r:id="rId267"/>
    <p:sldId id="1182" r:id="rId268"/>
    <p:sldId id="1183" r:id="rId26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005" autoAdjust="0"/>
    <p:restoredTop sz="94977"/>
  </p:normalViewPr>
  <p:slideViewPr>
    <p:cSldViewPr snapToGrid="0">
      <p:cViewPr>
        <p:scale>
          <a:sx n="120" d="100"/>
          <a:sy n="120" d="100"/>
        </p:scale>
        <p:origin x="3088" y="1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63" Type="http://schemas.openxmlformats.org/officeDocument/2006/relationships/slide" Target="slides/slide61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226" Type="http://schemas.openxmlformats.org/officeDocument/2006/relationships/slide" Target="slides/slide224.xml"/><Relationship Id="rId268" Type="http://schemas.openxmlformats.org/officeDocument/2006/relationships/slide" Target="slides/slide266.xml"/><Relationship Id="rId32" Type="http://schemas.openxmlformats.org/officeDocument/2006/relationships/slide" Target="slides/slide30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slide" Target="slides/slide214.xml"/><Relationship Id="rId237" Type="http://schemas.openxmlformats.org/officeDocument/2006/relationships/slide" Target="slides/slide235.xml"/><Relationship Id="rId258" Type="http://schemas.openxmlformats.org/officeDocument/2006/relationships/slide" Target="slides/slide256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227" Type="http://schemas.openxmlformats.org/officeDocument/2006/relationships/slide" Target="slides/slide225.xml"/><Relationship Id="rId248" Type="http://schemas.openxmlformats.org/officeDocument/2006/relationships/slide" Target="slides/slide246.xml"/><Relationship Id="rId269" Type="http://schemas.openxmlformats.org/officeDocument/2006/relationships/slide" Target="slides/slide267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slide" Target="slides/slide215.xml"/><Relationship Id="rId6" Type="http://schemas.openxmlformats.org/officeDocument/2006/relationships/slide" Target="slides/slide4.xml"/><Relationship Id="rId238" Type="http://schemas.openxmlformats.org/officeDocument/2006/relationships/slide" Target="slides/slide236.xml"/><Relationship Id="rId259" Type="http://schemas.openxmlformats.org/officeDocument/2006/relationships/slide" Target="slides/slide257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270" Type="http://schemas.openxmlformats.org/officeDocument/2006/relationships/notesMaster" Target="notesMasters/notesMaster1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228" Type="http://schemas.openxmlformats.org/officeDocument/2006/relationships/slide" Target="slides/slide226.xml"/><Relationship Id="rId249" Type="http://schemas.openxmlformats.org/officeDocument/2006/relationships/slide" Target="slides/slide247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260" Type="http://schemas.openxmlformats.org/officeDocument/2006/relationships/slide" Target="slides/slide258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slide" Target="slides/slide216.xml"/><Relationship Id="rId239" Type="http://schemas.openxmlformats.org/officeDocument/2006/relationships/slide" Target="slides/slide237.xml"/><Relationship Id="rId250" Type="http://schemas.openxmlformats.org/officeDocument/2006/relationships/slide" Target="slides/slide248.xml"/><Relationship Id="rId271" Type="http://schemas.openxmlformats.org/officeDocument/2006/relationships/presProps" Target="presProp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229" Type="http://schemas.openxmlformats.org/officeDocument/2006/relationships/slide" Target="slides/slide227.xml"/><Relationship Id="rId240" Type="http://schemas.openxmlformats.org/officeDocument/2006/relationships/slide" Target="slides/slide238.xml"/><Relationship Id="rId261" Type="http://schemas.openxmlformats.org/officeDocument/2006/relationships/slide" Target="slides/slide259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8" Type="http://schemas.openxmlformats.org/officeDocument/2006/relationships/slide" Target="slides/slide6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219" Type="http://schemas.openxmlformats.org/officeDocument/2006/relationships/slide" Target="slides/slide217.xml"/><Relationship Id="rId230" Type="http://schemas.openxmlformats.org/officeDocument/2006/relationships/slide" Target="slides/slide228.xml"/><Relationship Id="rId251" Type="http://schemas.openxmlformats.org/officeDocument/2006/relationships/slide" Target="slides/slide249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72" Type="http://schemas.openxmlformats.org/officeDocument/2006/relationships/viewProps" Target="viewProps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220" Type="http://schemas.openxmlformats.org/officeDocument/2006/relationships/slide" Target="slides/slide218.xml"/><Relationship Id="rId241" Type="http://schemas.openxmlformats.org/officeDocument/2006/relationships/slide" Target="slides/slide23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262" Type="http://schemas.openxmlformats.org/officeDocument/2006/relationships/slide" Target="slides/slide260.xml"/><Relationship Id="rId78" Type="http://schemas.openxmlformats.org/officeDocument/2006/relationships/slide" Target="slides/slide76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64" Type="http://schemas.openxmlformats.org/officeDocument/2006/relationships/slide" Target="slides/slide162.xml"/><Relationship Id="rId185" Type="http://schemas.openxmlformats.org/officeDocument/2006/relationships/slide" Target="slides/slide183.xml"/><Relationship Id="rId9" Type="http://schemas.openxmlformats.org/officeDocument/2006/relationships/slide" Target="slides/slide7.xml"/><Relationship Id="rId210" Type="http://schemas.openxmlformats.org/officeDocument/2006/relationships/slide" Target="slides/slide208.xml"/><Relationship Id="rId26" Type="http://schemas.openxmlformats.org/officeDocument/2006/relationships/slide" Target="slides/slide24.xml"/><Relationship Id="rId231" Type="http://schemas.openxmlformats.org/officeDocument/2006/relationships/slide" Target="slides/slide229.xml"/><Relationship Id="rId252" Type="http://schemas.openxmlformats.org/officeDocument/2006/relationships/slide" Target="slides/slide250.xml"/><Relationship Id="rId273" Type="http://schemas.openxmlformats.org/officeDocument/2006/relationships/theme" Target="theme/theme1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221" Type="http://schemas.openxmlformats.org/officeDocument/2006/relationships/slide" Target="slides/slide219.xml"/><Relationship Id="rId242" Type="http://schemas.openxmlformats.org/officeDocument/2006/relationships/slide" Target="slides/slide240.xml"/><Relationship Id="rId263" Type="http://schemas.openxmlformats.org/officeDocument/2006/relationships/slide" Target="slides/slide261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32" Type="http://schemas.openxmlformats.org/officeDocument/2006/relationships/slide" Target="slides/slide230.xml"/><Relationship Id="rId253" Type="http://schemas.openxmlformats.org/officeDocument/2006/relationships/slide" Target="slides/slide251.xml"/><Relationship Id="rId274" Type="http://schemas.openxmlformats.org/officeDocument/2006/relationships/tableStyles" Target="tableStyles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222" Type="http://schemas.openxmlformats.org/officeDocument/2006/relationships/slide" Target="slides/slide220.xml"/><Relationship Id="rId243" Type="http://schemas.openxmlformats.org/officeDocument/2006/relationships/slide" Target="slides/slide241.xml"/><Relationship Id="rId264" Type="http://schemas.openxmlformats.org/officeDocument/2006/relationships/slide" Target="slides/slide262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33" Type="http://schemas.openxmlformats.org/officeDocument/2006/relationships/slide" Target="slides/slide231.xml"/><Relationship Id="rId254" Type="http://schemas.openxmlformats.org/officeDocument/2006/relationships/slide" Target="slides/slide252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223" Type="http://schemas.openxmlformats.org/officeDocument/2006/relationships/slide" Target="slides/slide221.xml"/><Relationship Id="rId244" Type="http://schemas.openxmlformats.org/officeDocument/2006/relationships/slide" Target="slides/slide242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265" Type="http://schemas.openxmlformats.org/officeDocument/2006/relationships/slide" Target="slides/slide263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34" Type="http://schemas.openxmlformats.org/officeDocument/2006/relationships/slide" Target="slides/slide23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55" Type="http://schemas.openxmlformats.org/officeDocument/2006/relationships/slide" Target="slides/slide253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Relationship Id="rId224" Type="http://schemas.openxmlformats.org/officeDocument/2006/relationships/slide" Target="slides/slide222.xml"/><Relationship Id="rId245" Type="http://schemas.openxmlformats.org/officeDocument/2006/relationships/slide" Target="slides/slide243.xml"/><Relationship Id="rId266" Type="http://schemas.openxmlformats.org/officeDocument/2006/relationships/slide" Target="slides/slide264.xml"/><Relationship Id="rId30" Type="http://schemas.openxmlformats.org/officeDocument/2006/relationships/slide" Target="slides/slide2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slide" Target="slides/slide212.xml"/><Relationship Id="rId235" Type="http://schemas.openxmlformats.org/officeDocument/2006/relationships/slide" Target="slides/slide233.xml"/><Relationship Id="rId256" Type="http://schemas.openxmlformats.org/officeDocument/2006/relationships/slide" Target="slides/slide254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179" Type="http://schemas.openxmlformats.org/officeDocument/2006/relationships/slide" Target="slides/slide17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225" Type="http://schemas.openxmlformats.org/officeDocument/2006/relationships/slide" Target="slides/slide223.xml"/><Relationship Id="rId246" Type="http://schemas.openxmlformats.org/officeDocument/2006/relationships/slide" Target="slides/slide244.xml"/><Relationship Id="rId267" Type="http://schemas.openxmlformats.org/officeDocument/2006/relationships/slide" Target="slides/slide26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94" Type="http://schemas.openxmlformats.org/officeDocument/2006/relationships/slide" Target="slides/slide92.xml"/><Relationship Id="rId148" Type="http://schemas.openxmlformats.org/officeDocument/2006/relationships/slide" Target="slides/slide146.xml"/><Relationship Id="rId169" Type="http://schemas.openxmlformats.org/officeDocument/2006/relationships/slide" Target="slides/slide167.xml"/><Relationship Id="rId4" Type="http://schemas.openxmlformats.org/officeDocument/2006/relationships/slide" Target="slides/slide2.xml"/><Relationship Id="rId180" Type="http://schemas.openxmlformats.org/officeDocument/2006/relationships/slide" Target="slides/slide178.xml"/><Relationship Id="rId215" Type="http://schemas.openxmlformats.org/officeDocument/2006/relationships/slide" Target="slides/slide213.xml"/><Relationship Id="rId236" Type="http://schemas.openxmlformats.org/officeDocument/2006/relationships/slide" Target="slides/slide234.xml"/><Relationship Id="rId257" Type="http://schemas.openxmlformats.org/officeDocument/2006/relationships/slide" Target="slides/slide255.xml"/><Relationship Id="rId42" Type="http://schemas.openxmlformats.org/officeDocument/2006/relationships/slide" Target="slides/slide40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247" Type="http://schemas.openxmlformats.org/officeDocument/2006/relationships/slide" Target="slides/slide245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53" Type="http://schemas.openxmlformats.org/officeDocument/2006/relationships/slide" Target="slides/slide51.xml"/><Relationship Id="rId149" Type="http://schemas.openxmlformats.org/officeDocument/2006/relationships/slide" Target="slides/slide147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2FFA8-0DF2-4460-A7E9-17D1DE81E76C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02226-11FA-4C18-8BB6-D26C6DF041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561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865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697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Javascript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Typescript</a:t>
            </a:r>
            <a:r>
              <a:rPr lang="de-DE" dirty="0"/>
              <a:t> .</a:t>
            </a:r>
            <a:r>
              <a:rPr lang="de-DE" dirty="0" err="1"/>
              <a:t>js</a:t>
            </a:r>
            <a:r>
              <a:rPr lang="de-DE" dirty="0"/>
              <a:t> Dateien zu .</a:t>
            </a:r>
            <a:r>
              <a:rPr lang="de-DE" dirty="0" err="1"/>
              <a:t>ts</a:t>
            </a:r>
            <a:r>
              <a:rPr lang="de-DE" dirty="0"/>
              <a:t> </a:t>
            </a:r>
            <a:r>
              <a:rPr lang="de-DE" dirty="0" err="1"/>
              <a:t>umbennen</a:t>
            </a:r>
            <a:r>
              <a:rPr lang="de-DE" dirty="0"/>
              <a:t> im Projekt werden auch </a:t>
            </a:r>
            <a:r>
              <a:rPr lang="de-DE" dirty="0" err="1"/>
              <a:t>mit“compiliert</a:t>
            </a:r>
            <a:r>
              <a:rPr lang="de-DE" dirty="0"/>
              <a:t>“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82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398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4915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4916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C17BE69-7C65-4369-82EC-97E941713204}" type="slidenum">
              <a:rPr lang="de-DE" sz="1200" smtClean="0"/>
              <a:pPr/>
              <a:t>41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208117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5939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5940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4A329183-9AB5-4A93-AD2B-E71D4791B796}" type="slidenum">
              <a:rPr lang="de-DE" sz="1200" smtClean="0"/>
              <a:pPr/>
              <a:t>44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3301010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293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5293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3E6E8B08-2E45-4EE9-A36E-CE42050F07A6}" type="slidenum">
              <a:rPr lang="de-DE" sz="1200" smtClean="0"/>
              <a:pPr/>
              <a:t>53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217285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63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96964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31CE09D-2898-43A8-B94F-CF3153CD3797}" type="slidenum">
              <a:rPr lang="de-DE" sz="1200" smtClean="0"/>
              <a:pPr/>
              <a:t>58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4250757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365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8365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E199A337-162B-4480-85DE-20FA811EF5F1}" type="slidenum">
              <a:rPr lang="de-DE" sz="1200" smtClean="0"/>
              <a:pPr/>
              <a:t>60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7420929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0968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95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3121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765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582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0231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Erzeugung an einer zentralen Stelle im Code</a:t>
            </a:r>
          </a:p>
          <a:p>
            <a:pPr eaLnBrk="1" hangingPunct="1"/>
            <a:r>
              <a:rPr lang="de-DE" dirty="0"/>
              <a:t>Rückgabe von Subklassen möglich</a:t>
            </a:r>
          </a:p>
          <a:p>
            <a:pPr eaLnBrk="1" hangingPunct="1"/>
            <a:r>
              <a:rPr lang="de-DE" dirty="0"/>
              <a:t>Für Tests ist der Einsatz von Mock Objekten denkbar</a:t>
            </a:r>
          </a:p>
          <a:p>
            <a:pPr eaLnBrk="1" hangingPunct="1"/>
            <a:r>
              <a:rPr lang="de-DE" dirty="0"/>
              <a:t>Umgehung der Factory möglich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0247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95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620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177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8782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171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54817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7247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15351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0B2F158E-506F-4194-9CF0-79D43EA4F4EB}" type="slidenum">
              <a:rPr lang="de-DE"/>
              <a:pPr/>
              <a:t>234</a:t>
            </a:fld>
            <a:endParaRPr lang="de-DE"/>
          </a:p>
        </p:txBody>
      </p:sp>
      <p:sp>
        <p:nvSpPr>
          <p:cNvPr id="429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9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AEBF6986-12B2-4524-A824-DF671EC7CFD2}" type="slidenum">
              <a:rPr lang="de-DE"/>
              <a:pPr/>
              <a:t>235</a:t>
            </a:fld>
            <a:endParaRPr lang="de-DE"/>
          </a:p>
        </p:txBody>
      </p:sp>
      <p:sp>
        <p:nvSpPr>
          <p:cNvPr id="428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8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8970E3DD-B878-480B-83E8-4D375DB0A4BA}" type="slidenum">
              <a:rPr lang="de-DE"/>
              <a:pPr/>
              <a:t>236</a:t>
            </a:fld>
            <a:endParaRPr lang="de-DE"/>
          </a:p>
        </p:txBody>
      </p:sp>
      <p:sp>
        <p:nvSpPr>
          <p:cNvPr id="427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7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F52ABDB9-36E5-4190-851D-2757061BE724}" type="slidenum">
              <a:rPr lang="de-DE"/>
              <a:pPr/>
              <a:t>237</a:t>
            </a:fld>
            <a:endParaRPr lang="de-DE"/>
          </a:p>
        </p:txBody>
      </p:sp>
      <p:sp>
        <p:nvSpPr>
          <p:cNvPr id="425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5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131DE0D1-5E86-4237-967A-313F79C0C0FF}" type="slidenum">
              <a:rPr lang="de-DE"/>
              <a:pPr/>
              <a:t>238</a:t>
            </a:fld>
            <a:endParaRPr lang="de-DE"/>
          </a:p>
        </p:txBody>
      </p:sp>
      <p:sp>
        <p:nvSpPr>
          <p:cNvPr id="424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4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76018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3B9589-0275-2F46-A95C-5002457A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AA503B-0941-4443-85DB-19BFE2D70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9D6DCD-6B30-1045-A5C5-7BCBA4EB3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872E20-1F90-1944-8DC0-7055168F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828F0-8D35-3545-BDA5-D5CE47BD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437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2083F1-8A0D-274B-87B5-F0CD63A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04AA65-DDC4-8B46-945F-6AFDBBE26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CC219F-5127-284E-A077-9A54AEEA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13D46E-583F-9D47-88CE-8335013B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DFCE0-19A3-8442-B969-2B044B2A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2910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194DA-D4C0-224C-8AF3-92886CC4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5C8BD8-B3BC-1640-A514-0B3B0F329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B2260B-EB57-3B45-8660-031833B1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EE6AC-F0F4-D945-8C9C-111A29C2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812E5E-8AE5-8845-83BA-01525F1E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5588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E55D6-3DCD-AE4F-9952-EEF072E7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523C9A-1095-F548-8A5F-70F8CFA380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0EF807-AF93-9E46-B3E7-8EB05B4A7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7DC3A3-99AE-F348-9946-E4E02015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445A4CB-6995-024C-9C16-C7474680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9970C0-4105-9848-AC71-FD31663CF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896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52D00-6B40-4A44-8DFE-0AB54BF4A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AFC7349-BA43-0D40-A86B-63C2FFCCB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947164-BE78-9647-A4C1-B276C62B7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5C93B6-360C-AE4D-814D-49AAB412F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58B3CE-294D-FF4D-B71A-9CEBEE53EA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9264BD6-B8A9-D546-9619-B013A8C1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0EDCBE1-B27E-474C-9CFC-71017936A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7E0687E-8149-3C4D-9478-484911DD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673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12D41-B21E-D346-AC5D-6B200DDD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A6854F-7FB1-8241-9FE8-B3EBCA5F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59BE20F-184D-914A-97FB-EFDB5267B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E410DC-7A7D-5A4D-86DC-E5D8E272A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45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022C01-CF55-4947-9EC0-B337AF4F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7BCEB-6122-8B48-9BDC-92E57207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1C4A3-213B-8C45-B74E-B73CB01C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675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C524-67CF-714F-A834-C6DD659C1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156CD3-33B2-B646-854F-C6C407DF9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65518E-5D1E-9949-9E36-6FD35F2A2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99E8BA-F2EF-3640-9BB5-FA2748A69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7F6F33-E3B6-2445-8249-1D9E8ADCA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F2B437-9985-2348-991E-A54DBCA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589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0389-8CAB-984D-AF69-C503C85B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090F59-D137-174E-AAFE-A630155AF1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14D012-06D7-BC4D-85E5-004CFBB2A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B67065-1062-CC48-BBBF-3A12246D1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47CE3B-468E-3948-AA1A-82952E08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BE1D2D-4DCE-6C4F-BE6C-F553260C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89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3F86A-187F-4C42-B822-BE8673A4B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046535E-786E-6147-A896-BCD337F26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8BFB13-803F-8C49-8C07-06925AFC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86B68A-2DEA-1A4A-9024-9E8D90E7F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212AE8-37A7-144F-AC84-13681EA3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3586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7A9A108-B5B9-E645-8259-A7B7B55060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078DB4-D053-6A47-833B-D01FA89C6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FA029-2C77-8841-83C5-1C7B83964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1ADD13-3575-464E-A2D4-80EC04FB5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013DD0-53D9-B345-A070-F9182DB2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511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918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008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067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953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2154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6946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7638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73493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04881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63809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814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3098800" y="965200"/>
            <a:ext cx="8314267" cy="52705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55571209"/>
      </p:ext>
    </p:extLst>
  </p:cSld>
  <p:clrMapOvr>
    <a:masterClrMapping/>
  </p:clrMapOvr>
  <p:transition spd="med">
    <p:dissolv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467" y="333376"/>
            <a:ext cx="4377267" cy="84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platzhalter 19"/>
          <p:cNvSpPr>
            <a:spLocks noGrp="1"/>
          </p:cNvSpPr>
          <p:nvPr>
            <p:ph type="body" sz="quarter" idx="12"/>
          </p:nvPr>
        </p:nvSpPr>
        <p:spPr>
          <a:xfrm>
            <a:off x="1214020" y="4293096"/>
            <a:ext cx="6248893" cy="1584176"/>
          </a:xfrm>
          <a:prstGeom prst="rect">
            <a:avLst/>
          </a:prstGeom>
        </p:spPr>
        <p:txBody>
          <a:bodyPr lIns="90000"/>
          <a:lstStyle>
            <a:lvl1pPr marL="342900" indent="-342900">
              <a:buNone/>
              <a:defRPr lang="de-DE" sz="2000" dirty="0" smtClean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1214021" y="2132856"/>
            <a:ext cx="9106449" cy="2160240"/>
          </a:xfrm>
        </p:spPr>
        <p:txBody>
          <a:bodyPr anchor="b"/>
          <a:lstStyle>
            <a:lvl1pPr>
              <a:defRPr sz="4000" baseline="0">
                <a:solidFill>
                  <a:schemeClr val="accent3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361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Textplatzhalter 9"/>
          <p:cNvSpPr>
            <a:spLocks noGrp="1"/>
          </p:cNvSpPr>
          <p:nvPr>
            <p:ph idx="1"/>
          </p:nvPr>
        </p:nvSpPr>
        <p:spPr>
          <a:xfrm>
            <a:off x="335361" y="1196751"/>
            <a:ext cx="11380271" cy="5296123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235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2661192-D0D2-6046-A2DF-0E6616F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96CDC6-DD5E-AB4C-93CA-0522BAAF8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57125-41E1-5B41-AEF7-6AC4A0497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931049-A218-1545-8661-07C44BC7B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102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09.06.21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640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76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karma-runner.github.io/" TargetMode="Externa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9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file:///Volumes/share/Seminar/angular2/angular2/sildes/index.html#/intro/prerequisit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://localhost:4200/" TargetMode="Externa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4.png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hyperlink" Target="https://rxmarbles.com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hyperlink" Target="http://reactivex.io/" TargetMode="External"/><Relationship Id="rId1" Type="http://schemas.openxmlformats.org/officeDocument/2006/relationships/slideLayout" Target="../slideLayouts/slideLayout13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14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4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hyperlink" Target="http://de.wikipedia.org/wiki/Cross-Origin_Resource_Sharing" TargetMode="External"/><Relationship Id="rId1" Type="http://schemas.openxmlformats.org/officeDocument/2006/relationships/slideLayout" Target="../slideLayouts/slideLayout13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io/guide/attribute-directives" TargetMode="External"/><Relationship Id="rId1" Type="http://schemas.openxmlformats.org/officeDocument/2006/relationships/slideLayout" Target="../slideLayouts/slideLayout13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7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4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misc/registry" TargetMode="External"/><Relationship Id="rId1" Type="http://schemas.openxmlformats.org/officeDocument/2006/relationships/slideLayout" Target="../slideLayouts/slideLayout13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" TargetMode="External"/><Relationship Id="rId1" Type="http://schemas.openxmlformats.org/officeDocument/2006/relationships/slideLayout" Target="../slideLayouts/slideLayout13.xml"/></Relationships>
</file>

<file path=ppt/slides/_rels/slide2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riting an appointment on a paper agenda">
            <a:extLst>
              <a:ext uri="{FF2B5EF4-FFF2-40B4-BE49-F238E27FC236}">
                <a16:creationId xmlns:a16="http://schemas.microsoft.com/office/drawing/2014/main" id="{A36EDBC7-19DE-4649-8068-87A77902F1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9C1485A-5391-0D42-A62C-FE7E4035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Typescript Primer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35F255B-57EE-A54D-9951-BF585EA4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Einführung in Typescript</a:t>
            </a:r>
          </a:p>
        </p:txBody>
      </p:sp>
    </p:spTree>
    <p:extLst>
      <p:ext uri="{BB962C8B-B14F-4D97-AF65-F5344CB8AC3E}">
        <p14:creationId xmlns:p14="http://schemas.microsoft.com/office/powerpoint/2010/main" val="1338086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PU mit Binärzahlen und Blaupause">
            <a:extLst>
              <a:ext uri="{FF2B5EF4-FFF2-40B4-BE49-F238E27FC236}">
                <a16:creationId xmlns:a16="http://schemas.microsoft.com/office/drawing/2014/main" id="{E4BA0765-2BE7-469F-94FA-605E1290EC8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Einrichten von Typescript 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Installation</a:t>
            </a:r>
          </a:p>
        </p:txBody>
      </p:sp>
    </p:spTree>
    <p:extLst>
      <p:ext uri="{BB962C8B-B14F-4D97-AF65-F5344CB8AC3E}">
        <p14:creationId xmlns:p14="http://schemas.microsoft.com/office/powerpoint/2010/main" val="6192065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Benötigte Komponenten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Oder global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endParaRPr lang="de-DE" dirty="0"/>
          </a:p>
          <a:p>
            <a:r>
              <a:rPr lang="de-DE" dirty="0"/>
              <a:t>Lite-Server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Parallelisierung von </a:t>
            </a:r>
            <a:r>
              <a:rPr lang="de-DE" dirty="0" err="1"/>
              <a:t>npm</a:t>
            </a:r>
            <a:r>
              <a:rPr lang="de-DE" dirty="0"/>
              <a:t>-Kommandos</a:t>
            </a: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2149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Konfiguration des </a:t>
            </a:r>
            <a:r>
              <a:rPr lang="de-DE" dirty="0" err="1"/>
              <a:t>TypeScript</a:t>
            </a:r>
            <a:r>
              <a:rPr lang="de-DE" dirty="0"/>
              <a:t>-Compilers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Erzeugt die Datei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tsconfig.json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Darin werden alle möglichen Konfigurationen angelegt</a:t>
            </a:r>
          </a:p>
          <a:p>
            <a:pPr lvl="2"/>
            <a:r>
              <a:rPr lang="de-DE" dirty="0"/>
              <a:t>wobei die allermeisten auskommentiert sind</a:t>
            </a:r>
          </a:p>
          <a:p>
            <a:r>
              <a:rPr lang="de-DE" dirty="0"/>
              <a:t>Für die folgenden Beispiele wird insbesondere der </a:t>
            </a:r>
            <a:r>
              <a:rPr lang="de-DE" dirty="0" err="1"/>
              <a:t>strict</a:t>
            </a:r>
            <a:r>
              <a:rPr lang="de-DE" dirty="0"/>
              <a:t>-Mode aktiviert</a:t>
            </a:r>
          </a:p>
        </p:txBody>
      </p:sp>
    </p:spTree>
    <p:extLst>
      <p:ext uri="{BB962C8B-B14F-4D97-AF65-F5344CB8AC3E}">
        <p14:creationId xmlns:p14="http://schemas.microsoft.com/office/powerpoint/2010/main" val="392342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Scripts der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-w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446487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Benutzung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Starten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Startet den </a:t>
            </a:r>
            <a:r>
              <a:rPr lang="de-DE" dirty="0" err="1"/>
              <a:t>TypeScript-Transpiler</a:t>
            </a:r>
            <a:endParaRPr lang="de-DE" dirty="0"/>
          </a:p>
          <a:p>
            <a:pPr lvl="1"/>
            <a:r>
              <a:rPr lang="de-DE" dirty="0"/>
              <a:t>Startet den Lite Server mit Browser-</a:t>
            </a:r>
            <a:r>
              <a:rPr lang="de-DE" dirty="0" err="1"/>
              <a:t>Sync</a:t>
            </a:r>
            <a:endParaRPr lang="de-DE" dirty="0"/>
          </a:p>
          <a:p>
            <a:pPr lvl="1"/>
            <a:r>
              <a:rPr lang="de-DE" dirty="0"/>
              <a:t>Startet den Default-Browser und stellt die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index.html</a:t>
            </a:r>
            <a:r>
              <a:rPr lang="de-DE" dirty="0"/>
              <a:t>-Seite dar</a:t>
            </a:r>
          </a:p>
          <a:p>
            <a:r>
              <a:rPr lang="de-DE" dirty="0"/>
              <a:t>Parallelisierung</a:t>
            </a:r>
          </a:p>
          <a:p>
            <a:pPr lvl="1"/>
            <a:r>
              <a:rPr lang="de-DE" dirty="0"/>
              <a:t>Sämtliche Dateien mit der Endung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 im Ordner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dirty="0"/>
              <a:t> werden automatisch nach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/>
              <a:t> transpiliert</a:t>
            </a:r>
          </a:p>
          <a:p>
            <a:pPr lvl="1"/>
            <a:r>
              <a:rPr lang="de-DE" dirty="0"/>
              <a:t>Änderungen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-Dateien werden automatisch erkannt</a:t>
            </a:r>
          </a:p>
          <a:p>
            <a:pPr lvl="1"/>
            <a:r>
              <a:rPr lang="de-DE" dirty="0"/>
              <a:t>Der Server aktualisiert den Browser  mit den geänderten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69890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ypeScript Figure">
            <a:extLst>
              <a:ext uri="{FF2B5EF4-FFF2-40B4-BE49-F238E27FC236}">
                <a16:creationId xmlns:a16="http://schemas.microsoft.com/office/drawing/2014/main" id="{63906B36-167C-4EFE-A0E9-027B2AF2B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28178" y="2191821"/>
            <a:ext cx="2295525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09B825FC-7251-46B4-B2C9-703FB5EEC977}"/>
              </a:ext>
            </a:extLst>
          </p:cNvPr>
          <p:cNvSpPr/>
          <p:nvPr/>
        </p:nvSpPr>
        <p:spPr>
          <a:xfrm>
            <a:off x="1131835" y="1172938"/>
            <a:ext cx="33222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just JavaScript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B01B1F7-1EAF-4222-9435-E39E24A27D0E}"/>
              </a:ext>
            </a:extLst>
          </p:cNvPr>
          <p:cNvSpPr/>
          <p:nvPr/>
        </p:nvSpPr>
        <p:spPr>
          <a:xfrm>
            <a:off x="562467" y="5315730"/>
            <a:ext cx="43610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 supports other JS libraries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3CD08AC-F770-47E8-B5EA-C3D764CA1A19}"/>
              </a:ext>
            </a:extLst>
          </p:cNvPr>
          <p:cNvSpPr/>
          <p:nvPr/>
        </p:nvSpPr>
        <p:spPr>
          <a:xfrm>
            <a:off x="8185689" y="5315730"/>
            <a:ext cx="2911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B5899F-27F1-43FD-8E72-EDDD4385C8F9}"/>
              </a:ext>
            </a:extLst>
          </p:cNvPr>
          <p:cNvSpPr/>
          <p:nvPr/>
        </p:nvSpPr>
        <p:spPr>
          <a:xfrm>
            <a:off x="8603178" y="1373545"/>
            <a:ext cx="26554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portable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427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011F9D4-3633-45AD-B342-B57C9793CF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976338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317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0FC790-E058-9843-AE2F-25A613EAA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29" y="1012004"/>
            <a:ext cx="3416158" cy="47954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Warum Typescript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4288043-9462-4074-B39A-FAE583FC3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1022470"/>
              </p:ext>
            </p:extLst>
          </p:nvPr>
        </p:nvGraphicFramePr>
        <p:xfrm>
          <a:off x="5194300" y="470924"/>
          <a:ext cx="6513604" cy="5885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59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DC4198-C23C-8249-976F-DE4079FF5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Type Hierarchy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E45ED132-3F07-40DE-BB6F-7F40AF41D5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960498"/>
              </p:ext>
            </p:extLst>
          </p:nvPr>
        </p:nvGraphicFramePr>
        <p:xfrm>
          <a:off x="4965431" y="2438400"/>
          <a:ext cx="6586489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2901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de-DE" sz="4000">
                <a:solidFill>
                  <a:srgbClr val="FFFFFF"/>
                </a:solidFill>
              </a:rPr>
              <a:t>Spezielle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de-DE" sz="1700">
                <a:latin typeface="Courier New" pitchFamily="49" charset="0"/>
                <a:cs typeface="Courier New" pitchFamily="49" charset="0"/>
              </a:rPr>
              <a:t>null</a:t>
            </a:r>
          </a:p>
          <a:p>
            <a:pPr lvl="1"/>
            <a:r>
              <a:rPr lang="de-DE" sz="1700"/>
              <a:t>Eine Eigenschaft ist nicht gesetzt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undefined</a:t>
            </a:r>
          </a:p>
          <a:p>
            <a:pPr lvl="1"/>
            <a:r>
              <a:rPr lang="de-DE" sz="1700"/>
              <a:t>Eine Eigenschaft oder Funktion ist nicht vorhanden</a:t>
            </a:r>
          </a:p>
          <a:p>
            <a:pPr lvl="1"/>
            <a:r>
              <a:rPr lang="de-DE" sz="1700"/>
              <a:t>Damit unterschiedlich zu null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any</a:t>
            </a:r>
          </a:p>
          <a:p>
            <a:pPr lvl="1"/>
            <a:r>
              <a:rPr lang="de-DE" sz="1700"/>
              <a:t>Eine untypisierte Variable, die jeden Wert zugewiesen bekommen kann</a:t>
            </a:r>
          </a:p>
          <a:p>
            <a:pPr lvl="1"/>
            <a:r>
              <a:rPr lang="de-DE" sz="1700"/>
              <a:t>Damit ist bei Bedarf auch eine untypisierte Programmierung auch in TypeScript möglich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void</a:t>
            </a:r>
          </a:p>
          <a:p>
            <a:pPr lvl="1"/>
            <a:r>
              <a:rPr lang="de-DE" sz="1700"/>
              <a:t>Eine Funktion, die keinen expliziten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-Wert aufweist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never</a:t>
            </a:r>
          </a:p>
          <a:p>
            <a:pPr lvl="1"/>
            <a:r>
              <a:rPr lang="de-DE" sz="1700"/>
              <a:t>Der Rückgabetyp einer Funktion, die kein implizites oder explizites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-Statement aufweist</a:t>
            </a:r>
          </a:p>
          <a:p>
            <a:pPr lvl="2"/>
            <a:r>
              <a:rPr lang="de-DE" sz="1700"/>
              <a:t>Endlose Ausführung oder garantiertes Werfen einer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Exception</a:t>
            </a:r>
          </a:p>
          <a:p>
            <a:pPr lvl="1"/>
            <a:endParaRPr lang="de-DE" sz="1700"/>
          </a:p>
        </p:txBody>
      </p:sp>
    </p:spTree>
    <p:extLst>
      <p:ext uri="{BB962C8B-B14F-4D97-AF65-F5344CB8AC3E}">
        <p14:creationId xmlns:p14="http://schemas.microsoft.com/office/powerpoint/2010/main" val="2500829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Variablen 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/>
              <a:t>var [identifier] : [type-annotation] = value ;</a:t>
            </a:r>
          </a:p>
          <a:p>
            <a:r>
              <a:rPr lang="de-DE" sz="2400"/>
              <a:t>var [identifier] : [type-annotation] ;</a:t>
            </a:r>
          </a:p>
          <a:p>
            <a:r>
              <a:rPr lang="de-DE" sz="2400"/>
              <a:t>var [identifier] = value ;</a:t>
            </a:r>
          </a:p>
          <a:p>
            <a:r>
              <a:rPr lang="de-DE" sz="2400"/>
              <a:t>var [identifier] ;</a:t>
            </a:r>
          </a:p>
          <a:p>
            <a:endParaRPr lang="de-DE" sz="2400"/>
          </a:p>
        </p:txBody>
      </p:sp>
    </p:spTree>
    <p:extLst>
      <p:ext uri="{BB962C8B-B14F-4D97-AF65-F5344CB8AC3E}">
        <p14:creationId xmlns:p14="http://schemas.microsoft.com/office/powerpoint/2010/main" val="775441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Typisierte Deklaration von Variablen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600"/>
              <a:t>Explizite Typisierung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: string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: boolean</a:t>
            </a:r>
          </a:p>
          <a:p>
            <a:r>
              <a:rPr lang="de-DE" sz="1600"/>
              <a:t>Type Inference</a:t>
            </a:r>
          </a:p>
          <a:p>
            <a:pPr lvl="1"/>
            <a:r>
              <a:rPr lang="de-DE" sz="1600"/>
              <a:t>Hier wird der Typ durch die Zuweisung eines Wertes definiert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= "Hello"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= true</a:t>
            </a:r>
          </a:p>
          <a:p>
            <a:r>
              <a:rPr lang="de-DE" sz="1600"/>
              <a:t>Contextual Type</a:t>
            </a:r>
          </a:p>
          <a:p>
            <a:pPr lvl="1"/>
            <a:r>
              <a:rPr lang="de-DE" sz="1600"/>
              <a:t>Auch bei Zuweisungen versucht TypeScript, untypisierte Deklarationen zu erkennen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window.onmousedown = function(mouseEvent) {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    console.log(mouseEvent.button);  //&lt;- Error, 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marL="539750" lvl="2" indent="0">
              <a:buNone/>
            </a:pPr>
            <a:endParaRPr lang="de-DE" sz="160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515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Deklaration von Variablen mit const und let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let | const&lt;name&gt;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const name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let state</a:t>
            </a:r>
          </a:p>
        </p:txBody>
      </p:sp>
    </p:spTree>
    <p:extLst>
      <p:ext uri="{BB962C8B-B14F-4D97-AF65-F5344CB8AC3E}">
        <p14:creationId xmlns:p14="http://schemas.microsoft.com/office/powerpoint/2010/main" val="3709581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FE08D-7466-4734-A484-740C9D44D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Variable Samples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9F164-6036-4A81-B5D8-85FF29274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Typscript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,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world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!"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7998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7516-C8B8-6B45-93C4-8C3388B7E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05779-F217-DC4B-A5D2-69C66BAE1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>
              <a:solidFill>
                <a:srgbClr val="DCDCAA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false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249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3D299-2D63-6842-A3E4-B02FB265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F679D-7D0C-B541-9ED1-3AD058E5C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6901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B4C9-430A-3D4E-96B1-9A554012F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FF6E-B64A-AA49-8930-A626270C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setTimeout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},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6256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someFunc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flag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input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sz="12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CompileError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: 'b'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doesn't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exist</a:t>
            </a:r>
            <a:endParaRPr lang="de-DE" sz="16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14219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2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sz="20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2000" dirty="0" err="1">
                <a:solidFill>
                  <a:srgbClr val="6A9955"/>
                </a:solidFill>
                <a:latin typeface="Menlo" panose="020B0609030804020204" pitchFamily="49" charset="0"/>
              </a:rPr>
              <a:t>undefined</a:t>
            </a:r>
            <a:endParaRPr lang="de-DE" sz="2000" dirty="0">
              <a:solidFill>
                <a:srgbClr val="6A9955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51365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sumOfWithLet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66498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02BB63-A05A-934B-992E-63B632DF2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Zusammenfassung Tag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1F089B-CE87-4744-9536-3F0979CB3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let</a:t>
            </a:r>
            <a:r>
              <a:rPr lang="de-DE" dirty="0"/>
              <a:t> vs. </a:t>
            </a:r>
            <a:r>
              <a:rPr lang="de-DE" dirty="0" err="1"/>
              <a:t>var</a:t>
            </a:r>
            <a:endParaRPr lang="de-DE" dirty="0"/>
          </a:p>
          <a:p>
            <a:pPr lvl="1"/>
            <a:r>
              <a:rPr lang="de-DE" dirty="0" err="1"/>
              <a:t>Hoisting</a:t>
            </a:r>
            <a:r>
              <a:rPr lang="de-DE" dirty="0"/>
              <a:t> von </a:t>
            </a:r>
            <a:r>
              <a:rPr lang="de-DE" dirty="0" err="1"/>
              <a:t>var</a:t>
            </a:r>
            <a:r>
              <a:rPr lang="de-DE" dirty="0"/>
              <a:t> Variablen </a:t>
            </a:r>
            <a:r>
              <a:rPr lang="de-DE" dirty="0">
                <a:sym typeface="Wingdings" pitchFamily="2" charset="2"/>
              </a:rPr>
              <a:t> Hochziehen der Variablen Deklaration</a:t>
            </a:r>
          </a:p>
          <a:p>
            <a:r>
              <a:rPr lang="de-DE" dirty="0" err="1">
                <a:sym typeface="Wingdings" pitchFamily="2" charset="2"/>
              </a:rPr>
              <a:t>Typescript</a:t>
            </a:r>
            <a:r>
              <a:rPr lang="de-DE" dirty="0">
                <a:sym typeface="Wingdings" pitchFamily="2" charset="2"/>
              </a:rPr>
              <a:t> kompiliert zu JS</a:t>
            </a:r>
          </a:p>
          <a:p>
            <a:pPr lvl="1"/>
            <a:r>
              <a:rPr lang="de-DE" dirty="0" err="1">
                <a:sym typeface="Wingdings" pitchFamily="2" charset="2"/>
              </a:rPr>
              <a:t>Tsc</a:t>
            </a:r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var</a:t>
            </a:r>
            <a:r>
              <a:rPr lang="de-DE" dirty="0">
                <a:sym typeface="Wingdings" pitchFamily="2" charset="2"/>
              </a:rPr>
              <a:t> variable1 : &lt;type&gt; = “wert“</a:t>
            </a:r>
          </a:p>
          <a:p>
            <a:r>
              <a:rPr lang="de-DE" dirty="0" err="1">
                <a:sym typeface="Wingdings" pitchFamily="2" charset="2"/>
              </a:rPr>
              <a:t>function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name</a:t>
            </a:r>
            <a:r>
              <a:rPr lang="de-DE" dirty="0">
                <a:sym typeface="Wingdings" pitchFamily="2" charset="2"/>
              </a:rPr>
              <a:t>(</a:t>
            </a:r>
            <a:r>
              <a:rPr lang="de-DE" dirty="0" err="1">
                <a:sym typeface="Wingdings" pitchFamily="2" charset="2"/>
              </a:rPr>
              <a:t>paramName</a:t>
            </a:r>
            <a:r>
              <a:rPr lang="de-DE" dirty="0">
                <a:sym typeface="Wingdings" pitchFamily="2" charset="2"/>
              </a:rPr>
              <a:t>?: type = </a:t>
            </a:r>
            <a:r>
              <a:rPr lang="de-DE" dirty="0" err="1">
                <a:sym typeface="Wingdings" pitchFamily="2" charset="2"/>
              </a:rPr>
              <a:t>defaultValue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pPr lvl="1"/>
            <a:r>
              <a:rPr lang="de-DE" dirty="0" err="1">
                <a:sym typeface="Wingdings" pitchFamily="2" charset="2"/>
              </a:rPr>
              <a:t>name</a:t>
            </a:r>
            <a:r>
              <a:rPr lang="de-DE" dirty="0">
                <a:sym typeface="Wingdings" pitchFamily="2" charset="2"/>
              </a:rPr>
              <a:t>()</a:t>
            </a:r>
          </a:p>
          <a:p>
            <a:pPr lvl="1"/>
            <a:r>
              <a:rPr lang="de-DE" dirty="0" err="1">
                <a:sym typeface="Wingdings" pitchFamily="2" charset="2"/>
              </a:rPr>
              <a:t>name</a:t>
            </a:r>
            <a:r>
              <a:rPr lang="de-DE" dirty="0">
                <a:sym typeface="Wingdings" pitchFamily="2" charset="2"/>
              </a:rPr>
              <a:t>(</a:t>
            </a:r>
            <a:r>
              <a:rPr lang="de-DE" dirty="0" err="1">
                <a:sym typeface="Wingdings" pitchFamily="2" charset="2"/>
              </a:rPr>
              <a:t>someInfo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9582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840AF6-12AA-DF40-85B3-6EEA0226C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const</a:t>
            </a:r>
          </a:p>
        </p:txBody>
      </p:sp>
      <p:pic>
        <p:nvPicPr>
          <p:cNvPr id="7" name="Picture 6" descr="A close up of a screen&#10;&#10;Description automatically generated">
            <a:extLst>
              <a:ext uri="{FF2B5EF4-FFF2-40B4-BE49-F238E27FC236}">
                <a16:creationId xmlns:a16="http://schemas.microsoft.com/office/drawing/2014/main" id="{7FEF210C-0327-AE4C-9845-3784611AB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3137771"/>
            <a:ext cx="10515599" cy="189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358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boolean_expression2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someOther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elsedo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8384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&gt;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C586C0"/>
                </a:solidFill>
                <a:latin typeface="Menlo" panose="020B0609030804020204" pitchFamily="49" charset="0"/>
              </a:rPr>
              <a:t>do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&gt;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954667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B246-9302-C04B-91B5-DC5C6DEF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Datentyp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E4FA14-0833-754B-8DBB-BA6C32374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099672"/>
              </p:ext>
            </p:extLst>
          </p:nvPr>
        </p:nvGraphicFramePr>
        <p:xfrm>
          <a:off x="859465" y="1846890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4160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A8E0-6E5F-2D4F-B0D5-627349E25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Funktionen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68905-A482-8D4B-BBEA-0F9CBB3C6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toFixed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(2)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(6)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</a:t>
            </a:r>
          </a:p>
          <a:p>
            <a:r>
              <a:rPr lang="de-DE" dirty="0" err="1"/>
              <a:t>toLocaleString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toLocaleString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75176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1CE22-3637-E049-8242-26DC75FE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String Funktionen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958BA-DF20-2D48-99FC-584A77106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"The TS 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found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String :"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"(1,2):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"(0,8):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8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4669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Funktionen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 (param1[:type], param2?[:type])</a:t>
            </a:r>
          </a:p>
        </p:txBody>
      </p:sp>
    </p:spTree>
    <p:extLst>
      <p:ext uri="{BB962C8B-B14F-4D97-AF65-F5344CB8AC3E}">
        <p14:creationId xmlns:p14="http://schemas.microsoft.com/office/powerpoint/2010/main" val="15425751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EF1C-77C2-2E48-9B31-17F32F1F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Varargs</a:t>
            </a:r>
            <a:r>
              <a:rPr lang="de-DE" dirty="0"/>
              <a:t> AKA Rest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8A3C2-092B-3846-971E-A7842D332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(...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[]) {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the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numbers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07869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Default 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(param1[:type],param2[:type] = </a:t>
            </a:r>
            <a:r>
              <a:rPr lang="de-DE" sz="2400" dirty="0" err="1"/>
              <a:t>default_value</a:t>
            </a:r>
            <a:r>
              <a:rPr lang="de-DE" sz="2400" dirty="0"/>
              <a:t>) { }</a:t>
            </a:r>
          </a:p>
        </p:txBody>
      </p:sp>
    </p:spTree>
    <p:extLst>
      <p:ext uri="{BB962C8B-B14F-4D97-AF65-F5344CB8AC3E}">
        <p14:creationId xmlns:p14="http://schemas.microsoft.com/office/powerpoint/2010/main" val="2734897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Anonyme 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0" y="963877"/>
            <a:ext cx="6634433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res</a:t>
            </a:r>
            <a:r>
              <a:rPr lang="de-DE" sz="2400" dirty="0"/>
              <a:t> = </a:t>
            </a:r>
            <a:r>
              <a:rPr lang="de-DE" sz="2400" dirty="0" err="1"/>
              <a:t>function</a:t>
            </a:r>
            <a:r>
              <a:rPr lang="de-DE" sz="2400" dirty="0"/>
              <a:t>( [</a:t>
            </a:r>
            <a:r>
              <a:rPr lang="de-DE" sz="2400" dirty="0" err="1"/>
              <a:t>arguments</a:t>
            </a:r>
            <a:r>
              <a:rPr lang="de-DE" sz="2400" dirty="0"/>
              <a:t>] ) { ... }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dirty="0"/>
              <a:t>( [param1, parma2,…</a:t>
            </a:r>
            <a:r>
              <a:rPr lang="de-DE" dirty="0" err="1"/>
              <a:t>param</a:t>
            </a:r>
            <a:r>
              <a:rPr lang="de-DE" dirty="0"/>
              <a:t> </a:t>
            </a:r>
            <a:r>
              <a:rPr lang="de-DE" dirty="0" err="1"/>
              <a:t>n</a:t>
            </a:r>
            <a:r>
              <a:rPr lang="de-DE" dirty="0"/>
              <a:t>] )=&gt;</a:t>
            </a:r>
            <a:r>
              <a:rPr lang="de-DE" dirty="0" err="1"/>
              <a:t>statement</a:t>
            </a:r>
            <a:r>
              <a:rPr lang="de-DE" dirty="0"/>
              <a:t>;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097005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5C0CB-1A74-2B41-A4C0-3C997230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Funktionen überladen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4FF40-C6AE-4542-B844-FA6609DB7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1.SIGNATURES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2. 1 BODY FOR ALL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71629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Container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array</a:t>
            </a:r>
          </a:p>
          <a:p>
            <a:pPr lvl="1"/>
            <a:r>
              <a:rPr lang="de-DE" sz="2000"/>
              <a:t>Eine Liste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tuple</a:t>
            </a:r>
          </a:p>
          <a:p>
            <a:pPr lvl="1"/>
            <a:r>
              <a:rPr lang="de-DE" sz="2000"/>
              <a:t>Eine feste Menge von anderen Basis-Typen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enum</a:t>
            </a:r>
          </a:p>
          <a:p>
            <a:pPr lvl="1"/>
            <a:r>
              <a:rPr lang="de-DE" sz="2000"/>
              <a:t>Eine feste Menge von Werten</a:t>
            </a:r>
          </a:p>
        </p:txBody>
      </p:sp>
    </p:spTree>
    <p:extLst>
      <p:ext uri="{BB962C8B-B14F-4D97-AF65-F5344CB8AC3E}">
        <p14:creationId xmlns:p14="http://schemas.microsoft.com/office/powerpoint/2010/main" val="2326092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2A51AA-FEFE-7E44-BFD3-4EC4CA9BD6A8}"/>
              </a:ext>
            </a:extLst>
          </p:cNvPr>
          <p:cNvSpPr/>
          <p:nvPr/>
        </p:nvSpPr>
        <p:spPr>
          <a:xfrm>
            <a:off x="794085" y="4908888"/>
            <a:ext cx="9480884" cy="10587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2159F0-5B11-3049-953C-3F3AF17D5D8D}"/>
              </a:ext>
            </a:extLst>
          </p:cNvPr>
          <p:cNvCxnSpPr/>
          <p:nvPr/>
        </p:nvCxnSpPr>
        <p:spPr>
          <a:xfrm>
            <a:off x="2045369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ACA971-B65E-D140-B63D-6DE5FBAE222D}"/>
              </a:ext>
            </a:extLst>
          </p:cNvPr>
          <p:cNvCxnSpPr/>
          <p:nvPr/>
        </p:nvCxnSpPr>
        <p:spPr>
          <a:xfrm>
            <a:off x="3160295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0BC8DD-D306-1D4F-A3D5-66206FD9AA1B}"/>
              </a:ext>
            </a:extLst>
          </p:cNvPr>
          <p:cNvCxnSpPr/>
          <p:nvPr/>
        </p:nvCxnSpPr>
        <p:spPr>
          <a:xfrm>
            <a:off x="4443664" y="4896856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FE25C5-D76E-2A41-8ED4-5D6F58A7268A}"/>
              </a:ext>
            </a:extLst>
          </p:cNvPr>
          <p:cNvCxnSpPr/>
          <p:nvPr/>
        </p:nvCxnSpPr>
        <p:spPr>
          <a:xfrm>
            <a:off x="8458201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4A9922-B9A7-6146-836E-12300D6508E8}"/>
              </a:ext>
            </a:extLst>
          </p:cNvPr>
          <p:cNvCxnSpPr/>
          <p:nvPr/>
        </p:nvCxnSpPr>
        <p:spPr>
          <a:xfrm>
            <a:off x="7166811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223F90-61A2-3C4D-A3B7-93E60FEEAD17}"/>
              </a:ext>
            </a:extLst>
          </p:cNvPr>
          <p:cNvCxnSpPr/>
          <p:nvPr/>
        </p:nvCxnSpPr>
        <p:spPr>
          <a:xfrm>
            <a:off x="5767138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6D36FA-0680-0D42-9949-2DEE29A10E9D}"/>
              </a:ext>
            </a:extLst>
          </p:cNvPr>
          <p:cNvSpPr txBox="1"/>
          <p:nvPr/>
        </p:nvSpPr>
        <p:spPr>
          <a:xfrm>
            <a:off x="1335506" y="4511846"/>
            <a:ext cx="7899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0	1	         2		3	      4		5	    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AE96F-ABBE-7C46-BDA3-0183A68ED765}"/>
              </a:ext>
            </a:extLst>
          </p:cNvPr>
          <p:cNvSpPr/>
          <p:nvPr/>
        </p:nvSpPr>
        <p:spPr>
          <a:xfrm>
            <a:off x="6244395" y="3238182"/>
            <a:ext cx="439152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[];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7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secondEntry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endParaRPr lang="de-DE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383BE3-C393-BC45-BB47-82D51165B196}"/>
              </a:ext>
            </a:extLst>
          </p:cNvPr>
          <p:cNvSpPr/>
          <p:nvPr/>
        </p:nvSpPr>
        <p:spPr>
          <a:xfrm>
            <a:off x="878451" y="878301"/>
            <a:ext cx="58964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array_name</a:t>
            </a:r>
            <a:r>
              <a:rPr lang="de-DE" sz="2400" dirty="0"/>
              <a:t>[:</a:t>
            </a:r>
            <a:r>
              <a:rPr lang="de-DE" sz="2400" dirty="0" err="1"/>
              <a:t>data</a:t>
            </a:r>
            <a:r>
              <a:rPr lang="de-DE" sz="2400" dirty="0"/>
              <a:t> type] = [val1,val2…</a:t>
            </a:r>
            <a:r>
              <a:rPr lang="de-DE" sz="2400" dirty="0" err="1"/>
              <a:t>valn</a:t>
            </a:r>
            <a:r>
              <a:rPr lang="de-DE" sz="24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562562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CFC98B-56D2-A549-AC76-410EE20051B3}"/>
              </a:ext>
            </a:extLst>
          </p:cNvPr>
          <p:cNvSpPr/>
          <p:nvPr/>
        </p:nvSpPr>
        <p:spPr>
          <a:xfrm>
            <a:off x="4523873" y="3947500"/>
            <a:ext cx="74114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Array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]) 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5F81BEB6-FA73-3C4B-9056-5ED00C01CC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4" y="990600"/>
            <a:ext cx="3048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2142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Array Schnittstellen Auszug </a:t>
            </a:r>
          </a:p>
        </p:txBody>
      </p:sp>
      <p:pic>
        <p:nvPicPr>
          <p:cNvPr id="50180" name="Picture 4" descr="NewSpringcollection2007_"/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25" r="10665" b="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</p:pic>
      <p:sp>
        <p:nvSpPr>
          <p:cNvPr id="7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9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concat(value1, value2, ..., valueN) : T[];</a:t>
            </a:r>
          </a:p>
          <a:p>
            <a:r>
              <a:rPr lang="en-US" sz="2200"/>
              <a:t>indexOf(o) : number;</a:t>
            </a:r>
          </a:p>
          <a:p>
            <a:r>
              <a:rPr lang="en-US" sz="2200"/>
              <a:t>lastIndexOf(o) : number;</a:t>
            </a:r>
            <a:r>
              <a:rPr lang="en-US" sz="2200" b="1"/>
              <a:t> </a:t>
            </a:r>
          </a:p>
          <a:p>
            <a:endParaRPr lang="en-US" sz="2200"/>
          </a:p>
          <a:p>
            <a:r>
              <a:rPr lang="en-US" sz="2200"/>
              <a:t>push(e1,e2,..en) : number;</a:t>
            </a:r>
          </a:p>
          <a:p>
            <a:r>
              <a:rPr lang="en-US" sz="2200"/>
              <a:t>unshift(e1,e2,..en) : number;</a:t>
            </a:r>
          </a:p>
          <a:p>
            <a:r>
              <a:rPr lang="en-US" sz="2200"/>
              <a:t>pop() : T;</a:t>
            </a:r>
          </a:p>
          <a:p>
            <a:r>
              <a:rPr lang="en-US" sz="2200"/>
              <a:t>shift() : 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094842-09A5-E041-94DC-0CEC09DF1044}"/>
              </a:ext>
            </a:extLst>
          </p:cNvPr>
          <p:cNvSpPr/>
          <p:nvPr/>
        </p:nvSpPr>
        <p:spPr>
          <a:xfrm>
            <a:off x="5297762" y="6319211"/>
            <a:ext cx="63526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DE" dirty="0"/>
              <a:t>https://www.tutorialspoint.com/typescript/typescript_arrays.htm</a:t>
            </a:r>
          </a:p>
        </p:txBody>
      </p:sp>
    </p:spTree>
    <p:extLst>
      <p:ext uri="{BB962C8B-B14F-4D97-AF65-F5344CB8AC3E}">
        <p14:creationId xmlns:p14="http://schemas.microsoft.com/office/powerpoint/2010/main" val="39592131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51A90-68E3-CD44-A82D-79E1A2CB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concat</a:t>
            </a:r>
            <a:r>
              <a:rPr lang="de-DE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8C1F-FCB4-F240-B193-12D70653B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[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"a"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"b"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"c"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alphaNumeric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concat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4195228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Pop und push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473450" y="3073400"/>
            <a:ext cx="8718550" cy="1504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lengthAfterPush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pPr marL="457200" lvl="1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Cybertruck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 Dual 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Motor"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"Tesla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));</a:t>
            </a:r>
            <a:endParaRPr lang="en-GB" sz="12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pop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endParaRPr lang="de-DE" sz="1400" dirty="0"/>
          </a:p>
        </p:txBody>
      </p:sp>
      <p:sp>
        <p:nvSpPr>
          <p:cNvPr id="58372" name="Rectangle 27"/>
          <p:cNvSpPr>
            <a:spLocks noChangeArrowheads="1"/>
          </p:cNvSpPr>
          <p:nvPr/>
        </p:nvSpPr>
        <p:spPr bwMode="auto">
          <a:xfrm>
            <a:off x="6096000" y="4149725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3" name="Rectangle 28"/>
          <p:cNvSpPr>
            <a:spLocks noChangeArrowheads="1"/>
          </p:cNvSpPr>
          <p:nvPr/>
        </p:nvSpPr>
        <p:spPr bwMode="auto">
          <a:xfrm>
            <a:off x="2063751" y="4724400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4" name="Line 29"/>
          <p:cNvSpPr>
            <a:spLocks noChangeShapeType="1"/>
          </p:cNvSpPr>
          <p:nvPr/>
        </p:nvSpPr>
        <p:spPr bwMode="auto">
          <a:xfrm>
            <a:off x="2063751" y="501332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5" name="Line 30"/>
          <p:cNvSpPr>
            <a:spLocks noChangeShapeType="1"/>
          </p:cNvSpPr>
          <p:nvPr/>
        </p:nvSpPr>
        <p:spPr bwMode="auto">
          <a:xfrm>
            <a:off x="2063751" y="53736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6" name="Line 31"/>
          <p:cNvSpPr>
            <a:spLocks noChangeShapeType="1"/>
          </p:cNvSpPr>
          <p:nvPr/>
        </p:nvSpPr>
        <p:spPr bwMode="auto">
          <a:xfrm>
            <a:off x="2063751" y="57340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7" name="Line 32"/>
          <p:cNvSpPr>
            <a:spLocks noChangeShapeType="1"/>
          </p:cNvSpPr>
          <p:nvPr/>
        </p:nvSpPr>
        <p:spPr bwMode="auto">
          <a:xfrm>
            <a:off x="2063751" y="61658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8" name="Text Box 33"/>
          <p:cNvSpPr txBox="1">
            <a:spLocks noChangeArrowheads="1"/>
          </p:cNvSpPr>
          <p:nvPr/>
        </p:nvSpPr>
        <p:spPr bwMode="auto">
          <a:xfrm>
            <a:off x="2424114" y="4724400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79" name="Text Box 34"/>
          <p:cNvSpPr txBox="1">
            <a:spLocks noChangeArrowheads="1"/>
          </p:cNvSpPr>
          <p:nvPr/>
        </p:nvSpPr>
        <p:spPr bwMode="auto">
          <a:xfrm>
            <a:off x="2352675" y="5084763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80" name="Text Box 35"/>
          <p:cNvSpPr txBox="1">
            <a:spLocks noChangeArrowheads="1"/>
          </p:cNvSpPr>
          <p:nvPr/>
        </p:nvSpPr>
        <p:spPr bwMode="auto">
          <a:xfrm>
            <a:off x="2208213" y="5373688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81" name="Text Box 36"/>
          <p:cNvSpPr txBox="1">
            <a:spLocks noChangeArrowheads="1"/>
          </p:cNvSpPr>
          <p:nvPr/>
        </p:nvSpPr>
        <p:spPr bwMode="auto">
          <a:xfrm>
            <a:off x="2352676" y="5805488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82" name="AutoShape 46"/>
          <p:cNvCxnSpPr>
            <a:cxnSpLocks noChangeShapeType="1"/>
            <a:stCxn id="58373" idx="3"/>
          </p:cNvCxnSpPr>
          <p:nvPr/>
        </p:nvCxnSpPr>
        <p:spPr bwMode="auto">
          <a:xfrm>
            <a:off x="3648076" y="5661025"/>
            <a:ext cx="187166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58385" name="Rectangle 49"/>
          <p:cNvSpPr>
            <a:spLocks noChangeArrowheads="1"/>
          </p:cNvSpPr>
          <p:nvPr/>
        </p:nvSpPr>
        <p:spPr bwMode="auto">
          <a:xfrm>
            <a:off x="8616951" y="4797425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86" name="Line 50"/>
          <p:cNvSpPr>
            <a:spLocks noChangeShapeType="1"/>
          </p:cNvSpPr>
          <p:nvPr/>
        </p:nvSpPr>
        <p:spPr bwMode="auto">
          <a:xfrm>
            <a:off x="8616951" y="50863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7" name="Line 51"/>
          <p:cNvSpPr>
            <a:spLocks noChangeShapeType="1"/>
          </p:cNvSpPr>
          <p:nvPr/>
        </p:nvSpPr>
        <p:spPr bwMode="auto">
          <a:xfrm>
            <a:off x="8616951" y="544671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8" name="Line 52"/>
          <p:cNvSpPr>
            <a:spLocks noChangeShapeType="1"/>
          </p:cNvSpPr>
          <p:nvPr/>
        </p:nvSpPr>
        <p:spPr bwMode="auto">
          <a:xfrm>
            <a:off x="8616951" y="58070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9" name="Line 53"/>
          <p:cNvSpPr>
            <a:spLocks noChangeShapeType="1"/>
          </p:cNvSpPr>
          <p:nvPr/>
        </p:nvSpPr>
        <p:spPr bwMode="auto">
          <a:xfrm>
            <a:off x="8616951" y="62388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90" name="Text Box 54"/>
          <p:cNvSpPr txBox="1">
            <a:spLocks noChangeArrowheads="1"/>
          </p:cNvSpPr>
          <p:nvPr/>
        </p:nvSpPr>
        <p:spPr bwMode="auto">
          <a:xfrm>
            <a:off x="8977314" y="4797425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91" name="Text Box 55"/>
          <p:cNvSpPr txBox="1">
            <a:spLocks noChangeArrowheads="1"/>
          </p:cNvSpPr>
          <p:nvPr/>
        </p:nvSpPr>
        <p:spPr bwMode="auto">
          <a:xfrm>
            <a:off x="8905875" y="5157788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92" name="Text Box 56"/>
          <p:cNvSpPr txBox="1">
            <a:spLocks noChangeArrowheads="1"/>
          </p:cNvSpPr>
          <p:nvPr/>
        </p:nvSpPr>
        <p:spPr bwMode="auto">
          <a:xfrm>
            <a:off x="8761413" y="5446713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93" name="Text Box 57"/>
          <p:cNvSpPr txBox="1">
            <a:spLocks noChangeArrowheads="1"/>
          </p:cNvSpPr>
          <p:nvPr/>
        </p:nvSpPr>
        <p:spPr bwMode="auto">
          <a:xfrm>
            <a:off x="8905876" y="5878513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94" name="AutoShape 59"/>
          <p:cNvCxnSpPr>
            <a:cxnSpLocks noChangeShapeType="1"/>
            <a:endCxn id="58385" idx="1"/>
          </p:cNvCxnSpPr>
          <p:nvPr/>
        </p:nvCxnSpPr>
        <p:spPr bwMode="auto">
          <a:xfrm>
            <a:off x="7104064" y="5661026"/>
            <a:ext cx="1512887" cy="73025"/>
          </a:xfrm>
          <a:prstGeom prst="bentConnector3">
            <a:avLst>
              <a:gd name="adj1" fmla="val 4994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58395" name="Text Box 61"/>
          <p:cNvSpPr txBox="1">
            <a:spLocks noChangeArrowheads="1"/>
          </p:cNvSpPr>
          <p:nvPr/>
        </p:nvSpPr>
        <p:spPr bwMode="auto">
          <a:xfrm>
            <a:off x="7083425" y="5083175"/>
            <a:ext cx="128272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Fahrzeug ct =</a:t>
            </a:r>
          </a:p>
          <a:p>
            <a:pPr>
              <a:buClrTx/>
              <a:buSzTx/>
              <a:buFontTx/>
              <a:buNone/>
            </a:pPr>
            <a:r>
              <a:rPr lang="de-DE" dirty="0" err="1"/>
              <a:t>v.pop</a:t>
            </a:r>
            <a:r>
              <a:rPr lang="de-DE" dirty="0"/>
              <a:t>();</a:t>
            </a:r>
          </a:p>
        </p:txBody>
      </p:sp>
      <p:sp>
        <p:nvSpPr>
          <p:cNvPr id="38" name="Text Box 48">
            <a:extLst>
              <a:ext uri="{FF2B5EF4-FFF2-40B4-BE49-F238E27FC236}">
                <a16:creationId xmlns:a16="http://schemas.microsoft.com/office/drawing/2014/main" id="{0A6C3B0F-0E8A-BE41-8CC3-3E438091F7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803" y="6257635"/>
            <a:ext cx="151765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Tesla Cybertruck</a:t>
            </a: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C2C0945C-07A3-0C48-A15A-ABABA382D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739" y="4770438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41" name="Line 29">
            <a:extLst>
              <a:ext uri="{FF2B5EF4-FFF2-40B4-BE49-F238E27FC236}">
                <a16:creationId xmlns:a16="http://schemas.microsoft.com/office/drawing/2014/main" id="{12DC65B6-5FC0-DF4F-ACCB-BFD6C54B07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05936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2" name="Line 30">
            <a:extLst>
              <a:ext uri="{FF2B5EF4-FFF2-40B4-BE49-F238E27FC236}">
                <a16:creationId xmlns:a16="http://schemas.microsoft.com/office/drawing/2014/main" id="{CD03CE6E-F70F-5A4A-905E-846284F84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419726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B67F6701-EEE1-ED48-A162-9A36DB1E81A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7800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4" name="Line 32">
            <a:extLst>
              <a:ext uri="{FF2B5EF4-FFF2-40B4-BE49-F238E27FC236}">
                <a16:creationId xmlns:a16="http://schemas.microsoft.com/office/drawing/2014/main" id="{71A7E41D-39ED-9840-9AAF-9FE3C3825E7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62118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5" name="Text Box 33">
            <a:extLst>
              <a:ext uri="{FF2B5EF4-FFF2-40B4-BE49-F238E27FC236}">
                <a16:creationId xmlns:a16="http://schemas.microsoft.com/office/drawing/2014/main" id="{F62BFC9E-D595-9E49-9D06-D9801F78D2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0102" y="4770438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46" name="Text Box 34">
            <a:extLst>
              <a:ext uri="{FF2B5EF4-FFF2-40B4-BE49-F238E27FC236}">
                <a16:creationId xmlns:a16="http://schemas.microsoft.com/office/drawing/2014/main" id="{1C9C1022-CA2E-3C43-B5A2-1637CE93A6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5130801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47" name="Text Box 35">
            <a:extLst>
              <a:ext uri="{FF2B5EF4-FFF2-40B4-BE49-F238E27FC236}">
                <a16:creationId xmlns:a16="http://schemas.microsoft.com/office/drawing/2014/main" id="{3E0D96D2-D4EA-DD4B-8E00-328DCF7AEA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1" y="5419726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48" name="Text Box 36">
            <a:extLst>
              <a:ext uri="{FF2B5EF4-FFF2-40B4-BE49-F238E27FC236}">
                <a16:creationId xmlns:a16="http://schemas.microsoft.com/office/drawing/2014/main" id="{6D9D6985-3368-EA4A-87FC-F59EBA388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4" y="5851526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</p:spTree>
    <p:extLst>
      <p:ext uri="{BB962C8B-B14F-4D97-AF65-F5344CB8AC3E}">
        <p14:creationId xmlns:p14="http://schemas.microsoft.com/office/powerpoint/2010/main" val="33807721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645BFA-6683-AD4C-B23F-0018F7A2CCBF}"/>
              </a:ext>
            </a:extLst>
          </p:cNvPr>
          <p:cNvSpPr/>
          <p:nvPr/>
        </p:nvSpPr>
        <p:spPr>
          <a:xfrm>
            <a:off x="655320" y="365125"/>
            <a:ext cx="5120114" cy="169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5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UNION TYPES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3173CF-2D48-084C-9B0A-E5B8461AA722}"/>
              </a:ext>
            </a:extLst>
          </p:cNvPr>
          <p:cNvSpPr/>
          <p:nvPr/>
        </p:nvSpPr>
        <p:spPr>
          <a:xfrm>
            <a:off x="529393" y="3549601"/>
            <a:ext cx="6313150" cy="2381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|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42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"numeric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"42 as string"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"string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  <p:pic>
        <p:nvPicPr>
          <p:cNvPr id="5" name="Picture 4" descr="A group of people wearing costumes&#10;&#10;Description automatically generated">
            <a:extLst>
              <a:ext uri="{FF2B5EF4-FFF2-40B4-BE49-F238E27FC236}">
                <a16:creationId xmlns:a16="http://schemas.microsoft.com/office/drawing/2014/main" id="{B60A46A0-875C-684A-BDE1-E3AD59F989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6" r="11982" b="-1"/>
          <a:stretch/>
        </p:blipFill>
        <p:spPr>
          <a:xfrm>
            <a:off x="5878849" y="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136576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Schnittstellen - Interfaces</a:t>
            </a:r>
          </a:p>
        </p:txBody>
      </p:sp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/>
              <a:t>Eine Schnittstelle beschreibt eine Menge von Signaturen und Attributen</a:t>
            </a:r>
          </a:p>
          <a:p>
            <a:r>
              <a:rPr lang="de-DE" sz="2400" dirty="0"/>
              <a:t>Externe </a:t>
            </a:r>
            <a:r>
              <a:rPr lang="de-DE" sz="2400" i="1" dirty="0"/>
              <a:t>Sicht</a:t>
            </a:r>
            <a:r>
              <a:rPr lang="de-DE" sz="2400" dirty="0"/>
              <a:t> auf eine Klasse</a:t>
            </a:r>
          </a:p>
          <a:p>
            <a:pPr lvl="1"/>
            <a:r>
              <a:rPr lang="de-DE" dirty="0"/>
              <a:t>Verhalten der Klasse</a:t>
            </a:r>
          </a:p>
          <a:p>
            <a:pPr lvl="1"/>
            <a:r>
              <a:rPr lang="de-DE" dirty="0"/>
              <a:t>Enthält in der Regel nicht alle Attribute/Methoden der Klasse</a:t>
            </a:r>
          </a:p>
          <a:p>
            <a:r>
              <a:rPr lang="de-DE" sz="2400" dirty="0"/>
              <a:t>Eine Klasse kann mehrere Interfaces </a:t>
            </a:r>
            <a:r>
              <a:rPr lang="de-DE" sz="2400" i="1" dirty="0"/>
              <a:t>implementieren</a:t>
            </a:r>
          </a:p>
          <a:p>
            <a:pPr lvl="1"/>
            <a:r>
              <a:rPr lang="de-DE" dirty="0"/>
              <a:t>Muss alle in der Schnittstelle deklarierten Methoden implementieren</a:t>
            </a:r>
          </a:p>
          <a:p>
            <a:pPr lvl="1"/>
            <a:r>
              <a:rPr lang="de-DE" dirty="0"/>
              <a:t>Schnittstellenmethoden sind de facto abstrakt</a:t>
            </a:r>
          </a:p>
          <a:p>
            <a:endParaRPr lang="de-DE" sz="2400" i="1" dirty="0"/>
          </a:p>
        </p:txBody>
      </p:sp>
    </p:spTree>
    <p:extLst>
      <p:ext uri="{BB962C8B-B14F-4D97-AF65-F5344CB8AC3E}">
        <p14:creationId xmlns:p14="http://schemas.microsoft.com/office/powerpoint/2010/main" val="26924372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4FFB1-5774-1141-AD48-955911B4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C82B-6281-D94C-BBBA-C98303198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enum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Left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Right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66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B592-C347-7249-8794-E867602FE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Nonsens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F842-89EC-1D46-9A43-A7310E0F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some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||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~~~~~~~~~~~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Error! This condition will always return 'true' since the types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Direction.Up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and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Direction.Down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have no overlap.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02781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469" name="Rectangle 7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470" name="Rectangle 7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Beispiel Interface</a:t>
            </a:r>
          </a:p>
        </p:txBody>
      </p:sp>
      <p:pic>
        <p:nvPicPr>
          <p:cNvPr id="62467" name="Inhaltsplatzhalter 4" descr="schnittstelle.jp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103" y="467208"/>
            <a:ext cx="330239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581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"Miss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mag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nicht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schmutzig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sein"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</a:t>
            </a:r>
          </a:p>
        </p:txBody>
      </p:sp>
    </p:spTree>
    <p:extLst>
      <p:ext uri="{BB962C8B-B14F-4D97-AF65-F5344CB8AC3E}">
        <p14:creationId xmlns:p14="http://schemas.microsoft.com/office/powerpoint/2010/main" val="32368877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 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ist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gerne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im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Dreck"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 mit var</a:t>
            </a:r>
          </a:p>
        </p:txBody>
      </p:sp>
    </p:spTree>
    <p:extLst>
      <p:ext uri="{BB962C8B-B14F-4D97-AF65-F5344CB8AC3E}">
        <p14:creationId xmlns:p14="http://schemas.microsoft.com/office/powerpoint/2010/main" val="23512928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FAEB-3679-5048-B7EB-3A7F94F6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Inline Interface Def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6FDFF-F85E-D940-80AA-22E9F449784A}"/>
              </a:ext>
            </a:extLst>
          </p:cNvPr>
          <p:cNvSpPr/>
          <p:nvPr/>
        </p:nvSpPr>
        <p:spPr>
          <a:xfrm>
            <a:off x="2683042" y="2828836"/>
            <a:ext cx="64609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}){</a:t>
            </a:r>
          </a:p>
          <a:p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121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758-8436-0A4D-A0F8-EE410681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und Readonly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265833-670A-E745-ACEA-8AB8B86902A7}"/>
              </a:ext>
            </a:extLst>
          </p:cNvPr>
          <p:cNvSpPr/>
          <p:nvPr/>
        </p:nvSpPr>
        <p:spPr>
          <a:xfrm>
            <a:off x="1155030" y="3285218"/>
            <a:ext cx="893946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readonly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weight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?: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missPiggy2_1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weight: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2268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Klassen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400" dirty="0"/>
              <a:t>	class </a:t>
            </a:r>
            <a:r>
              <a:rPr lang="en-GB" sz="2400" dirty="0" err="1"/>
              <a:t>class_name</a:t>
            </a:r>
            <a:r>
              <a:rPr lang="en-GB" sz="2400" dirty="0"/>
              <a:t> { </a:t>
            </a:r>
          </a:p>
          <a:p>
            <a:pPr marL="0" indent="0">
              <a:buNone/>
            </a:pPr>
            <a:r>
              <a:rPr lang="en-GB" sz="2400" dirty="0"/>
              <a:t>		//class scope </a:t>
            </a:r>
          </a:p>
          <a:p>
            <a:pPr marL="0" indent="0">
              <a:buNone/>
            </a:pPr>
            <a:r>
              <a:rPr lang="en-GB" sz="2400" dirty="0"/>
              <a:t>	}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9306121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D5AF-4750-F748-A804-3F18F39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Member von Klassen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CF214D-0242-9B49-9667-D9B99F5FD4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3244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84562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A4BFE-37EF-4041-A819-94FAEA18D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Klassen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C0C2C-98DB-5444-9868-1393E83C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gibLaut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09005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</a:t>
            </a:r>
            <a:r>
              <a:rPr lang="de-DE" dirty="0" err="1"/>
              <a:t>readonly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/>
              <a:t>-Attribute sind möglich</a:t>
            </a:r>
          </a:p>
          <a:p>
            <a:r>
              <a:rPr lang="de-DE" dirty="0"/>
              <a:t>Verkürzter </a:t>
            </a:r>
            <a:r>
              <a:rPr lang="de-DE" dirty="0" err="1"/>
              <a:t>Konstruktor</a:t>
            </a:r>
            <a:r>
              <a:rPr lang="de-DE" dirty="0"/>
              <a:t> durch "Parameter </a:t>
            </a:r>
            <a:r>
              <a:rPr lang="de-DE" dirty="0" err="1"/>
              <a:t>properties</a:t>
            </a:r>
            <a:r>
              <a:rPr lang="de-DE" dirty="0"/>
              <a:t>"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attr:type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dirty="0"/>
              <a:t>deklariert und setzt ein Attribut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4896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Sichtbarkeit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Sichtbarkeiten von </a:t>
            </a:r>
            <a:r>
              <a:rPr lang="de-DE" dirty="0" err="1"/>
              <a:t>Exemplarvariablen</a:t>
            </a:r>
            <a:r>
              <a:rPr lang="de-DE" dirty="0"/>
              <a:t> und Methoden</a:t>
            </a:r>
          </a:p>
          <a:p>
            <a:pPr lvl="1"/>
            <a:r>
              <a:rPr lang="de-DE" dirty="0" err="1"/>
              <a:t>public</a:t>
            </a:r>
            <a:r>
              <a:rPr lang="de-DE" dirty="0"/>
              <a:t>	Zugriff von allen Klassen möglich (</a:t>
            </a:r>
            <a:r>
              <a:rPr lang="de-DE" b="1" dirty="0"/>
              <a:t>+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protected</a:t>
            </a:r>
            <a:r>
              <a:rPr lang="de-DE" dirty="0"/>
              <a:t>	Zugriff von Unterklassen (</a:t>
            </a:r>
            <a:r>
              <a:rPr lang="de-DE" b="1" dirty="0"/>
              <a:t>#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private	Zugriff nur innerhalb Klasse  (</a:t>
            </a:r>
            <a:r>
              <a:rPr lang="de-DE" b="1" dirty="0"/>
              <a:t>-</a:t>
            </a:r>
            <a:r>
              <a:rPr lang="de-DE" dirty="0"/>
              <a:t>)</a:t>
            </a:r>
          </a:p>
        </p:txBody>
      </p:sp>
      <p:pic>
        <p:nvPicPr>
          <p:cNvPr id="19460" name="Picture 4" descr="cd_bild_sichtbarkei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0" y="4500564"/>
            <a:ext cx="2159000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Line 5"/>
          <p:cNvSpPr>
            <a:spLocks noChangeShapeType="1"/>
          </p:cNvSpPr>
          <p:nvPr/>
        </p:nvSpPr>
        <p:spPr bwMode="auto">
          <a:xfrm flipV="1">
            <a:off x="4511676" y="4953001"/>
            <a:ext cx="746125" cy="131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3267076" y="4940300"/>
            <a:ext cx="10903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buFontTx/>
              <a:buNone/>
            </a:pPr>
            <a:r>
              <a:rPr lang="de-DE"/>
              <a:t>sichtbarkeit</a:t>
            </a:r>
          </a:p>
          <a:p>
            <a:pPr>
              <a:buFontTx/>
              <a:buNone/>
            </a:pPr>
            <a:r>
              <a:rPr lang="de-DE"/>
              <a:t>private</a:t>
            </a:r>
          </a:p>
        </p:txBody>
      </p:sp>
    </p:spTree>
    <p:extLst>
      <p:ext uri="{BB962C8B-B14F-4D97-AF65-F5344CB8AC3E}">
        <p14:creationId xmlns:p14="http://schemas.microsoft.com/office/powerpoint/2010/main" val="13582925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B3B3F-C0D9-FD4F-B5F0-41A132DE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Sichtbarkeit 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099F5-1A1B-3D41-84EE-3C56313B9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485216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1: Erstelle die Klasse Student,</a:t>
            </a:r>
            <a:br>
              <a:rPr lang="de-DE" dirty="0"/>
            </a:br>
            <a:r>
              <a:rPr lang="de-DE" dirty="0"/>
              <a:t>so dass sie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11342049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2: Erstelle einen Konstruktor,</a:t>
            </a:r>
            <a:br>
              <a:rPr lang="de-DE" dirty="0"/>
            </a:br>
            <a:r>
              <a:rPr lang="de-DE" dirty="0"/>
              <a:t>so dass die Klasse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"Max"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Max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737616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6764-31EB-AA49-B684-1923A8D2D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Getter Setter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478421-E7EC-1A4B-B717-2B96E4459916}"/>
              </a:ext>
            </a:extLst>
          </p:cNvPr>
          <p:cNvSpPr/>
          <p:nvPr/>
        </p:nvSpPr>
        <p:spPr>
          <a:xfrm>
            <a:off x="3336758" y="2171888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get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	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0548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Inhaltsplatzhalter 7" descr="2schnittstelle.jpg"/>
          <p:cNvPicPr>
            <a:picLocks noGrp="1" noChangeAspect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45569" y="678045"/>
            <a:ext cx="5299075" cy="5501910"/>
          </a:xfrm>
        </p:spPr>
      </p:pic>
    </p:spTree>
    <p:extLst>
      <p:ext uri="{BB962C8B-B14F-4D97-AF65-F5344CB8AC3E}">
        <p14:creationId xmlns:p14="http://schemas.microsoft.com/office/powerpoint/2010/main" val="4038870860"/>
      </p:ext>
    </p:extLst>
  </p:cSld>
  <p:clrMapOvr>
    <a:masterClrMapping/>
  </p:clrMapOvr>
  <p:transition spd="med">
    <p:dissolv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195D1-E6A3-8C41-920D-9A6F877E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DB396-74F6-1E49-A568-2941A5BC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1890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15784E-C0CE-E34D-93C4-4BC6DE59E9B5}"/>
              </a:ext>
            </a:extLst>
          </p:cNvPr>
          <p:cNvSpPr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cap="none" spc="50">
                <a:ln w="0"/>
                <a:solidFill>
                  <a:srgbClr val="FFFFF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Vererbung</a:t>
            </a:r>
          </a:p>
        </p:txBody>
      </p:sp>
      <p:pic>
        <p:nvPicPr>
          <p:cNvPr id="50178" name="Inhaltsplatzhalter 3" descr="lineWriter.jpg"/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1116761"/>
            <a:ext cx="7225748" cy="462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23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Vererbung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Auch Klassen unterstützen das Konzept der Vererbung</a:t>
            </a:r>
          </a:p>
          <a:p>
            <a:r>
              <a:rPr lang="de-DE" dirty="0"/>
              <a:t>Methoden einer Klasse können auch abstrakt sein</a:t>
            </a:r>
          </a:p>
          <a:p>
            <a:pPr lvl="1"/>
            <a:r>
              <a:rPr lang="de-DE" dirty="0"/>
              <a:t>Analog zu Definition einer Interface-Funktion</a:t>
            </a:r>
          </a:p>
          <a:p>
            <a:pPr lvl="1"/>
            <a:r>
              <a:rPr lang="de-DE" dirty="0"/>
              <a:t>Eine Klasse, die mit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dirty="0"/>
              <a:t> instanziiert werden soll darf keine abstrakten Methoden enthalten</a:t>
            </a:r>
          </a:p>
          <a:p>
            <a:r>
              <a:rPr lang="de-DE" dirty="0"/>
              <a:t>Ein Interface kann von einer Klasse erben</a:t>
            </a:r>
          </a:p>
          <a:p>
            <a:pPr lvl="1"/>
            <a:r>
              <a:rPr lang="de-DE" dirty="0"/>
              <a:t>Allerdings darf die Klasse keine nicht-abstrakten Methoden enthalten</a:t>
            </a:r>
          </a:p>
          <a:p>
            <a:r>
              <a:rPr lang="de-DE" dirty="0"/>
              <a:t>Eine Klasse kann eine Schnittstelle implementieren</a:t>
            </a:r>
          </a:p>
          <a:p>
            <a:pPr lvl="1"/>
            <a:r>
              <a:rPr lang="de-DE" dirty="0"/>
              <a:t>Schlüsselwort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implements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3366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B866F2-0ABF-BA4C-A5D4-8B825D21BAC3}"/>
              </a:ext>
            </a:extLst>
          </p:cNvPr>
          <p:cNvSpPr/>
          <p:nvPr/>
        </p:nvSpPr>
        <p:spPr>
          <a:xfrm>
            <a:off x="1082842" y="612845"/>
            <a:ext cx="834991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Mastschwein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extends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super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780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 im Detail: Attribute und Methoden 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Methoden können überschrieben werden</a:t>
            </a:r>
          </a:p>
          <a:p>
            <a:pPr lvl="1"/>
            <a:r>
              <a:rPr lang="de-DE" dirty="0"/>
              <a:t>Eine Subklasse implementiert die selbe Signatur einer Methode wie die Superklasse</a:t>
            </a:r>
          </a:p>
          <a:p>
            <a:pPr lvl="1"/>
            <a:r>
              <a:rPr lang="de-DE" dirty="0"/>
              <a:t>Die Aufrufe von überschriebenen Methoden werden zur Laufzeit ausgewertet</a:t>
            </a:r>
          </a:p>
          <a:p>
            <a:pPr lvl="2"/>
            <a:r>
              <a:rPr lang="de-DE" dirty="0"/>
              <a:t>Polymorphie</a:t>
            </a:r>
          </a:p>
          <a:p>
            <a:pPr lvl="1"/>
            <a:r>
              <a:rPr lang="de-DE" dirty="0"/>
              <a:t>Der Zugriff auf eine Methode der Superklassen-Hierarchie ist mit der Referenz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super</a:t>
            </a:r>
            <a:r>
              <a:rPr lang="de-DE" dirty="0"/>
              <a:t> 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58693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2C27-3948-294B-81CB-F647778E7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Namespaces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E0CB8E-497E-914A-BF74-835E11B7B107}"/>
              </a:ext>
            </a:extLst>
          </p:cNvPr>
          <p:cNvSpPr/>
          <p:nvPr/>
        </p:nvSpPr>
        <p:spPr>
          <a:xfrm>
            <a:off x="3813972" y="2967335"/>
            <a:ext cx="45640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5400" b="1" dirty="0">
                <a:ln/>
                <a:solidFill>
                  <a:schemeClr val="accent3"/>
                </a:solidFill>
              </a:rPr>
              <a:t>Code Gruppen </a:t>
            </a:r>
          </a:p>
        </p:txBody>
      </p:sp>
    </p:spTree>
    <p:extLst>
      <p:ext uri="{BB962C8B-B14F-4D97-AF65-F5344CB8AC3E}">
        <p14:creationId xmlns:p14="http://schemas.microsoft.com/office/powerpoint/2010/main" val="8056469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r>
              <a:rPr lang="de-DE" dirty="0"/>
              <a:t> gruppieren Deklarationen</a:t>
            </a:r>
          </a:p>
          <a:p>
            <a:pPr lvl="1"/>
            <a:r>
              <a:rPr lang="de-DE" dirty="0"/>
              <a:t>Diese sind nur innerhalb des </a:t>
            </a:r>
            <a:r>
              <a:rPr lang="de-DE" dirty="0" err="1"/>
              <a:t>Namespaces</a:t>
            </a:r>
            <a:r>
              <a:rPr lang="de-DE" dirty="0"/>
              <a:t> direkt ansprechbar</a:t>
            </a:r>
          </a:p>
          <a:p>
            <a:pPr lvl="1"/>
            <a:r>
              <a:rPr lang="de-DE" dirty="0"/>
              <a:t>Damit wird die Wahrscheinlichkeit von Namenskollisionen vermieden</a:t>
            </a:r>
          </a:p>
          <a:p>
            <a:r>
              <a:rPr lang="de-DE" dirty="0"/>
              <a:t>Deklarationen werden mit Hilfe des Schlüsselworts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/>
              <a:t> anderen </a:t>
            </a:r>
            <a:r>
              <a:rPr lang="de-DE" dirty="0" err="1"/>
              <a:t>Namespaces</a:t>
            </a:r>
            <a:r>
              <a:rPr lang="de-DE" dirty="0"/>
              <a:t> zur Verfügung gestellt</a:t>
            </a:r>
          </a:p>
          <a:p>
            <a:r>
              <a:rPr lang="de-DE" dirty="0"/>
              <a:t>Aus einem anderen Namespace müssen die Variablen mit dem Namespace angesprochen werden</a:t>
            </a:r>
          </a:p>
          <a:p>
            <a:pPr lvl="1"/>
            <a:r>
              <a:rPr lang="de-DE" dirty="0"/>
              <a:t>"Qualifizierte Namen"</a:t>
            </a:r>
          </a:p>
        </p:txBody>
      </p:sp>
    </p:spTree>
    <p:extLst>
      <p:ext uri="{BB962C8B-B14F-4D97-AF65-F5344CB8AC3E}">
        <p14:creationId xmlns:p14="http://schemas.microsoft.com/office/powerpoint/2010/main" val="20710706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C0940AC-D5AD-D94E-9678-0C532B85A652}"/>
              </a:ext>
            </a:extLst>
          </p:cNvPr>
          <p:cNvSpPr/>
          <p:nvPr/>
        </p:nvSpPr>
        <p:spPr>
          <a:xfrm>
            <a:off x="786063" y="789347"/>
            <a:ext cx="6096000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C2FA4-5386-6840-B687-14A0719DF8D1}"/>
              </a:ext>
            </a:extLst>
          </p:cNvPr>
          <p:cNvSpPr txBox="1"/>
          <p:nvPr/>
        </p:nvSpPr>
        <p:spPr>
          <a:xfrm>
            <a:off x="786063" y="420015"/>
            <a:ext cx="1059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Animal.ts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C4F9F8-531A-F140-ACEB-8B756B8CDE9A}"/>
              </a:ext>
            </a:extLst>
          </p:cNvPr>
          <p:cNvSpPr/>
          <p:nvPr/>
        </p:nvSpPr>
        <p:spPr>
          <a:xfrm>
            <a:off x="786063" y="3113998"/>
            <a:ext cx="6096000" cy="313932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2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(){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2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lvl="2"/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"Oink"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2821A-BF4E-8442-BB12-668860777A22}"/>
              </a:ext>
            </a:extLst>
          </p:cNvPr>
          <p:cNvSpPr txBox="1"/>
          <p:nvPr/>
        </p:nvSpPr>
        <p:spPr>
          <a:xfrm>
            <a:off x="786063" y="2744666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CCA42E-9320-E149-B071-141D0B00AE11}"/>
              </a:ext>
            </a:extLst>
          </p:cNvPr>
          <p:cNvSpPr/>
          <p:nvPr/>
        </p:nvSpPr>
        <p:spPr>
          <a:xfrm>
            <a:off x="7115174" y="1812995"/>
            <a:ext cx="5076825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Pig.ts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D3E7B8-C48A-2844-8F1A-63001E00EADE}"/>
              </a:ext>
            </a:extLst>
          </p:cNvPr>
          <p:cNvSpPr txBox="1"/>
          <p:nvPr/>
        </p:nvSpPr>
        <p:spPr>
          <a:xfrm>
            <a:off x="7128587" y="1443663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</p:spTree>
    <p:extLst>
      <p:ext uri="{BB962C8B-B14F-4D97-AF65-F5344CB8AC3E}">
        <p14:creationId xmlns:p14="http://schemas.microsoft.com/office/powerpoint/2010/main" val="401642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CB76C1-6A5B-8C4E-B732-E2AA9A6E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Exporte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DC705-2DC0-3842-9BE4-56AF34F35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PublicD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21552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CAB46A-BC11-6844-9EFF-1EF0CE5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Named</a:t>
            </a:r>
            <a:r>
              <a:rPr lang="de-DE" dirty="0"/>
              <a:t> importieren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D21BBC-2218-DF4C-AE38-20B8175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>
                <a:solidFill>
                  <a:srgbClr val="333333"/>
                </a:solidFill>
                <a:latin typeface="Aller"/>
              </a:rPr>
              <a:t>named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exports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importieren</a:t>
            </a:r>
          </a:p>
          <a:p>
            <a:pPr lvl="1"/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lib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35456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A24F-8B90-5D48-9BFC-FBB0CD39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Imports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4F25E-9625-EB45-8EEC-37495CB5C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Alle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sind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hoisted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dürfen nicht ...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variabel sein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conditional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sein (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etc.)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Erlaubt statische Analyse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Bundling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Code Navigation in IDE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37139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32E1A-669D-9F40-8622-2B8BFB14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3: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DE6B3-F2BD-2448-BA0D-93011B572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Lagere die Klasse Student in ein Module aus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student.ts</a:t>
            </a:r>
            <a:endParaRPr lang="de-DE" dirty="0"/>
          </a:p>
          <a:p>
            <a:pPr lvl="1"/>
            <a:r>
              <a:rPr lang="de-DE" dirty="0"/>
              <a:t>Verschiebe die Klasse dort hin und exportiere sie</a:t>
            </a:r>
          </a:p>
          <a:p>
            <a:r>
              <a:rPr lang="de-DE" dirty="0"/>
              <a:t>Importiere die Klasse in der ursprünglichen Datei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21757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Angular – Wikipedia">
            <a:extLst>
              <a:ext uri="{FF2B5EF4-FFF2-40B4-BE49-F238E27FC236}">
                <a16:creationId xmlns:a16="http://schemas.microsoft.com/office/drawing/2014/main" id="{F3880F9B-C77D-164C-B244-ED98E6FD66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55" b="21095"/>
          <a:stretch/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868717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81639C4-6388-774A-9E71-970E68A55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Wiederholung Tag 2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10808A1-61D9-E041-A48F-ABAE50836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Angular cli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new</a:t>
            </a:r>
            <a:r>
              <a:rPr lang="de-DE" dirty="0">
                <a:sym typeface="Wingdings" pitchFamily="2" charset="2"/>
              </a:rPr>
              <a:t> | </a:t>
            </a:r>
            <a:r>
              <a:rPr lang="de-DE" dirty="0" err="1">
                <a:sym typeface="Wingdings" pitchFamily="2" charset="2"/>
              </a:rPr>
              <a:t>component</a:t>
            </a:r>
            <a:endParaRPr lang="de-DE" dirty="0">
              <a:sym typeface="Wingdings" pitchFamily="2" charset="2"/>
            </a:endParaRPr>
          </a:p>
          <a:p>
            <a:r>
              <a:rPr lang="de-DE" dirty="0">
                <a:sym typeface="Wingdings" pitchFamily="2" charset="2"/>
              </a:rPr>
              <a:t>Ein Angular Projekt besteht aus folgende Dateien:</a:t>
            </a:r>
          </a:p>
          <a:p>
            <a:pPr lvl="1"/>
            <a:r>
              <a:rPr lang="de-DE" dirty="0" err="1">
                <a:sym typeface="Wingdings" pitchFamily="2" charset="2"/>
              </a:rPr>
              <a:t>ts</a:t>
            </a:r>
            <a:endParaRPr lang="de-DE" dirty="0">
              <a:sym typeface="Wingdings" pitchFamily="2" charset="2"/>
            </a:endParaRPr>
          </a:p>
          <a:p>
            <a:pPr lvl="1"/>
            <a:r>
              <a:rPr lang="de-DE" dirty="0" err="1">
                <a:sym typeface="Wingdings" pitchFamily="2" charset="2"/>
              </a:rPr>
              <a:t>html</a:t>
            </a:r>
            <a:endParaRPr lang="de-DE" dirty="0">
              <a:sym typeface="Wingdings" pitchFamily="2" charset="2"/>
            </a:endParaRPr>
          </a:p>
          <a:p>
            <a:pPr lvl="1"/>
            <a:r>
              <a:rPr lang="de-DE" dirty="0" err="1">
                <a:sym typeface="Wingdings" pitchFamily="2" charset="2"/>
              </a:rPr>
              <a:t>css</a:t>
            </a:r>
            <a:r>
              <a:rPr lang="de-DE" dirty="0">
                <a:sym typeface="Wingdings" pitchFamily="2" charset="2"/>
              </a:rPr>
              <a:t> </a:t>
            </a:r>
          </a:p>
          <a:p>
            <a:pPr lvl="1"/>
            <a:r>
              <a:rPr lang="de-DE" dirty="0">
                <a:sym typeface="Wingdings" pitchFamily="2" charset="2"/>
              </a:rPr>
              <a:t>… .</a:t>
            </a:r>
            <a:r>
              <a:rPr lang="de-DE" dirty="0" err="1">
                <a:sym typeface="Wingdings" pitchFamily="2" charset="2"/>
              </a:rPr>
              <a:t>xml</a:t>
            </a:r>
            <a:r>
              <a:rPr lang="de-DE" dirty="0">
                <a:sym typeface="Wingdings" pitchFamily="2" charset="2"/>
              </a:rPr>
              <a:t>, .</a:t>
            </a:r>
            <a:r>
              <a:rPr lang="de-DE" dirty="0" err="1">
                <a:sym typeface="Wingdings" pitchFamily="2" charset="2"/>
              </a:rPr>
              <a:t>json</a:t>
            </a:r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Component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>
                <a:sym typeface="Wingdings" pitchFamily="2" charset="2"/>
              </a:rPr>
              <a:t>ts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html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css</a:t>
            </a:r>
            <a:r>
              <a:rPr lang="de-DE" dirty="0">
                <a:sym typeface="Wingdings" pitchFamily="2" charset="2"/>
              </a:rPr>
              <a:t>)  View</a:t>
            </a:r>
          </a:p>
          <a:p>
            <a:r>
              <a:rPr lang="de-DE" dirty="0">
                <a:sym typeface="Wingdings" pitchFamily="2" charset="2"/>
              </a:rPr>
              <a:t>Direktiven Binding </a:t>
            </a:r>
            <a:r>
              <a:rPr lang="de-DE" dirty="0" err="1">
                <a:sym typeface="Wingdings" pitchFamily="2" charset="2"/>
              </a:rPr>
              <a:t>html</a:t>
            </a:r>
            <a:r>
              <a:rPr lang="de-DE" dirty="0">
                <a:sym typeface="Wingdings" pitchFamily="2" charset="2"/>
              </a:rPr>
              <a:t> -&gt; </a:t>
            </a:r>
            <a:r>
              <a:rPr lang="de-DE" dirty="0" err="1">
                <a:sym typeface="Wingdings" pitchFamily="2" charset="2"/>
              </a:rPr>
              <a:t>ts</a:t>
            </a:r>
            <a:r>
              <a:rPr lang="de-DE" dirty="0">
                <a:sym typeface="Wingdings" pitchFamily="2" charset="2"/>
              </a:rPr>
              <a:t> </a:t>
            </a:r>
          </a:p>
          <a:p>
            <a:pPr lvl="1"/>
            <a:r>
              <a:rPr lang="de-DE" dirty="0">
                <a:sym typeface="Wingdings" pitchFamily="2" charset="2"/>
              </a:rPr>
              <a:t>{{}} – z.B. {{</a:t>
            </a:r>
            <a:r>
              <a:rPr lang="de-DE" dirty="0" err="1">
                <a:sym typeface="Wingdings" pitchFamily="2" charset="2"/>
              </a:rPr>
              <a:t>animals.length</a:t>
            </a:r>
            <a:r>
              <a:rPr lang="de-DE" dirty="0">
                <a:sym typeface="Wingdings" pitchFamily="2" charset="2"/>
              </a:rPr>
              <a:t>}}</a:t>
            </a:r>
          </a:p>
          <a:p>
            <a:pPr lvl="1"/>
            <a:r>
              <a:rPr lang="de-DE" dirty="0" err="1">
                <a:sym typeface="Wingdings" pitchFamily="2" charset="2"/>
              </a:rPr>
              <a:t>this</a:t>
            </a:r>
            <a:r>
              <a:rPr lang="de-DE" dirty="0">
                <a:sym typeface="Wingdings" pitchFamily="2" charset="2"/>
              </a:rPr>
              <a:t> – </a:t>
            </a:r>
            <a:r>
              <a:rPr lang="de-DE" dirty="0" err="1">
                <a:sym typeface="Wingdings" pitchFamily="2" charset="2"/>
              </a:rPr>
              <a:t>Context</a:t>
            </a:r>
            <a:r>
              <a:rPr lang="de-DE" dirty="0">
                <a:sym typeface="Wingdings" pitchFamily="2" charset="2"/>
              </a:rPr>
              <a:t> der Auswertung ist die Instanz der Komponentenklasse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5750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3515024-0649-BB4E-9961-9A7B608AC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Architektur Überblick</a:t>
            </a:r>
          </a:p>
        </p:txBody>
      </p:sp>
      <p:sp>
        <p:nvSpPr>
          <p:cNvPr id="7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overview">
            <a:extLst>
              <a:ext uri="{FF2B5EF4-FFF2-40B4-BE49-F238E27FC236}">
                <a16:creationId xmlns:a16="http://schemas.microsoft.com/office/drawing/2014/main" id="{7745E195-95AF-4B4A-B67D-71F80428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81497"/>
            <a:ext cx="7214616" cy="3667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64488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524000" y="0"/>
            <a:ext cx="6915150" cy="947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F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14400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5pPr>
            <a:lvl6pPr marL="25146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6pPr>
            <a:lvl7pPr marL="29718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7pPr>
            <a:lvl8pPr marL="34290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8pPr>
            <a:lvl9pPr marL="38862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9pPr>
          </a:lstStyle>
          <a:p>
            <a:pPr>
              <a:buClrTx/>
              <a:buFontTx/>
              <a:buNone/>
            </a:pPr>
            <a:endParaRPr lang="de-DE" sz="2400" dirty="0">
              <a:solidFill>
                <a:srgbClr val="B51621"/>
              </a:solidFill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 und Quellen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989" y="1160748"/>
            <a:ext cx="4463988" cy="3276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153AF92-4FFC-D144-B24A-F34AEB699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89" y="1492839"/>
            <a:ext cx="3881486" cy="485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27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Installation und Setup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phic 9" descr="Tools">
            <a:extLst>
              <a:ext uri="{FF2B5EF4-FFF2-40B4-BE49-F238E27FC236}">
                <a16:creationId xmlns:a16="http://schemas.microsoft.com/office/drawing/2014/main" id="{4FF8B8A6-D6A6-4518-A3DC-6EB20721D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3800">
                <a:solidFill>
                  <a:schemeClr val="bg1"/>
                </a:solidFill>
              </a:rPr>
              <a:t>JavaScript-Grundinstallation</a:t>
            </a:r>
          </a:p>
        </p:txBody>
      </p:sp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0D5F12EA-14B8-45AD-B135-211A12E607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3371004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798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3700">
                <a:solidFill>
                  <a:srgbClr val="FFFFFF"/>
                </a:solidFill>
              </a:rPr>
              <a:t>Installation des Angular Command Line Interfaces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@angular/cli</a:t>
            </a:r>
          </a:p>
          <a:p>
            <a:r>
              <a:rPr lang="de-DE" sz="1900" dirty="0"/>
              <a:t>Damit ist der Angular-Projektassistent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/>
              <a:t> installiert</a:t>
            </a:r>
          </a:p>
          <a:p>
            <a:pPr lvl="1"/>
            <a:r>
              <a:rPr lang="de-DE" sz="1900" dirty="0"/>
              <a:t>Anlegen eines neuen Projekts</a:t>
            </a:r>
          </a:p>
          <a:p>
            <a:pPr lvl="2"/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projektname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lvl="1"/>
            <a:r>
              <a:rPr lang="de-DE" sz="1900" dirty="0"/>
              <a:t>Erzeugen neuer Angular-Programmteile</a:t>
            </a:r>
          </a:p>
          <a:p>
            <a:pPr lvl="2"/>
            <a:r>
              <a:rPr lang="de-DE" sz="1900" dirty="0"/>
              <a:t>Services</a:t>
            </a:r>
          </a:p>
          <a:p>
            <a:pPr lvl="2"/>
            <a:r>
              <a:rPr lang="de-DE" sz="1900" dirty="0"/>
              <a:t>Direktiven</a:t>
            </a:r>
          </a:p>
          <a:p>
            <a:pPr lvl="2"/>
            <a:r>
              <a:rPr lang="de-DE" sz="1900" dirty="0"/>
              <a:t>…</a:t>
            </a:r>
          </a:p>
          <a:p>
            <a:r>
              <a:rPr lang="de-DE" sz="1900" dirty="0"/>
              <a:t>Freunde des </a:t>
            </a:r>
            <a:r>
              <a:rPr lang="de-DE" sz="1900" dirty="0" err="1"/>
              <a:t>Handmade</a:t>
            </a:r>
            <a:r>
              <a:rPr lang="de-DE" sz="1900" dirty="0"/>
              <a:t> </a:t>
            </a:r>
            <a:r>
              <a:rPr lang="de-DE" sz="1900" dirty="0" err="1"/>
              <a:t>Manifesto</a:t>
            </a:r>
            <a:r>
              <a:rPr lang="de-DE" sz="1900" dirty="0"/>
              <a:t>:</a:t>
            </a:r>
          </a:p>
          <a:p>
            <a:pPr lvl="1"/>
            <a:r>
              <a:rPr lang="de-DE" sz="1900" dirty="0"/>
              <a:t>Das Anlegen eines Angular-Projektes kann natürlich auch ohne dieses Werkzeug erfolgen</a:t>
            </a:r>
          </a:p>
        </p:txBody>
      </p:sp>
    </p:spTree>
    <p:extLst>
      <p:ext uri="{BB962C8B-B14F-4D97-AF65-F5344CB8AC3E}">
        <p14:creationId xmlns:p14="http://schemas.microsoft.com/office/powerpoint/2010/main" val="3232090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Überblick über ng command 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1700"/>
              <a:t>Development server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serve</a:t>
            </a:r>
            <a:r>
              <a:rPr lang="en-US" sz="1700"/>
              <a:t> startet einen Server mit Browser-Sync auf </a:t>
            </a:r>
            <a:r>
              <a:rPr lang="en-US" sz="1700" u="sng">
                <a:latin typeface="Courier New" pitchFamily="49" charset="0"/>
                <a:cs typeface="Courier New" pitchFamily="49" charset="0"/>
              </a:rPr>
              <a:t>http://localhost:4200/</a:t>
            </a:r>
          </a:p>
          <a:p>
            <a:r>
              <a:rPr lang="en-US" sz="1700"/>
              <a:t>Code Scaffolding</a:t>
            </a:r>
          </a:p>
          <a:p>
            <a:r>
              <a:rPr lang="en-US" sz="1700">
                <a:latin typeface="Courier New" pitchFamily="49" charset="0"/>
                <a:cs typeface="Courier New" pitchFamily="49" charset="0"/>
              </a:rPr>
              <a:t>ng generate component component-name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directive|pipe|service|class|guard|interface|enum|module</a:t>
            </a:r>
          </a:p>
          <a:p>
            <a:r>
              <a:rPr lang="en-US" sz="1700"/>
              <a:t>Build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build &lt;-prod&gt;</a:t>
            </a:r>
            <a:endParaRPr lang="en-US" sz="1700"/>
          </a:p>
          <a:p>
            <a:r>
              <a:rPr lang="en-US" sz="1700"/>
              <a:t>Unit Tests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test</a:t>
            </a:r>
            <a:r>
              <a:rPr lang="en-US" sz="1700"/>
              <a:t> führt Karma-Tests aus 	    </a:t>
            </a:r>
            <a:r>
              <a:rPr lang="en-US" sz="1700" u="sng">
                <a:latin typeface="Courier New" pitchFamily="49" charset="0"/>
                <a:cs typeface="Courier New" pitchFamily="49" charset="0"/>
                <a:hlinkClick r:id="rId2"/>
              </a:rPr>
              <a:t>https://karma-runner.github.io</a:t>
            </a:r>
            <a:endParaRPr lang="en-US" sz="1700" u="sng">
              <a:latin typeface="Courier New" pitchFamily="49" charset="0"/>
              <a:cs typeface="Courier New" pitchFamily="49" charset="0"/>
            </a:endParaRPr>
          </a:p>
          <a:p>
            <a:r>
              <a:rPr lang="en-US" sz="1700"/>
              <a:t>End-to-End Tests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e2e</a:t>
            </a:r>
            <a:r>
              <a:rPr lang="en-US" sz="1700"/>
              <a:t> führt Protractor-Tests aus. </a:t>
            </a:r>
            <a:r>
              <a:rPr lang="de-DE" sz="1700" u="sng">
                <a:latin typeface="Courier New" pitchFamily="49" charset="0"/>
                <a:cs typeface="Courier New" pitchFamily="49" charset="0"/>
              </a:rPr>
              <a:t>http://www.protractortest.org/</a:t>
            </a:r>
          </a:p>
        </p:txBody>
      </p:sp>
    </p:spTree>
    <p:extLst>
      <p:ext uri="{BB962C8B-B14F-4D97-AF65-F5344CB8AC3E}">
        <p14:creationId xmlns:p14="http://schemas.microsoft.com/office/powerpoint/2010/main" val="13181442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7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Video 8">
            <a:extLst>
              <a:ext uri="{FF2B5EF4-FFF2-40B4-BE49-F238E27FC236}">
                <a16:creationId xmlns:a16="http://schemas.microsoft.com/office/drawing/2014/main" id="{7B4A78C5-515D-4BFB-AAE3-A785E8F1F3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r="1" b="285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Ein erstes Projekt</a:t>
            </a:r>
          </a:p>
        </p:txBody>
      </p:sp>
    </p:spTree>
    <p:extLst>
      <p:ext uri="{BB962C8B-B14F-4D97-AF65-F5344CB8AC3E}">
        <p14:creationId xmlns:p14="http://schemas.microsoft.com/office/powerpoint/2010/main" val="289406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9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Anlegen des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ng new org.somepackage.angular</a:t>
            </a:r>
          </a:p>
          <a:p>
            <a:r>
              <a:rPr lang="de-DE" sz="2000"/>
              <a:t>Damit wird ein node-Projekt erzeugt</a:t>
            </a:r>
          </a:p>
          <a:p>
            <a:r>
              <a:rPr lang="de-DE" sz="2000"/>
              <a:t>Ebenso werden automatisch alle Abhängigkeiten installiert</a:t>
            </a:r>
          </a:p>
          <a:p>
            <a:pPr lvl="1"/>
            <a:r>
              <a:rPr lang="de-DE" sz="2000"/>
              <a:t>Insbesondere TypeScript</a:t>
            </a:r>
          </a:p>
        </p:txBody>
      </p:sp>
    </p:spTree>
    <p:extLst>
      <p:ext uri="{BB962C8B-B14F-4D97-AF65-F5344CB8AC3E}">
        <p14:creationId xmlns:p14="http://schemas.microsoft.com/office/powerpoint/2010/main" val="38922988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431" y="831571"/>
            <a:ext cx="2071491" cy="53924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987669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100" dirty="0">
                <a:solidFill>
                  <a:srgbClr val="FFFFFF"/>
                </a:solidFill>
              </a:rPr>
              <a:t>Die Anwendung unter localhost:4200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224108"/>
            <a:ext cx="6780700" cy="440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233216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CB4DC03-3741-214F-A90E-6CD1D6C5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4: Erstelle Initiales Projekt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18CFA2-EB0E-1748-95A3-A3CBB76F4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Öffne ein Terminal</a:t>
            </a:r>
          </a:p>
          <a:p>
            <a:r>
              <a:rPr lang="de-DE" dirty="0"/>
              <a:t>Installiere, falls noch nicht geschehen, das Angular CLI global (siehe </a:t>
            </a:r>
            <a:r>
              <a:rPr lang="de-DE" i="1" dirty="0">
                <a:hlinkClick r:id="rId3"/>
              </a:rPr>
              <a:t>Benötigte Software</a:t>
            </a:r>
            <a:r>
              <a:rPr lang="de-DE" dirty="0"/>
              <a:t>)</a:t>
            </a:r>
          </a:p>
          <a:p>
            <a:r>
              <a:rPr lang="de-DE" dirty="0"/>
              <a:t>Navigiere zu einem Ordner in dem das neues Projekt anzulegen werden soll</a:t>
            </a:r>
          </a:p>
          <a:p>
            <a:r>
              <a:rPr lang="de-DE" dirty="0"/>
              <a:t>Lege eine neues Projekt an: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-manager-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/>
              <a:t>Wechsel in das erzeugte Verzeichnis </a:t>
            </a:r>
            <a:r>
              <a:rPr lang="de-DE" dirty="0" err="1"/>
              <a:t>training</a:t>
            </a:r>
            <a:r>
              <a:rPr lang="de-DE" dirty="0"/>
              <a:t>-manager-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/>
              <a:t>Führe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 aus</a:t>
            </a:r>
          </a:p>
          <a:p>
            <a:r>
              <a:rPr lang="de-DE" dirty="0"/>
              <a:t>Öffne Anwendung im Browser unter </a:t>
            </a:r>
            <a:r>
              <a:rPr lang="de-DE" i="1" u="sng" dirty="0">
                <a:hlinkClick r:id="rId4"/>
              </a:rPr>
              <a:t>http://localhost:4200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996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Reload</a:t>
            </a:r>
            <a:r>
              <a:rPr lang="de-DE" dirty="0"/>
              <a:t> der App im Hintergrund bei Change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 –o (</a:t>
            </a:r>
            <a:r>
              <a:rPr lang="de-DE" dirty="0" err="1"/>
              <a:t>observe</a:t>
            </a:r>
            <a:r>
              <a:rPr lang="de-DE" dirty="0"/>
              <a:t>)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Ändern des Seitentitels sowie der Willkommens-Nachricht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/index.html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/app.component.html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5628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600">
                <a:solidFill>
                  <a:srgbClr val="FFFFFF"/>
                </a:solidFill>
              </a:rPr>
              <a:t>Die aktualisierte Seite</a:t>
            </a:r>
          </a:p>
        </p:txBody>
      </p:sp>
      <p:pic>
        <p:nvPicPr>
          <p:cNvPr id="5122" name="Picture 2" descr="Angular JS Hello World Example">
            <a:extLst>
              <a:ext uri="{FF2B5EF4-FFF2-40B4-BE49-F238E27FC236}">
                <a16:creationId xmlns:a16="http://schemas.microsoft.com/office/drawing/2014/main" id="{8F6AAA3B-F66B-EA4F-9684-828BE03E8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8897" y="643466"/>
            <a:ext cx="4357537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77259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19">
            <a:extLst>
              <a:ext uri="{FF2B5EF4-FFF2-40B4-BE49-F238E27FC236}">
                <a16:creationId xmlns:a16="http://schemas.microsoft.com/office/drawing/2014/main" id="{3BAA5CB3-DD96-408C-A8DF-F03B7F0E2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178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41248" y="2826251"/>
            <a:ext cx="10512552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 Angular Module</a:t>
            </a:r>
          </a:p>
        </p:txBody>
      </p:sp>
    </p:spTree>
    <p:extLst>
      <p:ext uri="{BB962C8B-B14F-4D97-AF65-F5344CB8AC3E}">
        <p14:creationId xmlns:p14="http://schemas.microsoft.com/office/powerpoint/2010/main" val="417400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F46897-5E04-344E-B4A0-7377C3BD6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Was ist ein Modul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B8D0-3215-6140-967F-9D233E37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/>
              <a:t>Angular-spezifischer Code muss organisiert werden</a:t>
            </a:r>
          </a:p>
          <a:p>
            <a:pPr lvl="1"/>
            <a:r>
              <a:rPr lang="de-DE" sz="2000"/>
              <a:t>Gleiche Grundgedanken und Aufbau wie bei ES6 Modulen</a:t>
            </a:r>
          </a:p>
          <a:p>
            <a:pPr lvl="1"/>
            <a:r>
              <a:rPr lang="de-DE" sz="2000"/>
              <a:t>Kapselung &amp; Wiederverwendbarkeit</a:t>
            </a:r>
          </a:p>
          <a:p>
            <a:pPr lvl="1"/>
            <a:r>
              <a:rPr lang="de-DE" sz="2000"/>
              <a:t>Leichtes Einbinden von Bibliotheken</a:t>
            </a:r>
          </a:p>
          <a:p>
            <a:pPr lvl="1"/>
            <a:r>
              <a:rPr lang="de-DE" sz="2000"/>
              <a:t>Genaue Steuerung was wo verwendet wird</a:t>
            </a:r>
          </a:p>
          <a:p>
            <a:pPr lvl="1"/>
            <a:r>
              <a:rPr lang="de-DE" sz="2000"/>
              <a:t>Kompromiss zwischen</a:t>
            </a:r>
            <a:br>
              <a:rPr lang="de-DE" sz="2000"/>
            </a:br>
            <a:r>
              <a:rPr lang="de-DE" sz="2000"/>
              <a:t>"alles immer angeben müssen" (Angular &lt; 2.0.0-rc.5) und</a:t>
            </a:r>
            <a:br>
              <a:rPr lang="de-DE" sz="2000"/>
            </a:br>
            <a:r>
              <a:rPr lang="de-DE" sz="2000"/>
              <a:t>"einfach rein schmeißen" (AngularJS 1)</a:t>
            </a:r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6863394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Übersicht der Dateien eines Moduls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92500" lnSpcReduction="10000"/>
          </a:bodyPr>
          <a:lstStyle/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index.html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sz="1800" dirty="0"/>
              <a:t>Die Hauptseite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app.module.ts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Moduls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dynamischen Anteils einer Komponente mit </a:t>
            </a:r>
            <a:r>
              <a:rPr lang="de-DE" sz="1800" dirty="0" err="1"/>
              <a:t>TypeScript</a:t>
            </a:r>
            <a:endParaRPr lang="de-DE" sz="1800" dirty="0"/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HTML-Templates einer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app.component.css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Stylesheet der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app.component.spec.ts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von Karma-Tests 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64859548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8" name="Rectangle 7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Referenz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auf Module in Index-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Seite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8BB0179-006F-6640-8AC8-65A122AF2B6B}"/>
              </a:ext>
            </a:extLst>
          </p:cNvPr>
          <p:cNvCxnSpPr>
            <a:cxnSpLocks/>
          </p:cNvCxnSpPr>
          <p:nvPr/>
        </p:nvCxnSpPr>
        <p:spPr>
          <a:xfrm flipH="1" flipV="1">
            <a:off x="4102443" y="4584357"/>
            <a:ext cx="1890585" cy="543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/>
          <p:cNvGrpSpPr/>
          <p:nvPr/>
        </p:nvGrpSpPr>
        <p:grpSpPr>
          <a:xfrm>
            <a:off x="2858965" y="1828800"/>
            <a:ext cx="6474070" cy="4352544"/>
            <a:chOff x="251520" y="1052736"/>
            <a:chExt cx="7658100" cy="5148572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052736"/>
              <a:ext cx="7658100" cy="38766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Legende mit Linie 1 5"/>
            <p:cNvSpPr/>
            <p:nvPr/>
          </p:nvSpPr>
          <p:spPr>
            <a:xfrm>
              <a:off x="5004048" y="4401108"/>
              <a:ext cx="2556284" cy="180020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r>
                <a:rPr lang="de-DE" sz="2400">
                  <a:solidFill>
                    <a:schemeClr val="tx1"/>
                  </a:solidFill>
                </a:rPr>
                <a:t>Der Einstiegspunkt für Angular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F879316-F596-D845-A0AA-CA5FA773B4C7}"/>
              </a:ext>
            </a:extLst>
          </p:cNvPr>
          <p:cNvCxnSpPr/>
          <p:nvPr/>
        </p:nvCxnSpPr>
        <p:spPr>
          <a:xfrm flipH="1" flipV="1">
            <a:off x="5348614" y="4459266"/>
            <a:ext cx="1528084" cy="646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05545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Component</a:t>
            </a:r>
            <a:r>
              <a:rPr lang="de-DE" dirty="0"/>
              <a:t>-Annotation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Eine </a:t>
            </a:r>
            <a:r>
              <a:rPr lang="de-DE" dirty="0" err="1"/>
              <a:t>Component</a:t>
            </a:r>
            <a:r>
              <a:rPr lang="de-DE" dirty="0"/>
              <a:t> ist eine </a:t>
            </a:r>
            <a:r>
              <a:rPr lang="de-DE" dirty="0" err="1"/>
              <a:t>TypeScript</a:t>
            </a:r>
            <a:r>
              <a:rPr lang="de-DE" dirty="0"/>
              <a:t>-Klasse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Annotationen enthalten Metadaten, die der Klasse zugeordnet werden</a:t>
            </a:r>
          </a:p>
          <a:p>
            <a:pPr lvl="1"/>
            <a:r>
              <a:rPr lang="de-DE" dirty="0"/>
              <a:t>Diese müssen von einem Framework interpretiert werden</a:t>
            </a:r>
          </a:p>
          <a:p>
            <a:r>
              <a:rPr lang="de-DE" dirty="0"/>
              <a:t>Annotationen sind damit so etwas wie statische Eigenschaften einer Klasse</a:t>
            </a:r>
          </a:p>
          <a:p>
            <a:pPr lvl="1"/>
            <a:r>
              <a:rPr lang="de-DE" dirty="0"/>
              <a:t>Allerdings sind diese syntaktisch nicht Bestandteil der Klassendeklaration</a:t>
            </a:r>
          </a:p>
          <a:p>
            <a:pPr lvl="1"/>
            <a:r>
              <a:rPr lang="de-DE" dirty="0"/>
              <a:t>Damit ergibt sich eine sauber Trennung</a:t>
            </a:r>
          </a:p>
          <a:p>
            <a:r>
              <a:rPr lang="de-DE" dirty="0"/>
              <a:t>Eine typische 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pPr lvl="1"/>
            <a:r>
              <a:rPr lang="de-DE" dirty="0"/>
              <a:t>Den </a:t>
            </a:r>
            <a:r>
              <a:rPr lang="de-DE" dirty="0" err="1"/>
              <a:t>Selector</a:t>
            </a:r>
            <a:r>
              <a:rPr lang="de-DE" dirty="0"/>
              <a:t> als Bezug zum Template</a:t>
            </a:r>
          </a:p>
          <a:p>
            <a:pPr lvl="1"/>
            <a:r>
              <a:rPr lang="de-DE" dirty="0"/>
              <a:t>Die Lokation des Templates</a:t>
            </a:r>
          </a:p>
          <a:p>
            <a:r>
              <a:rPr lang="de-DE" dirty="0"/>
              <a:t>Vollständige Liste unter</a:t>
            </a: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https://angular.io/api/core/Component</a:t>
            </a:r>
          </a:p>
        </p:txBody>
      </p:sp>
    </p:spTree>
    <p:extLst>
      <p:ext uri="{BB962C8B-B14F-4D97-AF65-F5344CB8AC3E}">
        <p14:creationId xmlns:p14="http://schemas.microsoft.com/office/powerpoint/2010/main" val="20624916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der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Eigenschaften der </a:t>
            </a:r>
            <a:r>
              <a:rPr lang="de-DE" dirty="0" err="1"/>
              <a:t>Component</a:t>
            </a:r>
            <a:r>
              <a:rPr lang="de-DE" dirty="0"/>
              <a:t>-Klasse dienen als Schnittstelle zum HTML-Code</a:t>
            </a:r>
          </a:p>
          <a:p>
            <a:pPr lvl="1"/>
            <a:r>
              <a:rPr lang="de-DE" dirty="0"/>
              <a:t>Werte werden über Interpolation oder Direktiven gebunden</a:t>
            </a:r>
          </a:p>
          <a:p>
            <a:pPr lvl="1"/>
            <a:r>
              <a:rPr lang="de-DE" dirty="0"/>
              <a:t>Funktionen dienen als Event-Handler</a:t>
            </a:r>
          </a:p>
          <a:p>
            <a:r>
              <a:rPr lang="de-DE" dirty="0"/>
              <a:t>Bei Bedarf implementiert die </a:t>
            </a:r>
            <a:r>
              <a:rPr lang="de-DE" dirty="0" err="1"/>
              <a:t>Component</a:t>
            </a:r>
            <a:r>
              <a:rPr lang="de-DE" dirty="0"/>
              <a:t>-Klasse </a:t>
            </a:r>
            <a:r>
              <a:rPr lang="de-DE" dirty="0" err="1"/>
              <a:t>Lifecycle</a:t>
            </a:r>
            <a:r>
              <a:rPr lang="de-DE" dirty="0"/>
              <a:t>-Funktionen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ngOnChanges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https://angular.io/guide/lifecycle-hooks</a:t>
            </a:r>
          </a:p>
        </p:txBody>
      </p:sp>
    </p:spTree>
    <p:extLst>
      <p:ext uri="{BB962C8B-B14F-4D97-AF65-F5344CB8AC3E}">
        <p14:creationId xmlns:p14="http://schemas.microsoft.com/office/powerpoint/2010/main" val="384516543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Angular-Module: Die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4EB13355-A3DD-014C-BB8A-D1D4FC147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 err="1">
                <a:solidFill>
                  <a:srgbClr val="0033B3"/>
                </a:solidFill>
              </a:rPr>
              <a:t>import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/>
              <a:t>{</a:t>
            </a:r>
            <a:r>
              <a:rPr lang="de-DE" sz="1800" dirty="0" err="1">
                <a:solidFill>
                  <a:srgbClr val="000000"/>
                </a:solidFill>
              </a:rPr>
              <a:t>ApplicationRef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830091"/>
                </a:solidFill>
              </a:rPr>
              <a:t>Component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} </a:t>
            </a:r>
            <a:r>
              <a:rPr lang="de-DE" sz="1800" dirty="0" err="1">
                <a:solidFill>
                  <a:srgbClr val="0033B3"/>
                </a:solidFill>
              </a:rPr>
              <a:t>from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067D17"/>
                </a:solidFill>
              </a:rPr>
              <a:t>"@angular/</a:t>
            </a:r>
            <a:r>
              <a:rPr lang="de-DE" sz="1800" dirty="0" err="1">
                <a:solidFill>
                  <a:srgbClr val="067D17"/>
                </a:solidFill>
              </a:rPr>
              <a:t>core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  <a:endParaRPr lang="de-DE" sz="1800" dirty="0">
              <a:solidFill>
                <a:srgbClr val="9E880D"/>
              </a:solidFill>
            </a:endParaRPr>
          </a:p>
          <a:p>
            <a:pPr marL="0" indent="0">
              <a:buNone/>
            </a:pPr>
            <a:r>
              <a:rPr lang="de-DE" sz="1800" dirty="0">
                <a:solidFill>
                  <a:srgbClr val="9E880D"/>
                </a:solidFill>
              </a:rPr>
              <a:t>@</a:t>
            </a:r>
            <a:r>
              <a:rPr lang="de-DE" sz="1800" dirty="0" err="1">
                <a:solidFill>
                  <a:srgbClr val="9E880D"/>
                </a:solidFill>
              </a:rPr>
              <a:t>Component</a:t>
            </a:r>
            <a:r>
              <a:rPr lang="de-DE" sz="1800" dirty="0"/>
              <a:t>({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selector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“</a:t>
            </a:r>
            <a:r>
              <a:rPr lang="de-DE" sz="1800" dirty="0" err="1">
                <a:solidFill>
                  <a:srgbClr val="067D17"/>
                </a:solidFill>
              </a:rPr>
              <a:t>app-root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templateUrl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app.component.html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styleUrls</a:t>
            </a:r>
            <a:r>
              <a:rPr lang="de-DE" sz="1800" dirty="0"/>
              <a:t>: [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app.component.scss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],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animations</a:t>
            </a:r>
            <a:r>
              <a:rPr lang="de-DE" sz="1800" dirty="0"/>
              <a:t>: [</a:t>
            </a:r>
            <a:r>
              <a:rPr lang="de-DE" sz="1800" dirty="0" err="1">
                <a:solidFill>
                  <a:srgbClr val="830091"/>
                </a:solidFill>
              </a:rPr>
              <a:t>fadeAnimation</a:t>
            </a:r>
            <a:r>
              <a:rPr lang="de-DE" sz="1800" dirty="0"/>
              <a:t>]</a:t>
            </a:r>
            <a:br>
              <a:rPr lang="de-DE" sz="1800" dirty="0"/>
            </a:br>
            <a:r>
              <a:rPr lang="de-DE" sz="1800" dirty="0"/>
              <a:t>})</a:t>
            </a:r>
            <a:br>
              <a:rPr lang="de-DE" sz="1800" dirty="0"/>
            </a:br>
            <a:r>
              <a:rPr lang="de-DE" sz="1800" dirty="0" err="1">
                <a:solidFill>
                  <a:srgbClr val="0033B3"/>
                </a:solidFill>
              </a:rPr>
              <a:t>export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class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AppComponent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implements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/>
              <a:t>{</a:t>
            </a:r>
            <a:br>
              <a:rPr lang="de-DE" sz="1800" dirty="0"/>
            </a:b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0033B3"/>
                </a:solidFill>
              </a:rPr>
              <a:t>public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871094"/>
                </a:solidFill>
              </a:rPr>
              <a:t>title </a:t>
            </a:r>
            <a:r>
              <a:rPr lang="de-DE" sz="1800" dirty="0"/>
              <a:t>= 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 err="1">
                <a:solidFill>
                  <a:srgbClr val="067D17"/>
                </a:solidFill>
              </a:rPr>
              <a:t>theFrontend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</a:p>
        </p:txBody>
      </p:sp>
      <p:sp>
        <p:nvSpPr>
          <p:cNvPr id="6" name="Legende mit Linie 1 5"/>
          <p:cNvSpPr/>
          <p:nvPr/>
        </p:nvSpPr>
        <p:spPr>
          <a:xfrm>
            <a:off x="8696291" y="2734804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den Einstiegspunkt</a:t>
            </a:r>
          </a:p>
        </p:txBody>
      </p:sp>
      <p:sp>
        <p:nvSpPr>
          <p:cNvPr id="10" name="Legende mit Linie 1 9"/>
          <p:cNvSpPr/>
          <p:nvPr/>
        </p:nvSpPr>
        <p:spPr>
          <a:xfrm>
            <a:off x="8696291" y="3706912"/>
            <a:ext cx="2556284" cy="684076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Template und CSS</a:t>
            </a:r>
          </a:p>
        </p:txBody>
      </p:sp>
      <p:sp>
        <p:nvSpPr>
          <p:cNvPr id="11" name="Legende mit Linie 1 10"/>
          <p:cNvSpPr/>
          <p:nvPr/>
        </p:nvSpPr>
        <p:spPr>
          <a:xfrm>
            <a:off x="8696291" y="1690688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TypeScript</a:t>
            </a:r>
            <a:r>
              <a:rPr lang="de-DE" dirty="0">
                <a:solidFill>
                  <a:schemeClr val="tx1"/>
                </a:solidFill>
              </a:rPr>
              <a:t>-Import der Angular-Core-Bibliothek</a:t>
            </a:r>
          </a:p>
        </p:txBody>
      </p:sp>
      <p:sp>
        <p:nvSpPr>
          <p:cNvPr id="12" name="Legende mit Linie 1 11"/>
          <p:cNvSpPr/>
          <p:nvPr/>
        </p:nvSpPr>
        <p:spPr>
          <a:xfrm>
            <a:off x="8696291" y="4553006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Definition einer Variablen und </a:t>
            </a:r>
          </a:p>
          <a:p>
            <a:pPr algn="ctr"/>
            <a:r>
              <a:rPr lang="de-DE" dirty="0">
                <a:solidFill>
                  <a:schemeClr val="tx1"/>
                </a:solidFill>
              </a:rPr>
              <a:t>Wert-Zuweisung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948EC-2C0B-1641-8868-5888159E0A3F}"/>
              </a:ext>
            </a:extLst>
          </p:cNvPr>
          <p:cNvCxnSpPr/>
          <p:nvPr/>
        </p:nvCxnSpPr>
        <p:spPr>
          <a:xfrm flipH="1">
            <a:off x="7547113" y="2162662"/>
            <a:ext cx="1149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8D887A6-1C0E-8645-875C-B361BF4C93A5}"/>
              </a:ext>
            </a:extLst>
          </p:cNvPr>
          <p:cNvCxnSpPr>
            <a:cxnSpLocks/>
          </p:cNvCxnSpPr>
          <p:nvPr/>
        </p:nvCxnSpPr>
        <p:spPr>
          <a:xfrm flipH="1" flipV="1">
            <a:off x="3607496" y="2604415"/>
            <a:ext cx="5516868" cy="420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418ED7-7B9E-FA4A-9E75-C35F66E1BB66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4672208" y="3108471"/>
            <a:ext cx="4024083" cy="940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BEFDF0B-2B5E-2244-AE7B-ACFCFEB93A63}"/>
              </a:ext>
            </a:extLst>
          </p:cNvPr>
          <p:cNvCxnSpPr>
            <a:cxnSpLocks/>
          </p:cNvCxnSpPr>
          <p:nvPr/>
        </p:nvCxnSpPr>
        <p:spPr>
          <a:xfrm flipH="1" flipV="1">
            <a:off x="3954025" y="4289900"/>
            <a:ext cx="4509252" cy="457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59039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Das HTML-Template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838200" y="1384063"/>
            <a:ext cx="9036496" cy="5267325"/>
            <a:chOff x="0" y="795338"/>
            <a:chExt cx="9036496" cy="5267325"/>
          </a:xfrm>
        </p:grpSpPr>
        <p:pic>
          <p:nvPicPr>
            <p:cNvPr id="6146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1421"/>
            <a:stretch/>
          </p:blipFill>
          <p:spPr bwMode="auto">
            <a:xfrm>
              <a:off x="0" y="795338"/>
              <a:ext cx="7165731" cy="5267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48780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Referenzieren der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-Variable mit Interpolation</a:t>
              </a:r>
            </a:p>
          </p:txBody>
        </p:sp>
      </p:grp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3750CD4-DF60-7A48-8430-640973DD789B}"/>
              </a:ext>
            </a:extLst>
          </p:cNvPr>
          <p:cNvCxnSpPr>
            <a:cxnSpLocks/>
          </p:cNvCxnSpPr>
          <p:nvPr/>
        </p:nvCxnSpPr>
        <p:spPr>
          <a:xfrm flipH="1">
            <a:off x="5198301" y="2541561"/>
            <a:ext cx="2120111" cy="13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17985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376261" y="1369661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von Angular-Core und dem Browser-Support</a:t>
              </a:r>
            </a:p>
          </p:txBody>
        </p:sp>
        <p:sp>
          <p:nvSpPr>
            <p:cNvPr id="8" name="Legende mit Linie 1 7"/>
            <p:cNvSpPr/>
            <p:nvPr/>
          </p:nvSpPr>
          <p:spPr>
            <a:xfrm>
              <a:off x="6480212" y="26369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der eigenen Komponente</a:t>
              </a:r>
            </a:p>
          </p:txBody>
        </p:sp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Durch den Export wird das Modul aktiviert</a:t>
              </a:r>
            </a:p>
          </p:txBody>
        </p:sp>
        <p:sp>
          <p:nvSpPr>
            <p:cNvPr id="10" name="Legende mit Linie 1 9"/>
            <p:cNvSpPr/>
            <p:nvPr/>
          </p:nvSpPr>
          <p:spPr>
            <a:xfrm>
              <a:off x="6480212" y="393305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Definition aller Eigenschaften des Moduls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6FD2822-AD40-4744-A933-DB7C3765A839}"/>
              </a:ext>
            </a:extLst>
          </p:cNvPr>
          <p:cNvCxnSpPr/>
          <p:nvPr/>
        </p:nvCxnSpPr>
        <p:spPr>
          <a:xfrm flipH="1" flipV="1">
            <a:off x="5862181" y="2975115"/>
            <a:ext cx="1478071" cy="453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EAB7D64-24D5-494E-B9B4-AB06E05654A5}"/>
              </a:ext>
            </a:extLst>
          </p:cNvPr>
          <p:cNvCxnSpPr>
            <a:cxnSpLocks/>
          </p:cNvCxnSpPr>
          <p:nvPr/>
        </p:nvCxnSpPr>
        <p:spPr>
          <a:xfrm flipH="1" flipV="1">
            <a:off x="3769574" y="3983227"/>
            <a:ext cx="3397402" cy="677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>
            <a:off x="2275824" y="6021043"/>
            <a:ext cx="5365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6673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4F3E2-56C3-A649-933A-58D90C173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bis hier 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D4B80E-452C-9D46-9EA7-B6FB29F1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Ablauf bis hier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enthält Komponenten</a:t>
            </a:r>
          </a:p>
          <a:p>
            <a:r>
              <a:rPr lang="de-DE" dirty="0"/>
              <a:t>Woher weiß Angular welche Komponente für das Bootstrapping verwendet werden soll?</a:t>
            </a:r>
          </a:p>
        </p:txBody>
      </p:sp>
    </p:spTree>
    <p:extLst>
      <p:ext uri="{BB962C8B-B14F-4D97-AF65-F5344CB8AC3E}">
        <p14:creationId xmlns:p14="http://schemas.microsoft.com/office/powerpoint/2010/main" val="147931569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451691" y="1326294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„Main“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 flipV="1">
            <a:off x="4559474" y="5423770"/>
            <a:ext cx="3081484" cy="597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68863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7FFD28-545C-4C88-A2E7-152FB234C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911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E1024-7B07-B148-B12D-F424487D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4600">
                <a:solidFill>
                  <a:srgbClr val="FFFFFF"/>
                </a:solidFill>
              </a:rPr>
              <a:t>Kompletter 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4BFCDD-BAD1-524F-9A50-FD942CD22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0"/>
            <a:ext cx="10515600" cy="3738562"/>
          </a:xfrm>
        </p:spPr>
        <p:txBody>
          <a:bodyPr>
            <a:normAutofit lnSpcReduction="10000"/>
          </a:bodyPr>
          <a:lstStyle/>
          <a:p>
            <a:r>
              <a:rPr lang="de-DE" dirty="0"/>
              <a:t>Ablauf insgesamt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bootstrap</a:t>
            </a:r>
            <a:endParaRPr lang="de-DE" dirty="0"/>
          </a:p>
          <a:p>
            <a:pPr lvl="1"/>
            <a:r>
              <a:rPr lang="de-DE" dirty="0"/>
              <a:t>Feld </a:t>
            </a:r>
            <a:r>
              <a:rPr lang="de-DE" dirty="0" err="1"/>
              <a:t>bootstrap</a:t>
            </a:r>
            <a:r>
              <a:rPr lang="de-DE" dirty="0"/>
              <a:t> hält Referenz auf Komponenten Klasse (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Komponenten-Klasse hat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Komponenten-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selector</a:t>
            </a:r>
            <a:endParaRPr lang="de-DE" dirty="0"/>
          </a:p>
          <a:p>
            <a:pPr lvl="1"/>
            <a:r>
              <a:rPr lang="de-DE" dirty="0" err="1"/>
              <a:t>Selector</a:t>
            </a:r>
            <a:r>
              <a:rPr lang="de-DE" dirty="0"/>
              <a:t> wird in DOM aus </a:t>
            </a:r>
            <a:r>
              <a:rPr lang="de-DE" dirty="0" err="1"/>
              <a:t>index.html</a:t>
            </a:r>
            <a:r>
              <a:rPr lang="de-DE" dirty="0"/>
              <a:t> gesucht</a:t>
            </a:r>
          </a:p>
          <a:p>
            <a:pPr lvl="1"/>
            <a:r>
              <a:rPr lang="de-DE" dirty="0"/>
              <a:t>Komponente wird instanziiert</a:t>
            </a:r>
          </a:p>
          <a:p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55778607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Einfache Erweiterungen</a:t>
            </a:r>
          </a:p>
        </p:txBody>
      </p:sp>
    </p:spTree>
    <p:extLst>
      <p:ext uri="{BB962C8B-B14F-4D97-AF65-F5344CB8AC3E}">
        <p14:creationId xmlns:p14="http://schemas.microsoft.com/office/powerpoint/2010/main" val="187209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Komponenten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Auf einer Seite können auch mehrere Anwendungen dargestellt werden</a:t>
            </a:r>
          </a:p>
          <a:p>
            <a:r>
              <a:rPr lang="de-DE" dirty="0"/>
              <a:t>Diese sind komplett voneinander isoliert</a:t>
            </a:r>
          </a:p>
          <a:p>
            <a:pPr lvl="1"/>
            <a:r>
              <a:rPr lang="de-DE" dirty="0"/>
              <a:t>Der Datenaustausch zwischen verschiedenen Komponenten wird später beschrieben</a:t>
            </a:r>
          </a:p>
        </p:txBody>
      </p:sp>
    </p:spTree>
    <p:extLst>
      <p:ext uri="{BB962C8B-B14F-4D97-AF65-F5344CB8AC3E}">
        <p14:creationId xmlns:p14="http://schemas.microsoft.com/office/powerpoint/2010/main" val="2319180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Export von Benutzerdefinierten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Eine Komponente kann auch eigene Datentypen definieren und Exportieren</a:t>
            </a:r>
          </a:p>
          <a:p>
            <a:pPr lvl="1"/>
            <a:r>
              <a:rPr lang="de-DE" dirty="0"/>
              <a:t>Ein Export ist nicht notwendig, so lange der Typ nicht anderen Modulen bekannt gemacht werden muss</a:t>
            </a:r>
          </a:p>
          <a:p>
            <a:r>
              <a:rPr lang="de-DE" dirty="0"/>
              <a:t>Ebenso können die Eigenschaften der Komponente komplexe Objekte sein</a:t>
            </a:r>
          </a:p>
          <a:p>
            <a:r>
              <a:rPr lang="de-DE" dirty="0"/>
              <a:t>Der Zugriff auf die Eigenschaften des komplexen Objekts erfolgen über die normale JavaScript-Syntax</a:t>
            </a:r>
          </a:p>
          <a:p>
            <a:pPr lvl="1"/>
            <a:r>
              <a:rPr lang="de-DE" dirty="0"/>
              <a:t>Also über den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/>
              <a:t>-Operator</a:t>
            </a:r>
          </a:p>
          <a:p>
            <a:pPr lvl="1"/>
            <a:r>
              <a:rPr lang="de-DE" dirty="0"/>
              <a:t>Aber Vorsicht! </a:t>
            </a:r>
          </a:p>
          <a:p>
            <a:pPr lvl="2"/>
            <a:r>
              <a:rPr lang="de-DE" dirty="0"/>
              <a:t>Die Deklarativen unterstützen nicht die komplette Syntax!</a:t>
            </a: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if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/>
              <a:t>Deklarationen</a:t>
            </a:r>
          </a:p>
        </p:txBody>
      </p:sp>
    </p:spTree>
    <p:extLst>
      <p:ext uri="{BB962C8B-B14F-4D97-AF65-F5344CB8AC3E}">
        <p14:creationId xmlns:p14="http://schemas.microsoft.com/office/powerpoint/2010/main" val="271465141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Auflistungen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Innerhalb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wird das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de-DE" dirty="0"/>
              <a:t>-Konstrukt nicht unterstützt</a:t>
            </a:r>
          </a:p>
          <a:p>
            <a:r>
              <a:rPr lang="de-DE" dirty="0"/>
              <a:t>Allerdings gibt es eine spezielle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forEach</a:t>
            </a:r>
            <a:r>
              <a:rPr lang="de-DE" dirty="0"/>
              <a:t>-Anweisung</a:t>
            </a:r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people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&lt;span&gt;{{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person.firstname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}}&lt;/span&gt; 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person.lastname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&lt;/li&gt;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989013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UI-Programmierung</a:t>
            </a:r>
          </a:p>
        </p:txBody>
      </p:sp>
    </p:spTree>
    <p:extLst>
      <p:ext uri="{BB962C8B-B14F-4D97-AF65-F5344CB8AC3E}">
        <p14:creationId xmlns:p14="http://schemas.microsoft.com/office/powerpoint/2010/main" val="1184659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 Binding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nicht statisch sondern dynamisch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Komponenten-Klasse stellt Daten bereit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Felder / Instanz Variablen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zeigt Daten an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Interpolation mit {{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}}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Gibt Ergebnis der Expression als String aus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Zugriff nur auf Instanz-Variablen der eigenen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Template-Variablen</a:t>
            </a:r>
          </a:p>
        </p:txBody>
      </p:sp>
    </p:spTree>
    <p:extLst>
      <p:ext uri="{BB962C8B-B14F-4D97-AF65-F5344CB8AC3E}">
        <p14:creationId xmlns:p14="http://schemas.microsoft.com/office/powerpoint/2010/main" val="293577139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ngModel</a:t>
            </a:r>
            <a:r>
              <a:rPr lang="de-DE" dirty="0"/>
              <a:t>-Direktive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Bisher wurden die Werte der Komponente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dargestellt</a:t>
            </a:r>
          </a:p>
          <a:p>
            <a:r>
              <a:rPr lang="de-DE" dirty="0"/>
              <a:t>Dieses Binding ist dynamisch (!)</a:t>
            </a:r>
          </a:p>
          <a:p>
            <a:pPr lvl="1"/>
            <a:r>
              <a:rPr lang="de-DE" dirty="0"/>
              <a:t>Änderungen der Werte werden in der Oberfläche dargestellt</a:t>
            </a:r>
          </a:p>
          <a:p>
            <a:r>
              <a:rPr lang="de-DE" dirty="0"/>
              <a:t>Eigenschaften der Komponente können auch bidirektional gebunden werden</a:t>
            </a:r>
          </a:p>
          <a:p>
            <a:r>
              <a:rPr lang="de-DE" dirty="0"/>
              <a:t>Dazu dient die Direktive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Notwendig hierzu ist der Import 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FormsModul</a:t>
            </a:r>
            <a:r>
              <a:rPr lang="de-DE" dirty="0" err="1"/>
              <a:t>s</a:t>
            </a:r>
            <a:r>
              <a:rPr lang="de-DE" dirty="0"/>
              <a:t> aus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@angular/form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326141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"./../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track.model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2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&lt;h1&gt;Music App&lt;/h1&gt;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Music App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has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{{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tracks.length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}}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to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play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 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"Sound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Silence"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"I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Wish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"Over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Shoulder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"Take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Five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   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}}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sz="12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43455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09754-C090-B641-9DC6-659BD361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5: </a:t>
            </a:r>
            <a:r>
              <a:rPr lang="de-DE" dirty="0" err="1"/>
              <a:t>Databinding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F5857-518C-F443-9001-E236CD50C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Erstelle ein Datenmodell</a:t>
            </a:r>
          </a:p>
          <a:p>
            <a:pPr lvl="1"/>
            <a:r>
              <a:rPr lang="de-DE" dirty="0"/>
              <a:t>Lege eine neue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training.model.ts</a:t>
            </a:r>
            <a:r>
              <a:rPr lang="de-DE" dirty="0"/>
              <a:t> an.</a:t>
            </a:r>
          </a:p>
          <a:p>
            <a:pPr lvl="1"/>
            <a:r>
              <a:rPr lang="de-DE" dirty="0"/>
              <a:t>Erstelle und exportiere darin ein Klasse Training mit </a:t>
            </a:r>
            <a:r>
              <a:rPr lang="de-DE" dirty="0" err="1"/>
              <a:t>id</a:t>
            </a:r>
            <a:r>
              <a:rPr lang="de-DE" dirty="0"/>
              <a:t>, </a:t>
            </a:r>
            <a:r>
              <a:rPr lang="de-DE" dirty="0" err="1"/>
              <a:t>name</a:t>
            </a:r>
            <a:r>
              <a:rPr lang="de-DE" dirty="0"/>
              <a:t> und optional </a:t>
            </a:r>
            <a:r>
              <a:rPr lang="de-DE" dirty="0" err="1"/>
              <a:t>description</a:t>
            </a:r>
            <a:r>
              <a:rPr lang="de-DE" dirty="0"/>
              <a:t>.</a:t>
            </a:r>
          </a:p>
          <a:p>
            <a:pPr lvl="1"/>
            <a:r>
              <a:rPr lang="de-DE" dirty="0"/>
              <a:t>Vergebe für jedes erzeugte Training eine eindeutige ID.</a:t>
            </a:r>
          </a:p>
          <a:p>
            <a:r>
              <a:rPr lang="de-DE" dirty="0"/>
              <a:t>Erweitere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Ersetze im Template den dynamischen Titel gegen statisches HTML (&lt;h1&gt;</a:t>
            </a:r>
            <a:r>
              <a:rPr lang="de-DE" dirty="0" err="1"/>
              <a:t>training</a:t>
            </a:r>
            <a:r>
              <a:rPr lang="de-DE" dirty="0"/>
              <a:t> Manager App&lt;/h1&gt;).</a:t>
            </a:r>
          </a:p>
          <a:p>
            <a:pPr lvl="1"/>
            <a:r>
              <a:rPr lang="de-DE" dirty="0"/>
              <a:t>Importiere in der </a:t>
            </a:r>
            <a:r>
              <a:rPr lang="de-DE" dirty="0" err="1"/>
              <a:t>AppComponent</a:t>
            </a:r>
            <a:r>
              <a:rPr lang="de-DE" dirty="0"/>
              <a:t> Klasse die Klasse Training.</a:t>
            </a:r>
          </a:p>
          <a:p>
            <a:pPr lvl="1"/>
            <a:r>
              <a:rPr lang="de-DE" dirty="0"/>
              <a:t>Stelle für das Template eine Liste mit Trainings bereit (Feld + </a:t>
            </a:r>
            <a:r>
              <a:rPr lang="de-DE" dirty="0" err="1"/>
              <a:t>Initializierung</a:t>
            </a:r>
            <a:r>
              <a:rPr lang="de-DE" dirty="0"/>
              <a:t> im Konstruktor).</a:t>
            </a:r>
          </a:p>
          <a:p>
            <a:pPr lvl="1"/>
            <a:r>
              <a:rPr lang="de-DE" dirty="0"/>
              <a:t>Zeige im Template die Länge der Liste an.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144206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C6D4E86-7BE0-3147-884A-E183114D8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Allgemeines Konzept</a:t>
            </a:r>
          </a:p>
          <a:p>
            <a:pPr lvl="1"/>
            <a:r>
              <a:rPr lang="de-DE" dirty="0"/>
              <a:t>Komponenten</a:t>
            </a:r>
          </a:p>
          <a:p>
            <a:pPr lvl="1"/>
            <a:r>
              <a:rPr lang="de-DE" dirty="0"/>
              <a:t>Strukturelle Direktiven</a:t>
            </a:r>
          </a:p>
          <a:p>
            <a:pPr lvl="1"/>
            <a:r>
              <a:rPr lang="de-DE" dirty="0"/>
              <a:t>Attribut-Direktiven</a:t>
            </a:r>
          </a:p>
          <a:p>
            <a:r>
              <a:rPr lang="de-DE" i="1" dirty="0"/>
              <a:t>Direktiven</a:t>
            </a:r>
            <a:r>
              <a:rPr lang="de-DE" dirty="0"/>
              <a:t> meint meist strukturelle und Attribut-Direktiven</a:t>
            </a:r>
          </a:p>
          <a:p>
            <a:pPr lvl="1"/>
            <a:r>
              <a:rPr lang="de-DE" dirty="0"/>
              <a:t>Wie Komponenten Teil des UI</a:t>
            </a:r>
          </a:p>
          <a:p>
            <a:pPr lvl="1"/>
            <a:r>
              <a:rPr lang="de-DE" dirty="0"/>
              <a:t>Unterschied zu Komponenten: kein eigenes Template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351040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Direktiven sind Erweiterungen von HTML, die vom Angular Framework gesucht und interpretiert werden</a:t>
            </a:r>
          </a:p>
          <a:p>
            <a:pPr lvl="1"/>
            <a:r>
              <a:rPr lang="de-DE" dirty="0"/>
              <a:t>Während des Bootstrap-Vorgangs wird die Startseite der Anwendung nach Direktiven analysiert</a:t>
            </a:r>
          </a:p>
          <a:p>
            <a:pPr lvl="1"/>
            <a:r>
              <a:rPr lang="de-DE" dirty="0"/>
              <a:t>Erweiterung durch</a:t>
            </a:r>
          </a:p>
          <a:p>
            <a:pPr lvl="2"/>
            <a:r>
              <a:rPr lang="de-DE" dirty="0"/>
              <a:t>HTML-Elemente</a:t>
            </a:r>
          </a:p>
          <a:p>
            <a:pPr lvl="2"/>
            <a:r>
              <a:rPr lang="de-DE" dirty="0"/>
              <a:t>Attribute</a:t>
            </a:r>
          </a:p>
          <a:p>
            <a:r>
              <a:rPr lang="de-DE" dirty="0"/>
              <a:t>Was genau beim Auftreten einer Direktive passiert hängt von der Direktiven-Implementierung ab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Data Binding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Iteration</a:t>
            </a:r>
          </a:p>
        </p:txBody>
      </p:sp>
    </p:spTree>
    <p:extLst>
      <p:ext uri="{BB962C8B-B14F-4D97-AF65-F5344CB8AC3E}">
        <p14:creationId xmlns:p14="http://schemas.microsoft.com/office/powerpoint/2010/main" val="295373574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40A4F-CD13-174D-ADAC-3A5B02359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09F79-2E8E-D946-A0BC-305A45760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7907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 des Angular-Frameworks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Angular unterscheidet die folgenden Direktiven</a:t>
            </a:r>
          </a:p>
          <a:p>
            <a:pPr lvl="1"/>
            <a:r>
              <a:rPr lang="de-DE" dirty="0"/>
              <a:t>Components sind Direktiven!</a:t>
            </a:r>
          </a:p>
          <a:p>
            <a:pPr lvl="2"/>
            <a:r>
              <a:rPr lang="de-DE" dirty="0"/>
              <a:t>sie werden an ein HTML-Element gebunden</a:t>
            </a:r>
          </a:p>
          <a:p>
            <a:pPr lvl="1"/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Modifizieren das DOM der Anwendung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/>
              <a:t> oder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ngIf</a:t>
            </a:r>
            <a:r>
              <a:rPr lang="de-DE" dirty="0"/>
              <a:t> sind Beispiele hierfür</a:t>
            </a:r>
          </a:p>
          <a:p>
            <a:pPr lvl="1"/>
            <a:r>
              <a:rPr lang="de-DE" dirty="0"/>
              <a:t>Attribute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Ändern die Darstellung oder das Verhalten eines HTML-Elements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ngStyle</a:t>
            </a:r>
            <a:r>
              <a:rPr lang="de-DE" dirty="0"/>
              <a:t> als Beispiel</a:t>
            </a:r>
          </a:p>
          <a:p>
            <a:r>
              <a:rPr lang="de-DE" dirty="0"/>
              <a:t>Vollständige Liste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https://angular.io/api?status=stable&amp;type=directive</a:t>
            </a:r>
          </a:p>
        </p:txBody>
      </p:sp>
    </p:spTree>
    <p:extLst>
      <p:ext uri="{BB962C8B-B14F-4D97-AF65-F5344CB8AC3E}">
        <p14:creationId xmlns:p14="http://schemas.microsoft.com/office/powerpoint/2010/main" val="426344683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F0A1B-A690-554F-9DE7-2EE79DDED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09" y="377651"/>
            <a:ext cx="10515600" cy="1325563"/>
          </a:xfrm>
        </p:spPr>
        <p:txBody>
          <a:bodyPr/>
          <a:lstStyle/>
          <a:p>
            <a:r>
              <a:rPr lang="de-DE" dirty="0"/>
              <a:t>Noch ein paar 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79771C-4B51-DA4C-88D3-D8EB23ED2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ngIf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play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3579781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798B6-AC18-0E49-B392-34455B010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Attribut Direktiven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CC1168-8E9F-CE41-BB4A-F0C86F99F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</a:t>
            </a:r>
            <a:r>
              <a:rPr lang="de-DE" dirty="0" err="1"/>
              <a:t>Verändung</a:t>
            </a:r>
            <a:r>
              <a:rPr lang="de-DE" dirty="0"/>
              <a:t> der DOM Struktur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"mail"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/&gt;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566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FEF850-629C-9048-94F1-CB63E9BF5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F0F7EB-FB95-4D46-8884-317D160E7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das Template von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Zeige eine Liste aller Trainings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570147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oy plastic numbers">
            <a:extLst>
              <a:ext uri="{FF2B5EF4-FFF2-40B4-BE49-F238E27FC236}">
                <a16:creationId xmlns:a16="http://schemas.microsoft.com/office/drawing/2014/main" id="{7D1873FC-1C09-4572-8A8C-670310E3C9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28" b="5603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Child Components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588936-65EB-B446-A5A6-FB0B07048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Divide and concur</a:t>
            </a:r>
          </a:p>
        </p:txBody>
      </p:sp>
    </p:spTree>
    <p:extLst>
      <p:ext uri="{BB962C8B-B14F-4D97-AF65-F5344CB8AC3E}">
        <p14:creationId xmlns:p14="http://schemas.microsoft.com/office/powerpoint/2010/main" val="269315846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6" descr="Mountain range at sunrise">
            <a:extLst>
              <a:ext uri="{FF2B5EF4-FFF2-40B4-BE49-F238E27FC236}">
                <a16:creationId xmlns:a16="http://schemas.microsoft.com/office/drawing/2014/main" id="{5FB3876F-D6F7-4FD9-A3EE-5D93801589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123" r="4163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4F6820-CD60-3143-AB68-A961D42E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Goals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DD4865-3929-7746-8116-BDC48F633704}"/>
              </a:ext>
            </a:extLst>
          </p:cNvPr>
          <p:cNvSpPr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Listen Darstellung in eigene Komponente auslagern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Komplexere Darstellung ermöglichen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Wachsendes UI aufteilen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Wiederverwendbarkeit erreichen</a:t>
            </a:r>
            <a:endParaRPr lang="en-US" sz="2000" b="0" i="0" u="none" strike="noStrike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1090527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0AB6-9FFD-224E-AC84-A2BC87965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Verschachtelung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FEA87B-A53B-3F49-941F-4A96A3D25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Gesamtes UI ist aus Baum von Komponenten aufgebaut</a:t>
            </a:r>
          </a:p>
          <a:p>
            <a:pPr lvl="1"/>
            <a:r>
              <a:rPr lang="de-DE" dirty="0"/>
              <a:t>"Anwendung" ist Top-Level-Komponente</a:t>
            </a:r>
          </a:p>
          <a:p>
            <a:pPr lvl="1"/>
            <a:r>
              <a:rPr lang="de-DE" dirty="0"/>
              <a:t>Komponenten können geschachtelt werden</a:t>
            </a:r>
          </a:p>
          <a:p>
            <a:r>
              <a:rPr lang="de-DE" dirty="0"/>
              <a:t>Vater- und Kind-Komponente sind isoliert</a:t>
            </a:r>
          </a:p>
          <a:p>
            <a:pPr lvl="1"/>
            <a:r>
              <a:rPr lang="de-DE" dirty="0"/>
              <a:t>Kein Zugriff auf Daten des anderen</a:t>
            </a:r>
          </a:p>
          <a:p>
            <a:pPr lvl="1"/>
            <a:r>
              <a:rPr lang="de-DE" dirty="0"/>
              <a:t>Daten müssen an Kind übergeben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876427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9B0EA-4C3B-E44E-BB07-74A408A1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 als Direktive einbinden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9A69B-BFF0-A24C-A309-90F8F69C8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sind auch Direktiven (eine Art)</a:t>
            </a:r>
          </a:p>
          <a:p>
            <a:r>
              <a:rPr lang="de-DE" dirty="0"/>
              <a:t>Direktiven (alle Arten) müssen am Modul bekannt gemacht werden</a:t>
            </a:r>
          </a:p>
          <a:p>
            <a:pPr lvl="1"/>
            <a:r>
              <a:rPr lang="de-DE" dirty="0"/>
              <a:t>Per Import falls Export aus anderem Modul</a:t>
            </a:r>
          </a:p>
          <a:p>
            <a:pPr lvl="1"/>
            <a:r>
              <a:rPr lang="de-DE" dirty="0"/>
              <a:t>Per Deklaration falls Teil des eigenen Moduls</a:t>
            </a:r>
          </a:p>
          <a:p>
            <a:r>
              <a:rPr lang="de-DE" dirty="0"/>
              <a:t>Nur bekannt gemacht Direktiven werden ausgeführt</a:t>
            </a:r>
          </a:p>
          <a:p>
            <a:r>
              <a:rPr lang="de-DE" dirty="0"/>
              <a:t>Löst Problem mit Namenskonflikten aus </a:t>
            </a:r>
            <a:r>
              <a:rPr lang="de-DE" dirty="0" err="1"/>
              <a:t>AngularJS</a:t>
            </a:r>
            <a:r>
              <a:rPr lang="de-DE" dirty="0"/>
              <a:t> 1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12737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214F9-9DF3-E04A-853A-13619BD0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0C8-9FE7-5144-8B73-A18BF2212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BrowserModule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952401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C05D0-2209-2C4D-A278-A67F79B34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Mittels </a:t>
            </a:r>
            <a:r>
              <a:rPr lang="de-DE" dirty="0" err="1"/>
              <a:t>ng-generate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5F546-549E-EA44-82E2-76F32FA06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Komponenten an</a:t>
            </a:r>
          </a:p>
          <a:p>
            <a:pPr lvl="1"/>
            <a:r>
              <a:rPr lang="de-DE" dirty="0"/>
              <a:t>Klasse + alle benötigte Annotation</a:t>
            </a:r>
          </a:p>
          <a:p>
            <a:pPr lvl="1"/>
            <a:r>
              <a:rPr lang="de-DE" dirty="0" err="1"/>
              <a:t>Html</a:t>
            </a:r>
            <a:r>
              <a:rPr lang="de-DE" dirty="0"/>
              <a:t>-Template</a:t>
            </a:r>
          </a:p>
          <a:p>
            <a:pPr lvl="1"/>
            <a:r>
              <a:rPr lang="de-DE" dirty="0"/>
              <a:t>Leeres Styling</a:t>
            </a:r>
          </a:p>
          <a:p>
            <a:pPr lvl="1"/>
            <a:r>
              <a:rPr lang="de-DE" dirty="0"/>
              <a:t>Test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i="1" dirty="0" err="1"/>
              <a:t>module</a:t>
            </a:r>
            <a:r>
              <a:rPr lang="de-DE" i="1" dirty="0"/>
              <a:t>/</a:t>
            </a:r>
            <a:r>
              <a:rPr lang="de-DE" i="1" dirty="0" err="1"/>
              <a:t>compontent</a:t>
            </a:r>
            <a:r>
              <a:rPr lang="de-DE" i="1" dirty="0"/>
              <a:t>-name</a:t>
            </a:r>
            <a:endParaRPr lang="de-DE" dirty="0"/>
          </a:p>
          <a:p>
            <a:r>
              <a:rPr lang="de-DE" dirty="0"/>
              <a:t>Wird automatisch am nächsthöher gelegenen Modul registriert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003102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77AE87-0038-BF48-9FFC-94F5458C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Module generieren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3CB048-9235-6C4F-A9F0-FCBA8825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Module an</a:t>
            </a:r>
          </a:p>
          <a:p>
            <a:pPr lvl="1"/>
            <a:r>
              <a:rPr lang="de-DE" dirty="0"/>
              <a:t>Module-Klasse + Annotation</a:t>
            </a:r>
          </a:p>
          <a:p>
            <a:pPr lvl="1"/>
            <a:r>
              <a:rPr lang="de-DE" dirty="0"/>
              <a:t>Module-Komponente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 </a:t>
            </a:r>
            <a:r>
              <a:rPr lang="de-DE" i="1" dirty="0" err="1"/>
              <a:t>name</a:t>
            </a:r>
            <a:endParaRPr lang="de-DE" dirty="0"/>
          </a:p>
          <a:p>
            <a:r>
              <a:rPr lang="de-DE" dirty="0"/>
              <a:t>Wird </a:t>
            </a:r>
            <a:r>
              <a:rPr lang="de-DE" i="1" dirty="0"/>
              <a:t>NICHT</a:t>
            </a:r>
            <a:r>
              <a:rPr lang="de-DE" dirty="0"/>
              <a:t> automatisch am nächsthöherer gelegenen Modul registriert </a:t>
            </a:r>
            <a:r>
              <a:rPr lang="de-DE" dirty="0">
                <a:sym typeface="Wingdings" pitchFamily="2" charset="2"/>
              </a:rPr>
              <a:t> selbst machen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208818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74FE4B-1490-D345-8344-651117A50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7: Komponenten schachteln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D4209E-867F-9044-9C0F-DBE0FBA0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Erstelle ein Angular-Modul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trainings</a:t>
            </a:r>
            <a:endParaRPr lang="de-DE"/>
          </a:p>
          <a:p>
            <a:r>
              <a:rPr lang="de-DE"/>
              <a:t>Erstelle </a:t>
            </a:r>
            <a:r>
              <a:rPr lang="de-DE" dirty="0"/>
              <a:t>eine Komponente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-list</a:t>
            </a:r>
          </a:p>
          <a:p>
            <a:r>
              <a:rPr lang="de-DE" dirty="0"/>
              <a:t>Binde die neue Komponente ein</a:t>
            </a:r>
          </a:p>
          <a:p>
            <a:pPr lvl="1"/>
            <a:r>
              <a:rPr lang="de-DE" dirty="0"/>
              <a:t>Exportiere </a:t>
            </a:r>
            <a:r>
              <a:rPr lang="de-DE" dirty="0" err="1"/>
              <a:t>TrainingListComponent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Importiere </a:t>
            </a:r>
            <a:r>
              <a:rPr lang="de-DE" dirty="0" err="1"/>
              <a:t>TrainingsModule</a:t>
            </a:r>
            <a:r>
              <a:rPr lang="de-DE" dirty="0"/>
              <a:t> in </a:t>
            </a:r>
            <a:r>
              <a:rPr lang="de-DE" dirty="0" err="1"/>
              <a:t>AppModule</a:t>
            </a:r>
            <a:endParaRPr lang="de-DE" dirty="0"/>
          </a:p>
          <a:p>
            <a:pPr lvl="1"/>
            <a:r>
              <a:rPr lang="de-DE" dirty="0"/>
              <a:t>Verwende </a:t>
            </a:r>
            <a:r>
              <a:rPr lang="de-DE" dirty="0" err="1"/>
              <a:t>TrainingListComponent</a:t>
            </a:r>
            <a:r>
              <a:rPr lang="de-DE" dirty="0"/>
              <a:t> im Template von </a:t>
            </a:r>
            <a:r>
              <a:rPr lang="de-DE" dirty="0" err="1"/>
              <a:t>AppComponent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187890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 einer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Components können über das Template verschachtelt werden</a:t>
            </a:r>
          </a:p>
          <a:p>
            <a:pPr lvl="1"/>
            <a:r>
              <a:rPr lang="de-DE" dirty="0"/>
              <a:t>Innerhalb des Templates wird ein Root-Element einer weiteren Angular-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r>
              <a:rPr lang="de-DE" dirty="0"/>
              <a:t>Der Kind-Controller kann Input-Parameter definieren</a:t>
            </a:r>
          </a:p>
          <a:p>
            <a:pPr lvl="1"/>
            <a:r>
              <a:rPr lang="de-DE" dirty="0"/>
              <a:t>Dazu wird eine Eigenschaft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@Input</a:t>
            </a:r>
            <a:r>
              <a:rPr lang="de-DE" dirty="0"/>
              <a:t>-Annotation versehen</a:t>
            </a:r>
          </a:p>
          <a:p>
            <a:r>
              <a:rPr lang="de-DE" dirty="0"/>
              <a:t>Diese werden im Template gesetzt</a:t>
            </a:r>
          </a:p>
        </p:txBody>
      </p:sp>
    </p:spTree>
    <p:extLst>
      <p:ext uri="{BB962C8B-B14F-4D97-AF65-F5344CB8AC3E}">
        <p14:creationId xmlns:p14="http://schemas.microsoft.com/office/powerpoint/2010/main" val="308128394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Input einer Child-</a:t>
            </a:r>
            <a:r>
              <a:rPr lang="de-DE" dirty="0" err="1"/>
              <a:t>Component</a:t>
            </a:r>
            <a:endParaRPr lang="de-DE" dirty="0"/>
          </a:p>
        </p:txBody>
      </p:sp>
      <p:grpSp>
        <p:nvGrpSpPr>
          <p:cNvPr id="7" name="Gruppieren 6"/>
          <p:cNvGrpSpPr/>
          <p:nvPr/>
        </p:nvGrpSpPr>
        <p:grpSpPr>
          <a:xfrm>
            <a:off x="1268249" y="1440452"/>
            <a:ext cx="8928992" cy="5166134"/>
            <a:chOff x="107504" y="1052736"/>
            <a:chExt cx="8928992" cy="5166134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504" y="1052736"/>
              <a:ext cx="6200775" cy="2286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8197" name="Picture 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629" y="3609020"/>
              <a:ext cx="4048125" cy="2609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Neues Root-Element für die Kind-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2" name="Legende mit Linie 1 11"/>
            <p:cNvSpPr/>
            <p:nvPr/>
          </p:nvSpPr>
          <p:spPr>
            <a:xfrm>
              <a:off x="6480212" y="50131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Deklaration einer Input-Eigenschaft</a:t>
              </a:r>
            </a:p>
          </p:txBody>
        </p:sp>
        <p:sp>
          <p:nvSpPr>
            <p:cNvPr id="13" name="Legende mit Linie 1 12"/>
            <p:cNvSpPr/>
            <p:nvPr/>
          </p:nvSpPr>
          <p:spPr>
            <a:xfrm>
              <a:off x="6480212" y="317697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Angabe des Root-Elements</a:t>
              </a:r>
            </a:p>
          </p:txBody>
        </p:sp>
      </p:grp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3B75026-8648-DD42-89A2-6173B6D47F2F}"/>
              </a:ext>
            </a:extLst>
          </p:cNvPr>
          <p:cNvCxnSpPr>
            <a:cxnSpLocks/>
          </p:cNvCxnSpPr>
          <p:nvPr/>
        </p:nvCxnSpPr>
        <p:spPr>
          <a:xfrm flipH="1">
            <a:off x="4171168" y="237655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6C23F6-A0DF-7749-AC95-F39733318BCC}"/>
              </a:ext>
            </a:extLst>
          </p:cNvPr>
          <p:cNvCxnSpPr>
            <a:cxnSpLocks/>
          </p:cNvCxnSpPr>
          <p:nvPr/>
        </p:nvCxnSpPr>
        <p:spPr>
          <a:xfrm flipH="1">
            <a:off x="4136571" y="396529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643C28D-8827-044A-85E3-75A44185445C}"/>
              </a:ext>
            </a:extLst>
          </p:cNvPr>
          <p:cNvCxnSpPr>
            <a:cxnSpLocks/>
          </p:cNvCxnSpPr>
          <p:nvPr/>
        </p:nvCxnSpPr>
        <p:spPr>
          <a:xfrm flipH="1" flipV="1">
            <a:off x="4484318" y="6087649"/>
            <a:ext cx="2984707" cy="1158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2428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77C19-BB53-A143-BA75-A554EDB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A1CE7A-1FEB-5941-86C6-FC3FF0E60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 können an Komponente übergeben werden</a:t>
            </a:r>
          </a:p>
          <a:p>
            <a:pPr marL="742950" lvl="1" indent="-285750"/>
            <a:r>
              <a:rPr lang="de-DE" i="1" dirty="0">
                <a:solidFill>
                  <a:srgbClr val="333333"/>
                </a:solidFill>
                <a:latin typeface="Aller"/>
              </a:rPr>
              <a:t>Property Binding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über 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 Property in der "inneren" Komponente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release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-card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Property in der "äußeren / aufrufenden" Komponente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Data-Binding in Angular immer unidirektional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Objekt veränderbar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Referenz bleibt außen immer gleich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7728382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EE9E-2D4A-1B41-93E7-57B4AE528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8: 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AA7AF0-7D8D-B24A-93D2-072524F8B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die Komponente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Nimm als Input ein Array von Training Objekten entgegen</a:t>
            </a:r>
          </a:p>
          <a:p>
            <a:pPr lvl="1"/>
            <a:r>
              <a:rPr lang="de-DE" dirty="0"/>
              <a:t>Verschiebe die bisherige Darstellung aus </a:t>
            </a:r>
            <a:r>
              <a:rPr lang="de-DE" dirty="0" err="1"/>
              <a:t>AppComponent</a:t>
            </a:r>
            <a:r>
              <a:rPr lang="de-DE" dirty="0"/>
              <a:t> in das Template von </a:t>
            </a:r>
            <a:r>
              <a:rPr lang="de-DE" dirty="0" err="1"/>
              <a:t>TrainingListComponent</a:t>
            </a:r>
            <a:br>
              <a:rPr lang="de-DE" dirty="0"/>
            </a:br>
            <a:r>
              <a:rPr lang="de-DE" dirty="0"/>
              <a:t>(Text und Liste, nicht die h1 Überschrift)</a:t>
            </a:r>
          </a:p>
          <a:p>
            <a:r>
              <a:rPr lang="de-DE" dirty="0"/>
              <a:t>Passe die Verwendung von </a:t>
            </a:r>
            <a:r>
              <a:rPr lang="de-DE" dirty="0" err="1"/>
              <a:t>TrainingListComponent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Lösche den entsprechenden Teil des Templates</a:t>
            </a:r>
          </a:p>
          <a:p>
            <a:pPr lvl="1"/>
            <a:r>
              <a:rPr lang="de-DE" dirty="0"/>
              <a:t>Übergebe </a:t>
            </a:r>
            <a:r>
              <a:rPr lang="de-DE" dirty="0" err="1"/>
              <a:t>app</a:t>
            </a:r>
            <a:r>
              <a:rPr lang="de-DE" dirty="0"/>
              <a:t>-training-list die Daten per Property-Binding</a:t>
            </a:r>
          </a:p>
        </p:txBody>
      </p:sp>
    </p:spTree>
    <p:extLst>
      <p:ext uri="{BB962C8B-B14F-4D97-AF65-F5344CB8AC3E}">
        <p14:creationId xmlns:p14="http://schemas.microsoft.com/office/powerpoint/2010/main" val="82182852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Events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D12582-BA79-A345-AE02-6F5FE4913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68800"/>
            <a:ext cx="10515600" cy="1390650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 aus Components</a:t>
            </a:r>
          </a:p>
        </p:txBody>
      </p:sp>
    </p:spTree>
    <p:extLst>
      <p:ext uri="{BB962C8B-B14F-4D97-AF65-F5344CB8AC3E}">
        <p14:creationId xmlns:p14="http://schemas.microsoft.com/office/powerpoint/2010/main" val="16413194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9B8F8DE-1A33-954A-9826-04226CDB8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DA20E02-5383-5840-BD40-94E75B203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Data-Binding unidirektional</a:t>
            </a:r>
          </a:p>
          <a:p>
            <a:pPr lvl="1"/>
            <a:r>
              <a:rPr lang="de-DE" dirty="0"/>
              <a:t>Daten von außen nach innen</a:t>
            </a:r>
          </a:p>
          <a:p>
            <a:pPr lvl="1"/>
            <a:r>
              <a:rPr lang="de-DE" dirty="0"/>
              <a:t>Wie kommen Informationen von innen nach außen?</a:t>
            </a:r>
          </a:p>
          <a:p>
            <a:r>
              <a:rPr lang="de-DE" dirty="0"/>
              <a:t>Komponenten können Events nach außen geben</a:t>
            </a:r>
          </a:p>
          <a:p>
            <a:pPr lvl="1"/>
            <a:r>
              <a:rPr lang="de-DE" i="1" dirty="0"/>
              <a:t>Event Binding</a:t>
            </a:r>
            <a:r>
              <a:rPr lang="de-DE" dirty="0"/>
              <a:t> mit (</a:t>
            </a:r>
            <a:r>
              <a:rPr lang="de-DE" dirty="0" err="1"/>
              <a:t>eventName</a:t>
            </a:r>
            <a:r>
              <a:rPr lang="de-DE" dirty="0"/>
              <a:t>)="</a:t>
            </a:r>
            <a:r>
              <a:rPr lang="de-DE" dirty="0" err="1"/>
              <a:t>statement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Zuweisung oder Funktionsaufruf</a:t>
            </a:r>
          </a:p>
          <a:p>
            <a:pPr lvl="1"/>
            <a:r>
              <a:rPr lang="de-DE" dirty="0"/>
              <a:t>Zugriff auf das Event immer über $</a:t>
            </a:r>
            <a:r>
              <a:rPr lang="de-DE" dirty="0" err="1"/>
              <a:t>event</a:t>
            </a:r>
            <a:r>
              <a:rPr lang="de-DE" dirty="0"/>
              <a:t> 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31073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Im Gegensatz zum Standard-Eventmodell im Browser können beliebige Funktionen mit Parametern als Handler aufgerufen werden</a:t>
            </a:r>
          </a:p>
          <a:p>
            <a:r>
              <a:rPr lang="de-DE" dirty="0"/>
              <a:t>Die Event-behandelnde Funktion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32221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UiAppComponent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//…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[] = 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		["Item1", "Item2", "Item3"]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	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this.data.boundData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item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item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     	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click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(item)"&gt;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{{item}}&lt;/li&gt;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3934046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5532F0-2203-B946-B35F-80A32504B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9: Events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58B908-A0CA-994C-94F7-5B3504B0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Reagiere in </a:t>
            </a:r>
            <a:r>
              <a:rPr lang="de-DE" dirty="0" err="1"/>
              <a:t>TrainingListComponent</a:t>
            </a:r>
            <a:r>
              <a:rPr lang="de-DE" dirty="0"/>
              <a:t> auf Klicks auf die Listen-Elemente</a:t>
            </a:r>
          </a:p>
          <a:p>
            <a:pPr lvl="1"/>
            <a:r>
              <a:rPr lang="de-DE" dirty="0"/>
              <a:t>Rufe eine Methode (</a:t>
            </a:r>
            <a:r>
              <a:rPr lang="de-DE" dirty="0" err="1"/>
              <a:t>listItemClicked</a:t>
            </a:r>
            <a:r>
              <a:rPr lang="de-DE" dirty="0"/>
              <a:t>) in der </a:t>
            </a:r>
            <a:r>
              <a:rPr lang="de-DE" dirty="0" err="1"/>
              <a:t>Component</a:t>
            </a:r>
            <a:r>
              <a:rPr lang="de-DE" dirty="0"/>
              <a:t>-Klasse auf</a:t>
            </a:r>
          </a:p>
          <a:p>
            <a:pPr lvl="1"/>
            <a:r>
              <a:rPr lang="de-DE" dirty="0"/>
              <a:t>Übergebe das Dom-Event ($</a:t>
            </a:r>
            <a:r>
              <a:rPr lang="de-DE" dirty="0" err="1"/>
              <a:t>event</a:t>
            </a:r>
            <a:r>
              <a:rPr lang="de-DE" dirty="0"/>
              <a:t> vom Typ </a:t>
            </a:r>
            <a:r>
              <a:rPr lang="de-DE" dirty="0" err="1"/>
              <a:t>MouseEvent</a:t>
            </a:r>
            <a:r>
              <a:rPr lang="de-DE" dirty="0"/>
              <a:t>) und das Training des geklickten Listen-Eintrags</a:t>
            </a:r>
          </a:p>
          <a:p>
            <a:pPr lvl="1"/>
            <a:r>
              <a:rPr lang="de-DE" dirty="0"/>
              <a:t>Logge den Namen des Trainings und das Event auf die Konsole</a:t>
            </a:r>
            <a:br>
              <a:rPr lang="de-DE" dirty="0"/>
            </a:br>
            <a:r>
              <a:rPr lang="de-DE" dirty="0"/>
              <a:t>z.B. mit </a:t>
            </a:r>
            <a:r>
              <a:rPr lang="de-DE" dirty="0" err="1"/>
              <a:t>console.log</a:t>
            </a:r>
            <a:r>
              <a:rPr lang="de-DE" dirty="0"/>
              <a:t>(</a:t>
            </a:r>
            <a:r>
              <a:rPr lang="de-DE" dirty="0" err="1"/>
              <a:t>event</a:t>
            </a:r>
            <a:r>
              <a:rPr lang="de-DE" dirty="0"/>
              <a:t>, </a:t>
            </a:r>
            <a:r>
              <a:rPr lang="de-DE" dirty="0" err="1"/>
              <a:t>training.name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24941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2210-8E48-6347-B042-DDC58AC36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-- Events aus Komponenten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A78A2-374F-4641-BEF8-A65CE35AB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können Events nach außen werfen</a:t>
            </a:r>
          </a:p>
          <a:p>
            <a:pPr lvl="1"/>
            <a:r>
              <a:rPr lang="de-DE" dirty="0"/>
              <a:t>Eigenschaft in Komponenten-Klasse vom Typ </a:t>
            </a:r>
            <a:r>
              <a:rPr lang="de-DE" dirty="0" err="1"/>
              <a:t>EventEmitter</a:t>
            </a:r>
            <a:endParaRPr lang="de-DE" dirty="0"/>
          </a:p>
          <a:p>
            <a:pPr lvl="1"/>
            <a:r>
              <a:rPr lang="de-DE" dirty="0"/>
              <a:t>Typ-Parameter gibt Typ des Events an</a:t>
            </a:r>
          </a:p>
          <a:p>
            <a:pPr lvl="1"/>
            <a:r>
              <a:rPr lang="de-DE" dirty="0"/>
              <a:t>Eigenschaft wird mit @Output() markiert</a:t>
            </a:r>
          </a:p>
          <a:p>
            <a:pPr lvl="1"/>
            <a:r>
              <a:rPr lang="de-DE" dirty="0"/>
              <a:t>Events können über </a:t>
            </a:r>
            <a:r>
              <a:rPr lang="de-DE" dirty="0" err="1"/>
              <a:t>EventEmitter#emit</a:t>
            </a:r>
            <a:r>
              <a:rPr lang="de-DE" dirty="0"/>
              <a:t> gefeuert werden</a:t>
            </a:r>
          </a:p>
        </p:txBody>
      </p:sp>
    </p:spTree>
    <p:extLst>
      <p:ext uri="{BB962C8B-B14F-4D97-AF65-F5344CB8AC3E}">
        <p14:creationId xmlns:p14="http://schemas.microsoft.com/office/powerpoint/2010/main" val="296138953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2A08D-8525-4644-B512-208BEE1C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4472-E3FC-CB43-BB42-6892E356C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-card"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`&lt;h3&gt;{{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release.name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}}&lt;/h3&gt;`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//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use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domain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object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event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 real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world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ReleaseLikedEvent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&gt;();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likeRelease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}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59844365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9CCDF-2241-8042-B77D-783B6A4A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Nutzende Komponente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FE669-4D7F-B746-8E38-167E176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artist.releases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[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releaseLiked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onReleaseLiked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($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event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,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3F0E6E68-7FA3-7741-90E2-EE166701227C}"/>
              </a:ext>
            </a:extLst>
          </p:cNvPr>
          <p:cNvCxnSpPr/>
          <p:nvPr/>
        </p:nvCxnSpPr>
        <p:spPr>
          <a:xfrm flipH="1" flipV="1">
            <a:off x="5824603" y="3707704"/>
            <a:ext cx="1127342" cy="9645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9B7A6E40-038A-0540-B4EE-728438F18A2E}"/>
              </a:ext>
            </a:extLst>
          </p:cNvPr>
          <p:cNvSpPr txBox="1"/>
          <p:nvPr/>
        </p:nvSpPr>
        <p:spPr>
          <a:xfrm>
            <a:off x="7039627" y="4847573"/>
            <a:ext cx="3911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Methode im aufrufendem Controller</a:t>
            </a:r>
          </a:p>
          <a:p>
            <a:r>
              <a:rPr lang="de-DE" dirty="0"/>
              <a:t>NICHT in der Release-Card Komponente</a:t>
            </a:r>
          </a:p>
        </p:txBody>
      </p:sp>
    </p:spTree>
    <p:extLst>
      <p:ext uri="{BB962C8B-B14F-4D97-AF65-F5344CB8AC3E}">
        <p14:creationId xmlns:p14="http://schemas.microsoft.com/office/powerpoint/2010/main" val="93020142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988612-0971-7041-A5D8-F4833822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10: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F5ED5F-AB8A-744D-A002-4D94430B1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Erweitere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Erstelle in </a:t>
            </a:r>
            <a:r>
              <a:rPr lang="de-DE" dirty="0" err="1"/>
              <a:t>TrainingListComponent</a:t>
            </a:r>
            <a:r>
              <a:rPr lang="de-DE" dirty="0"/>
              <a:t> ein Output </a:t>
            </a:r>
            <a:r>
              <a:rPr lang="de-DE" dirty="0" err="1"/>
              <a:t>trainingSelected</a:t>
            </a:r>
            <a:endParaRPr lang="de-DE" dirty="0"/>
          </a:p>
          <a:p>
            <a:pPr lvl="1"/>
            <a:r>
              <a:rPr lang="de-DE" dirty="0" err="1"/>
              <a:t>Emitte</a:t>
            </a:r>
            <a:r>
              <a:rPr lang="de-DE" dirty="0"/>
              <a:t> in </a:t>
            </a:r>
            <a:r>
              <a:rPr lang="de-DE" dirty="0" err="1"/>
              <a:t>TrainingListComponent#listItemClickedtrainingSelected</a:t>
            </a:r>
            <a:r>
              <a:rPr lang="de-DE" dirty="0"/>
              <a:t> ein Event</a:t>
            </a:r>
          </a:p>
          <a:p>
            <a:pPr lvl="1"/>
            <a:r>
              <a:rPr lang="de-DE" dirty="0"/>
              <a:t>Erstelle in </a:t>
            </a:r>
            <a:r>
              <a:rPr lang="de-DE" dirty="0" err="1"/>
              <a:t>AppComponent</a:t>
            </a:r>
            <a:r>
              <a:rPr lang="de-DE" dirty="0"/>
              <a:t> ein Event-Binding für </a:t>
            </a:r>
            <a:r>
              <a:rPr lang="de-DE" dirty="0" err="1"/>
              <a:t>trainingSelected</a:t>
            </a:r>
            <a:r>
              <a:rPr lang="de-DE" dirty="0"/>
              <a:t> an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Speichere in </a:t>
            </a:r>
            <a:r>
              <a:rPr lang="de-DE" dirty="0" err="1"/>
              <a:t>AppComponent</a:t>
            </a:r>
            <a:r>
              <a:rPr lang="de-DE" dirty="0"/>
              <a:t> das zuletzt selektierte Training</a:t>
            </a:r>
          </a:p>
          <a:p>
            <a:r>
              <a:rPr lang="de-DE" dirty="0"/>
              <a:t>Erstelle eine Komponente </a:t>
            </a:r>
            <a:r>
              <a:rPr lang="de-DE" dirty="0" err="1"/>
              <a:t>TrainingDetailsComponent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-details</a:t>
            </a:r>
          </a:p>
          <a:p>
            <a:pPr lvl="1"/>
            <a:r>
              <a:rPr lang="de-DE" dirty="0"/>
              <a:t>Erstelle eine Property </a:t>
            </a:r>
            <a:r>
              <a:rPr lang="de-DE" dirty="0" err="1"/>
              <a:t>training</a:t>
            </a:r>
            <a:r>
              <a:rPr lang="de-DE" dirty="0"/>
              <a:t> und zeige im Template dessen Namen und Beschreibung an</a:t>
            </a:r>
          </a:p>
          <a:p>
            <a:pPr lvl="1"/>
            <a:r>
              <a:rPr lang="de-DE" dirty="0"/>
              <a:t>Exportiere </a:t>
            </a:r>
            <a:r>
              <a:rPr lang="de-DE" dirty="0" err="1"/>
              <a:t>TrainingDetailsComponent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r>
              <a:rPr lang="de-DE" dirty="0"/>
              <a:t>Verbinde die beiden Komponenten in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Binde </a:t>
            </a:r>
            <a:r>
              <a:rPr lang="de-DE" dirty="0" err="1"/>
              <a:t>TrainingDetailsComponent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ein (parallel zu </a:t>
            </a:r>
            <a:r>
              <a:rPr lang="de-DE" dirty="0" err="1"/>
              <a:t>TrainingListComponent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Reiche das selektierte Training an </a:t>
            </a:r>
            <a:r>
              <a:rPr lang="de-DE" dirty="0" err="1"/>
              <a:t>TrainingDetailsComponentweiter</a:t>
            </a:r>
            <a:r>
              <a:rPr lang="de-DE" dirty="0"/>
              <a:t> (Property als Input definieren)</a:t>
            </a:r>
          </a:p>
          <a:p>
            <a:pPr lvl="1"/>
            <a:r>
              <a:rPr lang="de-DE" dirty="0"/>
              <a:t>Zeige in </a:t>
            </a:r>
            <a:r>
              <a:rPr lang="de-DE" dirty="0" err="1"/>
              <a:t>AppComponent</a:t>
            </a:r>
            <a:r>
              <a:rPr lang="de-DE" dirty="0"/>
              <a:t> die Detail-Ansicht nur an, wenn ein Training selektiert wurde (NPE vermeiden)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29562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9D247B-3594-AE44-AD07-F61B48A3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Expression Language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Bleistift">
            <a:extLst>
              <a:ext uri="{FF2B5EF4-FFF2-40B4-BE49-F238E27FC236}">
                <a16:creationId xmlns:a16="http://schemas.microsoft.com/office/drawing/2014/main" id="{C6B1AC15-ACAD-4AFC-A9EA-EA9335C5F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22626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603B8-D022-3D41-B9B1-09EC1199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fast alles schon kennen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CCAF8457-2BF4-6945-93E8-3F7468F602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9804040"/>
              </p:ext>
            </p:extLst>
          </p:nvPr>
        </p:nvGraphicFramePr>
        <p:xfrm>
          <a:off x="838200" y="1825625"/>
          <a:ext cx="10515600" cy="229108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1772376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02553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Interpolation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 {{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 }}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095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Property 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</a:t>
                      </a:r>
                      <a:r>
                        <a:rPr lang="de-DE" dirty="0" err="1"/>
                        <a:t>propertyName</a:t>
                      </a:r>
                      <a:r>
                        <a:rPr lang="de-DE" dirty="0"/>
                        <a:t>]="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8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Event-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(</a:t>
                      </a:r>
                      <a:r>
                        <a:rPr lang="de-DE" dirty="0" err="1"/>
                        <a:t>eventName</a:t>
                      </a:r>
                      <a:r>
                        <a:rPr lang="de-DE" dirty="0"/>
                        <a:t>)="</a:t>
                      </a:r>
                      <a:r>
                        <a:rPr lang="de-DE" dirty="0" err="1"/>
                        <a:t>statement</a:t>
                      </a:r>
                      <a:r>
                        <a:rPr lang="de-DE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7836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 </a:t>
                      </a:r>
                      <a:r>
                        <a:rPr lang="de-DE" dirty="0" err="1"/>
                        <a:t>Two</a:t>
                      </a:r>
                      <a:r>
                        <a:rPr lang="de-DE" dirty="0"/>
                        <a:t>-Way-Data-Binding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[(</a:t>
                      </a:r>
                      <a:r>
                        <a:rPr lang="de-DE" dirty="0" err="1"/>
                        <a:t>ngModel</a:t>
                      </a:r>
                      <a:r>
                        <a:rPr lang="de-DE" dirty="0"/>
                        <a:t>)]="</a:t>
                      </a:r>
                      <a:r>
                        <a:rPr lang="de-DE" dirty="0" err="1"/>
                        <a:t>assignable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47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2596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95C3C-9997-BC45-9652-DDD769B7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Expression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8A31EBA-1CE7-6D46-93A7-60CAC9AA4B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55766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0470802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DE70-0F2B-3343-AD59-482644574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Safe Navigator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10AD85-B0B5-CD46-AA56-2C1A9B87F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Auch mehrfach</a:t>
            </a:r>
          </a:p>
          <a:p>
            <a:pPr lvl="1"/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complexProperty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C3B87F-B190-E642-ACC8-99F056EB74E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2680571" y="2379948"/>
            <a:ext cx="1581728" cy="95501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3E2C631-D386-D743-A85C-264DB1059859}"/>
              </a:ext>
            </a:extLst>
          </p:cNvPr>
          <p:cNvSpPr txBox="1"/>
          <p:nvPr/>
        </p:nvSpPr>
        <p:spPr>
          <a:xfrm>
            <a:off x="4262299" y="3150296"/>
            <a:ext cx="694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Falls </a:t>
            </a:r>
            <a:r>
              <a:rPr lang="de-DE" dirty="0" err="1"/>
              <a:t>bean</a:t>
            </a:r>
            <a:r>
              <a:rPr lang="de-DE" dirty="0"/>
              <a:t> null oder </a:t>
            </a:r>
            <a:r>
              <a:rPr lang="de-DE" dirty="0" err="1"/>
              <a:t>undefined</a:t>
            </a:r>
            <a:r>
              <a:rPr lang="de-DE" dirty="0"/>
              <a:t> dann keine </a:t>
            </a:r>
            <a:r>
              <a:rPr lang="de-DE" dirty="0" err="1"/>
              <a:t>Exception</a:t>
            </a:r>
            <a:r>
              <a:rPr lang="de-DE" dirty="0"/>
              <a:t> sondern Leerstring</a:t>
            </a:r>
          </a:p>
        </p:txBody>
      </p:sp>
    </p:spTree>
    <p:extLst>
      <p:ext uri="{BB962C8B-B14F-4D97-AF65-F5344CB8AC3E}">
        <p14:creationId xmlns:p14="http://schemas.microsoft.com/office/powerpoint/2010/main" val="15575276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F875C-E742-9F4A-8F85-BF628DB2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 Way Property </a:t>
            </a:r>
            <a:r>
              <a:rPr lang="de-DE" dirty="0" err="1"/>
              <a:t>Bindings</a:t>
            </a:r>
            <a:r>
              <a:rPr lang="de-DE" dirty="0"/>
              <a:t> bei Images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951481-0FED-1946-9669-2F30B0ABA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src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disabled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01751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4E5AE7-F9DE-F648-9BCB-4788AB23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9C3817-90BE-BF47-8C52-A6328DA1A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-Way nach oben im Komponenten-Baum</a:t>
            </a:r>
          </a:p>
          <a:p>
            <a:r>
              <a:rPr lang="de-DE" dirty="0"/>
              <a:t>$</a:t>
            </a:r>
            <a:r>
              <a:rPr lang="de-DE" dirty="0" err="1"/>
              <a:t>event</a:t>
            </a:r>
            <a:r>
              <a:rPr lang="de-DE" dirty="0"/>
              <a:t> als Handle auf das Event-Objekt</a:t>
            </a:r>
          </a:p>
          <a:p>
            <a:r>
              <a:rPr lang="de-DE" dirty="0"/>
              <a:t>Ziele </a:t>
            </a:r>
          </a:p>
          <a:p>
            <a:pPr lvl="1"/>
            <a:r>
              <a:rPr lang="de-DE" dirty="0"/>
              <a:t>Standard-DOM-Events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type="</a:t>
            </a:r>
            <a:r>
              <a:rPr lang="de-DE" dirty="0" err="1"/>
              <a:t>text</a:t>
            </a:r>
            <a:r>
              <a:rPr lang="de-DE" dirty="0"/>
              <a:t>" (</a:t>
            </a:r>
            <a:r>
              <a:rPr lang="de-DE" dirty="0" err="1"/>
              <a:t>keyup</a:t>
            </a:r>
            <a:r>
              <a:rPr lang="de-DE" dirty="0"/>
              <a:t>)="</a:t>
            </a:r>
            <a:r>
              <a:rPr lang="de-DE" dirty="0" err="1"/>
              <a:t>logInput</a:t>
            </a:r>
            <a:r>
              <a:rPr lang="de-DE" dirty="0"/>
              <a:t>($</a:t>
            </a:r>
            <a:r>
              <a:rPr lang="de-DE" dirty="0" err="1"/>
              <a:t>event.target.value</a:t>
            </a:r>
            <a:r>
              <a:rPr lang="de-DE" dirty="0"/>
              <a:t>)"&gt;</a:t>
            </a:r>
          </a:p>
          <a:p>
            <a:pPr lvl="1"/>
            <a:r>
              <a:rPr lang="de-DE" dirty="0"/>
              <a:t>Custom-Events an Komponenten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release</a:t>
            </a:r>
            <a:r>
              <a:rPr lang="de-DE" dirty="0"/>
              <a:t> (</a:t>
            </a:r>
            <a:r>
              <a:rPr lang="de-DE" dirty="0" err="1"/>
              <a:t>releaseLiked</a:t>
            </a:r>
            <a:r>
              <a:rPr lang="de-DE" dirty="0"/>
              <a:t>)="</a:t>
            </a:r>
            <a:r>
              <a:rPr lang="de-DE" dirty="0" err="1"/>
              <a:t>highlight</a:t>
            </a:r>
            <a:r>
              <a:rPr lang="de-DE" dirty="0"/>
              <a:t>($</a:t>
            </a:r>
            <a:r>
              <a:rPr lang="de-DE" dirty="0" err="1"/>
              <a:t>event</a:t>
            </a:r>
            <a:r>
              <a:rPr lang="de-DE" dirty="0"/>
              <a:t>)"&gt;&lt;/</a:t>
            </a:r>
            <a:r>
              <a:rPr lang="de-DE" dirty="0" err="1"/>
              <a:t>release</a:t>
            </a:r>
            <a:r>
              <a:rPr lang="de-DE" dirty="0"/>
              <a:t>&gt;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504132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00873-8512-B843-982F-37D1F0ED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Style </a:t>
            </a:r>
            <a:r>
              <a:rPr lang="de-DE" dirty="0" err="1"/>
              <a:t>Bindings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2CE061-18D9-3844-BF87-72E93F71A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Class-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selected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isSelected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Style-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style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visibility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?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visible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 :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Alternativ: Direktiven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und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ngStyle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90756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A704C-A61E-4C46-B846-F71B625C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 in Formularen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DF19C4-F590-AA4D-964B-44F1191E5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Ziel: </a:t>
            </a:r>
          </a:p>
          <a:p>
            <a:pPr lvl="1"/>
            <a:r>
              <a:rPr lang="de-DE" dirty="0"/>
              <a:t>Formularfelder an Properties binden</a:t>
            </a:r>
          </a:p>
          <a:p>
            <a:r>
              <a:rPr lang="de-DE" dirty="0"/>
              <a:t>Manuelles Synchronisieren würde bedeuten</a:t>
            </a:r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</a:t>
            </a:r>
            <a:r>
              <a:rPr lang="de-DE" dirty="0" err="1"/>
              <a:t>value</a:t>
            </a:r>
            <a:r>
              <a:rPr lang="de-DE" dirty="0"/>
              <a:t>]="</a:t>
            </a:r>
            <a:r>
              <a:rPr lang="de-DE" dirty="0" err="1"/>
              <a:t>bean.name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(</a:t>
            </a:r>
            <a:r>
              <a:rPr lang="de-DE" dirty="0" err="1"/>
              <a:t>input</a:t>
            </a:r>
            <a:r>
              <a:rPr lang="de-DE" dirty="0"/>
              <a:t>)="</a:t>
            </a:r>
            <a:r>
              <a:rPr lang="de-DE" dirty="0" err="1"/>
              <a:t>bean.name</a:t>
            </a:r>
            <a:r>
              <a:rPr lang="de-DE" dirty="0"/>
              <a:t>=$</a:t>
            </a:r>
            <a:r>
              <a:rPr lang="de-DE" dirty="0" err="1"/>
              <a:t>event.target.value</a:t>
            </a:r>
            <a:r>
              <a:rPr lang="de-DE" dirty="0"/>
              <a:t>"&gt;</a:t>
            </a:r>
          </a:p>
          <a:p>
            <a:r>
              <a:rPr lang="de-DE" dirty="0"/>
              <a:t>Zwei-Wege-Data-Binding mit </a:t>
            </a:r>
            <a:r>
              <a:rPr lang="de-DE" dirty="0" err="1"/>
              <a:t>ngModel</a:t>
            </a:r>
            <a:endParaRPr lang="de-DE" dirty="0"/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[(</a:t>
            </a:r>
            <a:r>
              <a:rPr lang="de-DE" dirty="0" err="1"/>
              <a:t>ngModel</a:t>
            </a:r>
            <a:r>
              <a:rPr lang="de-DE" dirty="0"/>
              <a:t>)]="</a:t>
            </a:r>
            <a:r>
              <a:rPr lang="de-DE" dirty="0" err="1"/>
              <a:t>bean.name</a:t>
            </a:r>
            <a:r>
              <a:rPr lang="de-DE" dirty="0"/>
              <a:t>"&gt;</a:t>
            </a:r>
          </a:p>
          <a:p>
            <a:endParaRPr lang="de-DE" i="1" dirty="0"/>
          </a:p>
          <a:p>
            <a:r>
              <a:rPr lang="de-DE" i="1" dirty="0"/>
              <a:t>Merke: </a:t>
            </a:r>
            <a:r>
              <a:rPr lang="de-DE" i="1" dirty="0" err="1"/>
              <a:t>Banana</a:t>
            </a:r>
            <a:r>
              <a:rPr lang="de-DE" i="1" dirty="0"/>
              <a:t> in a Box [()]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194406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5CB01-1642-8F40-B97C-E8A9C761D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11: </a:t>
            </a:r>
            <a:r>
              <a:rPr lang="de-DE" dirty="0" err="1"/>
              <a:t>Bindings</a:t>
            </a:r>
            <a:r>
              <a:rPr lang="de-DE" dirty="0"/>
              <a:t> auf Images und mehr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F0D74A-23AA-CB42-9B76-609AAF67D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Füge der Klasse Training eine optionale Eigenschaft </a:t>
            </a:r>
            <a:r>
              <a:rPr lang="de-DE" dirty="0" err="1"/>
              <a:t>imageUrl</a:t>
            </a:r>
            <a:r>
              <a:rPr lang="de-DE" dirty="0"/>
              <a:t>: </a:t>
            </a:r>
            <a:r>
              <a:rPr lang="de-DE" dirty="0" err="1"/>
              <a:t>string</a:t>
            </a:r>
            <a:r>
              <a:rPr lang="de-DE" dirty="0"/>
              <a:t> hinzu</a:t>
            </a:r>
          </a:p>
          <a:p>
            <a:pPr lvl="1"/>
            <a:r>
              <a:rPr lang="de-DE" dirty="0"/>
              <a:t>Nehme </a:t>
            </a:r>
            <a:r>
              <a:rPr lang="de-DE" dirty="0" err="1"/>
              <a:t>imageUrl</a:t>
            </a:r>
            <a:r>
              <a:rPr lang="de-DE" dirty="0"/>
              <a:t> im Konstruktor als Parameter entgegen und setzte das Feld</a:t>
            </a:r>
          </a:p>
          <a:p>
            <a:r>
              <a:rPr lang="de-DE" dirty="0"/>
              <a:t>Passe </a:t>
            </a:r>
            <a:r>
              <a:rPr lang="de-DE" dirty="0" err="1"/>
              <a:t>AppComponent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Kopiere aus der Musterlösung (</a:t>
            </a:r>
            <a:r>
              <a:rPr lang="de-DE" i="1" dirty="0"/>
              <a:t>??-</a:t>
            </a:r>
            <a:r>
              <a:rPr lang="de-DE" i="1" dirty="0" err="1"/>
              <a:t>property-bindings</a:t>
            </a:r>
            <a:r>
              <a:rPr lang="de-DE" dirty="0"/>
              <a:t>) die Bilder aus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assets</a:t>
            </a:r>
            <a:r>
              <a:rPr lang="de-DE" dirty="0"/>
              <a:t>/</a:t>
            </a:r>
            <a:r>
              <a:rPr lang="de-DE" dirty="0" err="1"/>
              <a:t>images</a:t>
            </a:r>
            <a:r>
              <a:rPr lang="de-DE" dirty="0"/>
              <a:t>/</a:t>
            </a:r>
            <a:r>
              <a:rPr lang="de-DE" dirty="0" err="1"/>
              <a:t>trainings</a:t>
            </a:r>
            <a:endParaRPr lang="de-DE" dirty="0"/>
          </a:p>
          <a:p>
            <a:pPr lvl="1"/>
            <a:r>
              <a:rPr lang="de-DE" dirty="0"/>
              <a:t>Setze beim Erzeugen der Testdaten bei manchen Trainings ein Bild.</a:t>
            </a:r>
            <a:br>
              <a:rPr lang="de-DE" dirty="0"/>
            </a:br>
            <a:r>
              <a:rPr lang="de-DE" dirty="0"/>
              <a:t>Pfad z.B. </a:t>
            </a:r>
            <a:r>
              <a:rPr lang="de-DE" dirty="0" err="1"/>
              <a:t>assets</a:t>
            </a:r>
            <a:r>
              <a:rPr lang="de-DE" dirty="0"/>
              <a:t>/</a:t>
            </a:r>
            <a:r>
              <a:rPr lang="de-DE" dirty="0" err="1"/>
              <a:t>images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/angular2-shield.svg</a:t>
            </a:r>
          </a:p>
          <a:p>
            <a:r>
              <a:rPr lang="de-DE" dirty="0"/>
              <a:t>Erweitere die Darstellung in </a:t>
            </a:r>
            <a:r>
              <a:rPr lang="de-DE" dirty="0" err="1"/>
              <a:t>TrainingDetailsComponents</a:t>
            </a:r>
            <a:endParaRPr lang="de-DE" dirty="0"/>
          </a:p>
          <a:p>
            <a:pPr lvl="1"/>
            <a:r>
              <a:rPr lang="de-DE" dirty="0"/>
              <a:t>Zeige das Bild mit einer festen Größe an, falls vorhanden</a:t>
            </a:r>
          </a:p>
          <a:p>
            <a:pPr lvl="1"/>
            <a:r>
              <a:rPr lang="de-DE" dirty="0"/>
              <a:t>Blende das Bild aus, falls kein Bild vorhanden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80636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66896-4504-1842-8829-D25C76667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12: Class Binding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2DB6F9-0D46-9A47-9CC3-B406DF7FD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Lege in Training ein Feld </a:t>
            </a:r>
            <a:r>
              <a:rPr lang="de-DE" dirty="0" err="1"/>
              <a:t>discontinued</a:t>
            </a:r>
            <a:r>
              <a:rPr lang="de-DE" dirty="0"/>
              <a:t>: </a:t>
            </a:r>
            <a:r>
              <a:rPr lang="de-DE" dirty="0" err="1"/>
              <a:t>boolean</a:t>
            </a:r>
            <a:r>
              <a:rPr lang="de-DE" dirty="0"/>
              <a:t> an, das per Konstruktor gesetzt wird</a:t>
            </a:r>
          </a:p>
          <a:p>
            <a:pPr lvl="1"/>
            <a:r>
              <a:rPr lang="de-DE" dirty="0"/>
              <a:t>Erzeuge in </a:t>
            </a:r>
            <a:r>
              <a:rPr lang="de-DE" dirty="0" err="1"/>
              <a:t>AppComponent</a:t>
            </a:r>
            <a:r>
              <a:rPr lang="de-DE" dirty="0"/>
              <a:t> mindestens ein Training mit einer Technologie, die du nicht lernen/anwenden möchtest</a:t>
            </a:r>
          </a:p>
          <a:p>
            <a:pPr lvl="1"/>
            <a:r>
              <a:rPr lang="de-DE" dirty="0"/>
              <a:t>Setze für dieses Training </a:t>
            </a:r>
            <a:r>
              <a:rPr lang="de-DE" dirty="0" err="1"/>
              <a:t>discontinued</a:t>
            </a:r>
            <a:r>
              <a:rPr lang="de-DE" dirty="0"/>
              <a:t> auf </a:t>
            </a:r>
            <a:r>
              <a:rPr lang="de-DE" dirty="0" err="1"/>
              <a:t>true</a:t>
            </a:r>
            <a:endParaRPr lang="de-DE" dirty="0"/>
          </a:p>
          <a:p>
            <a:r>
              <a:rPr lang="de-DE" dirty="0"/>
              <a:t>Passe die Darstellung in </a:t>
            </a:r>
            <a:r>
              <a:rPr lang="de-DE" dirty="0" err="1"/>
              <a:t>TrainingListComponent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Setze an nicht länger angebotenen Trainings eine Klasse</a:t>
            </a:r>
          </a:p>
          <a:p>
            <a:pPr lvl="1"/>
            <a:r>
              <a:rPr lang="de-DE" dirty="0"/>
              <a:t>Stelle nicht länger angebotene Trainings anders dar</a:t>
            </a:r>
            <a:br>
              <a:rPr lang="de-DE" dirty="0"/>
            </a:br>
            <a:r>
              <a:rPr lang="de-DE" dirty="0"/>
              <a:t>(über Klasse an Element und CSS in </a:t>
            </a:r>
            <a:r>
              <a:rPr lang="de-DE" dirty="0" err="1"/>
              <a:t>training-list.component.css</a:t>
            </a:r>
            <a:r>
              <a:rPr lang="de-DE" dirty="0"/>
              <a:t>, z.B. ausgegraut oder durchgestrichen)</a:t>
            </a:r>
          </a:p>
          <a:p>
            <a:r>
              <a:rPr lang="de-DE" dirty="0"/>
              <a:t>Hebe in der Liste das selektierte Training hervor</a:t>
            </a:r>
          </a:p>
          <a:p>
            <a:pPr lvl="1"/>
            <a:r>
              <a:rPr lang="de-DE" dirty="0"/>
              <a:t>Speichere in </a:t>
            </a:r>
            <a:r>
              <a:rPr lang="de-DE" dirty="0" err="1"/>
              <a:t>TrainingListComponent</a:t>
            </a:r>
            <a:r>
              <a:rPr lang="de-DE" dirty="0"/>
              <a:t> das zuletzt selektierte Training</a:t>
            </a:r>
          </a:p>
          <a:p>
            <a:pPr lvl="1"/>
            <a:r>
              <a:rPr lang="de-DE" dirty="0"/>
              <a:t>Prüfe am li ob das aktuelle Training das selektierte ist und setze </a:t>
            </a:r>
            <a:r>
              <a:rPr lang="de-DE" dirty="0" err="1"/>
              <a:t>ensprechend</a:t>
            </a:r>
            <a:r>
              <a:rPr lang="de-DE" dirty="0"/>
              <a:t> eine Klasse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70235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F37AF-C49D-C44F-8D3C-44D244DC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13: Formulare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7EE76-F282-9747-8A26-A4A6674C6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Biete in der Detail-Ansicht die Möglichkeit an, den Namen eines Trainings zu verändern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FormsModule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r>
              <a:rPr lang="de-DE" dirty="0"/>
              <a:t> aus @angular/</a:t>
            </a:r>
            <a:r>
              <a:rPr lang="de-DE" dirty="0" err="1"/>
              <a:t>forms</a:t>
            </a:r>
            <a:endParaRPr lang="de-DE" dirty="0"/>
          </a:p>
          <a:p>
            <a:pPr lvl="1"/>
            <a:r>
              <a:rPr lang="de-DE" dirty="0"/>
              <a:t>Erstelle ein </a:t>
            </a:r>
            <a:r>
              <a:rPr lang="de-DE" dirty="0" err="1"/>
              <a:t>input</a:t>
            </a:r>
            <a:r>
              <a:rPr lang="de-DE" dirty="0"/>
              <a:t> mit </a:t>
            </a:r>
            <a:r>
              <a:rPr lang="de-DE" dirty="0" err="1"/>
              <a:t>ngModel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22008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Services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F10DD6E-62D9-FA4E-A955-30DAB3185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48465" y="5258851"/>
            <a:ext cx="8495070" cy="90400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24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phic 11" descr="Zahnräder">
            <a:extLst>
              <a:ext uri="{FF2B5EF4-FFF2-40B4-BE49-F238E27FC236}">
                <a16:creationId xmlns:a16="http://schemas.microsoft.com/office/drawing/2014/main" id="{C8512BAE-CDFC-4C8E-B098-CD0705C4E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8416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/>
              <a:t>Eigenschaften eines Services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19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Inhaltsplatzhalter 7">
            <a:extLst>
              <a:ext uri="{FF2B5EF4-FFF2-40B4-BE49-F238E27FC236}">
                <a16:creationId xmlns:a16="http://schemas.microsoft.com/office/drawing/2014/main" id="{A15CB808-DAC7-4E86-8E84-CA289D6F89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413227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089697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8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10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527C0F-B0E4-6E4C-809A-3B8084CEB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 dirty="0"/>
              <a:t>Services? Was</a:t>
            </a:r>
          </a:p>
        </p:txBody>
      </p:sp>
      <p:grpSp>
        <p:nvGrpSpPr>
          <p:cNvPr id="39" name="Group 12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40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34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0BD33C9-030B-4476-8D7F-5AEDAFD7AF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71779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105220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 eines Services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Standard-Services des Angular-Frameworks stellen nützliche Routinen zur Verfügung</a:t>
            </a:r>
          </a:p>
          <a:p>
            <a:pPr lvl="1"/>
            <a:r>
              <a:rPr lang="de-DE" dirty="0"/>
              <a:t>Beispielsweise wird die Client-Server-Kommunikation über den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HttpClient</a:t>
            </a:r>
            <a:r>
              <a:rPr lang="de-DE" dirty="0"/>
              <a:t>-Service realisiert</a:t>
            </a:r>
          </a:p>
          <a:p>
            <a:r>
              <a:rPr lang="de-DE" dirty="0"/>
              <a:t>Eigene Services werden in der Anwendung häufig benutzt, um in einer sauberen Architektur ein Datenmodell zu definieren</a:t>
            </a:r>
          </a:p>
          <a:p>
            <a:pPr lvl="1"/>
            <a:r>
              <a:rPr lang="de-DE" dirty="0"/>
              <a:t>Dieses wird dann von allen Components konsistent benutzt</a:t>
            </a:r>
          </a:p>
          <a:p>
            <a:pPr lvl="1"/>
            <a:r>
              <a:rPr lang="de-DE" dirty="0"/>
              <a:t>Services ermöglichen damit eine Inter-</a:t>
            </a:r>
            <a:r>
              <a:rPr lang="de-DE" dirty="0" err="1"/>
              <a:t>Component</a:t>
            </a:r>
            <a:r>
              <a:rPr lang="de-DE" dirty="0"/>
              <a:t>-Kommunikation, die unabhängig von Input-Parametern sind</a:t>
            </a:r>
          </a:p>
          <a:p>
            <a:pPr lvl="2"/>
            <a:r>
              <a:rPr lang="de-DE" dirty="0"/>
              <a:t>Wesentlich leichter </a:t>
            </a:r>
            <a:r>
              <a:rPr lang="de-DE" dirty="0" err="1"/>
              <a:t>wartbar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96144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 simpler Service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Die Erzeugung eines Services kann das Angular-CLI übernehmen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de-DE" dirty="0"/>
              <a:t>Ein Service selbst ist eine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Injectable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Damit kann diese Klasse im </a:t>
            </a:r>
            <a:r>
              <a:rPr lang="de-DE" dirty="0" err="1"/>
              <a:t>Konstruktor</a:t>
            </a:r>
            <a:r>
              <a:rPr lang="de-DE" dirty="0"/>
              <a:t> jeder anderen Angular-Klasse benutzt werden</a:t>
            </a:r>
          </a:p>
          <a:p>
            <a:pPr lvl="2"/>
            <a:r>
              <a:rPr lang="de-DE" dirty="0"/>
              <a:t>Components</a:t>
            </a:r>
          </a:p>
          <a:p>
            <a:pPr lvl="2"/>
            <a:r>
              <a:rPr lang="de-DE" dirty="0"/>
              <a:t>Andere Services</a:t>
            </a:r>
          </a:p>
          <a:p>
            <a:r>
              <a:rPr lang="de-DE" dirty="0"/>
              <a:t>Service-Klassen müssen als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provider</a:t>
            </a:r>
            <a:r>
              <a:rPr lang="de-DE" dirty="0"/>
              <a:t> deklariert werden</a:t>
            </a:r>
          </a:p>
          <a:p>
            <a:pPr lvl="1"/>
            <a:r>
              <a:rPr lang="de-DE" dirty="0"/>
              <a:t>Eigenschaft des Angular-Moduls oder </a:t>
            </a:r>
          </a:p>
          <a:p>
            <a:pPr lvl="1"/>
            <a:r>
              <a:rPr lang="de-DE" dirty="0"/>
              <a:t>Eigenschaft des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Alternativen zur Deklaration der Klasse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https://angular.io/guide/dependency-injection#providers</a:t>
            </a:r>
          </a:p>
        </p:txBody>
      </p:sp>
    </p:spTree>
    <p:extLst>
      <p:ext uri="{BB962C8B-B14F-4D97-AF65-F5344CB8AC3E}">
        <p14:creationId xmlns:p14="http://schemas.microsoft.com/office/powerpoint/2010/main" val="250464598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1B284-69FC-C841-94BD-BE55685A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Methode in Services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841FA5-F4FB-EE4F-8F7D-F0117602D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194399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014699-6AAB-D446-9B72-82544CE4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API Stabilität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EE86E5-8260-C340-BF43-79D588829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Service versteckt Details über Datenhaltung vor Komponenten</a:t>
            </a:r>
          </a:p>
          <a:p>
            <a:r>
              <a:rPr lang="de-DE" dirty="0"/>
              <a:t>API stabil, Datenquelle austauschbar</a:t>
            </a:r>
          </a:p>
          <a:p>
            <a:r>
              <a:rPr lang="de-DE" dirty="0"/>
              <a:t>Best Practice: Mock-Daten parallel zu Service in eigene Datei ablegen</a:t>
            </a: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artist.mock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198004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>
                <a:latin typeface="Arial" charset="0"/>
              </a:rPr>
              <a:t>Objektnetze in OO- Systemen</a:t>
            </a:r>
          </a:p>
        </p:txBody>
      </p:sp>
      <p:graphicFrame>
        <p:nvGraphicFramePr>
          <p:cNvPr id="2" name="Diagramm 1"/>
          <p:cNvGraphicFramePr/>
          <p:nvPr/>
        </p:nvGraphicFramePr>
        <p:xfrm>
          <a:off x="1981200" y="1600201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570826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Assignment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Third Party</a:t>
            </a:r>
          </a:p>
        </p:txBody>
      </p:sp>
      <p:sp>
        <p:nvSpPr>
          <p:cNvPr id="101380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static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void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main</a:t>
            </a:r>
            <a:r>
              <a:rPr lang="de-DE" sz="2000" dirty="0">
                <a:latin typeface="Courier New" pitchFamily="49" charset="0"/>
              </a:rPr>
              <a:t>(String[] </a:t>
            </a:r>
            <a:r>
              <a:rPr lang="de-DE" sz="2000" dirty="0" err="1">
                <a:latin typeface="Courier New" pitchFamily="49" charset="0"/>
              </a:rPr>
              <a:t>args</a:t>
            </a:r>
            <a:r>
              <a:rPr lang="de-DE" sz="2000" dirty="0">
                <a:latin typeface="Courier New" pitchFamily="49" charset="0"/>
              </a:rPr>
              <a:t>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{</a:t>
            </a:r>
          </a:p>
          <a:p>
            <a:pPr lvl="1">
              <a:buFontTx/>
              <a:buNone/>
            </a:pPr>
            <a:r>
              <a:rPr lang="de-DE" sz="1800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</a:rPr>
              <a:t> = 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();</a:t>
            </a:r>
          </a:p>
          <a:p>
            <a:pPr lvl="1">
              <a:buFontTx/>
              <a:buNone/>
            </a:pPr>
            <a:r>
              <a:rPr lang="de-DE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service.setDAO</a:t>
            </a:r>
            <a:r>
              <a:rPr lang="de-DE" dirty="0">
                <a:latin typeface="Courier New" pitchFamily="49" charset="0"/>
              </a:rPr>
              <a:t>(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MyDAO</a:t>
            </a:r>
            <a:r>
              <a:rPr lang="de-DE" dirty="0">
                <a:latin typeface="Courier New" pitchFamily="49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39466816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- DIRECT</a:t>
            </a:r>
          </a:p>
        </p:txBody>
      </p:sp>
      <p:sp>
        <p:nvSpPr>
          <p:cNvPr id="102404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{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}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1913983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/>
              <a:t>Factory- Pattern</a:t>
            </a:r>
          </a:p>
        </p:txBody>
      </p:sp>
      <p:sp>
        <p:nvSpPr>
          <p:cNvPr id="103428" name="Rectangle 3"/>
          <p:cNvSpPr>
            <a:spLocks noGrp="1" noChangeArrowheads="1"/>
          </p:cNvSpPr>
          <p:nvPr>
            <p:ph idx="1"/>
          </p:nvPr>
        </p:nvSpPr>
        <p:spPr>
          <a:xfrm>
            <a:off x="1991544" y="1556793"/>
            <a:ext cx="8229600" cy="4525963"/>
          </a:xfrm>
        </p:spPr>
        <p:txBody>
          <a:bodyPr anchor="ctr"/>
          <a:lstStyle/>
          <a:p>
            <a:pPr eaLnBrk="1" hangingPunct="1">
              <a:buFontTx/>
              <a:buNone/>
            </a:pP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{</a:t>
            </a:r>
          </a:p>
          <a:p>
            <a:pPr eaLnBrk="1" hangingPunct="1">
              <a:buFontTx/>
              <a:buNone/>
            </a:pPr>
            <a:r>
              <a:rPr lang="de-DE" sz="2000" b="1" dirty="0">
                <a:solidFill>
                  <a:srgbClr val="7F0055"/>
                </a:solidFill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dirty="0" err="1">
                <a:latin typeface="Courier New" pitchFamily="49" charset="0"/>
              </a:rPr>
              <a:t>Factory.getMyDao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}</a:t>
            </a:r>
          </a:p>
          <a:p>
            <a:pPr eaLnBrk="1" hangingPunct="1">
              <a:buFontTx/>
              <a:buNone/>
            </a:pPr>
            <a:endParaRPr lang="de-DE" sz="1800" dirty="0"/>
          </a:p>
          <a:p>
            <a:pPr eaLnBrk="1" hangingPunct="1"/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29932571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/>
              <a:t>Dependency Injection</a:t>
            </a:r>
          </a:p>
        </p:txBody>
      </p:sp>
      <p:sp>
        <p:nvSpPr>
          <p:cNvPr id="1044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suchen.</a:t>
            </a:r>
          </a:p>
        </p:txBody>
      </p:sp>
    </p:spTree>
    <p:extLst>
      <p:ext uri="{BB962C8B-B14F-4D97-AF65-F5344CB8AC3E}">
        <p14:creationId xmlns:p14="http://schemas.microsoft.com/office/powerpoint/2010/main" val="142042724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Service</a:t>
            </a:r>
          </a:p>
        </p:txBody>
      </p:sp>
      <p:grpSp>
        <p:nvGrpSpPr>
          <p:cNvPr id="7" name="Gruppieren 6"/>
          <p:cNvGrpSpPr/>
          <p:nvPr/>
        </p:nvGrpSpPr>
        <p:grpSpPr>
          <a:xfrm>
            <a:off x="1549742" y="1367688"/>
            <a:ext cx="8676964" cy="5311663"/>
            <a:chOff x="251520" y="1124744"/>
            <a:chExt cx="8676964" cy="531166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124744"/>
              <a:ext cx="5610225" cy="2209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372200" y="1340768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@</a:t>
              </a:r>
              <a:r>
                <a:rPr lang="de-DE" dirty="0" err="1">
                  <a:solidFill>
                    <a:schemeClr val="tx1"/>
                  </a:solidFill>
                </a:rPr>
                <a:t>Injectable</a:t>
              </a:r>
              <a:r>
                <a:rPr lang="de-DE" dirty="0">
                  <a:solidFill>
                    <a:schemeClr val="tx1"/>
                  </a:solidFill>
                </a:rPr>
                <a:t> macht diese Klasse dem Angular-</a:t>
              </a:r>
              <a:r>
                <a:rPr lang="de-DE" dirty="0" err="1">
                  <a:solidFill>
                    <a:schemeClr val="tx1"/>
                  </a:solidFill>
                </a:rPr>
                <a:t>Context</a:t>
              </a:r>
              <a:r>
                <a:rPr lang="de-DE" dirty="0">
                  <a:solidFill>
                    <a:schemeClr val="tx1"/>
                  </a:solidFill>
                </a:rPr>
                <a:t> bekannt</a:t>
              </a:r>
            </a:p>
          </p:txBody>
        </p:sp>
        <p:pic>
          <p:nvPicPr>
            <p:cNvPr id="9220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057" y="3717032"/>
              <a:ext cx="2314575" cy="7429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372200" y="32129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 Modul oder der </a:t>
              </a:r>
              <a:r>
                <a:rPr lang="de-DE" dirty="0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@</a:t>
              </a:r>
              <a:r>
                <a:rPr lang="de-DE" dirty="0" err="1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-Annotation</a:t>
              </a:r>
            </a:p>
          </p:txBody>
        </p:sp>
        <p:pic>
          <p:nvPicPr>
            <p:cNvPr id="9221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7493" y="4617132"/>
              <a:ext cx="5915025" cy="18192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Legende mit Linie 1 12"/>
            <p:cNvSpPr/>
            <p:nvPr/>
          </p:nvSpPr>
          <p:spPr>
            <a:xfrm>
              <a:off x="6372200" y="526520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>
                  <a:solidFill>
                    <a:schemeClr val="tx1"/>
                  </a:solidFill>
                </a:rPr>
                <a:t>Dependency</a:t>
              </a:r>
              <a:r>
                <a:rPr lang="de-DE" dirty="0">
                  <a:solidFill>
                    <a:schemeClr val="tx1"/>
                  </a:solidFill>
                </a:rPr>
                <a:t> </a:t>
              </a:r>
              <a:r>
                <a:rPr lang="de-DE" dirty="0" err="1">
                  <a:solidFill>
                    <a:schemeClr val="tx1"/>
                  </a:solidFill>
                </a:rPr>
                <a:t>Injection</a:t>
              </a:r>
              <a:r>
                <a:rPr lang="de-DE" dirty="0">
                  <a:solidFill>
                    <a:schemeClr val="tx1"/>
                  </a:solidFill>
                </a:rPr>
                <a:t> in einer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194493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0FB4A13-5BD8-8F40-A163-CEF28BE7F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 </a:t>
            </a:r>
            <a:r>
              <a:rPr lang="de-DE" dirty="0" err="1"/>
              <a:t>Konfig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B3DEDD-1593-5D42-9202-0419A6ED5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Woher weiß Angular was zu injizieren ist?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Muss konfiguriert werden: 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Providers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Injector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-&gt; Provider -&gt; Instance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Konfiguration an Modulen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/*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array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*/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Wie sieht ein Provider aus?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320809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A8B99-2F95-424D-8F50-03E1E7C6D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geht DI in Angular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FBEDCD-76DB-5640-8E17-FB1961D8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Direkte Abhängigkeit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einfach nur die Klasse angeben: 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Kurz für [{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}]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Allgemein: Provider-Objekt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Unter welchem Namen steht es zur Verfügung -&gt;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 Rezept, wie soll es erzeugt werden soll -&gt;</a:t>
            </a:r>
            <a:br>
              <a:rPr lang="de-DE" dirty="0">
                <a:solidFill>
                  <a:srgbClr val="333333"/>
                </a:solidFill>
                <a:latin typeface="Aller"/>
              </a:rPr>
            </a:b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useValue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useFactory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oder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useExisting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shortcut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useExisting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different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token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instance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443773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7284C-7B50-4649-B018-F380096B2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Kontextbasierte Injektion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AEB200-B29D-B343-A3F8-553168D5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Injektoren bilden einen Baum</a:t>
            </a:r>
          </a:p>
          <a:p>
            <a:pPr lvl="1"/>
            <a:r>
              <a:rPr lang="de-DE" dirty="0"/>
              <a:t>Jede Komponente ein Child-</a:t>
            </a:r>
            <a:r>
              <a:rPr lang="de-DE" dirty="0" err="1"/>
              <a:t>Injector</a:t>
            </a:r>
            <a:r>
              <a:rPr lang="de-DE" dirty="0"/>
              <a:t> vom </a:t>
            </a:r>
            <a:r>
              <a:rPr lang="de-DE" dirty="0" err="1"/>
              <a:t>Injector</a:t>
            </a:r>
            <a:r>
              <a:rPr lang="de-DE" dirty="0"/>
              <a:t> der Vater-Komponente</a:t>
            </a:r>
          </a:p>
          <a:p>
            <a:pPr lvl="1"/>
            <a:r>
              <a:rPr lang="de-DE" dirty="0"/>
              <a:t>Instanzen sind Singletons in einem Injektor</a:t>
            </a:r>
          </a:p>
          <a:p>
            <a:r>
              <a:rPr lang="de-DE" dirty="0"/>
              <a:t>Provider für Child-Injektoren können an Komponenten definiert werden</a:t>
            </a:r>
          </a:p>
          <a:p>
            <a:pPr lvl="1"/>
            <a:r>
              <a:rPr lang="de-DE" dirty="0"/>
              <a:t>Child-</a:t>
            </a:r>
            <a:r>
              <a:rPr lang="de-DE" dirty="0" err="1"/>
              <a:t>Injector</a:t>
            </a:r>
            <a:r>
              <a:rPr lang="de-DE" dirty="0"/>
              <a:t> kann Provider des Vaters überschreiben / ergänzen</a:t>
            </a:r>
          </a:p>
          <a:p>
            <a:pPr lvl="1"/>
            <a:r>
              <a:rPr lang="de-DE" dirty="0" err="1"/>
              <a:t>providers</a:t>
            </a:r>
            <a:r>
              <a:rPr lang="de-DE" dirty="0"/>
              <a:t> Property in @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dirty="0" err="1"/>
              <a:t>Decorator</a:t>
            </a:r>
            <a:endParaRPr lang="de-DE" dirty="0"/>
          </a:p>
          <a:p>
            <a:r>
              <a:rPr lang="de-DE" dirty="0"/>
              <a:t>Einsatzmöglichkeiten</a:t>
            </a:r>
          </a:p>
          <a:p>
            <a:pPr lvl="1"/>
            <a:r>
              <a:rPr lang="de-DE" dirty="0"/>
              <a:t>Auflösen von Namenskonflikten</a:t>
            </a:r>
          </a:p>
          <a:p>
            <a:pPr lvl="1"/>
            <a:r>
              <a:rPr lang="de-DE" dirty="0"/>
              <a:t>Unterschiedliche Konfiguration (z.B. Log-Level)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59981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38A1BB-069E-2348-9A4B-306A1E67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CD91DE-5ED1-1340-AF4B-B0FA23C1E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Erstelle einen Service </a:t>
            </a:r>
            <a:r>
              <a:rPr lang="de-DE" dirty="0" err="1"/>
              <a:t>TrainingService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endParaRPr lang="de-DE" dirty="0"/>
          </a:p>
          <a:p>
            <a:r>
              <a:rPr lang="de-DE" dirty="0"/>
              <a:t>Erstelle Mock-Daten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training.mock.ts</a:t>
            </a:r>
            <a:endParaRPr lang="de-DE" dirty="0"/>
          </a:p>
          <a:p>
            <a:pPr lvl="1"/>
            <a:r>
              <a:rPr lang="de-DE" dirty="0"/>
              <a:t>Exportiere darin ein Array von Trainings (kopieren aus 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r>
              <a:rPr lang="de-DE" dirty="0"/>
              <a:t>Verwende im Service die Mock-Daten</a:t>
            </a:r>
          </a:p>
          <a:p>
            <a:pPr lvl="1"/>
            <a:r>
              <a:rPr lang="de-DE" dirty="0"/>
              <a:t>Importiere die Mock-Daten aus </a:t>
            </a:r>
            <a:r>
              <a:rPr lang="de-DE" dirty="0" err="1"/>
              <a:t>training.mock</a:t>
            </a:r>
            <a:endParaRPr lang="de-DE" dirty="0"/>
          </a:p>
          <a:p>
            <a:pPr lvl="1"/>
            <a:r>
              <a:rPr lang="de-DE" dirty="0"/>
              <a:t>Erstelle in </a:t>
            </a:r>
            <a:r>
              <a:rPr lang="de-DE" dirty="0" err="1"/>
              <a:t>TrainingService</a:t>
            </a:r>
            <a:r>
              <a:rPr lang="de-DE" dirty="0"/>
              <a:t> eine Methode </a:t>
            </a:r>
            <a:r>
              <a:rPr lang="de-DE" dirty="0" err="1"/>
              <a:t>getAll</a:t>
            </a:r>
            <a:r>
              <a:rPr lang="de-DE" dirty="0"/>
              <a:t>(): Training[]</a:t>
            </a:r>
          </a:p>
          <a:p>
            <a:pPr lvl="1"/>
            <a:r>
              <a:rPr lang="de-DE" dirty="0"/>
              <a:t>Gebe darin die Mock-Daten zurück</a:t>
            </a:r>
          </a:p>
          <a:p>
            <a:r>
              <a:rPr lang="de-DE" dirty="0"/>
              <a:t>Verwende den Service noch nicht!</a:t>
            </a:r>
          </a:p>
        </p:txBody>
      </p:sp>
    </p:spTree>
    <p:extLst>
      <p:ext uri="{BB962C8B-B14F-4D97-AF65-F5344CB8AC3E}">
        <p14:creationId xmlns:p14="http://schemas.microsoft.com/office/powerpoint/2010/main" val="200456118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9467A-C8AA-2945-85B3-059192C29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15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591F7F-153C-E44F-8E1D-E61668617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Lasse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injizieren</a:t>
            </a:r>
          </a:p>
          <a:p>
            <a:pPr lvl="1"/>
            <a:r>
              <a:rPr lang="de-DE" dirty="0"/>
              <a:t>Stelle den </a:t>
            </a:r>
            <a:r>
              <a:rPr lang="de-DE" dirty="0" err="1"/>
              <a:t>TrainingService</a:t>
            </a:r>
            <a:r>
              <a:rPr lang="de-DE" dirty="0"/>
              <a:t> im </a:t>
            </a:r>
            <a:r>
              <a:rPr lang="de-DE" dirty="0" err="1"/>
              <a:t>TrainingsModuleüber</a:t>
            </a:r>
            <a:r>
              <a:rPr lang="de-DE" dirty="0"/>
              <a:t> </a:t>
            </a:r>
            <a:r>
              <a:rPr lang="de-DE" dirty="0" err="1"/>
              <a:t>providers</a:t>
            </a:r>
            <a:r>
              <a:rPr lang="de-DE" dirty="0"/>
              <a:t>:[] zur Verfügung</a:t>
            </a:r>
          </a:p>
          <a:p>
            <a:pPr lvl="1"/>
            <a:r>
              <a:rPr lang="de-DE" dirty="0"/>
              <a:t>Füge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als Konstruktor Parameter ein</a:t>
            </a:r>
          </a:p>
          <a:p>
            <a:r>
              <a:rPr lang="de-DE" dirty="0"/>
              <a:t>Verwende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um die Daten zu beziehen</a:t>
            </a:r>
          </a:p>
          <a:p>
            <a:pPr lvl="1"/>
            <a:r>
              <a:rPr lang="de-DE" dirty="0"/>
              <a:t>Lösche den Code zum Erzeugen der Test-Daten in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Rufe </a:t>
            </a:r>
            <a:r>
              <a:rPr lang="de-DE" dirty="0" err="1"/>
              <a:t>TrainingService#getAll</a:t>
            </a:r>
            <a:r>
              <a:rPr lang="de-DE" dirty="0"/>
              <a:t> auf um Daten zu bekommen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912462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625B8-871E-EC40-9CB7-3E7A4AF12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 Lebenszyklus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8527D2-58A0-5D4D-8B53-89D2D6A3D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Komponenten haben einen Lebenszyklus</a:t>
            </a:r>
          </a:p>
          <a:p>
            <a:pPr lvl="1"/>
            <a:r>
              <a:rPr lang="de-DE" b="1" dirty="0"/>
              <a:t>Aufruf des Konstruktors</a:t>
            </a:r>
            <a:endParaRPr lang="de-DE" dirty="0"/>
          </a:p>
          <a:p>
            <a:pPr lvl="1"/>
            <a:r>
              <a:rPr lang="de-DE" b="1" dirty="0" err="1"/>
              <a:t>ngOnChanges</a:t>
            </a:r>
            <a:endParaRPr lang="de-DE" dirty="0"/>
          </a:p>
          <a:p>
            <a:pPr lvl="1"/>
            <a:r>
              <a:rPr lang="de-DE" b="1" dirty="0" err="1"/>
              <a:t>ngOnInit</a:t>
            </a:r>
            <a:endParaRPr lang="de-DE" dirty="0"/>
          </a:p>
          <a:p>
            <a:pPr lvl="1"/>
            <a:r>
              <a:rPr lang="de-DE" dirty="0" err="1"/>
              <a:t>ngDoCheck</a:t>
            </a:r>
            <a:endParaRPr lang="de-DE" dirty="0"/>
          </a:p>
          <a:p>
            <a:pPr lvl="1"/>
            <a:r>
              <a:rPr lang="de-DE" dirty="0" err="1"/>
              <a:t>ngAfterContentInit</a:t>
            </a:r>
            <a:endParaRPr lang="de-DE" dirty="0"/>
          </a:p>
          <a:p>
            <a:pPr lvl="1"/>
            <a:r>
              <a:rPr lang="de-DE" dirty="0" err="1"/>
              <a:t>ngAfterContentChecked</a:t>
            </a:r>
            <a:endParaRPr lang="de-DE" dirty="0"/>
          </a:p>
          <a:p>
            <a:pPr lvl="1"/>
            <a:r>
              <a:rPr lang="de-DE" dirty="0" err="1"/>
              <a:t>ngAfterViewInit</a:t>
            </a:r>
            <a:endParaRPr lang="de-DE" dirty="0"/>
          </a:p>
          <a:p>
            <a:pPr lvl="1"/>
            <a:r>
              <a:rPr lang="de-DE" dirty="0" err="1"/>
              <a:t>ngAfterViewChecked</a:t>
            </a:r>
            <a:endParaRPr lang="de-DE" dirty="0"/>
          </a:p>
          <a:p>
            <a:pPr lvl="1"/>
            <a:r>
              <a:rPr lang="de-DE" dirty="0"/>
              <a:t>[</a:t>
            </a:r>
            <a:r>
              <a:rPr lang="de-DE" dirty="0" err="1"/>
              <a:t>ngDoCheck</a:t>
            </a:r>
            <a:r>
              <a:rPr lang="de-DE" dirty="0"/>
              <a:t> und ggf. </a:t>
            </a:r>
            <a:r>
              <a:rPr lang="de-DE" dirty="0" err="1"/>
              <a:t>ngOnChanges</a:t>
            </a:r>
            <a:r>
              <a:rPr lang="de-DE" dirty="0"/>
              <a:t>]*</a:t>
            </a:r>
          </a:p>
          <a:p>
            <a:pPr lvl="1"/>
            <a:r>
              <a:rPr lang="de-DE" b="1" dirty="0" err="1"/>
              <a:t>ngOnDestroy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990330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E02D1-6DD0-DD43-B411-982BCD51E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soll das?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ACFBE3-9D05-2143-A693-A41D0A10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Bestimmte Informationen stehen erst später zur Verfügung</a:t>
            </a:r>
          </a:p>
          <a:p>
            <a:pPr lvl="1"/>
            <a:r>
              <a:rPr lang="de-DE" dirty="0"/>
              <a:t>ID des Trainings beim Routing</a:t>
            </a:r>
          </a:p>
          <a:p>
            <a:pPr lvl="1"/>
            <a:r>
              <a:rPr lang="de-DE" dirty="0"/>
              <a:t>Kind-Komponenten</a:t>
            </a:r>
          </a:p>
          <a:p>
            <a:r>
              <a:rPr lang="de-DE" dirty="0"/>
              <a:t>Instanziierung und Initialisierung trennen</a:t>
            </a:r>
          </a:p>
          <a:p>
            <a:pPr lvl="1"/>
            <a:r>
              <a:rPr lang="de-DE" dirty="0"/>
              <a:t>Gut für Testbarkeit</a:t>
            </a:r>
          </a:p>
          <a:p>
            <a:endParaRPr lang="de-DE" dirty="0"/>
          </a:p>
          <a:p>
            <a:r>
              <a:rPr lang="de-DE" dirty="0"/>
              <a:t>Achtung: keine </a:t>
            </a:r>
            <a:r>
              <a:rPr lang="de-DE" dirty="0" err="1"/>
              <a:t>Lifecycle</a:t>
            </a:r>
            <a:r>
              <a:rPr lang="de-DE" dirty="0"/>
              <a:t>-Hooks für Services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09154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7F00CD-EE9F-B34D-9C6F-C5905F51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DB2906-C319-4743-B180-B1F605A4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`&lt;h1&gt;Music App&lt;/h1&gt;`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	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endParaRPr lang="de-DE" b="1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542229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89699-1DA0-7D4D-B7CF-2082154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16: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9ADDC0-5935-0D4C-B5B3-6AE64F532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Initialisiere die Daten in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AppComponent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ngOnInit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Hook statt im Konstruktor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Implementiere das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OnInit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Verschiebe das Laden der Daten aus dem Konstruktor in die Hook-Methode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3482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Pipes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E22F3B7-F5F9-D54F-8C8D-9410759A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Daten für UI aufbereiten</a:t>
            </a:r>
          </a:p>
        </p:txBody>
      </p:sp>
    </p:spTree>
    <p:extLst>
      <p:ext uri="{BB962C8B-B14F-4D97-AF65-F5344CB8AC3E}">
        <p14:creationId xmlns:p14="http://schemas.microsoft.com/office/powerpoint/2010/main" val="414236629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2500C58-CEDF-4849-97F1-CEB11C292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2630993-9333-3348-93B0-3535D2FD8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Daten-Transformation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Kleine, wiederverwendbare Operationen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An Funktionale Programmierung angelehnt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Daten und Konfiguration per Parameter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Pipe verändert ursprünglichen Wert nicht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werden an Expression mit | angehängt 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i="1" dirty="0" err="1">
                <a:solidFill>
                  <a:srgbClr val="48484C"/>
                </a:solidFill>
                <a:latin typeface="SourceCodePro"/>
              </a:rPr>
              <a:t>property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per : konfiguriert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verkettet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uppercase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2335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sind Pipes?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Pipes formatieren das Ergebnis beispielsweise einer Interpolation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dateOfBirth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lvl="2"/>
            <a:r>
              <a:rPr lang="de-DE" dirty="0"/>
              <a:t>Hier wird das Geburtsdatum als Datum formatiert dargestellt</a:t>
            </a:r>
          </a:p>
          <a:p>
            <a:pPr lvl="1"/>
            <a:r>
              <a:rPr lang="de-DE" dirty="0"/>
              <a:t>Pipes sowie der Operator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de-DE" dirty="0"/>
              <a:t> sind aus der Linux-Welt übernommen</a:t>
            </a:r>
          </a:p>
          <a:p>
            <a:r>
              <a:rPr lang="de-DE" dirty="0"/>
              <a:t>Vordefinierte Pipes umfassen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format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timezone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locale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currency[: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currencyCode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[:display[: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digitInfo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[:locale]]]]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lowercase</a:t>
            </a:r>
          </a:p>
          <a:p>
            <a:pPr lvl="1"/>
            <a:r>
              <a:rPr lang="en-US" dirty="0" err="1"/>
              <a:t>Vollständige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 und </a:t>
            </a:r>
            <a:r>
              <a:rPr lang="en-US" dirty="0" err="1"/>
              <a:t>Dokumentation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 </a:t>
            </a:r>
            <a:r>
              <a:rPr lang="en-US" i="1" dirty="0">
                <a:latin typeface="Courier New" pitchFamily="49" charset="0"/>
                <a:cs typeface="Courier New" pitchFamily="49" charset="0"/>
              </a:rPr>
              <a:t>https://angular.io/api?status=stable&amp;type=pipe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13966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464C1-059E-1749-A492-5CE5DD547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Decimal</a:t>
            </a:r>
            <a:r>
              <a:rPr lang="de-DE" dirty="0"/>
              <a:t>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4FA107-D318-6A49-8349-A690E5B32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Formatiertung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von Zahlenwert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Parameter: Anzahl Nachkommastellen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track.size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decimal:2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557059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B35A6-160B-6F4F-964E-61B7CD4F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171F10-33FB-454E-967A-506900247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Für Datum-String, Date-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Object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Timestamp-Number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Nimmt als Parameter Shortcut (z.B.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short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 oder Format-String entgegen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Kurzschreibweise: Zusammenspiel mit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locale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des Browsers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short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17718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E16AC-90E2-A34C-A795-12C677B8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17: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8D5EED-B982-804A-BF2D-4B414C08E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Lege in Training ein Feld / Konstruktor-Parameter </a:t>
            </a:r>
            <a:r>
              <a:rPr lang="de-DE" dirty="0" err="1"/>
              <a:t>nextRun</a:t>
            </a:r>
            <a:r>
              <a:rPr lang="de-DE" dirty="0"/>
              <a:t> vom Typ Date an</a:t>
            </a:r>
          </a:p>
          <a:p>
            <a:r>
              <a:rPr lang="de-DE" dirty="0"/>
              <a:t>Passe die Mock-Daten an</a:t>
            </a:r>
          </a:p>
          <a:p>
            <a:pPr lvl="1"/>
            <a:r>
              <a:rPr lang="de-DE" dirty="0"/>
              <a:t>Setze für jeden Kurs ein unterschiedliches Datum (</a:t>
            </a:r>
            <a:r>
              <a:rPr lang="de-DE" dirty="0" err="1"/>
              <a:t>new</a:t>
            </a:r>
            <a:r>
              <a:rPr lang="de-DE" dirty="0"/>
              <a:t> Date(</a:t>
            </a:r>
            <a:r>
              <a:rPr lang="de-DE" dirty="0" err="1"/>
              <a:t>year</a:t>
            </a:r>
            <a:r>
              <a:rPr lang="de-DE" dirty="0"/>
              <a:t>, </a:t>
            </a:r>
            <a:r>
              <a:rPr lang="de-DE" dirty="0" err="1"/>
              <a:t>month</a:t>
            </a:r>
            <a:r>
              <a:rPr lang="de-DE" dirty="0"/>
              <a:t> - 1, </a:t>
            </a:r>
            <a:r>
              <a:rPr lang="de-DE" dirty="0" err="1"/>
              <a:t>day</a:t>
            </a:r>
            <a:r>
              <a:rPr lang="de-DE" dirty="0"/>
              <a:t>))</a:t>
            </a:r>
          </a:p>
          <a:p>
            <a:pPr lvl="1"/>
            <a:r>
              <a:rPr lang="de-DE" dirty="0"/>
              <a:t>Setze für nicht länger angebotene Kurse ein Datum in der Vergangenheit</a:t>
            </a:r>
          </a:p>
          <a:p>
            <a:r>
              <a:rPr lang="de-DE" dirty="0"/>
              <a:t>Erweitere das Template von </a:t>
            </a:r>
            <a:r>
              <a:rPr lang="de-DE" dirty="0" err="1"/>
              <a:t>TrainingDetailsComponent</a:t>
            </a:r>
            <a:endParaRPr lang="de-DE" dirty="0"/>
          </a:p>
          <a:p>
            <a:pPr lvl="1"/>
            <a:r>
              <a:rPr lang="de-DE" dirty="0"/>
              <a:t>Gib das Datum </a:t>
            </a:r>
            <a:r>
              <a:rPr lang="de-DE" dirty="0" err="1"/>
              <a:t>nextRun</a:t>
            </a:r>
            <a:r>
              <a:rPr lang="de-DE" dirty="0"/>
              <a:t> formatiert aus</a:t>
            </a:r>
          </a:p>
          <a:p>
            <a:pPr lvl="1"/>
            <a:r>
              <a:rPr lang="de-DE" dirty="0"/>
              <a:t>Probiere verschiedene </a:t>
            </a:r>
            <a:r>
              <a:rPr lang="de-DE" dirty="0" err="1"/>
              <a:t>Formattierungen</a:t>
            </a:r>
            <a:r>
              <a:rPr lang="de-DE" dirty="0"/>
              <a:t> aus (Pattern, Shortcuts)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5471744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5A851E-21D1-994A-B8F5-527F2DC9B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Pipes sind Klassen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38AA48-DA5D-524B-BFA8-9D577F962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Pipes sind Klassen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Implementieren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PipeTransform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Werden mit @Pipe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Decorator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markiert</a:t>
            </a:r>
          </a:p>
          <a:p>
            <a:pPr marL="457200" lvl="1" indent="0">
              <a:buNone/>
            </a:pP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hasLikes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number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boolean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423908218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7A0EEA-9625-B04D-B212-32FBD4AC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 an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F046-E0A1-AC4A-9C65-92919119D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0428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95328C-C77D-1B4C-9660-39C17A7C7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18: Eigene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BD6A80-4BD0-EC49-B5CC-4F4A16699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Schreibe eine eigene Pipe </a:t>
            </a:r>
            <a:r>
              <a:rPr lang="de-DE" dirty="0" err="1"/>
              <a:t>takePlaceSoon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pipe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take</a:t>
            </a:r>
            <a:r>
              <a:rPr lang="de-DE" dirty="0"/>
              <a:t>-place-</a:t>
            </a:r>
            <a:r>
              <a:rPr lang="de-DE" dirty="0" err="1"/>
              <a:t>soon</a:t>
            </a:r>
            <a:endParaRPr lang="de-DE" dirty="0"/>
          </a:p>
          <a:p>
            <a:pPr lvl="1"/>
            <a:r>
              <a:rPr lang="de-DE" dirty="0"/>
              <a:t>Implementiere </a:t>
            </a:r>
            <a:r>
              <a:rPr lang="de-DE" dirty="0" err="1"/>
              <a:t>PipeTransform</a:t>
            </a:r>
            <a:r>
              <a:rPr lang="de-DE" dirty="0"/>
              <a:t> mit der Methode </a:t>
            </a:r>
            <a:r>
              <a:rPr lang="de-DE" dirty="0" err="1"/>
              <a:t>transform</a:t>
            </a:r>
            <a:r>
              <a:rPr lang="de-DE" dirty="0"/>
              <a:t>(</a:t>
            </a:r>
            <a:r>
              <a:rPr lang="de-DE" dirty="0" err="1"/>
              <a:t>date</a:t>
            </a:r>
            <a:r>
              <a:rPr lang="de-DE" dirty="0"/>
              <a:t>: Date, </a:t>
            </a:r>
            <a:r>
              <a:rPr lang="de-DE" dirty="0" err="1"/>
              <a:t>soon</a:t>
            </a:r>
            <a:r>
              <a:rPr lang="de-DE" dirty="0"/>
              <a:t> = 7): </a:t>
            </a:r>
            <a:r>
              <a:rPr lang="de-DE" dirty="0" err="1"/>
              <a:t>boolean</a:t>
            </a:r>
            <a:endParaRPr lang="de-DE" dirty="0"/>
          </a:p>
          <a:p>
            <a:pPr lvl="1"/>
            <a:r>
              <a:rPr lang="de-DE" dirty="0"/>
              <a:t>Gib </a:t>
            </a:r>
            <a:r>
              <a:rPr lang="de-DE" dirty="0" err="1"/>
              <a:t>true</a:t>
            </a:r>
            <a:r>
              <a:rPr lang="de-DE" dirty="0"/>
              <a:t> zurück, falls das Training innerhalb der nächsten x Tage stattfindet (Parameter </a:t>
            </a:r>
            <a:r>
              <a:rPr lang="de-DE" dirty="0" err="1"/>
              <a:t>soon</a:t>
            </a:r>
            <a:r>
              <a:rPr lang="de-DE" dirty="0"/>
              <a:t>)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timeTo</a:t>
            </a:r>
            <a:r>
              <a:rPr lang="de-DE" dirty="0"/>
              <a:t> = </a:t>
            </a:r>
            <a:r>
              <a:rPr lang="de-DE" dirty="0" err="1"/>
              <a:t>date.getTime</a:t>
            </a:r>
            <a:r>
              <a:rPr lang="de-DE" dirty="0"/>
              <a:t>() - </a:t>
            </a:r>
            <a:r>
              <a:rPr lang="de-DE" dirty="0" err="1"/>
              <a:t>Date.now</a:t>
            </a:r>
            <a:r>
              <a:rPr lang="de-DE" dirty="0"/>
              <a:t>();</a:t>
            </a:r>
          </a:p>
          <a:p>
            <a:pPr lvl="1"/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soonInMilliSeconds</a:t>
            </a:r>
            <a:r>
              <a:rPr lang="de-DE" dirty="0"/>
              <a:t> = </a:t>
            </a:r>
            <a:r>
              <a:rPr lang="de-DE" dirty="0" err="1"/>
              <a:t>soon</a:t>
            </a:r>
            <a:r>
              <a:rPr lang="de-DE" dirty="0"/>
              <a:t> * 1000 * 60 * 60 * 24;</a:t>
            </a:r>
          </a:p>
          <a:p>
            <a:pPr lvl="1"/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takePlaceSoon</a:t>
            </a:r>
            <a:r>
              <a:rPr lang="de-DE" dirty="0"/>
              <a:t> = </a:t>
            </a:r>
            <a:r>
              <a:rPr lang="de-DE" dirty="0" err="1"/>
              <a:t>timeTo</a:t>
            </a:r>
            <a:r>
              <a:rPr lang="de-DE" dirty="0"/>
              <a:t> &gt; 0 &amp;&amp; </a:t>
            </a:r>
            <a:r>
              <a:rPr lang="de-DE" dirty="0" err="1"/>
              <a:t>timeTo</a:t>
            </a:r>
            <a:r>
              <a:rPr lang="de-DE" dirty="0"/>
              <a:t> &lt; </a:t>
            </a:r>
            <a:r>
              <a:rPr lang="de-DE" dirty="0" err="1"/>
              <a:t>soonInMilliSeconds</a:t>
            </a:r>
            <a:r>
              <a:rPr lang="de-DE" dirty="0"/>
              <a:t>;</a:t>
            </a:r>
          </a:p>
          <a:p>
            <a:r>
              <a:rPr lang="de-DE" dirty="0"/>
              <a:t>Wende die </a:t>
            </a:r>
            <a:r>
              <a:rPr lang="de-DE" dirty="0" err="1"/>
              <a:t>takePlaceSoon</a:t>
            </a:r>
            <a:r>
              <a:rPr lang="de-DE" dirty="0"/>
              <a:t> Pipe auf das </a:t>
            </a:r>
            <a:r>
              <a:rPr lang="de-DE" dirty="0" err="1"/>
              <a:t>nextRun</a:t>
            </a:r>
            <a:r>
              <a:rPr lang="de-DE" dirty="0"/>
              <a:t> Datum in </a:t>
            </a:r>
            <a:r>
              <a:rPr lang="de-DE" dirty="0" err="1"/>
              <a:t>TrainingDetailsComponent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Verpacke die Ausgabe des </a:t>
            </a:r>
            <a:r>
              <a:rPr lang="de-DE" dirty="0" err="1"/>
              <a:t>nextRun</a:t>
            </a:r>
            <a:r>
              <a:rPr lang="de-DE" dirty="0"/>
              <a:t> Datums in einen div-Container</a:t>
            </a:r>
          </a:p>
          <a:p>
            <a:pPr lvl="1"/>
            <a:r>
              <a:rPr lang="de-DE" dirty="0"/>
              <a:t>Setze am diesem div eine Klasse, wenn das Training bald statt findet ([</a:t>
            </a:r>
            <a:r>
              <a:rPr lang="de-DE" dirty="0" err="1"/>
              <a:t>class.take</a:t>
            </a:r>
            <a:r>
              <a:rPr lang="de-DE" dirty="0"/>
              <a:t>-place-</a:t>
            </a:r>
            <a:r>
              <a:rPr lang="de-DE" dirty="0" err="1"/>
              <a:t>soon</a:t>
            </a:r>
            <a:r>
              <a:rPr lang="de-DE" dirty="0"/>
              <a:t>]="...")</a:t>
            </a:r>
          </a:p>
          <a:p>
            <a:pPr lvl="1"/>
            <a:r>
              <a:rPr lang="de-DE" dirty="0"/>
              <a:t>Übergebe 5 als Parameter </a:t>
            </a:r>
            <a:r>
              <a:rPr lang="de-DE" dirty="0" err="1"/>
              <a:t>soon</a:t>
            </a:r>
            <a:r>
              <a:rPr lang="de-DE" dirty="0"/>
              <a:t> an </a:t>
            </a:r>
            <a:r>
              <a:rPr lang="de-DE" dirty="0" err="1"/>
              <a:t>takePlaceSoon</a:t>
            </a:r>
            <a:endParaRPr lang="de-DE" dirty="0"/>
          </a:p>
          <a:p>
            <a:pPr lvl="1"/>
            <a:r>
              <a:rPr lang="de-DE" dirty="0"/>
              <a:t>Stelle über CSS mithilfe der gesetzten Klasse Trainings, die bald statt finden, anders dar (z.B. rote Schrift)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05535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Nahaufnahme einer Platine">
            <a:extLst>
              <a:ext uri="{FF2B5EF4-FFF2-40B4-BE49-F238E27FC236}">
                <a16:creationId xmlns:a16="http://schemas.microsoft.com/office/drawing/2014/main" id="{B5096053-2321-49A0-A82A-3CFA29F28D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82" b="-1"/>
          <a:stretch/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DE38E7D-D199-4D4C-93EB-9AA5CA097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228" y="743447"/>
            <a:ext cx="3973385" cy="3692028"/>
          </a:xfrm>
          <a:noFill/>
        </p:spPr>
        <p:txBody>
          <a:bodyPr>
            <a:normAutofit/>
          </a:bodyPr>
          <a:lstStyle/>
          <a:p>
            <a:pPr algn="l"/>
            <a:r>
              <a:rPr lang="de-DE" sz="4000"/>
              <a:t>Asynchrone &amp; Reaktive Programmierung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8E89B73-5B21-4E45-8BCD-D0C03E1F5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229" y="46292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33182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DECB2-8889-BA4D-9A43-5DE3D87F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Eigenschaft hat die Variable 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4DEA64-A0EA-A449-86C7-0937AEB74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forEach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alert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449468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3151CA-0836-7340-91E1-D930B6C9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Und hier?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1322C0-4830-574F-AE1A-364693BEA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asyncFunction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callback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54342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CED4A-28F8-F24D-95D0-DA6F1EC3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Threading im Browser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FDD1D8-FBFA-F24E-AD56-377BAB653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Javascript</a:t>
            </a:r>
            <a:r>
              <a:rPr lang="de-DE" dirty="0"/>
              <a:t> per Definition Single-</a:t>
            </a:r>
            <a:r>
              <a:rPr lang="de-DE" dirty="0" err="1"/>
              <a:t>Threaded</a:t>
            </a:r>
            <a:endParaRPr lang="de-DE" dirty="0"/>
          </a:p>
          <a:p>
            <a:r>
              <a:rPr lang="de-DE" dirty="0"/>
              <a:t>Event-Loop Thread mit Queue, die vom Interpreter abgearbeitet wird</a:t>
            </a:r>
          </a:p>
          <a:p>
            <a:r>
              <a:rPr lang="de-DE" dirty="0"/>
              <a:t>Beispiel: Ajax Aufruf</a:t>
            </a:r>
          </a:p>
          <a:p>
            <a:pPr lvl="1"/>
            <a:r>
              <a:rPr lang="de-DE" dirty="0"/>
              <a:t>JavaScript startet HTTP Request</a:t>
            </a:r>
          </a:p>
          <a:p>
            <a:pPr lvl="1"/>
            <a:r>
              <a:rPr lang="de-DE" dirty="0"/>
              <a:t>Interpreter wartet nicht bis Server geantwortet hat, UI würde einfrieren</a:t>
            </a:r>
          </a:p>
          <a:p>
            <a:pPr lvl="1"/>
            <a:r>
              <a:rPr lang="de-DE" dirty="0"/>
              <a:t>Interpreter arbeitet andere Sachen ab (Event-Loop)</a:t>
            </a:r>
          </a:p>
          <a:p>
            <a:pPr lvl="1"/>
            <a:r>
              <a:rPr lang="de-DE" dirty="0"/>
              <a:t>Nach Response, wird weiterer Code in Event-Loop-Queue eingestellt</a:t>
            </a:r>
          </a:p>
          <a:p>
            <a:pPr lvl="1"/>
            <a:r>
              <a:rPr lang="de-DE" dirty="0"/>
              <a:t>Code läuft erst wenn in Event-Loop an der Reihe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3038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AA406-C1AB-F74B-A11E-FE36273F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Callback API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B37A46-7680-A14E-8B7E-FC4758111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Asynchroner Funktion wird Callback als zusätzlicher Parameter mitgegeben</a:t>
            </a:r>
          </a:p>
          <a:p>
            <a:r>
              <a:rPr lang="de-DE" dirty="0"/>
              <a:t>Callback wird aufgerufen sobald Ergebnis bereit steht</a:t>
            </a:r>
          </a:p>
          <a:p>
            <a:r>
              <a:rPr lang="de-DE" dirty="0"/>
              <a:t>Probleme</a:t>
            </a:r>
          </a:p>
          <a:p>
            <a:pPr lvl="1"/>
            <a:r>
              <a:rPr lang="de-DE" dirty="0"/>
              <a:t>Keine standardisierte API (Wie werden Fehler behandelt?)</a:t>
            </a:r>
          </a:p>
          <a:p>
            <a:pPr lvl="1"/>
            <a:r>
              <a:rPr lang="de-DE" dirty="0"/>
              <a:t>Mehrmalige oder spätere Nutzung kompliziert ("Callback-Hell")</a:t>
            </a:r>
          </a:p>
          <a:p>
            <a:pPr lvl="1"/>
            <a:r>
              <a:rPr lang="de-DE" dirty="0"/>
              <a:t>Abhängigkeit von mehreren asynchronen Ergebnissen sehr schwierig zu handhaben</a:t>
            </a:r>
          </a:p>
        </p:txBody>
      </p:sp>
    </p:spTree>
    <p:extLst>
      <p:ext uri="{BB962C8B-B14F-4D97-AF65-F5344CB8AC3E}">
        <p14:creationId xmlns:p14="http://schemas.microsoft.com/office/powerpoint/2010/main" val="2187768034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BA6B-CEB4-404D-95B0-5972C879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 sind </a:t>
            </a:r>
            <a:r>
              <a:rPr lang="de-DE" dirty="0" err="1"/>
              <a:t>Promises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A942F3-25F6-AB4D-B12A-1ABC635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Stellvertreter für Ergebnis, das zunächst unbekannt ist (z.B. http-Aufruf)</a:t>
            </a:r>
          </a:p>
          <a:p>
            <a:r>
              <a:rPr lang="de-DE" dirty="0"/>
              <a:t>Asynchronen Funktionen geben </a:t>
            </a:r>
            <a:r>
              <a:rPr lang="de-DE" dirty="0" err="1"/>
              <a:t>Promise</a:t>
            </a:r>
            <a:r>
              <a:rPr lang="de-DE" dirty="0"/>
              <a:t> zurück, kein Callback als Parameter</a:t>
            </a:r>
          </a:p>
          <a:p>
            <a:pPr lvl="1"/>
            <a:r>
              <a:rPr lang="de-DE" dirty="0"/>
              <a:t>Können erfüllt oder abgelehnt werden</a:t>
            </a:r>
          </a:p>
          <a:p>
            <a:pPr lvl="1"/>
            <a:r>
              <a:rPr lang="de-DE" dirty="0"/>
              <a:t>Bieten API für </a:t>
            </a:r>
            <a:r>
              <a:rPr lang="de-DE" dirty="0" err="1"/>
              <a:t>success</a:t>
            </a:r>
            <a:r>
              <a:rPr lang="de-DE" dirty="0"/>
              <a:t>- und </a:t>
            </a:r>
            <a:r>
              <a:rPr lang="de-DE" dirty="0" err="1"/>
              <a:t>error</a:t>
            </a:r>
            <a:r>
              <a:rPr lang="de-DE" dirty="0"/>
              <a:t>-Funktionen</a:t>
            </a:r>
          </a:p>
          <a:p>
            <a:r>
              <a:rPr lang="de-DE" dirty="0" err="1"/>
              <a:t>Promise</a:t>
            </a:r>
            <a:r>
              <a:rPr lang="de-DE" dirty="0"/>
              <a:t> kann genau ein Mal aufgelöst werden</a:t>
            </a:r>
          </a:p>
          <a:p>
            <a:pPr lvl="1"/>
            <a:r>
              <a:rPr lang="de-DE" dirty="0">
                <a:sym typeface="Wingdings" pitchFamily="2" charset="2"/>
              </a:rPr>
              <a:t> </a:t>
            </a:r>
            <a:r>
              <a:rPr lang="de-DE" i="1" dirty="0"/>
              <a:t>Nicht geeignet für mehrere asynchrone Werte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99783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C8FB1-810B-A448-8D38-320A4350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Promise</a:t>
            </a:r>
            <a:r>
              <a:rPr lang="de-DE" dirty="0"/>
              <a:t>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3534BD-2FF8-2A4F-B886-CF5F0D677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call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a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promise</a:t>
            </a: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doSomethingAsynchronous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success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(optional)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58115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D7D329-120F-BD43-8D21-A0F44E24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als </a:t>
            </a:r>
            <a:r>
              <a:rPr lang="de-DE" dirty="0" err="1"/>
              <a:t>Promise</a:t>
            </a:r>
            <a:r>
              <a:rPr lang="de-DE" dirty="0"/>
              <a:t>++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67090-44EA-AC4C-B27F-E02D95BF9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20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Observables sind Streams von Events und Daten</a:t>
            </a:r>
          </a:p>
          <a:p>
            <a:pPr lvl="1"/>
            <a:r>
              <a:rPr lang="de-DE" dirty="0"/>
              <a:t>Aber auch Fehlern</a:t>
            </a:r>
          </a:p>
          <a:p>
            <a:pPr lvl="1"/>
            <a:endParaRPr lang="de-DE" dirty="0"/>
          </a:p>
          <a:p>
            <a:r>
              <a:rPr lang="de-DE" dirty="0"/>
              <a:t>--a---b-c---d---X|</a:t>
            </a:r>
          </a:p>
          <a:p>
            <a:pPr lvl="1"/>
            <a:r>
              <a:rPr lang="de-DE" dirty="0"/>
              <a:t>-- </a:t>
            </a:r>
            <a:r>
              <a:rPr lang="de-DE" dirty="0" err="1"/>
              <a:t>Zeitline</a:t>
            </a:r>
            <a:endParaRPr lang="de-DE" dirty="0"/>
          </a:p>
          <a:p>
            <a:pPr lvl="1"/>
            <a:r>
              <a:rPr lang="de-DE" dirty="0"/>
              <a:t>| Endsignal</a:t>
            </a:r>
          </a:p>
          <a:p>
            <a:pPr lvl="1"/>
            <a:r>
              <a:rPr lang="de-DE" dirty="0" err="1"/>
              <a:t>a,b</a:t>
            </a:r>
            <a:r>
              <a:rPr lang="de-DE" dirty="0"/>
              <a:t> .. Ereignisse</a:t>
            </a:r>
          </a:p>
          <a:p>
            <a:endParaRPr lang="de-DE" dirty="0"/>
          </a:p>
          <a:p>
            <a:r>
              <a:rPr lang="de-DE" dirty="0"/>
              <a:t>Schönere und interaktive Visualisierung</a:t>
            </a:r>
          </a:p>
          <a:p>
            <a:r>
              <a:rPr lang="de-DE" dirty="0">
                <a:hlinkClick r:id="rId3"/>
              </a:rPr>
              <a:t>https://rxmarbles.com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7096127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51629F-4C65-3341-B41F-FAA60D36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Methoden für Zwischenverarbeitung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AB5DA9-C057-C44D-85BB-DE01CE16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Häufig genutzte Methoden: </a:t>
            </a:r>
          </a:p>
          <a:p>
            <a:pPr lvl="1"/>
            <a:r>
              <a:rPr lang="de-DE" dirty="0" err="1"/>
              <a:t>map</a:t>
            </a:r>
            <a:r>
              <a:rPr lang="de-DE" dirty="0"/>
              <a:t> für Transformation</a:t>
            </a:r>
          </a:p>
          <a:p>
            <a:pPr lvl="1"/>
            <a:r>
              <a:rPr lang="de-DE" dirty="0" err="1"/>
              <a:t>debounce</a:t>
            </a:r>
            <a:r>
              <a:rPr lang="de-DE" dirty="0"/>
              <a:t> für Verzögerung</a:t>
            </a:r>
          </a:p>
          <a:p>
            <a:pPr lvl="1"/>
            <a:r>
              <a:rPr lang="de-DE" dirty="0" err="1"/>
              <a:t>filter</a:t>
            </a:r>
            <a:r>
              <a:rPr lang="de-DE" dirty="0"/>
              <a:t> zum Aussortieren</a:t>
            </a:r>
          </a:p>
          <a:p>
            <a:r>
              <a:rPr lang="de-DE" dirty="0"/>
              <a:t>Jede Transformation gibt wieder Observable zurück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</a:t>
            </a:r>
          </a:p>
        </p:txBody>
      </p:sp>
    </p:spTree>
    <p:extLst>
      <p:ext uri="{BB962C8B-B14F-4D97-AF65-F5344CB8AC3E}">
        <p14:creationId xmlns:p14="http://schemas.microsoft.com/office/powerpoint/2010/main" val="262237772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C629D-659F-C34D-91EC-1C683069C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Observables sind </a:t>
            </a:r>
            <a:r>
              <a:rPr lang="de-DE" dirty="0" err="1"/>
              <a:t>lazy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58EE3-2E5C-5F4E-A04D-2D72A9F31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Observables brauchen Abnehmer</a:t>
            </a:r>
          </a:p>
          <a:p>
            <a:pPr lvl="1"/>
            <a:r>
              <a:rPr lang="de-DE" dirty="0" err="1"/>
              <a:t>forEach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): </a:t>
            </a:r>
            <a:r>
              <a:rPr lang="de-DE" dirty="0" err="1"/>
              <a:t>Promise</a:t>
            </a:r>
            <a:endParaRPr lang="de-DE" dirty="0"/>
          </a:p>
          <a:p>
            <a:pPr lvl="1"/>
            <a:r>
              <a:rPr lang="de-DE" dirty="0" err="1"/>
              <a:t>subscribe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, </a:t>
            </a:r>
            <a:r>
              <a:rPr lang="de-DE" dirty="0" err="1"/>
              <a:t>errorHandler</a:t>
            </a:r>
            <a:r>
              <a:rPr lang="de-DE" dirty="0"/>
              <a:t>?): </a:t>
            </a:r>
            <a:r>
              <a:rPr lang="de-DE" dirty="0" err="1"/>
              <a:t>Subscription</a:t>
            </a:r>
            <a:endParaRPr lang="de-DE" dirty="0"/>
          </a:p>
          <a:p>
            <a:pPr lvl="1"/>
            <a:r>
              <a:rPr lang="de-DE" dirty="0"/>
              <a:t>Handler: Funktionen mit Seiteneffekten</a:t>
            </a:r>
          </a:p>
          <a:p>
            <a:r>
              <a:rPr lang="de-DE" dirty="0"/>
              <a:t>Intermediate Transformationen werden nur ausgeführt wenn Abnehmer da ist</a:t>
            </a:r>
          </a:p>
          <a:p>
            <a:pPr lvl="1"/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 </a:t>
            </a:r>
          </a:p>
          <a:p>
            <a:pPr marL="0" indent="0">
              <a:buNone/>
            </a:pPr>
            <a:r>
              <a:rPr lang="de-DE" dirty="0" err="1"/>
              <a:t>subscribe</a:t>
            </a:r>
            <a:r>
              <a:rPr lang="de-DE" dirty="0"/>
              <a:t> </a:t>
            </a:r>
            <a:r>
              <a:rPr lang="de-DE" dirty="0" err="1"/>
              <a:t>console.log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025211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4084478" y="21853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hteck 2"/>
          <p:cNvSpPr/>
          <p:nvPr/>
        </p:nvSpPr>
        <p:spPr>
          <a:xfrm>
            <a:off x="793454" y="353545"/>
            <a:ext cx="73370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Intermediate </a:t>
            </a:r>
            <a:r>
              <a:rPr lang="de-DE" sz="5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vs</a:t>
            </a:r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 Terminal</a:t>
            </a:r>
          </a:p>
        </p:txBody>
      </p:sp>
    </p:spTree>
    <p:extLst>
      <p:ext uri="{BB962C8B-B14F-4D97-AF65-F5344CB8AC3E}">
        <p14:creationId xmlns:p14="http://schemas.microsoft.com/office/powerpoint/2010/main" val="160665234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D37AD4-5615-0946-9595-8FF689E1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Unsubscribe</a:t>
            </a:r>
            <a:r>
              <a:rPr lang="de-DE" dirty="0"/>
              <a:t> Nicht vergessen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150297-14FC-FC40-9326-0F45E57DC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subscribe</a:t>
            </a:r>
            <a:r>
              <a:rPr lang="de-DE" dirty="0"/>
              <a:t>() gibt </a:t>
            </a:r>
            <a:r>
              <a:rPr lang="de-DE" dirty="0" err="1"/>
              <a:t>Subscription</a:t>
            </a:r>
            <a:r>
              <a:rPr lang="de-DE" dirty="0"/>
              <a:t> zurück</a:t>
            </a:r>
          </a:p>
          <a:p>
            <a:r>
              <a:rPr lang="de-DE" dirty="0" err="1"/>
              <a:t>Subscription</a:t>
            </a:r>
            <a:r>
              <a:rPr lang="de-DE" dirty="0"/>
              <a:t> hat </a:t>
            </a:r>
            <a:r>
              <a:rPr lang="de-DE" dirty="0" err="1"/>
              <a:t>unsubscribe</a:t>
            </a:r>
            <a:r>
              <a:rPr lang="de-DE" dirty="0"/>
              <a:t>() Methode</a:t>
            </a:r>
          </a:p>
          <a:p>
            <a:r>
              <a:rPr lang="de-DE" dirty="0"/>
              <a:t>Wenn </a:t>
            </a:r>
            <a:r>
              <a:rPr lang="de-DE" dirty="0" err="1"/>
              <a:t>completed</a:t>
            </a:r>
            <a:r>
              <a:rPr lang="de-DE" dirty="0"/>
              <a:t>, werden alle intern alle Handler gelöscht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i="1" dirty="0"/>
          </a:p>
          <a:p>
            <a:pPr marL="0" indent="0">
              <a:buNone/>
            </a:pPr>
            <a:r>
              <a:rPr lang="de-DE" i="1" dirty="0"/>
              <a:t>Nutze </a:t>
            </a:r>
            <a:r>
              <a:rPr lang="de-DE" i="1" dirty="0" err="1"/>
              <a:t>ngOnDestroy</a:t>
            </a:r>
            <a:r>
              <a:rPr lang="de-DE" i="1" dirty="0"/>
              <a:t> für </a:t>
            </a:r>
            <a:r>
              <a:rPr lang="de-DE" i="1" dirty="0" err="1"/>
              <a:t>unsubscribe</a:t>
            </a:r>
            <a:endParaRPr lang="de-DE" i="1" dirty="0"/>
          </a:p>
        </p:txBody>
      </p:sp>
    </p:spTree>
    <p:extLst>
      <p:ext uri="{BB962C8B-B14F-4D97-AF65-F5344CB8AC3E}">
        <p14:creationId xmlns:p14="http://schemas.microsoft.com/office/powerpoint/2010/main" val="3948114864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EFABC1-2DE4-8949-A29C-96353655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Automatisches </a:t>
            </a:r>
            <a:r>
              <a:rPr lang="de-DE" dirty="0" err="1"/>
              <a:t>Unsubscribe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3ABB4F-1BC3-8A4E-8FBB-16D13A687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anObservable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releaseCard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releaseObservable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releaseCard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011678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AF442-7FB8-064F-A999-432DEA19E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</a:t>
            </a:r>
            <a:r>
              <a:rPr lang="de-DE" dirty="0" err="1"/>
              <a:t>Extensions</a:t>
            </a:r>
            <a:r>
              <a:rPr lang="de-DE" dirty="0"/>
              <a:t> – </a:t>
            </a:r>
            <a:r>
              <a:rPr lang="de-DE" dirty="0" err="1"/>
              <a:t>RxJS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071D5D-1948-4048-BF38-AE6639827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Entwickelt von MS für verschiedene Sprachen</a:t>
            </a:r>
          </a:p>
          <a:p>
            <a:r>
              <a:rPr lang="de-DE" dirty="0"/>
              <a:t>Implementierung von Observables</a:t>
            </a:r>
          </a:p>
          <a:p>
            <a:pPr lvl="1"/>
            <a:r>
              <a:rPr lang="de-DE" dirty="0"/>
              <a:t>Wird in Angular verwendet</a:t>
            </a:r>
          </a:p>
          <a:p>
            <a:pPr lvl="1"/>
            <a:r>
              <a:rPr lang="de-DE" u="sng" dirty="0">
                <a:hlinkClick r:id="rId2"/>
              </a:rPr>
              <a:t>http://reactivex.io/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8996218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072BCC-B092-3640-BDA6-1F841ED34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17: </a:t>
            </a:r>
            <a:r>
              <a:rPr lang="de-DE" dirty="0" err="1"/>
              <a:t>Async</a:t>
            </a:r>
            <a:r>
              <a:rPr lang="de-DE" dirty="0"/>
              <a:t> </a:t>
            </a:r>
            <a:r>
              <a:rPr lang="de-DE" dirty="0" err="1"/>
              <a:t>TrainingService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A38A91-EB0D-7F44-AE73-C3E33ACB8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Verpasse </a:t>
            </a:r>
            <a:r>
              <a:rPr lang="de-DE" dirty="0" err="1"/>
              <a:t>TrainingService</a:t>
            </a:r>
            <a:r>
              <a:rPr lang="de-DE" dirty="0"/>
              <a:t> eine Observable basierte API</a:t>
            </a:r>
          </a:p>
          <a:p>
            <a:pPr lvl="1"/>
            <a:r>
              <a:rPr lang="de-DE" dirty="0"/>
              <a:t>Lege im Service ein </a:t>
            </a:r>
            <a:r>
              <a:rPr lang="de-DE" dirty="0" err="1"/>
              <a:t>ReplaySubject</a:t>
            </a:r>
            <a:r>
              <a:rPr lang="de-DE" dirty="0"/>
              <a:t> als Feld an</a:t>
            </a:r>
          </a:p>
          <a:p>
            <a:pPr lvl="1"/>
            <a:r>
              <a:rPr lang="de-DE" dirty="0"/>
              <a:t>Rufe im </a:t>
            </a:r>
            <a:r>
              <a:rPr lang="de-DE" dirty="0" err="1"/>
              <a:t>Konstuktor</a:t>
            </a:r>
            <a:r>
              <a:rPr lang="de-DE" dirty="0"/>
              <a:t> am </a:t>
            </a:r>
            <a:r>
              <a:rPr lang="de-DE" dirty="0" err="1"/>
              <a:t>Subject</a:t>
            </a:r>
            <a:r>
              <a:rPr lang="de-DE" dirty="0"/>
              <a:t> </a:t>
            </a:r>
            <a:r>
              <a:rPr lang="de-DE" dirty="0" err="1"/>
              <a:t>next</a:t>
            </a:r>
            <a:r>
              <a:rPr lang="de-DE" dirty="0"/>
              <a:t> mit den Mock-Daten auf</a:t>
            </a:r>
          </a:p>
          <a:p>
            <a:pPr lvl="1"/>
            <a:r>
              <a:rPr lang="de-DE" dirty="0"/>
              <a:t>Lasse </a:t>
            </a:r>
            <a:r>
              <a:rPr lang="de-DE" dirty="0" err="1"/>
              <a:t>getAll</a:t>
            </a:r>
            <a:r>
              <a:rPr lang="de-DE" dirty="0"/>
              <a:t> das Observable&lt;Training[]&gt; des </a:t>
            </a:r>
            <a:r>
              <a:rPr lang="de-DE" dirty="0" err="1"/>
              <a:t>Subject</a:t>
            </a:r>
            <a:r>
              <a:rPr lang="de-DE" dirty="0"/>
              <a:t> zurückgeben</a:t>
            </a:r>
          </a:p>
          <a:p>
            <a:r>
              <a:rPr lang="de-DE" dirty="0"/>
              <a:t>Passe alle Aufrufe an (</a:t>
            </a:r>
            <a:r>
              <a:rPr lang="de-DE" dirty="0" err="1"/>
              <a:t>subscribe</a:t>
            </a:r>
            <a:r>
              <a:rPr lang="de-DE" dirty="0"/>
              <a:t> oder </a:t>
            </a:r>
            <a:r>
              <a:rPr lang="de-DE" dirty="0" err="1"/>
              <a:t>async</a:t>
            </a:r>
            <a:r>
              <a:rPr lang="de-DE" dirty="0"/>
              <a:t>-Pipe)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4988807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Routing und Navigation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5.3</a:t>
            </a:r>
          </a:p>
        </p:txBody>
      </p:sp>
    </p:spTree>
    <p:extLst>
      <p:ext uri="{BB962C8B-B14F-4D97-AF65-F5344CB8AC3E}">
        <p14:creationId xmlns:p14="http://schemas.microsoft.com/office/powerpoint/2010/main" val="373869127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Arbeitsweise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Routen definieren Pfade der Anwendung</a:t>
            </a:r>
          </a:p>
          <a:p>
            <a:r>
              <a:rPr lang="de-DE" dirty="0"/>
              <a:t>Jede Route verbindet einen Pfad mit einer </a:t>
            </a:r>
            <a:r>
              <a:rPr lang="de-DE" dirty="0" err="1"/>
              <a:t>Component</a:t>
            </a:r>
            <a:endParaRPr lang="de-DE" dirty="0"/>
          </a:p>
          <a:p>
            <a:pPr lvl="1"/>
            <a:r>
              <a:rPr lang="de-DE" dirty="0"/>
              <a:t>Auch Redirects können definiert werden</a:t>
            </a:r>
          </a:p>
          <a:p>
            <a:pPr lvl="1"/>
            <a:r>
              <a:rPr lang="de-DE" dirty="0"/>
              <a:t>Die Pfade unterstützen Platzhalter</a:t>
            </a:r>
          </a:p>
          <a:p>
            <a:r>
              <a:rPr lang="de-DE" dirty="0"/>
              <a:t>Die Routen werden vom Angular-Module erzeugt und stehen für die gesamte Applikation zur Verfügung</a:t>
            </a:r>
          </a:p>
          <a:p>
            <a:pPr lvl="1"/>
            <a:r>
              <a:rPr lang="de-DE" dirty="0"/>
              <a:t>dazu werden Klassen importiert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</a:t>
            </a:r>
            <a:endParaRPr lang="de-DE" dirty="0"/>
          </a:p>
          <a:p>
            <a:r>
              <a:rPr lang="de-DE" dirty="0"/>
              <a:t>Routen-Pfade müssen nicht disjunkt sein</a:t>
            </a:r>
          </a:p>
          <a:p>
            <a:pPr lvl="1"/>
            <a:r>
              <a:rPr lang="de-DE" dirty="0"/>
              <a:t>Der erste Treffer eines Pfads wird benutzt</a:t>
            </a:r>
          </a:p>
          <a:p>
            <a:pPr lvl="1"/>
            <a:r>
              <a:rPr lang="de-DE" dirty="0"/>
              <a:t>Damit sind in der Routen-Definition speziellere Pfade vor allgemeinen zu platzieren</a:t>
            </a:r>
          </a:p>
        </p:txBody>
      </p:sp>
    </p:spTree>
    <p:extLst>
      <p:ext uri="{BB962C8B-B14F-4D97-AF65-F5344CB8AC3E}">
        <p14:creationId xmlns:p14="http://schemas.microsoft.com/office/powerpoint/2010/main" val="166119507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BDEC1B-F76F-8445-B5B4-8B4267A0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von Routen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38E77F9-DA38-8046-A70A-A3508D1F6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Deep</a:t>
            </a:r>
            <a:r>
              <a:rPr lang="de-DE" dirty="0"/>
              <a:t> Linking über URL</a:t>
            </a:r>
          </a:p>
          <a:p>
            <a:r>
              <a:rPr lang="de-DE" dirty="0"/>
              <a:t>Browser Historie (Vor / Zurück)</a:t>
            </a:r>
          </a:p>
          <a:p>
            <a:r>
              <a:rPr lang="de-DE" dirty="0"/>
              <a:t>Links über symbolische Namen, nicht über hart codierte URLs</a:t>
            </a:r>
          </a:p>
          <a:p>
            <a:r>
              <a:rPr lang="de-DE" dirty="0"/>
              <a:t>Pfad- oder Hash-Navigation</a:t>
            </a:r>
          </a:p>
          <a:p>
            <a:r>
              <a:rPr lang="de-DE" dirty="0"/>
              <a:t>Hierarchischer Aufbau, nicht zwingend absolute Routen</a:t>
            </a:r>
          </a:p>
        </p:txBody>
      </p:sp>
    </p:spTree>
    <p:extLst>
      <p:ext uri="{BB962C8B-B14F-4D97-AF65-F5344CB8AC3E}">
        <p14:creationId xmlns:p14="http://schemas.microsoft.com/office/powerpoint/2010/main" val="39360252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98944-9A2A-7646-B714-99BABD71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0A81AB-DC21-2245-9F54-D35F05A18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Route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Relativer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path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(ohne führenden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Slash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für die Anzeige</a:t>
            </a:r>
          </a:p>
          <a:p>
            <a:pPr marL="457200" lvl="1" indent="0">
              <a:buNone/>
            </a:pP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AllReleasesComponent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AllArtistsComponent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663476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A0F3ABA-904E-D548-A3E2-D9E375084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Ablauf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Inhaltsplatzhalter 2">
            <a:extLst>
              <a:ext uri="{FF2B5EF4-FFF2-40B4-BE49-F238E27FC236}">
                <a16:creationId xmlns:a16="http://schemas.microsoft.com/office/drawing/2014/main" id="{671E068B-E3F2-EF48-958A-C7D46C5D9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DE"/>
              <a:t>URL des Browsers wird überprüft / auf Änderungen überwacht</a:t>
            </a:r>
          </a:p>
          <a:p>
            <a:r>
              <a:rPr lang="de-DE"/>
              <a:t>Passende Route wird gesucht</a:t>
            </a:r>
          </a:p>
          <a:p>
            <a:r>
              <a:rPr lang="de-DE"/>
              <a:t>Komponente wird angezeigt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033917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Verlinken von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Dazu gibt es 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routerLink</a:t>
            </a:r>
            <a:r>
              <a:rPr lang="de-DE" dirty="0"/>
              <a:t>-Direktive</a:t>
            </a:r>
          </a:p>
          <a:p>
            <a:r>
              <a:rPr lang="de-DE" dirty="0"/>
              <a:t>Die anzuzeigende Seite wird in einem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-outlet</a:t>
            </a:r>
            <a:r>
              <a:rPr lang="de-DE" dirty="0"/>
              <a:t>-Element angezeigt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&lt;h1&gt;Music App&lt;/h1&gt;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480521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42EBE-0C2D-0A4C-A0DD-3F012EA4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Default / </a:t>
            </a:r>
            <a:r>
              <a:rPr lang="de-DE" dirty="0" err="1"/>
              <a:t>Fallback</a:t>
            </a:r>
            <a:r>
              <a:rPr lang="de-DE" dirty="0"/>
              <a:t> Route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A2E4-0C7C-A447-9E7C-3915768C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gültige Route gefunden?</a:t>
            </a:r>
          </a:p>
          <a:p>
            <a:pPr lvl="1"/>
            <a:r>
              <a:rPr lang="de-DE" dirty="0"/>
              <a:t>Einstieg über URL ohne Route</a:t>
            </a:r>
          </a:p>
          <a:p>
            <a:pPr lvl="1"/>
            <a:r>
              <a:rPr lang="de-DE" dirty="0"/>
              <a:t>ungültige Route</a:t>
            </a:r>
          </a:p>
          <a:p>
            <a:r>
              <a:rPr lang="de-DE" dirty="0" err="1"/>
              <a:t>Fallback</a:t>
            </a:r>
            <a:r>
              <a:rPr lang="de-DE" dirty="0"/>
              <a:t> konfigurierbar</a:t>
            </a:r>
          </a:p>
          <a:p>
            <a:pPr lvl="1"/>
            <a:r>
              <a:rPr lang="de-DE" dirty="0" err="1"/>
              <a:t>path</a:t>
            </a:r>
            <a:r>
              <a:rPr lang="de-DE" dirty="0"/>
              <a:t> mit **</a:t>
            </a:r>
          </a:p>
          <a:p>
            <a:pPr lvl="1"/>
            <a:r>
              <a:rPr lang="de-DE" dirty="0" err="1"/>
              <a:t>redirectTo</a:t>
            </a:r>
            <a:r>
              <a:rPr lang="de-DE" dirty="0"/>
              <a:t>: auf anderen Pfad</a:t>
            </a:r>
          </a:p>
          <a:p>
            <a:pPr lvl="1"/>
            <a:r>
              <a:rPr lang="de-DE" dirty="0"/>
              <a:t>Achtung: Reihenfolge der Routen spielt eine Rolle,</a:t>
            </a:r>
          </a:p>
          <a:p>
            <a:pPr lvl="2"/>
            <a:r>
              <a:rPr lang="de-DE" b="1" dirty="0"/>
              <a:t> </a:t>
            </a:r>
            <a:r>
              <a:rPr lang="de-DE" b="1" dirty="0" err="1"/>
              <a:t>Fallback</a:t>
            </a:r>
            <a:r>
              <a:rPr lang="de-DE" b="1" dirty="0"/>
              <a:t> als Letzte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651465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52DA38-B7F8-7240-A7EB-4D144AF2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043AD-1F1F-0944-8D77-078A34D83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Wird verwendet um Provider für Router Service zu erzeugen</a:t>
            </a:r>
          </a:p>
          <a:p>
            <a:r>
              <a:rPr lang="de-DE" dirty="0"/>
              <a:t>Provider wird von </a:t>
            </a:r>
            <a:r>
              <a:rPr lang="de-DE" dirty="0" err="1"/>
              <a:t>RouterModule</a:t>
            </a:r>
            <a:r>
              <a:rPr lang="de-DE" dirty="0"/>
              <a:t> bereitgestellt</a:t>
            </a:r>
          </a:p>
          <a:p>
            <a:pPr lvl="1"/>
            <a:r>
              <a:rPr lang="de-DE" dirty="0" err="1"/>
              <a:t>RouterModule</a:t>
            </a:r>
            <a:r>
              <a:rPr lang="de-DE" dirty="0"/>
              <a:t> muss in </a:t>
            </a:r>
            <a:r>
              <a:rPr lang="de-DE" dirty="0" err="1"/>
              <a:t>AppModule</a:t>
            </a:r>
            <a:r>
              <a:rPr lang="de-DE" dirty="0"/>
              <a:t> importiert werden</a:t>
            </a:r>
          </a:p>
          <a:p>
            <a:pPr lvl="1"/>
            <a:r>
              <a:rPr lang="de-DE" dirty="0" err="1"/>
              <a:t>forRoot</a:t>
            </a:r>
            <a:r>
              <a:rPr lang="de-DE" dirty="0"/>
              <a:t> darf nur einmal im </a:t>
            </a:r>
            <a:r>
              <a:rPr lang="de-DE" dirty="0" err="1"/>
              <a:t>AppModule</a:t>
            </a:r>
            <a:r>
              <a:rPr lang="de-DE" dirty="0"/>
              <a:t> verwendet werden</a:t>
            </a:r>
          </a:p>
          <a:p>
            <a:pPr lvl="1"/>
            <a:r>
              <a:rPr lang="de-DE" dirty="0" err="1"/>
              <a:t>forChild</a:t>
            </a:r>
            <a:r>
              <a:rPr lang="de-DE" dirty="0"/>
              <a:t> nur bei </a:t>
            </a:r>
            <a:r>
              <a:rPr lang="de-DE" dirty="0" err="1"/>
              <a:t>Lazy-Loading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572420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Routen-Definition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'path1',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Component1},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 ',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redirectTo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index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pathMatch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full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'**',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PageNotFoundComponent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imports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RouterModule.forRoot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enableTracing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true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// &lt;--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debugging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purposes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only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)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...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}</a:t>
            </a:r>
          </a:p>
        </p:txBody>
      </p:sp>
    </p:spTree>
    <p:extLst>
      <p:ext uri="{BB962C8B-B14F-4D97-AF65-F5344CB8AC3E}">
        <p14:creationId xmlns:p14="http://schemas.microsoft.com/office/powerpoint/2010/main" val="88412199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133B5-C663-FF49-80D4-ADB57A38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Location-</a:t>
            </a:r>
            <a:r>
              <a:rPr lang="de-DE" dirty="0" err="1"/>
              <a:t>Strategy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0C6D0-8561-EC43-81DE-401ED6D55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festlegen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PathLocationStrategy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(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)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Bessere SEO Indizierung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HashLocationStrategy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AngularJS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1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Simpler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Verwendung von 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PathLocationStrategy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&lt;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href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="."&gt; als erstes Element 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head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index.html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app.routes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forRoot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useHash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true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533731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FA2FF-062B-2049-A127-36FF780A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18: Routen für Detail und Listansicht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1DBC10-913D-BC46-874B-88ACED9FE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Bereite die Anwendung auf Routing vor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app.routes.ts</a:t>
            </a:r>
            <a:endParaRPr lang="de-DE" dirty="0"/>
          </a:p>
          <a:p>
            <a:pPr lvl="1"/>
            <a:r>
              <a:rPr lang="de-DE" dirty="0"/>
              <a:t>Exportiere darin eine leere </a:t>
            </a:r>
            <a:r>
              <a:rPr lang="de-DE" dirty="0" err="1"/>
              <a:t>Routes</a:t>
            </a:r>
            <a:r>
              <a:rPr lang="de-DE" dirty="0"/>
              <a:t> (</a:t>
            </a:r>
            <a:r>
              <a:rPr lang="de-DE" dirty="0" err="1"/>
              <a:t>export</a:t>
            </a:r>
            <a:r>
              <a:rPr lang="de-DE" dirty="0"/>
              <a:t>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routes</a:t>
            </a:r>
            <a:r>
              <a:rPr lang="de-DE" dirty="0"/>
              <a:t>: </a:t>
            </a:r>
            <a:r>
              <a:rPr lang="de-DE" dirty="0" err="1"/>
              <a:t>Routes</a:t>
            </a:r>
            <a:r>
              <a:rPr lang="de-DE" dirty="0"/>
              <a:t> = [])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RouterModule</a:t>
            </a:r>
            <a:r>
              <a:rPr lang="de-DE" dirty="0"/>
              <a:t> in </a:t>
            </a:r>
            <a:r>
              <a:rPr lang="de-DE" dirty="0" err="1"/>
              <a:t>AppModule</a:t>
            </a:r>
            <a:endParaRPr lang="de-DE" dirty="0"/>
          </a:p>
          <a:p>
            <a:pPr lvl="1"/>
            <a:r>
              <a:rPr lang="de-DE" dirty="0"/>
              <a:t>Übergebe </a:t>
            </a:r>
            <a:r>
              <a:rPr lang="de-DE" dirty="0" err="1"/>
              <a:t>forRoot</a:t>
            </a:r>
            <a:r>
              <a:rPr lang="de-DE" dirty="0"/>
              <a:t> die </a:t>
            </a:r>
            <a:r>
              <a:rPr lang="de-DE" dirty="0" err="1"/>
              <a:t>Routes</a:t>
            </a:r>
            <a:r>
              <a:rPr lang="de-DE" dirty="0"/>
              <a:t> aus </a:t>
            </a:r>
            <a:r>
              <a:rPr lang="de-DE" dirty="0" err="1"/>
              <a:t>app.routes</a:t>
            </a:r>
            <a:endParaRPr lang="de-DE" dirty="0"/>
          </a:p>
          <a:p>
            <a:r>
              <a:rPr lang="de-DE" dirty="0"/>
              <a:t>Erstelle eine Route für die Listen-Ansicht</a:t>
            </a:r>
          </a:p>
          <a:p>
            <a:pPr lvl="1"/>
            <a:r>
              <a:rPr lang="de-DE" dirty="0"/>
              <a:t>Füge in </a:t>
            </a:r>
            <a:r>
              <a:rPr lang="de-DE" dirty="0" err="1"/>
              <a:t>app.routes</a:t>
            </a:r>
            <a:r>
              <a:rPr lang="de-DE" dirty="0"/>
              <a:t> eine Routen-Konfiguration für </a:t>
            </a:r>
            <a:r>
              <a:rPr lang="de-DE" dirty="0" err="1"/>
              <a:t>path</a:t>
            </a:r>
            <a:r>
              <a:rPr lang="de-DE" dirty="0"/>
              <a:t>: "</a:t>
            </a:r>
            <a:r>
              <a:rPr lang="de-DE" dirty="0" err="1"/>
              <a:t>trainings</a:t>
            </a:r>
            <a:r>
              <a:rPr lang="de-DE" dirty="0"/>
              <a:t>" hinzu</a:t>
            </a:r>
          </a:p>
          <a:p>
            <a:pPr lvl="1"/>
            <a:r>
              <a:rPr lang="de-DE" dirty="0"/>
              <a:t>Erstelle auch eine Redirect-Route für </a:t>
            </a:r>
            <a:r>
              <a:rPr lang="de-DE" dirty="0" err="1"/>
              <a:t>path</a:t>
            </a:r>
            <a:r>
              <a:rPr lang="de-DE" dirty="0"/>
              <a:t>: "**"</a:t>
            </a:r>
          </a:p>
          <a:p>
            <a:pPr lvl="1"/>
            <a:r>
              <a:rPr lang="de-DE" dirty="0"/>
              <a:t>Lösche </a:t>
            </a:r>
            <a:r>
              <a:rPr lang="de-DE" dirty="0" err="1"/>
              <a:t>TrainingListComponent</a:t>
            </a:r>
            <a:r>
              <a:rPr lang="de-DE" dirty="0"/>
              <a:t> und </a:t>
            </a:r>
            <a:r>
              <a:rPr lang="de-DE" dirty="0" err="1"/>
              <a:t>TrainingDetailsComponent</a:t>
            </a:r>
            <a:r>
              <a:rPr lang="de-DE" dirty="0"/>
              <a:t> aus dem Template von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Füge in das Template von </a:t>
            </a:r>
            <a:r>
              <a:rPr lang="de-DE" dirty="0" err="1"/>
              <a:t>AppComponent</a:t>
            </a:r>
            <a:r>
              <a:rPr lang="de-DE" dirty="0"/>
              <a:t> ein </a:t>
            </a:r>
            <a:r>
              <a:rPr lang="de-DE" dirty="0" err="1"/>
              <a:t>router</a:t>
            </a:r>
            <a:r>
              <a:rPr lang="de-DE" dirty="0"/>
              <a:t>-outlet ein</a:t>
            </a:r>
          </a:p>
          <a:p>
            <a:r>
              <a:rPr lang="de-DE" dirty="0"/>
              <a:t>Passe </a:t>
            </a:r>
            <a:r>
              <a:rPr lang="de-DE" dirty="0" err="1"/>
              <a:t>TrainingListComponent</a:t>
            </a:r>
            <a:r>
              <a:rPr lang="de-DE" dirty="0"/>
              <a:t> an die Veränderungen an</a:t>
            </a:r>
          </a:p>
          <a:p>
            <a:pPr lvl="1"/>
            <a:r>
              <a:rPr lang="de-DE" dirty="0"/>
              <a:t>Daten können nicht mehr per Input übergeben werden, da keine direkte Verwendung</a:t>
            </a:r>
          </a:p>
          <a:p>
            <a:pPr lvl="1"/>
            <a:r>
              <a:rPr lang="de-DE" dirty="0"/>
              <a:t>Lade in </a:t>
            </a:r>
            <a:r>
              <a:rPr lang="de-DE" dirty="0" err="1"/>
              <a:t>TrainingListComponent#ngOnInit</a:t>
            </a:r>
            <a:r>
              <a:rPr lang="de-DE" dirty="0"/>
              <a:t> die Daten vom Service</a:t>
            </a:r>
          </a:p>
          <a:p>
            <a:pPr lvl="1"/>
            <a:r>
              <a:rPr lang="de-DE" dirty="0"/>
              <a:t>Implementiere </a:t>
            </a:r>
            <a:r>
              <a:rPr lang="de-DE" dirty="0" err="1"/>
              <a:t>TrainingListComponent#ngOnDestroy</a:t>
            </a:r>
            <a:r>
              <a:rPr lang="de-DE" dirty="0"/>
              <a:t> um die </a:t>
            </a:r>
            <a:r>
              <a:rPr lang="de-DE" dirty="0" err="1"/>
              <a:t>Subscription</a:t>
            </a:r>
            <a:r>
              <a:rPr lang="de-DE" dirty="0"/>
              <a:t> zu löschen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536543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4184B-A24E-E444-9E12-548F957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Pfadparameter für dynamische Information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6C9E941-3546-6949-A634-CB3F351D9C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40738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08311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1D1BF-C073-8F45-9DF7-3DE31CE0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Pfadparameter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C34592-B181-A04C-BDC6-39DA40B87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/: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0969336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Details zu den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775521" y="1196752"/>
            <a:ext cx="8535203" cy="5090554"/>
          </a:xfrm>
        </p:spPr>
        <p:txBody>
          <a:bodyPr/>
          <a:lstStyle/>
          <a:p>
            <a:r>
              <a:rPr lang="de-DE" dirty="0"/>
              <a:t>Die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ActivatedRoute</a:t>
            </a:r>
            <a:r>
              <a:rPr lang="de-DE" dirty="0"/>
              <a:t> kann in eine </a:t>
            </a:r>
            <a:r>
              <a:rPr lang="de-DE" dirty="0" err="1"/>
              <a:t>Component</a:t>
            </a:r>
            <a:r>
              <a:rPr lang="de-DE" dirty="0"/>
              <a:t> injiziert werden und liefert Zugriff auf die Routen-Definition, die zum Aufruf geführt hat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url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paramMap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Router-Events werden an interessierte </a:t>
            </a:r>
            <a:r>
              <a:rPr lang="de-DE" dirty="0" err="1"/>
              <a:t>Listener</a:t>
            </a:r>
            <a:r>
              <a:rPr lang="de-DE" dirty="0"/>
              <a:t> delegiert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NavigationStart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RouteRecognized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Details nächste Folie oder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https://angular.io/guide/router</a:t>
            </a:r>
          </a:p>
        </p:txBody>
      </p:sp>
    </p:spTree>
    <p:extLst>
      <p:ext uri="{BB962C8B-B14F-4D97-AF65-F5344CB8AC3E}">
        <p14:creationId xmlns:p14="http://schemas.microsoft.com/office/powerpoint/2010/main" val="1153508256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F14633-D0A8-2D4C-BAD8-0423BF7E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88411-9C8E-3E42-A97E-028B93510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OnDestroy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	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550DE9B-5180-1E45-9D4E-06107235658B}"/>
              </a:ext>
            </a:extLst>
          </p:cNvPr>
          <p:cNvCxnSpPr>
            <a:cxnSpLocks/>
          </p:cNvCxnSpPr>
          <p:nvPr/>
        </p:nvCxnSpPr>
        <p:spPr>
          <a:xfrm flipH="1">
            <a:off x="6991109" y="3429000"/>
            <a:ext cx="578734" cy="888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5798EA4-6A77-7246-AD4B-09BAB2F53A24}"/>
              </a:ext>
            </a:extLst>
          </p:cNvPr>
          <p:cNvSpPr txBox="1"/>
          <p:nvPr/>
        </p:nvSpPr>
        <p:spPr>
          <a:xfrm>
            <a:off x="7407797" y="3244334"/>
            <a:ext cx="260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Zugriff auf Pfadparameter</a:t>
            </a:r>
          </a:p>
        </p:txBody>
      </p:sp>
    </p:spTree>
    <p:extLst>
      <p:ext uri="{BB962C8B-B14F-4D97-AF65-F5344CB8AC3E}">
        <p14:creationId xmlns:p14="http://schemas.microsoft.com/office/powerpoint/2010/main" val="2681149940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FC0E0-C27D-6646-ABFB-ABF96D09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Stream Fetisch – Weiterverarbeitung von </a:t>
            </a:r>
            <a:r>
              <a:rPr lang="de-DE" dirty="0" err="1"/>
              <a:t>Routeparameter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B03312-3E5E-1D4A-8D75-1025E8898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parseInt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switchMap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getById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078000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AA91C-BAD1-C941-9F03-CE661EA4F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E7E631-AD23-6E4C-83AD-EBD174AC0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',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Some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Artist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Artist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ID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Absolute Links mit führendem </a:t>
            </a:r>
            <a:r>
              <a:rPr lang="de-DE" dirty="0" err="1"/>
              <a:t>Slash</a:t>
            </a:r>
            <a:r>
              <a:rPr lang="de-DE" dirty="0"/>
              <a:t> (1,2)</a:t>
            </a:r>
          </a:p>
          <a:p>
            <a:r>
              <a:rPr lang="de-DE" dirty="0"/>
              <a:t>Zur aktuellen Route relative Links ohne führenden </a:t>
            </a:r>
            <a:r>
              <a:rPr lang="de-DE" dirty="0" err="1"/>
              <a:t>Slash</a:t>
            </a:r>
            <a:r>
              <a:rPr lang="de-DE" dirty="0"/>
              <a:t> (3)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04208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AB4BC-7FE9-054F-8F3E-D7D6AB4A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Code – </a:t>
            </a:r>
            <a:r>
              <a:rPr lang="de-DE" dirty="0" err="1"/>
              <a:t>Component</a:t>
            </a:r>
            <a:r>
              <a:rPr lang="de-DE" dirty="0"/>
              <a:t>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9C7E38-735C-5F42-83DF-E0B2F0412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save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back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list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441566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325D1C-9E8F-0847-A5AA-93AFBB700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20: Routing mit Parametern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12588A-656F-944F-87B2-F1B712BA4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Erstelle eine Route für die Detail Ansicht</a:t>
            </a:r>
          </a:p>
          <a:p>
            <a:pPr lvl="1"/>
            <a:r>
              <a:rPr lang="de-DE" dirty="0"/>
              <a:t>Konfiguriere eine Route für 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endParaRPr lang="de-DE" dirty="0"/>
          </a:p>
          <a:p>
            <a:pPr lvl="1"/>
            <a:r>
              <a:rPr lang="de-DE" dirty="0"/>
              <a:t>Erweitere </a:t>
            </a:r>
            <a:r>
              <a:rPr lang="de-DE" dirty="0" err="1"/>
              <a:t>TrainingService</a:t>
            </a:r>
            <a:r>
              <a:rPr lang="de-DE" dirty="0"/>
              <a:t> um eine Methode </a:t>
            </a:r>
            <a:r>
              <a:rPr lang="de-DE" dirty="0" err="1"/>
              <a:t>getById</a:t>
            </a:r>
            <a:endParaRPr lang="de-DE" dirty="0"/>
          </a:p>
          <a:p>
            <a:pPr lvl="1"/>
            <a:r>
              <a:rPr lang="de-DE" dirty="0"/>
              <a:t>Lese in </a:t>
            </a:r>
            <a:r>
              <a:rPr lang="de-DE" dirty="0" err="1"/>
              <a:t>TrainingDetailsComponent</a:t>
            </a:r>
            <a:r>
              <a:rPr lang="de-DE" dirty="0"/>
              <a:t> den Routen-Parameter </a:t>
            </a:r>
            <a:r>
              <a:rPr lang="de-DE" dirty="0" err="1"/>
              <a:t>id</a:t>
            </a:r>
            <a:r>
              <a:rPr lang="de-DE" dirty="0"/>
              <a:t> aus</a:t>
            </a:r>
          </a:p>
          <a:p>
            <a:pPr lvl="1"/>
            <a:r>
              <a:rPr lang="de-DE" dirty="0"/>
              <a:t>Hole das Training für die Anzeige per ID vom Service</a:t>
            </a:r>
          </a:p>
          <a:p>
            <a:r>
              <a:rPr lang="de-DE" dirty="0"/>
              <a:t>Verlinke die Listen-Ansicht mit der Detail-Ansicht</a:t>
            </a:r>
          </a:p>
          <a:p>
            <a:pPr lvl="1"/>
            <a:r>
              <a:rPr lang="de-DE" dirty="0"/>
              <a:t>Importiere das </a:t>
            </a:r>
            <a:r>
              <a:rPr lang="de-DE" dirty="0" err="1"/>
              <a:t>RouterModule</a:t>
            </a:r>
            <a:r>
              <a:rPr lang="de-DE" dirty="0"/>
              <a:t> im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Füge den Listen-Elementen einen </a:t>
            </a:r>
            <a:r>
              <a:rPr lang="de-DE" dirty="0" err="1"/>
              <a:t>routerLink</a:t>
            </a:r>
            <a:r>
              <a:rPr lang="de-DE" dirty="0"/>
              <a:t> hinzu</a:t>
            </a:r>
          </a:p>
          <a:p>
            <a:pPr lvl="1"/>
            <a:r>
              <a:rPr lang="de-DE" dirty="0"/>
              <a:t>Navigiere im </a:t>
            </a:r>
            <a:r>
              <a:rPr lang="de-DE" dirty="0" err="1"/>
              <a:t>routerLink</a:t>
            </a:r>
            <a:r>
              <a:rPr lang="de-DE" dirty="0"/>
              <a:t> zur Detail-Ansicht für das Element</a:t>
            </a:r>
          </a:p>
          <a:p>
            <a:r>
              <a:rPr lang="de-DE" dirty="0"/>
              <a:t>Verlinke die Detail-Ansicht mit der Listen-Ansicht</a:t>
            </a:r>
          </a:p>
          <a:p>
            <a:pPr lvl="1"/>
            <a:r>
              <a:rPr lang="de-DE" dirty="0"/>
              <a:t>Füge im Template von </a:t>
            </a:r>
            <a:r>
              <a:rPr lang="de-DE" dirty="0" err="1"/>
              <a:t>TrainingDetailsComponent</a:t>
            </a:r>
            <a:r>
              <a:rPr lang="de-DE" dirty="0"/>
              <a:t> einen Link zurück zur Liste ein</a:t>
            </a:r>
          </a:p>
          <a:p>
            <a:pPr lvl="1"/>
            <a:r>
              <a:rPr lang="de-DE" dirty="0"/>
              <a:t>Verwende einen Button mit einem Click-Handler</a:t>
            </a:r>
          </a:p>
          <a:p>
            <a:pPr lvl="1"/>
            <a:r>
              <a:rPr lang="de-DE" dirty="0"/>
              <a:t>Navigiere im Handler per </a:t>
            </a:r>
            <a:r>
              <a:rPr lang="de-DE" dirty="0" err="1"/>
              <a:t>router.navigate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612742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B24CCEF-35DA-7746-97D9-3689F904D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Formulare und Eingabefelder 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AB194FD-1233-0D43-BAE3-582C94C62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2000"/>
              <a:t>Bearbeiten von Daten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 descr="Molekülmodell im naturwissenschaftlichen Klassenzimmer">
            <a:extLst>
              <a:ext uri="{FF2B5EF4-FFF2-40B4-BE49-F238E27FC236}">
                <a16:creationId xmlns:a16="http://schemas.microsoft.com/office/drawing/2014/main" id="{C82C2F14-969F-4092-830A-C14D2C2AA1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099" r="12491" b="-1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1531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DFCFE6-FAF6-EA49-802F-D5B3F7DF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 auf Standard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1B2E9D-760F-3046-AFB0-71C2BA2BE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Formular (form) einfacher Aufbau</a:t>
            </a:r>
          </a:p>
          <a:p>
            <a:pPr lvl="1"/>
            <a:r>
              <a:rPr lang="de-DE" dirty="0"/>
              <a:t>Mit Feldern (</a:t>
            </a:r>
            <a:r>
              <a:rPr lang="de-DE" dirty="0" err="1"/>
              <a:t>input</a:t>
            </a:r>
            <a:r>
              <a:rPr lang="de-DE" dirty="0"/>
              <a:t>, </a:t>
            </a:r>
            <a:r>
              <a:rPr lang="de-DE" dirty="0" err="1"/>
              <a:t>select</a:t>
            </a:r>
            <a:r>
              <a:rPr lang="de-DE" dirty="0"/>
              <a:t>, ..)</a:t>
            </a:r>
          </a:p>
          <a:p>
            <a:pPr lvl="1"/>
            <a:r>
              <a:rPr lang="de-DE" dirty="0" err="1"/>
              <a:t>FieldSet</a:t>
            </a:r>
            <a:r>
              <a:rPr lang="de-DE" dirty="0"/>
              <a:t> für visuelle Gruppierung</a:t>
            </a:r>
          </a:p>
          <a:p>
            <a:r>
              <a:rPr lang="de-DE" dirty="0"/>
              <a:t>Validierung mittels HTML 5 (teilweise)</a:t>
            </a:r>
          </a:p>
          <a:p>
            <a:r>
              <a:rPr lang="de-DE" dirty="0"/>
              <a:t>Posten der Daten mittels </a:t>
            </a:r>
            <a:r>
              <a:rPr lang="de-DE" dirty="0" err="1"/>
              <a:t>Pagereload</a:t>
            </a:r>
            <a:r>
              <a:rPr lang="de-DE" dirty="0"/>
              <a:t> oder AJAX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12725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188248-C63E-2F46-8E2C-96A142DE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</a:t>
            </a:r>
            <a:r>
              <a:rPr lang="de-DE" dirty="0" err="1"/>
              <a:t>inAngular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BD86B23E-C8C2-5243-B0F9-2344E3CE30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02968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081846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AD5C57-E945-6C46-BCFC-8D47EF0B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Formulare, Gruppen, Felder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A99450-9424-BD49-846E-E776243D4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Formular = Gruppe + </a:t>
            </a:r>
            <a:r>
              <a:rPr lang="de-DE" dirty="0" err="1"/>
              <a:t>Submit</a:t>
            </a:r>
            <a:r>
              <a:rPr lang="de-DE" dirty="0"/>
              <a:t>-Aktion</a:t>
            </a:r>
          </a:p>
          <a:p>
            <a:r>
              <a:rPr lang="de-DE" dirty="0"/>
              <a:t>Eine Gruppe enthält Liste von Feldern </a:t>
            </a:r>
          </a:p>
          <a:p>
            <a:pPr lvl="1"/>
            <a:r>
              <a:rPr lang="de-DE" dirty="0"/>
              <a:t>Zustand abhängig von enthaltenen Feldern</a:t>
            </a:r>
          </a:p>
          <a:p>
            <a:pPr lvl="1"/>
            <a:r>
              <a:rPr lang="de-DE" dirty="0" err="1"/>
              <a:t>z.B</a:t>
            </a:r>
            <a:r>
              <a:rPr lang="de-DE" dirty="0"/>
              <a:t>: Gruppe invalide, falls min. 1 Feld invalide</a:t>
            </a:r>
          </a:p>
          <a:p>
            <a:r>
              <a:rPr lang="de-DE" dirty="0"/>
              <a:t>Feld ist ein Wert + weitere Zustände</a:t>
            </a:r>
          </a:p>
          <a:p>
            <a:pPr lvl="1"/>
            <a:r>
              <a:rPr lang="de-DE" dirty="0" err="1"/>
              <a:t>dirty</a:t>
            </a:r>
            <a:r>
              <a:rPr lang="de-DE" dirty="0"/>
              <a:t>, </a:t>
            </a:r>
            <a:r>
              <a:rPr lang="de-DE" dirty="0" err="1"/>
              <a:t>touched</a:t>
            </a:r>
            <a:endParaRPr lang="de-DE" dirty="0"/>
          </a:p>
          <a:p>
            <a:pPr lvl="1"/>
            <a:r>
              <a:rPr lang="de-DE" dirty="0"/>
              <a:t>valid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0361058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70D02-89CB-D848-A0B8-57188489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Bauen mit </a:t>
            </a:r>
            <a:r>
              <a:rPr lang="de-DE" dirty="0" err="1"/>
              <a:t>ReactiveFormsModule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068298-A204-6749-93A5-691A1EC8B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Model-Klassen um Formular zu beschreiben</a:t>
            </a:r>
          </a:p>
          <a:p>
            <a:pPr lvl="1"/>
            <a:r>
              <a:rPr lang="de-DE" dirty="0" err="1"/>
              <a:t>FormGroup</a:t>
            </a:r>
            <a:r>
              <a:rPr lang="de-DE" dirty="0"/>
              <a:t> und 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Gruppen bilden Baum mit Feldern als Blätter</a:t>
            </a:r>
          </a:p>
          <a:p>
            <a:pPr lvl="1"/>
            <a:r>
              <a:rPr lang="de-DE" dirty="0"/>
              <a:t>Formular selbst ist eine </a:t>
            </a:r>
            <a:r>
              <a:rPr lang="de-DE" dirty="0" err="1"/>
              <a:t>FormGroup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569650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A6C46-9DBA-0045-8942-31BBE5A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HowTo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7B9E-7888-B843-BB1F-879BABA04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167" y="2506662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900" dirty="0" err="1">
                <a:solidFill>
                  <a:srgbClr val="DD1144"/>
                </a:solidFill>
                <a:latin typeface="SourceCodePro"/>
              </a:rPr>
              <a:t>forms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9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ReleaseFormComponent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form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195F91"/>
                </a:solidFill>
                <a:latin typeface="SourceCodePro"/>
              </a:rPr>
              <a:t>@Input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C2CC2B0-36A6-F342-8D6D-E8DFD8307FF3}"/>
              </a:ext>
            </a:extLst>
          </p:cNvPr>
          <p:cNvSpPr/>
          <p:nvPr/>
        </p:nvSpPr>
        <p:spPr>
          <a:xfrm>
            <a:off x="6219463" y="4184551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ngSubmit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onSubmit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Name: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form.controls.name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Date: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latin typeface="SourceCodePro"/>
            </a:endParaRPr>
          </a:p>
          <a:p>
            <a:br>
              <a:rPr lang="de-DE" dirty="0"/>
            </a:br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77927FF-4EA9-6342-B20B-B1C219173A0D}"/>
              </a:ext>
            </a:extLst>
          </p:cNvPr>
          <p:cNvCxnSpPr/>
          <p:nvPr/>
        </p:nvCxnSpPr>
        <p:spPr>
          <a:xfrm flipV="1">
            <a:off x="4190035" y="4433104"/>
            <a:ext cx="3912243" cy="5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45883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46E73A-CD1E-F243-A2D3-C68B7016E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21: </a:t>
            </a:r>
            <a:r>
              <a:rPr lang="de-DE" dirty="0" err="1"/>
              <a:t>FormBuilder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ABA3E-2DEF-FC40-ADA9-3A94EE2C5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Bereite die Anwendung für die Verwendung der Forms-API vor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ReactiveFormsModule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r>
              <a:rPr lang="de-DE" dirty="0"/>
              <a:t>Implementiere in </a:t>
            </a:r>
            <a:r>
              <a:rPr lang="de-DE" dirty="0" err="1"/>
              <a:t>TrainingDetailsComponent</a:t>
            </a:r>
            <a:r>
              <a:rPr lang="de-DE" dirty="0"/>
              <a:t> ein Formular</a:t>
            </a:r>
          </a:p>
          <a:p>
            <a:pPr lvl="1"/>
            <a:r>
              <a:rPr lang="de-DE" dirty="0"/>
              <a:t>Verwende in </a:t>
            </a:r>
            <a:r>
              <a:rPr lang="de-DE" dirty="0" err="1"/>
              <a:t>ngOnInit</a:t>
            </a:r>
            <a:r>
              <a:rPr lang="de-DE" dirty="0"/>
              <a:t> die Forms-API und </a:t>
            </a:r>
            <a:r>
              <a:rPr lang="de-DE" dirty="0" err="1"/>
              <a:t>speicher</a:t>
            </a:r>
            <a:r>
              <a:rPr lang="de-DE" dirty="0"/>
              <a:t> das Formular in einem Feld</a:t>
            </a:r>
          </a:p>
          <a:p>
            <a:pPr lvl="1"/>
            <a:r>
              <a:rPr lang="de-DE" dirty="0"/>
              <a:t>Erstelle für jedes Feld in Training (außer ID) ein 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Initialisiere die Felder mit den vom Service geholten Daten</a:t>
            </a:r>
          </a:p>
          <a:p>
            <a:pPr lvl="1"/>
            <a:r>
              <a:rPr lang="de-DE" dirty="0"/>
              <a:t>Implementiere ein passendes Template mit einem Label und passendem Input pro 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 err="1"/>
              <a:t>Tip</a:t>
            </a:r>
            <a:r>
              <a:rPr lang="de-DE" dirty="0"/>
              <a:t>: </a:t>
            </a:r>
            <a:r>
              <a:rPr lang="de-DE" i="1" dirty="0"/>
              <a:t>&lt;</a:t>
            </a:r>
            <a:r>
              <a:rPr lang="de-DE" i="1" dirty="0" err="1"/>
              <a:t>input</a:t>
            </a:r>
            <a:r>
              <a:rPr lang="de-DE" i="1" dirty="0"/>
              <a:t> type="</a:t>
            </a:r>
            <a:r>
              <a:rPr lang="de-DE" i="1" dirty="0" err="1"/>
              <a:t>date</a:t>
            </a:r>
            <a:r>
              <a:rPr lang="de-DE" i="1" dirty="0"/>
              <a:t>"&gt; </a:t>
            </a:r>
            <a:r>
              <a:rPr lang="de-DE" dirty="0"/>
              <a:t>für </a:t>
            </a:r>
            <a:r>
              <a:rPr lang="de-DE" dirty="0" err="1"/>
              <a:t>nextRun</a:t>
            </a:r>
            <a:r>
              <a:rPr lang="de-DE" dirty="0"/>
              <a:t>, Daten-Mapping erforderlich</a:t>
            </a:r>
            <a:br>
              <a:rPr lang="de-DE" dirty="0"/>
            </a:br>
            <a:r>
              <a:rPr lang="de-DE" i="1" dirty="0" err="1"/>
              <a:t>training.nextRun</a:t>
            </a:r>
            <a:r>
              <a:rPr lang="de-DE" i="1" dirty="0"/>
              <a:t>().</a:t>
            </a:r>
            <a:r>
              <a:rPr lang="de-DE" i="1" dirty="0" err="1"/>
              <a:t>toIsoString</a:t>
            </a:r>
            <a:r>
              <a:rPr lang="de-DE" i="1" dirty="0"/>
              <a:t>().</a:t>
            </a:r>
            <a:r>
              <a:rPr lang="de-DE" i="1" dirty="0" err="1"/>
              <a:t>substr</a:t>
            </a:r>
            <a:r>
              <a:rPr lang="de-DE" i="1" dirty="0"/>
              <a:t>(0, 10) </a:t>
            </a:r>
            <a:r>
              <a:rPr lang="de-DE" dirty="0"/>
              <a:t>und </a:t>
            </a:r>
            <a:r>
              <a:rPr lang="de-DE" i="1" dirty="0" err="1"/>
              <a:t>new</a:t>
            </a:r>
            <a:r>
              <a:rPr lang="de-DE" i="1" dirty="0"/>
              <a:t> Date(</a:t>
            </a:r>
            <a:r>
              <a:rPr lang="de-DE" i="1" dirty="0" err="1"/>
              <a:t>inputValue</a:t>
            </a:r>
            <a:r>
              <a:rPr lang="de-DE" i="1" dirty="0"/>
              <a:t>)</a:t>
            </a:r>
          </a:p>
          <a:p>
            <a:r>
              <a:rPr lang="de-DE" dirty="0"/>
              <a:t>Implementiere das Speichern der geänderten Daten</a:t>
            </a:r>
          </a:p>
          <a:p>
            <a:pPr lvl="1"/>
            <a:r>
              <a:rPr lang="de-DE" dirty="0"/>
              <a:t>Verwende das </a:t>
            </a:r>
            <a:r>
              <a:rPr lang="de-DE" dirty="0" err="1"/>
              <a:t>ngSubmit</a:t>
            </a:r>
            <a:r>
              <a:rPr lang="de-DE" dirty="0"/>
              <a:t>-Event am Formular und einen </a:t>
            </a:r>
            <a:r>
              <a:rPr lang="de-DE" dirty="0" err="1"/>
              <a:t>Submit</a:t>
            </a:r>
            <a:r>
              <a:rPr lang="de-DE" dirty="0"/>
              <a:t>-Button zum Speichern</a:t>
            </a:r>
          </a:p>
          <a:p>
            <a:pPr lvl="1"/>
            <a:r>
              <a:rPr lang="de-DE" dirty="0"/>
              <a:t>Übernehme die geänderten Daten in das Domain-Objekt (</a:t>
            </a:r>
            <a:r>
              <a:rPr lang="de-DE" dirty="0" err="1"/>
              <a:t>Tip</a:t>
            </a:r>
            <a:r>
              <a:rPr lang="de-DE" dirty="0"/>
              <a:t>: </a:t>
            </a:r>
            <a:r>
              <a:rPr lang="de-DE" dirty="0" err="1"/>
              <a:t>Object.assign</a:t>
            </a:r>
            <a:r>
              <a:rPr lang="de-DE" dirty="0"/>
              <a:t>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701474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5" descr="Lupe vor klarem Hintergrund">
            <a:extLst>
              <a:ext uri="{FF2B5EF4-FFF2-40B4-BE49-F238E27FC236}">
                <a16:creationId xmlns:a16="http://schemas.microsoft.com/office/drawing/2014/main" id="{5004BA33-2A82-467A-AE64-8B2743E6E4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b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73AAC9-4919-6D41-9F73-F6FD7045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Validierung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048541-8DF0-2741-A48F-77CF359E2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Prüfen der Formulareingaben</a:t>
            </a:r>
          </a:p>
        </p:txBody>
      </p:sp>
    </p:spTree>
    <p:extLst>
      <p:ext uri="{BB962C8B-B14F-4D97-AF65-F5344CB8AC3E}">
        <p14:creationId xmlns:p14="http://schemas.microsoft.com/office/powerpoint/2010/main" val="3773063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92D733C-98BF-E04D-9068-8F55FCAA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CBE36A5-90DC-B744-BDFD-B45378750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2-fache Validierung ist nicht redundant</a:t>
            </a:r>
          </a:p>
          <a:p>
            <a:pPr lvl="1"/>
            <a:r>
              <a:rPr lang="de-DE" dirty="0"/>
              <a:t>Client-seitig Validierung für User Experience</a:t>
            </a:r>
          </a:p>
          <a:p>
            <a:pPr lvl="1"/>
            <a:r>
              <a:rPr lang="de-DE" dirty="0"/>
              <a:t>Server-seitig Validierung für Sicherheit</a:t>
            </a:r>
          </a:p>
          <a:p>
            <a:r>
              <a:rPr lang="de-DE" dirty="0" err="1"/>
              <a:t>Validatoren</a:t>
            </a:r>
            <a:endParaRPr lang="de-DE" dirty="0"/>
          </a:p>
          <a:p>
            <a:pPr lvl="1"/>
            <a:r>
              <a:rPr lang="de-DE" dirty="0" err="1"/>
              <a:t>Build</a:t>
            </a:r>
            <a:r>
              <a:rPr lang="de-DE" dirty="0"/>
              <a:t>-in</a:t>
            </a:r>
          </a:p>
          <a:p>
            <a:pPr lvl="1"/>
            <a:r>
              <a:rPr lang="de-DE" dirty="0"/>
              <a:t>Custom</a:t>
            </a:r>
          </a:p>
          <a:p>
            <a:r>
              <a:rPr lang="de-DE" dirty="0"/>
              <a:t>Verwendung</a:t>
            </a:r>
          </a:p>
          <a:p>
            <a:pPr lvl="1"/>
            <a:r>
              <a:rPr lang="de-DE" dirty="0"/>
              <a:t>Mittels </a:t>
            </a:r>
            <a:r>
              <a:rPr lang="de-DE" dirty="0" err="1"/>
              <a:t>Attributierung</a:t>
            </a:r>
            <a:r>
              <a:rPr lang="de-DE" dirty="0"/>
              <a:t> bzw. Direktive</a:t>
            </a:r>
          </a:p>
          <a:p>
            <a:pPr lvl="1"/>
            <a:r>
              <a:rPr lang="de-DE" dirty="0"/>
              <a:t>Mit Hilfe der Forms API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668810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AF4F35-CF62-2946-A69C-D9B53792E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53AAF4-1F7B-924F-8273-C1666AEB6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city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maxLength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zip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pattern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'[0-9]{5}'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street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8080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minLength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473547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2A89A2-053A-144A-BA29-B7FD8972D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Validierungsfehler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D36955-DE17-DA4C-9CD4-03094050D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Zustand pro Feld / Gruppe / Formular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untouched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touched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pristine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dirty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valid,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errors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Value</a:t>
            </a:r>
          </a:p>
          <a:p>
            <a:pPr marL="285750" indent="-285750"/>
            <a:r>
              <a:rPr lang="de-DE" dirty="0">
                <a:solidFill>
                  <a:srgbClr val="333333"/>
                </a:solidFill>
                <a:latin typeface="Aller"/>
              </a:rPr>
              <a:t>Zusammenspiel mit CSS Klassen</a:t>
            </a:r>
          </a:p>
          <a:p>
            <a:pPr lvl="1"/>
            <a:r>
              <a:rPr lang="de-DE" dirty="0"/>
              <a:t>Angular setzt CSS-Klassen an Formular und Feldern</a:t>
            </a:r>
          </a:p>
          <a:p>
            <a:pPr lvl="1"/>
            <a:r>
              <a:rPr lang="de-DE" dirty="0" err="1"/>
              <a:t>ng</a:t>
            </a:r>
            <a:r>
              <a:rPr lang="de-DE" dirty="0"/>
              <a:t>-valid, </a:t>
            </a:r>
            <a:r>
              <a:rPr lang="de-DE" dirty="0" err="1"/>
              <a:t>ng</a:t>
            </a:r>
            <a:r>
              <a:rPr lang="de-DE" dirty="0"/>
              <a:t>-invalid, </a:t>
            </a:r>
            <a:r>
              <a:rPr lang="de-DE" dirty="0" err="1"/>
              <a:t>ng-pristine</a:t>
            </a:r>
            <a:r>
              <a:rPr lang="de-DE" dirty="0"/>
              <a:t>, </a:t>
            </a:r>
            <a:r>
              <a:rPr lang="de-DE" dirty="0" err="1"/>
              <a:t>ng-dirty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826159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171C17-1B7B-CE44-9368-EFD721B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Zugriff auf Fehlerzustand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D9FF00-E6E3-1D43-A5D3-7052628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"form-group"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-error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6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has-warning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.pristine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control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	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3200" dirty="0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089144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1746F-9519-804F-AB58-8FBC4B71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ErrorsMap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B477EB-B0C7-614F-8CEB-AD2F03EC6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form.controls.password.dirty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ist Pflichtfeld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complex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muss aus 8 Zeichen und mind. 1 Sonderzeichen und Großbuchstaben bestehen.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807897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419F5-AA83-C446-AE67-BDF3A27C9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22: Validierung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EF2F51-23F7-1046-A86E-CF3A0C0EE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Validiere in </a:t>
            </a:r>
            <a:r>
              <a:rPr lang="de-DE" dirty="0" err="1"/>
              <a:t>TrainingDetailComponent</a:t>
            </a:r>
            <a:endParaRPr lang="de-DE" dirty="0"/>
          </a:p>
          <a:p>
            <a:pPr lvl="1"/>
            <a:r>
              <a:rPr lang="de-DE" dirty="0" err="1"/>
              <a:t>name</a:t>
            </a:r>
            <a:r>
              <a:rPr lang="de-DE" dirty="0"/>
              <a:t> ist </a:t>
            </a:r>
            <a:r>
              <a:rPr lang="de-DE" dirty="0" err="1"/>
              <a:t>required</a:t>
            </a:r>
            <a:endParaRPr lang="de-DE" dirty="0"/>
          </a:p>
          <a:p>
            <a:pPr lvl="1"/>
            <a:r>
              <a:rPr lang="de-DE" dirty="0" err="1"/>
              <a:t>description</a:t>
            </a:r>
            <a:r>
              <a:rPr lang="de-DE" dirty="0"/>
              <a:t> mindestens 30 Zeichen lang</a:t>
            </a:r>
          </a:p>
          <a:p>
            <a:r>
              <a:rPr lang="de-DE" dirty="0"/>
              <a:t>Gib für jedes invalide Feld eine Fehlermeldung aus</a:t>
            </a:r>
          </a:p>
          <a:p>
            <a:r>
              <a:rPr lang="de-DE" dirty="0"/>
              <a:t>Verhindere das Absenden des invaliden </a:t>
            </a:r>
            <a:r>
              <a:rPr lang="de-DE" dirty="0" err="1"/>
              <a:t>Formulares</a:t>
            </a:r>
            <a:endParaRPr lang="de-DE" dirty="0"/>
          </a:p>
          <a:p>
            <a:pPr lvl="1"/>
            <a:r>
              <a:rPr lang="de-DE" dirty="0" err="1"/>
              <a:t>Tip</a:t>
            </a:r>
            <a:r>
              <a:rPr lang="de-DE" dirty="0"/>
              <a:t>: [</a:t>
            </a:r>
            <a:r>
              <a:rPr lang="de-DE" dirty="0" err="1"/>
              <a:t>disabled</a:t>
            </a:r>
            <a:r>
              <a:rPr lang="de-DE" dirty="0"/>
              <a:t>] an </a:t>
            </a:r>
            <a:r>
              <a:rPr lang="de-DE" dirty="0" err="1"/>
              <a:t>Submit</a:t>
            </a:r>
            <a:r>
              <a:rPr lang="de-DE" dirty="0"/>
              <a:t>-Button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58429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1D460E2-8D1E-A74E-A10D-606AE7C35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Kind Komponenten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25190A-AD75-A441-8149-75420D114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Modulare wiederverwendbare Komponenten</a:t>
            </a:r>
          </a:p>
        </p:txBody>
      </p:sp>
    </p:spTree>
    <p:extLst>
      <p:ext uri="{BB962C8B-B14F-4D97-AF65-F5344CB8AC3E}">
        <p14:creationId xmlns:p14="http://schemas.microsoft.com/office/powerpoint/2010/main" val="6433648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22AC2BB-03BF-D64C-B311-CD5A4BA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0100C57-51E2-8844-B8F7-55A6734F2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Smarte Komponenten und einfache (dumme) Komponenten</a:t>
            </a:r>
          </a:p>
          <a:p>
            <a:pPr lvl="1"/>
            <a:r>
              <a:rPr lang="de-DE" dirty="0"/>
              <a:t>Smarte Komponenten wissen etwas über Umgebung </a:t>
            </a:r>
          </a:p>
          <a:p>
            <a:pPr lvl="2"/>
            <a:r>
              <a:rPr lang="de-DE" dirty="0"/>
              <a:t>z.B. Abhängigkeiten von Services</a:t>
            </a:r>
          </a:p>
          <a:p>
            <a:pPr lvl="1"/>
            <a:r>
              <a:rPr lang="de-DE" dirty="0"/>
              <a:t>Dumme Komponenten haben nur Inputs und Outputs </a:t>
            </a:r>
          </a:p>
          <a:p>
            <a:pPr lvl="2"/>
            <a:r>
              <a:rPr lang="de-DE" dirty="0"/>
              <a:t>z.B. keine Abhängigkeiten von Services</a:t>
            </a:r>
          </a:p>
          <a:p>
            <a:r>
              <a:rPr lang="de-DE" dirty="0"/>
              <a:t>Bessere Wiederverwendbarkeit bei dummen Komponenten</a:t>
            </a:r>
          </a:p>
          <a:p>
            <a:endParaRPr lang="de-DE" dirty="0"/>
          </a:p>
          <a:p>
            <a:r>
              <a:rPr lang="de-DE" dirty="0"/>
              <a:t>In unserer Beispielanwendung Formular aus Detailkomponente auslagern.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b="1" dirty="0">
                <a:sym typeface="Wingdings" pitchFamily="2" charset="2"/>
              </a:rPr>
              <a:t>Wie läuft die Interaktion </a:t>
            </a:r>
            <a:r>
              <a:rPr lang="de-DE" b="1" dirty="0" err="1">
                <a:sym typeface="Wingdings" pitchFamily="2" charset="2"/>
              </a:rPr>
              <a:t>topDown</a:t>
            </a:r>
            <a:r>
              <a:rPr lang="de-DE" b="1" dirty="0">
                <a:sym typeface="Wingdings" pitchFamily="2" charset="2"/>
              </a:rPr>
              <a:t> und </a:t>
            </a:r>
            <a:r>
              <a:rPr lang="de-DE" b="1" dirty="0" err="1">
                <a:sym typeface="Wingdings" pitchFamily="2" charset="2"/>
              </a:rPr>
              <a:t>bottomUp</a:t>
            </a:r>
            <a:endParaRPr lang="de-DE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257435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BFD9F-10B6-8C41-8E43-85F8430D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Rückblick: Input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8ADEB-A1E3-5E4A-A28E-AD6949C6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Vater zu Kind über Property-Binding</a:t>
            </a:r>
          </a:p>
          <a:p>
            <a:pPr lvl="1"/>
            <a:r>
              <a:rPr lang="de-DE" dirty="0"/>
              <a:t>Daten von oben nach unten übergeben</a:t>
            </a:r>
          </a:p>
          <a:p>
            <a:pPr lvl="1"/>
            <a:r>
              <a:rPr lang="de-DE" dirty="0"/>
              <a:t>Kind: </a:t>
            </a:r>
            <a:r>
              <a:rPr lang="de-DE" dirty="0" err="1"/>
              <a:t>ngOnChanges</a:t>
            </a:r>
            <a:r>
              <a:rPr lang="de-DE" dirty="0"/>
              <a:t> </a:t>
            </a:r>
            <a:r>
              <a:rPr lang="de-DE" dirty="0" err="1"/>
              <a:t>Lifecycle</a:t>
            </a:r>
            <a:r>
              <a:rPr lang="de-DE" dirty="0"/>
              <a:t> Hook für Updates von eigenem @Input()</a:t>
            </a:r>
          </a:p>
          <a:p>
            <a:r>
              <a:rPr lang="de-DE" dirty="0"/>
              <a:t>Kind zu Vater über Event-Binding</a:t>
            </a:r>
          </a:p>
          <a:p>
            <a:pPr lvl="1"/>
            <a:r>
              <a:rPr lang="de-DE" dirty="0"/>
              <a:t>Events von unten nach oben reichen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8308531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0792A2-847C-BE43-9FD2-DBD93D9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@</a:t>
            </a:r>
            <a:r>
              <a:rPr lang="de-DE" dirty="0" err="1"/>
              <a:t>ViewChild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BE83E7-950B-224B-B5CD-3BE40C5FF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Injection</a:t>
            </a:r>
            <a:r>
              <a:rPr lang="de-DE" dirty="0"/>
              <a:t> von </a:t>
            </a:r>
            <a:r>
              <a:rPr lang="de-DE" dirty="0" err="1"/>
              <a:t>Kindkomponente</a:t>
            </a:r>
            <a:r>
              <a:rPr lang="de-DE" dirty="0"/>
              <a:t> zur einfacheren Interaktion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ParentComponent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/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ViewChild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308336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11730F-4B8B-4D45-9DF0-E431F50D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Kommunikation über </a:t>
            </a:r>
            <a:r>
              <a:rPr lang="de-DE" dirty="0" err="1"/>
              <a:t>ThirdParty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F9E8A6-AB66-CD4A-9AE4-6E15D2C8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Kommunikationskanal</a:t>
            </a:r>
          </a:p>
          <a:p>
            <a:pPr lvl="1"/>
            <a:r>
              <a:rPr lang="de-DE" dirty="0"/>
              <a:t>Service stellt Observables bereit </a:t>
            </a:r>
          </a:p>
          <a:p>
            <a:r>
              <a:rPr lang="de-DE" dirty="0"/>
              <a:t>Auch andere Kommunikationsstrukturen möglich z.B. 1:n</a:t>
            </a:r>
          </a:p>
          <a:p>
            <a:r>
              <a:rPr lang="de-DE" dirty="0"/>
              <a:t>Vaterkomponente kann als Provider vom Service dienen (</a:t>
            </a:r>
            <a:r>
              <a:rPr lang="de-DE" dirty="0" err="1"/>
              <a:t>Scoped</a:t>
            </a:r>
            <a:r>
              <a:rPr lang="de-DE" dirty="0"/>
              <a:t> Service Instanziierung)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54047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73CBD-15ED-8C4C-986E-7346665D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Event Emitter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7421C-B52D-8E43-9E8A-E339DC5A37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2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({})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600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	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"update </a:t>
            </a:r>
            <a:r>
              <a:rPr lang="de-DE" sz="2200" dirty="0" err="1">
                <a:solidFill>
                  <a:srgbClr val="DD1144"/>
                </a:solidFill>
                <a:latin typeface="SourceCodePro"/>
              </a:rPr>
              <a:t>received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doSomething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1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());</a:t>
            </a: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500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	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25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F78A051-09D5-FC42-A605-AEF3F4D35B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40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40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MasterDetailComponent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6877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D9FCF3C-9D33-CA44-A78B-2D9302918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23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EF876FB-94CA-1240-B005-74A6576FC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Stelle in </a:t>
            </a:r>
            <a:r>
              <a:rPr lang="de-DE" dirty="0" err="1"/>
              <a:t>TrainingService</a:t>
            </a:r>
            <a:r>
              <a:rPr lang="de-DE" dirty="0"/>
              <a:t> eine Methode update bereit</a:t>
            </a:r>
          </a:p>
          <a:p>
            <a:pPr lvl="1"/>
            <a:r>
              <a:rPr lang="de-DE" dirty="0"/>
              <a:t>Rufe die Methode beim Speichern des </a:t>
            </a:r>
            <a:r>
              <a:rPr lang="de-DE" dirty="0" err="1"/>
              <a:t>Formulares</a:t>
            </a:r>
            <a:r>
              <a:rPr lang="de-DE" dirty="0"/>
              <a:t> in </a:t>
            </a:r>
            <a:r>
              <a:rPr lang="de-DE" dirty="0" err="1"/>
              <a:t>TrainingDetailsComponent</a:t>
            </a:r>
            <a:r>
              <a:rPr lang="de-DE" dirty="0"/>
              <a:t> auf</a:t>
            </a:r>
          </a:p>
          <a:p>
            <a:pPr lvl="1"/>
            <a:r>
              <a:rPr lang="de-DE" dirty="0"/>
              <a:t>Ersetze in der Methode das ursprüngliche Training-Objekt durch das neue</a:t>
            </a:r>
          </a:p>
          <a:p>
            <a:pPr lvl="1"/>
            <a:r>
              <a:rPr lang="de-DE" dirty="0"/>
              <a:t>Feuere einen neuen Datensatz am internen </a:t>
            </a:r>
            <a:r>
              <a:rPr lang="de-DE" dirty="0" err="1"/>
              <a:t>Subject</a:t>
            </a:r>
            <a:endParaRPr lang="de-DE" dirty="0"/>
          </a:p>
          <a:p>
            <a:r>
              <a:rPr lang="de-DE" dirty="0"/>
              <a:t>Zeige in </a:t>
            </a:r>
            <a:r>
              <a:rPr lang="de-DE" dirty="0" err="1"/>
              <a:t>AppComponent</a:t>
            </a:r>
            <a:r>
              <a:rPr lang="de-DE" dirty="0"/>
              <a:t> immer das als nächstes stattfindende Training an</a:t>
            </a:r>
          </a:p>
          <a:p>
            <a:pPr lvl="1"/>
            <a:r>
              <a:rPr lang="de-DE" dirty="0"/>
              <a:t>Implementiere in </a:t>
            </a:r>
            <a:r>
              <a:rPr lang="de-DE" dirty="0" err="1"/>
              <a:t>TrainingService</a:t>
            </a:r>
            <a:r>
              <a:rPr lang="de-DE" dirty="0"/>
              <a:t> die Logik (Methode </a:t>
            </a:r>
            <a:r>
              <a:rPr lang="de-DE" dirty="0" err="1"/>
              <a:t>getNext</a:t>
            </a:r>
            <a:r>
              <a:rPr lang="de-DE" dirty="0"/>
              <a:t>(): Observable&lt;Training&gt;)</a:t>
            </a:r>
          </a:p>
          <a:p>
            <a:pPr lvl="1"/>
            <a:r>
              <a:rPr lang="de-DE" dirty="0"/>
              <a:t>Nutze dafür das Observable von </a:t>
            </a:r>
            <a:r>
              <a:rPr lang="de-DE" dirty="0" err="1"/>
              <a:t>getAll</a:t>
            </a:r>
            <a:endParaRPr lang="de-DE" dirty="0"/>
          </a:p>
          <a:p>
            <a:pPr lvl="1"/>
            <a:r>
              <a:rPr lang="de-DE" dirty="0"/>
              <a:t>Nutze eine flache Kopie des Arrays zum Sortieren (</a:t>
            </a:r>
            <a:r>
              <a:rPr lang="de-DE" dirty="0" err="1"/>
              <a:t>array.slice</a:t>
            </a:r>
            <a:r>
              <a:rPr lang="de-DE" dirty="0"/>
              <a:t>().</a:t>
            </a:r>
            <a:r>
              <a:rPr lang="de-DE" dirty="0" err="1"/>
              <a:t>sort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Hole in </a:t>
            </a:r>
            <a:r>
              <a:rPr lang="de-DE" dirty="0" err="1"/>
              <a:t>AppComponent</a:t>
            </a:r>
            <a:r>
              <a:rPr lang="de-DE" dirty="0"/>
              <a:t> das Observable von </a:t>
            </a:r>
            <a:r>
              <a:rPr lang="de-DE" dirty="0" err="1"/>
              <a:t>getNext</a:t>
            </a:r>
            <a:r>
              <a:rPr lang="de-DE" dirty="0"/>
              <a:t> und </a:t>
            </a:r>
            <a:r>
              <a:rPr lang="de-DE" dirty="0" err="1"/>
              <a:t>subscribe</a:t>
            </a:r>
            <a:endParaRPr lang="de-DE" dirty="0"/>
          </a:p>
          <a:p>
            <a:pPr lvl="1"/>
            <a:r>
              <a:rPr lang="de-DE" dirty="0"/>
              <a:t>Zeige im UI den Namen des nächsten Trainings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9326143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Client-Server-Kommunikation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07447-EBCE-CF4B-AB11-125B8F037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864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Plant growing in a concrete crack">
            <a:extLst>
              <a:ext uri="{FF2B5EF4-FFF2-40B4-BE49-F238E27FC236}">
                <a16:creationId xmlns:a16="http://schemas.microsoft.com/office/drawing/2014/main" id="{86469271-96A4-4D76-B1DA-6747C0C465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Exkurs REST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30620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3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Das http-Protokoll</a:t>
            </a:r>
          </a:p>
        </p:txBody>
      </p:sp>
      <p:sp>
        <p:nvSpPr>
          <p:cNvPr id="204804" name="Rectangle 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Eine umfassende Spezifikation des w3w-Konsortiums</a:t>
            </a:r>
          </a:p>
          <a:p>
            <a:pPr lvl="1"/>
            <a:r>
              <a:rPr lang="de-DE" altLang="de-DE"/>
              <a:t>Siehe http://en.wikipedia.org/wiki/Http</a:t>
            </a:r>
          </a:p>
        </p:txBody>
      </p:sp>
      <p:pic>
        <p:nvPicPr>
          <p:cNvPr id="204805" name="Picture 8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47"/>
          <a:stretch/>
        </p:blipFill>
        <p:spPr bwMode="auto">
          <a:xfrm>
            <a:off x="2660068" y="2899962"/>
            <a:ext cx="7777162" cy="327700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31159895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7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</a:t>
            </a:r>
          </a:p>
        </p:txBody>
      </p:sp>
      <p:sp>
        <p:nvSpPr>
          <p:cNvPr id="205828" name="Rectangle 5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altLang="de-DE"/>
              <a:t>Definition von URIs</a:t>
            </a:r>
          </a:p>
          <a:p>
            <a:pPr lvl="1"/>
            <a:r>
              <a:rPr lang="de-DE" altLang="de-DE"/>
              <a:t>Pfad</a:t>
            </a:r>
          </a:p>
          <a:p>
            <a:pPr lvl="1"/>
            <a:r>
              <a:rPr lang="de-DE" altLang="de-DE"/>
              <a:t>Parameter</a:t>
            </a:r>
          </a:p>
          <a:p>
            <a:r>
              <a:rPr lang="de-DE" altLang="de-DE"/>
              <a:t>http-Request und http-Response</a:t>
            </a:r>
          </a:p>
          <a:p>
            <a:pPr lvl="1"/>
            <a:r>
              <a:rPr lang="de-DE" altLang="de-DE"/>
              <a:t>Daten-Container mit Header und Body</a:t>
            </a:r>
          </a:p>
          <a:p>
            <a:pPr lvl="1"/>
            <a:r>
              <a:rPr lang="de-DE" altLang="de-DE"/>
              <a:t>Encodierung</a:t>
            </a:r>
          </a:p>
          <a:p>
            <a:r>
              <a:rPr lang="de-DE" altLang="de-DE"/>
              <a:t>Umfassender Satz von Header-Properties</a:t>
            </a:r>
          </a:p>
          <a:p>
            <a:pPr lvl="1"/>
            <a:r>
              <a:rPr lang="de-DE" altLang="de-DE"/>
              <a:t>Content-Length</a:t>
            </a:r>
          </a:p>
          <a:p>
            <a:pPr lvl="1"/>
            <a:r>
              <a:rPr lang="de-DE" altLang="de-DE"/>
              <a:t>Accepts</a:t>
            </a:r>
          </a:p>
          <a:p>
            <a:pPr lvl="1"/>
            <a:r>
              <a:rPr lang="de-DE" altLang="de-DE"/>
              <a:t>Content-Type</a:t>
            </a:r>
          </a:p>
        </p:txBody>
      </p:sp>
    </p:spTree>
    <p:extLst>
      <p:ext uri="{BB962C8B-B14F-4D97-AF65-F5344CB8AC3E}">
        <p14:creationId xmlns:p14="http://schemas.microsoft.com/office/powerpoint/2010/main" val="22853517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1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 II</a:t>
            </a:r>
          </a:p>
        </p:txBody>
      </p:sp>
      <p:sp>
        <p:nvSpPr>
          <p:cNvPr id="2068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altLang="de-DE" dirty="0"/>
              <a:t>http-Methoden</a:t>
            </a:r>
          </a:p>
          <a:p>
            <a:pPr lvl="1"/>
            <a:r>
              <a:rPr lang="de-DE" altLang="de-DE" dirty="0"/>
              <a:t>PUT</a:t>
            </a:r>
          </a:p>
          <a:p>
            <a:pPr lvl="1"/>
            <a:r>
              <a:rPr lang="de-DE" altLang="de-DE" dirty="0"/>
              <a:t>GET</a:t>
            </a:r>
          </a:p>
          <a:p>
            <a:pPr lvl="1"/>
            <a:r>
              <a:rPr lang="de-DE" altLang="de-DE" dirty="0"/>
              <a:t>POST</a:t>
            </a:r>
          </a:p>
          <a:p>
            <a:pPr lvl="1"/>
            <a:r>
              <a:rPr lang="de-DE" altLang="de-DE" dirty="0"/>
              <a:t>DELETE</a:t>
            </a:r>
          </a:p>
          <a:p>
            <a:pPr lvl="1"/>
            <a:r>
              <a:rPr lang="de-DE" altLang="de-DE" dirty="0"/>
              <a:t>OPTIONS</a:t>
            </a:r>
          </a:p>
          <a:p>
            <a:pPr lvl="1"/>
            <a:r>
              <a:rPr lang="de-DE" altLang="de-DE" dirty="0"/>
              <a:t>HEAD</a:t>
            </a:r>
          </a:p>
          <a:p>
            <a:r>
              <a:rPr lang="de-DE" altLang="de-DE" dirty="0"/>
              <a:t>Statuscodes für Aufrufe</a:t>
            </a:r>
          </a:p>
          <a:p>
            <a:pPr lvl="1"/>
            <a:r>
              <a:rPr lang="de-DE" altLang="de-DE" dirty="0"/>
              <a:t>404: „Not </a:t>
            </a:r>
            <a:r>
              <a:rPr lang="de-DE" altLang="de-DE" dirty="0" err="1"/>
              <a:t>found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204: „</a:t>
            </a:r>
            <a:r>
              <a:rPr lang="de-DE" altLang="de-DE" dirty="0" err="1"/>
              <a:t>Created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64788478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5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 err="1"/>
              <a:t>MimeTypes</a:t>
            </a:r>
            <a:endParaRPr lang="de-DE" altLang="de-DE" dirty="0"/>
          </a:p>
        </p:txBody>
      </p:sp>
      <p:sp>
        <p:nvSpPr>
          <p:cNvPr id="2078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Definition der Datentypen des Internet</a:t>
            </a:r>
          </a:p>
          <a:p>
            <a:pPr lvl="1"/>
            <a:r>
              <a:rPr lang="de-DE" altLang="de-DE"/>
              <a:t>Nicht zu verwechseln mit einem XML-Schema</a:t>
            </a:r>
          </a:p>
          <a:p>
            <a:pPr lvl="1"/>
            <a:r>
              <a:rPr lang="de-DE" altLang="de-DE"/>
              <a:t>Ein MimeType ist „nur“ eine strukturierte Zeichenkette</a:t>
            </a:r>
          </a:p>
          <a:p>
            <a:pPr lvl="1"/>
            <a:r>
              <a:rPr lang="de-DE" altLang="de-DE"/>
              <a:t>Eigene Erweiterungen sind möglich</a:t>
            </a:r>
          </a:p>
        </p:txBody>
      </p:sp>
    </p:spTree>
    <p:extLst>
      <p:ext uri="{BB962C8B-B14F-4D97-AF65-F5344CB8AC3E}">
        <p14:creationId xmlns:p14="http://schemas.microsoft.com/office/powerpoint/2010/main" val="2667593966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9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REST und http</a:t>
            </a:r>
          </a:p>
        </p:txBody>
      </p:sp>
      <p:sp>
        <p:nvSpPr>
          <p:cNvPr id="2089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REST hat mit http prinzipiell nichts zu tun</a:t>
            </a:r>
          </a:p>
          <a:p>
            <a:pPr lvl="1"/>
            <a:r>
              <a:rPr lang="de-DE" altLang="de-DE"/>
              <a:t>REST ist eine abstrakte Architektur</a:t>
            </a:r>
          </a:p>
          <a:p>
            <a:pPr lvl="1"/>
            <a:r>
              <a:rPr lang="de-DE" altLang="de-DE"/>
              <a:t>http ist ein konkretes Kommunikationsprotokoll</a:t>
            </a:r>
          </a:p>
          <a:p>
            <a:r>
              <a:rPr lang="de-DE" altLang="de-DE"/>
              <a:t>Aber</a:t>
            </a:r>
          </a:p>
          <a:p>
            <a:pPr lvl="1"/>
            <a:r>
              <a:rPr lang="de-DE" altLang="de-DE"/>
              <a:t>http passt als Kommunikations-Protokoll der „Referenz-Implementierung“ Internet natürlich perfekt zum REST-Stil</a:t>
            </a:r>
          </a:p>
          <a:p>
            <a:pPr lvl="1">
              <a:buFont typeface="Wingdings" pitchFamily="2" charset="2"/>
              <a:buNone/>
            </a:pPr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82049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1847528" y="476672"/>
          <a:ext cx="7560840" cy="590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84465700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http Client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8697026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Service </a:t>
            </a:r>
            <a:r>
              <a:rPr lang="de-DE" dirty="0" err="1"/>
              <a:t>HttpClient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HttpClient</a:t>
            </a:r>
            <a:r>
              <a:rPr lang="de-DE" dirty="0"/>
              <a:t> ist ein Service </a:t>
            </a:r>
          </a:p>
          <a:p>
            <a:pPr lvl="1"/>
            <a:r>
              <a:rPr lang="de-DE" dirty="0"/>
              <a:t>und steht damit via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zur Verfügung</a:t>
            </a:r>
          </a:p>
          <a:p>
            <a:pPr lvl="1"/>
            <a:r>
              <a:rPr lang="de-DE" b="1" dirty="0" err="1"/>
              <a:t>HttpModule</a:t>
            </a:r>
            <a:r>
              <a:rPr lang="de-DE" b="1" dirty="0"/>
              <a:t> in </a:t>
            </a:r>
            <a:r>
              <a:rPr lang="de-DE" b="1" dirty="0" err="1"/>
              <a:t>AppModule</a:t>
            </a:r>
            <a:r>
              <a:rPr lang="de-DE" b="1" dirty="0"/>
              <a:t> importieren</a:t>
            </a:r>
          </a:p>
          <a:p>
            <a:pPr lvl="1"/>
            <a:r>
              <a:rPr lang="de-DE" dirty="0" err="1"/>
              <a:t>XHRBackend</a:t>
            </a:r>
            <a:r>
              <a:rPr lang="de-DE" dirty="0"/>
              <a:t> führt </a:t>
            </a:r>
            <a:r>
              <a:rPr lang="de-DE" dirty="0" err="1"/>
              <a:t>Requests</a:t>
            </a:r>
            <a:r>
              <a:rPr lang="de-DE" dirty="0"/>
              <a:t> aus</a:t>
            </a:r>
          </a:p>
          <a:p>
            <a:r>
              <a:rPr lang="de-DE" dirty="0"/>
              <a:t>Das API </a:t>
            </a:r>
          </a:p>
          <a:p>
            <a:pPr lvl="1"/>
            <a:r>
              <a:rPr lang="de-DE" dirty="0"/>
              <a:t>umfasst die Standard-http-Methoden </a:t>
            </a:r>
          </a:p>
          <a:p>
            <a:pPr lvl="1"/>
            <a:r>
              <a:rPr lang="de-DE" dirty="0"/>
              <a:t>ist asynchron konzipiert</a:t>
            </a:r>
          </a:p>
          <a:p>
            <a:pPr lvl="1"/>
            <a:endParaRPr lang="de-DE" dirty="0"/>
          </a:p>
          <a:p>
            <a:pPr marL="539750" lvl="2" indent="0">
              <a:buNone/>
            </a:pPr>
            <a:r>
              <a:rPr lang="en-US" dirty="0" err="1">
                <a:latin typeface="Courier New" pitchFamily="49" charset="0"/>
                <a:cs typeface="Courier New" pitchFamily="49" charset="0"/>
              </a:rPr>
              <a:t>http.get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('/endpoint').subscribe(data =&gt; {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// Read the result field from the JSON response.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this.results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jsonAttribute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'];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});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48809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9AAC5D-6A58-1142-AC69-532929FE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Json</a:t>
            </a:r>
            <a:r>
              <a:rPr lang="de-DE" dirty="0"/>
              <a:t> Daten extrahieren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477BCC-E436-CE49-8F11-A3695E6E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get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Response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1DAEB7-67A5-044B-A657-3D87390A3650}"/>
              </a:ext>
            </a:extLst>
          </p:cNvPr>
          <p:cNvSpPr txBox="1"/>
          <p:nvPr/>
        </p:nvSpPr>
        <p:spPr>
          <a:xfrm>
            <a:off x="7743463" y="2199189"/>
            <a:ext cx="190084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Liefert Observable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51F3C81-7650-2346-90F1-F0A86A87E407}"/>
              </a:ext>
            </a:extLst>
          </p:cNvPr>
          <p:cNvCxnSpPr/>
          <p:nvPr/>
        </p:nvCxnSpPr>
        <p:spPr>
          <a:xfrm flipH="1">
            <a:off x="5903089" y="2326511"/>
            <a:ext cx="1678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258750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229B1A-5F42-AB41-B51D-82D160D2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Exception</a:t>
            </a:r>
            <a:r>
              <a:rPr lang="de-DE" dirty="0"/>
              <a:t> Handler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74C6C6-FD5F-244A-80C2-63775175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status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- 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'Server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‘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in intermediate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Methods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02301466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16A89-CA0B-A14F-867D-C8475CDC4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Header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C9F966-9FD1-AD4E-B15A-D8CDB44E4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stringify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object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'Content-Type'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application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RequestOptions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post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objects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301299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061AE6-741C-1943-8A61-0B0606BC8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sz="4100"/>
              <a:t>Übung 24: Starten des Servers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FD51A-0328-7D45-85D2-83A7B9CE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de-DE" sz="2000"/>
              <a:t>Zip-Datei </a:t>
            </a:r>
            <a:r>
              <a:rPr lang="de-DE" sz="2000" i="1"/>
              <a:t>server-js.zip</a:t>
            </a:r>
            <a:r>
              <a:rPr lang="de-DE" sz="2000"/>
              <a:t> entpacken</a:t>
            </a:r>
          </a:p>
          <a:p>
            <a:r>
              <a:rPr lang="de-DE" sz="2000"/>
              <a:t>Konsole öffnen und in Server Verzeichnis wechseln</a:t>
            </a:r>
          </a:p>
          <a:p>
            <a:r>
              <a:rPr lang="de-DE" sz="2000"/>
              <a:t>Installieren per npm install</a:t>
            </a:r>
          </a:p>
          <a:p>
            <a:r>
              <a:rPr lang="de-DE" sz="2000"/>
              <a:t>Starten über node server.js</a:t>
            </a:r>
          </a:p>
          <a:p>
            <a:r>
              <a:rPr lang="de-DE" sz="2000"/>
              <a:t>Backend läuft unter localhost:3000</a:t>
            </a:r>
          </a:p>
          <a:p>
            <a:r>
              <a:rPr lang="de-DE" sz="2000"/>
              <a:t>dev.proxy.json: { "/api": { "target": "http://localhost:3000" } }</a:t>
            </a:r>
          </a:p>
          <a:p>
            <a:r>
              <a:rPr lang="de-DE" sz="2000"/>
              <a:t>Dev-Server mit Proxy starten (</a:t>
            </a:r>
            <a:r>
              <a:rPr lang="de-DE" sz="2000" u="sng">
                <a:hlinkClick r:id="rId2"/>
              </a:rPr>
              <a:t>CORS</a:t>
            </a:r>
            <a:r>
              <a:rPr lang="de-DE" sz="2000"/>
              <a:t>) ng serve --proxy dev.proxy.json</a:t>
            </a:r>
          </a:p>
        </p:txBody>
      </p:sp>
      <p:pic>
        <p:nvPicPr>
          <p:cNvPr id="5" name="Picture 4" descr="Leuchtendes Serverraumpanel">
            <a:extLst>
              <a:ext uri="{FF2B5EF4-FFF2-40B4-BE49-F238E27FC236}">
                <a16:creationId xmlns:a16="http://schemas.microsoft.com/office/drawing/2014/main" id="{678F6889-6537-4702-8EFD-17F15AD7F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075" r="30806"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465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653377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82E74A-BE99-A740-A0E7-BE790BE8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Endpunkte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8D354-D9F9-1547-B1F1-0CC5F7ED2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GET 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(GET_ALL)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(GET_BY_ID)</a:t>
            </a:r>
          </a:p>
          <a:p>
            <a:r>
              <a:rPr lang="de-DE" dirty="0"/>
              <a:t>POST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(INSERT)</a:t>
            </a:r>
          </a:p>
          <a:p>
            <a:r>
              <a:rPr lang="de-DE" dirty="0"/>
              <a:t>PUT/PATCH/DELETE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(UPDATE, PARTIAL_UPDATE, REMOVE)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937423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C89125-F43C-FA44-87A7-5B491BE8D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http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EF286-DAB8-904C-AC17-DC25E408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Verwende in </a:t>
            </a:r>
            <a:r>
              <a:rPr lang="de-DE" dirty="0" err="1"/>
              <a:t>TrainingService</a:t>
            </a:r>
            <a:r>
              <a:rPr lang="de-DE" dirty="0"/>
              <a:t> das Backend statt der Mock-Daten</a:t>
            </a:r>
          </a:p>
          <a:p>
            <a:pPr lvl="1"/>
            <a:r>
              <a:rPr lang="de-DE" dirty="0" err="1"/>
              <a:t>Dev</a:t>
            </a:r>
            <a:r>
              <a:rPr lang="de-DE" dirty="0"/>
              <a:t>-Server mit Proxy starten</a:t>
            </a:r>
          </a:p>
          <a:p>
            <a:pPr lvl="1"/>
            <a:r>
              <a:rPr lang="de-DE" dirty="0"/>
              <a:t>Lade die Liste initial vom Backend</a:t>
            </a:r>
          </a:p>
          <a:p>
            <a:pPr lvl="1"/>
            <a:r>
              <a:rPr lang="de-DE" dirty="0"/>
              <a:t>Achtung: Date Felder vom Server werden </a:t>
            </a:r>
            <a:r>
              <a:rPr lang="de-DE" dirty="0" err="1"/>
              <a:t>serialisiert</a:t>
            </a:r>
            <a:r>
              <a:rPr lang="de-DE" dirty="0"/>
              <a:t> als String gesendet</a:t>
            </a:r>
          </a:p>
          <a:p>
            <a:pPr lvl="2"/>
            <a:r>
              <a:rPr lang="de-DE" dirty="0"/>
              <a:t>Müssen noch in Date umgewandelt werden</a:t>
            </a:r>
          </a:p>
          <a:p>
            <a:pPr lvl="1"/>
            <a:r>
              <a:rPr lang="de-DE" dirty="0"/>
              <a:t>Schicke die geänderten Daten in update per </a:t>
            </a:r>
            <a:r>
              <a:rPr lang="de-DE" dirty="0" err="1"/>
              <a:t>put</a:t>
            </a:r>
            <a:r>
              <a:rPr lang="de-DE" dirty="0"/>
              <a:t> zum Backend</a:t>
            </a:r>
          </a:p>
          <a:p>
            <a:pPr lvl="1"/>
            <a:r>
              <a:rPr lang="de-DE" dirty="0"/>
              <a:t>Lade (der Einfachheit halber) nach einem update die Liste neu vom Backend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5513040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Können simpel erstellt werden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-name&gt;</a:t>
            </a:r>
          </a:p>
          <a:p>
            <a:r>
              <a:rPr lang="de-DE" dirty="0"/>
              <a:t>Die Direktive ist wiederum eine annotierte </a:t>
            </a:r>
            <a:r>
              <a:rPr lang="de-DE" dirty="0" err="1"/>
              <a:t>TypeScript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/>
              <a:t> ist das neue HTML-Attribute oder -Element</a:t>
            </a:r>
          </a:p>
          <a:p>
            <a:pPr lvl="1"/>
            <a:r>
              <a:rPr lang="de-DE" dirty="0"/>
              <a:t>Im </a:t>
            </a:r>
            <a:r>
              <a:rPr lang="de-DE" dirty="0" err="1"/>
              <a:t>Konstruktor</a:t>
            </a:r>
            <a:r>
              <a:rPr lang="de-DE" dirty="0"/>
              <a:t> wird das DOM-Element, das manipuliert werden soll, </a:t>
            </a:r>
            <a:r>
              <a:rPr lang="de-DE" dirty="0" err="1"/>
              <a:t>injected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74722470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</a:t>
            </a:r>
            <a:r>
              <a:rPr lang="de-DE" dirty="0" err="1"/>
              <a:t>Directive</a:t>
            </a:r>
            <a:r>
              <a:rPr lang="de-DE" dirty="0"/>
              <a:t>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 Beispiel ist unter </a:t>
            </a:r>
            <a:r>
              <a:rPr lang="de-DE" i="1" dirty="0">
                <a:latin typeface="Courier New" pitchFamily="49" charset="0"/>
                <a:cs typeface="Courier New" pitchFamily="49" charset="0"/>
                <a:hlinkClick r:id="rId2"/>
              </a:rPr>
              <a:t>https://angular.io/guide/attribute-directives</a:t>
            </a:r>
            <a:r>
              <a:rPr lang="de-DE" dirty="0"/>
              <a:t> zu finden</a:t>
            </a:r>
          </a:p>
          <a:p>
            <a:endParaRPr lang="de-DE" dirty="0"/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appHighlight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]'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HighlightDirective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el.nativeElement.style.backgroundColor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yellow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858708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6" descr="Einen Termin in einen Papierkalender eintragen">
            <a:extLst>
              <a:ext uri="{FF2B5EF4-FFF2-40B4-BE49-F238E27FC236}">
                <a16:creationId xmlns:a16="http://schemas.microsoft.com/office/drawing/2014/main" id="{BE26721F-04CD-4079-88DA-50945D1CE5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0783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Anhang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28423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node.js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7338180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node.js?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node.js ist ein Interpreter für Server-seitiges JavaScript</a:t>
            </a:r>
          </a:p>
          <a:p>
            <a:pPr lvl="1"/>
            <a:r>
              <a:rPr lang="de-DE" dirty="0"/>
              <a:t>Auf Grundlagen der Google V8-Engine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Mit node.js können damit keine Browser-Anwendungen betrieben werden</a:t>
            </a:r>
          </a:p>
          <a:p>
            <a:pPr lvl="1"/>
            <a:r>
              <a:rPr lang="de-DE" dirty="0"/>
              <a:t>Keine UI, Keine User-Events</a:t>
            </a:r>
          </a:p>
          <a:p>
            <a:pPr lvl="1"/>
            <a:r>
              <a:rPr lang="de-DE" dirty="0"/>
              <a:t>Kein </a:t>
            </a:r>
            <a:r>
              <a:rPr lang="de-DE" dirty="0" err="1"/>
              <a:t>Html</a:t>
            </a:r>
            <a:r>
              <a:rPr lang="de-DE" dirty="0"/>
              <a:t>-Dokument und  damit kein DOM</a:t>
            </a:r>
          </a:p>
          <a:p>
            <a:pPr lvl="1"/>
            <a:r>
              <a:rPr lang="de-DE" dirty="0"/>
              <a:t>Kein Browser-API</a:t>
            </a:r>
          </a:p>
          <a:p>
            <a:pPr lvl="2"/>
            <a:r>
              <a:rPr lang="de-DE" dirty="0" err="1"/>
              <a:t>Window</a:t>
            </a:r>
            <a:endParaRPr lang="de-DE" dirty="0"/>
          </a:p>
          <a:p>
            <a:pPr lvl="2"/>
            <a:r>
              <a:rPr lang="de-DE" dirty="0"/>
              <a:t>Historie</a:t>
            </a:r>
          </a:p>
          <a:p>
            <a:pPr lvl="2"/>
            <a:r>
              <a:rPr lang="de-DE" dirty="0"/>
              <a:t>…</a:t>
            </a:r>
          </a:p>
          <a:p>
            <a:r>
              <a:rPr lang="de-DE" dirty="0"/>
              <a:t>Dafür stellt node.js eigene Bibliotheken zur Verfügung</a:t>
            </a:r>
          </a:p>
          <a:p>
            <a:pPr lvl="1"/>
            <a:r>
              <a:rPr lang="de-DE" dirty="0"/>
              <a:t>Dateizugriff</a:t>
            </a:r>
          </a:p>
          <a:p>
            <a:pPr lvl="1"/>
            <a:r>
              <a:rPr lang="de-DE" dirty="0"/>
              <a:t>Multithreading</a:t>
            </a:r>
          </a:p>
          <a:p>
            <a:pPr lvl="1"/>
            <a:r>
              <a:rPr lang="de-DE" dirty="0"/>
              <a:t>Networking</a:t>
            </a:r>
          </a:p>
          <a:p>
            <a:pPr lvl="1"/>
            <a:r>
              <a:rPr lang="de-DE" dirty="0"/>
              <a:t>…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https://nodejs.org/dist/latest-v8.x/docs/api/</a:t>
            </a:r>
          </a:p>
        </p:txBody>
      </p:sp>
    </p:spTree>
    <p:extLst>
      <p:ext uri="{BB962C8B-B14F-4D97-AF65-F5344CB8AC3E}">
        <p14:creationId xmlns:p14="http://schemas.microsoft.com/office/powerpoint/2010/main" val="2868395164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kompletter http-Server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http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('http');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http.createServer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handler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url.match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(/.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/))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res.writeHead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(200,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	'Content-Type' : 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text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});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}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else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…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"./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static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-content" +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fs.createReadStream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pipe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}).listen(6061, '127.0.0.1');</a:t>
            </a:r>
          </a:p>
          <a:p>
            <a:pPr marL="360362" lvl="2" indent="0">
              <a:buNone/>
            </a:pPr>
            <a:endParaRPr lang="de-DE" sz="18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698889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Installation: node.js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96" y="1817224"/>
            <a:ext cx="6088091" cy="45768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1177438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6000">
                <a:solidFill>
                  <a:schemeClr val="bg1"/>
                </a:solidFill>
              </a:rPr>
              <a:t>Testen der Installation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773B6BF-2001-40A3-940A-38314460C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363103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825922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und Browser-basierte Anwendungen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Obwohl node.js nicht im Browser ausgeführt wird, wird es trotzdem gerne im Rahmen der Software-Entwicklung genutzt</a:t>
            </a:r>
          </a:p>
          <a:p>
            <a:r>
              <a:rPr lang="de-DE" dirty="0"/>
              <a:t>Hierzu wird </a:t>
            </a:r>
            <a:r>
              <a:rPr lang="de-DE" dirty="0" err="1"/>
              <a:t>node</a:t>
            </a:r>
            <a:r>
              <a:rPr lang="de-DE" dirty="0"/>
              <a:t> als Web Server eingesetzt, der die JavaScript-Dateien sowie die statischen Ressourcen (HTML, CSS, …) zum Browser sendet</a:t>
            </a:r>
          </a:p>
          <a:p>
            <a:pPr lvl="1"/>
            <a:r>
              <a:rPr lang="de-DE" dirty="0"/>
              <a:t>Mit Hilfe eines Browser-</a:t>
            </a:r>
            <a:r>
              <a:rPr lang="de-DE" dirty="0" err="1"/>
              <a:t>Sync</a:t>
            </a:r>
            <a:r>
              <a:rPr lang="de-DE" dirty="0"/>
              <a:t>-Frameworks </a:t>
            </a:r>
            <a:r>
              <a:rPr lang="de-DE" dirty="0" err="1"/>
              <a:t>triggern</a:t>
            </a:r>
            <a:r>
              <a:rPr lang="de-DE" dirty="0"/>
              <a:t> Änderungen von JavaScript-Dateien auf Server-Seite einen Browser-Refresh</a:t>
            </a:r>
          </a:p>
          <a:p>
            <a:pPr lvl="2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https://www.browsersync.io/</a:t>
            </a:r>
          </a:p>
          <a:p>
            <a:pPr lvl="2"/>
            <a:r>
              <a:rPr lang="de-DE" dirty="0"/>
              <a:t>Damit werden Änderungen ohne weitere Benutzer-Interaktion sofort angezeigt</a:t>
            </a:r>
          </a:p>
          <a:p>
            <a:pPr lvl="2"/>
            <a:r>
              <a:rPr lang="de-DE" dirty="0"/>
              <a:t>Für eine agile Software-Entwicklung natürlich äußerst praktisch</a:t>
            </a:r>
          </a:p>
        </p:txBody>
      </p:sp>
    </p:spTree>
    <p:extLst>
      <p:ext uri="{BB962C8B-B14F-4D97-AF65-F5344CB8AC3E}">
        <p14:creationId xmlns:p14="http://schemas.microsoft.com/office/powerpoint/2010/main" val="1725837086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board boxes on conveyor belt">
            <a:extLst>
              <a:ext uri="{FF2B5EF4-FFF2-40B4-BE49-F238E27FC236}">
                <a16:creationId xmlns:a16="http://schemas.microsoft.com/office/drawing/2014/main" id="{B88A4A31-ECCD-45E1-A145-C0CCF1BC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465" r="5318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npm – Der Node Package Manager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382379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</a:t>
            </a:r>
            <a:r>
              <a:rPr lang="de-DE" dirty="0" err="1"/>
              <a:t>npm</a:t>
            </a:r>
            <a:r>
              <a:rPr lang="de-DE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Primär ein </a:t>
            </a:r>
            <a:r>
              <a:rPr lang="de-DE" dirty="0" err="1"/>
              <a:t>Packaging</a:t>
            </a:r>
            <a:r>
              <a:rPr lang="de-DE" dirty="0"/>
              <a:t> Manager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dirty="0"/>
              <a:t>-Installation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–v</a:t>
            </a:r>
          </a:p>
          <a:p>
            <a:r>
              <a:rPr lang="de-DE" dirty="0"/>
              <a:t>Die offizielle </a:t>
            </a:r>
            <a:r>
              <a:rPr lang="de-DE" dirty="0" err="1"/>
              <a:t>npm</a:t>
            </a:r>
            <a:r>
              <a:rPr lang="de-DE" dirty="0"/>
              <a:t> Registry liegt im Internet</a:t>
            </a:r>
          </a:p>
          <a:p>
            <a:pPr lvl="1"/>
            <a:r>
              <a:rPr lang="de-DE" sz="1600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https://docs.npmjs.com/misc/registry</a:t>
            </a:r>
            <a:endParaRPr lang="de-DE" sz="1600" u="sng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Im Wesentlichen eine </a:t>
            </a:r>
            <a:r>
              <a:rPr lang="de-DE" dirty="0" err="1"/>
              <a:t>CouchDB</a:t>
            </a:r>
            <a:endParaRPr lang="de-DE" dirty="0"/>
          </a:p>
          <a:p>
            <a:pPr lvl="1"/>
            <a:r>
              <a:rPr lang="de-DE" dirty="0"/>
              <a:t>Laden der Software durch </a:t>
            </a:r>
            <a:r>
              <a:rPr lang="de-DE" dirty="0" err="1"/>
              <a:t>RESTful</a:t>
            </a:r>
            <a:r>
              <a:rPr lang="de-DE" dirty="0"/>
              <a:t> Aufrufe</a:t>
            </a:r>
          </a:p>
          <a:p>
            <a:pPr lvl="1"/>
            <a:r>
              <a:rPr lang="de-DE" dirty="0"/>
              <a:t>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-Registry  ist aktuell die größte Sammlung von Software</a:t>
            </a:r>
          </a:p>
          <a:p>
            <a:r>
              <a:rPr lang="de-DE" dirty="0"/>
              <a:t>Unternehmens-interne oder private </a:t>
            </a:r>
            <a:r>
              <a:rPr lang="de-DE" dirty="0" err="1"/>
              <a:t>Registries</a:t>
            </a:r>
            <a:r>
              <a:rPr lang="de-DE" dirty="0"/>
              <a:t> können angemietet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4134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npm</a:t>
            </a:r>
            <a:r>
              <a:rPr lang="de-DE" dirty="0"/>
              <a:t> Kommandos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wird über die Kommandozeile angesprochen</a:t>
            </a:r>
          </a:p>
          <a:p>
            <a:pPr lvl="1"/>
            <a:r>
              <a:rPr lang="de-DE" dirty="0"/>
              <a:t>eine grafische Oberfläche wird als separates Modul zur Verfügung gestellt</a:t>
            </a:r>
          </a:p>
          <a:p>
            <a:r>
              <a:rPr lang="de-DE" dirty="0"/>
              <a:t>Hilfesystem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–h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command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 -h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4382306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phere of mesh and nodes">
            <a:extLst>
              <a:ext uri="{FF2B5EF4-FFF2-40B4-BE49-F238E27FC236}">
                <a16:creationId xmlns:a16="http://schemas.microsoft.com/office/drawing/2014/main" id="{17FFD76C-9713-4363-B49B-2A4839B156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2677" b="2232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Node-Modules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734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Modules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Jede via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geladene Bibliothek wird als </a:t>
            </a:r>
            <a:r>
              <a:rPr lang="de-DE" dirty="0" err="1"/>
              <a:t>Node</a:t>
            </a:r>
            <a:r>
              <a:rPr lang="de-DE" dirty="0"/>
              <a:t>-Module konzipiert</a:t>
            </a:r>
          </a:p>
          <a:p>
            <a:r>
              <a:rPr lang="de-DE" dirty="0"/>
              <a:t>Jedes Modul besitzt</a:t>
            </a:r>
          </a:p>
          <a:p>
            <a:pPr lvl="1"/>
            <a:r>
              <a:rPr lang="de-DE" dirty="0"/>
              <a:t>Eine Informationsdatei, die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, die das Projekt zusätzlich beschreibt</a:t>
            </a:r>
          </a:p>
          <a:p>
            <a:pPr lvl="1"/>
            <a:r>
              <a:rPr lang="de-DE" dirty="0"/>
              <a:t>Abhängige Bibliotheken im Unterverzeichnis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node_modules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Diese sind selbst ebenfalls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pPr lvl="1"/>
            <a:r>
              <a:rPr lang="de-DE" dirty="0"/>
              <a:t>Einen Entry-Point, in dem der Module-Entwickler das Fachobjekt seines Moduls erzeugt und exportiert</a:t>
            </a:r>
          </a:p>
          <a:p>
            <a:pPr lvl="2"/>
            <a:r>
              <a:rPr lang="de-DE" dirty="0"/>
              <a:t>Dazu wird dem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module</a:t>
            </a:r>
            <a:r>
              <a:rPr lang="de-DE" dirty="0"/>
              <a:t>-Objekt die Eigenschaft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exports</a:t>
            </a:r>
            <a:r>
              <a:rPr lang="de-DE" dirty="0"/>
              <a:t> gesetzt</a:t>
            </a:r>
          </a:p>
          <a:p>
            <a:pPr lvl="1"/>
            <a:r>
              <a:rPr lang="de-DE" dirty="0"/>
              <a:t>Zur Benutzung eines Moduls innerhalb eines Scripts dient der </a:t>
            </a:r>
            <a:r>
              <a:rPr lang="de-DE" dirty="0" err="1"/>
              <a:t>Node</a:t>
            </a:r>
            <a:r>
              <a:rPr lang="de-DE" dirty="0"/>
              <a:t>-Befehl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Der Rückgabewert von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/>
              <a:t> ist das vom Modul erzeugte und exportierte Fachobjekt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826062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Enthält die Projektinformation im JSON-Format</a:t>
            </a:r>
          </a:p>
          <a:p>
            <a:r>
              <a:rPr lang="de-DE" dirty="0"/>
              <a:t>Die Datei enthält</a:t>
            </a:r>
          </a:p>
          <a:p>
            <a:pPr lvl="1"/>
            <a:r>
              <a:rPr lang="de-DE" dirty="0"/>
              <a:t>Den Projektnamen</a:t>
            </a:r>
          </a:p>
          <a:p>
            <a:pPr lvl="1"/>
            <a:r>
              <a:rPr lang="de-DE" dirty="0"/>
              <a:t>Die aktuelle Versionsnummer</a:t>
            </a:r>
          </a:p>
          <a:p>
            <a:pPr lvl="1"/>
            <a:r>
              <a:rPr lang="de-DE" dirty="0"/>
              <a:t>Meta-Informationen wie Autor, Schlüsselwörter, Lizenz</a:t>
            </a:r>
          </a:p>
          <a:p>
            <a:pPr lvl="1"/>
            <a:r>
              <a:rPr lang="de-DE" dirty="0" err="1"/>
              <a:t>Dependencies</a:t>
            </a:r>
            <a:endParaRPr lang="de-DE" dirty="0"/>
          </a:p>
          <a:p>
            <a:pPr lvl="1"/>
            <a:r>
              <a:rPr lang="de-DE" dirty="0"/>
              <a:t>Ein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/>
              <a:t>-Objekt mit ausführbaren Befehlen</a:t>
            </a:r>
          </a:p>
          <a:p>
            <a:pPr lvl="2"/>
            <a:r>
              <a:rPr lang="de-DE" dirty="0"/>
              <a:t>Diese können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de-DE" dirty="0"/>
              <a:t> ausgeführt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9718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Initialisierung eines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Jedes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-basierte Projekt ist ein neues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Dabei werden interaktiv die Informationen abgefragt, die zur Erstellung der </a:t>
            </a:r>
            <a:r>
              <a:rPr lang="de-DE" dirty="0" err="1"/>
              <a:t>initialen</a:t>
            </a:r>
            <a:r>
              <a:rPr lang="de-DE" dirty="0"/>
              <a:t>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 benötigt werden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484732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944381940"/>
              </p:ext>
            </p:extLst>
          </p:nvPr>
        </p:nvGraphicFramePr>
        <p:xfrm>
          <a:off x="6217639" y="1122184"/>
          <a:ext cx="4140460" cy="52565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0621557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Projekt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-sample",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version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"1.0.0",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description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"a simple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project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"index.js",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keywords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theAuthor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license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"ISC"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02470508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Datei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index.js</a:t>
            </a:r>
          </a:p>
          <a:p>
            <a:pPr marL="288925" lvl="1" indent="0">
              <a:buNone/>
            </a:pPr>
            <a:r>
              <a:rPr lang="de-DE" i="1" dirty="0" err="1">
                <a:latin typeface="Courier New" pitchFamily="49" charset="0"/>
                <a:cs typeface="Courier New" pitchFamily="49" charset="0"/>
              </a:rPr>
              <a:t>module.exports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 = 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	log: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(){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  console.log('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Hello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')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}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de-DE" dirty="0"/>
              <a:t>In der REPL</a:t>
            </a:r>
          </a:p>
          <a:p>
            <a:pPr marL="28892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('./index.js')</a:t>
            </a:r>
          </a:p>
          <a:p>
            <a:pPr marL="28892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training.log()</a:t>
            </a:r>
          </a:p>
        </p:txBody>
      </p:sp>
    </p:spTree>
    <p:extLst>
      <p:ext uri="{BB962C8B-B14F-4D97-AF65-F5344CB8AC3E}">
        <p14:creationId xmlns:p14="http://schemas.microsoft.com/office/powerpoint/2010/main" val="3472476911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Installieren von Abhängigkeiten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Abhängigkeiten werden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/>
              <a:t> von einer </a:t>
            </a:r>
            <a:r>
              <a:rPr lang="de-DE" dirty="0" err="1"/>
              <a:t>npm</a:t>
            </a:r>
            <a:r>
              <a:rPr lang="de-DE" dirty="0"/>
              <a:t>-Registry geladen</a:t>
            </a:r>
          </a:p>
          <a:p>
            <a:pPr lvl="1"/>
            <a:r>
              <a:rPr lang="de-DE" dirty="0"/>
              <a:t>Ohne weitere Konfiguration wird dazu die Standard-Registry benutzt</a:t>
            </a:r>
          </a:p>
          <a:p>
            <a:pPr lvl="2"/>
            <a:r>
              <a:rPr lang="de-DE" dirty="0"/>
              <a:t>Damit ist eine Internet-Verbindung notwendig</a:t>
            </a:r>
          </a:p>
          <a:p>
            <a:pPr lvl="1"/>
            <a:r>
              <a:rPr lang="de-DE" dirty="0"/>
              <a:t>Es können aber auch Unternehmens-interne Repository-Server benutzt werden</a:t>
            </a:r>
          </a:p>
          <a:p>
            <a:pPr lvl="2"/>
            <a:r>
              <a:rPr lang="de-DE" dirty="0"/>
              <a:t>z.B. Nexus</a:t>
            </a:r>
          </a:p>
          <a:p>
            <a:r>
              <a:rPr lang="de-DE" dirty="0"/>
              <a:t>Rechner-Registry</a:t>
            </a:r>
          </a:p>
          <a:p>
            <a:pPr lvl="1"/>
            <a:r>
              <a:rPr lang="de-DE" dirty="0"/>
              <a:t>Die Abhängigkeiten werden auf dem Rechner abgelegt</a:t>
            </a:r>
          </a:p>
          <a:p>
            <a:pPr lvl="2"/>
            <a:r>
              <a:rPr lang="de-DE" dirty="0"/>
              <a:t>Ab jetzt ist damit keine Internet-Verbindung mehr nötig</a:t>
            </a:r>
          </a:p>
          <a:p>
            <a:pPr lvl="1"/>
            <a:r>
              <a:rPr lang="de-DE" dirty="0"/>
              <a:t>Orte:</a:t>
            </a:r>
          </a:p>
          <a:p>
            <a:pPr lvl="2"/>
            <a:r>
              <a:rPr lang="de-DE" dirty="0"/>
              <a:t>lokale Ablage in einem Unterverzeichnis namens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-modules</a:t>
            </a:r>
          </a:p>
          <a:p>
            <a:pPr lvl="3"/>
            <a:r>
              <a:rPr lang="de-DE" dirty="0"/>
              <a:t>Empfohlenes Standard-Verfahren zur Installation von </a:t>
            </a:r>
            <a:r>
              <a:rPr lang="de-DE" dirty="0" err="1"/>
              <a:t>Dependencies</a:t>
            </a:r>
            <a:r>
              <a:rPr lang="de-DE" dirty="0"/>
              <a:t> für eigene Software-Projekte</a:t>
            </a:r>
          </a:p>
          <a:p>
            <a:pPr lvl="2"/>
            <a:r>
              <a:rPr lang="de-DE" dirty="0"/>
              <a:t>globale Ablage</a:t>
            </a:r>
          </a:p>
          <a:p>
            <a:pPr lvl="3"/>
            <a:r>
              <a:rPr lang="de-DE" dirty="0"/>
              <a:t>Empfohlenes Standard-Verfahren zur Installation von allgemein verwendbaren Werkzeugen</a:t>
            </a:r>
          </a:p>
        </p:txBody>
      </p:sp>
    </p:spTree>
    <p:extLst>
      <p:ext uri="{BB962C8B-B14F-4D97-AF65-F5344CB8AC3E}">
        <p14:creationId xmlns:p14="http://schemas.microsoft.com/office/powerpoint/2010/main" val="133673460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1D9A78"/>
    </a:accent1>
    <a:accent2>
      <a:srgbClr val="8BC145"/>
    </a:accent2>
    <a:accent3>
      <a:srgbClr val="36AFCE"/>
    </a:accent3>
    <a:accent4>
      <a:srgbClr val="1D6FA9"/>
    </a:accent4>
    <a:accent5>
      <a:srgbClr val="B74919"/>
    </a:accent5>
    <a:accent6>
      <a:srgbClr val="F19D19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11546</Words>
  <Application>Microsoft Macintosh PowerPoint</Application>
  <PresentationFormat>Breitbild</PresentationFormat>
  <Paragraphs>2043</Paragraphs>
  <Slides>267</Slides>
  <Notes>32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267</vt:i4>
      </vt:variant>
    </vt:vector>
  </HeadingPairs>
  <TitlesOfParts>
    <vt:vector size="277" baseType="lpstr">
      <vt:lpstr>Aller</vt:lpstr>
      <vt:lpstr>Arial</vt:lpstr>
      <vt:lpstr>Calibri</vt:lpstr>
      <vt:lpstr>Calibri Light</vt:lpstr>
      <vt:lpstr>Courier New</vt:lpstr>
      <vt:lpstr>Menlo</vt:lpstr>
      <vt:lpstr>SourceCodePro</vt:lpstr>
      <vt:lpstr>Wingdings</vt:lpstr>
      <vt:lpstr>Benutzerdefiniertes Design</vt:lpstr>
      <vt:lpstr>Office</vt:lpstr>
      <vt:lpstr>Typescript Primer</vt:lpstr>
      <vt:lpstr>Einrichten von Typescript </vt:lpstr>
      <vt:lpstr>Benötigte Komponenten</vt:lpstr>
      <vt:lpstr>Konfiguration des TypeScript-Compilers</vt:lpstr>
      <vt:lpstr>Scripts der package.json</vt:lpstr>
      <vt:lpstr>Benutzung</vt:lpstr>
      <vt:lpstr>PowerPoint-Präsentation</vt:lpstr>
      <vt:lpstr>PowerPoint-Präsentation</vt:lpstr>
      <vt:lpstr>Warum Typescript</vt:lpstr>
      <vt:lpstr>Type Hierarchy</vt:lpstr>
      <vt:lpstr>Spezielle Typen</vt:lpstr>
      <vt:lpstr>Variablen Deklaration</vt:lpstr>
      <vt:lpstr>Typisierte Deklaration von Variablen</vt:lpstr>
      <vt:lpstr>Deklaration von Variablen mit const und let</vt:lpstr>
      <vt:lpstr>Variable Samples</vt:lpstr>
      <vt:lpstr>Var-Scoping Macken</vt:lpstr>
      <vt:lpstr>Var-Scoping Macken 2</vt:lpstr>
      <vt:lpstr>Var-Scoping Macken 3</vt:lpstr>
      <vt:lpstr>Block Scoping </vt:lpstr>
      <vt:lpstr>Block Scoping 2 </vt:lpstr>
      <vt:lpstr>Block Scoping 3</vt:lpstr>
      <vt:lpstr>Zusammenfassung Tag 1</vt:lpstr>
      <vt:lpstr>const</vt:lpstr>
      <vt:lpstr>Kontrollstrukturen</vt:lpstr>
      <vt:lpstr>Kontrollstrukturen</vt:lpstr>
      <vt:lpstr>Number Datentyp</vt:lpstr>
      <vt:lpstr>Number Funktionen</vt:lpstr>
      <vt:lpstr>String Funktionen </vt:lpstr>
      <vt:lpstr>Funktionen deklarieren</vt:lpstr>
      <vt:lpstr>Varargs AKA Rest Parameters</vt:lpstr>
      <vt:lpstr>Default Parameter</vt:lpstr>
      <vt:lpstr>Anonyme Funktionen</vt:lpstr>
      <vt:lpstr>Funktionen überladen</vt:lpstr>
      <vt:lpstr>Container</vt:lpstr>
      <vt:lpstr>PowerPoint-Präsentation</vt:lpstr>
      <vt:lpstr>PowerPoint-Präsentation</vt:lpstr>
      <vt:lpstr>Array Schnittstellen Auszug </vt:lpstr>
      <vt:lpstr>concat()</vt:lpstr>
      <vt:lpstr>Pop und push</vt:lpstr>
      <vt:lpstr>PowerPoint-Präsentation</vt:lpstr>
      <vt:lpstr>Schnittstellen - Interfaces</vt:lpstr>
      <vt:lpstr>Enum</vt:lpstr>
      <vt:lpstr>Nonsens Code</vt:lpstr>
      <vt:lpstr>Beispiel Interface</vt:lpstr>
      <vt:lpstr>Interface Beispiel</vt:lpstr>
      <vt:lpstr>Interface Beispiel mit var</vt:lpstr>
      <vt:lpstr>Inline Interface Def</vt:lpstr>
      <vt:lpstr>Optional und Readonly</vt:lpstr>
      <vt:lpstr>Klassen deklarieren</vt:lpstr>
      <vt:lpstr>Member von Klassen</vt:lpstr>
      <vt:lpstr>Klassen Definition</vt:lpstr>
      <vt:lpstr>Klassen: readonly</vt:lpstr>
      <vt:lpstr>Sichtbarkeit</vt:lpstr>
      <vt:lpstr>Sichtbarkeit Beispiel</vt:lpstr>
      <vt:lpstr>Übung 1: Erstelle die Klasse Student, so dass sie wie hier arbeitet</vt:lpstr>
      <vt:lpstr>Übung 2: Erstelle einen Konstruktor, so dass die Klasse wie hier arbeitet</vt:lpstr>
      <vt:lpstr>Getter Setter</vt:lpstr>
      <vt:lpstr>PowerPoint-Präsentation</vt:lpstr>
      <vt:lpstr>Beispiel</vt:lpstr>
      <vt:lpstr>PowerPoint-Präsentation</vt:lpstr>
      <vt:lpstr>Klassen: Vererbung</vt:lpstr>
      <vt:lpstr>PowerPoint-Präsentation</vt:lpstr>
      <vt:lpstr>Klassen im Detail: Attribute und Methoden </vt:lpstr>
      <vt:lpstr>Namespaces</vt:lpstr>
      <vt:lpstr>Namespaces</vt:lpstr>
      <vt:lpstr>PowerPoint-Präsentation</vt:lpstr>
      <vt:lpstr>Weitere Exporte </vt:lpstr>
      <vt:lpstr>Named importieren</vt:lpstr>
      <vt:lpstr>Imports</vt:lpstr>
      <vt:lpstr>Übung 3: Module</vt:lpstr>
      <vt:lpstr>Angular</vt:lpstr>
      <vt:lpstr>Wiederholung Tag 2</vt:lpstr>
      <vt:lpstr>Architektur Überblick</vt:lpstr>
      <vt:lpstr>Literatur und Quellen</vt:lpstr>
      <vt:lpstr>Installation und Setup</vt:lpstr>
      <vt:lpstr>JavaScript-Grundinstallation</vt:lpstr>
      <vt:lpstr>Installation des Angular Command Line Interfaces</vt:lpstr>
      <vt:lpstr>Überblick über ng command line</vt:lpstr>
      <vt:lpstr>Ein erstes Projekt</vt:lpstr>
      <vt:lpstr>Anlegen des Projekts</vt:lpstr>
      <vt:lpstr>Projektstruktur</vt:lpstr>
      <vt:lpstr>Die Anwendung unter localhost:4200</vt:lpstr>
      <vt:lpstr>Übung 4: Erstelle Initiales Projekt</vt:lpstr>
      <vt:lpstr>Reload der App im Hintergrund bei Change</vt:lpstr>
      <vt:lpstr>Die aktualisierte Seite</vt:lpstr>
      <vt:lpstr>Ein Angular Module</vt:lpstr>
      <vt:lpstr>Was ist ein Modul</vt:lpstr>
      <vt:lpstr>Übersicht der Dateien eines Moduls</vt:lpstr>
      <vt:lpstr>Referenz auf Module in Index-Seite</vt:lpstr>
      <vt:lpstr>Component-Annotation</vt:lpstr>
      <vt:lpstr>Aufgabe der Component</vt:lpstr>
      <vt:lpstr>Angular-Module: Die Component</vt:lpstr>
      <vt:lpstr>Angular-Module: Das HTML-Template</vt:lpstr>
      <vt:lpstr>Angular-Module: Module-Deklaration</vt:lpstr>
      <vt:lpstr>Ablauf bis hier her</vt:lpstr>
      <vt:lpstr>Angular-Module: Module-Deklaration</vt:lpstr>
      <vt:lpstr>Kompletter Ablauf</vt:lpstr>
      <vt:lpstr>Einfache Erweiterungen</vt:lpstr>
      <vt:lpstr>Mehrere Komponenten</vt:lpstr>
      <vt:lpstr>Export von Benutzerdefinierten Typen</vt:lpstr>
      <vt:lpstr>Auflistungen</vt:lpstr>
      <vt:lpstr>UI-Programmierung</vt:lpstr>
      <vt:lpstr>Data Binding</vt:lpstr>
      <vt:lpstr>Die ngModel-Direktive</vt:lpstr>
      <vt:lpstr>Data Binding: Beispiel</vt:lpstr>
      <vt:lpstr>Übung 5: Databinding</vt:lpstr>
      <vt:lpstr>Direktiven</vt:lpstr>
      <vt:lpstr>Direktiven</vt:lpstr>
      <vt:lpstr>Beispiel</vt:lpstr>
      <vt:lpstr>Direktiven des Angular-Frameworks</vt:lpstr>
      <vt:lpstr>Noch ein paar Beispiele</vt:lpstr>
      <vt:lpstr>Attribut Direktiven</vt:lpstr>
      <vt:lpstr>Übung 6</vt:lpstr>
      <vt:lpstr>Child Components</vt:lpstr>
      <vt:lpstr>Goals</vt:lpstr>
      <vt:lpstr>Verschachtelung</vt:lpstr>
      <vt:lpstr>Komponente als Direktive einbinden</vt:lpstr>
      <vt:lpstr>Deklaration</vt:lpstr>
      <vt:lpstr>Mittels ng-generate</vt:lpstr>
      <vt:lpstr>Module generieren</vt:lpstr>
      <vt:lpstr>Übung 7: Komponenten schachteln</vt:lpstr>
      <vt:lpstr>Input einer Component</vt:lpstr>
      <vt:lpstr>Beispiel: Input einer Child-Component</vt:lpstr>
      <vt:lpstr>Inputs</vt:lpstr>
      <vt:lpstr>Übung 8: Inputs</vt:lpstr>
      <vt:lpstr>Events </vt:lpstr>
      <vt:lpstr>Event Binding</vt:lpstr>
      <vt:lpstr>Event Handler</vt:lpstr>
      <vt:lpstr>Event Handler: Beispiel</vt:lpstr>
      <vt:lpstr>Übung 9: Events</vt:lpstr>
      <vt:lpstr>Output -- Events aus Komponenten</vt:lpstr>
      <vt:lpstr>Output Beispiel</vt:lpstr>
      <vt:lpstr>Nutzende Komponente</vt:lpstr>
      <vt:lpstr>Übung 10: Output</vt:lpstr>
      <vt:lpstr>Expression Language </vt:lpstr>
      <vt:lpstr>Was wir fast alles schon kennen</vt:lpstr>
      <vt:lpstr>Expression</vt:lpstr>
      <vt:lpstr>Safe Navigator</vt:lpstr>
      <vt:lpstr>One Way Property Bindings bei Images </vt:lpstr>
      <vt:lpstr>Event Binding </vt:lpstr>
      <vt:lpstr>Style Bindings</vt:lpstr>
      <vt:lpstr>Data Binding in Formularen</vt:lpstr>
      <vt:lpstr>Übung 11: Bindings auf Images und mehr</vt:lpstr>
      <vt:lpstr>Übung 12: Class Binding</vt:lpstr>
      <vt:lpstr>Übung 13: Formulare</vt:lpstr>
      <vt:lpstr>Services</vt:lpstr>
      <vt:lpstr>Eigenschaften eines Services</vt:lpstr>
      <vt:lpstr>Services? Was</vt:lpstr>
      <vt:lpstr>Aufgaben eines Services</vt:lpstr>
      <vt:lpstr>Ein simpler Service</vt:lpstr>
      <vt:lpstr>Methode in Services</vt:lpstr>
      <vt:lpstr>API Stabilität</vt:lpstr>
      <vt:lpstr>Objektnetze in OO- Systemen</vt:lpstr>
      <vt:lpstr>Assignment by Third Party</vt:lpstr>
      <vt:lpstr>Creating itself - DIRECT</vt:lpstr>
      <vt:lpstr>Factory- Pattern</vt:lpstr>
      <vt:lpstr>Dependency Injection</vt:lpstr>
      <vt:lpstr>Beispiel: Service</vt:lpstr>
      <vt:lpstr>DI Konfig</vt:lpstr>
      <vt:lpstr>Wie geht DI in Angular</vt:lpstr>
      <vt:lpstr>Kontextbasierte Injektion </vt:lpstr>
      <vt:lpstr>Übung 14</vt:lpstr>
      <vt:lpstr>Übung 15</vt:lpstr>
      <vt:lpstr>Komponenten Lebenszyklus</vt:lpstr>
      <vt:lpstr>Was soll das?</vt:lpstr>
      <vt:lpstr>Best Practices: OnInit</vt:lpstr>
      <vt:lpstr>Übung 16: OnInit</vt:lpstr>
      <vt:lpstr>Pipes</vt:lpstr>
      <vt:lpstr>PowerPoint-Präsentation</vt:lpstr>
      <vt:lpstr>Was sind Pipes?</vt:lpstr>
      <vt:lpstr>Decimal Pipe</vt:lpstr>
      <vt:lpstr>Date Pipe</vt:lpstr>
      <vt:lpstr>Übung 17: Pipe</vt:lpstr>
      <vt:lpstr>Pipes sind Klassen</vt:lpstr>
      <vt:lpstr>Deklaration an Modulen</vt:lpstr>
      <vt:lpstr>Übung 18: Eigene Pipe</vt:lpstr>
      <vt:lpstr>Asynchrone &amp; Reaktive Programmierung</vt:lpstr>
      <vt:lpstr>Welche Eigenschaft hat die Variable X</vt:lpstr>
      <vt:lpstr>Und hier?</vt:lpstr>
      <vt:lpstr>Threading im Browser</vt:lpstr>
      <vt:lpstr>Callback API </vt:lpstr>
      <vt:lpstr>Lösung sind Promises</vt:lpstr>
      <vt:lpstr>Promise Beispiel</vt:lpstr>
      <vt:lpstr>Observable als Promise++</vt:lpstr>
      <vt:lpstr> Methoden für Zwischenverarbeitung </vt:lpstr>
      <vt:lpstr>Observables sind lazy</vt:lpstr>
      <vt:lpstr>PowerPoint-Präsentation</vt:lpstr>
      <vt:lpstr>Unsubscribe Nicht vergessen </vt:lpstr>
      <vt:lpstr>Automatisches Unsubscribe</vt:lpstr>
      <vt:lpstr>Reactive Extensions – RxJS</vt:lpstr>
      <vt:lpstr>Übung 17: Async TrainingService</vt:lpstr>
      <vt:lpstr>Routing und Navigation</vt:lpstr>
      <vt:lpstr>Arbeitsweise</vt:lpstr>
      <vt:lpstr>Features von Routen</vt:lpstr>
      <vt:lpstr>Routendefinition</vt:lpstr>
      <vt:lpstr>Ablauf</vt:lpstr>
      <vt:lpstr>Verlinken von Routen</vt:lpstr>
      <vt:lpstr>Default / Fallback Route</vt:lpstr>
      <vt:lpstr>Routenkonfiguration</vt:lpstr>
      <vt:lpstr>Beispiel: Routen-Definition</vt:lpstr>
      <vt:lpstr>Location-Strategy</vt:lpstr>
      <vt:lpstr>Übung 18: Routen für Detail und Listansicht</vt:lpstr>
      <vt:lpstr>Pfadparameter für dynamische Information</vt:lpstr>
      <vt:lpstr>Beispiel Pfadparameter</vt:lpstr>
      <vt:lpstr>Details zu den Routen</vt:lpstr>
      <vt:lpstr>Beispiel</vt:lpstr>
      <vt:lpstr>Stream Fetisch – Weiterverarbeitung von Routeparameter </vt:lpstr>
      <vt:lpstr>Navigation im html</vt:lpstr>
      <vt:lpstr>Navigation im Code – Component Klasse</vt:lpstr>
      <vt:lpstr>Übung 20: Routing mit Parametern</vt:lpstr>
      <vt:lpstr>Formulare und Eingabefelder </vt:lpstr>
      <vt:lpstr>Rückblick auf Standard html</vt:lpstr>
      <vt:lpstr>Formulare inAngular</vt:lpstr>
      <vt:lpstr>Formulare, Gruppen, Felder</vt:lpstr>
      <vt:lpstr>Formulare Bauen mit ReactiveFormsModule</vt:lpstr>
      <vt:lpstr>HowTo</vt:lpstr>
      <vt:lpstr>Übung 21: FormBuilder</vt:lpstr>
      <vt:lpstr>Validierung</vt:lpstr>
      <vt:lpstr>PowerPoint-Präsentation</vt:lpstr>
      <vt:lpstr>Verwendung</vt:lpstr>
      <vt:lpstr>Validierungsfehler</vt:lpstr>
      <vt:lpstr>Zugriff auf Fehlerzustand</vt:lpstr>
      <vt:lpstr>ErrorsMap</vt:lpstr>
      <vt:lpstr>Übung 22: Validierung</vt:lpstr>
      <vt:lpstr>Kind Komponenten</vt:lpstr>
      <vt:lpstr>Best Practice</vt:lpstr>
      <vt:lpstr>Rückblick: Input Output</vt:lpstr>
      <vt:lpstr>@ViewChild</vt:lpstr>
      <vt:lpstr>Kommunikation über ThirdParty</vt:lpstr>
      <vt:lpstr>Beispiel Event Emitter</vt:lpstr>
      <vt:lpstr>Übung 23</vt:lpstr>
      <vt:lpstr>Client-Server-Kommunikation</vt:lpstr>
      <vt:lpstr>Exkurs REST</vt:lpstr>
      <vt:lpstr>Das http-Protokoll</vt:lpstr>
      <vt:lpstr>Elemente der http-Spezifikation</vt:lpstr>
      <vt:lpstr>Elemente der http-Spezifikation II</vt:lpstr>
      <vt:lpstr>MimeTypes</vt:lpstr>
      <vt:lpstr>REST und http</vt:lpstr>
      <vt:lpstr>PowerPoint-Präsentation</vt:lpstr>
      <vt:lpstr>Der http Client</vt:lpstr>
      <vt:lpstr>Der Service HttpClient</vt:lpstr>
      <vt:lpstr>Json Daten extrahieren</vt:lpstr>
      <vt:lpstr>Exception Handler</vt:lpstr>
      <vt:lpstr>Header</vt:lpstr>
      <vt:lpstr>Übung 24: Starten des Servers</vt:lpstr>
      <vt:lpstr>Übung 24: Endpunkte</vt:lpstr>
      <vt:lpstr>Übung 24: http </vt:lpstr>
      <vt:lpstr>Eigene Direktiven</vt:lpstr>
      <vt:lpstr>Eigene Directive: Beispiel</vt:lpstr>
      <vt:lpstr>Anhang</vt:lpstr>
      <vt:lpstr>node.js</vt:lpstr>
      <vt:lpstr>Was ist node.js?</vt:lpstr>
      <vt:lpstr>Beispiel: Ein kompletter http-Server</vt:lpstr>
      <vt:lpstr>Installation: node.js</vt:lpstr>
      <vt:lpstr>Testen der Installation</vt:lpstr>
      <vt:lpstr>Node und Browser-basierte Anwendungen</vt:lpstr>
      <vt:lpstr>npm – Der Node Package Manager</vt:lpstr>
      <vt:lpstr>Was ist npm?</vt:lpstr>
      <vt:lpstr>npm Kommandos</vt:lpstr>
      <vt:lpstr>Node-Modules</vt:lpstr>
      <vt:lpstr>Node Modules</vt:lpstr>
      <vt:lpstr>Die package.json</vt:lpstr>
      <vt:lpstr>Initialisierung eines Projekts</vt:lpstr>
      <vt:lpstr>Projektstruktur</vt:lpstr>
      <vt:lpstr>Beispiel: Ein einfaches Projekt</vt:lpstr>
      <vt:lpstr>Beispiel: Ein einfaches Node-Module</vt:lpstr>
      <vt:lpstr>Installieren von Abhängigkeiten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Götzinger</dc:creator>
  <cp:lastModifiedBy>Thomas Götzinger</cp:lastModifiedBy>
  <cp:revision>127</cp:revision>
  <dcterms:created xsi:type="dcterms:W3CDTF">2020-01-15T16:45:15Z</dcterms:created>
  <dcterms:modified xsi:type="dcterms:W3CDTF">2021-06-11T08:40:42Z</dcterms:modified>
</cp:coreProperties>
</file>