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14380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9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09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2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0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86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0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1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895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12/13/2023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9324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4CD6D0-88B6-45F4-AC60-54587D3C9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Open Field With Satellite Dish">
            <a:extLst>
              <a:ext uri="{FF2B5EF4-FFF2-40B4-BE49-F238E27FC236}">
                <a16:creationId xmlns:a16="http://schemas.microsoft.com/office/drawing/2014/main" id="{2D576F97-2C7B-B8AF-CAF2-E8926DCEBB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59" r="-1" b="-1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A079D24-860A-4799-B3AE-658D4F13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76325"/>
            <a:ext cx="12191999" cy="4705352"/>
          </a:xfrm>
          <a:prstGeom prst="rect">
            <a:avLst/>
          </a:prstGeom>
          <a:gradFill flip="none" rotWithShape="1">
            <a:gsLst>
              <a:gs pos="45000">
                <a:srgbClr val="000000">
                  <a:alpha val="35000"/>
                </a:srgbClr>
              </a:gs>
              <a:gs pos="55000">
                <a:srgbClr val="000000">
                  <a:alpha val="35000"/>
                </a:srgbClr>
              </a:gs>
              <a:gs pos="25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  <a:gs pos="75000">
                <a:srgbClr val="000000">
                  <a:alpha val="2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B62457-27D4-C63C-3AA5-286E47065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10" y="2568575"/>
            <a:ext cx="4457690" cy="1720850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State Management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D9EF19-46F4-DDC7-8CF9-EB87157D7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2568575"/>
            <a:ext cx="4451347" cy="1720850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Ngrx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14D892-36B8-4065-9158-50C22E1E6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3429000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77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A2334D-EAFC-4DAA-814D-38A61FEB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75C9BA-F7A6-E0A3-4691-E792A3AFA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@ngrx/store als </a:t>
            </a:r>
            <a:r>
              <a:rPr lang="de-DE" dirty="0" err="1"/>
              <a:t>Redux</a:t>
            </a:r>
            <a:r>
              <a:rPr lang="de-DE" dirty="0"/>
              <a:t> Implementierung</a:t>
            </a:r>
          </a:p>
          <a:p>
            <a:endParaRPr lang="de-DE" dirty="0"/>
          </a:p>
          <a:p>
            <a:r>
              <a:rPr lang="de-DE" dirty="0"/>
              <a:t>Actions</a:t>
            </a:r>
          </a:p>
          <a:p>
            <a:r>
              <a:rPr lang="de-DE" dirty="0" err="1"/>
              <a:t>Reducer</a:t>
            </a:r>
            <a:endParaRPr lang="de-DE" dirty="0"/>
          </a:p>
          <a:p>
            <a:r>
              <a:rPr lang="de-DE" dirty="0"/>
              <a:t>Selektoren</a:t>
            </a:r>
          </a:p>
          <a:p>
            <a:r>
              <a:rPr lang="de-DE" dirty="0" err="1"/>
              <a:t>Effects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979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2F31-E378-47C6-3090-C8BF3627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Zustandsverwaltung – v1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B113F77-7A4D-3925-62CA-294F9F09AD2E}"/>
              </a:ext>
            </a:extLst>
          </p:cNvPr>
          <p:cNvSpPr/>
          <p:nvPr/>
        </p:nvSpPr>
        <p:spPr>
          <a:xfrm>
            <a:off x="5096920" y="1836785"/>
            <a:ext cx="1761423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App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4B3161B-03E4-8879-2F06-DF2832CAD19A}"/>
              </a:ext>
            </a:extLst>
          </p:cNvPr>
          <p:cNvSpPr/>
          <p:nvPr/>
        </p:nvSpPr>
        <p:spPr>
          <a:xfrm>
            <a:off x="1412106" y="3429000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Course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9E28B6-E02A-547E-0E54-B0C507D42736}"/>
              </a:ext>
            </a:extLst>
          </p:cNvPr>
          <p:cNvSpPr/>
          <p:nvPr/>
        </p:nvSpPr>
        <p:spPr>
          <a:xfrm>
            <a:off x="4602685" y="3384681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4EAC03B-1010-2263-57FA-33AF3AFE459D}"/>
              </a:ext>
            </a:extLst>
          </p:cNvPr>
          <p:cNvSpPr/>
          <p:nvPr/>
        </p:nvSpPr>
        <p:spPr>
          <a:xfrm>
            <a:off x="8012635" y="3388179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E7D393C4-9BB5-7330-DE37-A18D1040865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052905" y="1504273"/>
            <a:ext cx="774068" cy="3075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8BCBED3F-5097-5D8A-2BFD-258DA27020A2}"/>
              </a:ext>
            </a:extLst>
          </p:cNvPr>
          <p:cNvCxnSpPr>
            <a:stCxn id="5" idx="2"/>
          </p:cNvCxnSpPr>
          <p:nvPr/>
        </p:nvCxnSpPr>
        <p:spPr>
          <a:xfrm rot="5400000">
            <a:off x="5612758" y="3019806"/>
            <a:ext cx="729749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EC165460-C617-5C2C-3293-19AC3BAA335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373580" y="1258983"/>
            <a:ext cx="733247" cy="3525143"/>
          </a:xfrm>
          <a:prstGeom prst="bentConnector3">
            <a:avLst>
              <a:gd name="adj1" fmla="val 533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60B9355-AB98-66D4-F041-5B2A8ADAA676}"/>
              </a:ext>
            </a:extLst>
          </p:cNvPr>
          <p:cNvSpPr/>
          <p:nvPr/>
        </p:nvSpPr>
        <p:spPr>
          <a:xfrm>
            <a:off x="1540013" y="5191125"/>
            <a:ext cx="2395173" cy="8181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CourseService</a:t>
            </a:r>
            <a:endParaRPr lang="de-DE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EA8374D-0CA3-68D0-FE50-B13A2E391451}"/>
              </a:ext>
            </a:extLst>
          </p:cNvPr>
          <p:cNvCxnSpPr>
            <a:stCxn id="6" idx="2"/>
          </p:cNvCxnSpPr>
          <p:nvPr/>
        </p:nvCxnSpPr>
        <p:spPr>
          <a:xfrm>
            <a:off x="2902246" y="4247147"/>
            <a:ext cx="0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3F5A5D8-F67F-2CCE-6792-B8DCF2AAA41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216039" y="4202828"/>
            <a:ext cx="2876786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69EA83E-5044-1317-E8A9-C56505941596}"/>
              </a:ext>
            </a:extLst>
          </p:cNvPr>
          <p:cNvSpPr/>
          <p:nvPr/>
        </p:nvSpPr>
        <p:spPr>
          <a:xfrm>
            <a:off x="4835920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BookingService</a:t>
            </a:r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FA2C2F4-C616-0E0F-4EFF-01272352BD9C}"/>
              </a:ext>
            </a:extLst>
          </p:cNvPr>
          <p:cNvSpPr/>
          <p:nvPr/>
        </p:nvSpPr>
        <p:spPr>
          <a:xfrm>
            <a:off x="8381135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ParticipantService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FB01E43-D904-08DA-A00E-E19C2247F4DD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>
            <a:off x="6092825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E1A19C0-4D61-A52C-0A67-A5A66B50A286}"/>
              </a:ext>
            </a:extLst>
          </p:cNvPr>
          <p:cNvCxnSpPr>
            <a:cxnSpLocks/>
          </p:cNvCxnSpPr>
          <p:nvPr/>
        </p:nvCxnSpPr>
        <p:spPr>
          <a:xfrm>
            <a:off x="9534979" y="4202828"/>
            <a:ext cx="0" cy="988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75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2F31-E378-47C6-3090-C8BF3627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Zustandsverwaltung – v2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B113F77-7A4D-3925-62CA-294F9F09AD2E}"/>
              </a:ext>
            </a:extLst>
          </p:cNvPr>
          <p:cNvSpPr/>
          <p:nvPr/>
        </p:nvSpPr>
        <p:spPr>
          <a:xfrm>
            <a:off x="5096920" y="1836785"/>
            <a:ext cx="1761423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App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4B3161B-03E4-8879-2F06-DF2832CAD19A}"/>
              </a:ext>
            </a:extLst>
          </p:cNvPr>
          <p:cNvSpPr/>
          <p:nvPr/>
        </p:nvSpPr>
        <p:spPr>
          <a:xfrm>
            <a:off x="1412106" y="3429000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Course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9E28B6-E02A-547E-0E54-B0C507D42736}"/>
              </a:ext>
            </a:extLst>
          </p:cNvPr>
          <p:cNvSpPr/>
          <p:nvPr/>
        </p:nvSpPr>
        <p:spPr>
          <a:xfrm>
            <a:off x="4602685" y="3384681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4EAC03B-1010-2263-57FA-33AF3AFE459D}"/>
              </a:ext>
            </a:extLst>
          </p:cNvPr>
          <p:cNvSpPr/>
          <p:nvPr/>
        </p:nvSpPr>
        <p:spPr>
          <a:xfrm>
            <a:off x="8012635" y="3388179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E7D393C4-9BB5-7330-DE37-A18D1040865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052905" y="1504273"/>
            <a:ext cx="774068" cy="3075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8BCBED3F-5097-5D8A-2BFD-258DA27020A2}"/>
              </a:ext>
            </a:extLst>
          </p:cNvPr>
          <p:cNvCxnSpPr>
            <a:stCxn id="5" idx="2"/>
          </p:cNvCxnSpPr>
          <p:nvPr/>
        </p:nvCxnSpPr>
        <p:spPr>
          <a:xfrm rot="5400000">
            <a:off x="5612758" y="3019806"/>
            <a:ext cx="729749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EC165460-C617-5C2C-3293-19AC3BAA335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373580" y="1258983"/>
            <a:ext cx="733247" cy="3525143"/>
          </a:xfrm>
          <a:prstGeom prst="bentConnector3">
            <a:avLst>
              <a:gd name="adj1" fmla="val 533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60B9355-AB98-66D4-F041-5B2A8ADAA676}"/>
              </a:ext>
            </a:extLst>
          </p:cNvPr>
          <p:cNvSpPr/>
          <p:nvPr/>
        </p:nvSpPr>
        <p:spPr>
          <a:xfrm>
            <a:off x="1540013" y="5191125"/>
            <a:ext cx="2395173" cy="8181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CourseService</a:t>
            </a:r>
            <a:endParaRPr lang="de-DE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EA8374D-0CA3-68D0-FE50-B13A2E391451}"/>
              </a:ext>
            </a:extLst>
          </p:cNvPr>
          <p:cNvCxnSpPr>
            <a:stCxn id="6" idx="2"/>
          </p:cNvCxnSpPr>
          <p:nvPr/>
        </p:nvCxnSpPr>
        <p:spPr>
          <a:xfrm>
            <a:off x="2902246" y="4247147"/>
            <a:ext cx="0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3F5A5D8-F67F-2CCE-6792-B8DCF2AAA41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216039" y="4202828"/>
            <a:ext cx="2876786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69EA83E-5044-1317-E8A9-C56505941596}"/>
              </a:ext>
            </a:extLst>
          </p:cNvPr>
          <p:cNvSpPr/>
          <p:nvPr/>
        </p:nvSpPr>
        <p:spPr>
          <a:xfrm>
            <a:off x="4835920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BookingService</a:t>
            </a:r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FA2C2F4-C616-0E0F-4EFF-01272352BD9C}"/>
              </a:ext>
            </a:extLst>
          </p:cNvPr>
          <p:cNvSpPr/>
          <p:nvPr/>
        </p:nvSpPr>
        <p:spPr>
          <a:xfrm>
            <a:off x="8381135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ParticipantService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FB01E43-D904-08DA-A00E-E19C2247F4DD}"/>
              </a:ext>
            </a:extLst>
          </p:cNvPr>
          <p:cNvCxnSpPr>
            <a:cxnSpLocks/>
          </p:cNvCxnSpPr>
          <p:nvPr/>
        </p:nvCxnSpPr>
        <p:spPr>
          <a:xfrm>
            <a:off x="6099175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E1A19C0-4D61-A52C-0A67-A5A66B50A286}"/>
              </a:ext>
            </a:extLst>
          </p:cNvPr>
          <p:cNvCxnSpPr>
            <a:cxnSpLocks/>
          </p:cNvCxnSpPr>
          <p:nvPr/>
        </p:nvCxnSpPr>
        <p:spPr>
          <a:xfrm>
            <a:off x="9534979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A4722F2C-89CA-9075-F48C-F7CC734E0DFD}"/>
              </a:ext>
            </a:extLst>
          </p:cNvPr>
          <p:cNvCxnSpPr>
            <a:stCxn id="23" idx="2"/>
            <a:endCxn id="22" idx="2"/>
          </p:cNvCxnSpPr>
          <p:nvPr/>
        </p:nvCxnSpPr>
        <p:spPr>
          <a:xfrm rot="5400000">
            <a:off x="7865433" y="4240830"/>
            <a:ext cx="12700" cy="3545215"/>
          </a:xfrm>
          <a:prstGeom prst="bent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Verbinder: gewinkelt 10">
            <a:extLst>
              <a:ext uri="{FF2B5EF4-FFF2-40B4-BE49-F238E27FC236}">
                <a16:creationId xmlns:a16="http://schemas.microsoft.com/office/drawing/2014/main" id="{D9399760-7BEA-150A-CB70-BA6A813A091F}"/>
              </a:ext>
            </a:extLst>
          </p:cNvPr>
          <p:cNvCxnSpPr>
            <a:cxnSpLocks/>
            <a:stCxn id="22" idx="1"/>
            <a:endCxn id="16" idx="2"/>
          </p:cNvCxnSpPr>
          <p:nvPr/>
        </p:nvCxnSpPr>
        <p:spPr>
          <a:xfrm rot="10800000" flipV="1">
            <a:off x="2737600" y="5602280"/>
            <a:ext cx="2098320" cy="406991"/>
          </a:xfrm>
          <a:prstGeom prst="bentConnector4">
            <a:avLst>
              <a:gd name="adj1" fmla="val 21463"/>
              <a:gd name="adj2" fmla="val 157192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95F8989-8E24-BDFD-8D83-5FBDD4BC3F6A}"/>
              </a:ext>
            </a:extLst>
          </p:cNvPr>
          <p:cNvCxnSpPr>
            <a:cxnSpLocks/>
          </p:cNvCxnSpPr>
          <p:nvPr/>
        </p:nvCxnSpPr>
        <p:spPr>
          <a:xfrm>
            <a:off x="6099175" y="4247147"/>
            <a:ext cx="3403600" cy="8996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780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2F31-E378-47C6-3090-C8BF3627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Zustandsverwaltung – v3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B113F77-7A4D-3925-62CA-294F9F09AD2E}"/>
              </a:ext>
            </a:extLst>
          </p:cNvPr>
          <p:cNvSpPr/>
          <p:nvPr/>
        </p:nvSpPr>
        <p:spPr>
          <a:xfrm>
            <a:off x="5096920" y="1836785"/>
            <a:ext cx="1761423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App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4B3161B-03E4-8879-2F06-DF2832CAD19A}"/>
              </a:ext>
            </a:extLst>
          </p:cNvPr>
          <p:cNvSpPr/>
          <p:nvPr/>
        </p:nvSpPr>
        <p:spPr>
          <a:xfrm>
            <a:off x="1412106" y="3429000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Course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9E28B6-E02A-547E-0E54-B0C507D42736}"/>
              </a:ext>
            </a:extLst>
          </p:cNvPr>
          <p:cNvSpPr/>
          <p:nvPr/>
        </p:nvSpPr>
        <p:spPr>
          <a:xfrm>
            <a:off x="4602685" y="3384681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4EAC03B-1010-2263-57FA-33AF3AFE459D}"/>
              </a:ext>
            </a:extLst>
          </p:cNvPr>
          <p:cNvSpPr/>
          <p:nvPr/>
        </p:nvSpPr>
        <p:spPr>
          <a:xfrm>
            <a:off x="8012635" y="3388179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E7D393C4-9BB5-7330-DE37-A18D1040865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052905" y="1504273"/>
            <a:ext cx="774068" cy="3075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8BCBED3F-5097-5D8A-2BFD-258DA27020A2}"/>
              </a:ext>
            </a:extLst>
          </p:cNvPr>
          <p:cNvCxnSpPr>
            <a:stCxn id="5" idx="2"/>
          </p:cNvCxnSpPr>
          <p:nvPr/>
        </p:nvCxnSpPr>
        <p:spPr>
          <a:xfrm rot="5400000">
            <a:off x="5612758" y="3019806"/>
            <a:ext cx="729749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EC165460-C617-5C2C-3293-19AC3BAA335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373580" y="1258983"/>
            <a:ext cx="733247" cy="3525143"/>
          </a:xfrm>
          <a:prstGeom prst="bentConnector3">
            <a:avLst>
              <a:gd name="adj1" fmla="val 533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60B9355-AB98-66D4-F041-5B2A8ADAA676}"/>
              </a:ext>
            </a:extLst>
          </p:cNvPr>
          <p:cNvSpPr/>
          <p:nvPr/>
        </p:nvSpPr>
        <p:spPr>
          <a:xfrm>
            <a:off x="1540013" y="5191125"/>
            <a:ext cx="2395173" cy="8181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CourseService</a:t>
            </a:r>
            <a:endParaRPr lang="de-DE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EA8374D-0CA3-68D0-FE50-B13A2E391451}"/>
              </a:ext>
            </a:extLst>
          </p:cNvPr>
          <p:cNvCxnSpPr>
            <a:stCxn id="6" idx="2"/>
          </p:cNvCxnSpPr>
          <p:nvPr/>
        </p:nvCxnSpPr>
        <p:spPr>
          <a:xfrm>
            <a:off x="2902246" y="4247147"/>
            <a:ext cx="0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3F5A5D8-F67F-2CCE-6792-B8DCF2AAA41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216039" y="4202828"/>
            <a:ext cx="2876786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69EA83E-5044-1317-E8A9-C56505941596}"/>
              </a:ext>
            </a:extLst>
          </p:cNvPr>
          <p:cNvSpPr/>
          <p:nvPr/>
        </p:nvSpPr>
        <p:spPr>
          <a:xfrm>
            <a:off x="4835920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BookingService</a:t>
            </a:r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FA2C2F4-C616-0E0F-4EFF-01272352BD9C}"/>
              </a:ext>
            </a:extLst>
          </p:cNvPr>
          <p:cNvSpPr/>
          <p:nvPr/>
        </p:nvSpPr>
        <p:spPr>
          <a:xfrm>
            <a:off x="8381135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ParticipantService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FB01E43-D904-08DA-A00E-E19C2247F4DD}"/>
              </a:ext>
            </a:extLst>
          </p:cNvPr>
          <p:cNvCxnSpPr>
            <a:cxnSpLocks/>
          </p:cNvCxnSpPr>
          <p:nvPr/>
        </p:nvCxnSpPr>
        <p:spPr>
          <a:xfrm>
            <a:off x="6099175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E1A19C0-4D61-A52C-0A67-A5A66B50A286}"/>
              </a:ext>
            </a:extLst>
          </p:cNvPr>
          <p:cNvCxnSpPr>
            <a:cxnSpLocks/>
          </p:cNvCxnSpPr>
          <p:nvPr/>
        </p:nvCxnSpPr>
        <p:spPr>
          <a:xfrm>
            <a:off x="9534979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A4722F2C-89CA-9075-F48C-F7CC734E0DFD}"/>
              </a:ext>
            </a:extLst>
          </p:cNvPr>
          <p:cNvCxnSpPr>
            <a:stCxn id="23" idx="2"/>
            <a:endCxn id="22" idx="2"/>
          </p:cNvCxnSpPr>
          <p:nvPr/>
        </p:nvCxnSpPr>
        <p:spPr>
          <a:xfrm rot="5400000">
            <a:off x="7865433" y="4240830"/>
            <a:ext cx="12700" cy="3545215"/>
          </a:xfrm>
          <a:prstGeom prst="bent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Verbinder: gewinkelt 10">
            <a:extLst>
              <a:ext uri="{FF2B5EF4-FFF2-40B4-BE49-F238E27FC236}">
                <a16:creationId xmlns:a16="http://schemas.microsoft.com/office/drawing/2014/main" id="{D9399760-7BEA-150A-CB70-BA6A813A091F}"/>
              </a:ext>
            </a:extLst>
          </p:cNvPr>
          <p:cNvCxnSpPr>
            <a:cxnSpLocks/>
            <a:stCxn id="22" idx="1"/>
            <a:endCxn id="16" idx="2"/>
          </p:cNvCxnSpPr>
          <p:nvPr/>
        </p:nvCxnSpPr>
        <p:spPr>
          <a:xfrm rot="10800000" flipV="1">
            <a:off x="2737600" y="5602280"/>
            <a:ext cx="2098320" cy="406991"/>
          </a:xfrm>
          <a:prstGeom prst="bentConnector4">
            <a:avLst>
              <a:gd name="adj1" fmla="val 21463"/>
              <a:gd name="adj2" fmla="val 157192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95F8989-8E24-BDFD-8D83-5FBDD4BC3F6A}"/>
              </a:ext>
            </a:extLst>
          </p:cNvPr>
          <p:cNvCxnSpPr>
            <a:cxnSpLocks/>
          </p:cNvCxnSpPr>
          <p:nvPr/>
        </p:nvCxnSpPr>
        <p:spPr>
          <a:xfrm>
            <a:off x="6099175" y="4247147"/>
            <a:ext cx="3403600" cy="8996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F3D1A86-BBD7-4D01-3E41-B7C521E109D0}"/>
              </a:ext>
            </a:extLst>
          </p:cNvPr>
          <p:cNvCxnSpPr>
            <a:cxnSpLocks/>
          </p:cNvCxnSpPr>
          <p:nvPr/>
        </p:nvCxnSpPr>
        <p:spPr>
          <a:xfrm flipV="1">
            <a:off x="2518150" y="4247147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8646AC9-874A-1D9F-84D6-FA93674CCB9C}"/>
              </a:ext>
            </a:extLst>
          </p:cNvPr>
          <p:cNvCxnSpPr>
            <a:cxnSpLocks/>
          </p:cNvCxnSpPr>
          <p:nvPr/>
        </p:nvCxnSpPr>
        <p:spPr>
          <a:xfrm flipV="1">
            <a:off x="5838293" y="4202828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B733F6E-C5CF-2AA2-BA7E-70324762D014}"/>
              </a:ext>
            </a:extLst>
          </p:cNvPr>
          <p:cNvCxnSpPr>
            <a:cxnSpLocks/>
          </p:cNvCxnSpPr>
          <p:nvPr/>
        </p:nvCxnSpPr>
        <p:spPr>
          <a:xfrm flipV="1">
            <a:off x="9305393" y="4202828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5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2F31-E378-47C6-3090-C8BF3627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Zustandsverwaltung – v3.1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B113F77-7A4D-3925-62CA-294F9F09AD2E}"/>
              </a:ext>
            </a:extLst>
          </p:cNvPr>
          <p:cNvSpPr/>
          <p:nvPr/>
        </p:nvSpPr>
        <p:spPr>
          <a:xfrm>
            <a:off x="5096920" y="1836785"/>
            <a:ext cx="1761423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App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4B3161B-03E4-8879-2F06-DF2832CAD19A}"/>
              </a:ext>
            </a:extLst>
          </p:cNvPr>
          <p:cNvSpPr/>
          <p:nvPr/>
        </p:nvSpPr>
        <p:spPr>
          <a:xfrm>
            <a:off x="1412106" y="3346286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Course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9E28B6-E02A-547E-0E54-B0C507D42736}"/>
              </a:ext>
            </a:extLst>
          </p:cNvPr>
          <p:cNvSpPr/>
          <p:nvPr/>
        </p:nvSpPr>
        <p:spPr>
          <a:xfrm>
            <a:off x="4717077" y="3368446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4EAC03B-1010-2263-57FA-33AF3AFE459D}"/>
              </a:ext>
            </a:extLst>
          </p:cNvPr>
          <p:cNvSpPr/>
          <p:nvPr/>
        </p:nvSpPr>
        <p:spPr>
          <a:xfrm>
            <a:off x="8012635" y="3388179"/>
            <a:ext cx="2980280" cy="8181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E7D393C4-9BB5-7330-DE37-A18D1040865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094262" y="1462916"/>
            <a:ext cx="691354" cy="30753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8BCBED3F-5097-5D8A-2BFD-258DA27020A2}"/>
              </a:ext>
            </a:extLst>
          </p:cNvPr>
          <p:cNvCxnSpPr>
            <a:stCxn id="5" idx="2"/>
          </p:cNvCxnSpPr>
          <p:nvPr/>
        </p:nvCxnSpPr>
        <p:spPr>
          <a:xfrm rot="5400000">
            <a:off x="5612758" y="3019806"/>
            <a:ext cx="729749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EC165460-C617-5C2C-3293-19AC3BAA335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373580" y="1258983"/>
            <a:ext cx="733247" cy="35251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60B9355-AB98-66D4-F041-5B2A8ADAA676}"/>
              </a:ext>
            </a:extLst>
          </p:cNvPr>
          <p:cNvSpPr/>
          <p:nvPr/>
        </p:nvSpPr>
        <p:spPr>
          <a:xfrm>
            <a:off x="1540013" y="5191125"/>
            <a:ext cx="2395173" cy="81814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CourseService</a:t>
            </a:r>
            <a:endParaRPr lang="de-DE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EA8374D-0CA3-68D0-FE50-B13A2E391451}"/>
              </a:ext>
            </a:extLst>
          </p:cNvPr>
          <p:cNvCxnSpPr>
            <a:stCxn id="6" idx="2"/>
          </p:cNvCxnSpPr>
          <p:nvPr/>
        </p:nvCxnSpPr>
        <p:spPr>
          <a:xfrm>
            <a:off x="2902246" y="4164433"/>
            <a:ext cx="0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3F5A5D8-F67F-2CCE-6792-B8DCF2AAA41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330431" y="4186593"/>
            <a:ext cx="2876786" cy="94397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69EA83E-5044-1317-E8A9-C56505941596}"/>
              </a:ext>
            </a:extLst>
          </p:cNvPr>
          <p:cNvSpPr/>
          <p:nvPr/>
        </p:nvSpPr>
        <p:spPr>
          <a:xfrm>
            <a:off x="4835920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BookingService</a:t>
            </a:r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3FA2C2F4-C616-0E0F-4EFF-01272352BD9C}"/>
              </a:ext>
            </a:extLst>
          </p:cNvPr>
          <p:cNvSpPr/>
          <p:nvPr/>
        </p:nvSpPr>
        <p:spPr>
          <a:xfrm>
            <a:off x="8381135" y="5191125"/>
            <a:ext cx="2513809" cy="8223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ParticipantService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FB01E43-D904-08DA-A00E-E19C2247F4DD}"/>
              </a:ext>
            </a:extLst>
          </p:cNvPr>
          <p:cNvCxnSpPr>
            <a:cxnSpLocks/>
          </p:cNvCxnSpPr>
          <p:nvPr/>
        </p:nvCxnSpPr>
        <p:spPr>
          <a:xfrm>
            <a:off x="6099175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E1A19C0-4D61-A52C-0A67-A5A66B50A286}"/>
              </a:ext>
            </a:extLst>
          </p:cNvPr>
          <p:cNvCxnSpPr>
            <a:cxnSpLocks/>
          </p:cNvCxnSpPr>
          <p:nvPr/>
        </p:nvCxnSpPr>
        <p:spPr>
          <a:xfrm>
            <a:off x="9534979" y="4202828"/>
            <a:ext cx="0" cy="9882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A4722F2C-89CA-9075-F48C-F7CC734E0DFD}"/>
              </a:ext>
            </a:extLst>
          </p:cNvPr>
          <p:cNvCxnSpPr>
            <a:stCxn id="23" idx="2"/>
            <a:endCxn id="22" idx="2"/>
          </p:cNvCxnSpPr>
          <p:nvPr/>
        </p:nvCxnSpPr>
        <p:spPr>
          <a:xfrm rot="5400000">
            <a:off x="7865433" y="4240830"/>
            <a:ext cx="12700" cy="3545215"/>
          </a:xfrm>
          <a:prstGeom prst="bentConnector3">
            <a:avLst>
              <a:gd name="adj1" fmla="val 1800000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Verbinder: gewinkelt 10">
            <a:extLst>
              <a:ext uri="{FF2B5EF4-FFF2-40B4-BE49-F238E27FC236}">
                <a16:creationId xmlns:a16="http://schemas.microsoft.com/office/drawing/2014/main" id="{D9399760-7BEA-150A-CB70-BA6A813A091F}"/>
              </a:ext>
            </a:extLst>
          </p:cNvPr>
          <p:cNvCxnSpPr>
            <a:cxnSpLocks/>
            <a:stCxn id="22" idx="1"/>
            <a:endCxn id="16" idx="2"/>
          </p:cNvCxnSpPr>
          <p:nvPr/>
        </p:nvCxnSpPr>
        <p:spPr>
          <a:xfrm rot="10800000" flipV="1">
            <a:off x="2737600" y="5602280"/>
            <a:ext cx="2098320" cy="406991"/>
          </a:xfrm>
          <a:prstGeom prst="bentConnector4">
            <a:avLst>
              <a:gd name="adj1" fmla="val 21463"/>
              <a:gd name="adj2" fmla="val 157192"/>
            </a:avLst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95F8989-8E24-BDFD-8D83-5FBDD4BC3F6A}"/>
              </a:ext>
            </a:extLst>
          </p:cNvPr>
          <p:cNvCxnSpPr>
            <a:cxnSpLocks/>
          </p:cNvCxnSpPr>
          <p:nvPr/>
        </p:nvCxnSpPr>
        <p:spPr>
          <a:xfrm>
            <a:off x="6099175" y="4247147"/>
            <a:ext cx="3403600" cy="89965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F3D1A86-BBD7-4D01-3E41-B7C521E109D0}"/>
              </a:ext>
            </a:extLst>
          </p:cNvPr>
          <p:cNvCxnSpPr>
            <a:cxnSpLocks/>
          </p:cNvCxnSpPr>
          <p:nvPr/>
        </p:nvCxnSpPr>
        <p:spPr>
          <a:xfrm flipV="1">
            <a:off x="2518150" y="4247147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8646AC9-874A-1D9F-84D6-FA93674CCB9C}"/>
              </a:ext>
            </a:extLst>
          </p:cNvPr>
          <p:cNvCxnSpPr>
            <a:cxnSpLocks/>
          </p:cNvCxnSpPr>
          <p:nvPr/>
        </p:nvCxnSpPr>
        <p:spPr>
          <a:xfrm flipV="1">
            <a:off x="5838293" y="4202828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B733F6E-C5CF-2AA2-BA7E-70324762D014}"/>
              </a:ext>
            </a:extLst>
          </p:cNvPr>
          <p:cNvCxnSpPr>
            <a:cxnSpLocks/>
          </p:cNvCxnSpPr>
          <p:nvPr/>
        </p:nvCxnSpPr>
        <p:spPr>
          <a:xfrm flipV="1">
            <a:off x="9305393" y="4202828"/>
            <a:ext cx="0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EA60B85-1107-2E87-DF7A-271A37737237}"/>
              </a:ext>
            </a:extLst>
          </p:cNvPr>
          <p:cNvCxnSpPr>
            <a:cxnSpLocks/>
          </p:cNvCxnSpPr>
          <p:nvPr/>
        </p:nvCxnSpPr>
        <p:spPr>
          <a:xfrm flipV="1">
            <a:off x="2657020" y="4202828"/>
            <a:ext cx="2796723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32E42D9-B9B1-DC5E-BFBE-476A1EB74D62}"/>
              </a:ext>
            </a:extLst>
          </p:cNvPr>
          <p:cNvCxnSpPr>
            <a:cxnSpLocks/>
          </p:cNvCxnSpPr>
          <p:nvPr/>
        </p:nvCxnSpPr>
        <p:spPr>
          <a:xfrm flipV="1">
            <a:off x="6108464" y="4223238"/>
            <a:ext cx="2796723" cy="943978"/>
          </a:xfrm>
          <a:prstGeom prst="straightConnector1">
            <a:avLst/>
          </a:prstGeom>
          <a:ln>
            <a:prstDash val="lgDashDot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115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27EC6-61A4-4CA2-925A-D9C31421C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 descr="Ein Bild, das draußen, Himmel, Stoppschild, Verkehrsschild enthält.&#10;&#10;Automatisch generierte Beschreibung">
            <a:extLst>
              <a:ext uri="{FF2B5EF4-FFF2-40B4-BE49-F238E27FC236}">
                <a16:creationId xmlns:a16="http://schemas.microsoft.com/office/drawing/2014/main" id="{794D6D8F-DD59-DFC0-C1B8-1FBD106A4B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58" b="5087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589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62F31-E378-47C6-3090-C8BF3627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Zustandsverwaltung – v3.1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B113F77-7A4D-3925-62CA-294F9F09AD2E}"/>
              </a:ext>
            </a:extLst>
          </p:cNvPr>
          <p:cNvSpPr/>
          <p:nvPr/>
        </p:nvSpPr>
        <p:spPr>
          <a:xfrm>
            <a:off x="5215289" y="1861279"/>
            <a:ext cx="1761423" cy="655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App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4B3161B-03E4-8879-2F06-DF2832CAD19A}"/>
              </a:ext>
            </a:extLst>
          </p:cNvPr>
          <p:cNvSpPr/>
          <p:nvPr/>
        </p:nvSpPr>
        <p:spPr>
          <a:xfrm>
            <a:off x="1415281" y="3204044"/>
            <a:ext cx="2980280" cy="655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Course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79E28B6-E02A-547E-0E54-B0C507D42736}"/>
              </a:ext>
            </a:extLst>
          </p:cNvPr>
          <p:cNvSpPr/>
          <p:nvPr/>
        </p:nvSpPr>
        <p:spPr>
          <a:xfrm>
            <a:off x="4605860" y="3192381"/>
            <a:ext cx="2980280" cy="655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14EAC03B-1010-2263-57FA-33AF3AFE459D}"/>
              </a:ext>
            </a:extLst>
          </p:cNvPr>
          <p:cNvSpPr/>
          <p:nvPr/>
        </p:nvSpPr>
        <p:spPr>
          <a:xfrm>
            <a:off x="8015810" y="3195879"/>
            <a:ext cx="2980280" cy="6556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E7D393C4-9BB5-7330-DE37-A18D1040865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157148" y="1265190"/>
            <a:ext cx="687127" cy="31905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8BCBED3F-5097-5D8A-2BFD-258DA27020A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5758269" y="2854649"/>
            <a:ext cx="675464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EC165460-C617-5C2C-3293-19AC3BAA335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7461494" y="1151423"/>
            <a:ext cx="678962" cy="34099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5058CE88-0662-4EB5-5CD8-FC9D302D9451}"/>
              </a:ext>
            </a:extLst>
          </p:cNvPr>
          <p:cNvSpPr/>
          <p:nvPr/>
        </p:nvSpPr>
        <p:spPr>
          <a:xfrm>
            <a:off x="801914" y="4322406"/>
            <a:ext cx="8072664" cy="65563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Store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A2B07CB2-42CE-AF28-D35E-1B3920747223}"/>
              </a:ext>
            </a:extLst>
          </p:cNvPr>
          <p:cNvSpPr/>
          <p:nvPr/>
        </p:nvSpPr>
        <p:spPr>
          <a:xfrm>
            <a:off x="9873343" y="4322406"/>
            <a:ext cx="1387929" cy="53884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Effects</a:t>
            </a:r>
            <a:endParaRPr lang="de-DE" dirty="0"/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C28A9EFF-F074-F130-16D7-DC3FE18CFA89}"/>
              </a:ext>
            </a:extLst>
          </p:cNvPr>
          <p:cNvSpPr/>
          <p:nvPr/>
        </p:nvSpPr>
        <p:spPr>
          <a:xfrm>
            <a:off x="9980386" y="4472084"/>
            <a:ext cx="1387929" cy="53884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Effects</a:t>
            </a:r>
            <a:endParaRPr lang="de-DE" dirty="0"/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2DD5F56-3A3F-0D8E-7898-65221435271C}"/>
              </a:ext>
            </a:extLst>
          </p:cNvPr>
          <p:cNvCxnSpPr/>
          <p:nvPr/>
        </p:nvCxnSpPr>
        <p:spPr>
          <a:xfrm>
            <a:off x="8874578" y="4433207"/>
            <a:ext cx="955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8FC0B144-5C87-BE4A-E8E8-F6BE215A72EA}"/>
              </a:ext>
            </a:extLst>
          </p:cNvPr>
          <p:cNvSpPr txBox="1"/>
          <p:nvPr/>
        </p:nvSpPr>
        <p:spPr>
          <a:xfrm>
            <a:off x="8906769" y="4116360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Action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FD5BBCC-F32B-895B-8125-9183EB46BF74}"/>
              </a:ext>
            </a:extLst>
          </p:cNvPr>
          <p:cNvSpPr txBox="1"/>
          <p:nvPr/>
        </p:nvSpPr>
        <p:spPr>
          <a:xfrm>
            <a:off x="8997716" y="4861249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Action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612B07D4-2D03-8315-E6E3-D73BF5D3D6C4}"/>
              </a:ext>
            </a:extLst>
          </p:cNvPr>
          <p:cNvCxnSpPr>
            <a:cxnSpLocks/>
          </p:cNvCxnSpPr>
          <p:nvPr/>
        </p:nvCxnSpPr>
        <p:spPr>
          <a:xfrm flipH="1">
            <a:off x="8874578" y="4861249"/>
            <a:ext cx="998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400F9447-8DAC-B7D1-BE6D-F015540C4E1E}"/>
              </a:ext>
            </a:extLst>
          </p:cNvPr>
          <p:cNvSpPr/>
          <p:nvPr/>
        </p:nvSpPr>
        <p:spPr>
          <a:xfrm>
            <a:off x="3788229" y="5230581"/>
            <a:ext cx="1884260" cy="65563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State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04FE14A8-E0AF-F04D-94C4-CDEB3D5589FC}"/>
              </a:ext>
            </a:extLst>
          </p:cNvPr>
          <p:cNvSpPr/>
          <p:nvPr/>
        </p:nvSpPr>
        <p:spPr>
          <a:xfrm>
            <a:off x="7113456" y="5276235"/>
            <a:ext cx="1884260" cy="65563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  <a:p>
            <a:pPr algn="ctr"/>
            <a:r>
              <a:rPr lang="de-DE" dirty="0" err="1"/>
              <a:t>Reducer</a:t>
            </a:r>
            <a:endParaRPr lang="de-DE" dirty="0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CB1D0D6E-78E8-02C9-9B5A-7B3ED4333FC8}"/>
              </a:ext>
            </a:extLst>
          </p:cNvPr>
          <p:cNvCxnSpPr>
            <a:endCxn id="46" idx="0"/>
          </p:cNvCxnSpPr>
          <p:nvPr/>
        </p:nvCxnSpPr>
        <p:spPr>
          <a:xfrm>
            <a:off x="8055586" y="4978043"/>
            <a:ext cx="0" cy="298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14FA3CA5-E283-BD78-B9E0-20DE98D4DEEE}"/>
              </a:ext>
            </a:extLst>
          </p:cNvPr>
          <p:cNvSpPr txBox="1"/>
          <p:nvPr/>
        </p:nvSpPr>
        <p:spPr>
          <a:xfrm>
            <a:off x="7290463" y="4966381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Action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DD77134D-FF2C-5FCF-E7FA-DAA455370CE5}"/>
              </a:ext>
            </a:extLst>
          </p:cNvPr>
          <p:cNvSpPr/>
          <p:nvPr/>
        </p:nvSpPr>
        <p:spPr>
          <a:xfrm>
            <a:off x="5147582" y="6230064"/>
            <a:ext cx="1200149" cy="43199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FE9FB775-C0E9-0D1C-A210-BDFCCDB15372}"/>
              </a:ext>
            </a:extLst>
          </p:cNvPr>
          <p:cNvSpPr/>
          <p:nvPr/>
        </p:nvSpPr>
        <p:spPr>
          <a:xfrm>
            <a:off x="2792186" y="6245679"/>
            <a:ext cx="1436915" cy="41637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4379E011-D179-8402-58EB-4C2675052EEC}"/>
              </a:ext>
            </a:extLst>
          </p:cNvPr>
          <p:cNvCxnSpPr>
            <a:stCxn id="45" idx="2"/>
          </p:cNvCxnSpPr>
          <p:nvPr/>
        </p:nvCxnSpPr>
        <p:spPr>
          <a:xfrm>
            <a:off x="4730359" y="5886218"/>
            <a:ext cx="1090777" cy="343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65FBA263-37B2-B797-B002-9B01F3110494}"/>
              </a:ext>
            </a:extLst>
          </p:cNvPr>
          <p:cNvCxnSpPr>
            <a:stCxn id="45" idx="2"/>
            <a:endCxn id="53" idx="0"/>
          </p:cNvCxnSpPr>
          <p:nvPr/>
        </p:nvCxnSpPr>
        <p:spPr>
          <a:xfrm flipH="1">
            <a:off x="3510644" y="5886218"/>
            <a:ext cx="1219715" cy="359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Verbinder: gewinkelt 58">
            <a:extLst>
              <a:ext uri="{FF2B5EF4-FFF2-40B4-BE49-F238E27FC236}">
                <a16:creationId xmlns:a16="http://schemas.microsoft.com/office/drawing/2014/main" id="{A12757AF-FC02-BE71-20C8-92943E3B19FC}"/>
              </a:ext>
            </a:extLst>
          </p:cNvPr>
          <p:cNvCxnSpPr>
            <a:stCxn id="46" idx="2"/>
            <a:endCxn id="52" idx="3"/>
          </p:cNvCxnSpPr>
          <p:nvPr/>
        </p:nvCxnSpPr>
        <p:spPr>
          <a:xfrm rot="5400000">
            <a:off x="6944565" y="5335039"/>
            <a:ext cx="514189" cy="17078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29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C70116-0FAF-CC42-7A04-12613387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Store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DA4697-00D1-C87B-4072-116749C4A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702900" indent="-342900">
              <a:buFont typeface="Arial" panose="020B0604020202020204" pitchFamily="34" charset="0"/>
              <a:buChar char="•"/>
            </a:pPr>
            <a:r>
              <a:rPr lang="de-DE" dirty="0"/>
              <a:t>verwaltet den Anwendungszustand 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de-DE" dirty="0"/>
              <a:t>Objektbaum Struktur 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de-DE" dirty="0"/>
              <a:t>Unveränderbarer Zustandsbaum (NGRX) </a:t>
            </a:r>
            <a:r>
              <a:rPr lang="de-DE" dirty="0" err="1"/>
              <a:t>immutable</a:t>
            </a:r>
            <a:endParaRPr lang="de-DE" dirty="0"/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de-DE" dirty="0"/>
              <a:t>Änderung durch Kopien 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de-DE" dirty="0"/>
              <a:t>Change Management Vergleich der Objektreferenzen (Performance).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de-DE" dirty="0"/>
              <a:t>Observables für Änderungs-</a:t>
            </a:r>
            <a:r>
              <a:rPr lang="de-DE" dirty="0" err="1"/>
              <a:t>Notification</a:t>
            </a:r>
            <a:r>
              <a:rPr lang="de-DE" dirty="0"/>
              <a:t>-Events</a:t>
            </a:r>
          </a:p>
        </p:txBody>
      </p:sp>
    </p:spTree>
    <p:extLst>
      <p:ext uri="{BB962C8B-B14F-4D97-AF65-F5344CB8AC3E}">
        <p14:creationId xmlns:p14="http://schemas.microsoft.com/office/powerpoint/2010/main" val="1216064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C4D7A-0921-681C-7C46-D741F102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ACTIONS - DML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2CE87B-DD1E-CA53-1D25-E961047D8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Datenmanipulation</a:t>
            </a:r>
            <a:r>
              <a:rPr lang="de-DE" dirty="0"/>
              <a:t> mittels </a:t>
            </a:r>
            <a:r>
              <a:rPr lang="de-DE" b="1" dirty="0"/>
              <a:t>Actions</a:t>
            </a:r>
          </a:p>
          <a:p>
            <a:r>
              <a:rPr lang="de-DE" dirty="0"/>
              <a:t>Konsistenz wird gewahrt</a:t>
            </a:r>
          </a:p>
          <a:p>
            <a:r>
              <a:rPr lang="de-DE" dirty="0"/>
              <a:t>Vergleichbar mit Aufruf einer DB-</a:t>
            </a:r>
            <a:r>
              <a:rPr lang="de-DE" dirty="0" err="1"/>
              <a:t>Procedure</a:t>
            </a:r>
            <a:r>
              <a:rPr lang="de-DE" dirty="0"/>
              <a:t> </a:t>
            </a:r>
          </a:p>
          <a:p>
            <a:r>
              <a:rPr lang="de-DE" b="1" dirty="0"/>
              <a:t>Verarbeitung</a:t>
            </a:r>
            <a:r>
              <a:rPr lang="de-DE" dirty="0"/>
              <a:t> der Actions mittels </a:t>
            </a:r>
            <a:r>
              <a:rPr lang="de-DE" b="1" dirty="0" err="1"/>
              <a:t>Reducers</a:t>
            </a:r>
            <a:endParaRPr lang="de-DE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7673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4152FE-4C02-4D9C-4146-B434DA75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Reducer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2C1079-6939-8329-CADB-D65321D48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Funktionen zur </a:t>
            </a:r>
            <a:r>
              <a:rPr lang="de-DE" b="1" dirty="0"/>
              <a:t>Bearbeitung</a:t>
            </a:r>
            <a:r>
              <a:rPr lang="de-DE" dirty="0"/>
              <a:t> von Actions</a:t>
            </a:r>
          </a:p>
          <a:p>
            <a:r>
              <a:rPr lang="de-DE" dirty="0"/>
              <a:t>Verantwortlich für ein </a:t>
            </a:r>
            <a:r>
              <a:rPr lang="de-DE" b="1" dirty="0"/>
              <a:t>Ast</a:t>
            </a:r>
            <a:r>
              <a:rPr lang="de-DE" dirty="0"/>
              <a:t> des </a:t>
            </a:r>
            <a:r>
              <a:rPr lang="de-DE" dirty="0" err="1"/>
              <a:t>Zustandbaums</a:t>
            </a:r>
            <a:endParaRPr lang="de-DE" dirty="0"/>
          </a:p>
          <a:p>
            <a:r>
              <a:rPr lang="de-DE" dirty="0"/>
              <a:t>Jeder </a:t>
            </a:r>
            <a:r>
              <a:rPr lang="de-DE" dirty="0" err="1"/>
              <a:t>Reducer</a:t>
            </a:r>
            <a:r>
              <a:rPr lang="de-DE" dirty="0"/>
              <a:t> erhält jede Action (</a:t>
            </a:r>
            <a:r>
              <a:rPr lang="de-DE" dirty="0" err="1"/>
              <a:t>Zyklenvermeidung</a:t>
            </a:r>
            <a:r>
              <a:rPr lang="de-DE" dirty="0"/>
              <a:t>)</a:t>
            </a:r>
          </a:p>
          <a:p>
            <a:r>
              <a:rPr lang="de-DE" dirty="0"/>
              <a:t>Laufen synchron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7205BA9-10CC-789F-13CE-41E5A193C250}"/>
              </a:ext>
            </a:extLst>
          </p:cNvPr>
          <p:cNvSpPr/>
          <p:nvPr/>
        </p:nvSpPr>
        <p:spPr>
          <a:xfrm>
            <a:off x="1306286" y="4498521"/>
            <a:ext cx="7568292" cy="4795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Store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5C9646C-5959-9CB6-7797-1948D70646BD}"/>
              </a:ext>
            </a:extLst>
          </p:cNvPr>
          <p:cNvSpPr/>
          <p:nvPr/>
        </p:nvSpPr>
        <p:spPr>
          <a:xfrm>
            <a:off x="3905955" y="5406696"/>
            <a:ext cx="1766533" cy="4795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State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D6ACEBAA-511A-CBD5-3355-306A4C1C7521}"/>
              </a:ext>
            </a:extLst>
          </p:cNvPr>
          <p:cNvSpPr/>
          <p:nvPr/>
        </p:nvSpPr>
        <p:spPr>
          <a:xfrm>
            <a:off x="7108045" y="5452350"/>
            <a:ext cx="1766533" cy="4795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  <a:p>
            <a:pPr algn="ctr"/>
            <a:r>
              <a:rPr lang="de-DE" dirty="0" err="1"/>
              <a:t>Reducer</a:t>
            </a: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66954D5-D420-4377-4877-9E8611F57378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991312" y="4978043"/>
            <a:ext cx="0" cy="47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07AD2ED1-255D-5766-8A55-8DE69EA696D0}"/>
              </a:ext>
            </a:extLst>
          </p:cNvPr>
          <p:cNvSpPr txBox="1"/>
          <p:nvPr/>
        </p:nvSpPr>
        <p:spPr>
          <a:xfrm>
            <a:off x="7156013" y="5065589"/>
            <a:ext cx="993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Action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3012F3A5-D3C1-93A7-4A9D-62CC92AA502B}"/>
              </a:ext>
            </a:extLst>
          </p:cNvPr>
          <p:cNvSpPr/>
          <p:nvPr/>
        </p:nvSpPr>
        <p:spPr>
          <a:xfrm>
            <a:off x="5222566" y="6346105"/>
            <a:ext cx="1125165" cy="31595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Booking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F230038A-098B-EE79-4FC0-0D84DF2BFA62}"/>
              </a:ext>
            </a:extLst>
          </p:cNvPr>
          <p:cNvSpPr/>
          <p:nvPr/>
        </p:nvSpPr>
        <p:spPr>
          <a:xfrm>
            <a:off x="2881963" y="6357525"/>
            <a:ext cx="1347138" cy="30453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661D20A1-A197-2F41-174C-B69E20D7ADB5}"/>
              </a:ext>
            </a:extLst>
          </p:cNvPr>
          <p:cNvCxnSpPr>
            <a:stCxn id="10" idx="2"/>
          </p:cNvCxnSpPr>
          <p:nvPr/>
        </p:nvCxnSpPr>
        <p:spPr>
          <a:xfrm>
            <a:off x="4789222" y="5886218"/>
            <a:ext cx="1031914" cy="343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D24DCFB-0D8C-5660-58D2-72177FEAFFDF}"/>
              </a:ext>
            </a:extLst>
          </p:cNvPr>
          <p:cNvCxnSpPr>
            <a:stCxn id="10" idx="2"/>
            <a:endCxn id="16" idx="0"/>
          </p:cNvCxnSpPr>
          <p:nvPr/>
        </p:nvCxnSpPr>
        <p:spPr>
          <a:xfrm flipH="1">
            <a:off x="3555532" y="5886218"/>
            <a:ext cx="1233690" cy="471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1DDF9D06-CBCB-C5AC-E9E6-B0BC47BDB7D0}"/>
              </a:ext>
            </a:extLst>
          </p:cNvPr>
          <p:cNvSpPr/>
          <p:nvPr/>
        </p:nvSpPr>
        <p:spPr>
          <a:xfrm>
            <a:off x="1259038" y="5370902"/>
            <a:ext cx="1766533" cy="4795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Participant</a:t>
            </a:r>
            <a:endParaRPr lang="de-DE" dirty="0"/>
          </a:p>
          <a:p>
            <a:pPr algn="ctr"/>
            <a:r>
              <a:rPr lang="de-DE" dirty="0" err="1"/>
              <a:t>Reducer</a:t>
            </a:r>
            <a:endParaRPr lang="de-DE" dirty="0"/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A2E63574-D653-7D3B-3144-43DCF296F330}"/>
              </a:ext>
            </a:extLst>
          </p:cNvPr>
          <p:cNvCxnSpPr/>
          <p:nvPr/>
        </p:nvCxnSpPr>
        <p:spPr>
          <a:xfrm rot="5400000">
            <a:off x="6944565" y="5335039"/>
            <a:ext cx="514189" cy="17078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8A143968-37DE-4870-FB80-C67E15FF9E47}"/>
              </a:ext>
            </a:extLst>
          </p:cNvPr>
          <p:cNvSpPr txBox="1"/>
          <p:nvPr/>
        </p:nvSpPr>
        <p:spPr>
          <a:xfrm>
            <a:off x="7109068" y="6369393"/>
            <a:ext cx="112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Change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0878680-B6CA-082D-2F68-708647956357}"/>
              </a:ext>
            </a:extLst>
          </p:cNvPr>
          <p:cNvCxnSpPr>
            <a:cxnSpLocks/>
          </p:cNvCxnSpPr>
          <p:nvPr/>
        </p:nvCxnSpPr>
        <p:spPr>
          <a:xfrm>
            <a:off x="2311716" y="4942984"/>
            <a:ext cx="0" cy="474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86E3F992-D9E8-0991-2117-D74375789B44}"/>
              </a:ext>
            </a:extLst>
          </p:cNvPr>
          <p:cNvSpPr txBox="1"/>
          <p:nvPr/>
        </p:nvSpPr>
        <p:spPr>
          <a:xfrm>
            <a:off x="1476417" y="5030530"/>
            <a:ext cx="993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Action</a:t>
            </a:r>
          </a:p>
        </p:txBody>
      </p:sp>
      <p:cxnSp>
        <p:nvCxnSpPr>
          <p:cNvPr id="27" name="Verbinder: gewinkelt 26">
            <a:extLst>
              <a:ext uri="{FF2B5EF4-FFF2-40B4-BE49-F238E27FC236}">
                <a16:creationId xmlns:a16="http://schemas.microsoft.com/office/drawing/2014/main" id="{BB42ECA6-ACBA-348D-11F1-B437EDB256C1}"/>
              </a:ext>
            </a:extLst>
          </p:cNvPr>
          <p:cNvCxnSpPr>
            <a:cxnSpLocks/>
            <a:stCxn id="21" idx="2"/>
          </p:cNvCxnSpPr>
          <p:nvPr/>
        </p:nvCxnSpPr>
        <p:spPr>
          <a:xfrm rot="16200000" flipH="1">
            <a:off x="2180143" y="5812586"/>
            <a:ext cx="663366" cy="7390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B90564D1-A0BD-6279-BD4F-DE36BB9A962E}"/>
              </a:ext>
            </a:extLst>
          </p:cNvPr>
          <p:cNvSpPr txBox="1"/>
          <p:nvPr/>
        </p:nvSpPr>
        <p:spPr>
          <a:xfrm>
            <a:off x="1121722" y="6265837"/>
            <a:ext cx="112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Change</a:t>
            </a:r>
          </a:p>
        </p:txBody>
      </p:sp>
    </p:spTree>
    <p:extLst>
      <p:ext uri="{BB962C8B-B14F-4D97-AF65-F5344CB8AC3E}">
        <p14:creationId xmlns:p14="http://schemas.microsoft.com/office/powerpoint/2010/main" val="278805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CFE215-9DB5-3940-183F-F09DD63A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Effects</a:t>
            </a:r>
            <a:r>
              <a:rPr lang="de-DE" dirty="0"/>
              <a:t> - Asynchrone Tasks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15B35F-70E7-5E32-9943-918455C14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Erfordert eine Action einen </a:t>
            </a:r>
            <a:r>
              <a:rPr lang="de-DE" dirty="0" err="1"/>
              <a:t>Aynchronen</a:t>
            </a:r>
            <a:r>
              <a:rPr lang="de-DE" dirty="0"/>
              <a:t> Teil</a:t>
            </a:r>
          </a:p>
          <a:p>
            <a:r>
              <a:rPr lang="de-DE" dirty="0"/>
              <a:t>Kommen </a:t>
            </a:r>
            <a:r>
              <a:rPr lang="de-DE" dirty="0" err="1"/>
              <a:t>Effects</a:t>
            </a:r>
            <a:r>
              <a:rPr lang="de-DE" dirty="0"/>
              <a:t> zu Einsatz</a:t>
            </a:r>
          </a:p>
          <a:p>
            <a:r>
              <a:rPr lang="de-DE" dirty="0"/>
              <a:t>Return-Action nach Bearbeitung eines </a:t>
            </a:r>
            <a:r>
              <a:rPr lang="de-DE" dirty="0" err="1"/>
              <a:t>Effects</a:t>
            </a:r>
            <a:endParaRPr lang="de-DE" dirty="0"/>
          </a:p>
          <a:p>
            <a:pPr lvl="1"/>
            <a:r>
              <a:rPr lang="de-DE" dirty="0"/>
              <a:t>Erfolgsfall oder</a:t>
            </a:r>
          </a:p>
          <a:p>
            <a:pPr lvl="1"/>
            <a:r>
              <a:rPr lang="de-DE" dirty="0"/>
              <a:t>Misserfolgsfall</a:t>
            </a:r>
          </a:p>
        </p:txBody>
      </p:sp>
    </p:spTree>
    <p:extLst>
      <p:ext uri="{BB962C8B-B14F-4D97-AF65-F5344CB8AC3E}">
        <p14:creationId xmlns:p14="http://schemas.microsoft.com/office/powerpoint/2010/main" val="3865192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3C53D0-E44D-0160-35CA-F6D908B7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NGRX einrichten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31762D-B8F4-156E-07F7-B6020D933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de-DE" dirty="0" err="1"/>
              <a:t>ng add @ngrx/store</a:t>
            </a:r>
          </a:p>
          <a:p>
            <a:pPr/>
            <a:r>
              <a:rPr lang="de-DE" dirty="0" err="1"/>
              <a:t/>
            </a:r>
          </a:p>
          <a:p>
            <a:pPr/>
            <a:r>
              <a:rPr lang="de-DE" dirty="0" err="1"/>
              <a:t>main.ts (Standalone):</a:t>
            </a:r>
          </a:p>
          <a:p>
            <a:pPr lvl="1"/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bootstrapApplication(AppComponent, { providers: [ provideStore(), provideStoreDevtools() ] })</a:t>
            </a:r>
            <a:endParaRPr kumimoji="0" lang="de-DE" altLang="de-DE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/>
            <a:r>
              <a:rPr lang="de-DE" dirty="0" err="1"/>
              <a:t>Legacy AppModule: imports: [ StoreModule.forRoot({}, {}) ]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48F3AE-2F8C-B1CF-ACBE-5D769F30F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0211"/>
            <a:ext cx="65" cy="677623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3174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945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B07AB-F65D-57B2-2643-ED8314A3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NGRX Einrichten – </a:t>
            </a:r>
            <a:r>
              <a:rPr lang="de-DE" dirty="0" err="1"/>
              <a:t>Effects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C3D8F8-B6C3-8AB9-44C5-54003E8A9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de-DE" dirty="0" err="1"/>
              <a:t>ng add @ngrx/effects</a:t>
            </a:r>
          </a:p>
          <a:p>
            <a:pPr/>
            <a:r>
              <a:rPr lang="de-DE" dirty="0" err="1"/>
              <a:t/>
            </a:r>
          </a:p>
          <a:p>
            <a:pPr/>
            <a:r>
              <a:rPr lang="de-DE" dirty="0" err="1"/>
              <a:t>main.ts (Standalone):</a:t>
            </a:r>
          </a:p>
          <a:p>
            <a:pPr lvl="1"/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providers: [ provideStore(), provideEffects() ]</a:t>
            </a:r>
            <a:endParaRPr kumimoji="0" lang="de-DE" altLang="de-DE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/>
            <a:r>
              <a:rPr lang="de-DE" dirty="0" err="1"/>
              <a:t>Legacy AppModule: imports: [ EffectsModule.forRoot([])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8042E7-67EF-C1C4-6EA8-A23459A8E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0211"/>
            <a:ext cx="65" cy="677623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3174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641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7CC324-417B-AF27-053B-C85C6C49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de-DE" dirty="0" err="1"/>
              <a:t>Feature erzeugen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A06FBE-295A-770F-B8B8-9810FF478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de-DE" dirty="0"/>
              <a:t> ng g @ngrx/schematics:feature pig/pig --api false --flat false</a:t>
            </a:r>
            <a:endParaRPr lang="de-DE" dirty="0"/>
          </a:p>
          <a:p>
            <a:endParaRPr lang="de-DE" dirty="0"/>
          </a:p>
          <a:p>
            <a:r>
              <a:rPr lang="de-DE" dirty="0"/>
              <a:t>Argumente</a:t>
            </a:r>
          </a:p>
          <a:p>
            <a:r>
              <a:rPr lang="de-DE" dirty="0"/>
              <a:t>Name des Features (Entity)</a:t>
            </a:r>
          </a:p>
          <a:p>
            <a:pPr/>
            <a:r>
              <a:rPr lang="de-DE" dirty="0"/>
              <a:t>Ohne --module: Registrierung per provideState() (nächste Folie)</a:t>
            </a:r>
          </a:p>
          <a:p>
            <a:r>
              <a:rPr lang="de-DE" dirty="0"/>
              <a:t>Keine </a:t>
            </a:r>
            <a:r>
              <a:rPr lang="de-DE" dirty="0" err="1"/>
              <a:t>BackendCalls</a:t>
            </a:r>
            <a:endParaRPr lang="de-DE" dirty="0"/>
          </a:p>
          <a:p>
            <a:r>
              <a:rPr lang="de-DE" dirty="0"/>
              <a:t>Flat </a:t>
            </a:r>
            <a:r>
              <a:rPr lang="de-DE" dirty="0" err="1"/>
              <a:t>false</a:t>
            </a:r>
            <a:r>
              <a:rPr lang="de-DE" dirty="0"/>
              <a:t> damit die generierten Dateien im </a:t>
            </a:r>
            <a:r>
              <a:rPr lang="de-DE" dirty="0" err="1"/>
              <a:t>pig</a:t>
            </a:r>
            <a:r>
              <a:rPr lang="de-DE" dirty="0"/>
              <a:t> </a:t>
            </a:r>
            <a:r>
              <a:rPr lang="de-DE"/>
              <a:t>Package landen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409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B0B4D-A0C6-910E-D911-E9BBA725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de-DE" dirty="0"/>
              <a:t>Feature registrieren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B2D616-D71D-D5FD-BF13-2A42893C5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4915" y="1699127"/>
            <a:ext cx="6386775" cy="5121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5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providers: [ provideState(fromPig.pigFeatureKey, fromPig.reducer), provideEffects(PigEffects) ]   // an der Route 'pig' oder in main.ts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0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000" dirty="0">
              <a:solidFill>
                <a:srgbClr val="080808"/>
              </a:solidFill>
              <a:latin typeface="JetBrains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pigFeatureKey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pig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 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//AUS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PigReducer</a:t>
            </a:r>
            <a:endParaRPr kumimoji="0" lang="de-DE" altLang="de-DE" sz="1600" b="0" i="1" u="none" strike="noStrike" cap="none" normalizeH="0" baseline="0" dirty="0">
              <a:ln>
                <a:noFill/>
              </a:ln>
              <a:solidFill>
                <a:srgbClr val="8C8C8C"/>
              </a:solidFill>
              <a:effectLst/>
              <a:latin typeface="JetBrains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de-DE" altLang="de-DE" sz="1600" i="1" dirty="0">
              <a:solidFill>
                <a:srgbClr val="8C8C8C"/>
              </a:solidFill>
              <a:latin typeface="JetBrains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de-DE" altLang="de-DE" sz="1600" i="1" dirty="0">
              <a:solidFill>
                <a:srgbClr val="8C8C8C"/>
              </a:solidFill>
              <a:latin typeface="JetBrains Mono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reducer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6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createReducer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initialState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6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on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state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=&gt;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state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	</a:t>
            </a:r>
            <a:r>
              <a:rPr lang="de-DE" altLang="de-DE" sz="1600" i="1" dirty="0">
                <a:solidFill>
                  <a:srgbClr val="8C8C8C"/>
                </a:solidFill>
                <a:latin typeface="JetBrains Mono"/>
              </a:rPr>
              <a:t>Grundgerüst </a:t>
            </a:r>
            <a:r>
              <a:rPr lang="de-DE" altLang="de-DE" sz="1600" i="1" dirty="0" err="1">
                <a:solidFill>
                  <a:srgbClr val="8C8C8C"/>
                </a:solidFill>
                <a:latin typeface="JetBrains Mono"/>
              </a:rPr>
              <a:t>Reducer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kumimoji="0" lang="de-DE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$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createEffect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(() =&gt; {			</a:t>
            </a:r>
            <a:r>
              <a:rPr lang="de-DE" altLang="de-DE" sz="1400" i="1" dirty="0">
                <a:solidFill>
                  <a:srgbClr val="8C8C8C"/>
                </a:solidFill>
                <a:latin typeface="JetBrains Mono"/>
              </a:rPr>
              <a:t>Grundgerüst </a:t>
            </a:r>
            <a:r>
              <a:rPr lang="de-DE" altLang="de-DE" sz="1400" i="1" dirty="0" err="1">
                <a:solidFill>
                  <a:srgbClr val="8C8C8C"/>
                </a:solidFill>
                <a:latin typeface="JetBrains Mono"/>
              </a:rPr>
              <a:t>Effect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this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actions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$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JetBrains Mono"/>
              </a:rPr>
              <a:t>pipe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 </a:t>
            </a:r>
            <a:r>
              <a:rPr kumimoji="0" lang="de-DE" altLang="de-DE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ofType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An EMPTY observable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only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emits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completion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.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Replace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with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your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own observable API </a:t>
            </a:r>
            <a:r>
              <a:rPr kumimoji="0" lang="de-DE" altLang="de-DE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request</a:t>
            </a:r>
            <a:r>
              <a:rPr kumimoji="0" lang="de-DE" altLang="de-DE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br>
              <a:rPr kumimoji="0" lang="de-DE" altLang="de-DE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de-DE" altLang="de-DE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</a:t>
            </a:r>
            <a:r>
              <a:rPr kumimoji="0" lang="de-DE" altLang="de-DE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concatMap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(() =&gt;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EMPTY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as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Observable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&lt;{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type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string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}&gt;)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);</a:t>
            </a:r>
            <a:b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});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964EB6-F3B8-6675-1134-503007904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A1EB130-7518-8240-BEA1-C807F79E5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Verbinder: gewinkelt 8">
            <a:extLst>
              <a:ext uri="{FF2B5EF4-FFF2-40B4-BE49-F238E27FC236}">
                <a16:creationId xmlns:a16="http://schemas.microsoft.com/office/drawing/2014/main" id="{09A4F761-0F28-341C-0533-3B065F96B52F}"/>
              </a:ext>
            </a:extLst>
          </p:cNvPr>
          <p:cNvCxnSpPr>
            <a:cxnSpLocks/>
          </p:cNvCxnSpPr>
          <p:nvPr/>
        </p:nvCxnSpPr>
        <p:spPr>
          <a:xfrm rot="5400000">
            <a:off x="4074037" y="2730782"/>
            <a:ext cx="2132963" cy="1476292"/>
          </a:xfrm>
          <a:prstGeom prst="bentConnector3">
            <a:avLst>
              <a:gd name="adj1" fmla="val 1003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BDDECA9-9E2E-F319-79FF-37CF20A13804}"/>
              </a:ext>
            </a:extLst>
          </p:cNvPr>
          <p:cNvCxnSpPr/>
          <p:nvPr/>
        </p:nvCxnSpPr>
        <p:spPr>
          <a:xfrm>
            <a:off x="4410324" y="2402446"/>
            <a:ext cx="0" cy="771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6">
            <a:extLst>
              <a:ext uri="{FF2B5EF4-FFF2-40B4-BE49-F238E27FC236}">
                <a16:creationId xmlns:a16="http://schemas.microsoft.com/office/drawing/2014/main" id="{8B46E5FA-3ADF-E6A9-AE72-FB191C3F9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030B887-7838-172C-058B-CD7790E7440A}"/>
              </a:ext>
            </a:extLst>
          </p:cNvPr>
          <p:cNvCxnSpPr/>
          <p:nvPr/>
        </p:nvCxnSpPr>
        <p:spPr>
          <a:xfrm>
            <a:off x="4150581" y="2587339"/>
            <a:ext cx="2647784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17A9423-EEFB-5DF0-D276-2B04C93A3D80}"/>
              </a:ext>
            </a:extLst>
          </p:cNvPr>
          <p:cNvCxnSpPr>
            <a:cxnSpLocks/>
          </p:cNvCxnSpPr>
          <p:nvPr/>
        </p:nvCxnSpPr>
        <p:spPr>
          <a:xfrm>
            <a:off x="6806317" y="2587339"/>
            <a:ext cx="0" cy="306125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1AFB4506-1806-68F1-0107-80AD404930D6}"/>
              </a:ext>
            </a:extLst>
          </p:cNvPr>
          <p:cNvCxnSpPr/>
          <p:nvPr/>
        </p:nvCxnSpPr>
        <p:spPr>
          <a:xfrm flipH="1">
            <a:off x="3776870" y="5648592"/>
            <a:ext cx="3021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207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800D61-42EA-073F-3355-B5C8E79E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anpassen </a:t>
            </a:r>
            <a:r>
              <a:rPr lang="de-DE" dirty="0">
                <a:sym typeface="Wingdings" panose="05000000000000000000" pitchFamily="2" charset="2"/>
              </a:rPr>
              <a:t> REDUCER Klasse</a:t>
            </a:r>
            <a:endParaRPr lang="de-D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880C5B-5EEE-05CE-CD51-AE82F461A13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interface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State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Pig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loading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error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unknown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initialState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State 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{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[],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loading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error</a:t>
            </a: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:{}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000" dirty="0">
              <a:solidFill>
                <a:srgbClr val="080808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					</a:t>
            </a:r>
            <a:r>
              <a:rPr kumimoji="0" lang="de-DE" altLang="de-DE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pig.reducer.ts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3F5F07-E9E8-898F-DE7A-E78466C8FC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Neue Attribute für </a:t>
            </a:r>
          </a:p>
          <a:p>
            <a:r>
              <a:rPr lang="de-DE" dirty="0" err="1"/>
              <a:t>content</a:t>
            </a:r>
            <a:r>
              <a:rPr lang="de-DE" dirty="0"/>
              <a:t>, </a:t>
            </a:r>
          </a:p>
          <a:p>
            <a:r>
              <a:rPr lang="de-DE" dirty="0" err="1"/>
              <a:t>flag</a:t>
            </a:r>
            <a:r>
              <a:rPr lang="de-DE" dirty="0"/>
              <a:t> für </a:t>
            </a:r>
            <a:r>
              <a:rPr lang="de-DE" dirty="0" err="1"/>
              <a:t>loading</a:t>
            </a:r>
            <a:r>
              <a:rPr lang="de-DE" dirty="0"/>
              <a:t> </a:t>
            </a:r>
          </a:p>
          <a:p>
            <a:r>
              <a:rPr lang="de-DE" dirty="0"/>
              <a:t>und </a:t>
            </a:r>
            <a:r>
              <a:rPr lang="de-DE" dirty="0" err="1"/>
              <a:t>error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0386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E3CB4-14A0-68EA-E63C-BAFC5CDC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Actions festlegen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CD5728-075A-3549-4693-9AF9734F55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/>
              <a:t>Reducer</a:t>
            </a:r>
            <a:r>
              <a:rPr lang="de-DE" dirty="0"/>
              <a:t> Funktionen</a:t>
            </a:r>
          </a:p>
          <a:p>
            <a:pPr lvl="1"/>
            <a:r>
              <a:rPr lang="de-DE" dirty="0"/>
              <a:t>(</a:t>
            </a:r>
            <a:r>
              <a:rPr lang="de-DE" dirty="0" err="1"/>
              <a:t>state</a:t>
            </a:r>
            <a:r>
              <a:rPr lang="de-DE" dirty="0"/>
              <a:t>, </a:t>
            </a:r>
            <a:r>
              <a:rPr lang="de-DE" dirty="0" err="1"/>
              <a:t>action</a:t>
            </a:r>
            <a:r>
              <a:rPr lang="de-DE" dirty="0"/>
              <a:t>) =&gt; </a:t>
            </a:r>
            <a:r>
              <a:rPr lang="de-DE" dirty="0" err="1"/>
              <a:t>state</a:t>
            </a:r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State ist </a:t>
            </a:r>
            <a:r>
              <a:rPr lang="de-DE" dirty="0" err="1"/>
              <a:t>immutable</a:t>
            </a:r>
            <a:r>
              <a:rPr lang="de-DE" dirty="0"/>
              <a:t> daher neuer Erzeugen</a:t>
            </a:r>
          </a:p>
          <a:p>
            <a:endParaRPr lang="de-DE" dirty="0"/>
          </a:p>
          <a:p>
            <a:r>
              <a:rPr lang="de-DE" dirty="0" err="1"/>
              <a:t>loadPigs</a:t>
            </a:r>
            <a:r>
              <a:rPr lang="de-DE" dirty="0"/>
              <a:t>, warum wird nicht geladen?</a:t>
            </a:r>
          </a:p>
          <a:p>
            <a:pPr lvl="1"/>
            <a:r>
              <a:rPr lang="de-DE" dirty="0"/>
              <a:t>Das Laden der Daten ist </a:t>
            </a:r>
            <a:r>
              <a:rPr lang="de-DE" dirty="0" err="1"/>
              <a:t>async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Effect</a:t>
            </a:r>
            <a:endParaRPr lang="de-DE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85C5C36-A2E3-2D2E-DDC6-84645DE2A80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on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(state,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action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=&gt; {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[]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Pig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{...state,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}),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on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loadPigsSuccessful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(state, action) =&gt; {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action.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{...state,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}),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on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PigActions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loadPigsError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(state, action) =&gt; {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[]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Pig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const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error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action.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error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830091"/>
                </a:solidFill>
                <a:effectLst/>
                <a:latin typeface="JetBrains Mono"/>
              </a:rPr>
              <a:t>   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{...state,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pigs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loading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248F8F"/>
                </a:solidFill>
                <a:effectLst/>
                <a:latin typeface="JetBrains Mono"/>
              </a:rPr>
              <a:t>error</a:t>
            </a: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};</a:t>
            </a: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}),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955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3C30E-A9D6-95B1-F698-E5BD9777E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Effects</a:t>
            </a:r>
            <a:r>
              <a:rPr lang="de-DE" dirty="0"/>
              <a:t> – </a:t>
            </a:r>
            <a:r>
              <a:rPr lang="de-DE" dirty="0" err="1"/>
              <a:t>Asnyc</a:t>
            </a:r>
            <a:r>
              <a:rPr lang="de-DE" dirty="0"/>
              <a:t> </a:t>
            </a:r>
            <a:r>
              <a:rPr lang="de-DE" dirty="0" err="1"/>
              <a:t>datenbeschaffer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FEBDC7-C3B2-D110-E559-827DEDCDB3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Logik zum Laden der Daten für den Store</a:t>
            </a:r>
          </a:p>
          <a:p>
            <a:r>
              <a:rPr lang="de-DE" dirty="0"/>
              <a:t>Z.B. Service Call gegen Backend</a:t>
            </a:r>
          </a:p>
          <a:p>
            <a:endParaRPr lang="de-DE" dirty="0"/>
          </a:p>
          <a:p>
            <a:r>
              <a:rPr lang="de-DE" dirty="0"/>
              <a:t>Hier nur </a:t>
            </a:r>
            <a:r>
              <a:rPr lang="de-DE" dirty="0" err="1"/>
              <a:t>loadPigs</a:t>
            </a:r>
            <a:r>
              <a:rPr lang="de-DE" dirty="0"/>
              <a:t> Action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94C4DD4-EE1A-ADEB-6EB5-113734F8B37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85850" y="2125538"/>
            <a:ext cx="5028941" cy="33085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@Injectable()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export class PigEffects {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private readonly actions$ = inject(Actions);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private readonly pigService = inject(PigService);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loadPigs$ = createEffect(() =&gt; {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return this.actions$.pipe(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  ofType(PigActions.loadPigs),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  /** Call PigService; success -&gt; loadPigsSuccessful, else loadPigsError */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  switchMap(() =&gt; this.pigService.getAll().pipe(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    map(pigs =&gt; PigActions.loadPigsSuccessful({ pigs })),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    catchError(error =&gt; of(PigActions.loadPigsError({ error })))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  ))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);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});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}</a:t>
            </a:r>
            <a:endParaRPr kumimoji="0" lang="de-DE" altLang="de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Verbinder: gewinkelt 6">
            <a:extLst>
              <a:ext uri="{FF2B5EF4-FFF2-40B4-BE49-F238E27FC236}">
                <a16:creationId xmlns:a16="http://schemas.microsoft.com/office/drawing/2014/main" id="{2E56C325-E7C1-91A8-1F64-7BE03541A790}"/>
              </a:ext>
            </a:extLst>
          </p:cNvPr>
          <p:cNvCxnSpPr/>
          <p:nvPr/>
        </p:nvCxnSpPr>
        <p:spPr>
          <a:xfrm rot="10800000">
            <a:off x="3315695" y="3291840"/>
            <a:ext cx="3371353" cy="6361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403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2BD809-D6C5-DDC4-5D6D-EEF65413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Zugriff auf </a:t>
            </a:r>
            <a:r>
              <a:rPr lang="de-DE" dirty="0" err="1"/>
              <a:t>store</a:t>
            </a:r>
            <a:endParaRPr lang="de-D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8BCB60-6E4F-D80B-4842-96BA351E6FA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85850" y="2234649"/>
            <a:ext cx="4867275" cy="32932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export class PigListComponent implements OnInit {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 private readonly store = inject(Store);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 pigs = this.store.selectSignal(selectPigs);   // Signal statt Observable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 ngOnInit(): void {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   this.store.dispatch(PigActions.loadPigs());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 }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FD7E0CA-F2A0-276C-F32C-992694EFD1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Select </a:t>
            </a:r>
          </a:p>
          <a:p>
            <a:pPr lvl="1"/>
            <a:r>
              <a:rPr lang="de-DE" dirty="0"/>
              <a:t>select() liefert ein Observable, selectSignal() ein Signal</a:t>
            </a:r>
          </a:p>
          <a:p>
            <a:endParaRPr lang="de-DE" dirty="0"/>
          </a:p>
          <a:p>
            <a:r>
              <a:rPr lang="de-DE" dirty="0" err="1"/>
              <a:t>dispatch</a:t>
            </a:r>
            <a:endParaRPr lang="de-DE" dirty="0"/>
          </a:p>
          <a:p>
            <a:pPr lvl="1"/>
            <a:r>
              <a:rPr lang="de-DE" dirty="0"/>
              <a:t> schickt das Event, um die Daten initial zu holen</a:t>
            </a:r>
          </a:p>
        </p:txBody>
      </p:sp>
    </p:spTree>
    <p:extLst>
      <p:ext uri="{BB962C8B-B14F-4D97-AF65-F5344CB8AC3E}">
        <p14:creationId xmlns:p14="http://schemas.microsoft.com/office/powerpoint/2010/main" val="97474363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el 1">
            <a:extLst>
              <a:ext uri="{FF2B5EF4-FFF2-40B4-BE49-F238E27FC236}">
                <a16:creationId xmlns:a16="http://schemas.microsoft.com/office/drawing/2014/main" id="{DD3C53D0-E44D-0160-35CA-F6D908B7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de-DE" dirty="0"/>
              <a:t>Ausblick: NgRx Signal Store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31762D-B8F4-156E-07F7-B6020D933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de-DE" dirty="0" err="1" sz="2000"/>
              <a:t>npm install @ngrx/signals</a:t>
            </a:r>
          </a:p>
          <a:p>
            <a:pPr lvl="1"/>
            <a:r>
              <a:rPr kumimoji="0" lang="de-DE" altLang="de-DE" b="0" i="0" u="none" strike="noStrike" cap="none" normalizeH="0" baseline="0" dirty="0" err="1" sz="200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export const PigStore = signalStore(</a:t>
            </a:r>
            <a:endParaRPr kumimoji="0" lang="de-DE" altLang="de-DE" sz="3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kumimoji="0" lang="de-DE" altLang="de-DE" b="0" i="0" u="none" strike="noStrike" cap="none" normalizeH="0" baseline="0" dirty="0" err="1" sz="200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 { providedIn: 'root' },</a:t>
            </a:r>
            <a:endParaRPr kumimoji="0" lang="de-DE" altLang="de-DE" sz="3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kumimoji="0" lang="de-DE" altLang="de-DE" b="0" i="0" u="none" strike="noStrike" cap="none" normalizeH="0" baseline="0" dirty="0" err="1" sz="200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 withState({ pigs: [] as Pig[], loading: false }),</a:t>
            </a:r>
            <a:endParaRPr kumimoji="0" lang="de-DE" altLang="de-DE" sz="3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kumimoji="0" lang="de-DE" altLang="de-DE" b="0" i="0" u="none" strike="noStrike" cap="none" normalizeH="0" baseline="0" dirty="0" err="1" sz="200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 withComputed(({ pigs }) =&gt; ({ count: computed(() =&gt; pigs().length) })),</a:t>
            </a:r>
            <a:endParaRPr kumimoji="0" lang="de-DE" altLang="de-DE" sz="3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kumimoji="0" lang="de-DE" altLang="de-DE" b="0" i="0" u="none" strike="noStrike" cap="none" normalizeH="0" baseline="0" dirty="0" err="1" sz="200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 withMethods((store, service = inject(PigService)) =&gt; ({</a:t>
            </a:r>
            <a:endParaRPr kumimoji="0" lang="de-DE" altLang="de-DE" sz="3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kumimoji="0" lang="de-DE" altLang="de-DE" b="0" i="0" u="none" strike="noStrike" cap="none" normalizeH="0" baseline="0" dirty="0" err="1" sz="200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   load() { … patchState(store, { pigs }) … }</a:t>
            </a:r>
            <a:endParaRPr kumimoji="0" lang="de-DE" altLang="de-DE" sz="3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kumimoji="0" lang="de-DE" altLang="de-DE" b="0" i="0" u="none" strike="noStrike" cap="none" normalizeH="0" baseline="0" dirty="0" err="1" sz="200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 }))</a:t>
            </a:r>
            <a:endParaRPr kumimoji="0" lang="de-DE" altLang="de-DE" sz="3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kumimoji="0" lang="de-DE" altLang="de-DE" b="0" i="0" u="none" strike="noStrike" cap="none" normalizeH="0" baseline="0" dirty="0" err="1" sz="200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de-DE" altLang="de-DE" sz="3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/>
            <a:r>
              <a:rPr lang="de-DE" dirty="0" err="1" sz="2000"/>
              <a:t>Verwendung: readonly store = inject(PigStore); im Template store.pigs()</a:t>
            </a:r>
          </a:p>
          <a:p>
            <a:pPr/>
            <a:r>
              <a:rPr lang="de-DE" dirty="0" err="1" sz="2000"/>
              <a:t>Leichtgewichtige Alternative zu Actions/Reducer/Effects – basiert auf Signals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48F3AE-2F8C-B1CF-ACBE-5D769F30F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0211"/>
            <a:ext cx="65" cy="677623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3174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5E2"/>
      </a:lt2>
      <a:accent1>
        <a:srgbClr val="2581C7"/>
      </a:accent1>
      <a:accent2>
        <a:srgbClr val="2DB2B4"/>
      </a:accent2>
      <a:accent3>
        <a:srgbClr val="374FD9"/>
      </a:accent3>
      <a:accent4>
        <a:srgbClr val="C73E25"/>
      </a:accent4>
      <a:accent5>
        <a:srgbClr val="D99337"/>
      </a:accent5>
      <a:accent6>
        <a:srgbClr val="A9A71F"/>
      </a:accent6>
      <a:hlink>
        <a:srgbClr val="B7723D"/>
      </a:hlink>
      <a:folHlink>
        <a:srgbClr val="7F7F7F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</Words>
  <Application>Microsoft Office PowerPoint</Application>
  <PresentationFormat>Breitbild</PresentationFormat>
  <Paragraphs>153</Paragraphs>
  <Slides>20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Arial</vt:lpstr>
      <vt:lpstr>Avenir Next LT Pro Light</vt:lpstr>
      <vt:lpstr>Consolas</vt:lpstr>
      <vt:lpstr>JetBrains Mono</vt:lpstr>
      <vt:lpstr>Rockwell Nova Light</vt:lpstr>
      <vt:lpstr>Wingdings</vt:lpstr>
      <vt:lpstr>LeafVTI</vt:lpstr>
      <vt:lpstr>State Management</vt:lpstr>
      <vt:lpstr>Inhalt</vt:lpstr>
      <vt:lpstr>Zustandsverwaltung – v1</vt:lpstr>
      <vt:lpstr>Zustandsverwaltung – v2</vt:lpstr>
      <vt:lpstr>Zustandsverwaltung – v3</vt:lpstr>
      <vt:lpstr>Zustandsverwaltung – v3.1</vt:lpstr>
      <vt:lpstr>PowerPoint-Präsentation</vt:lpstr>
      <vt:lpstr>Zustandsverwaltung – v3.1</vt:lpstr>
      <vt:lpstr>Store</vt:lpstr>
      <vt:lpstr>ACTIONS - DML</vt:lpstr>
      <vt:lpstr>Reducer</vt:lpstr>
      <vt:lpstr>Effects - Asynchrone Tasks</vt:lpstr>
      <vt:lpstr>NGRX einrichten</vt:lpstr>
      <vt:lpstr>NGRX Einrichten – Effects</vt:lpstr>
      <vt:lpstr>module eRWEITERN</vt:lpstr>
      <vt:lpstr>Module eRWEITERT</vt:lpstr>
      <vt:lpstr>State anpassen  REDUCER Klasse</vt:lpstr>
      <vt:lpstr>Actions festlegen</vt:lpstr>
      <vt:lpstr>Effects – Asnyc datenbeschaffer</vt:lpstr>
      <vt:lpstr>Zugriff auf store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Management</dc:title>
  <dc:creator>Thomas Götzinger</dc:creator>
  <cp:lastModifiedBy>Thomas Götzinger</cp:lastModifiedBy>
  <cp:revision>10</cp:revision>
  <dcterms:created xsi:type="dcterms:W3CDTF">2023-12-12T06:35:05Z</dcterms:created>
  <dcterms:modified xsi:type="dcterms:W3CDTF">2023-12-14T05:01:14Z</dcterms:modified>
</cp:coreProperties>
</file>