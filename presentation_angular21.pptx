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 id="293" r:id="rId84"/>
    <p:sldId id="294" r:id="rId85"/>
    <p:sldId id="295" r:id="rId86"/>
    <p:sldId id="296" r:id="rId87"/>
    <p:sldId id="297" r:id="rId88"/>
    <p:sldId id="298" r:id="rId89"/>
    <p:sldId id="299" r:id="rId90"/>
    <p:sldId id="300" r:id="rId91"/>
    <p:sldId id="301" r:id="rId92"/>
    <p:sldId id="302" r:id="rId93"/>
    <p:sldId id="303" r:id="rId94"/>
    <p:sldId id="304" r:id="rId95"/>
    <p:sldId id="305" r:id="rId96"/>
    <p:sldId id="306" r:id="rId97"/>
    <p:sldId id="307" r:id="rId98"/>
    <p:sldId id="308" r:id="rId99"/>
    <p:sldId id="309" r:id="rId100"/>
    <p:sldId id="310" r:id="rId101"/>
    <p:sldId id="311" r:id="rId102"/>
    <p:sldId id="312" r:id="rId103"/>
    <p:sldId id="313" r:id="rId104"/>
    <p:sldId id="314" r:id="rId105"/>
    <p:sldId id="315"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96" r:id="rId387"/>
    <p:sldId id="597" r:id="rId388"/>
    <p:sldId id="598" r:id="rId389"/>
    <p:sldId id="599" r:id="rId390"/>
    <p:sldId id="600" r:id="rId391"/>
    <p:sldId id="601" r:id="rId392"/>
    <p:sldId id="620" r:id="rId411"/>
    <p:sldId id="621" r:id="rId412"/>
    <p:sldId id="622" r:id="rId413"/>
    <p:sldId id="623" r:id="rId414"/>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57" r:id="rId448"/>
    <p:sldId id="658" r:id="rId449"/>
    <p:sldId id="659" r:id="rId450"/>
    <p:sldId id="660" r:id="rId451"/>
    <p:sldId id="661" r:id="rId452"/>
    <p:sldId id="662" r:id="rId453"/>
    <p:sldId id="663" r:id="rId454"/>
    <p:sldId id="664" r:id="rId455"/>
    <p:sldId id="665" r:id="rId456"/>
    <p:sldId id="666" r:id="rId457"/>
    <p:sldId id="667" r:id="rId458"/>
    <p:sldId id="668" r:id="rId459"/>
    <p:sldId id="669" r:id="rId460"/>
    <p:sldId id="670" r:id="rId461"/>
    <p:sldId id="672" r:id="rId463"/>
    <p:sldId id="673" r:id="rId464"/>
    <p:sldId id="674" r:id="rId465"/>
    <p:sldId id="675" r:id="rId466"/>
    <p:sldId id="676" r:id="rId467"/>
    <p:sldId id="677" r:id="rId468"/>
    <p:sldId id="678" r:id="rId469"/>
    <p:sldId id="679" r:id="rId470"/>
    <p:sldId id="680" r:id="rId471"/>
    <p:sldId id="681" r:id="rId472"/>
    <p:sldId id="682" r:id="rId473"/>
    <p:sldId id="683" r:id="rId474"/>
    <p:sldId id="684" r:id="rId475"/>
    <p:sldId id="685" r:id="rId476"/>
    <p:sldId id="686" r:id="rId477"/>
    <p:sldId id="687" r:id="rId478"/>
    <p:sldId id="688" r:id="rId479"/>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569" r:id="rId360"/>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42" r:id="rId433"/>
    <p:sldId id="643" r:id="rId434"/>
    <p:sldId id="644" r:id="rId435"/>
    <p:sldId id="645" r:id="rId436"/>
    <p:sldId id="646" r:id="rId437"/>
    <p:sldId id="647" r:id="rId438"/>
    <p:sldId id="648" r:id="rId439"/>
    <p:sldId id="649" r:id="rId440"/>
    <p:sldId id="650" r:id="rId441"/>
    <p:sldId id="651" r:id="rId442"/>
    <p:sldId id="652" r:id="rId443"/>
    <p:sldId id="653" r:id="rId444"/>
    <p:sldId id="654" r:id="rId445"/>
    <p:sldId id="655" r:id="rId446"/>
    <p:sldId id="656" r:id="rId447"/>
    <p:sldId id="671" r:id="rId462"/>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95" r:id="rId386"/>
    <p:sldId id="471" r:id="rId257"/>
    <p:sldId id="472" r:id="rId258"/>
    <p:sldId id="473" r:id="rId259"/>
    <p:sldId id="476" r:id="rId262"/>
    <p:sldId id="477" r:id="rId263"/>
    <p:sldId id="478" r:id="rId264"/>
    <p:sldId id="479" r:id="rId265"/>
    <p:sldId id="480" r:id="rId266"/>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48" Type="http://schemas.openxmlformats.org/officeDocument/2006/relationships/slide" Target="slides/slide2.xml"/><Relationship Id="rId49" Type="http://schemas.openxmlformats.org/officeDocument/2006/relationships/slide" Target="slides/slide3.xml"/><Relationship Id="rId50" Type="http://schemas.openxmlformats.org/officeDocument/2006/relationships/slide" Target="slides/slide4.xml"/><Relationship Id="rId51" Type="http://schemas.openxmlformats.org/officeDocument/2006/relationships/slide" Target="slides/slide5.xml"/><Relationship Id="rId52" Type="http://schemas.openxmlformats.org/officeDocument/2006/relationships/slide" Target="slides/slide6.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13.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2.xml"/><Relationship Id="rId69" Type="http://schemas.openxmlformats.org/officeDocument/2006/relationships/slide" Target="slides/slide23.xml"/><Relationship Id="rId70" Type="http://schemas.openxmlformats.org/officeDocument/2006/relationships/slide" Target="slides/slide24.xml"/><Relationship Id="rId71" Type="http://schemas.openxmlformats.org/officeDocument/2006/relationships/slide" Target="slides/slide25.xml"/><Relationship Id="rId72" Type="http://schemas.openxmlformats.org/officeDocument/2006/relationships/slide" Target="slides/slide26.xml"/><Relationship Id="rId73" Type="http://schemas.openxmlformats.org/officeDocument/2006/relationships/slide" Target="slides/slide27.xml"/><Relationship Id="rId74" Type="http://schemas.openxmlformats.org/officeDocument/2006/relationships/slide" Target="slides/slide28.xml"/><Relationship Id="rId75" Type="http://schemas.openxmlformats.org/officeDocument/2006/relationships/slide" Target="slides/slide29.xml"/><Relationship Id="rId76" Type="http://schemas.openxmlformats.org/officeDocument/2006/relationships/slide" Target="slides/slide30.xml"/><Relationship Id="rId77" Type="http://schemas.openxmlformats.org/officeDocument/2006/relationships/slide" Target="slides/slide31.xml"/><Relationship Id="rId78" Type="http://schemas.openxmlformats.org/officeDocument/2006/relationships/slide" Target="slides/slide32.xml"/><Relationship Id="rId79" Type="http://schemas.openxmlformats.org/officeDocument/2006/relationships/slide" Target="slides/slide33.xml"/><Relationship Id="rId80" Type="http://schemas.openxmlformats.org/officeDocument/2006/relationships/slide" Target="slides/slide34.xml"/><Relationship Id="rId81" Type="http://schemas.openxmlformats.org/officeDocument/2006/relationships/slide" Target="slides/slide35.xml"/><Relationship Id="rId82" Type="http://schemas.openxmlformats.org/officeDocument/2006/relationships/slide" Target="slides/slide36.xml"/><Relationship Id="rId83" Type="http://schemas.openxmlformats.org/officeDocument/2006/relationships/slide" Target="slides/slide37.xml"/><Relationship Id="rId84" Type="http://schemas.openxmlformats.org/officeDocument/2006/relationships/slide" Target="slides/slide38.xml"/><Relationship Id="rId85" Type="http://schemas.openxmlformats.org/officeDocument/2006/relationships/slide" Target="slides/slide39.xml"/><Relationship Id="rId86" Type="http://schemas.openxmlformats.org/officeDocument/2006/relationships/slide" Target="slides/slide40.xml"/><Relationship Id="rId87" Type="http://schemas.openxmlformats.org/officeDocument/2006/relationships/slide" Target="slides/slide41.xml"/><Relationship Id="rId88" Type="http://schemas.openxmlformats.org/officeDocument/2006/relationships/slide" Target="slides/slide42.xml"/><Relationship Id="rId89" Type="http://schemas.openxmlformats.org/officeDocument/2006/relationships/slide" Target="slides/slide43.xml"/><Relationship Id="rId90" Type="http://schemas.openxmlformats.org/officeDocument/2006/relationships/slide" Target="slides/slide44.xml"/><Relationship Id="rId91" Type="http://schemas.openxmlformats.org/officeDocument/2006/relationships/slide" Target="slides/slide45.xml"/><Relationship Id="rId92" Type="http://schemas.openxmlformats.org/officeDocument/2006/relationships/slide" Target="slides/slide46.xml"/><Relationship Id="rId93" Type="http://schemas.openxmlformats.org/officeDocument/2006/relationships/slide" Target="slides/slide47.xml"/><Relationship Id="rId94" Type="http://schemas.openxmlformats.org/officeDocument/2006/relationships/slide" Target="slides/slide48.xml"/><Relationship Id="rId95" Type="http://schemas.openxmlformats.org/officeDocument/2006/relationships/slide" Target="slides/slide49.xml"/><Relationship Id="rId96" Type="http://schemas.openxmlformats.org/officeDocument/2006/relationships/slide" Target="slides/slide50.xml"/><Relationship Id="rId97" Type="http://schemas.openxmlformats.org/officeDocument/2006/relationships/slide" Target="slides/slide51.xml"/><Relationship Id="rId98" Type="http://schemas.openxmlformats.org/officeDocument/2006/relationships/slide" Target="slides/slide52.xml"/><Relationship Id="rId99" Type="http://schemas.openxmlformats.org/officeDocument/2006/relationships/slide" Target="slides/slide53.xml"/><Relationship Id="rId100" Type="http://schemas.openxmlformats.org/officeDocument/2006/relationships/slide" Target="slides/slide54.xml"/><Relationship Id="rId101" Type="http://schemas.openxmlformats.org/officeDocument/2006/relationships/slide" Target="slides/slide55.xml"/><Relationship Id="rId102" Type="http://schemas.openxmlformats.org/officeDocument/2006/relationships/slide" Target="slides/slide56.xml"/><Relationship Id="rId103" Type="http://schemas.openxmlformats.org/officeDocument/2006/relationships/slide" Target="slides/slide57.xml"/><Relationship Id="rId104" Type="http://schemas.openxmlformats.org/officeDocument/2006/relationships/slide" Target="slides/slide58.xml"/><Relationship Id="rId105" Type="http://schemas.openxmlformats.org/officeDocument/2006/relationships/slide" Target="slides/slide59.xml"/><Relationship Id="rId106" Type="http://schemas.openxmlformats.org/officeDocument/2006/relationships/slide" Target="slides/slide60.xml"/><Relationship Id="rId107" Type="http://schemas.openxmlformats.org/officeDocument/2006/relationships/slide" Target="slides/slide61.xml"/><Relationship Id="rId108" Type="http://schemas.openxmlformats.org/officeDocument/2006/relationships/slide" Target="slides/slide62.xml"/><Relationship Id="rId109" Type="http://schemas.openxmlformats.org/officeDocument/2006/relationships/slide" Target="slides/slide63.xml"/><Relationship Id="rId110" Type="http://schemas.openxmlformats.org/officeDocument/2006/relationships/slide" Target="slides/slide64.xml"/><Relationship Id="rId111" Type="http://schemas.openxmlformats.org/officeDocument/2006/relationships/slide" Target="slides/slide65.xml"/><Relationship Id="rId112" Type="http://schemas.openxmlformats.org/officeDocument/2006/relationships/slide" Target="slides/slide66.xml"/><Relationship Id="rId113" Type="http://schemas.openxmlformats.org/officeDocument/2006/relationships/slide" Target="slides/slide67.xml"/><Relationship Id="rId114" Type="http://schemas.openxmlformats.org/officeDocument/2006/relationships/slide" Target="slides/slide68.xml"/><Relationship Id="rId115" Type="http://schemas.openxmlformats.org/officeDocument/2006/relationships/slide" Target="slides/slide6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69.xml"/><Relationship Id="rId293" Type="http://schemas.openxmlformats.org/officeDocument/2006/relationships/slide" Target="slides/slide270.xml"/><Relationship Id="rId294" Type="http://schemas.openxmlformats.org/officeDocument/2006/relationships/slide" Target="slides/slide271.xml"/><Relationship Id="rId295" Type="http://schemas.openxmlformats.org/officeDocument/2006/relationships/slide" Target="slides/slide272.xml"/><Relationship Id="rId296" Type="http://schemas.openxmlformats.org/officeDocument/2006/relationships/slide" Target="slides/slide273.xml"/><Relationship Id="rId297" Type="http://schemas.openxmlformats.org/officeDocument/2006/relationships/slide" Target="slides/slide274.xml"/><Relationship Id="rId298" Type="http://schemas.openxmlformats.org/officeDocument/2006/relationships/slide" Target="slides/slide275.xml"/><Relationship Id="rId299" Type="http://schemas.openxmlformats.org/officeDocument/2006/relationships/slide" Target="slides/slide276.xml"/><Relationship Id="rId300" Type="http://schemas.openxmlformats.org/officeDocument/2006/relationships/slide" Target="slides/slide277.xml"/><Relationship Id="rId301" Type="http://schemas.openxmlformats.org/officeDocument/2006/relationships/slide" Target="slides/slide278.xml"/><Relationship Id="rId302" Type="http://schemas.openxmlformats.org/officeDocument/2006/relationships/slide" Target="slides/slide279.xml"/><Relationship Id="rId303" Type="http://schemas.openxmlformats.org/officeDocument/2006/relationships/slide" Target="slides/slide280.xml"/><Relationship Id="rId304" Type="http://schemas.openxmlformats.org/officeDocument/2006/relationships/slide" Target="slides/slide281.xml"/><Relationship Id="rId305" Type="http://schemas.openxmlformats.org/officeDocument/2006/relationships/slide" Target="slides/slide282.xml"/><Relationship Id="rId306" Type="http://schemas.openxmlformats.org/officeDocument/2006/relationships/slide" Target="slides/slide292.xml"/><Relationship Id="rId307" Type="http://schemas.openxmlformats.org/officeDocument/2006/relationships/slide" Target="slides/slide293.xml"/><Relationship Id="rId308" Type="http://schemas.openxmlformats.org/officeDocument/2006/relationships/slide" Target="slides/slide294.xml"/><Relationship Id="rId309" Type="http://schemas.openxmlformats.org/officeDocument/2006/relationships/slide" Target="slides/slide295.xml"/><Relationship Id="rId310" Type="http://schemas.openxmlformats.org/officeDocument/2006/relationships/slide" Target="slides/slide296.xml"/><Relationship Id="rId311" Type="http://schemas.openxmlformats.org/officeDocument/2006/relationships/slide" Target="slides/slide297.xml"/><Relationship Id="rId312" Type="http://schemas.openxmlformats.org/officeDocument/2006/relationships/slide" Target="slides/slide298.xml"/><Relationship Id="rId313" Type="http://schemas.openxmlformats.org/officeDocument/2006/relationships/slide" Target="slides/slide299.xml"/><Relationship Id="rId314" Type="http://schemas.openxmlformats.org/officeDocument/2006/relationships/slide" Target="slides/slide300.xml"/><Relationship Id="rId315" Type="http://schemas.openxmlformats.org/officeDocument/2006/relationships/slide" Target="slides/slide301.xml"/><Relationship Id="rId316" Type="http://schemas.openxmlformats.org/officeDocument/2006/relationships/slide" Target="slides/slide302.xml"/><Relationship Id="rId317" Type="http://schemas.openxmlformats.org/officeDocument/2006/relationships/slide" Target="slides/slide303.xml"/><Relationship Id="rId318" Type="http://schemas.openxmlformats.org/officeDocument/2006/relationships/slide" Target="slides/slide304.xml"/><Relationship Id="rId319" Type="http://schemas.openxmlformats.org/officeDocument/2006/relationships/slide" Target="slides/slide305.xml"/><Relationship Id="rId320" Type="http://schemas.openxmlformats.org/officeDocument/2006/relationships/slide" Target="slides/slide306.xml"/><Relationship Id="rId321" Type="http://schemas.openxmlformats.org/officeDocument/2006/relationships/slide" Target="slides/slide307.xml"/><Relationship Id="rId322" Type="http://schemas.openxmlformats.org/officeDocument/2006/relationships/slide" Target="slides/slide308.xml"/><Relationship Id="rId323" Type="http://schemas.openxmlformats.org/officeDocument/2006/relationships/slide" Target="slides/slide30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83.xml"/><Relationship Id="rId330" Type="http://schemas.openxmlformats.org/officeDocument/2006/relationships/slide" Target="slides/slide284.xml"/><Relationship Id="rId331" Type="http://schemas.openxmlformats.org/officeDocument/2006/relationships/slide" Target="slides/slide285.xml"/><Relationship Id="rId332" Type="http://schemas.openxmlformats.org/officeDocument/2006/relationships/slide" Target="slides/slide286.xml"/><Relationship Id="rId333" Type="http://schemas.openxmlformats.org/officeDocument/2006/relationships/slide" Target="slides/slide287.xml"/><Relationship Id="rId334" Type="http://schemas.openxmlformats.org/officeDocument/2006/relationships/slide" Target="slides/slide288.xml"/><Relationship Id="rId335" Type="http://schemas.openxmlformats.org/officeDocument/2006/relationships/slide" Target="slides/slide289.xml"/><Relationship Id="rId336" Type="http://schemas.openxmlformats.org/officeDocument/2006/relationships/slide" Target="slides/slide290.xml"/><Relationship Id="rId337" Type="http://schemas.openxmlformats.org/officeDocument/2006/relationships/slide" Target="slides/slide291.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 Id="rId345" Type="http://schemas.openxmlformats.org/officeDocument/2006/relationships/slide" Target="slides/slide253.xml"/><Relationship Id="rId346" Type="http://schemas.openxmlformats.org/officeDocument/2006/relationships/slide" Target="slides/slide254.xml"/><Relationship Id="rId347" Type="http://schemas.openxmlformats.org/officeDocument/2006/relationships/slide" Target="slides/slide255.xml"/><Relationship Id="rId348" Type="http://schemas.openxmlformats.org/officeDocument/2006/relationships/slide" Target="slides/slide256.xml"/><Relationship Id="rId349" Type="http://schemas.openxmlformats.org/officeDocument/2006/relationships/slide" Target="slides/slide257.xml"/><Relationship Id="rId350" Type="http://schemas.openxmlformats.org/officeDocument/2006/relationships/slide" Target="slides/slide258.xml"/><Relationship Id="rId351" Type="http://schemas.openxmlformats.org/officeDocument/2006/relationships/slide" Target="slides/slide259.xml"/><Relationship Id="rId352" Type="http://schemas.openxmlformats.org/officeDocument/2006/relationships/slide" Target="slides/slide260.xml"/><Relationship Id="rId353" Type="http://schemas.openxmlformats.org/officeDocument/2006/relationships/slide" Target="slides/slide261.xml"/><Relationship Id="rId354" Type="http://schemas.openxmlformats.org/officeDocument/2006/relationships/slide" Target="slides/slide262.xml"/><Relationship Id="rId355" Type="http://schemas.openxmlformats.org/officeDocument/2006/relationships/slide" Target="slides/slide263.xml"/><Relationship Id="rId356" Type="http://schemas.openxmlformats.org/officeDocument/2006/relationships/slide" Target="slides/slide264.xml"/><Relationship Id="rId357" Type="http://schemas.openxmlformats.org/officeDocument/2006/relationships/slide" Target="slides/slide265.xml"/><Relationship Id="rId358" Type="http://schemas.openxmlformats.org/officeDocument/2006/relationships/slide" Target="slides/slide266.xml"/><Relationship Id="rId359" Type="http://schemas.openxmlformats.org/officeDocument/2006/relationships/slide" Target="slides/slide267.xml"/><Relationship Id="rId360" Type="http://schemas.openxmlformats.org/officeDocument/2006/relationships/slide" Target="slides/slide268.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25EB332-7BFC-4F38-B3C2-86915A2096A7}" type="doc">
      <dgm:prSet loTypeId="urn:microsoft.com/office/officeart/2008/layout/HalfCircleOrganizationChart" loCatId="hierarchy" qsTypeId="urn:microsoft.com/office/officeart/2005/8/quickstyle/simple2" qsCatId="simple" csTypeId="urn:microsoft.com/office/officeart/2005/8/colors/colorful1" csCatId="colorful" phldr="1"/>
      <dgm:spPr/>
      <dgm:t>
        <a:bodyPr/>
        <a:lstStyle/>
        <a:p>
          <a:endParaRPr lang="de-DE"/>
        </a:p>
      </dgm:t>
    </dgm:pt>
    <dgm:pt modelId="{66E411B0-21E1-46BB-A56F-5C0526678BDC}">
      <dgm:prSet phldrT="[Text]"/>
      <dgm:spPr/>
      <dgm:t>
        <a:bodyPr/>
        <a:lstStyle/>
        <a:p>
          <a:r>
            <a:rPr lang="de-DE" dirty="0" err="1"/>
            <a:t>any</a:t>
          </a:r>
          <a:endParaRPr lang="de-DE" dirty="0"/>
        </a:p>
      </dgm:t>
    </dgm:pt>
    <dgm:pt modelId="{717B430E-5371-45EA-B172-51C95831C4A0}" type="parTrans" cxnId="{C5CA0EDE-BC06-43B6-AB54-5F1BC37D21D4}">
      <dgm:prSet/>
      <dgm:spPr/>
      <dgm:t>
        <a:bodyPr/>
        <a:lstStyle/>
        <a:p>
          <a:endParaRPr lang="de-DE"/>
        </a:p>
      </dgm:t>
    </dgm:pt>
    <dgm:pt modelId="{BFB57B88-151C-4CB7-9F27-9286D46856AD}" type="sibTrans" cxnId="{C5CA0EDE-BC06-43B6-AB54-5F1BC37D21D4}">
      <dgm:prSet/>
      <dgm:spPr/>
      <dgm:t>
        <a:bodyPr/>
        <a:lstStyle/>
        <a:p>
          <a:endParaRPr lang="de-DE"/>
        </a:p>
      </dgm:t>
    </dgm:pt>
    <dgm:pt modelId="{5EE6A9FA-6940-44C5-9799-E6B48680286D}" type="asst">
      <dgm:prSet phldrT="[Text]"/>
      <dgm:spPr/>
      <dgm:t>
        <a:bodyPr/>
        <a:lstStyle/>
        <a:p>
          <a:r>
            <a:rPr lang="de-DE" dirty="0" err="1"/>
            <a:t>build</a:t>
          </a:r>
          <a:r>
            <a:rPr lang="de-DE" dirty="0"/>
            <a:t>-in </a:t>
          </a:r>
        </a:p>
      </dgm:t>
    </dgm:pt>
    <dgm:pt modelId="{C7555B13-EADA-43C8-BCC7-8E40F734D9D4}" type="parTrans" cxnId="{C7FA707B-7085-4ECE-8EAE-0AEB83CED243}">
      <dgm:prSet/>
      <dgm:spPr/>
      <dgm:t>
        <a:bodyPr/>
        <a:lstStyle/>
        <a:p>
          <a:endParaRPr lang="de-DE"/>
        </a:p>
      </dgm:t>
    </dgm:pt>
    <dgm:pt modelId="{FFE65735-93C1-404F-BAAA-74526C925BA9}" type="sibTrans" cxnId="{C7FA707B-7085-4ECE-8EAE-0AEB83CED243}">
      <dgm:prSet/>
      <dgm:spPr/>
      <dgm:t>
        <a:bodyPr/>
        <a:lstStyle/>
        <a:p>
          <a:endParaRPr lang="de-DE"/>
        </a:p>
      </dgm:t>
    </dgm:pt>
    <dgm:pt modelId="{BB74A2FE-F37E-4D5E-AB25-CE0E373C0801}">
      <dgm:prSet phldrT="[Text]"/>
      <dgm:spPr/>
      <dgm:t>
        <a:bodyPr/>
        <a:lstStyle/>
        <a:p>
          <a:r>
            <a:rPr lang="de-DE" dirty="0"/>
            <a:t>user-</a:t>
          </a:r>
          <a:r>
            <a:rPr lang="de-DE" dirty="0" err="1"/>
            <a:t>defined</a:t>
          </a:r>
          <a:endParaRPr lang="de-DE" dirty="0"/>
        </a:p>
      </dgm:t>
    </dgm:pt>
    <dgm:pt modelId="{7DF84661-5BD8-400B-85D2-4E0300FB7E5B}" type="parTrans" cxnId="{C53DE538-4118-4473-8999-D8B3157AAB06}">
      <dgm:prSet/>
      <dgm:spPr/>
      <dgm:t>
        <a:bodyPr/>
        <a:lstStyle/>
        <a:p>
          <a:endParaRPr lang="de-DE"/>
        </a:p>
      </dgm:t>
    </dgm:pt>
    <dgm:pt modelId="{9AB06497-A5F4-421E-BD3C-511F1EF38DCC}" type="sibTrans" cxnId="{C53DE538-4118-4473-8999-D8B3157AAB06}">
      <dgm:prSet/>
      <dgm:spPr/>
      <dgm:t>
        <a:bodyPr/>
        <a:lstStyle/>
        <a:p>
          <a:endParaRPr lang="de-DE"/>
        </a:p>
      </dgm:t>
    </dgm:pt>
    <dgm:pt modelId="{BB93813A-070A-8D4A-9843-3CCBDE9737C1}" type="pres">
      <dgm:prSet presAssocID="{725EB332-7BFC-4F38-B3C2-86915A2096A7}" presName="Name0" presStyleCnt="0">
        <dgm:presLayoutVars>
          <dgm:orgChart val="1"/>
          <dgm:chPref val="1"/>
          <dgm:dir/>
          <dgm:animOne val="branch"/>
          <dgm:animLvl val="lvl"/>
          <dgm:resizeHandles/>
        </dgm:presLayoutVars>
      </dgm:prSet>
      <dgm:spPr/>
    </dgm:pt>
    <dgm:pt modelId="{05509138-3CB7-2441-857A-26BFDF3AC619}" type="pres">
      <dgm:prSet presAssocID="{66E411B0-21E1-46BB-A56F-5C0526678BDC}" presName="hierRoot1" presStyleCnt="0">
        <dgm:presLayoutVars>
          <dgm:hierBranch val="init"/>
        </dgm:presLayoutVars>
      </dgm:prSet>
      <dgm:spPr/>
    </dgm:pt>
    <dgm:pt modelId="{7C1E00F0-6F2E-9F45-A260-CAD07C8C3326}" type="pres">
      <dgm:prSet presAssocID="{66E411B0-21E1-46BB-A56F-5C0526678BDC}" presName="rootComposite1" presStyleCnt="0"/>
      <dgm:spPr/>
    </dgm:pt>
    <dgm:pt modelId="{E483DDC5-6826-BD44-AB99-BD67F09563F2}" type="pres">
      <dgm:prSet presAssocID="{66E411B0-21E1-46BB-A56F-5C0526678BDC}" presName="rootText1" presStyleLbl="alignAcc1" presStyleIdx="0" presStyleCnt="0">
        <dgm:presLayoutVars>
          <dgm:chPref val="3"/>
        </dgm:presLayoutVars>
      </dgm:prSet>
      <dgm:spPr/>
    </dgm:pt>
    <dgm:pt modelId="{34259B3B-D6B1-F743-83B8-9AB1A60E7DE1}" type="pres">
      <dgm:prSet presAssocID="{66E411B0-21E1-46BB-A56F-5C0526678BDC}" presName="topArc1" presStyleLbl="parChTrans1D1" presStyleIdx="0" presStyleCnt="6"/>
      <dgm:spPr/>
    </dgm:pt>
    <dgm:pt modelId="{B4A37C34-5D0F-3C47-9836-F4DB7D8FF3A7}" type="pres">
      <dgm:prSet presAssocID="{66E411B0-21E1-46BB-A56F-5C0526678BDC}" presName="bottomArc1" presStyleLbl="parChTrans1D1" presStyleIdx="1" presStyleCnt="6"/>
      <dgm:spPr/>
    </dgm:pt>
    <dgm:pt modelId="{DA03E829-B13E-CA42-978B-A244B7328CE7}" type="pres">
      <dgm:prSet presAssocID="{66E411B0-21E1-46BB-A56F-5C0526678BDC}" presName="topConnNode1" presStyleLbl="node1" presStyleIdx="0" presStyleCnt="0"/>
      <dgm:spPr/>
    </dgm:pt>
    <dgm:pt modelId="{B073C965-7A1D-7349-80AF-B53489CD1BFB}" type="pres">
      <dgm:prSet presAssocID="{66E411B0-21E1-46BB-A56F-5C0526678BDC}" presName="hierChild2" presStyleCnt="0"/>
      <dgm:spPr/>
    </dgm:pt>
    <dgm:pt modelId="{203A3C33-7FFA-3748-8258-C09732752CE2}" type="pres">
      <dgm:prSet presAssocID="{7DF84661-5BD8-400B-85D2-4E0300FB7E5B}" presName="Name28" presStyleLbl="parChTrans1D2" presStyleIdx="0" presStyleCnt="2"/>
      <dgm:spPr/>
    </dgm:pt>
    <dgm:pt modelId="{857D2D53-EA34-0541-BD5E-8D6BCDAE294D}" type="pres">
      <dgm:prSet presAssocID="{BB74A2FE-F37E-4D5E-AB25-CE0E373C0801}" presName="hierRoot2" presStyleCnt="0">
        <dgm:presLayoutVars>
          <dgm:hierBranch val="init"/>
        </dgm:presLayoutVars>
      </dgm:prSet>
      <dgm:spPr/>
    </dgm:pt>
    <dgm:pt modelId="{97108150-63F1-4048-8CD1-B27EC454E8AB}" type="pres">
      <dgm:prSet presAssocID="{BB74A2FE-F37E-4D5E-AB25-CE0E373C0801}" presName="rootComposite2" presStyleCnt="0"/>
      <dgm:spPr/>
    </dgm:pt>
    <dgm:pt modelId="{E2F1E523-5190-424F-BA86-8372C6F5CAC4}" type="pres">
      <dgm:prSet presAssocID="{BB74A2FE-F37E-4D5E-AB25-CE0E373C0801}" presName="rootText2" presStyleLbl="alignAcc1" presStyleIdx="0" presStyleCnt="0">
        <dgm:presLayoutVars>
          <dgm:chPref val="3"/>
        </dgm:presLayoutVars>
      </dgm:prSet>
      <dgm:spPr/>
    </dgm:pt>
    <dgm:pt modelId="{9D02861B-EA84-F748-AE6A-3B31D1F98643}" type="pres">
      <dgm:prSet presAssocID="{BB74A2FE-F37E-4D5E-AB25-CE0E373C0801}" presName="topArc2" presStyleLbl="parChTrans1D1" presStyleIdx="2" presStyleCnt="6"/>
      <dgm:spPr/>
    </dgm:pt>
    <dgm:pt modelId="{42882EBD-7C86-3F4E-ACFA-7AFD645EE42A}" type="pres">
      <dgm:prSet presAssocID="{BB74A2FE-F37E-4D5E-AB25-CE0E373C0801}" presName="bottomArc2" presStyleLbl="parChTrans1D1" presStyleIdx="3" presStyleCnt="6"/>
      <dgm:spPr/>
    </dgm:pt>
    <dgm:pt modelId="{A1AF99B4-6369-2542-B197-A64E68C05C52}" type="pres">
      <dgm:prSet presAssocID="{BB74A2FE-F37E-4D5E-AB25-CE0E373C0801}" presName="topConnNode2" presStyleLbl="node2" presStyleIdx="0" presStyleCnt="0"/>
      <dgm:spPr/>
    </dgm:pt>
    <dgm:pt modelId="{135A7650-73D1-9344-98C3-9249746E3B7F}" type="pres">
      <dgm:prSet presAssocID="{BB74A2FE-F37E-4D5E-AB25-CE0E373C0801}" presName="hierChild4" presStyleCnt="0"/>
      <dgm:spPr/>
    </dgm:pt>
    <dgm:pt modelId="{3DD6243B-1954-384F-BF61-A19082DAA9B9}" type="pres">
      <dgm:prSet presAssocID="{BB74A2FE-F37E-4D5E-AB25-CE0E373C0801}" presName="hierChild5" presStyleCnt="0"/>
      <dgm:spPr/>
    </dgm:pt>
    <dgm:pt modelId="{BE3F49F2-7A25-2340-9C96-91A699328FFB}" type="pres">
      <dgm:prSet presAssocID="{66E411B0-21E1-46BB-A56F-5C0526678BDC}" presName="hierChild3" presStyleCnt="0"/>
      <dgm:spPr/>
    </dgm:pt>
    <dgm:pt modelId="{E9E1DB7A-644C-3B42-AD25-2ECA5A8DDB63}" type="pres">
      <dgm:prSet presAssocID="{C7555B13-EADA-43C8-BCC7-8E40F734D9D4}" presName="Name101" presStyleLbl="parChTrans1D2" presStyleIdx="1" presStyleCnt="2"/>
      <dgm:spPr/>
    </dgm:pt>
    <dgm:pt modelId="{D11FF0FD-A7C1-0049-B2A7-95F114818287}" type="pres">
      <dgm:prSet presAssocID="{5EE6A9FA-6940-44C5-9799-E6B48680286D}" presName="hierRoot3" presStyleCnt="0">
        <dgm:presLayoutVars>
          <dgm:hierBranch val="init"/>
        </dgm:presLayoutVars>
      </dgm:prSet>
      <dgm:spPr/>
    </dgm:pt>
    <dgm:pt modelId="{7E79596E-C293-9641-ABE6-EAF1B3C07CA6}" type="pres">
      <dgm:prSet presAssocID="{5EE6A9FA-6940-44C5-9799-E6B48680286D}" presName="rootComposite3" presStyleCnt="0"/>
      <dgm:spPr/>
    </dgm:pt>
    <dgm:pt modelId="{177331BC-3BBA-3E4D-9943-2B47AE708F1D}" type="pres">
      <dgm:prSet presAssocID="{5EE6A9FA-6940-44C5-9799-E6B48680286D}" presName="rootText3" presStyleLbl="alignAcc1" presStyleIdx="0" presStyleCnt="0">
        <dgm:presLayoutVars>
          <dgm:chPref val="3"/>
        </dgm:presLayoutVars>
      </dgm:prSet>
      <dgm:spPr/>
    </dgm:pt>
    <dgm:pt modelId="{80A84B1A-C964-A646-BC6F-F9605462D7EA}" type="pres">
      <dgm:prSet presAssocID="{5EE6A9FA-6940-44C5-9799-E6B48680286D}" presName="topArc3" presStyleLbl="parChTrans1D1" presStyleIdx="4" presStyleCnt="6"/>
      <dgm:spPr/>
    </dgm:pt>
    <dgm:pt modelId="{2F2A00A7-8A99-564A-9E40-413619C32B17}" type="pres">
      <dgm:prSet presAssocID="{5EE6A9FA-6940-44C5-9799-E6B48680286D}" presName="bottomArc3" presStyleLbl="parChTrans1D1" presStyleIdx="5" presStyleCnt="6"/>
      <dgm:spPr/>
    </dgm:pt>
    <dgm:pt modelId="{C3CF920B-9328-2A4B-BFE0-B576720ADB03}" type="pres">
      <dgm:prSet presAssocID="{5EE6A9FA-6940-44C5-9799-E6B48680286D}" presName="topConnNode3" presStyleLbl="asst1" presStyleIdx="0" presStyleCnt="0"/>
      <dgm:spPr/>
    </dgm:pt>
    <dgm:pt modelId="{7D0D0836-BA28-054C-841D-C88C0A8E0625}" type="pres">
      <dgm:prSet presAssocID="{5EE6A9FA-6940-44C5-9799-E6B48680286D}" presName="hierChild6" presStyleCnt="0"/>
      <dgm:spPr/>
    </dgm:pt>
    <dgm:pt modelId="{74AB9EDA-C9EF-FD40-8179-6632100F1AE8}" type="pres">
      <dgm:prSet presAssocID="{5EE6A9FA-6940-44C5-9799-E6B48680286D}" presName="hierChild7" presStyleCnt="0"/>
      <dgm:spPr/>
    </dgm:pt>
  </dgm:ptLst>
  <dgm:cxnLst>
    <dgm:cxn modelId="{C53DE538-4118-4473-8999-D8B3157AAB06}" srcId="{66E411B0-21E1-46BB-A56F-5C0526678BDC}" destId="{BB74A2FE-F37E-4D5E-AB25-CE0E373C0801}" srcOrd="1" destOrd="0" parTransId="{7DF84661-5BD8-400B-85D2-4E0300FB7E5B}" sibTransId="{9AB06497-A5F4-421E-BD3C-511F1EF38DCC}"/>
    <dgm:cxn modelId="{94207C39-5862-F34C-B524-DC1FCFDBCC17}" type="presOf" srcId="{BB74A2FE-F37E-4D5E-AB25-CE0E373C0801}" destId="{A1AF99B4-6369-2542-B197-A64E68C05C52}" srcOrd="1" destOrd="0" presId="urn:microsoft.com/office/officeart/2008/layout/HalfCircleOrganizationChart"/>
    <dgm:cxn modelId="{A3FEA051-3E46-8149-9C70-488C27084635}" type="presOf" srcId="{5EE6A9FA-6940-44C5-9799-E6B48680286D}" destId="{177331BC-3BBA-3E4D-9943-2B47AE708F1D}" srcOrd="0" destOrd="0" presId="urn:microsoft.com/office/officeart/2008/layout/HalfCircleOrganizationChart"/>
    <dgm:cxn modelId="{36CB1A6E-2D7D-B94D-8D37-C1B345F385BF}" type="presOf" srcId="{7DF84661-5BD8-400B-85D2-4E0300FB7E5B}" destId="{203A3C33-7FFA-3748-8258-C09732752CE2}" srcOrd="0" destOrd="0" presId="urn:microsoft.com/office/officeart/2008/layout/HalfCircleOrganizationChart"/>
    <dgm:cxn modelId="{C7FA707B-7085-4ECE-8EAE-0AEB83CED243}" srcId="{66E411B0-21E1-46BB-A56F-5C0526678BDC}" destId="{5EE6A9FA-6940-44C5-9799-E6B48680286D}" srcOrd="0" destOrd="0" parTransId="{C7555B13-EADA-43C8-BCC7-8E40F734D9D4}" sibTransId="{FFE65735-93C1-404F-BAAA-74526C925BA9}"/>
    <dgm:cxn modelId="{FB05FF8B-A3FA-804D-94C0-87D55B4A8A64}" type="presOf" srcId="{725EB332-7BFC-4F38-B3C2-86915A2096A7}" destId="{BB93813A-070A-8D4A-9843-3CCBDE9737C1}" srcOrd="0" destOrd="0" presId="urn:microsoft.com/office/officeart/2008/layout/HalfCircleOrganizationChart"/>
    <dgm:cxn modelId="{AF4D808D-8F6E-0F49-961A-A430AC5CC03A}" type="presOf" srcId="{66E411B0-21E1-46BB-A56F-5C0526678BDC}" destId="{E483DDC5-6826-BD44-AB99-BD67F09563F2}" srcOrd="0" destOrd="0" presId="urn:microsoft.com/office/officeart/2008/layout/HalfCircleOrganizationChart"/>
    <dgm:cxn modelId="{BF3E1893-D261-5B4A-BC0C-209A25151518}" type="presOf" srcId="{C7555B13-EADA-43C8-BCC7-8E40F734D9D4}" destId="{E9E1DB7A-644C-3B42-AD25-2ECA5A8DDB63}" srcOrd="0" destOrd="0" presId="urn:microsoft.com/office/officeart/2008/layout/HalfCircleOrganizationChart"/>
    <dgm:cxn modelId="{0D6B609B-4CB3-5C40-9D88-5E44C4A97F30}" type="presOf" srcId="{5EE6A9FA-6940-44C5-9799-E6B48680286D}" destId="{C3CF920B-9328-2A4B-BFE0-B576720ADB03}" srcOrd="1" destOrd="0" presId="urn:microsoft.com/office/officeart/2008/layout/HalfCircleOrganizationChart"/>
    <dgm:cxn modelId="{C864A3CB-AEAE-F94E-A71C-C0AC62F47E75}" type="presOf" srcId="{66E411B0-21E1-46BB-A56F-5C0526678BDC}" destId="{DA03E829-B13E-CA42-978B-A244B7328CE7}" srcOrd="1" destOrd="0" presId="urn:microsoft.com/office/officeart/2008/layout/HalfCircleOrganizationChart"/>
    <dgm:cxn modelId="{C5CA0EDE-BC06-43B6-AB54-5F1BC37D21D4}" srcId="{725EB332-7BFC-4F38-B3C2-86915A2096A7}" destId="{66E411B0-21E1-46BB-A56F-5C0526678BDC}" srcOrd="0" destOrd="0" parTransId="{717B430E-5371-45EA-B172-51C95831C4A0}" sibTransId="{BFB57B88-151C-4CB7-9F27-9286D46856AD}"/>
    <dgm:cxn modelId="{6945E1F4-AB31-7843-9954-899710275D46}" type="presOf" srcId="{BB74A2FE-F37E-4D5E-AB25-CE0E373C0801}" destId="{E2F1E523-5190-424F-BA86-8372C6F5CAC4}" srcOrd="0" destOrd="0" presId="urn:microsoft.com/office/officeart/2008/layout/HalfCircleOrganizationChart"/>
    <dgm:cxn modelId="{C37823E0-6CA4-9F48-85EF-CA209D9C09B0}" type="presParOf" srcId="{BB93813A-070A-8D4A-9843-3CCBDE9737C1}" destId="{05509138-3CB7-2441-857A-26BFDF3AC619}" srcOrd="0" destOrd="0" presId="urn:microsoft.com/office/officeart/2008/layout/HalfCircleOrganizationChart"/>
    <dgm:cxn modelId="{C75A147B-F44F-6342-B98E-3267762C3403}" type="presParOf" srcId="{05509138-3CB7-2441-857A-26BFDF3AC619}" destId="{7C1E00F0-6F2E-9F45-A260-CAD07C8C3326}" srcOrd="0" destOrd="0" presId="urn:microsoft.com/office/officeart/2008/layout/HalfCircleOrganizationChart"/>
    <dgm:cxn modelId="{B56ECF03-01F2-0F42-9F31-1F9EF3F4EFA7}" type="presParOf" srcId="{7C1E00F0-6F2E-9F45-A260-CAD07C8C3326}" destId="{E483DDC5-6826-BD44-AB99-BD67F09563F2}" srcOrd="0" destOrd="0" presId="urn:microsoft.com/office/officeart/2008/layout/HalfCircleOrganizationChart"/>
    <dgm:cxn modelId="{D9A46C8F-4B6D-FF46-B526-41C3AE194F28}" type="presParOf" srcId="{7C1E00F0-6F2E-9F45-A260-CAD07C8C3326}" destId="{34259B3B-D6B1-F743-83B8-9AB1A60E7DE1}" srcOrd="1" destOrd="0" presId="urn:microsoft.com/office/officeart/2008/layout/HalfCircleOrganizationChart"/>
    <dgm:cxn modelId="{50E0C9A6-4064-804F-B01F-FF99F907EA52}" type="presParOf" srcId="{7C1E00F0-6F2E-9F45-A260-CAD07C8C3326}" destId="{B4A37C34-5D0F-3C47-9836-F4DB7D8FF3A7}" srcOrd="2" destOrd="0" presId="urn:microsoft.com/office/officeart/2008/layout/HalfCircleOrganizationChart"/>
    <dgm:cxn modelId="{21997B97-1D04-E34B-884B-435F3392D87B}" type="presParOf" srcId="{7C1E00F0-6F2E-9F45-A260-CAD07C8C3326}" destId="{DA03E829-B13E-CA42-978B-A244B7328CE7}" srcOrd="3" destOrd="0" presId="urn:microsoft.com/office/officeart/2008/layout/HalfCircleOrganizationChart"/>
    <dgm:cxn modelId="{DC4B6C23-E12D-2A4B-BE9E-DE6ED8BFFAF1}" type="presParOf" srcId="{05509138-3CB7-2441-857A-26BFDF3AC619}" destId="{B073C965-7A1D-7349-80AF-B53489CD1BFB}" srcOrd="1" destOrd="0" presId="urn:microsoft.com/office/officeart/2008/layout/HalfCircleOrganizationChart"/>
    <dgm:cxn modelId="{7282149E-4891-A647-88B9-B8C0CAE694AD}" type="presParOf" srcId="{B073C965-7A1D-7349-80AF-B53489CD1BFB}" destId="{203A3C33-7FFA-3748-8258-C09732752CE2}" srcOrd="0" destOrd="0" presId="urn:microsoft.com/office/officeart/2008/layout/HalfCircleOrganizationChart"/>
    <dgm:cxn modelId="{EFBF637C-49D7-5045-9C24-5EDDE3EE1485}" type="presParOf" srcId="{B073C965-7A1D-7349-80AF-B53489CD1BFB}" destId="{857D2D53-EA34-0541-BD5E-8D6BCDAE294D}" srcOrd="1" destOrd="0" presId="urn:microsoft.com/office/officeart/2008/layout/HalfCircleOrganizationChart"/>
    <dgm:cxn modelId="{85029D80-BB9B-A243-8C9E-04B574584B2A}" type="presParOf" srcId="{857D2D53-EA34-0541-BD5E-8D6BCDAE294D}" destId="{97108150-63F1-4048-8CD1-B27EC454E8AB}" srcOrd="0" destOrd="0" presId="urn:microsoft.com/office/officeart/2008/layout/HalfCircleOrganizationChart"/>
    <dgm:cxn modelId="{B33B9C14-AC07-9644-8AE0-6E531DC0476B}" type="presParOf" srcId="{97108150-63F1-4048-8CD1-B27EC454E8AB}" destId="{E2F1E523-5190-424F-BA86-8372C6F5CAC4}" srcOrd="0" destOrd="0" presId="urn:microsoft.com/office/officeart/2008/layout/HalfCircleOrganizationChart"/>
    <dgm:cxn modelId="{9922A569-E32B-8B47-A285-92C5A3E32268}" type="presParOf" srcId="{97108150-63F1-4048-8CD1-B27EC454E8AB}" destId="{9D02861B-EA84-F748-AE6A-3B31D1F98643}" srcOrd="1" destOrd="0" presId="urn:microsoft.com/office/officeart/2008/layout/HalfCircleOrganizationChart"/>
    <dgm:cxn modelId="{C8A36A55-E85A-8B45-B1A1-70226A92CBF2}" type="presParOf" srcId="{97108150-63F1-4048-8CD1-B27EC454E8AB}" destId="{42882EBD-7C86-3F4E-ACFA-7AFD645EE42A}" srcOrd="2" destOrd="0" presId="urn:microsoft.com/office/officeart/2008/layout/HalfCircleOrganizationChart"/>
    <dgm:cxn modelId="{2A3FC653-FDAA-E949-8638-5F793BAE1F45}" type="presParOf" srcId="{97108150-63F1-4048-8CD1-B27EC454E8AB}" destId="{A1AF99B4-6369-2542-B197-A64E68C05C52}" srcOrd="3" destOrd="0" presId="urn:microsoft.com/office/officeart/2008/layout/HalfCircleOrganizationChart"/>
    <dgm:cxn modelId="{8BEEAA47-6E24-904A-BAE2-344B3C891897}" type="presParOf" srcId="{857D2D53-EA34-0541-BD5E-8D6BCDAE294D}" destId="{135A7650-73D1-9344-98C3-9249746E3B7F}" srcOrd="1" destOrd="0" presId="urn:microsoft.com/office/officeart/2008/layout/HalfCircleOrganizationChart"/>
    <dgm:cxn modelId="{D4BC3DD5-C0B6-514B-BC82-6525EC4FE03C}" type="presParOf" srcId="{857D2D53-EA34-0541-BD5E-8D6BCDAE294D}" destId="{3DD6243B-1954-384F-BF61-A19082DAA9B9}" srcOrd="2" destOrd="0" presId="urn:microsoft.com/office/officeart/2008/layout/HalfCircleOrganizationChart"/>
    <dgm:cxn modelId="{29420D23-1D4A-EC48-9DEE-480C366F2819}" type="presParOf" srcId="{05509138-3CB7-2441-857A-26BFDF3AC619}" destId="{BE3F49F2-7A25-2340-9C96-91A699328FFB}" srcOrd="2" destOrd="0" presId="urn:microsoft.com/office/officeart/2008/layout/HalfCircleOrganizationChart"/>
    <dgm:cxn modelId="{DE0614E3-912F-D941-9116-403F246A6705}" type="presParOf" srcId="{BE3F49F2-7A25-2340-9C96-91A699328FFB}" destId="{E9E1DB7A-644C-3B42-AD25-2ECA5A8DDB63}" srcOrd="0" destOrd="0" presId="urn:microsoft.com/office/officeart/2008/layout/HalfCircleOrganizationChart"/>
    <dgm:cxn modelId="{1E868B6F-863D-014B-A9CC-405E5F29C8BA}" type="presParOf" srcId="{BE3F49F2-7A25-2340-9C96-91A699328FFB}" destId="{D11FF0FD-A7C1-0049-B2A7-95F114818287}" srcOrd="1" destOrd="0" presId="urn:microsoft.com/office/officeart/2008/layout/HalfCircleOrganizationChart"/>
    <dgm:cxn modelId="{12E25E0A-801F-0B48-A205-AB94D9AC939A}" type="presParOf" srcId="{D11FF0FD-A7C1-0049-B2A7-95F114818287}" destId="{7E79596E-C293-9641-ABE6-EAF1B3C07CA6}" srcOrd="0" destOrd="0" presId="urn:microsoft.com/office/officeart/2008/layout/HalfCircleOrganizationChart"/>
    <dgm:cxn modelId="{2C933C08-4948-114B-825C-262F7E09BC06}" type="presParOf" srcId="{7E79596E-C293-9641-ABE6-EAF1B3C07CA6}" destId="{177331BC-3BBA-3E4D-9943-2B47AE708F1D}" srcOrd="0" destOrd="0" presId="urn:microsoft.com/office/officeart/2008/layout/HalfCircleOrganizationChart"/>
    <dgm:cxn modelId="{C7A2A12C-ABB2-CD49-B89D-18B6DCE9AFA6}" type="presParOf" srcId="{7E79596E-C293-9641-ABE6-EAF1B3C07CA6}" destId="{80A84B1A-C964-A646-BC6F-F9605462D7EA}" srcOrd="1" destOrd="0" presId="urn:microsoft.com/office/officeart/2008/layout/HalfCircleOrganizationChart"/>
    <dgm:cxn modelId="{E5D4FD01-01D8-BB4A-ACCA-DBC608656B5B}" type="presParOf" srcId="{7E79596E-C293-9641-ABE6-EAF1B3C07CA6}" destId="{2F2A00A7-8A99-564A-9E40-413619C32B17}" srcOrd="2" destOrd="0" presId="urn:microsoft.com/office/officeart/2008/layout/HalfCircleOrganizationChart"/>
    <dgm:cxn modelId="{70013983-8107-BC43-8A37-6340A7050B50}" type="presParOf" srcId="{7E79596E-C293-9641-ABE6-EAF1B3C07CA6}" destId="{C3CF920B-9328-2A4B-BFE0-B576720ADB03}" srcOrd="3" destOrd="0" presId="urn:microsoft.com/office/officeart/2008/layout/HalfCircleOrganizationChart"/>
    <dgm:cxn modelId="{A51C989B-4132-8748-8F72-3DE61C00DAE1}" type="presParOf" srcId="{D11FF0FD-A7C1-0049-B2A7-95F114818287}" destId="{7D0D0836-BA28-054C-841D-C88C0A8E0625}" srcOrd="1" destOrd="0" presId="urn:microsoft.com/office/officeart/2008/layout/HalfCircleOrganizationChart"/>
    <dgm:cxn modelId="{BA520CE5-3684-754C-A1D0-C3B051BA40AC}" type="presParOf" srcId="{D11FF0FD-A7C1-0049-B2A7-95F114818287}" destId="{74AB9EDA-C9EF-FD40-8179-6632100F1AE8}" srcOrd="2" destOrd="0" presId="urn:microsoft.com/office/officeart/2008/layout/HalfCircle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509F39-E273-7E46-9908-3291EEE0B8B5}" type="doc">
      <dgm:prSet loTypeId="urn:microsoft.com/office/officeart/2005/8/layout/default" loCatId="" qsTypeId="urn:microsoft.com/office/officeart/2005/8/quickstyle/3d7" qsCatId="3D" csTypeId="urn:microsoft.com/office/officeart/2005/8/colors/accent1_2" csCatId="accent1" phldr="1"/>
      <dgm:spPr/>
      <dgm:t>
        <a:bodyPr/>
        <a:lstStyle/>
        <a:p>
          <a:endParaRPr lang="en-GB"/>
        </a:p>
      </dgm:t>
    </dgm:pt>
    <dgm:pt modelId="{3A28DC43-6AC2-444F-A371-4E893A1E9445}">
      <dgm:prSet phldrT="[Text]"/>
      <dgm:spPr/>
      <dgm:t>
        <a:bodyPr/>
        <a:lstStyle/>
        <a:p>
          <a:r>
            <a:rPr lang="en-GB" dirty="0"/>
            <a:t>MAX_VALUE</a:t>
          </a:r>
        </a:p>
      </dgm:t>
    </dgm:pt>
    <dgm:pt modelId="{0CE3651C-D5CB-6241-ADA6-649E0F0125F1}" type="parTrans" cxnId="{920A8065-1413-D74E-A47F-8D33714604CF}">
      <dgm:prSet/>
      <dgm:spPr/>
      <dgm:t>
        <a:bodyPr/>
        <a:lstStyle/>
        <a:p>
          <a:endParaRPr lang="en-GB"/>
        </a:p>
      </dgm:t>
    </dgm:pt>
    <dgm:pt modelId="{BB1F1825-C695-0B49-A760-5583FBBAD53C}" type="sibTrans" cxnId="{920A8065-1413-D74E-A47F-8D33714604CF}">
      <dgm:prSet/>
      <dgm:spPr/>
      <dgm:t>
        <a:bodyPr/>
        <a:lstStyle/>
        <a:p>
          <a:endParaRPr lang="en-GB"/>
        </a:p>
      </dgm:t>
    </dgm:pt>
    <dgm:pt modelId="{9B62F52B-1644-124B-8937-304495188692}">
      <dgm:prSet phldrT="[Text]"/>
      <dgm:spPr/>
      <dgm:t>
        <a:bodyPr/>
        <a:lstStyle/>
        <a:p>
          <a:r>
            <a:rPr lang="en-GB" dirty="0"/>
            <a:t>MIN_VALUE</a:t>
          </a:r>
        </a:p>
      </dgm:t>
    </dgm:pt>
    <dgm:pt modelId="{45770209-43C6-F940-8F8D-5EF16205BD6B}" type="parTrans" cxnId="{2B959D7F-C8F4-5945-9E11-74F281FC290E}">
      <dgm:prSet/>
      <dgm:spPr/>
      <dgm:t>
        <a:bodyPr/>
        <a:lstStyle/>
        <a:p>
          <a:endParaRPr lang="en-GB"/>
        </a:p>
      </dgm:t>
    </dgm:pt>
    <dgm:pt modelId="{80089DFC-22C7-2D43-8EDE-78799B3EEE08}" type="sibTrans" cxnId="{2B959D7F-C8F4-5945-9E11-74F281FC290E}">
      <dgm:prSet/>
      <dgm:spPr/>
      <dgm:t>
        <a:bodyPr/>
        <a:lstStyle/>
        <a:p>
          <a:endParaRPr lang="en-GB"/>
        </a:p>
      </dgm:t>
    </dgm:pt>
    <dgm:pt modelId="{B869F354-5D91-9045-9855-32CDD662FB45}">
      <dgm:prSet phldrT="[Text]"/>
      <dgm:spPr/>
      <dgm:t>
        <a:bodyPr/>
        <a:lstStyle/>
        <a:p>
          <a:r>
            <a:rPr lang="en-GB" dirty="0" err="1"/>
            <a:t>NaN</a:t>
          </a:r>
          <a:endParaRPr lang="en-GB" dirty="0"/>
        </a:p>
      </dgm:t>
    </dgm:pt>
    <dgm:pt modelId="{B59FA554-961F-4A43-ABDD-02C9250A1B72}" type="parTrans" cxnId="{F44AA699-5C92-1C46-9C10-A946B9AD2B30}">
      <dgm:prSet/>
      <dgm:spPr/>
      <dgm:t>
        <a:bodyPr/>
        <a:lstStyle/>
        <a:p>
          <a:endParaRPr lang="en-GB"/>
        </a:p>
      </dgm:t>
    </dgm:pt>
    <dgm:pt modelId="{3DF9D38F-84AA-294D-846D-BF332787FF6A}" type="sibTrans" cxnId="{F44AA699-5C92-1C46-9C10-A946B9AD2B30}">
      <dgm:prSet/>
      <dgm:spPr/>
      <dgm:t>
        <a:bodyPr/>
        <a:lstStyle/>
        <a:p>
          <a:endParaRPr lang="en-GB"/>
        </a:p>
      </dgm:t>
    </dgm:pt>
    <dgm:pt modelId="{B2038E9B-3E3D-4143-906A-DB31618211D9}">
      <dgm:prSet phldrT="[Text]"/>
      <dgm:spPr/>
      <dgm:t>
        <a:bodyPr/>
        <a:lstStyle/>
        <a:p>
          <a:r>
            <a:rPr lang="en-GB" dirty="0"/>
            <a:t>NEGATIVE_INFINITY</a:t>
          </a:r>
        </a:p>
      </dgm:t>
    </dgm:pt>
    <dgm:pt modelId="{1AC7C9FF-09A0-0B4F-A0D2-59FC455CF9E8}" type="parTrans" cxnId="{481578E0-103F-FF41-9854-F2C2EE3E75D3}">
      <dgm:prSet/>
      <dgm:spPr/>
      <dgm:t>
        <a:bodyPr/>
        <a:lstStyle/>
        <a:p>
          <a:endParaRPr lang="en-GB"/>
        </a:p>
      </dgm:t>
    </dgm:pt>
    <dgm:pt modelId="{46FF58E2-5216-DC4B-84B9-8BA28EA24F88}" type="sibTrans" cxnId="{481578E0-103F-FF41-9854-F2C2EE3E75D3}">
      <dgm:prSet/>
      <dgm:spPr/>
      <dgm:t>
        <a:bodyPr/>
        <a:lstStyle/>
        <a:p>
          <a:endParaRPr lang="en-GB"/>
        </a:p>
      </dgm:t>
    </dgm:pt>
    <dgm:pt modelId="{CF309546-59E8-714F-942F-FD6F0BD11487}">
      <dgm:prSet phldrT="[Text]"/>
      <dgm:spPr/>
      <dgm:t>
        <a:bodyPr/>
        <a:lstStyle/>
        <a:p>
          <a:r>
            <a:rPr lang="en-GB" dirty="0"/>
            <a:t>POSITIVE_INFINITY</a:t>
          </a:r>
        </a:p>
      </dgm:t>
    </dgm:pt>
    <dgm:pt modelId="{D3283F25-8596-B740-821D-D46CE40D19CF}" type="parTrans" cxnId="{234A7ABB-B094-A046-ACD9-90AA15D9B4AF}">
      <dgm:prSet/>
      <dgm:spPr/>
      <dgm:t>
        <a:bodyPr/>
        <a:lstStyle/>
        <a:p>
          <a:endParaRPr lang="en-GB"/>
        </a:p>
      </dgm:t>
    </dgm:pt>
    <dgm:pt modelId="{0FE012E0-347A-D543-B608-199177513278}" type="sibTrans" cxnId="{234A7ABB-B094-A046-ACD9-90AA15D9B4AF}">
      <dgm:prSet/>
      <dgm:spPr/>
      <dgm:t>
        <a:bodyPr/>
        <a:lstStyle/>
        <a:p>
          <a:endParaRPr lang="en-GB"/>
        </a:p>
      </dgm:t>
    </dgm:pt>
    <dgm:pt modelId="{3AB08CA8-A5D3-7F43-B5BE-DFB6386154B3}" type="pres">
      <dgm:prSet presAssocID="{67509F39-E273-7E46-9908-3291EEE0B8B5}" presName="diagram" presStyleCnt="0">
        <dgm:presLayoutVars>
          <dgm:dir/>
          <dgm:resizeHandles val="exact"/>
        </dgm:presLayoutVars>
      </dgm:prSet>
      <dgm:spPr/>
    </dgm:pt>
    <dgm:pt modelId="{08B51B93-AE9B-B94B-9913-A0FA94D542D5}" type="pres">
      <dgm:prSet presAssocID="{3A28DC43-6AC2-444F-A371-4E893A1E9445}" presName="node" presStyleLbl="node1" presStyleIdx="0" presStyleCnt="5">
        <dgm:presLayoutVars>
          <dgm:bulletEnabled val="1"/>
        </dgm:presLayoutVars>
      </dgm:prSet>
      <dgm:spPr/>
    </dgm:pt>
    <dgm:pt modelId="{B774EAF2-4640-494A-917E-8155A13B900B}" type="pres">
      <dgm:prSet presAssocID="{BB1F1825-C695-0B49-A760-5583FBBAD53C}" presName="sibTrans" presStyleCnt="0"/>
      <dgm:spPr/>
    </dgm:pt>
    <dgm:pt modelId="{E2874CD4-E27F-6D4D-AF3E-0BA502B88C85}" type="pres">
      <dgm:prSet presAssocID="{9B62F52B-1644-124B-8937-304495188692}" presName="node" presStyleLbl="node1" presStyleIdx="1" presStyleCnt="5">
        <dgm:presLayoutVars>
          <dgm:bulletEnabled val="1"/>
        </dgm:presLayoutVars>
      </dgm:prSet>
      <dgm:spPr/>
    </dgm:pt>
    <dgm:pt modelId="{145749C5-A9C4-1946-A6FD-B2C17436FC2E}" type="pres">
      <dgm:prSet presAssocID="{80089DFC-22C7-2D43-8EDE-78799B3EEE08}" presName="sibTrans" presStyleCnt="0"/>
      <dgm:spPr/>
    </dgm:pt>
    <dgm:pt modelId="{46BD3462-22A5-B848-B3BF-947443600A3F}" type="pres">
      <dgm:prSet presAssocID="{B869F354-5D91-9045-9855-32CDD662FB45}" presName="node" presStyleLbl="node1" presStyleIdx="2" presStyleCnt="5">
        <dgm:presLayoutVars>
          <dgm:bulletEnabled val="1"/>
        </dgm:presLayoutVars>
      </dgm:prSet>
      <dgm:spPr/>
    </dgm:pt>
    <dgm:pt modelId="{628B20C8-D8D9-A148-8DF2-4CD781AF1355}" type="pres">
      <dgm:prSet presAssocID="{3DF9D38F-84AA-294D-846D-BF332787FF6A}" presName="sibTrans" presStyleCnt="0"/>
      <dgm:spPr/>
    </dgm:pt>
    <dgm:pt modelId="{5278F817-5899-5244-957D-90D74475FF53}" type="pres">
      <dgm:prSet presAssocID="{B2038E9B-3E3D-4143-906A-DB31618211D9}" presName="node" presStyleLbl="node1" presStyleIdx="3" presStyleCnt="5">
        <dgm:presLayoutVars>
          <dgm:bulletEnabled val="1"/>
        </dgm:presLayoutVars>
      </dgm:prSet>
      <dgm:spPr/>
    </dgm:pt>
    <dgm:pt modelId="{9CAD8578-BAA8-2745-850E-1990B6629710}" type="pres">
      <dgm:prSet presAssocID="{46FF58E2-5216-DC4B-84B9-8BA28EA24F88}" presName="sibTrans" presStyleCnt="0"/>
      <dgm:spPr/>
    </dgm:pt>
    <dgm:pt modelId="{7088EFB0-72B3-8348-9AFC-21329A1C7953}" type="pres">
      <dgm:prSet presAssocID="{CF309546-59E8-714F-942F-FD6F0BD11487}" presName="node" presStyleLbl="node1" presStyleIdx="4" presStyleCnt="5">
        <dgm:presLayoutVars>
          <dgm:bulletEnabled val="1"/>
        </dgm:presLayoutVars>
      </dgm:prSet>
      <dgm:spPr/>
    </dgm:pt>
  </dgm:ptLst>
  <dgm:cxnLst>
    <dgm:cxn modelId="{AAF6662D-D644-3540-ADE2-9C528CD4930F}" type="presOf" srcId="{3A28DC43-6AC2-444F-A371-4E893A1E9445}" destId="{08B51B93-AE9B-B94B-9913-A0FA94D542D5}" srcOrd="0" destOrd="0" presId="urn:microsoft.com/office/officeart/2005/8/layout/default"/>
    <dgm:cxn modelId="{0B71923A-AEF5-8A45-B243-6CCFD22E63B4}" type="presOf" srcId="{9B62F52B-1644-124B-8937-304495188692}" destId="{E2874CD4-E27F-6D4D-AF3E-0BA502B88C85}" srcOrd="0" destOrd="0" presId="urn:microsoft.com/office/officeart/2005/8/layout/default"/>
    <dgm:cxn modelId="{920A8065-1413-D74E-A47F-8D33714604CF}" srcId="{67509F39-E273-7E46-9908-3291EEE0B8B5}" destId="{3A28DC43-6AC2-444F-A371-4E893A1E9445}" srcOrd="0" destOrd="0" parTransId="{0CE3651C-D5CB-6241-ADA6-649E0F0125F1}" sibTransId="{BB1F1825-C695-0B49-A760-5583FBBAD53C}"/>
    <dgm:cxn modelId="{F952426A-7CB4-7E4E-A1ED-61750E4C60C0}" type="presOf" srcId="{67509F39-E273-7E46-9908-3291EEE0B8B5}" destId="{3AB08CA8-A5D3-7F43-B5BE-DFB6386154B3}" srcOrd="0" destOrd="0" presId="urn:microsoft.com/office/officeart/2005/8/layout/default"/>
    <dgm:cxn modelId="{C46BCF77-AF4E-3343-92D5-D4156277CEB5}" type="presOf" srcId="{B869F354-5D91-9045-9855-32CDD662FB45}" destId="{46BD3462-22A5-B848-B3BF-947443600A3F}" srcOrd="0" destOrd="0" presId="urn:microsoft.com/office/officeart/2005/8/layout/default"/>
    <dgm:cxn modelId="{2B959D7F-C8F4-5945-9E11-74F281FC290E}" srcId="{67509F39-E273-7E46-9908-3291EEE0B8B5}" destId="{9B62F52B-1644-124B-8937-304495188692}" srcOrd="1" destOrd="0" parTransId="{45770209-43C6-F940-8F8D-5EF16205BD6B}" sibTransId="{80089DFC-22C7-2D43-8EDE-78799B3EEE08}"/>
    <dgm:cxn modelId="{0D9E3D95-7250-5447-B6AA-1D2ADA914D08}" type="presOf" srcId="{CF309546-59E8-714F-942F-FD6F0BD11487}" destId="{7088EFB0-72B3-8348-9AFC-21329A1C7953}" srcOrd="0" destOrd="0" presId="urn:microsoft.com/office/officeart/2005/8/layout/default"/>
    <dgm:cxn modelId="{F44AA699-5C92-1C46-9C10-A946B9AD2B30}" srcId="{67509F39-E273-7E46-9908-3291EEE0B8B5}" destId="{B869F354-5D91-9045-9855-32CDD662FB45}" srcOrd="2" destOrd="0" parTransId="{B59FA554-961F-4A43-ABDD-02C9250A1B72}" sibTransId="{3DF9D38F-84AA-294D-846D-BF332787FF6A}"/>
    <dgm:cxn modelId="{234A7ABB-B094-A046-ACD9-90AA15D9B4AF}" srcId="{67509F39-E273-7E46-9908-3291EEE0B8B5}" destId="{CF309546-59E8-714F-942F-FD6F0BD11487}" srcOrd="4" destOrd="0" parTransId="{D3283F25-8596-B740-821D-D46CE40D19CF}" sibTransId="{0FE012E0-347A-D543-B608-199177513278}"/>
    <dgm:cxn modelId="{EC1593C6-37FB-F94A-9F02-0DAA70D3EFB4}" type="presOf" srcId="{B2038E9B-3E3D-4143-906A-DB31618211D9}" destId="{5278F817-5899-5244-957D-90D74475FF53}" srcOrd="0" destOrd="0" presId="urn:microsoft.com/office/officeart/2005/8/layout/default"/>
    <dgm:cxn modelId="{481578E0-103F-FF41-9854-F2C2EE3E75D3}" srcId="{67509F39-E273-7E46-9908-3291EEE0B8B5}" destId="{B2038E9B-3E3D-4143-906A-DB31618211D9}" srcOrd="3" destOrd="0" parTransId="{1AC7C9FF-09A0-0B4F-A0D2-59FC455CF9E8}" sibTransId="{46FF58E2-5216-DC4B-84B9-8BA28EA24F88}"/>
    <dgm:cxn modelId="{6505E1D9-D5B0-6C47-9667-4A1AD4A65740}" type="presParOf" srcId="{3AB08CA8-A5D3-7F43-B5BE-DFB6386154B3}" destId="{08B51B93-AE9B-B94B-9913-A0FA94D542D5}" srcOrd="0" destOrd="0" presId="urn:microsoft.com/office/officeart/2005/8/layout/default"/>
    <dgm:cxn modelId="{48591F3F-DB6A-9A46-BEC7-0334784760FD}" type="presParOf" srcId="{3AB08CA8-A5D3-7F43-B5BE-DFB6386154B3}" destId="{B774EAF2-4640-494A-917E-8155A13B900B}" srcOrd="1" destOrd="0" presId="urn:microsoft.com/office/officeart/2005/8/layout/default"/>
    <dgm:cxn modelId="{569F7194-20C0-D24C-91FD-AF1CD6B9FC86}" type="presParOf" srcId="{3AB08CA8-A5D3-7F43-B5BE-DFB6386154B3}" destId="{E2874CD4-E27F-6D4D-AF3E-0BA502B88C85}" srcOrd="2" destOrd="0" presId="urn:microsoft.com/office/officeart/2005/8/layout/default"/>
    <dgm:cxn modelId="{BC7C6E68-D965-3C40-84F2-4534C98AAF4E}" type="presParOf" srcId="{3AB08CA8-A5D3-7F43-B5BE-DFB6386154B3}" destId="{145749C5-A9C4-1946-A6FD-B2C17436FC2E}" srcOrd="3" destOrd="0" presId="urn:microsoft.com/office/officeart/2005/8/layout/default"/>
    <dgm:cxn modelId="{61C7FAE3-3751-384E-BDCE-B5241BACE619}" type="presParOf" srcId="{3AB08CA8-A5D3-7F43-B5BE-DFB6386154B3}" destId="{46BD3462-22A5-B848-B3BF-947443600A3F}" srcOrd="4" destOrd="0" presId="urn:microsoft.com/office/officeart/2005/8/layout/default"/>
    <dgm:cxn modelId="{3B5434CC-8260-3744-93B5-CF31E7FEB840}" type="presParOf" srcId="{3AB08CA8-A5D3-7F43-B5BE-DFB6386154B3}" destId="{628B20C8-D8D9-A148-8DF2-4CD781AF1355}" srcOrd="5" destOrd="0" presId="urn:microsoft.com/office/officeart/2005/8/layout/default"/>
    <dgm:cxn modelId="{141681DB-0DE7-6A45-9A15-38C0D1CB78CF}" type="presParOf" srcId="{3AB08CA8-A5D3-7F43-B5BE-DFB6386154B3}" destId="{5278F817-5899-5244-957D-90D74475FF53}" srcOrd="6" destOrd="0" presId="urn:microsoft.com/office/officeart/2005/8/layout/default"/>
    <dgm:cxn modelId="{C51CC7E0-9878-5946-A3DC-266DC0152F72}" type="presParOf" srcId="{3AB08CA8-A5D3-7F43-B5BE-DFB6386154B3}" destId="{9CAD8578-BAA8-2745-850E-1990B6629710}" srcOrd="7" destOrd="0" presId="urn:microsoft.com/office/officeart/2005/8/layout/default"/>
    <dgm:cxn modelId="{89B1B5C4-72AD-D74F-AD83-7E2CFD56D9CF}" type="presParOf" srcId="{3AB08CA8-A5D3-7F43-B5BE-DFB6386154B3}" destId="{7088EFB0-72B3-8348-9AFC-21329A1C795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729D760-645E-F948-95AE-ACE07D392A03}" type="doc">
      <dgm:prSet loTypeId="urn:microsoft.com/office/officeart/2005/8/layout/list1" loCatId="" qsTypeId="urn:microsoft.com/office/officeart/2005/8/quickstyle/3d6" qsCatId="3D" csTypeId="urn:microsoft.com/office/officeart/2005/8/colors/accent1_2" csCatId="accent1" phldr="1"/>
      <dgm:spPr/>
      <dgm:t>
        <a:bodyPr/>
        <a:lstStyle/>
        <a:p>
          <a:endParaRPr lang="en-GB"/>
        </a:p>
      </dgm:t>
    </dgm:pt>
    <dgm:pt modelId="{4EA5F470-378E-E94D-83AA-F4300F00D9D6}">
      <dgm:prSet phldrT="[Text]"/>
      <dgm:spPr/>
      <dgm:t>
        <a:bodyPr/>
        <a:lstStyle/>
        <a:p>
          <a:r>
            <a:rPr lang="en-GB" dirty="0"/>
            <a:t>Felder</a:t>
          </a:r>
        </a:p>
      </dgm:t>
    </dgm:pt>
    <dgm:pt modelId="{0388EA47-AD5C-1F4E-BDA0-21651BD4A3CA}" type="parTrans" cxnId="{C1ABBBEF-89B4-4E4B-AEC9-B8278F63F136}">
      <dgm:prSet/>
      <dgm:spPr/>
      <dgm:t>
        <a:bodyPr/>
        <a:lstStyle/>
        <a:p>
          <a:endParaRPr lang="en-GB"/>
        </a:p>
      </dgm:t>
    </dgm:pt>
    <dgm:pt modelId="{7D1155B2-4D96-B649-82AB-04A0CBBD69AE}" type="sibTrans" cxnId="{C1ABBBEF-89B4-4E4B-AEC9-B8278F63F136}">
      <dgm:prSet/>
      <dgm:spPr/>
      <dgm:t>
        <a:bodyPr/>
        <a:lstStyle/>
        <a:p>
          <a:endParaRPr lang="en-GB"/>
        </a:p>
      </dgm:t>
    </dgm:pt>
    <dgm:pt modelId="{158F50CC-BDB6-6440-99F5-4D1250C18504}">
      <dgm:prSet phldrT="[Text]"/>
      <dgm:spPr/>
      <dgm:t>
        <a:bodyPr/>
        <a:lstStyle/>
        <a:p>
          <a:r>
            <a:rPr lang="en-GB" dirty="0" err="1"/>
            <a:t>Konstruktoren</a:t>
          </a:r>
          <a:endParaRPr lang="en-GB" dirty="0"/>
        </a:p>
      </dgm:t>
    </dgm:pt>
    <dgm:pt modelId="{2CB57656-11CF-C547-A029-4C2B0CCA6D1E}" type="parTrans" cxnId="{1F7FD93C-2091-4644-90AF-2ED158C60622}">
      <dgm:prSet/>
      <dgm:spPr/>
      <dgm:t>
        <a:bodyPr/>
        <a:lstStyle/>
        <a:p>
          <a:endParaRPr lang="en-GB"/>
        </a:p>
      </dgm:t>
    </dgm:pt>
    <dgm:pt modelId="{49CC0F1B-FB2B-9D49-A58E-2C9F2E06D72D}" type="sibTrans" cxnId="{1F7FD93C-2091-4644-90AF-2ED158C60622}">
      <dgm:prSet/>
      <dgm:spPr/>
      <dgm:t>
        <a:bodyPr/>
        <a:lstStyle/>
        <a:p>
          <a:endParaRPr lang="en-GB"/>
        </a:p>
      </dgm:t>
    </dgm:pt>
    <dgm:pt modelId="{918EDE0F-AE72-C846-8F77-058606A3A717}">
      <dgm:prSet phldrT="[Text]"/>
      <dgm:spPr/>
      <dgm:t>
        <a:bodyPr/>
        <a:lstStyle/>
        <a:p>
          <a:r>
            <a:rPr lang="en-GB" dirty="0" err="1"/>
            <a:t>Funktionen</a:t>
          </a:r>
          <a:endParaRPr lang="en-GB" dirty="0"/>
        </a:p>
      </dgm:t>
    </dgm:pt>
    <dgm:pt modelId="{8E4DD6E5-1AE6-EF4D-A719-B1C7F8AEB17D}" type="parTrans" cxnId="{D112DDEF-E036-E248-8413-4EB86B2A55E7}">
      <dgm:prSet/>
      <dgm:spPr/>
      <dgm:t>
        <a:bodyPr/>
        <a:lstStyle/>
        <a:p>
          <a:endParaRPr lang="en-GB"/>
        </a:p>
      </dgm:t>
    </dgm:pt>
    <dgm:pt modelId="{F0E527BE-D71B-B443-88A1-E998DB7F4343}" type="sibTrans" cxnId="{D112DDEF-E036-E248-8413-4EB86B2A55E7}">
      <dgm:prSet/>
      <dgm:spPr/>
      <dgm:t>
        <a:bodyPr/>
        <a:lstStyle/>
        <a:p>
          <a:endParaRPr lang="en-GB"/>
        </a:p>
      </dgm:t>
    </dgm:pt>
    <dgm:pt modelId="{B174EBD9-067C-B043-8AEF-7463CB33E8E9}" type="pres">
      <dgm:prSet presAssocID="{4729D760-645E-F948-95AE-ACE07D392A03}" presName="linear" presStyleCnt="0">
        <dgm:presLayoutVars>
          <dgm:dir/>
          <dgm:animLvl val="lvl"/>
          <dgm:resizeHandles val="exact"/>
        </dgm:presLayoutVars>
      </dgm:prSet>
      <dgm:spPr/>
    </dgm:pt>
    <dgm:pt modelId="{E2969A43-C29F-104F-8FD9-9942256D66E8}" type="pres">
      <dgm:prSet presAssocID="{4EA5F470-378E-E94D-83AA-F4300F00D9D6}" presName="parentLin" presStyleCnt="0"/>
      <dgm:spPr/>
    </dgm:pt>
    <dgm:pt modelId="{586726A5-281B-8A4A-B1FA-688C0E0E119E}" type="pres">
      <dgm:prSet presAssocID="{4EA5F470-378E-E94D-83AA-F4300F00D9D6}" presName="parentLeftMargin" presStyleLbl="node1" presStyleIdx="0" presStyleCnt="3"/>
      <dgm:spPr/>
    </dgm:pt>
    <dgm:pt modelId="{CD4F5A90-57FB-7D46-8ACA-77784286DEBB}" type="pres">
      <dgm:prSet presAssocID="{4EA5F470-378E-E94D-83AA-F4300F00D9D6}" presName="parentText" presStyleLbl="node1" presStyleIdx="0" presStyleCnt="3">
        <dgm:presLayoutVars>
          <dgm:chMax val="0"/>
          <dgm:bulletEnabled val="1"/>
        </dgm:presLayoutVars>
      </dgm:prSet>
      <dgm:spPr/>
    </dgm:pt>
    <dgm:pt modelId="{10F38D66-5E9C-1E4C-AE2A-F16C5D2FB502}" type="pres">
      <dgm:prSet presAssocID="{4EA5F470-378E-E94D-83AA-F4300F00D9D6}" presName="negativeSpace" presStyleCnt="0"/>
      <dgm:spPr/>
    </dgm:pt>
    <dgm:pt modelId="{6305A6E9-FF4C-384A-B7B4-505B04A5AE37}" type="pres">
      <dgm:prSet presAssocID="{4EA5F470-378E-E94D-83AA-F4300F00D9D6}" presName="childText" presStyleLbl="conFgAcc1" presStyleIdx="0" presStyleCnt="3">
        <dgm:presLayoutVars>
          <dgm:bulletEnabled val="1"/>
        </dgm:presLayoutVars>
      </dgm:prSet>
      <dgm:spPr/>
    </dgm:pt>
    <dgm:pt modelId="{7B84153A-1800-E246-9D82-9D4AE78ADE5A}" type="pres">
      <dgm:prSet presAssocID="{7D1155B2-4D96-B649-82AB-04A0CBBD69AE}" presName="spaceBetweenRectangles" presStyleCnt="0"/>
      <dgm:spPr/>
    </dgm:pt>
    <dgm:pt modelId="{434C2E39-DE1C-5645-B960-5E81095BFF9B}" type="pres">
      <dgm:prSet presAssocID="{158F50CC-BDB6-6440-99F5-4D1250C18504}" presName="parentLin" presStyleCnt="0"/>
      <dgm:spPr/>
    </dgm:pt>
    <dgm:pt modelId="{A44F24C7-7315-AC4E-9008-58E23BEE5FC2}" type="pres">
      <dgm:prSet presAssocID="{158F50CC-BDB6-6440-99F5-4D1250C18504}" presName="parentLeftMargin" presStyleLbl="node1" presStyleIdx="0" presStyleCnt="3"/>
      <dgm:spPr/>
    </dgm:pt>
    <dgm:pt modelId="{4E23C32B-D4F3-744A-BC62-B4277299AEA4}" type="pres">
      <dgm:prSet presAssocID="{158F50CC-BDB6-6440-99F5-4D1250C18504}" presName="parentText" presStyleLbl="node1" presStyleIdx="1" presStyleCnt="3">
        <dgm:presLayoutVars>
          <dgm:chMax val="0"/>
          <dgm:bulletEnabled val="1"/>
        </dgm:presLayoutVars>
      </dgm:prSet>
      <dgm:spPr/>
    </dgm:pt>
    <dgm:pt modelId="{2FCAF94A-5F56-5548-BE0C-C28D83D5B8D4}" type="pres">
      <dgm:prSet presAssocID="{158F50CC-BDB6-6440-99F5-4D1250C18504}" presName="negativeSpace" presStyleCnt="0"/>
      <dgm:spPr/>
    </dgm:pt>
    <dgm:pt modelId="{3034F782-9A22-1242-AEDF-EC2E88C0D473}" type="pres">
      <dgm:prSet presAssocID="{158F50CC-BDB6-6440-99F5-4D1250C18504}" presName="childText" presStyleLbl="conFgAcc1" presStyleIdx="1" presStyleCnt="3">
        <dgm:presLayoutVars>
          <dgm:bulletEnabled val="1"/>
        </dgm:presLayoutVars>
      </dgm:prSet>
      <dgm:spPr/>
    </dgm:pt>
    <dgm:pt modelId="{398D0247-9D51-014C-B487-BCF1BA668707}" type="pres">
      <dgm:prSet presAssocID="{49CC0F1B-FB2B-9D49-A58E-2C9F2E06D72D}" presName="spaceBetweenRectangles" presStyleCnt="0"/>
      <dgm:spPr/>
    </dgm:pt>
    <dgm:pt modelId="{29F9E2BB-F30E-2242-998F-28EBE8DBEA5D}" type="pres">
      <dgm:prSet presAssocID="{918EDE0F-AE72-C846-8F77-058606A3A717}" presName="parentLin" presStyleCnt="0"/>
      <dgm:spPr/>
    </dgm:pt>
    <dgm:pt modelId="{7B3BCBD8-9DC0-B34A-82D1-99E3258F9BA5}" type="pres">
      <dgm:prSet presAssocID="{918EDE0F-AE72-C846-8F77-058606A3A717}" presName="parentLeftMargin" presStyleLbl="node1" presStyleIdx="1" presStyleCnt="3"/>
      <dgm:spPr/>
    </dgm:pt>
    <dgm:pt modelId="{CC22D886-3319-7642-954B-BB2ED3D676DC}" type="pres">
      <dgm:prSet presAssocID="{918EDE0F-AE72-C846-8F77-058606A3A717}" presName="parentText" presStyleLbl="node1" presStyleIdx="2" presStyleCnt="3">
        <dgm:presLayoutVars>
          <dgm:chMax val="0"/>
          <dgm:bulletEnabled val="1"/>
        </dgm:presLayoutVars>
      </dgm:prSet>
      <dgm:spPr/>
    </dgm:pt>
    <dgm:pt modelId="{9CBE4316-FAB4-144F-B917-B92F563C900E}" type="pres">
      <dgm:prSet presAssocID="{918EDE0F-AE72-C846-8F77-058606A3A717}" presName="negativeSpace" presStyleCnt="0"/>
      <dgm:spPr/>
    </dgm:pt>
    <dgm:pt modelId="{A4D8D4E7-691F-9E42-92CE-F4F5D0B447C7}" type="pres">
      <dgm:prSet presAssocID="{918EDE0F-AE72-C846-8F77-058606A3A717}" presName="childText" presStyleLbl="conFgAcc1" presStyleIdx="2" presStyleCnt="3">
        <dgm:presLayoutVars>
          <dgm:bulletEnabled val="1"/>
        </dgm:presLayoutVars>
      </dgm:prSet>
      <dgm:spPr/>
    </dgm:pt>
  </dgm:ptLst>
  <dgm:cxnLst>
    <dgm:cxn modelId="{20961610-86ED-D644-8AED-71B32BA80B64}" type="presOf" srcId="{918EDE0F-AE72-C846-8F77-058606A3A717}" destId="{7B3BCBD8-9DC0-B34A-82D1-99E3258F9BA5}" srcOrd="0" destOrd="0" presId="urn:microsoft.com/office/officeart/2005/8/layout/list1"/>
    <dgm:cxn modelId="{D189F624-110C-E54E-99A1-83FFA9674207}" type="presOf" srcId="{918EDE0F-AE72-C846-8F77-058606A3A717}" destId="{CC22D886-3319-7642-954B-BB2ED3D676DC}" srcOrd="1" destOrd="0" presId="urn:microsoft.com/office/officeart/2005/8/layout/list1"/>
    <dgm:cxn modelId="{E00BC427-22B8-FA45-849C-461FE38490E4}" type="presOf" srcId="{158F50CC-BDB6-6440-99F5-4D1250C18504}" destId="{4E23C32B-D4F3-744A-BC62-B4277299AEA4}" srcOrd="1" destOrd="0" presId="urn:microsoft.com/office/officeart/2005/8/layout/list1"/>
    <dgm:cxn modelId="{1F7FD93C-2091-4644-90AF-2ED158C60622}" srcId="{4729D760-645E-F948-95AE-ACE07D392A03}" destId="{158F50CC-BDB6-6440-99F5-4D1250C18504}" srcOrd="1" destOrd="0" parTransId="{2CB57656-11CF-C547-A029-4C2B0CCA6D1E}" sibTransId="{49CC0F1B-FB2B-9D49-A58E-2C9F2E06D72D}"/>
    <dgm:cxn modelId="{DB569743-2D4D-AD44-9132-B732DC07EE53}" type="presOf" srcId="{4EA5F470-378E-E94D-83AA-F4300F00D9D6}" destId="{CD4F5A90-57FB-7D46-8ACA-77784286DEBB}" srcOrd="1" destOrd="0" presId="urn:microsoft.com/office/officeart/2005/8/layout/list1"/>
    <dgm:cxn modelId="{E0E81867-6A6D-3E4F-A530-562871CB5D94}" type="presOf" srcId="{4729D760-645E-F948-95AE-ACE07D392A03}" destId="{B174EBD9-067C-B043-8AEF-7463CB33E8E9}" srcOrd="0" destOrd="0" presId="urn:microsoft.com/office/officeart/2005/8/layout/list1"/>
    <dgm:cxn modelId="{2C3833A6-F4AB-4F48-9A13-CC7974045AFC}" type="presOf" srcId="{4EA5F470-378E-E94D-83AA-F4300F00D9D6}" destId="{586726A5-281B-8A4A-B1FA-688C0E0E119E}" srcOrd="0" destOrd="0" presId="urn:microsoft.com/office/officeart/2005/8/layout/list1"/>
    <dgm:cxn modelId="{A0DAB3CE-BDFC-4E4A-A232-13980DD6BD91}" type="presOf" srcId="{158F50CC-BDB6-6440-99F5-4D1250C18504}" destId="{A44F24C7-7315-AC4E-9008-58E23BEE5FC2}" srcOrd="0" destOrd="0" presId="urn:microsoft.com/office/officeart/2005/8/layout/list1"/>
    <dgm:cxn modelId="{C1ABBBEF-89B4-4E4B-AEC9-B8278F63F136}" srcId="{4729D760-645E-F948-95AE-ACE07D392A03}" destId="{4EA5F470-378E-E94D-83AA-F4300F00D9D6}" srcOrd="0" destOrd="0" parTransId="{0388EA47-AD5C-1F4E-BDA0-21651BD4A3CA}" sibTransId="{7D1155B2-4D96-B649-82AB-04A0CBBD69AE}"/>
    <dgm:cxn modelId="{D112DDEF-E036-E248-8413-4EB86B2A55E7}" srcId="{4729D760-645E-F948-95AE-ACE07D392A03}" destId="{918EDE0F-AE72-C846-8F77-058606A3A717}" srcOrd="2" destOrd="0" parTransId="{8E4DD6E5-1AE6-EF4D-A719-B1C7F8AEB17D}" sibTransId="{F0E527BE-D71B-B443-88A1-E998DB7F4343}"/>
    <dgm:cxn modelId="{E331F2DA-9E17-0944-BFFF-F62EDFD39EC0}" type="presParOf" srcId="{B174EBD9-067C-B043-8AEF-7463CB33E8E9}" destId="{E2969A43-C29F-104F-8FD9-9942256D66E8}" srcOrd="0" destOrd="0" presId="urn:microsoft.com/office/officeart/2005/8/layout/list1"/>
    <dgm:cxn modelId="{0F58CE9B-98D7-5046-8F5C-ABD2EA47139C}" type="presParOf" srcId="{E2969A43-C29F-104F-8FD9-9942256D66E8}" destId="{586726A5-281B-8A4A-B1FA-688C0E0E119E}" srcOrd="0" destOrd="0" presId="urn:microsoft.com/office/officeart/2005/8/layout/list1"/>
    <dgm:cxn modelId="{0AA33272-D21F-1949-BF78-41D153E8F025}" type="presParOf" srcId="{E2969A43-C29F-104F-8FD9-9942256D66E8}" destId="{CD4F5A90-57FB-7D46-8ACA-77784286DEBB}" srcOrd="1" destOrd="0" presId="urn:microsoft.com/office/officeart/2005/8/layout/list1"/>
    <dgm:cxn modelId="{A4E80314-4BD5-5F4A-B0A1-77EECBA16932}" type="presParOf" srcId="{B174EBD9-067C-B043-8AEF-7463CB33E8E9}" destId="{10F38D66-5E9C-1E4C-AE2A-F16C5D2FB502}" srcOrd="1" destOrd="0" presId="urn:microsoft.com/office/officeart/2005/8/layout/list1"/>
    <dgm:cxn modelId="{17C7917C-0D13-0940-8EC5-E86E3422A4C3}" type="presParOf" srcId="{B174EBD9-067C-B043-8AEF-7463CB33E8E9}" destId="{6305A6E9-FF4C-384A-B7B4-505B04A5AE37}" srcOrd="2" destOrd="0" presId="urn:microsoft.com/office/officeart/2005/8/layout/list1"/>
    <dgm:cxn modelId="{D95D24F1-B09A-D64B-948B-24FB27CB1B26}" type="presParOf" srcId="{B174EBD9-067C-B043-8AEF-7463CB33E8E9}" destId="{7B84153A-1800-E246-9D82-9D4AE78ADE5A}" srcOrd="3" destOrd="0" presId="urn:microsoft.com/office/officeart/2005/8/layout/list1"/>
    <dgm:cxn modelId="{4E23D440-5140-2E47-8911-5A35DD363399}" type="presParOf" srcId="{B174EBD9-067C-B043-8AEF-7463CB33E8E9}" destId="{434C2E39-DE1C-5645-B960-5E81095BFF9B}" srcOrd="4" destOrd="0" presId="urn:microsoft.com/office/officeart/2005/8/layout/list1"/>
    <dgm:cxn modelId="{FA3107CE-3BB4-2F45-B8CC-B5887D5112A9}" type="presParOf" srcId="{434C2E39-DE1C-5645-B960-5E81095BFF9B}" destId="{A44F24C7-7315-AC4E-9008-58E23BEE5FC2}" srcOrd="0" destOrd="0" presId="urn:microsoft.com/office/officeart/2005/8/layout/list1"/>
    <dgm:cxn modelId="{7E0AEB05-B3FA-8D47-B80E-E9D7D509B5B2}" type="presParOf" srcId="{434C2E39-DE1C-5645-B960-5E81095BFF9B}" destId="{4E23C32B-D4F3-744A-BC62-B4277299AEA4}" srcOrd="1" destOrd="0" presId="urn:microsoft.com/office/officeart/2005/8/layout/list1"/>
    <dgm:cxn modelId="{B261C69B-59D0-CA46-89EC-85E4932F5673}" type="presParOf" srcId="{B174EBD9-067C-B043-8AEF-7463CB33E8E9}" destId="{2FCAF94A-5F56-5548-BE0C-C28D83D5B8D4}" srcOrd="5" destOrd="0" presId="urn:microsoft.com/office/officeart/2005/8/layout/list1"/>
    <dgm:cxn modelId="{73B38399-4448-D244-B2FC-3D4C5765BA92}" type="presParOf" srcId="{B174EBD9-067C-B043-8AEF-7463CB33E8E9}" destId="{3034F782-9A22-1242-AEDF-EC2E88C0D473}" srcOrd="6" destOrd="0" presId="urn:microsoft.com/office/officeart/2005/8/layout/list1"/>
    <dgm:cxn modelId="{8A3971A1-CAEA-7A4C-AE3B-CE56F5FE6FC9}" type="presParOf" srcId="{B174EBD9-067C-B043-8AEF-7463CB33E8E9}" destId="{398D0247-9D51-014C-B487-BCF1BA668707}" srcOrd="7" destOrd="0" presId="urn:microsoft.com/office/officeart/2005/8/layout/list1"/>
    <dgm:cxn modelId="{B1EA2A1E-82B8-A646-B895-E61E4F8717C9}" type="presParOf" srcId="{B174EBD9-067C-B043-8AEF-7463CB33E8E9}" destId="{29F9E2BB-F30E-2242-998F-28EBE8DBEA5D}" srcOrd="8" destOrd="0" presId="urn:microsoft.com/office/officeart/2005/8/layout/list1"/>
    <dgm:cxn modelId="{D1DF82D4-0FAD-BC49-BB81-8240320A5A32}" type="presParOf" srcId="{29F9E2BB-F30E-2242-998F-28EBE8DBEA5D}" destId="{7B3BCBD8-9DC0-B34A-82D1-99E3258F9BA5}" srcOrd="0" destOrd="0" presId="urn:microsoft.com/office/officeart/2005/8/layout/list1"/>
    <dgm:cxn modelId="{F2FF3675-CC29-9849-91A9-762A269D4A6F}" type="presParOf" srcId="{29F9E2BB-F30E-2242-998F-28EBE8DBEA5D}" destId="{CC22D886-3319-7642-954B-BB2ED3D676DC}" srcOrd="1" destOrd="0" presId="urn:microsoft.com/office/officeart/2005/8/layout/list1"/>
    <dgm:cxn modelId="{A646361C-F543-8644-B9E0-99053E0E13F3}" type="presParOf" srcId="{B174EBD9-067C-B043-8AEF-7463CB33E8E9}" destId="{9CBE4316-FAB4-144F-B917-B92F563C900E}" srcOrd="9" destOrd="0" presId="urn:microsoft.com/office/officeart/2005/8/layout/list1"/>
    <dgm:cxn modelId="{039630F7-752E-9B4F-B432-6FC5D3D93F1A}" type="presParOf" srcId="{B174EBD9-067C-B043-8AEF-7463CB33E8E9}" destId="{A4D8D4E7-691F-9E42-92CE-F4F5D0B447C7}"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E1DB7A-644C-3B42-AD25-2ECA5A8DDB63}">
      <dsp:nvSpPr>
        <dsp:cNvPr id="0" name=""/>
        <dsp:cNvSpPr/>
      </dsp:nvSpPr>
      <dsp:spPr>
        <a:xfrm>
          <a:off x="3071637" y="986584"/>
          <a:ext cx="817482" cy="590950"/>
        </a:xfrm>
        <a:custGeom>
          <a:avLst/>
          <a:gdLst/>
          <a:ahLst/>
          <a:cxnLst/>
          <a:rect l="0" t="0" r="0" b="0"/>
          <a:pathLst>
            <a:path>
              <a:moveTo>
                <a:pt x="817482" y="0"/>
              </a:moveTo>
              <a:lnTo>
                <a:pt x="817482" y="590950"/>
              </a:lnTo>
              <a:lnTo>
                <a:pt x="0" y="590950"/>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03A3C33-7FFA-3748-8258-C09732752CE2}">
      <dsp:nvSpPr>
        <dsp:cNvPr id="0" name=""/>
        <dsp:cNvSpPr/>
      </dsp:nvSpPr>
      <dsp:spPr>
        <a:xfrm>
          <a:off x="3843399" y="986584"/>
          <a:ext cx="91440" cy="1812249"/>
        </a:xfrm>
        <a:custGeom>
          <a:avLst/>
          <a:gdLst/>
          <a:ahLst/>
          <a:cxnLst/>
          <a:rect l="0" t="0" r="0" b="0"/>
          <a:pathLst>
            <a:path>
              <a:moveTo>
                <a:pt x="45720" y="0"/>
              </a:moveTo>
              <a:lnTo>
                <a:pt x="45720" y="18122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34259B3B-D6B1-F743-83B8-9AB1A60E7DE1}">
      <dsp:nvSpPr>
        <dsp:cNvPr id="0" name=""/>
        <dsp:cNvSpPr/>
      </dsp:nvSpPr>
      <dsp:spPr>
        <a:xfrm>
          <a:off x="3396660" y="1666"/>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B4A37C34-5D0F-3C47-9836-F4DB7D8FF3A7}">
      <dsp:nvSpPr>
        <dsp:cNvPr id="0" name=""/>
        <dsp:cNvSpPr/>
      </dsp:nvSpPr>
      <dsp:spPr>
        <a:xfrm>
          <a:off x="3396660" y="1666"/>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483DDC5-6826-BD44-AB99-BD67F09563F2}">
      <dsp:nvSpPr>
        <dsp:cNvPr id="0" name=""/>
        <dsp:cNvSpPr/>
      </dsp:nvSpPr>
      <dsp:spPr>
        <a:xfrm>
          <a:off x="2904201" y="178952"/>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any</a:t>
          </a:r>
          <a:endParaRPr lang="de-DE" sz="2900" kern="1200" dirty="0"/>
        </a:p>
      </dsp:txBody>
      <dsp:txXfrm>
        <a:off x="2904201" y="178952"/>
        <a:ext cx="1969836" cy="630347"/>
      </dsp:txXfrm>
    </dsp:sp>
    <dsp:sp modelId="{9D02861B-EA84-F748-AE6A-3B31D1F98643}">
      <dsp:nvSpPr>
        <dsp:cNvPr id="0" name=""/>
        <dsp:cNvSpPr/>
      </dsp:nvSpPr>
      <dsp:spPr>
        <a:xfrm>
          <a:off x="3396660" y="2798834"/>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42882EBD-7C86-3F4E-ACFA-7AFD645EE42A}">
      <dsp:nvSpPr>
        <dsp:cNvPr id="0" name=""/>
        <dsp:cNvSpPr/>
      </dsp:nvSpPr>
      <dsp:spPr>
        <a:xfrm>
          <a:off x="3396660" y="2798834"/>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2F1E523-5190-424F-BA86-8372C6F5CAC4}">
      <dsp:nvSpPr>
        <dsp:cNvPr id="0" name=""/>
        <dsp:cNvSpPr/>
      </dsp:nvSpPr>
      <dsp:spPr>
        <a:xfrm>
          <a:off x="2904201" y="2976119"/>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a:t>user-</a:t>
          </a:r>
          <a:r>
            <a:rPr lang="de-DE" sz="2900" kern="1200" dirty="0" err="1"/>
            <a:t>defined</a:t>
          </a:r>
          <a:endParaRPr lang="de-DE" sz="2900" kern="1200" dirty="0"/>
        </a:p>
      </dsp:txBody>
      <dsp:txXfrm>
        <a:off x="2904201" y="2976119"/>
        <a:ext cx="1969836" cy="630347"/>
      </dsp:txXfrm>
    </dsp:sp>
    <dsp:sp modelId="{80A84B1A-C964-A646-BC6F-F9605462D7EA}">
      <dsp:nvSpPr>
        <dsp:cNvPr id="0" name=""/>
        <dsp:cNvSpPr/>
      </dsp:nvSpPr>
      <dsp:spPr>
        <a:xfrm>
          <a:off x="2204910" y="1400250"/>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F2A00A7-8A99-564A-9E40-413619C32B17}">
      <dsp:nvSpPr>
        <dsp:cNvPr id="0" name=""/>
        <dsp:cNvSpPr/>
      </dsp:nvSpPr>
      <dsp:spPr>
        <a:xfrm>
          <a:off x="2204910" y="1400250"/>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177331BC-3BBA-3E4D-9943-2B47AE708F1D}">
      <dsp:nvSpPr>
        <dsp:cNvPr id="0" name=""/>
        <dsp:cNvSpPr/>
      </dsp:nvSpPr>
      <dsp:spPr>
        <a:xfrm>
          <a:off x="1712450" y="1577535"/>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build</a:t>
          </a:r>
          <a:r>
            <a:rPr lang="de-DE" sz="2900" kern="1200" dirty="0"/>
            <a:t>-in </a:t>
          </a:r>
        </a:p>
      </dsp:txBody>
      <dsp:txXfrm>
        <a:off x="1712450" y="1577535"/>
        <a:ext cx="1969836" cy="6303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B51B93-AE9B-B94B-9913-A0FA94D542D5}">
      <dsp:nvSpPr>
        <dsp:cNvPr id="0" name=""/>
        <dsp:cNvSpPr/>
      </dsp:nvSpPr>
      <dsp:spPr>
        <a:xfrm>
          <a:off x="0"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MAX_VALUE</a:t>
          </a:r>
        </a:p>
      </dsp:txBody>
      <dsp:txXfrm>
        <a:off x="0" y="39687"/>
        <a:ext cx="3286125" cy="1971675"/>
      </dsp:txXfrm>
    </dsp:sp>
    <dsp:sp modelId="{E2874CD4-E27F-6D4D-AF3E-0BA502B88C85}">
      <dsp:nvSpPr>
        <dsp:cNvPr id="0" name=""/>
        <dsp:cNvSpPr/>
      </dsp:nvSpPr>
      <dsp:spPr>
        <a:xfrm>
          <a:off x="3614737"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MIN_VALUE</a:t>
          </a:r>
        </a:p>
      </dsp:txBody>
      <dsp:txXfrm>
        <a:off x="3614737" y="39687"/>
        <a:ext cx="3286125" cy="1971675"/>
      </dsp:txXfrm>
    </dsp:sp>
    <dsp:sp modelId="{46BD3462-22A5-B848-B3BF-947443600A3F}">
      <dsp:nvSpPr>
        <dsp:cNvPr id="0" name=""/>
        <dsp:cNvSpPr/>
      </dsp:nvSpPr>
      <dsp:spPr>
        <a:xfrm>
          <a:off x="7229475"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err="1"/>
            <a:t>NaN</a:t>
          </a:r>
          <a:endParaRPr lang="en-GB" sz="2900" kern="1200" dirty="0"/>
        </a:p>
      </dsp:txBody>
      <dsp:txXfrm>
        <a:off x="7229475" y="39687"/>
        <a:ext cx="3286125" cy="1971675"/>
      </dsp:txXfrm>
    </dsp:sp>
    <dsp:sp modelId="{5278F817-5899-5244-957D-90D74475FF53}">
      <dsp:nvSpPr>
        <dsp:cNvPr id="0" name=""/>
        <dsp:cNvSpPr/>
      </dsp:nvSpPr>
      <dsp:spPr>
        <a:xfrm>
          <a:off x="1807368"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NEGATIVE_INFINITY</a:t>
          </a:r>
        </a:p>
      </dsp:txBody>
      <dsp:txXfrm>
        <a:off x="1807368" y="2339975"/>
        <a:ext cx="3286125" cy="1971675"/>
      </dsp:txXfrm>
    </dsp:sp>
    <dsp:sp modelId="{7088EFB0-72B3-8348-9AFC-21329A1C7953}">
      <dsp:nvSpPr>
        <dsp:cNvPr id="0" name=""/>
        <dsp:cNvSpPr/>
      </dsp:nvSpPr>
      <dsp:spPr>
        <a:xfrm>
          <a:off x="5422106"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POSITIVE_INFINITY</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5A6E9-FF4C-384A-B7B4-505B04A5AE37}">
      <dsp:nvSpPr>
        <dsp:cNvPr id="0" name=""/>
        <dsp:cNvSpPr/>
      </dsp:nvSpPr>
      <dsp:spPr>
        <a:xfrm>
          <a:off x="0" y="506528"/>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D4F5A90-57FB-7D46-8ACA-77784286DEBB}">
      <dsp:nvSpPr>
        <dsp:cNvPr id="0" name=""/>
        <dsp:cNvSpPr/>
      </dsp:nvSpPr>
      <dsp:spPr>
        <a:xfrm>
          <a:off x="525780" y="19448"/>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a:t>Felder</a:t>
          </a:r>
        </a:p>
      </dsp:txBody>
      <dsp:txXfrm>
        <a:off x="573335" y="67003"/>
        <a:ext cx="7265810" cy="879050"/>
      </dsp:txXfrm>
    </dsp:sp>
    <dsp:sp modelId="{3034F782-9A22-1242-AEDF-EC2E88C0D473}">
      <dsp:nvSpPr>
        <dsp:cNvPr id="0" name=""/>
        <dsp:cNvSpPr/>
      </dsp:nvSpPr>
      <dsp:spPr>
        <a:xfrm>
          <a:off x="0" y="200340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4E23C32B-D4F3-744A-BC62-B4277299AEA4}">
      <dsp:nvSpPr>
        <dsp:cNvPr id="0" name=""/>
        <dsp:cNvSpPr/>
      </dsp:nvSpPr>
      <dsp:spPr>
        <a:xfrm>
          <a:off x="525780" y="151632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Konstruktoren</a:t>
          </a:r>
          <a:endParaRPr lang="en-GB" sz="3300" kern="1200" dirty="0"/>
        </a:p>
      </dsp:txBody>
      <dsp:txXfrm>
        <a:off x="573335" y="1563884"/>
        <a:ext cx="7265810" cy="879050"/>
      </dsp:txXfrm>
    </dsp:sp>
    <dsp:sp modelId="{A4D8D4E7-691F-9E42-92CE-F4F5D0B447C7}">
      <dsp:nvSpPr>
        <dsp:cNvPr id="0" name=""/>
        <dsp:cNvSpPr/>
      </dsp:nvSpPr>
      <dsp:spPr>
        <a:xfrm>
          <a:off x="0" y="350028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C22D886-3319-7642-954B-BB2ED3D676DC}">
      <dsp:nvSpPr>
        <dsp:cNvPr id="0" name=""/>
        <dsp:cNvSpPr/>
      </dsp:nvSpPr>
      <dsp:spPr>
        <a:xfrm>
          <a:off x="525780" y="301320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Funktionen</a:t>
          </a:r>
          <a:endParaRPr lang="en-GB" sz="3300" kern="1200" dirty="0"/>
        </a:p>
      </dsp:txBody>
      <dsp:txXfrm>
        <a:off x="573335" y="3060764"/>
        <a:ext cx="7265810" cy="8790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6">
  <dgm:title val=""/>
  <dgm:desc val=""/>
  <dgm:catLst>
    <dgm:cat type="3D" pri="11600"/>
  </dgm:catLst>
  <dgm:scene3d>
    <a:camera prst="perspectiveRelaxedModerately" zoom="92000"/>
    <a:lightRig rig="balanced" dir="t">
      <a:rot lat="0" lon="0" rev="12700000"/>
    </a:lightRig>
  </dgm:scene3d>
  <dgm:styleLbl name="node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l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ven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tx1"/>
      </a:fontRef>
    </dgm:style>
  </dgm:styleLbl>
  <dgm:styleLbl name="alignNode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a:schemeClr val="lt1"/>
      </a:fontRef>
    </dgm:style>
  </dgm:styleLbl>
  <dgm:styleLbl name="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4">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fgImgPlace1">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z="-54000" prstMaterial="plastic">
      <a:bevelT w="50800" h="50800"/>
      <a:bevelB w="50800" h="50800"/>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z="-2540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fgSibTrans2D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bgSibTrans2D1">
    <dgm:scene3d>
      <a:camera prst="orthographicFront"/>
      <a:lightRig rig="threePt" dir="t"/>
    </dgm:scene3d>
    <dgm:sp3d z="-54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sibTrans1D1">
    <dgm:scene3d>
      <a:camera prst="orthographicFront"/>
      <a:lightRig rig="threePt" dir="t"/>
    </dgm:scene3d>
    <dgm:sp3d z="-25400" prstMaterial="plastic"/>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75000" prstMaterial="plastic"/>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parChTrans2D1">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3">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4">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1D1">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2">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3">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4">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fgAcc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sp3d z="50080" prstMaterial="plastic">
      <a:bevelT w="25400" h="25400"/>
      <a:bevelB w="25400" h="25400"/>
    </dgm:sp3d>
    <dgm:txPr/>
    <dgm:style>
      <a:lnRef idx="0">
        <a:scrgbClr r="0" g="0" b="0"/>
      </a:lnRef>
      <a:fillRef idx="1">
        <a:scrgbClr r="0" g="0" b="0"/>
      </a:fillRef>
      <a:effectRef idx="2">
        <a:scrgbClr r="0" g="0" b="0"/>
      </a:effectRef>
      <a:fontRef idx="minor"/>
    </dgm:style>
  </dgm:styleLbl>
  <dgm:styleLbl name="alignAccFollowNode1">
    <dgm:scene3d>
      <a:camera prst="orthographicFront"/>
      <a:lightRig rig="threePt" dir="t"/>
    </dgm:scene3d>
    <dgm:sp3d prstMaterial="plastic">
      <a:bevelT w="25400" h="25400"/>
      <a:bevelB w="25400" h="25400"/>
    </dgm:sp3d>
    <dgm:txPr/>
    <dgm:style>
      <a:lnRef idx="0">
        <a:scrgbClr r="0" g="0" b="0"/>
      </a:lnRef>
      <a:fillRef idx="1">
        <a:scrgbClr r="0" g="0" b="0"/>
      </a:fillRef>
      <a:effectRef idx="2">
        <a:scrgbClr r="0" g="0" b="0"/>
      </a:effectRef>
      <a:fontRef idx="minor"/>
    </dgm:style>
  </dgm:styleLbl>
  <dgm:styleLbl name="bgAccFollowNode1">
    <dgm:scene3d>
      <a:camera prst="orthographicFront"/>
      <a:lightRig rig="threePt" dir="t"/>
    </dgm:scene3d>
    <dgm:sp3d z="-152400" prstMaterial="plastic">
      <a:bevelT w="25400" h="25400"/>
      <a:bevelB w="25400" h="25400"/>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52400" prstMaterial="plastic">
      <a:bevelT w="25400" h="25400"/>
      <a:bevelB w="25400" h="25400"/>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z="-10400" extrusionH="12700" prstMaterial="plastic"/>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1">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noRot="1" noChangeAspect="1"/>
          </p:cNvSpPr>
          <p:nvPr>
            <p:ph type="sldImg"/>
          </p:nvPr>
        </p:nvSpPr>
        <p:spPr>
          <a:xfrm>
            <a:off x="685800" y="1143000"/>
            <a:ext cx="5484960" cy="3084840"/>
          </a:xfrm>
          <a:prstGeom prst="rect">
            <a:avLst/>
          </a:prstGeom>
          <a:ln w="0">
            <a:noFill/>
          </a:ln>
        </p:spPr>
      </p:sp>
      <p:sp>
        <p:nvSpPr>
          <p:cNvPr id="12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 Hierarchy“ (Typ-Hierarchie).</a:t>
            </a:r>
          </a:p>
          <a:p/>
          <a:p>
            <a:r>
              <a:t>Diese Folie zeigt vermutlich grafisch, wie die verschiedenen Datentypen in TypeScript zueinander stehen (z. B. „any“ als Basistyp, der alles zulässt, darunter konkrete Typen wie „number“, „string“, „boolean“, Objekte, Arrays, usw.). Wichtig für das Verständnis: TypeScript prüft anhand dieser Hierarchie, ob eine Zuweisung erlaubt ist oder einen Fehler auslöst.</a:t>
            </a:r>
          </a:p>
        </p:txBody>
      </p:sp>
      <p:sp>
        <p:nvSpPr>
          <p:cNvPr id="1272" name="PlaceHolder 3"/>
          <p:cNvSpPr>
            <a:spLocks noGrp="1"/>
          </p:cNvSpPr>
          <p:nvPr>
            <p:ph type="sldNum" idx="6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DC6DE11F-4E5D-4CC3-BD3B-3978DE8BC536}" type="slidenum">
              <a:rPr lang="de-DE" sz="1200" b="0" u="none" strike="noStrike">
                <a:solidFill>
                  <a:srgbClr val="000000"/>
                </a:solidFill>
                <a:uFillTx/>
                <a:latin typeface="Times New Roman"/>
              </a:rPr>
              <a:t>10</a:t>
            </a:fld>
            <a:endParaRPr lang="de-DE" sz="1200" b="0" u="none" strike="noStrike">
              <a:solidFill>
                <a:srgbClr val="000000"/>
              </a:solidFill>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3" name="PlaceHolder 1"/>
          <p:cNvSpPr>
            <a:spLocks noGrp="1" noRot="1" noChangeAspect="1"/>
          </p:cNvSpPr>
          <p:nvPr>
            <p:ph type="sldImg"/>
          </p:nvPr>
        </p:nvSpPr>
        <p:spPr>
          <a:xfrm>
            <a:off x="685800" y="1143000"/>
            <a:ext cx="5484960" cy="3084840"/>
          </a:xfrm>
          <a:prstGeom prst="rect">
            <a:avLst/>
          </a:prstGeom>
          <a:ln w="0">
            <a:noFill/>
          </a:ln>
        </p:spPr>
      </p:sp>
      <p:sp>
        <p:nvSpPr>
          <p:cNvPr id="12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„Schnittstellen – Interfaces“.</a:t>
            </a:r>
          </a:p>
          <a:p/>
          <a:p>
            <a:r>
              <a:t>Ein Interface beschreibt nur, welche Eigenschaften und Methoden-Signaturen etwas haben muss (die „externe Sicht“), aber nicht, wie diese intern umgesetzt sind. Es legt also einen Vertrag fest, den eine Klasse einhalten muss, ohne selbst Programmlogik zu enthalten.</a:t>
            </a:r>
          </a:p>
        </p:txBody>
      </p:sp>
      <p:sp>
        <p:nvSpPr>
          <p:cNvPr id="1275" name="PlaceHolder 3"/>
          <p:cNvSpPr>
            <a:spLocks noGrp="1"/>
          </p:cNvSpPr>
          <p:nvPr>
            <p:ph type="sldNum" idx="7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F9B3933-6D97-4A47-B86C-0466C1C1768E}" type="slidenum">
              <a:rPr lang="de-DE" sz="1200" b="0" u="none" strike="noStrike">
                <a:solidFill>
                  <a:schemeClr val="dk1"/>
                </a:solidFill>
                <a:uFillTx/>
                <a:latin typeface="Arial"/>
              </a:rPr>
              <a:t>40</a:t>
            </a:fld>
            <a:endParaRPr lang="de-DE" sz="1200" b="0" u="none" strike="noStrike">
              <a:solidFill>
                <a:srgbClr val="000000"/>
              </a:solidFill>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6" name="PlaceHolder 1"/>
          <p:cNvSpPr>
            <a:spLocks noGrp="1" noRot="1" noChangeAspect="1"/>
          </p:cNvSpPr>
          <p:nvPr>
            <p:ph type="sldImg"/>
          </p:nvPr>
        </p:nvSpPr>
        <p:spPr>
          <a:xfrm>
            <a:off x="685800" y="1143000"/>
            <a:ext cx="5484960" cy="3084840"/>
          </a:xfrm>
          <a:prstGeom prst="rect">
            <a:avLst/>
          </a:prstGeom>
          <a:ln w="0">
            <a:noFill/>
          </a:ln>
        </p:spPr>
      </p:sp>
      <p:sp>
        <p:nvSpPr>
          <p:cNvPr id="12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„Beispiel Interface“ – kündigt die folgenden zwei Codebeispiele zu Interfaces an.</a:t>
            </a:r>
          </a:p>
        </p:txBody>
      </p:sp>
      <p:sp>
        <p:nvSpPr>
          <p:cNvPr id="1278" name="PlaceHolder 3"/>
          <p:cNvSpPr>
            <a:spLocks noGrp="1"/>
          </p:cNvSpPr>
          <p:nvPr>
            <p:ph type="sldNum" idx="7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E17C355-1F96-4E6E-8215-2CB69B9D0FF1}" type="slidenum">
              <a:rPr lang="de-DE" sz="1200" b="0" u="none" strike="noStrike">
                <a:solidFill>
                  <a:schemeClr val="dk1"/>
                </a:solidFill>
                <a:uFillTx/>
                <a:latin typeface="Arial"/>
              </a:rPr>
              <a:t>43</a:t>
            </a:fld>
            <a:endParaRPr lang="de-DE" sz="1200" b="0" u="none" strike="noStrike">
              <a:solidFill>
                <a:srgbClr val="000000"/>
              </a:solidFill>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9" name="PlaceHolder 1"/>
          <p:cNvSpPr>
            <a:spLocks noGrp="1" noRot="1" noChangeAspect="1"/>
          </p:cNvSpPr>
          <p:nvPr>
            <p:ph type="sldImg"/>
          </p:nvPr>
        </p:nvSpPr>
        <p:spPr>
          <a:xfrm>
            <a:off x="685800" y="1143000"/>
            <a:ext cx="5484960" cy="3084840"/>
          </a:xfrm>
          <a:prstGeom prst="rect">
            <a:avLst/>
          </a:prstGeom>
          <a:ln w="0">
            <a:noFill/>
          </a:ln>
        </p:spPr>
      </p:sp>
      <p:sp>
        <p:nvSpPr>
          <p:cNvPr id="12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„Sichtbarkeit“ – die drei Zugriffsstufen für Eigenschaften/Methoden. „public“: von überall zugreifbar. „protected“: nur von der eigenen Klasse und ihren Unterklassen (Vererbung) zugreifbar. „private“: nur innerhalb der eigenen Klasse selbst zugreifbar, nicht einmal von Unterklassen.</a:t>
            </a:r>
          </a:p>
        </p:txBody>
      </p:sp>
      <p:sp>
        <p:nvSpPr>
          <p:cNvPr id="1281" name="PlaceHolder 3"/>
          <p:cNvSpPr>
            <a:spLocks noGrp="1"/>
          </p:cNvSpPr>
          <p:nvPr>
            <p:ph type="sldNum" idx="7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B2AD8DC-9C85-4430-9816-F231AC4EBF42}" type="slidenum">
              <a:rPr lang="de-DE" sz="1200" b="0" u="none" strike="noStrike">
                <a:solidFill>
                  <a:schemeClr val="dk1"/>
                </a:solidFill>
                <a:uFillTx/>
                <a:latin typeface="Arial"/>
              </a:rPr>
              <a:t>52</a:t>
            </a:fld>
            <a:endParaRPr lang="de-DE" sz="1200" b="0" u="none" strike="noStrike">
              <a:solidFill>
                <a:srgbClr val="000000"/>
              </a:solidFill>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2" name="PlaceHolder 1"/>
          <p:cNvSpPr>
            <a:spLocks noGrp="1" noRot="1" noChangeAspect="1"/>
          </p:cNvSpPr>
          <p:nvPr>
            <p:ph type="sldImg"/>
          </p:nvPr>
        </p:nvSpPr>
        <p:spPr>
          <a:xfrm>
            <a:off x="685800" y="1143000"/>
            <a:ext cx="5484960" cy="3084840"/>
          </a:xfrm>
          <a:prstGeom prst="rect">
            <a:avLst/>
          </a:prstGeom>
          <a:ln w="0">
            <a:noFill/>
          </a:ln>
        </p:spPr>
      </p:sp>
      <p:sp>
        <p:nvSpPr>
          <p:cNvPr id="12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Zwischenfolie ohne eigenen Text – vermutlich ergänzendes Diagramm oder Bild zum vorherigen Getter/Setter-Thema.</a:t>
            </a:r>
          </a:p>
        </p:txBody>
      </p:sp>
      <p:sp>
        <p:nvSpPr>
          <p:cNvPr id="1284" name="PlaceHolder 3"/>
          <p:cNvSpPr>
            <a:spLocks noGrp="1"/>
          </p:cNvSpPr>
          <p:nvPr>
            <p:ph type="sldNum" idx="7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C4EE87C-AE95-45FF-94CA-FBAB221F952C}" type="slidenum">
              <a:rPr lang="de-DE" sz="1200" b="0" u="none" strike="noStrike">
                <a:solidFill>
                  <a:schemeClr val="dk1"/>
                </a:solidFill>
                <a:uFillTx/>
                <a:latin typeface="Arial"/>
              </a:rPr>
              <a:t>57</a:t>
            </a:fld>
            <a:endParaRPr lang="de-DE" sz="1200" b="0" u="none" strike="noStrike">
              <a:solidFill>
                <a:srgbClr val="000000"/>
              </a:solidFill>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5" name="PlaceHolder 1"/>
          <p:cNvSpPr>
            <a:spLocks noGrp="1" noRot="1" noChangeAspect="1"/>
          </p:cNvSpPr>
          <p:nvPr>
            <p:ph type="sldImg"/>
          </p:nvPr>
        </p:nvSpPr>
        <p:spPr>
          <a:xfrm>
            <a:off x="685800" y="1143000"/>
            <a:ext cx="5484960" cy="3084840"/>
          </a:xfrm>
          <a:prstGeom prst="rect">
            <a:avLst/>
          </a:prstGeom>
          <a:ln w="0">
            <a:noFill/>
          </a:ln>
        </p:spPr>
      </p:sp>
      <p:sp>
        <p:nvSpPr>
          <p:cNvPr id="12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„Vererbung“ – leitet das Thema Klassenvererbung ein.</a:t>
            </a:r>
          </a:p>
        </p:txBody>
      </p:sp>
      <p:sp>
        <p:nvSpPr>
          <p:cNvPr id="1287" name="PlaceHolder 3"/>
          <p:cNvSpPr>
            <a:spLocks noGrp="1"/>
          </p:cNvSpPr>
          <p:nvPr>
            <p:ph type="sldNum" idx="7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F9ED2B1D-6EB8-40F5-9588-8B45348A3605}" type="slidenum">
              <a:rPr lang="de-DE" sz="1200" b="0" u="none" strike="noStrike">
                <a:solidFill>
                  <a:schemeClr val="dk1"/>
                </a:solidFill>
                <a:uFillTx/>
                <a:latin typeface="Arial"/>
              </a:rPr>
              <a:t>59</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„Einrichten von TypeScript – Installation“.</a:t>
            </a:r>
          </a:p>
          <a:p/>
          <a:p>
            <a:r>
              <a:t>Bevor man TypeScript nutzen kann, muss es als Werkzeug auf dem Rechner installiert werden. Diese Folie leitet den praktischen Teil ein: Wie bekomme ich TypeScript und die Hilfswerkzeuge auf meinen Computer, damit ich Übungen im Kurs überhaupt ausführen kann.</a:t>
            </a:r>
          </a:p>
        </p:txBody>
      </p:sp>
      <p:sp>
        <p:nvSpPr>
          <p:cNvPr id="4" name="Slide Number Placeholder 3"/>
          <p:cNvSpPr>
            <a:spLocks noGrp="1"/>
          </p:cNvSpPr>
          <p:nvPr>
            <p:ph type="sldNum" idx="6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„Benötigte Komponenten“.</a:t>
            </a:r>
          </a:p>
          <a:p/>
          <a:p>
            <a:r>
              <a:t>Es werden zwei Werkzeuge installiert: 1) das Paket „typescript“ selbst, über den Befehl „npm install typescript --save-dev“. „npm“ (Node Package Manager) ist das Standard-Werkzeug, mit dem man JavaScript- und TypeScript-Bibliotheken herunterlädt; „--save-dev“ bedeutet, das Paket wird nur für die Entwicklung gebraucht, nicht für die spätere fertige Anwendung. Alternativ kann man TypeScript auch global auf dem Rechner installieren mit „npm install -g typescript“ (dann steht der Befehl „tsc“ überall zur Verfügung, nicht nur in einem Projekt). 2) Der „Lite-Server“: ein sehr einfacher lokaler Webserver, der die HTML-Datei im Browser anzeigt und automatisch neu lädt, wenn sich Dateien ändern. Fachbegriff: „npm“ als Eigenname buchstabieren oder feste Kursgebärde nutzen; „package“ = Paket/Softwarepaket.</a:t>
            </a:r>
          </a:p>
        </p:txBody>
      </p:sp>
      <p:sp>
        <p:nvSpPr>
          <p:cNvPr id="4" name="Slide Number Placeholder 3"/>
          <p:cNvSpPr>
            <a:spLocks noGrp="1"/>
          </p:cNvSpPr>
          <p:nvPr>
            <p:ph type="sldNum" idx="6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„Konfiguration des TypeScript-Compilers“.</a:t>
            </a:r>
          </a:p>
          <a:p/>
          <a:p>
            <a:r>
              <a:t>Ein „Compiler“ übersetzt hier den TypeScript-Code in normales JavaScript, das der Browser tatsächlich ausführen kann (Browser verstehen kein TypeScript direkt). Mit dem Befehl „tsc --init“ wird eine Konfigurationsdatei namens „tsconfig.json“ erzeugt. In dieser Datei stehen alle Einstellungen für den Compiler, zum Beispiel: in welche JavaScript-Version übersetzt werden soll, wie streng die Typprüfung ist, welcher Ordner die Ausgabe bekommt usw. Man muss diese Datei nicht von Hand schreiben, sie wird generiert und dann angepasst.</a:t>
            </a:r>
          </a:p>
        </p:txBody>
      </p:sp>
      <p:sp>
        <p:nvSpPr>
          <p:cNvPr id="4" name="Slide Number Placeholder 3"/>
          <p:cNvSpPr>
            <a:spLocks noGrp="1"/>
          </p:cNvSpPr>
          <p:nvPr>
            <p:ph type="sldNum" idx="6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„Scripts der package.json“.</a:t>
            </a:r>
          </a:p>
          <a:p/>
          <a:p>
            <a:r>
              <a:t>Die Datei „package.json“ beschreibt ein Node-/npm-Projekt: welche Pakete gebraucht werden und welche Kurzbefehle (Scripts) es gibt. Hier sind drei Scripts zu sehen: „serve“ startet den Lite-Server, „compile“ übersetzt den TypeScript-Code einmalig in JavaScript in den Ordner „dist“, und „compile-watch“ macht das Gleiche, bleibt aber aktiv und übersetzt automatisch neu, sobald eine Datei gespeichert wird (das „-w“ steht für „watch“, also „beobachten“). Diese Scripts ruft man später mit „npm run &lt;name&gt;“ auf, z. B. „npm run compile-watch“.</a:t>
            </a:r>
          </a:p>
        </p:txBody>
      </p:sp>
      <p:sp>
        <p:nvSpPr>
          <p:cNvPr id="4" name="Slide Number Placeholder 3"/>
          <p:cNvSpPr>
            <a:spLocks noGrp="1"/>
          </p:cNvSpPr>
          <p:nvPr>
            <p:ph type="sldNum" idx="6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„Benutzung“.</a:t>
            </a:r>
          </a:p>
          <a:p/>
          <a:p>
            <a:r>
              <a:t>Mit dem Befehl „npm start“ werden mehrere Dinge gleichzeitig angestoßen: der TypeScript-Compiler im Watch-Modus (übersetzt bei jeder Änderung automatisch neu) sowie der Lite-Server mit „Browser-Sync“. „Browser-Sync“ bedeutet, dass der Browser automatisch die Seite neu lädt, sobald sich der übersetzte JavaScript-Code geändert hat – man muss also nicht mehr selbst im Browser aktualisieren. Zusätzlich öffnet der Befehl automatisch den Standard-Browser mit der Beispielseite.</a:t>
            </a:r>
          </a:p>
        </p:txBody>
      </p:sp>
      <p:sp>
        <p:nvSpPr>
          <p:cNvPr id="4" name="Slide Number Placeholder 3"/>
          <p:cNvSpPr>
            <a:spLocks noGrp="1"/>
          </p:cNvSpPr>
          <p:nvPr>
            <p:ph type="sldNum" idx="6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(vermutlich ein Bild/Diagramm zur Einordnung von TypeScript, z. B. Verhältnis TypeScript zu JavaScript). Kurz die Bildidee mündlich zusammenfassen, sofern im Vortrag ergänzt: TypeScript liegt als zusätzliche Schicht über JavaScript und wird zu JavaScript kompiliert.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Hier werden die Beweggründe erläutert, warum man TypeScript statt reinem JavaScript einsetzt: vor allem die statische Typisierung (Fehler wie „ich übergebe versehentlich einen Text statt einer Zahl“ werden schon beim Schreiben des Codes im Editor erkannt, nicht erst zur Laufzeit beim Nutzer), bessere Werkzeugunterstützung in der Entwicklungsumgebung (Auto-Vervollständigung, Refactoring), und dadurch insgesamt wartbarerer Code bei größeren Projekten – was bei einer Anwendung mit vielen Komponenten wie unserer Rechnungs-/Kunden-App im Kurs sehr hilfreich ist.</a:t>
            </a:r>
          </a:p>
        </p:txBody>
      </p:sp>
      <p:sp>
        <p:nvSpPr>
          <p:cNvPr id="4" name="Slide Number Placeholder 3"/>
          <p:cNvSpPr>
            <a:spLocks noGrp="1"/>
          </p:cNvSpPr>
          <p:nvPr>
            <p:ph type="sldNum" idx="6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„Spezielle Typen“: null und undefined.</a:t>
            </a:r>
          </a:p>
          <a:p/>
          <a:p>
            <a:r>
              <a:t>„null“ bedeutet: Eine Eigenschaft ist bewusst gesetzt worden, aber auf „kein Wert“ (man hat also aktiv entschieden: hier ist nichts). „undefined“ bedeutet: Eine Eigenschaft oder Funktion wurde gar nicht erst vergeben/definiert – der Wert wurde also nie gesetzt. Das ist ein feiner, aber wichtiger Unterschied: „null“ = absichtlich leer, „undefined“ = noch nie befüllt. Beide Konzepte tauchen im Kurs später wieder auf, z. B. wenn eine Kundenauswahl noch nicht getroffen wurde (undefined) oder explizit zurückgesetzt wird (null).</a:t>
            </a:r>
          </a:p>
        </p:txBody>
      </p:sp>
      <p:sp>
        <p:nvSpPr>
          <p:cNvPr id="4" name="Slide Number Placeholder 3"/>
          <p:cNvSpPr>
            <a:spLocks noGrp="1"/>
          </p:cNvSpPr>
          <p:nvPr>
            <p:ph type="sldNum" idx="6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„Variablen Deklaration“ – die grundsätzliche Syntax, wie man in TypeScript eine Variable anlegt.</a:t>
            </a:r>
          </a:p>
          <a:p/>
          <a:p>
            <a:r>
              <a:t>Gezeigt werden vier Schreibweisen mit dem Schlüsselwort „var“ (der älteste, heute nicht mehr empfohlene Weg, siehe spätere Folien zu Scoping-Problemen): mit Namen und Typ und Wert, nur Name und Typ (ohne Startwert), nur Name und Wert (Typ wird automatisch erkannt), oder nur der Name allein. Die eckigen Klammern in der Syntax-Notation bedeuten „optional“, sie sind nicht Teil des echten Codes.</a:t>
            </a:r>
          </a:p>
        </p:txBody>
      </p:sp>
      <p:sp>
        <p:nvSpPr>
          <p:cNvPr id="4" name="Slide Number Placeholder 3"/>
          <p:cNvSpPr>
            <a:spLocks noGrp="1"/>
          </p:cNvSpPr>
          <p:nvPr>
            <p:ph type="sldNum" idx="6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Deklaration von Variablen“.</a:t>
            </a:r>
          </a:p>
          <a:p/>
          <a:p>
            <a:r>
              <a:t>Zwei Möglichkeiten, einer Variable einen Typ zu geben: Explizite Typisierung, z. B. „let name: string“ – hier wird der Typ direkt hingeschrieben. Oder „Type Inference“ (Typ-Ableitung): Man schreibt gar keinen Typ hin, sondern TypeScript erkennt den Typ automatisch anhand des zugewiesenen Wertes, z. B. wenn man „let state = true“ schreibt, weiß TypeScript automatisch: das ist ein „boolean“ (Wahrheitswert).</a:t>
            </a:r>
          </a:p>
        </p:txBody>
      </p:sp>
      <p:sp>
        <p:nvSpPr>
          <p:cNvPr id="4" name="Slide Number Placeholder 3"/>
          <p:cNvSpPr>
            <a:spLocks noGrp="1"/>
          </p:cNvSpPr>
          <p:nvPr>
            <p:ph type="sldNum" idx="6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„Deklaration von Variablen mit const und let“.</a:t>
            </a:r>
          </a:p>
          <a:p/>
          <a:p>
            <a:r>
              <a:t>Das sind die beiden modernen Schlüsselwörter, die „var“ ersetzt haben. „let“ deklariert eine Variable, deren Wert später noch verändert werden darf. „const“ deklariert eine Konstante, deren Wert nach der ersten Zuweisung nicht mehr geändert werden kann – ein erneuter Zuweisungsversuch führt zu einem Fehler. Als Faustregel im Kurs: „const“ ist der Standard-Fall, „let“ nutzt man nur, wenn sich der Wert wirklich ändern muss.</a:t>
            </a:r>
          </a:p>
        </p:txBody>
      </p:sp>
      <p:sp>
        <p:nvSpPr>
          <p:cNvPr id="4" name="Slide Number Placeholder 3"/>
          <p:cNvSpPr>
            <a:spLocks noGrp="1"/>
          </p:cNvSpPr>
          <p:nvPr>
            <p:ph type="sldNum" idx="6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 Samples“ – konkretes Codebeispiel.</a:t>
            </a:r>
          </a:p>
          <a:p/>
          <a:p>
            <a:r>
              <a:t>Zeile für Zeile: „var message: string = "Hello Typescript";“ legt eine Variable „message“ vom Typ Text an und gibt ihr direkt einen Startwert. „console.log(message);“ gibt den Inhalt der Variable in der Entwicklerkonsole des Browsers aus (das gängige Werkzeug zum Debuggen/Ausprobieren). Darunter eine Funktion „f()“, die eine eigene, zweite Variable ebenfalls „message“ nennt – das zeigt, dass Variablen innerhalb einer Funktion einen eigenen, abgeschotteten Gültigkeitsbereich haben können (Vorbereitung auf die nächsten Folien zum Thema Scoping).</a:t>
            </a:r>
          </a:p>
        </p:txBody>
      </p:sp>
      <p:sp>
        <p:nvSpPr>
          <p:cNvPr id="4" name="Slide Number Placeholder 3"/>
          <p:cNvSpPr>
            <a:spLocks noGrp="1"/>
          </p:cNvSpPr>
          <p:nvPr>
            <p:ph type="sldNum" idx="6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(erste von drei Folien zu Problemen mit dem alten „var“-Schlüsselwort).</a:t>
            </a:r>
          </a:p>
          <a:p/>
          <a:p>
            <a:r>
              <a:t>„Scoping“ bedeutet „Gültigkeitsbereich“ – also die Frage, in welchem Bereich des Codes eine Variable überhaupt sichtbar/nutzbar ist. Das Beispiel zeigt eine Funktion, in der eine Variable „x“ nur innerhalb eines „if“-Blocks mit „var“ angelegt wird, aber danach außerhalb dieses Blocks trotzdem noch gelesen werden kann und zurückgegeben wird. Das ist unerwartet, wenn man von anderen Programmiersprachen kommt, und eine typische Fehlerquelle: „var“ ignoriert Block-Grenzen (geschweifte Klammern) und ist nur auf die gesamte Funktion beschränkt, nicht auf den einzelnen „if“-Block.</a:t>
            </a:r>
          </a:p>
        </p:txBody>
      </p:sp>
      <p:sp>
        <p:nvSpPr>
          <p:cNvPr id="4" name="Slide Number Placeholder 3"/>
          <p:cNvSpPr>
            <a:spLocks noGrp="1"/>
          </p:cNvSpPr>
          <p:nvPr>
            <p:ph type="sldNum" idx="6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2“.</a:t>
            </a:r>
          </a:p>
          <a:p/>
          <a:p>
            <a:r>
              <a:t>Ähnliches Beispiel mit einer verschachtelten Schleife über eine Matrix (zweidimensionales Zahlenfeld): Die Schleifenvariablen „i“ und „row“ werden mit „var“ in der Schleife deklariert, bleiben aber auch nach der Schleife im gesamten Funktionskörper sichtbar. Das kann zu versehentlichem Überschreiben von Werten führen, wenn man nicht aufpasst, weil man eigentlich erwarten würde, dass diese Variable nur innerhalb der Schleife existiert.</a:t>
            </a:r>
          </a:p>
        </p:txBody>
      </p:sp>
      <p:sp>
        <p:nvSpPr>
          <p:cNvPr id="4" name="Slide Number Placeholder 3"/>
          <p:cNvSpPr>
            <a:spLocks noGrp="1"/>
          </p:cNvSpPr>
          <p:nvPr>
            <p:ph type="sldNum" idx="6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3“ – das klassischste Beispiel für dieses Problem.</a:t>
            </a:r>
          </a:p>
          <a:p/>
          <a:p>
            <a:r>
              <a:t>Eine Schleife mit „var i“ ruft zehnmal „setTimeout“ auf, was jeweils nach einer kurzen Verzögerung „console.log(i)“ ausführen soll. Man würde erwarten, dass die Zahlen 0 bis 9 ausgegeben werden. Tatsächlich gibt der Code aber zehnmal die Zahl „10“ aus, weil alle zehn Funktionen sich dieselbe, einzige „i“-Variable teilen (var kennt keinen Block-Scope), und wenn die Zeitverzögerung abläuft, ist die Schleife schon fertig durchlaufen und „i“ steht bei 10. Diese drei Folien begründen, warum man „var“ heute nicht mehr benutzt und stattdessen „let“/„const“ verwendet – das wird auf den nächsten Folien gezeigt.</a:t>
            </a:r>
          </a:p>
        </p:txBody>
      </p:sp>
      <p:sp>
        <p:nvSpPr>
          <p:cNvPr id="4" name="Slide Number Placeholder 3"/>
          <p:cNvSpPr>
            <a:spLocks noGrp="1"/>
          </p:cNvSpPr>
          <p:nvPr>
            <p:ph type="sldNum" idx="6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 jetzt mit dem modernen Schlüsselwort „let“.</a:t>
            </a:r>
          </a:p>
          <a:p/>
          <a:p>
            <a:r>
              <a:t>Anders als „var“ ist eine mit „let“ deklarierte Variable wirklich nur innerhalb des Blocks (der geschweiften Klammern, z. B. eines „if“) sichtbar, in dem sie angelegt wurde. Im Beispiel wird außerhalb des „if“-Blocks versucht, auf eine dort mit „let b“ deklarierte Variable zuzugreifen – das führt zu einem Compile-Fehler, weil „b“ außerhalb ihres Blocks gar nicht existiert. Das ist genau das erwartbare, „sichere“ Verhalten, das bei „var“ auf den vorherigen Folien gefehlt hat.</a:t>
            </a:r>
          </a:p>
        </p:txBody>
      </p:sp>
      <p:sp>
        <p:nvSpPr>
          <p:cNvPr id="4" name="Slide Number Placeholder 3"/>
          <p:cNvSpPr>
            <a:spLocks noGrp="1"/>
          </p:cNvSpPr>
          <p:nvPr>
            <p:ph type="sldNum" idx="6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2“.</a:t>
            </a:r>
          </a:p>
          <a:p/>
          <a:p>
            <a:r>
              <a:t>Zeigt eine Besonderheit: Wenn eine Variable mit „let“ zwar später im Code deklariert wird, aber schon vorher in einer Funktion referenziert wird, bekommt man (anders als bei „var“, wo es „undefined“ wäre) grundsätzlich einen Fehler, wenn man wirklich vor der Deklaration zugreift. Kurz erläutern anhand des Beispiels, was tatsächlich ausgegeben wird, und den Unterschied zum „var“-Verhalten von vorher betonen.</a:t>
            </a:r>
          </a:p>
        </p:txBody>
      </p:sp>
      <p:sp>
        <p:nvSpPr>
          <p:cNvPr id="4" name="Slide Number Placeholder 3"/>
          <p:cNvSpPr>
            <a:spLocks noGrp="1"/>
          </p:cNvSpPr>
          <p:nvPr>
            <p:ph type="sldNum" idx="6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3“ – die Lösung des Problems von Folie 18 (setTimeout-Beispiel) mit „let“ statt „var“.</a:t>
            </a:r>
          </a:p>
          <a:p/>
          <a:p>
            <a:r>
              <a:t>Wird die Schleifenvariable mit „let“ statt „var“ deklariert, bekommt jeder Schleifendurchlauf seine eigene, unabhängige Kopie der Variable. Dadurch geben die verzögerten „console.log“-Aufrufe tatsächlich die erwarteten Werte 0 bis 9 aus. Das ist einer der Hauptgründe, warum „let“ heute Standard ist.</a:t>
            </a:r>
          </a:p>
        </p:txBody>
      </p:sp>
      <p:sp>
        <p:nvSpPr>
          <p:cNvPr id="4" name="Slide Number Placeholder 3"/>
          <p:cNvSpPr>
            <a:spLocks noGrp="1"/>
          </p:cNvSpPr>
          <p:nvPr>
            <p:ph type="sldNum" idx="6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„const“.</a:t>
            </a:r>
          </a:p>
          <a:p/>
          <a:p>
            <a:r>
              <a:t>Vertiefung zum Schlüsselwort „const“: Eine Variable, die mit „const“ deklariert wurde, kann nach der ersten Zuweisung nicht mehr neu zugewiesen werden. Wichtig zu erklären: Bei Objekten und Arrays bedeutet das nicht, dass der Inhalt unveränderlich ist – man darf weiterhin Eigenschaften eines Objekts ändern oder Elemente in ein Array einfügen, nur die Variable selbst darf nicht auf ein komplett anderes Objekt umgebogen werden.</a:t>
            </a:r>
          </a:p>
        </p:txBody>
      </p:sp>
      <p:sp>
        <p:nvSpPr>
          <p:cNvPr id="4" name="Slide Number Placeholder 3"/>
          <p:cNvSpPr>
            <a:spLocks noGrp="1"/>
          </p:cNvSpPr>
          <p:nvPr>
            <p:ph type="sldNum" idx="6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1): if / else if / else.</a:t>
            </a:r>
          </a:p>
          <a:p/>
          <a:p>
            <a:r>
              <a:t>Die klassische Verzweigung: Wenn eine Bedingung wahr ist, wird der erste Block ausgeführt; ist sie falsch, wird die nächste Bedingung („else if“) geprüft; trifft keine der Bedingungen zu, greift der „else“-Block als Auffangfall. Das ist die Grundlage jeder Entscheidungslogik im Code, z. B. später bei der Frage „ist ein Kunde ausgewählt oder nicht“.</a:t>
            </a:r>
          </a:p>
        </p:txBody>
      </p:sp>
      <p:sp>
        <p:nvSpPr>
          <p:cNvPr id="4" name="Slide Number Placeholder 3"/>
          <p:cNvSpPr>
            <a:spLocks noGrp="1"/>
          </p:cNvSpPr>
          <p:nvPr>
            <p:ph type="sldNum" idx="6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2): while und do-while Schleifen.</a:t>
            </a:r>
          </a:p>
          <a:p/>
          <a:p>
            <a:r>
              <a:t>Bei „while“ wird die Bedingung vor jedem Durchlauf geprüft – ist sie von Anfang an falsch, läuft die Schleife kein einziges Mal. Bei „do-while“ wird der Schleifenkörper zuerst mindestens einmal ausgeführt und die Bedingung erst danach geprüft. Kurzer Hinweis: Diese Schleifenarten werden in den späteren, Angular-spezifischen Kapiteln kaum noch direkt gebraucht, weil dort meist über Listen mit „@for“ iteriert wird (siehe späteres Kapitel zum Control Flow).</a:t>
            </a:r>
          </a:p>
        </p:txBody>
      </p:sp>
      <p:sp>
        <p:nvSpPr>
          <p:cNvPr id="4" name="Slide Number Placeholder 3"/>
          <p:cNvSpPr>
            <a:spLocks noGrp="1"/>
          </p:cNvSpPr>
          <p:nvPr>
            <p:ph type="sldNum" idx="6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Datentyp“.</a:t>
            </a:r>
          </a:p>
          <a:p/>
          <a:p>
            <a:r>
              <a:t>Einführung in den Zahlentyp von TypeScript/JavaScript. Wichtig zu erwähnen: Anders als in manchen anderen Sprachen gibt es nicht getrennt „Ganzzahl“ und „Kommazahl“, sondern nur einen einzigen Typ „number“ für alle Zahlen.</a:t>
            </a:r>
          </a:p>
        </p:txBody>
      </p:sp>
      <p:sp>
        <p:nvSpPr>
          <p:cNvPr id="4" name="Slide Number Placeholder 3"/>
          <p:cNvSpPr>
            <a:spLocks noGrp="1"/>
          </p:cNvSpPr>
          <p:nvPr>
            <p:ph type="sldNum" idx="6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Funktionen“.</a:t>
            </a:r>
          </a:p>
          <a:p/>
          <a:p>
            <a:r>
              <a:t>Zeigt Hilfsmethoden auf Zahlen, hier „toFixed()“: Diese Methode rundet eine Zahl auf eine feste Anzahl Nachkommastellen und gibt das Ergebnis als Text zurück (nützlich z. B. für Geldbeträge in der Rechnungs-App des Kurses, damit immer genau zwei Nachkommastellen angezeigt werden).</a:t>
            </a:r>
          </a:p>
        </p:txBody>
      </p:sp>
      <p:sp>
        <p:nvSpPr>
          <p:cNvPr id="4" name="Slide Number Placeholder 3"/>
          <p:cNvSpPr>
            <a:spLocks noGrp="1"/>
          </p:cNvSpPr>
          <p:nvPr>
            <p:ph type="sldNum" idx="6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„String Funktionen“.</a:t>
            </a:r>
          </a:p>
          <a:p/>
          <a:p>
            <a:r>
              <a:t>Zeigt Hilfsmethoden auf Texten (Strings), hier „indexOf()“: Diese Methode sucht eine Zeichenfolge innerhalb eines Textes und gibt die Position (den Index) zurück, an der sie zuerst gefunden wurde, oder „-1“, wenn nichts gefunden wurde.</a:t>
            </a:r>
          </a:p>
        </p:txBody>
      </p:sp>
      <p:sp>
        <p:nvSpPr>
          <p:cNvPr id="4" name="Slide Number Placeholder 3"/>
          <p:cNvSpPr>
            <a:spLocks noGrp="1"/>
          </p:cNvSpPr>
          <p:nvPr>
            <p:ph type="sldNum" idx="6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deklarieren“ – allgemeine Syntax einer Funktion mit optional typisierten Parametern.</a:t>
            </a:r>
          </a:p>
          <a:p/>
          <a:p>
            <a:r>
              <a:t>Die eckigen Klammern zeigen wieder optionale Bestandteile: ein Parameter kann einen Typ bekommen („:type“), muss es aber nicht. Das Fragezeichen bei einem Parameter (siehe „param2?“) bedeutet, dieser Parameter ist optional, also beim Aufruf der Funktion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„Varargs AKA Rest Parameters“.</a:t>
            </a:r>
          </a:p>
          <a:p/>
          <a:p>
            <a:r>
              <a:t>„Rest Parameters“ (mit drei Punkten vor dem Namen, „...nums“) erlauben es, einer Funktion eine beliebige Anzahl von Werten desselben Typs zu übergeben, die dann intern als Array (Liste) zusammengefasst werden. Im Beispiel „sumUp“ können also beliebig viele Zahlen übergeben werden, und die Funktion addiert sie alle in einer Schleife zusammen.</a:t>
            </a:r>
          </a:p>
        </p:txBody>
      </p:sp>
      <p:sp>
        <p:nvSpPr>
          <p:cNvPr id="4" name="Slide Number Placeholder 3"/>
          <p:cNvSpPr>
            <a:spLocks noGrp="1"/>
          </p:cNvSpPr>
          <p:nvPr>
            <p:ph type="sldNum" idx="66"/>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Parameter“.</a:t>
            </a:r>
          </a:p>
          <a:p/>
          <a:p>
            <a:r>
              <a:t>Ein Funktionsparameter kann einen Standardwert bekommen, der automatisch verwendet wird, wenn beim Aufruf kein eigener Wert für diesen Parameter übergeben wird. Das erspart in vielen Fällen zusätzliche Prüfungen im Funktionskörper, ob ein Parameter überhaupt gesetzt wurde.</a:t>
            </a:r>
          </a:p>
        </p:txBody>
      </p:sp>
      <p:sp>
        <p:nvSpPr>
          <p:cNvPr id="4" name="Slide Number Placeholder 3"/>
          <p:cNvSpPr>
            <a:spLocks noGrp="1"/>
          </p:cNvSpPr>
          <p:nvPr>
            <p:ph type="sldNum" idx="66"/>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„Anonyme Funktionen“.</a:t>
            </a:r>
          </a:p>
          <a:p/>
          <a:p>
            <a:r>
              <a:t>Eine Funktion kann ohne eigenen Namen als Wert einer Variable zugewiesen werden (klassische Schreibweise „function(...) {...}“). Darunter die moderne „Arrow Function“-Syntax „(param1, param2) =&gt; statement“ – ein Pfeil ersetzt das Schlüsselwort „function“ und ist kürzer. Arrow Functions werden im weiteren Kurs sehr häufig verwendet, z. B. bei Callback-Funktionen und später bei Angular-Signalen.</a:t>
            </a:r>
          </a:p>
        </p:txBody>
      </p:sp>
      <p:sp>
        <p:nvSpPr>
          <p:cNvPr id="4" name="Slide Number Placeholder 3"/>
          <p:cNvSpPr>
            <a:spLocks noGrp="1"/>
          </p:cNvSpPr>
          <p:nvPr>
            <p:ph type="sldNum" idx="66"/>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überladen“.</a:t>
            </a:r>
          </a:p>
          <a:p/>
          <a:p>
            <a:r>
              <a:t>TypeScript erlaubt „Overloading“: Man kann für dieselbe Funktion mehrere Signaturen (Kombinationen von Parametertypen) deklarieren, z. B. einmal mit einer Zahl, einmal mit einem Text als Parameter. Wichtig: Es gibt nur einen echten Funktionskörper („1 Body for all“), der intern selbst unterscheiden muss, welcher Typ tatsächlich übergeben wurde.</a:t>
            </a:r>
          </a:p>
        </p:txBody>
      </p:sp>
      <p:sp>
        <p:nvSpPr>
          <p:cNvPr id="4" name="Slide Number Placeholder 3"/>
          <p:cNvSpPr>
            <a:spLocks noGrp="1"/>
          </p:cNvSpPr>
          <p:nvPr>
            <p:ph type="sldNum" idx="66"/>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 Übersicht der drei Sammlungstypen. „array“: eine Liste von Werten desselben Typs. „tuple“: eine feste, geordnete Menge unterschiedlicher Basistypen (z. B. genau ein Text und eine Zahl zusammen). „enum“: eine feste, benannte Menge erlaubter Werte (Aufzählungstyp).</a:t>
            </a:r>
          </a:p>
        </p:txBody>
      </p:sp>
      <p:sp>
        <p:nvSpPr>
          <p:cNvPr id="4" name="Slide Number Placeholder 3"/>
          <p:cNvSpPr>
            <a:spLocks noGrp="1"/>
          </p:cNvSpPr>
          <p:nvPr>
            <p:ph type="sldNum" idx="66"/>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Arrays: Deklaration und Zugriff über den Index.</a:t>
            </a:r>
          </a:p>
          <a:p/>
          <a:p>
            <a:r>
              <a:t>Ein Array wird mit „number[]“ typisiert. Über eckige Klammern mit einer Zahl (dem Index, beginnend bei 0) greift man auf ein einzelnes Element zu, z. B. „nummern[1]“ liefert das zweite Element (Index 1 = zweite Position). Die Zahlenreihe oben in der Folie zeigt genau diese Index-Zählung von 0 bis 6.</a:t>
            </a:r>
          </a:p>
        </p:txBody>
      </p:sp>
      <p:sp>
        <p:nvSpPr>
          <p:cNvPr id="4" name="Slide Number Placeholder 3"/>
          <p:cNvSpPr>
            <a:spLocks noGrp="1"/>
          </p:cNvSpPr>
          <p:nvPr>
            <p:ph type="sldNum" idx="66"/>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leeres Array fester Größe wird mit „new Array(4)“ angelegt, danach befüllt eine Schleife jedes Element mit dem Zehnfachen seines Index (0, 10, 20, 30) und gibt es aus. Zeigt den typischen Aufbau: Array anlegen, per Schleife befüllen, ausgeben.</a:t>
            </a:r>
          </a:p>
        </p:txBody>
      </p:sp>
      <p:sp>
        <p:nvSpPr>
          <p:cNvPr id="4" name="Slide Number Placeholder 3"/>
          <p:cNvSpPr>
            <a:spLocks noGrp="1"/>
          </p:cNvSpPr>
          <p:nvPr>
            <p:ph type="sldNum" idx="66"/>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„Array Schnittstellen Auszug“ – Übersicht wichtiger, eingebauter Array-Methoden: „concat“ (zwei Arrays zusammenfügen), „indexOf“/„lastIndexOf“ (Position eines Wertes suchen), „push“/„unshift“ (Element hinten/vorne einfügen) usw. Der Link unten verweist auf eine externe Referenzseite mit der vollständigen Liste.</a:t>
            </a:r>
          </a:p>
        </p:txBody>
      </p:sp>
      <p:sp>
        <p:nvSpPr>
          <p:cNvPr id="4" name="Slide Number Placeholder 3"/>
          <p:cNvSpPr>
            <a:spLocks noGrp="1"/>
          </p:cNvSpPr>
          <p:nvPr>
            <p:ph type="sldNum" idx="66"/>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Konkretes Beispiel zu „concat()“: Zwei bestehende Arrays (Buchstaben und Zahlen) werden zu einem neuen, gemeinsamen Array zusammengefügt. Wichtig: „concat“ verändert die Original-Arrays nicht, sondern erzeugt ein drittes, neues Array.</a:t>
            </a:r>
          </a:p>
        </p:txBody>
      </p:sp>
      <p:sp>
        <p:nvSpPr>
          <p:cNvPr id="4" name="Slide Number Placeholder 3"/>
          <p:cNvSpPr>
            <a:spLocks noGrp="1"/>
          </p:cNvSpPr>
          <p:nvPr>
            <p:ph type="sldNum" idx="66"/>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„Pop und push“ mit einer visuellen Fahrzeugliste. „push“ fügt ein neues Element hinten an und gibt die neue Länge des Arrays zurück. „pop“ entfernt das letzte Element und gibt genau dieses entfernte Element zurück. Die Bild-Abfolge zeigt, wie sich die Liste („VW Golf, BMW 323i, Mercedes CLK, Opel Vectra“) durch push (Tesla Cybertruck kommt hinzu) und anschließendes pop wieder verändert.</a:t>
            </a:r>
          </a:p>
        </p:txBody>
      </p:sp>
      <p:sp>
        <p:nvSpPr>
          <p:cNvPr id="4" name="Slide Number Placeholder 3"/>
          <p:cNvSpPr>
            <a:spLocks noGrp="1"/>
          </p:cNvSpPr>
          <p:nvPr>
            <p:ph type="sldNum" idx="66"/>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„Union Types“.</a:t>
            </a:r>
          </a:p>
          <a:p/>
          <a:p>
            <a:r>
              <a:t>Eine Variable kann mit einem „|“ (Oder) mehrere mögliche Typen bekommen, z. B. „string|number“ bedeutet: entweder Text oder Zahl. Im Beispiel wird derselben Variable erst eine Zahl, dann ein Text zugewiesen – beides ist erlaubt, weil beide Typen im Union Type enthalten sind.</a:t>
            </a:r>
          </a:p>
        </p:txBody>
      </p:sp>
      <p:sp>
        <p:nvSpPr>
          <p:cNvPr id="4" name="Slide Number Placeholder 3"/>
          <p:cNvSpPr>
            <a:spLocks noGrp="1"/>
          </p:cNvSpPr>
          <p:nvPr>
            <p:ph type="sldNum" idx="66"/>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„Enum“.</a:t>
            </a:r>
          </a:p>
          <a:p/>
          <a:p>
            <a:r>
              <a:t>Ein Enum definiert eine feste Menge benannter Werte, hier „Up, Down, Left, Right“ für eine Richtung. Da „Up = 1“ gesetzt ist, zählen die folgenden Werte automatisch weiter (Down=2, Left=3, Right=4). Eine Variable vom Typ „Direction“ kann dann nur einen dieser vier Werte annehmen.</a:t>
            </a:r>
          </a:p>
        </p:txBody>
      </p:sp>
      <p:sp>
        <p:nvSpPr>
          <p:cNvPr id="4" name="Slide Number Placeholder 3"/>
          <p:cNvSpPr>
            <a:spLocks noGrp="1"/>
          </p:cNvSpPr>
          <p:nvPr>
            <p:ph type="sldNum" idx="66"/>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„Nonsens Code“ – bewusstes Negativbeispiel.</a:t>
            </a:r>
          </a:p>
          <a:p/>
          <a:p>
            <a:r>
              <a:t>Die Bedingung „x !== Direction.Up || x !== Direction.Down“ ist logisch immer wahr (ein Wert kann nicht gleichzeitig beide sein, also ist immer mindestens eine Seite der Oder-Bedingung erfüllt) – TypeScript erkennt das sogar automatisch als Compile-Fehler/Warnung. Zeigt, wie hilfreich die Typprüfung beim Aufdecken von Logikfehlern ist.</a:t>
            </a:r>
          </a:p>
        </p:txBody>
      </p:sp>
      <p:sp>
        <p:nvSpPr>
          <p:cNvPr id="4" name="Slide Number Placeholder 3"/>
          <p:cNvSpPr>
            <a:spLocks noGrp="1"/>
          </p:cNvSpPr>
          <p:nvPr>
            <p:ph type="sldNum" idx="66"/>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Interface „Schmutzfink“ verlangt eine Eigenschaft „name“ (Text) und eine Methode „suhlen“, die einen Text zurückgibt. Direkt danach wird ein passendes Objekt als einfaches „Literal“ (geschweifte Klammern mit Werten) erzeugt und ausgegeben, ohne dafür extra eine Klasse zu schreiben.</a:t>
            </a:r>
          </a:p>
        </p:txBody>
      </p:sp>
      <p:sp>
        <p:nvSpPr>
          <p:cNvPr id="4" name="Slide Number Placeholder 3"/>
          <p:cNvSpPr>
            <a:spLocks noGrp="1"/>
          </p:cNvSpPr>
          <p:nvPr>
            <p:ph type="sldNum" idx="66"/>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Gleiches Beispiel, aber die Objekt-Erstellung wird zuerst in eine Variable „schweinchenDick“ vom Typ „Schmutzfink“ gespeichert und danach ausgegeben. Zeigt: Ein Interface kann als Typ für eine Variable verwendet werden, unabhängig davon, ob das Objekt aus einer Klasse oder direkt als Literal stammt.</a:t>
            </a:r>
          </a:p>
        </p:txBody>
      </p:sp>
      <p:sp>
        <p:nvSpPr>
          <p:cNvPr id="4" name="Slide Number Placeholder 3"/>
          <p:cNvSpPr>
            <a:spLocks noGrp="1"/>
          </p:cNvSpPr>
          <p:nvPr>
            <p:ph type="sldNum" idx="66"/>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„Inline Interface Def“.</a:t>
            </a:r>
          </a:p>
          <a:p/>
          <a:p>
            <a:r>
              <a:t>Man kann einen Interface-artigen Typ auch direkt „inline“ als Parameter-Typ einer Funktion definieren, ohne vorher ein eigenes, benanntes Interface anzulegen – hier verlangt „printName“ nur, dass das übergebene Objekt eine Eigenschaft „name“ hat.</a:t>
            </a:r>
          </a:p>
        </p:txBody>
      </p:sp>
      <p:sp>
        <p:nvSpPr>
          <p:cNvPr id="4" name="Slide Number Placeholder 3"/>
          <p:cNvSpPr>
            <a:spLocks noGrp="1"/>
          </p:cNvSpPr>
          <p:nvPr>
            <p:ph type="sldNum" idx="66"/>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„Optional und Readonly“.</a:t>
            </a:r>
          </a:p>
          <a:p/>
          <a:p>
            <a:r>
              <a:t>„readonly“ bei einer Eigenschaft bedeutet, sie darf nach der Objekterstellung nicht mehr verändert werden. Das Fragezeichen bei „weight?“ macht die Eigenschaft optional – ein Objekt vom Typ „Animal“ muss also einen Namen haben, ein Gewicht ist aber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deklarieren“ – die Grundsyntax einer Klasse: Schlüsselwort „class“, ein Name, und der Klassenkörper in geschweiften Klammern, in dem Eigenschaften und Methoden stehen.</a:t>
            </a:r>
          </a:p>
        </p:txBody>
      </p:sp>
      <p:sp>
        <p:nvSpPr>
          <p:cNvPr id="4" name="Slide Number Placeholder 3"/>
          <p:cNvSpPr>
            <a:spLocks noGrp="1"/>
          </p:cNvSpPr>
          <p:nvPr>
            <p:ph type="sldNum" idx="66"/>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„Member von Klassen“ – kündigt die Themen Eigenschaften, Konstruktor und Methoden einer Klasse an.</a:t>
            </a:r>
          </a:p>
        </p:txBody>
      </p:sp>
      <p:sp>
        <p:nvSpPr>
          <p:cNvPr id="4" name="Slide Number Placeholder 3"/>
          <p:cNvSpPr>
            <a:spLocks noGrp="1"/>
          </p:cNvSpPr>
          <p:nvPr>
            <p:ph type="sldNum" idx="66"/>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Klasse „Schwein“: Eine Eigenschaft „name“, ein „constructor“ (wird automatisch beim Erzeugen mit „new“ aufgerufen und setzt hier den Namen), und eine Methode „gibLaut()“, die einen Text mit dem Namen zurückgibt. Zeigt den kompletten, typischen Aufbau einer einfachen Klasse.</a:t>
            </a:r>
          </a:p>
        </p:txBody>
      </p:sp>
      <p:sp>
        <p:nvSpPr>
          <p:cNvPr id="4" name="Slide Number Placeholder 3"/>
          <p:cNvSpPr>
            <a:spLocks noGrp="1"/>
          </p:cNvSpPr>
          <p:nvPr>
            <p:ph type="sldNum" idx="66"/>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readonly“.</a:t>
            </a:r>
          </a:p>
          <a:p/>
          <a:p>
            <a:r>
              <a:t>Auch bei Klassen-Eigenschaften ist „readonly“ möglich. Zusätzlich zeigt die Folie eine Abkürzung („Parameter properties“): Schreibt man z. B. „constructor(readonly attr: type)“ direkt im Konstruktor-Kopf, wird daraus automatisch eine Klassen-Eigenschaft erzeugt und gesetzt – ohne dass man sie separat deklarieren und im Konstruktor zuweisen muss.</a:t>
            </a:r>
          </a:p>
        </p:txBody>
      </p:sp>
      <p:sp>
        <p:nvSpPr>
          <p:cNvPr id="4" name="Slide Number Placeholder 3"/>
          <p:cNvSpPr>
            <a:spLocks noGrp="1"/>
          </p:cNvSpPr>
          <p:nvPr>
            <p:ph type="sldNum" idx="66"/>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zu Sichtbarkeit: Die Eigenschaft „name“ der Klasse „Schwein“ wird als „private“ deklariert – ein Zugriff von außerhalb der Klasse würde also einen Compile-Fehler erzeugen.</a:t>
            </a:r>
          </a:p>
        </p:txBody>
      </p:sp>
      <p:sp>
        <p:nvSpPr>
          <p:cNvPr id="4" name="Slide Number Placeholder 3"/>
          <p:cNvSpPr>
            <a:spLocks noGrp="1"/>
          </p:cNvSpPr>
          <p:nvPr>
            <p:ph type="sldNum" idx="66"/>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 (praktischer Teil, kein Angular-Projekt, reine TypeScript-Übung): Es soll eine Klasse „Student“ so gebaut werden, dass der gezeigte Beispielcode funktioniert – ein Objekt wird ohne Parameter erzeugt, und eine Methode „getLabel(matrikelnummer)“ liefert einen zusammengesetzten Text zurück. Ziel: den bisherigen Stoff zu Klassen und Methoden selbst anwenden.</a:t>
            </a:r>
          </a:p>
        </p:txBody>
      </p:sp>
      <p:sp>
        <p:nvSpPr>
          <p:cNvPr id="4" name="Slide Number Placeholder 3"/>
          <p:cNvSpPr>
            <a:spLocks noGrp="1"/>
          </p:cNvSpPr>
          <p:nvPr>
            <p:ph type="sldNum" idx="66"/>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 Fortsetzung von Übung 1: Jetzt soll die Klasse „Student“ einen Konstruktor mit Name und Matrikelnummer bekommen, sodass beide Werte direkt beim Erzeugen des Objekts übergeben werden und „getLabel()“ ohne weitere Parameter beide Werte im Text zusammensetzt.</a:t>
            </a:r>
          </a:p>
        </p:txBody>
      </p:sp>
      <p:sp>
        <p:nvSpPr>
          <p:cNvPr id="4" name="Slide Number Placeholder 3"/>
          <p:cNvSpPr>
            <a:spLocks noGrp="1"/>
          </p:cNvSpPr>
          <p:nvPr>
            <p:ph type="sldNum" idx="66"/>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„Getter Setter“.</a:t>
            </a:r>
          </a:p>
          <a:p/>
          <a:p>
            <a:r>
              <a:t>Eine private Eigenschaft „_name“ (der Unterstrich ist reine Namenskonvention, kein Sprachfeature) wird über eine „get name()“-Methode von außen lesbar gemacht, ohne dass man Klammern beim Aufruf schreiben muss (man schreibt „objekt.name“, nicht „objekt.name()“). Passend dazu kann es eine „set name(wert)“-Methode geben, die eine kontrollierte Zuweisung erlaubt, z. B. mit zusätzlicher Prüfung des neuen Wertes.</a:t>
            </a:r>
          </a:p>
        </p:txBody>
      </p:sp>
      <p:sp>
        <p:nvSpPr>
          <p:cNvPr id="4" name="Slide Number Placeholder 3"/>
          <p:cNvSpPr>
            <a:spLocks noGrp="1"/>
          </p:cNvSpPr>
          <p:nvPr>
            <p:ph type="sldNum" idx="66"/>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Die Klasse „Schwein“ „implements“ jetzt das Interface „Schmutzfink“ von vorher – das bedeutet, sie verpflichtet sich, die dort geforderte Methode „suhlen()“ tatsächlich zu besitzen. Der Compiler prüft das automatisch und meldet einen Fehler, falls eine geforderte Methode fehlt.</a:t>
            </a:r>
          </a:p>
        </p:txBody>
      </p:sp>
      <p:sp>
        <p:nvSpPr>
          <p:cNvPr id="4" name="Slide Number Placeholder 3"/>
          <p:cNvSpPr>
            <a:spLocks noGrp="1"/>
          </p:cNvSpPr>
          <p:nvPr>
            <p:ph type="sldNum" idx="66"/>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Vererbung“.</a:t>
            </a:r>
          </a:p>
          <a:p/>
          <a:p>
            <a:r>
              <a:t>Eine Klasse kann von einer anderen Klasse erben (analog zum „implements“ bei Interfaces, hier aber mit „extends“ und echter, wiederverwendbarer Implementierung statt nur einem Vertrag). Methoden können dabei auch „abstract“ sein: Die Basisklasse gibt nur die Signatur vor, jede konkrete Unterklasse muss die Methode selbst implementieren.</a:t>
            </a:r>
          </a:p>
        </p:txBody>
      </p:sp>
      <p:sp>
        <p:nvSpPr>
          <p:cNvPr id="4" name="Slide Number Placeholder 3"/>
          <p:cNvSpPr>
            <a:spLocks noGrp="1"/>
          </p:cNvSpPr>
          <p:nvPr>
            <p:ph type="sldNum" idx="66"/>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Fortgeführtes Codebeispiel der Klasse „Schwein“, die weiterhin das Interface „Schmutzfink“ implementiert – zeigt den vollständigen Methodenkörper von „suhlen()“ im Detail.</a:t>
            </a:r>
          </a:p>
        </p:txBody>
      </p:sp>
      <p:sp>
        <p:nvSpPr>
          <p:cNvPr id="4" name="Slide Number Placeholder 3"/>
          <p:cNvSpPr>
            <a:spLocks noGrp="1"/>
          </p:cNvSpPr>
          <p:nvPr>
            <p:ph type="sldNum" idx="66"/>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im Detail: Attribute und Methoden“.</a:t>
            </a:r>
          </a:p>
          <a:p/>
          <a:p>
            <a:r>
              <a:t>Erklärt „Overriding“: Eine Unterklasse kann eine Methode der Oberklasse mit derselben Signatur neu implementieren (überschreiben). Wird die Methode dann auf einem Objekt der Unterklasse aufgerufen, wird automatisch die überschriebene Version ausgeführt, nicht die der Oberklasse.</a:t>
            </a:r>
          </a:p>
        </p:txBody>
      </p:sp>
      <p:sp>
        <p:nvSpPr>
          <p:cNvPr id="4" name="Slide Number Placeholder 3"/>
          <p:cNvSpPr>
            <a:spLocks noGrp="1"/>
          </p:cNvSpPr>
          <p:nvPr>
            <p:ph type="sldNum" idx="66"/>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„Namespaces – Code Gruppen“ – kündigt das Thema Namensräume an.</a:t>
            </a:r>
          </a:p>
        </p:txBody>
      </p:sp>
      <p:sp>
        <p:nvSpPr>
          <p:cNvPr id="4" name="Slide Number Placeholder 3"/>
          <p:cNvSpPr>
            <a:spLocks noGrp="1"/>
          </p:cNvSpPr>
          <p:nvPr>
            <p:ph type="sldNum" idx="66"/>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„Namespaces“.</a:t>
            </a:r>
          </a:p>
          <a:p/>
          <a:p>
            <a:r>
              <a:t>Namespaces gruppieren zusammengehörige Deklarationen (Klassen, Interfaces etc.) unter einem gemeinsamen Namen, damit man sie außerhalb nur über diesen Namen ansprechen kann. Das verringert das Risiko von Namenskonflikten, wenn z. B. zwei Bibliotheken zufällig eine Klasse mit demselben Namen definieren. Hinweis: In modernen Angular-Projekten werden heute praktisch nur noch ES-Module (import/export, siehe nächste Folien) verwendet, Namespaces sind eher ein Randthema/Legacy-Konzept.</a:t>
            </a:r>
          </a:p>
        </p:txBody>
      </p:sp>
      <p:sp>
        <p:nvSpPr>
          <p:cNvPr id="4" name="Slide Number Placeholder 3"/>
          <p:cNvSpPr>
            <a:spLocks noGrp="1"/>
          </p:cNvSpPr>
          <p:nvPr>
            <p:ph type="sldNum" idx="66"/>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über drei Dateien: „Animal.ts“ definiert im Namespace „Animals“ ein Interface „Animal“. „Pig.ts“ referenziert diese Datei per Kommentar-Syntax „/// &lt;reference path=... /&gt;“ und implementiert im selben Namespace eine Klasse „Pig“. „Main.ts“ referenziert beide Dateien und kann dann über „Animals.Pig“ auf die Klasse zugreifen.</a:t>
            </a:r>
          </a:p>
        </p:txBody>
      </p:sp>
      <p:sp>
        <p:nvSpPr>
          <p:cNvPr id="4" name="Slide Number Placeholder 3"/>
          <p:cNvSpPr>
            <a:spLocks noGrp="1"/>
          </p:cNvSpPr>
          <p:nvPr>
            <p:ph type="sldNum" idx="66"/>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Exporte“.</a:t>
            </a:r>
          </a:p>
          <a:p/>
          <a:p>
            <a:r>
              <a:t>Zeigt die Unterschiede zwischen normalen (nicht exportierten, nur innerhalb der Datei sichtbaren) und mit „export“ versehenen Deklarationen: Variablen, Funktionen und Klassen können jeweils exportiert werden, um sie in anderen Dateien nutzbar zu machen.</a:t>
            </a:r>
          </a:p>
        </p:txBody>
      </p:sp>
      <p:sp>
        <p:nvSpPr>
          <p:cNvPr id="4" name="Slide Number Placeholder 3"/>
          <p:cNvSpPr>
            <a:spLocks noGrp="1"/>
          </p:cNvSpPr>
          <p:nvPr>
            <p:ph type="sldNum" idx="66"/>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„Named importieren“.</a:t>
            </a:r>
          </a:p>
          <a:p/>
          <a:p>
            <a:r>
              <a:t>Mit „import {publicA, publicB} from "./lib";“ werden gezielt einzelne, namentlich benannte Exporte aus einer anderen Datei geholt. Das ist die heute übliche Art, wie auch in Angular-Projekten Klassen, Funktionen oder Komponenten aus anderen Dateien importiert werden.</a:t>
            </a:r>
          </a:p>
        </p:txBody>
      </p:sp>
      <p:sp>
        <p:nvSpPr>
          <p:cNvPr id="4" name="Slide Number Placeholder 3"/>
          <p:cNvSpPr>
            <a:spLocks noGrp="1"/>
          </p:cNvSpPr>
          <p:nvPr>
            <p:ph type="sldNum" idx="66"/>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„Imports“ – wichtige Regeln. Import/Export-Anweisungen werden vom System „gehoisted“ (nach oben gezogen), das heißt die Reihenfolge im Quelltext spielt für die Verfügbarkeit keine Rolle. Sie dürfen aber nicht variabel oder bedingt (z. B. innerhalb eines „if“) sein – Module werden bereits beim Laden fest aufgelöst, nicht erst zur Laufzeit abhängig von Bedingungen.</a:t>
            </a:r>
          </a:p>
        </p:txBody>
      </p:sp>
      <p:sp>
        <p:nvSpPr>
          <p:cNvPr id="4" name="Slide Number Placeholder 3"/>
          <p:cNvSpPr>
            <a:spLocks noGrp="1"/>
          </p:cNvSpPr>
          <p:nvPr>
            <p:ph type="sldNum" idx="66"/>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 (Module): Die zuvor erstellte Klasse „Student“ soll in eine eigene Datei „student.ts“ ausgelagert und von dort per „export“ exportiert werden. In einer anderen Datei wird sie dann per „import“ wieder eingebunden und genutzt – eine erste praktische Anwendung des Modul-Konzepts, das später bei jeder Angular-Komponente wieder auftaucht.</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In dieser Wahlübung wird die Anwendung für die Forms-Schnittstelle vorbereitet, indem „ReactiveFormsModule“ im „imports“-Array von „CustomerDetailsComponent“ eingebunden wird. Danach wird dort ein Formular mit „FormGroup“ und „FormControl“ oder mit dem „FormBuilder“ aufgebaut, mit dem die Kundendaten bearbeitet und gespeichert werden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Für jedes ungültige Feld erscheint eine Fehlermeldung, und das Absenden eines ungültigen Formulars wird verhindert. Das geschieht hier mit den Prüfregeln der Forms-Schnittstelle in der Klasse.</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30 (Legacy – Angular Module): Das mitgelieferte, NgModule-basierte Beispielprojekt „30_modules_legacy“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Das „form“-Tag bekommt eine Template-Referenz „#form="ngForm"“. Damit kann man später auf den Zustand des ganzen Formulars zugreifen. Das Ereignis „ngSubmit“ ruft die Methode „save“ auf, wenn das Formular abgeschickt wird. Die Seite wird dabei nicht neu geladen.</a:t>
            </a:r>
          </a:p>
          <a:p/>
          <a:p>
            <a:r>
              <a:t>Jedes Feld hat ein „name“-Attribut und eine Bindung an „ngModel“, in zwei Teilen: Mit „[ngModel]“ wird der aktuelle Wert aus „draft()“ in das Feld geschrieben. Mit „(ngModelChange)“ wird bei jeder Eingabe die Methode „setField“ aufgerufen, die den neuen Wert in „draft“ speichert. Die Bearbeitungskopie „draft“ wird auf der nächsten Folie erklärt.</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Original erst verändert werden, wenn der Benutzer speichert. Deshalb arbeitet das Formular mit einer Kopie. Diese heißt hier „draft“, auf Deutsch Entwurf.</a:t>
            </a:r>
          </a:p>
          <a:p/>
          <a:p>
            <a:r>
              <a:t>„linkedSignal“ ist ein abgeleiteter Wert, der trotzdem beschrieben werden kann. Am Anfang und immer dann, wenn sich das Original „customer“ ändert, wird „draft“ neu als Kopie des Originals berechnet. Dazwischen kann man den Entwurf mit „update“ oder „set“ überschreiben. Wechselt der Benutzer zu einem anderen Kunden, ist der Entwurf also automatisch wieder frisch.</a:t>
            </a:r>
          </a:p>
          <a:p/>
          <a:p>
            <a:r>
              <a:t>Die Methode „setField“ ändert genau ein Feld. Sie erzeugt dabei ein neues Objekt mit allen alten Werten und dem einen neuen Wert. Das ist wichtig, weil Signals nur Änderungen bemerken, wenn es ein neues Objekt gibt.</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„[0-9]{5}“ genau fünf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Speichern-Button“.</a:t>
            </a:r>
          </a:p>
          <a:p/>
          <a:p>
            <a:r>
              <a:t>Das Beispiel erweitert das Formular um Prüfregeln. Das erste Feld hat das Attribut „required“.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für genau fünf Ziffern. Auch hier gibt es eine Fehlermeldung unter denselben Bedingungen.</a:t>
            </a:r>
          </a:p>
          <a:p/>
          <a:p>
            <a:r>
              <a:t>Der Speichern-Button ist mit „[disabled]="form.invalid"“ verbunden. Solange das Formular ungültig ist, kann man also nicht speichern. Die Referenz „form“ zeigt auf das ganze Formular.</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an diese Kopie. Jedes Feld braucht ein „name“-Attribut.</a:t>
            </a:r>
          </a:p>
          <a:p/>
          <a:p>
            <a:r>
              <a:t>Danach fügen sie Prüfregeln als HTML-Attribute hinzu: Vor- und Nachname sind Pflichtfelder, die Postleitzahl muss aus fünf Ziffern bestehen. Für jedes ungültige Feld erscheint eine Fehlermeldung, aber erst, wenn der Benutzer das Feld verändert hat. Zum Schluss wird der Speichern-Button deaktiviert, solange das Formular ungültig ist. Das eigentliche Speichern über den Service folgt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und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aus Übung 29: Mit „ng-content“ setzt die Eltern-Komponente Inhalt in eine wiederverwendbare Komponente ein. Auch Direktiven und kleine Komponenten dienen dazu.</a:t>
            </a:r>
          </a:p>
          <a:p/>
          <a:p>
            <a:r>
              <a:t>Vererbung, bei der eine Komponente die Klasse einer anderen erweitert, sollte man bei Komponenten vermeiden. Sie erzeugt versteckte Abhängigkeiten, und die Dekoratoren verhalten sich dabei teilweise unerwartet.</a:t>
            </a:r>
          </a:p>
          <a:p/>
          <a:p>
            <a:r>
              <a:t>Gemeinsames Verhalten legt man besser in Services oder in sogenannte „Host-Direktiven“. Das sind Direktiven, die eine Komponente auf sich selbst anwendet.</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Der Service weiß nichts von der Komponente. Reine Berechnungen schreibt man als „pure Funktion“ oder Pipe,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einer stabilen Codebasis“.</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Dateien. Man nutzt TypeScript im strengen Modus und vermeidet „any“. Funktionen und Komponenten sind klein und wenig verschachtelt.</a:t>
            </a:r>
          </a:p>
          <a:p/>
          <a:p>
            <a:r>
              <a:t>Werkzeuge wie „ESLint“ und „Prettier“ sowie automatische Tests laufen in der Pipeline, das ist die automatische Prüfstrecke bei jeder Änderung. Schließlich werden wichtige Entscheidungen kurz aufgeschrieben. Eine solche Notiz heißt „ADR“, das steht für „Architecture Decision Record“, also Protokoll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Gute Struktur und gute Testbarkeit gehören zusammen. Eine kleine Komponente mit klaren Eingaben und Ausgaben lässt sich mit wenigen Zeilen testen.</a:t>
            </a:r>
          </a:p>
          <a:p/>
          <a:p>
            <a:r>
              <a:t>Hat eine Komponente dagegen viele versteckte Abhängigkeiten, zum Beispiel weil überall „inject“ aufgerufen wird oder weil sie globale Zustände nutzt, dann muss der Test sehr viel nachbauen. Dieses Nachbauen nennt man „Mocking“.</a:t>
            </a:r>
          </a:p>
          <a:p/>
          <a:p>
            <a:r>
              <a:t>Daraus ergibt sich eine Faustregel: Wenn ein Test schwer zu schreiben ist, liegt das oft nicht am Test, sondern an der Struktur des Codes. Das Thema wird im Kapitel zur Testbarkeit vertieft.</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Dies ist die Aufgabenstellung für Übung 31 im Ordner 31_komponenten_aufteilen. Sie baut auf dem Ergebnis von Übung 29 auf.</a:t>
            </a:r>
          </a:p>
          <a:p/>
          <a:p>
            <a:r>
              <a:t>Die Teilnehmer zerlegen die Kundenliste. Zuerst erstellen sie eine Filter-Komponente mit Eingabefeld und Löschen-Button, mit einem Eingang für den Text und zwei Ausgängen für geänderten Text und Löschen. Der Fokus-Mechanismus mit „viewChild“ zieht mit um. Dann erstellen sie eine Komponente für einen einzelnen Listeneintrag. Die Liste behält nur Laden, Filterzustand und Auswahlzustand. Das Verhalten der App darf sich nicht ändern. Der „track“-Ausdruck bleibt zunächst unverändert.</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Schadcode schützt und wo dieser Schutz umgangen werden kann.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Das Frontend ist nicht vertrauenswürdig“.</a:t>
            </a:r>
          </a:p>
          <a:p/>
          <a:p>
            <a:r>
              <a:t>Das „Frontend“ ist der Teil der Anwendung, der im Browser des Nutzers läuft. Der Nutzer hat darüber volle Kontrolle. Er kann den Code lesen, verändern und umgehen.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trennt, was man selbst kontrolliert, von dem, was von außen kommt. Selbst geschriebener Code und feste Werte in der Anwendung sind vertrauenswürdig. Alles andere kommt von außen und ist eine Eingabe.</a:t>
            </a:r>
          </a:p>
          <a:p/>
          <a:p>
            <a:r>
              <a:t>Dazu gehören Formulareingaben, Teile der Internetadresse, Antworten von Schnittstellen, Browser-Speicher und Dateiuploads. Auch Daten aus dem eigenen Server zählen dazu, denn dort kann früher schon Schadcode gespeichert worden sein. „Escapen“ heißt, Sonderzeichen so umzuwandeln, dass sie als Text und nicht als Code gelten. Der Schutz muss zum Ort passen, an dem die Daten angezeigt werden.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„XSS“ steht für „Cross-Site Scripting“. Dabei wird fremder Programmcode in eine Seite eingeschleust. Dieser Code läuft im Browser des Opfers mit dessen Rechten. Er könnte zum Beispiel gespeicherte Anmeldedaten auslesen.</a:t>
            </a:r>
          </a:p>
          <a:p/>
          <a:p>
            <a:r>
              <a:t>Im Beispiel steht in der Notiz eines Kunden ein Bild-Element mit einer ungültigen Quelle. Weil das Bild nicht geladen werden kann, löst es ein Fehler-Ereignis aus, und dabei läuft der angegebene Code. In der Übung zeigt der Code nur ein harmloses Meldungsfenster mit dem Wort „XSS“. Das Beispiel dient allein dem Lernen, um die Schutzmaßnahmen zu verstehen.</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vor XSS. Bei der Schreibweise mit doppelten geschweiften Klammern wird der Wert immer als reiner Text ausgegeben. Enthaltene Zeichen wie spitze Klammern werden nicht als Code behandelt.</a:t>
            </a:r>
          </a:p>
          <a:p/>
          <a:p>
            <a:r>
              <a:t>Bei „innerHTML“ erlaubt Angular HTML, aber es „bereinigt“ es. Das heißt, gefährliche Teile wie Script-Elemente und Event-Handler werden entfernt. Bei Links und Bildquellen werden gefährliche Adressen entschärft. Außerdem werden die Templates schon beim Build in Code umgewandelt, sodass Nutzereingaben nie als Template gelten.</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Das Beispiel zeigt zwei Wege, eine Notiz anzuzeigen. Im ersten Weg mit „{{ }}“ wird der Inhalt als Text gezeigt. Steht in der Notiz HTML, sieht der Nutzer die spitzen Klammern wörtlich, und es wird nichts ausgeführt.</a:t>
            </a:r>
          </a:p>
          <a:p/>
          <a:p>
            <a:r>
              <a:t>Im zweiten Weg mit „innerHTML“ wird das HTML dargestellt, zum Beispiel Fettdruck. Angular entfernt vorher gefährliche Teile wie den Event-Handler „onerror“. Das ist sicherer als ungeschütztes HTML, aber man sollte es nur nutzen, wenn Formatierung wirklich nötig ist.</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Angulars Schutz ausgehebelt wird“.</a:t>
            </a:r>
          </a:p>
          <a:p/>
          <a:p>
            <a:r>
              <a:t>Der Schutz von Angular gilt nur, solange man ihn nicht umgeht. Der „DomSanitizer“ bietet Methoden, die mit „bypassSecurityTrust“ beginnen. „Bypass“ bedeutet umgehen. Damit sagt man Angular: Dieser Inhalt ist sicher, prüfe ihn nicht. Das darf man nur bei Inhalten tun, die man selbst vollständig kontrolliert.</a:t>
            </a:r>
          </a:p>
          <a:p/>
          <a:p>
            <a:r>
              <a:t>Auch wer direkt auf die Elemente der Seite zugreift, etwa mit „nativeElement.innerHTML“, „document.write“ oder „eval“, verlässt den Schutz. Das Gleiche gilt für Bibliotheken, die HTML erzeugen. Deshalb gilt im Team: Jede Verwendung von „bypassSecurityTrust“ ist ein Warnsignal im Review und braucht eine Begründung.</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„Authentifizierung und Token“.</a:t>
            </a:r>
          </a:p>
          <a:p/>
          <a:p>
            <a:r>
              <a:t>Hier geht es darum, wo man Anmeldeinformationen speichert. Was im „localStorage“ liegt, kann jedes Script auf der Seite lesen. Bei einer XSS-Lücke wäre das Token also gestohlen. Ein Cookie mit der Eigenschaft „HttpOnly“ kann dagegen von Scripts nicht gelesen werden.</a:t>
            </a:r>
          </a:p>
          <a:p/>
          <a:p>
            <a:r>
              <a:t>„Secure“ bedeutet, dass das Cookie nur über verschlüsselte Verbindungen gesendet wird. „SameSite“ begrenzt, wann das Cookie bei Anfragen von fremden Seiten mitgeschickt wird. Empfohlen wird ein solches Cookie, das der Server setzt. Den Login baut man nicht selbst, sondern nutzt bewährte Lösungen. Der „AuthService“ aus Übung 25 war nur ein Lehrbeispiel.</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(1/2)“.</a:t>
            </a:r>
          </a:p>
          <a:p/>
          <a:p>
            <a:r>
              <a:t>„CSRF“ steht für „Cross-Site Request Forgery“. Eine fremde Webseite bringt den Browser dazu, eine Anfrage an die eigene Anwendung zu senden. Weil der Browser die Cookies automatisch mitsendet, hält der Server die Anfrage für echt.</a:t>
            </a:r>
          </a:p>
          <a:p/>
          <a:p>
            <a:r>
              <a:t>Gegenmittel sind „SameSite“-Cookies und ein „CSRF-Token“. Das ist ein geheimer Wert, den eine fremde Seite nicht kennt. Angulars „HttpClient“ unterstützt das: Er liest das Cookie „XSRF-TOKEN“ und sendet den Wert im Header „X-XSRF-TOKEN“ mit. Das geschieht nur bei verändernden Anfragen an relative Adressen. Der Server muss das Cookie setzen und den Header prüfen.</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„XSRF-Namen anpassen“.</a:t>
            </a:r>
          </a:p>
          <a:p/>
          <a:p>
            <a:r>
              <a:t>Standardmäßig benutzt Angular die Namen „XSRF-TOKEN“ für das Cookie und „X-XSRF-TOKEN“ für den Header. Verwendet das Backend andere Namen, kann man sie anpassen. Das geschieht mit „withXsrfConfiguration“ als Angabe bei „provideHttpClient“.</a:t>
            </a:r>
          </a:p>
          <a:p/>
          <a:p>
            <a:r>
              <a:t>Im Beispiel sind die Namen frei gewählt. Wichtig ist nur, dass Cookie und Header zu dem passen, was der Server verwendet.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(2/2)“.</a:t>
            </a:r>
          </a:p>
          <a:p/>
          <a:p>
            <a:r>
              <a:t>„CORS“ steht für „Cross-Origin Resource Sharing“. Es legt fest, welche fremden Webseiten die Antworten eines Servers im Browser lesen dürfen. Es ist kein Schutz für den Server selbst, denn die Anfrage kann trotzdem ankommen. Man darf CORS deshalb nicht mit einer Absicherung verwechseln.</a:t>
            </a:r>
          </a:p>
          <a:p/>
          <a:p>
            <a:r>
              <a:t>Außerdem gilt: Immer verschlüsselte Verbindungen mit „HTTPS“ nutzen. Sensible Daten gehören nicht in die Internetadresse, weil Adressen in Protokollen und in Verweisen an andere Seiten auftauchen können.</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(1/2)“.</a:t>
            </a:r>
          </a:p>
          <a:p/>
          <a:p>
            <a:r>
              <a:t>Bei einer „offenen Weiterleitung“ liest die Anwendung ein Ziel aus der Internetadresse und navigiert ohne Prüfung dorthin. Ein Angreifer kann so Nutzer auf eine fremde Seite lenken. Die Gegenmaßnahme ist eine „Allowlist“. Das ist eine Liste erlaubter Ziele, und alles andere wird abgelehnt.</a:t>
            </a:r>
          </a:p>
          <a:p/>
          <a:p>
            <a:r>
              <a:t>Unsichere Abhängigkeiten sind veraltete Pakete mit bekannten Lücken. Mit „npm audit“ lassen sie sich finden. Ein Schlüssel in der Datei „environment.ts“ landet im ausgelieferten Code und ist für jeden lesbar. Deshalb greift man über das Backend darauf zu.</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(2/2)“.</a:t>
            </a:r>
          </a:p>
          <a:p/>
          <a:p>
            <a:r>
              <a:t>Werden zu viele Daten an den Browser geschickt und nur ausgeblendet, kann der Nutzer sie in den Entwicklerwerkzeugen trotzdem sehen. Das Backend sollte deshalb nur liefern, was der Nutzer sehen darf.</a:t>
            </a:r>
          </a:p>
          <a:p/>
          <a:p>
            <a:r>
              <a:t>Auch in Protokollen sollten keine sensiblen Daten stehen. Der Interceptor aus Übung 25 darf zum Beispiel keine Anmelde-Header ausgeben. „Clickjacking“ bedeutet, dass die Seite unsichtbar in einer fremden Seite eingebettet wird. Dagegen schützen Header des Servers. Fremde Skripte sollte man nur einbinden, wenn sie wirklich nötig sind.</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und Trusted Types“.</a:t>
            </a:r>
          </a:p>
          <a:p/>
          <a:p>
            <a:r>
              <a:t>Eine „Content Security Policy“, kurz „CSP“, ist eine Regel des Servers an den Browser. Sie bestimmt, woher Skripte und Styles stammen dürfen. Wird trotzdem Schadcode eingeschleust, kann der Browser ihn dadurch oft blockieren.</a:t>
            </a:r>
          </a:p>
          <a:p/>
          <a:p>
            <a:r>
              <a:t>Angular kann mit strengen Regeln dieser Art arbeiten. Dafür gibt es zum Beispiel den Wert „CSP_NONCE“. Auch „Trusted Types“ werden unterstützt. Das ist ein weiterer Browser-Schutz gegen unsicher gesetztes HTML. Wichtig ist die Einordnung: Das ist eine zusätzliche Schicht. Sauberes Behandeln von Eingaben bleibt trotzdem nötig.</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heißt, nur die Daten zu verarbeiten, die man wirklich braucht. Das ist auch ein Grundsatz der „DSGVO“, der Datenschutz-Grundverordnung der Europäischen Union.</a:t>
            </a:r>
          </a:p>
          <a:p/>
          <a:p>
            <a:r>
              <a:t>Eingaben behandelt man passend zum Ziel: Text als Text, HTML mit Bereinigung und Adressen nach einer Prüfung. Die Prüfung im Formular wird im Server wiederholt, wie es schon bei den Formularen erklärt wurde. Hochgeladene Dateien prüft man auf Art und Größe und führt sie nie aus. Fehlermeldungen für Nutzer enthalten keine technischen Details.</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Im Team hilft eine gemeinsame Checkliste für Reviews und eine automatische Prüfung in der Pipeline. Ein „Review“ ist die Durchsicht von Code durch eine andere Person.</a:t>
            </a:r>
          </a:p>
          <a:p/>
          <a:p>
            <a:r>
              <a:t>Mit „ng update“ hält man Angular aktuell. Sicherheitskorrekturen kommen oft schon in kleinen Versionsschritten. Wenn man „bypassSecurityTrust“ oder „innerHTML“ bewusst einsetzt, dokumentiert man den Grund. Und wenn doch etwas passiert, spricht man offen darüber, um daraus zu lernen.</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für Code-Reviews zusammen. Man geht die Fragen nacheinander durch. Gibt es Stellen, an denen Angulars Schutz umgangen wird? Werden Teile der Internetadresse ungeprüft benutzt? Werden Tokens gespeichert oder protokolliert, wo sie lesbar wären?</a:t>
            </a:r>
          </a:p>
          <a:p/>
          <a:p>
            <a:r>
              <a:t>Die letzten Fragen betreffen Geheimnisse im Code, Zugriffsschutz nur über einen Guard und neue Pakete. Die Checkliste wird auch in Übung 36 und im Abschlussprojekt benutzt.</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a:t>
            </a:r>
          </a:p>
          <a:p/>
          <a:p>
            <a:r>
              <a:t>Erklärung für die Dolmetscherin:</a:t>
            </a:r>
          </a:p>
          <a:p>
            <a:r>
              <a:t>Dies ist die Aufgabenstellung für Übung 36 im Ordner 36_sicherheit.</a:t>
            </a:r>
          </a:p>
          <a:p/>
          <a:p>
            <a:r>
              <a:t>Die Teilnehmer erleben zuerst, wie eine eingeschleuste Notiz wirkt. Sie geben sie auf drei Arten aus: als Text, als bereinigtes HTML und mit dem Umgehen des Schutzes. Dabei sehen sie, dass Angular im ersten und zweiten Fall schützt und im dritten ein harmloses Meldungsfenster erscheint. Der Code dient nur zum Lernen.</a:t>
            </a:r>
          </a:p>
          <a:p/>
          <a:p>
            <a:r>
              <a:t>Danach sichern sie eine Weiterleitung nach dem Login ab, sodass nur interne Seiten erlaubt sind. Sie prüfen, dass der Interceptor keine Anmeldedaten protokolliert, und gehen die Review-Checkliste für die ganze Anwendung durch.</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Dieser Abschnitt zeigt, wie man Zustand in Angular mit Signals sauber organisiert. Es geht um die Frage, welcher Baustein für welche Aufgabe passt, wann ein „effect“ sinnvoll ist und welche typischen Fehler es gibt. Er endet mit Übung 32, in der die Teilnehmer solche Fehler selbst finden und beheben.</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Das Grundmodell der Reaktivität hat drei Stufen. Die „Quelle“ ist ein „signal“, ein Wert, der Zustand speichert und gesetzt werden kann. Die „Ableitung“ ist ein „computed“, ein berechneter Wert, der aus anderen Werten entsteht. Die „Wirkung“ führt etwas aus, zum Beispiel das Anzeigen im Template oder das Speichern im Browser.</a:t>
            </a:r>
          </a:p>
          <a:p/>
          <a:p>
            <a:r>
              <a:t>Angular merkt sich automatisch, welcher Teil welches Signal liest. Diese Beziehungen heißen „Abhängigkeitsgraph“. Ändert sich eine Quelle, aktualisiert Angular genau die betroffenen Stellen. Man muss nichts von Hand abonnieren.</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 Folie ordnet die wichtigsten Bausteine. Ein „signal“ hält Zustand und ist schreibbar, zum Beispiel für einen Filtertext oder eine Auswahl. Ein „computed“ leitet einen Wert ab und ist nur lesbar, zum Beispiel eine gefilterte Liste oder eine Summe.</a:t>
            </a:r>
          </a:p>
          <a:p/>
          <a:p>
            <a:r>
              <a:t>Ein „linkedSignal“ ist ebenfalls abgeleitet, kann aber überschrieben werden. Ein Beispiel ist eine Auswahl, die auf das erste Element zurückspringt, wenn sich die Liste ändert. Ein „effect“ führt eine Nebenwirkung aus, also etwas außerhalb der Signals, zum Beispiel Speichern im Browser oder Protokollieren.</a:t>
            </a:r>
          </a:p>
          <a:p/>
          <a:p>
            <a:r>
              <a:t>Eine „resource“ oder „httpResource“ lädt Daten asynchron, etwa vom Server. Mit „toSignal“ und „toObservable“ verbindet man Signals mit RxJS, der Bibliothek für Datenströme.</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die der Benutzer oder ein Ereignis direkt ändern kann, zum Beispiel der Text im Filterfeld. Abgeleiteter Zustand folgt zwingend aus anderem Zustand, zum Beispiel die gefilterte Liste. Ihn speichert man nicht, sondern man berechnet ihn.</a:t>
            </a:r>
          </a:p>
          <a:p/>
          <a:p>
            <a:r>
              <a:t>Dahinter steht die Regel „Single Source of Truth“, also eine einzige Quelle der Wahrheit. Derselbe Fakt darf nur an einer Stelle gespeichert sein. Sonst können zwei Kopien verschiedene Werte haben. Das nächste Beispiel zeigt den Unterschied im Code.</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Lösung. Die Liste der Kunden und die gefilterte Liste sind zwei getrennte Signals. Jemand muss die gefilterte Liste bei jeder Änderung von Hand nachführen. Vergisst man das, zeigen beide Listen verschiedene Daten.</a:t>
            </a:r>
          </a:p>
          <a:p/>
          <a:p>
            <a:r>
              <a:t>Unten steht die richtige Lösung. Die gefilterte Liste ist ein „computed“. Es liest den Filtertext und die Kundenliste und berechnet daraus das Ergebnis. Ändert sich eine der beiden Quellen, rechnet Angular das Ergebnis automatisch neu. Die gefilterte Liste kann deshalb nie von den Quelldaten abweichen.</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31“.</a:t>
            </a:r>
          </a:p>
          <a:p/>
          <a:p>
            <a:r>
              <a:t>Diese Folie zeigt, was im Startprojekt aus Übung 31 verbessert werden kann. Die Methode „filteredCustomers“ ist eine normale Methode. Sie wird bei jeder Änderungsprüfung neu ausgeführt, auch wenn sich nichts geändert hat. „customers“ ist eine einfache Funktion und kein „computed“.</a:t>
            </a:r>
          </a:p>
          <a:p/>
          <a:p>
            <a:r>
              <a:t>Das funktioniert, hat aber Nachteile: Das Ergebnis wird nicht zwischengespeichert, der Code ist schwerer nachzuvollziehen, und man sieht nicht, wovon der Wert abhängt. Der Umbau zu „computed“ ist deshalb Teil von Übung 32.</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fünf wichtige Eigenschaften. Es ist „lazy“, das heißt faul: Es rechnet erst, wenn jemand den Wert zum ersten Mal liest. Es ist „memoized“, das heißt: Es merkt sich das Ergebnis und gibt es wieder zurück, solange sich die verwendeten Werte nicht geändert haben.</a:t>
            </a:r>
          </a:p>
          <a:p/>
          <a:p>
            <a:r>
              <a:t>Die Abhängigkeiten sind dynamisch. Es zählen nur die Signals, die beim letzten Durchlauf wirklich gelesen wurden. Außerdem ist ein „computed“ rein. Es darf nichts außerhalb verändern und keine Signals beschreiben. Tut es das doch, wirft Angular einen Fehler.</a:t>
            </a:r>
          </a:p>
          <a:p/>
          <a:p>
            <a:r>
              <a:t>Schließlich prüft Angular, ob sich das Ergebnis geändert hat. Bei Objekten und Listen gilt es nur dann als geändert, wenn es ein neues Objekt oder eine neue Liste ist.</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abgeleitet, aber änderbar“.</a:t>
            </a:r>
          </a:p>
          <a:p/>
          <a:p>
            <a:r>
              <a:t>„linkedSignal“ ist ein Wert, der aus anderen Werten abgeleitet wird, den man aber trotzdem selbst setzen kann. Im Beispiel kommt die Kundenliste als Eingang. Die Auswahl ist ein „linkedSignal“ und startet mit dem ersten Kunden der Liste. Wenn der Benutzer einen anderen Kunden anklickt, setzt die Methode „onPick“ die Auswahl mit „set“.</a:t>
            </a:r>
          </a:p>
          <a:p/>
          <a:p>
            <a:r>
              <a:t>Ändert sich später die Liste, berechnet das „linkedSignal“ die Auswahl neu und springt wieder auf das erste Element. Früher hat man dafür oft einen „effect“ geschrieben, der ein Signal zurücksetzt. Das ist mit „linkedSignal“ nicht mehr nötig und weniger fehleranfällig.</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Handlung, die etwas außerhalb des Systems der Signals verändert. Ein „effect“ ist der Baustein dafür. Er läuft automatisch, wenn sich ein Signal ändert, das er liest.</a:t>
            </a:r>
          </a:p>
          <a:p/>
          <a:p>
            <a:r>
              <a:t>Es gibt vier gute Gründe für einen „effect“. Erstens das Sichern von Zustand im „localStorage“ oder „sessionStorage“ des Browsers. Das sind kleine Speicher im Browser. Zweitens Protokollierung und Auswertung der Nutzung. Drittens das Versorgen einer Fremdbibliothek, zum Beispiel für ein Diagramm oder eine Karte, mit Daten. Viertens ein direkter Zugriff auf das DOM, der mit einer Bindung nicht möglich ist.</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Beispiele“.</a:t>
            </a:r>
          </a:p>
          <a:p/>
          <a:p>
            <a:r>
              <a:t>Das erste Beispiel ist ein typischer Einsatz: Ein „effect“ speichert den Filtertext im „localStorage“. Jedes Mal, wenn sich der Filtertext ändert, wird der neue Wert gespeichert.</a:t>
            </a:r>
          </a:p>
          <a:p/>
          <a:p>
            <a:r>
              <a:t>Das zweite Beispiel zeigt das Aufräumen. Der „effect“ startet einen Zeitgeber, der regelmäßig „refresh“ aufruft. Mit „onCleanup“ gibt man eine Funktion an, die den alten Zeitgeber stoppt, bevor der „effect“ erneut läuft oder zerstört wird. Ohne dieses Aufräumen würden sich Zeitgeber ansammeln.</a:t>
            </a:r>
          </a:p>
          <a:p/>
          <a:p>
            <a:r>
              <a:t>Mit „untracked“ kann man ein Signal lesen, ohne dass der „effect“ davon abhängig wird. Ein „effect“ muss in einem sogenannten „Injection Context“ erzeugt werden, zum Beispiel im Konstruktor oder bei der Initialisierung eines Feldes.</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benutzt, obwohl es einen besseren Baustein gibt. Die Folie zeigt fünf Fälle. Soll ein Wert aus anderen Signals berechnet werden, nimmt man „computed“. Soll ein Signal zurückgesetzt werden, wenn sich eine Quelle ändert, nimmt man „linkedSignal“. Soll etwas auf einen Klick oder eine Eingabe passieren, nimmt man einen normalen Event-Handler. Sollen Daten geladen werden, wenn sich eine Kennung ändert, nimmt man „resource“ oder „rxResource“. Soll beim Start einmal etwas passieren, nimmt man den Konstruktor oder „afterNextRender“.</a:t>
            </a:r>
          </a:p>
          <a:p/>
          <a:p>
            <a:r>
              <a:t>Die Faustregel lautet: Wenn ein „effect“ ein Signal beschreibt, gibt es fast immer eine bessere Lösung. Seit Angular 19 ist das technisch erlaubt, aber es ist ein Warnsignal.</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jedes Mal, wenn sich ein Signal ändert, das er gelesen hat. Er läuft nicht sofort nach einem „set“, sondern asynchron, denn Angular plant ihn bei der Änderungsprüfung ein. Ändert man mehrere Signals kurz nacheinander, läuft er nur einmal. Das nennt man „Batching“, also Bündeln.</a:t>
            </a:r>
          </a:p>
          <a:p/>
          <a:p>
            <a:r>
              <a:t>Zum Aufräumen verwendet man „onCleanup“. Ein „effect“ muss in einem „Injection Context“ erzeugt werden, zum Beispiel im Konstruktor einer Komponente. Alternativ übergibt man einen „injector“. Mit „untracked“ liest man einen Wert, ohne eine Abhängigkeit zu erzeugen.</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neuer Referenz“.</a:t>
            </a:r>
          </a:p>
          <a:p/>
          <a:p>
            <a:r>
              <a:t>Die erste Stolperfalle ist die Veränderung eines Wertes an Ort und Stelle. Im Beispiel wird mit „push“ ein Kunde an die bestehende Liste angehängt. Das Signal merkt davon nichts, denn es ist immer noch dasselbe Array. Signals vergleichen mit dem Gleichheitszeichen „===“. Dasselbe Array bedeutet für sie: keine Änderung. Die Oberfläche wird also nicht aktualisiert.</a:t>
            </a:r>
          </a:p>
          <a:p/>
          <a:p>
            <a:r>
              <a:t>Richtig ist, mit „update“ eine neue Liste zu erzeugen, zum Beispiel mit dem Spread-Operator, den drei Punkten. Auch beim Ändern eines einzelnen Eintrags erzeugt man ein neues Objekt. Das gilt auch für Objekte in Signals und für Werte von „input()“.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Zyklen. Im Beispiel schreibt der erste „effect“ in das Signal „b“. Der zweite „effect“ liest „b“ und schreibt wieder in „a“. So stoßen sich die beiden gegenseitig immer wieder an. Das ist eine Endlosschleife und sehr schwer zu untersuchen.</a:t>
            </a:r>
          </a:p>
          <a:p/>
          <a:p>
            <a:r>
              <a:t>Besser ist es, nur eine Quelle zu haben und alles andere mit „computed“ daraus abzuleiten. Im Beispiel ist „b“ dann einfach „a“ mal zwei. Außerdem ist das Schreiben auf Signals innerhalb eines „computed“ verboten. Angular meldet dann den Fehler mit dem Code „NG0600“.</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Eine Methode wie „expensiveSum“ wird bei jeder Änderungsprüfung neu aufgerufen, auch wenn sich nichts geändert hat. Wenn sie aufwendig rechnet, verschwendet das Zeit.</a:t>
            </a:r>
          </a:p>
          <a:p/>
          <a:p>
            <a:r>
              <a:t>Ein „computed“ wie „total“ ist dagegen zwischengespeichert. Es rechnet nur dann neu, wenn sich eine seiner Abhängigkeiten ändert. 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4: Brücke zu RxJS“.</a:t>
            </a:r>
          </a:p>
          <a:p/>
          <a:p>
            <a:r>
              <a:t>Die vierte Stolperfalle betrifft die Verbindung zu RxJS. Die Funktion „toSignal“ wandelt einen Datenstrom, ein „Observable“, in ein Signal um. Gibt man keinen Startwert „initialValue“ an, kann das Signal auch „undefined“ sein. Das muss man im Template berücksichtigen.</a:t>
            </a:r>
          </a:p>
          <a:p/>
          <a:p>
            <a:r>
              <a:t>„toSignal“ meldet sich selbst an und wieder ab. Dafür muss es in einem „Injection Context“ aufgerufen werden. Tritt im Datenstrom ein Fehler auf, wird dieser Fehler beim Lesen des Signals erneut ausgelöst. Deshalb fängt man ihn vorher mit „catchError“ ab.</a:t>
            </a:r>
          </a:p>
          <a:p/>
          <a:p>
            <a:r>
              <a:t>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Das Beispiel zeigt, wie man Signals und RxJS zusammen einsetzt. Der Filtertext ist ein Signal. Mit „toObservable“ wird er in einen Datenstrom umgewandelt. „debounceTime“ mit 300 Millisekunden sorgt dafür, dass ein Wert erst weitergereicht wird, wenn 300 Millisekunden lang keine neue Eingabe kam. „distinctUntilChanged“ ignoriert gleiche Werte, die hintereinander kommen.</a:t>
            </a:r>
          </a:p>
          <a:p/>
          <a:p>
            <a:r>
              <a:t>Mit „toSignal“ wird der verzögerte Datenstrom wieder zu einem Signal. Der Startwert ist hier ein leerer Text. So nutzt man RxJS für die Zeit und Signals für den Zustand.</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5: zu grobe Signals“.</a:t>
            </a:r>
          </a:p>
          <a:p/>
          <a:p>
            <a:r>
              <a:t>Die fünfte Stolperfalle ist ein zu grobes Signal. Im Beispiel liegt der gesamte Zustand in einem einzigen Signal, mit Kunden, Filter, Auswahl und Ladezustand. Ändert sich nur ein einziges Feld, gilt der ganze Wert als geändert. Dann müssen alle Stellen neu rechnen, die dieses Signal lesen, auch wenn sie sich nur für ein anderes Feld interessieren.</a:t>
            </a:r>
          </a:p>
          <a:p/>
          <a:p>
            <a:r>
              <a:t>Besser sind mehrere kleine Signals. Aus ihnen bildet man mit „computed“ die Ausschnitte, die eine Komponente braucht. Die Auswirkungen auf die Geschwindigkeit der Darstellung werden im Kapitel zur Performance behandelt.</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Ein Datenfluss ist gut nachvollziehbar, wenn er immer in eine feste Richtung läuft. Daten fließen von der Eltern-Komponente zur Kind-Komponente über „input()“. Ereignisse fließen von der Kind-Komponente zur Eltern-Komponente über „output()“. Gemeinsamer Zustand liegt in einem Service oder Store als Signal, und alle, die das Signal lesen, aktualisieren sich.</a:t>
            </a:r>
          </a:p>
          <a:p/>
          <a:p>
            <a:r>
              <a:t>Die Regeln sind: eine Richtung, ein Besitzer für jeden Zustand, und Änderungen nur über Methoden mit klaren Namen. Solche Methoden nennt man „Aktionen“. Zum Untersuchen helfen die „Angular DevTools“. Sie zeigen den Signal-Graph und die aktuellen Werte. Im Notfall kann man vorübergehend einen „effect“ mit einer Ausgabe in die Konsole einbauen.</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Zum Abschluss die Frage: Welchen Baustein nehme ich wann? Man geht fünf Fragen der Reihe nach durch. Kommt der Wert vom Benutzer oder von einem Ereignis? Dann ist es ein „signal“. Folgt er aus anderen Werten? Dann ist es ein „computed“, oder ein „linkedSignal“, wenn er überschreibbar sein soll.</a:t>
            </a:r>
          </a:p>
          <a:p/>
          <a:p>
            <a:r>
              <a:t>Kommt der Wert asynchron vom Server? Dann nimmt man „resource“ oder „httpResource“. Muss etwas außerhalb von Angular passieren? Nur dann nimmt man einen „effect“. Geht es um Zeit oder Ereignisströme, etwa Verzögern, Abbrechen oder Wiederholen? Dann nimmt man RxJS und wandelt das Ergebnis am Rand mit „toSignal“ in ein Signal.</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Dies ist die Aufgabenstellung für Übung 32 im Ordner 32_reaktivitaet. Sie baut auf dem Ergebnis von Übung 31 auf.</a:t>
            </a:r>
          </a:p>
          <a:p/>
          <a:p>
            <a:r>
              <a:t>In Teil A bauen die Teilnehmer die Methode zum Filtern und die Funktion für die Kunden in „computed“ um. Eine Ausgabe in der Konsole zeigt, dass die Berechnung nur bei geänderten Abhängigkeiten läuft. In Teil B sichern sie den Filtertext mit einem „effect“ im „localStorage“ und stellen ihn beim Start wieder her. In Teil C fügen sie einen Patch mit drei absichtlichen Fehlern ein, der auf der nächsten Folie steht. Sie benennen den Fehler je Zeile, beheben ihn und überlegen,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Dieser Code ist der Patch für Teil C von Übung 32. Er enthält absichtlich drei Fehler. Im Abschnitt 1 schreibt ein „effect“ einen Wert, der sich einfach ableiten ließe. Das ist ein Fall für „computed“. Im Abschnitt 2 fügt die Methode mit „push“ einen Kunden direkt in die bestehende Liste ein. Das Signal bemerkt das nicht, es fehlt eine neue Referenz. Im Abschnitt 3 schreibt wieder ein „effect“ einen abgeleiteten Wert, auch hier ist „computed“ richtig.</a:t>
            </a:r>
          </a:p>
          <a:p/>
          <a:p>
            <a:r>
              <a:t>Abschnitt 2 lässt sich nicht einfach reparieren, weil die Kunden aus einer Resource kommen. Der Zustand müsste lokal gehalten werden, das folgt im nächsten Abschnitt. Hier genügt die Erklärung, warum „push“ nichts auslöst.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die Arbeit mit künstlicher Intelligenz beim Entwickeln. „KI“ steht für künstliche Intelligenz. Es geht um Arbeitsweisen und nicht um bestimmte Produkte, denn Werkzeuge ändern sich schnell. Am Ende stehen die Übung 37 und das Abschlussprojekt, Übung 38.</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KI-Werkzeuge eignen sich unterschiedlich gut für verschiedene Aufgaben. Sehr gut klappt es bei Standardcode und Umbenennungen. Gut klappt es beim Erklären von fremdem Code. Tests und Umbauten kann die KI vorschlagen, aber ein Mensch muss sie prüfen.</a:t>
            </a:r>
          </a:p>
          <a:p/>
          <a:p>
            <a:r>
              <a:t>Bei Architektur, Fachlogik und Sicherheit sollte man sie nur als Gesprächspartner nutzen und nicht als Entscheider. Große Änderungen ungeprüft zu übernehmen, ist riskant. Die KI ist ein schneller Assistent, aber sie trägt keine Verantwortung. Die trägt immer der Entwickler.</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der Unterstützung. Im Chat stellt man Fragen und bekommt Antworten. In der Entwicklungsumgebung erscheinen Vorschläge, die einzelne Zeilen oder Blöcke ergänzen. „Agentische Werkzeuge“ arbeiten selbstständiger. Sie lesen das Projekt, ändern mehrere Dateien und führen Befehle oder Tests aus.</a:t>
            </a:r>
          </a:p>
          <a:p/>
          <a:p>
            <a:r>
              <a:t>Je mehr ein Werkzeug selbstständig tut, desto genauer muss man seine Ergebnisse prüfen. Auch der mögliche Schaden bei Fehlern wird größer.</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„Zusammenarbeit: Kontext ist alles“.</a:t>
            </a:r>
          </a:p>
          <a:p/>
          <a:p>
            <a:r>
              <a:t>Gute Ergebnisse brauchen guten Kontext. Der Auftrag sollte klein und klar sein. „Erstelle eine Darstellungskomponente mit Eingang und Ausgang“ ist besser als „Baue die App um“.</a:t>
            </a:r>
          </a:p>
          <a:p/>
          <a:p>
            <a:r>
              <a:t>Zusätzlich kann man dem Werkzeug Projektregeln geben, in einer Datei im Repository. Das „Repository“ ist der Ordner mit dem Projekt und seiner Versionsverwaltung. Auch ein Verweis auf ein vorhandenes Beispiel im Projekt hilft. Außerdem sollte man die aktuellen Angular-Regeln nennen. Dazu bietet die Angular-Dokumentation auf angular.dev Hinweise, die man selbst nachlesen sollte.</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Das ist ein Auszug aus einer Datei mit Projektregeln. Sie sagt dem KI-Werkzeug, in welchem Stil gearbeitet wird. Zum Beispiel: Nur eigenständige Komponenten ohne NgModule, keine alten Schreibweisen wie „*ngIf“, sondern den neuen Kontrollfluss mit „@if“.</a:t>
            </a:r>
          </a:p>
          <a:p/>
          <a:p>
            <a:r>
              <a:t>Außerdem stehen dort Verbote, zum Beispiel kein „any“ und kein „bypassSecurityTrust“ ohne Rückfrage. Neue Logik soll immer mit Tests entstehen. Solche Regeln muss die KI nicht erraten, und sie machen die Ergebnisse besser vorhersagbar.</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Jeden Vorschlag der KI prüft man mit sieben Fragen. Erstens: Läuft er, also bauen und testen alle Prüfungen durch? Zweitens: Passt er zur Struktur des Projekts? Drittens: Ist er modern, oder nutzt er alte oder sogar erfundene Funktionen?</a:t>
            </a:r>
          </a:p>
          <a:p/>
          <a:p>
            <a:r>
              <a:t>Viertens: Ist er sicher, wie im Kapitel über Sicherheit erklärt? Fünftens: Ist er mit Signals richtig umgesetzt? Sechstens: Sind die Tests sinnvoll, wie im Kapitel über Tests erklärt? Die wichtigste Frage ist die letzte: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Diese Fehler treten bei KI-Vorschlägen für Angular häufig auf. Oft benutzt die KI veraltete Schreibweisen, weil sie davon viele Beispiele gesehen hat. Manchmal erfindet sie Funktionen, die es gar nicht gibt.</a:t>
            </a:r>
          </a:p>
          <a:p/>
          <a:p>
            <a:r>
              <a:t>Auch sollte man auf „effect“ achten. Er wird oft benutzt, wo ein „computed“ besser wäre. „any“ ist ein Typ, der keine Prüfung mehr erlaubt, und versteckt Fehler. Dazu kommen unnötig komplizierte Lösungen, Sicherheitslücken, wertlose Tests und ein Stil, der nicht zum Projekt passt.</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Zusammenarbeit mit der KI läuft in Runden. Zuerst nennt man Ziel und Kontext und lässt einen Plan erstellen. Diesen Plan prüft man, bevor Code entsteht. Dann setzt man einen kleinen Schritt um, prüft ihn mit Review und Tests, korrigiert und beginnt die nächste Runde.</a:t>
            </a:r>
          </a:p>
          <a:p/>
          <a:p>
            <a:r>
              <a:t>Jeder Schritt bekommt einen eigenen „Commit“. Das ist ein gespeicherter Stand in der Versionsverwaltung. Fehlermeldungen und Befunde gibt man der KI konkret zurück. Bei langen Sitzungen kann die KI frühere Vorgaben vernachlässigen. Dann wiederholt man die Regeln oder beginnt neu mit einer Zusammenfassung.</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die man der KI gibt. Das Muster hat fünf Teile. Der Kontext nennt die Anwendung und die betroffene Datei. Die Aufgabe beschreibt genau eine Änderung. Die Vorgaben legen fest, wie sie umgesetzt werden soll. Die Abnahmekriterien sagen, woran man ein fertiges Ergebnis erkennt. Das Format bestimmt, wie das Ergebnis dargestellt wird, hier zuerst ein Plan und dann ein „Diff“. Ein Diff zeigt nur die Unterschiede zum alten Stand.</a:t>
            </a:r>
          </a:p>
          <a:p/>
          <a:p>
            <a:r>
              <a:t>Es ist ein Beispiel für eine Arbeitsweise, keine feste Vorschrift.</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Hier stehen drei verbreitete Irrtümer. Die KI kennt das Projekt nicht, sondern nur das, was man ihr im Kontext zeigt.</a:t>
            </a:r>
          </a:p>
          <a:p/>
          <a:p>
            <a:r>
              <a:t>Sie formuliert immer überzeugend, auch wenn die Antwort falsch ist. Wenn eine KI Dinge erfindet, nennt man das „Halluzination“. Und dass Code ohne Fehlermeldung übersetzt wird, heißt nicht, dass er das Richtige tut. Er kann trotzdem falsch, unsicher oder langsam sein.</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Auch diese drei Irrtümer kommen oft vor. Tests, die die KI schreibt, sind nur dann ein Nachweis, wenn sie das Verhalten wirklich prüfen. Das haben wir im Kapitel über Tests gesehen.</a:t>
            </a:r>
          </a:p>
          <a:p/>
          <a:p>
            <a:r>
              <a:t>Der Wissensstand der KI endet irgendwann. Neue Angular-Versionen kennt sie deshalb nicht immer, und man liest in der Dokumentation nach. Der letzte Punkt ist besonders wichtig: Wer selbst nichts weiß, kann die Vorschläge der KI nicht beurteilen.</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Beim Einsatz von KI sind einige Regeln wichtig. In Anweisungen und Kontextdateien stehen keine Zugangsdaten, Geheimnisse oder Kundendaten, denn diese Eingaben werden an ein fremdes System gesendet. Die Richtlinien der Firma sagen, welche Werkzeuge erlaubt sind.</a:t>
            </a:r>
          </a:p>
          <a:p/>
          <a:p>
            <a:r>
              <a:t>Bei Lizenzen kann unklar sein, woher ein erzeugter Code stammt. Bei längeren Übernahmen sollte man das prüfen. Verantwortlich bleibt die Person, die den Code in das Projekt übernimmt. Vorgeschlagene Pakete müssen existieren und gepflegt sein, weil Namen manchmal erfunden werden.</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Diese Folie fasst zusammen, was auch mit KI die Aufgabe der Entwickler bleibt. Sie müssen die Anforderungen verstehen und klar formulieren. Sie entscheiden über Architektur, also über den Aufbau der Anwendung.</a:t>
            </a:r>
          </a:p>
          <a:p/>
          <a:p>
            <a:r>
              <a:t>Sie müssen Code lesen und beurteilen können. Sie testen, messen und sichern die Anwendung ab, wie in den letzten Kapiteln gezeigt. Und sie tragen die Verantwortung im Team und gegenüber den Nutzern.</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Dies ist die Aufgabenstellung für Übung 37 im Ordner 37_ki_review.</a:t>
            </a:r>
          </a:p>
          <a:p/>
          <a:p>
            <a:r>
              <a:t>Die Teilnehmer lassen entweder ein erlaubtes KI-Werkzeug eine Exportfunktion für Kunden schreiben, oder sie benutzen ein vorbereitetes Beispielergebnis. Das Beispiel enthält absichtlich Fehler, zum Beispiel veraltete Schreibweisen, einen unpassenden Einsatz von „effect“, unsicheres HTML und einen Test ohne echte Prüfung.</a:t>
            </a:r>
          </a:p>
          <a:p/>
          <a:p>
            <a:r>
              <a:t>Sie prüfen das Ergebnis mit der Checkliste und geben ihre Befunde in einer zweiten Runde an die KI zurück. Danach vergleichen alle, welche Fehler die KI selbst nicht erkannt hat.</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Kunden-Dashboard“.</a:t>
            </a:r>
          </a:p>
          <a:p/>
          <a:p>
            <a:r>
              <a:t>Erklärung für die Dolmetscherin:</a:t>
            </a:r>
          </a:p>
          <a:p>
            <a:r>
              <a:t>Dies ist die Aufgabenstellung für Übung 38 im Ordner 38_abschluss. Das ist das Abschlussprojekt des Kurses.</a:t>
            </a:r>
          </a:p>
          <a:p/>
          <a:p>
            <a:r>
              <a:t>In Kleingruppen bauen die Teilnehmer eine neue Seite mit Kennzahlen zu den Kunden: die Anzahl aller Kunden, die aktiven Kunden der letzten sieben Tage und die Kunden pro Stadt. Sie schreiben zuerst einen Plan, setzen ihn in kleinen Schritten um und nutzen dabei, wenn sie möchten, KI-Unterstützung. Dabei wenden sie an, was im Kurs vorkam: berechnete Werte, den gemeinsamen Store, eine Lazy Route, Tests und sichere Muster.</a:t>
            </a:r>
          </a:p>
          <a:p/>
          <a:p>
            <a:r>
              <a:t>Am Ende prüfen sie ihre Arbeit selbst mit den Checklisten und stellen sie in fünf Minuten vor. Bewertet werden Aufbau, Reaktivität, Tests, Sicherheit und die Nachvollziehbarkeit des Vorgehens.</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Es werden einfache Services mit Signals, der „Signal Store“ von NgRx und die Kriterien für den Wechsel zwischen beiden gezeigt. Der Abschnitt endet mit Übung 33. Danach folgt eine Vertiefung zu NgRx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Phase 1: eine Komponente mit wenigen Feldern, dafür genügt ein „signal“. Phase 2: mehrere Komponenten teilen sich Daten, dann braucht man einen Service. Phase 3: Daten, Filter, Auswahl und Ladezustand hängen zusammen, dann lohnt sich ein „Store“. Ein Store ist ein Speicher, der Zustand und zugehörige Logik an einer Stelle bündelt.</a:t>
            </a:r>
          </a:p>
          <a:p/>
          <a:p>
            <a:r>
              <a:t>Phase 4: viele Teams arbeiten zusammen und jede Änderung muss nachvollziehbar sein. Dafür gibt es das „Redux-Muster“ mit der Bibliothek „NgRx“. Nicht jede Anwendung braucht Phase 4. Wer zu früh strukturiert, schreibt unnötig viel Code. Wer zu spät strukturiert, muss aufwendig umbauen.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„Anwendung strukturieren: Ordner und Zuständigkeiten“.</a:t>
            </a:r>
          </a:p>
          <a:p/>
          <a:p>
            <a:r>
              <a:t>Die Folie zeigt eine mögliche Ordnerstruktur. Im Ordner „app“ liegt für jeden Fachbereich ein eigener Ordner, hier „customer“ und „auth“. Ein solcher Fachbereich heißt „Feature“.</a:t>
            </a:r>
          </a:p>
          <a:p/>
          <a:p>
            <a:r>
              <a:t>Im Feature „customer“ liegen die Container-Komponenten, zum Beispiel die Liste und die Details. Die Darstellungskomponenten liegen im Unterordner „ui“. Dazu kommen der Store mit Zustand und Fachlogik, der API-Zugriff und das Datenmodell. Der Ordner „shared“ enthält nur wirklich Allgemeines, zum Beispiel die Card-Komponente oder Pipes.</a:t>
            </a:r>
          </a:p>
          <a:p/>
          <a:p>
            <a:r>
              <a:t>Ein Feature soll andere Features nur über klare Schnittstellen kennen, also über einen Service oder eine Route. Die Abhängigkeit zeigt immer in eine Richtung: Features dürfen „shared“ nutzen, aber „shared“ kennt keine Features.</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Zustand, Logik, Darstellung“.</a:t>
            </a:r>
          </a:p>
          <a:p/>
          <a:p>
            <a:r>
              <a:t>Eine Anwendung hat drei Schichten. Die Schicht „Zustand“ hält die Daten und leitet daraus andere Werte ab. Sie besteht aus Signals im Store. Die Schicht „Logik“ enthält die Regeln, die Befehle und das Laden von Daten. Sie besteht aus Methoden im Store oder in einem Service. Die Schicht „Darstellung“ zeigt Daten an und gibt Eingaben weiter. Sie besteht aus Komponenten und Templates.</a:t>
            </a:r>
          </a:p>
          <a:p/>
          <a:p>
            <a:r>
              <a:t>Komponenten lesen die Signals und rufen Methoden auf. Sie entscheiden aber nicht selbst, wie der Zustand aufgebaut ist oder wie er sich ändert. Das übernimmt der Store.</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 mit Signals als einfacher Store“.</a:t>
            </a:r>
          </a:p>
          <a:p/>
          <a:p>
            <a:r>
              <a:t>Das Beispiel zeigt einen einfachen Store als Service mit Signals. Die Daten und der Filtertext liegen in privaten Signals mit einem Unterstrich im Namen. Nach außen gibt der Store nur lesbare Versionen heraus, die man mit „asReadonly“ erzeugt. Von außen kann man die Werte also nicht direkt ändern.</a:t>
            </a:r>
          </a:p>
          <a:p/>
          <a:p>
            <a:r>
              <a:t>Die gefilterte Liste ist ein „computed“. Sie rechnet sich automatisch neu, wenn sich die Kunden oder der Filter ändern. Geändert wird der Zustand nur über Methoden: „setFilter“ setzt den Filtertext, „load“ lädt die Kunden vom Server. Diese Methoden heißen auch „Aktionen“.</a:t>
            </a:r>
          </a:p>
          <a:p/>
          <a:p>
            <a:r>
              <a:t>Das ist übersichtlicher als eine Lösung mit RxJS-Subjects im Service. Der Zustand ist sofort lesbar, und es gibt keine Anmeldungen, die man verwalten muss.</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modellieren“.</a:t>
            </a:r>
          </a:p>
          <a:p/>
          <a:p>
            <a:r>
              <a:t>Beim Laden von Daten gibt es mehrere mögliche Zustände. Der Typ „LoadState“ beschreibt genau vier: „idle“, also noch nichts passiert, „loading“, es wird geladen, „error“ mit einer Fehlermeldung und „loaded“ mit den geladenen Daten.</a:t>
            </a:r>
          </a:p>
          <a:p/>
          <a:p>
            <a:r>
              <a:t>Der Vorteil: Unmögliche Kombinationen, zum Beispiel „lädt“ und „Fehler“ gleichzeitig, kann man gar nicht ausdrücken. Alternativ liefert eine „resource“ aus Übung 26 die Werte „value“, „isLoading“ und „error“ bereits fertig.</a:t>
            </a:r>
          </a:p>
          <a:p/>
          <a:p>
            <a:r>
              <a:t>Eine weitere Regel: Daten vom Server und Zustand der Oberfläche, zum Beispiel ein geöffneter Dialog oder ein gewählter Reiter, werden getrennt behandelt. Sie haben unterschiedliche Eigenschaften.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„Wachsende Zustandskomplexität beherrschen“.</a:t>
            </a:r>
          </a:p>
          <a:p/>
          <a:p>
            <a:r>
              <a:t>Wenn der Zustand wächst, helfen fünf Regeln. Erstens: Normalisieren. Man speichert jede Sache, hier Kunden, nur einmal in einer Tabelle, in der man sie über die Kennung findet. Listen enthalten dann nur die Kennungen. Zweitens: Ableiten statt kopieren. Der ausgewählte Kunde ist ein „computed“, das aus der Kennung der Auswahl und der Kundenliste berechnet wird.</a:t>
            </a:r>
          </a:p>
          <a:p/>
          <a:p>
            <a:r>
              <a:t>Drittens: Änderungen sind Befehle mit klaren Namen, zum Beispiel „addCustomer“ oder „renameCustomer“, und nicht ein „set“ an vielen Stellen. Viertens: Zustand wird unveränderlich aktualisiert, es entstehen also neue Objekte. Fünftens: Man hält den Zustand klein und speichert nur, was man nicht berechnen kann.</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a:t>
            </a:r>
          </a:p>
          <a:p/>
          <a:p>
            <a:r>
              <a:t>Erstens die Zahl der Konsumenten: Wenn eine bis drei Komponenten den Zustand nutzen, genügt ein Service. Nutzen viele Komponenten in mehreren Features den Zustand, lohnt sich ein Store. Zweitens die Zustandsarten: Bei ein bis zwei Arten reicht ein Service. Gibt es mehrere zusammenhängende, etwa Daten, Filter und Status, ist ein Store besser. Drittens die Seiteneffekte: Bei wenigen reicht ein Service, bei vielen voneinander abhängigen ein Store. Viertens die Nachvollziehbarkeit: Wenn sie egal ist, genügt ein Service. Müssen Änderungen protokolliert oder untersucht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Ist er gering, genügt ein Service. Sollen gezielt die Regeln des Zustands getestet werden, hilft ein Store.</a:t>
            </a:r>
          </a:p>
          <a:p/>
          <a:p>
            <a:r>
              <a:t>Das Ergebnis für den Kurs lautet: Starte einfach mit einem Service und Signals. Wechsle zu einem strukturierten Store erst, wenn eines der Kriterien zum Problem wird.</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„NgRx Signal Store: Muster als Bibliothek“.</a:t>
            </a:r>
          </a:p>
          <a:p/>
          <a:p>
            <a:r>
              <a:t>Der „Signal Store“ aus dem Paket „@ngrx/signals“ bietet dasselbe Muster wie der selbst geschriebene Store, aber als fertige, standardisierte Bibliothek. Der Aufbau ist fast gleich wie auf der Folie zuvor.</a:t>
            </a:r>
          </a:p>
          <a:p/>
          <a:p>
            <a:r>
              <a:t>„withState“ legt den Zustand fest, hier Kunden und Filter. „withComputed“ definiert abgeleitete Werte, hier die gefilterte Liste. „withMethods“ definiert die Aktionen. „patchState“ ändert den Zustand, indem es einzelne Teile ersetzt.</a:t>
            </a:r>
          </a:p>
          <a:p/>
          <a:p>
            <a:r>
              <a:t>Der Vorteil ist, dass alle Stores gleich aufgebaut sind und man sie mit weiteren Bausteinen erweitern kann, zum Beispiel für Listen von Entitäten oder für RxJS. Die Komponente holt sich den Store mit „inject“ und liest Werte wie „store.filtered()“. Sie ruft Methoden wie „store.setFilter“ auf.</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im Vergleich“.</a:t>
            </a:r>
          </a:p>
          <a:p/>
          <a:p>
            <a:r>
              <a:t>Neben dem „Signal Store“ gibt es das klassische „NgRx“ mit mehr Bausteinen. Die Folie ordnet jeden Baustein dem Gegenstück im Signal Store zu. Der „State“ ist der Zustand und entspricht „withState“. Ein „Selector“ leitet Werte ab, das entspricht „withComputed“. Eine „Action“ beschreibt eine Absicht, im Signal Store ist das eine Methode.</a:t>
            </a:r>
          </a:p>
          <a:p/>
          <a:p>
            <a:r>
              <a:t>Ein „Reducer“ führt den Zustandsübergang aus, das entspricht „patchState“. Ein „Effect“ behandelt asynchrone Nebenwirkungen und entspricht einer Methode oder „rxMethod“. Das klassische NgRx hat mehr Aufwand, bietet dafür ein Protokoll aller Aktionen und strikte Trennung. Das lohnt sich bei sehr großen Anwendungen.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Erstens: alles in den Store legen. Kleine Details der Oberfläche, wie ein geöffneter Reiter, gehören in die Komponente. Zweitens: ein „God Store“, also ein einziger Store für die ganze Anwendung. Besser ist ein Store pro Feature. Drittens: die „doppelte Wahrheit“, bei der Daten im Store und als Kopie in der Komponente liegen.</a:t>
            </a:r>
          </a:p>
          <a:p/>
          <a:p>
            <a:r>
              <a:t>Viertens: Daten vom Server mit Zustand der Oberfläche verwechseln. Serverdaten werden älter und können Fehler haben. Fünftens: erst ein Werkzeug auswählen und dann ein Problem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Zustands“.</a:t>
            </a:r>
          </a:p>
          <a:p/>
          <a:p>
            <a:r>
              <a:t>Ein Vorteil eines Stores ist die gute Testbarkeit. Der Store ist eine Klasse oder Funktion mit einer klaren Schnittstelle. Man kann ihn testen, ohne eine Oberfläche aufzubauen.</a:t>
            </a:r>
          </a:p>
          <a:p/>
          <a:p>
            <a:r>
              <a:t>Der Test ruft eine Methode auf, zum Beispiel „setFilter“, und prüft danach den Wert des Signals. Man braucht dafür kein „fixture“, das ist die Testhülle für eine Komponente, und kein DOM. Das macht die Tests kurz und schnell.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a:t>
            </a:r>
          </a:p>
          <a:p/>
          <a:p>
            <a:r>
              <a:t>Erklärung für die Dolmetscherin:</a:t>
            </a:r>
          </a:p>
          <a:p>
            <a:r>
              <a:t>Dies ist die Aufgabenstellung für Übung 33 im Ordner 33_state_store. Sie baut auf dem Ergebnis von Übung 32 auf.</a:t>
            </a:r>
          </a:p>
          <a:p/>
          <a:p>
            <a:r>
              <a:t>Die Teilnehmer verlagern die Zustandslogik in einen Store. Sie legen die Datei „customer.store.ts“ als Service mit Signals an. Der Zustand besteht aus Kunden, Filter und der Kennung des ausgewählten Kunden. Abgeleitet werden die gefilterte Liste und der ausgewählte Kunde, beide als „computed“. Dazu kommen die Methoden Laden, Filter setzen und Auswählen. Nach außen gibt der Store mit „asReadonly“ nur lesbare Signals heraus.</a:t>
            </a:r>
          </a:p>
          <a:p/>
          <a:p>
            <a:r>
              <a:t>Die Kundenliste benutzt danach nur noch den Store. Auch der „effect“ aus Übung 32 zieht um. Leistungsstarke Gruppen bauen zusätzlich eine Variante mit „signalStore“. Zum Schluss begründen alle in drei Sätzen, ob der Store hier schon nötig war.</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 Es gibt keine richtige Antwort. Ziel ist, Entscheidungskriterien klar auszusprechen, zum Beispiel Fähigkeiten im Team, Lebensdauer und Teamgröße.</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Tests. Es geht darum, warum man Tests schreibt, wie die Struktur einer Anwendung bestimmt, wie leicht sie sich testen lässt, und wie man automatisch erzeugte Tests kritisch prüft. Als Test-Werkzeug wird in diesem Kurs „Vitest“ verwendet.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ist ein Bild für das Verhältnis der Testarten. Unten stehen viele kleine, schnelle Tests für einzelne Bausteine wie Services oder reine Funktionen. Ein „Unit-Test“ prüft genau einen kleinen Baustein.</a:t>
            </a:r>
          </a:p>
          <a:p/>
          <a:p>
            <a:r>
              <a:t>In der Mitte stehen Komponententests. Dabei wird eine Komponente mit ihrem Template geprüft. „TestBed“ ist das Angular-Werkzeug, das eine kleine Testumgebung aufbaut. Oben stehen wenige „End-to-End-Tests“. Sie bedienen die fertige Anwendung wie ein Nutzer im Browser. Sie sind langsam und sollten nur kritische Abläufe prüfen.</a:t>
            </a:r>
          </a:p>
          <a:p/>
          <a:p>
            <a:r>
              <a:t>Die Folge für die Praxis: Wer Logik aus den Komponenten in Services und Stores verlagert, kann mehr schnelle Tests schreiben.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Code testen lässt, hängt von seiner Struktur ab. Eine „reine Funktion“ liefert zu gleichen Eingaben immer die gleiche Ausgabe. Sie ist am einfachsten zu testen. Ein Store mit Signals ist ebenfalls einfach: Man ruft eine Methode auf und liest danach das Signal.</a:t>
            </a:r>
          </a:p>
          <a:p/>
          <a:p>
            <a:r>
              <a:t>Eine Darstellungskomponente bekommt Daten über „input“ und meldet Ereignisse über „output“. Auch sie lässt sich leicht prüfen. Schwer wird es bei Komponenten, die viele Services brauchen oder direkt auf den Browser zugreifen.</a:t>
            </a:r>
          </a:p>
          <a:p/>
          <a:p>
            <a:r>
              <a:t>Das Beispiel am Ende zeigt den Unterschied. Filtert eine Komponente selbst und lädt selbst Daten, braucht der Test viel Aufbau. Liegt dieselbe Logik im Store, genügen wenige Zeilen.</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„Vitest-Grundlagen“.</a:t>
            </a:r>
          </a:p>
          <a:p/>
          <a:p>
            <a:r>
              <a:t>Das Beispiel zeigt einen Test mit „Vitest“. „describe“ fasst zusammen, was getestet wird, hier den „CustomerStore“. „beforeEach“ läuft vor jedem Test und holt einen frischen Store. „it“ beschreibt einen einzelnen Test, und sein Name nennt das erwartete Verhalten.</a:t>
            </a:r>
          </a:p>
          <a:p/>
          <a:p>
            <a:r>
              <a:t>Im Test werden zwei Kunden gesetzt und der Filter „LI“ eingestellt. Mit „expect“ wird geprüft, dass nur der Kunde „Lisa“ übrig bleibt. Die Groß- und Kleinschreibung spielt dabei keine Rolle.</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Werkzeuge und Aufbau“.</a:t>
            </a:r>
          </a:p>
          <a:p/>
          <a:p>
            <a:r>
              <a:t>Vitest bringt Hilfsfunktionen mit. „vi.fn“ erzeugt eine Mock-Funktion. Das ist eine Attrappe, die sich merkt, wie oft und womit sie aufgerufen wurde. „vi.spyOn“ beobachtet eine echte Methode, ohne sie zu ersetzen. „vi.useFakeTimers“ lässt Tests mit einer künstlichen Uhr laufen, damit sie nicht auf echte Zeit warten.</a:t>
            </a:r>
          </a:p>
          <a:p/>
          <a:p>
            <a:r>
              <a:t>Ein guter Test hat drei Schritte: vorbereiten, ausführen, prüfen. Im Englischen heißt das „Arrange, Act, Assert“. Jeder Test prüft nur ein Verhalten. Der Name sollte beschreiben, was passieren soll, und nicht, wie die Methode heißt.</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isolieren“.</a:t>
            </a:r>
          </a:p>
          <a:p/>
          <a:p>
            <a:r>
              <a:t>Beim isolierten Testen ersetzt man Abhängigkeiten durch Ersatzobjekte. Ein „Stub“ oder „Fake“ ist eine einfache Nachbildung, die feste Daten liefert. Ein „Mock“ merkt sich zusätzlich die Aufrufe, sodass man prüfen kann, ob eine Methode mit dem richtigen Wert aufgerufen wurde. Ein „Spy“ beobachtet ein echtes Objekt.</a:t>
            </a:r>
          </a:p>
          <a:p/>
          <a:p>
            <a:r>
              <a:t>Nicht alles muss ersetzt werden. Reine Funktionen und einfache Hilfsklassen nimmt man besser echt. Wer zu viel ersetzt, hat am Ende nur noch die Ersatzobjekte getestet. Das nennt man „Over-Mocking“.</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„Abhängigkeiten per Dependency Injection ersetzen“.</a:t>
            </a:r>
          </a:p>
          <a:p/>
          <a:p>
            <a:r>
              <a:t>Dank „Dependency Injection“ lassen sich Abhängigkeiten leicht austauschen. Das ist das Verfahren, bei dem Angular einer Klasse die benötigten Objekte übergibt. Im Beispiel wird bei den „providers“ festgelegt: Wenn jemand „CustomerApi“ anfordert, bekommt er ein einfaches Ersatzobjekt. Dessen Methode „getAll“ liefert direkt zwei Kunden.</a:t>
            </a:r>
          </a:p>
          <a:p/>
          <a:p>
            <a:r>
              <a:t>Der Store erhält dann diesen Ersatz. Am Store selbst muss dafür nichts geändert werden.</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Für HTTP-Aufrufe gibt es eine Testhilfe. Mit „provideHttpClientTesting“ wird kein echtes Netzwerk benutzt. Stattdessen kann der Test über den „HttpTestingController“ steuern, was zurückkommt.</a:t>
            </a:r>
          </a:p>
          <a:p/>
          <a:p>
            <a:r>
              <a:t>Im Beispiel ruft der Service seine Methode auf. Der Test prüft mit „expectOne“, dass genau eine Anfrage an „api/customer“ gesendet wurde, und antwortet mit „flush“ mit einer festgelegten Antwort. „verify“ stellt sicher, dass keine weiteren, unerwarteten Anfragen offen sind. Zum Schluss wird das Ergebnis geprüft.</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Das Beispiel testet eine Darstellungskomponente. Zuerst wird die Komponente erzeugt. Den Eingabewert „customer“ setzt man mit „setInput“. Dann wartet der Test mit „whenStable“, bis die Anzeige aktualisiert ist, und prüft, dass der Name „Hans“ im Text vorkommt.</a:t>
            </a:r>
          </a:p>
          <a:p/>
          <a:p>
            <a:r>
              <a:t>Danach wird eine Mock-Funktion an den Ausgang „chosen“ gehängt. Der Test klickt auf das Listenelement und prüft, dass der Ausgang mit dem Kunden „Hans“ ausgelöst wurde.</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Bei Komponententests gibt es zwei wichtige Regeln. Erstens: Ein Signal-Input darf man nicht einfach wie eine normale Variable überschreiben. Das funktioniert nicht. Man setzt ihn mit der Methode „setInput“ der Test-Komponente.</a:t>
            </a:r>
          </a:p>
          <a:p/>
          <a:p>
            <a:r>
              <a:t>Zweitens: Die Anwendung arbeitet „zoneless“. Das heißt, Angular erkennt Änderungen nicht mehr über die Bibliothek „Zone.js“, sondern über Signals. Deshalb darf der Test nicht darauf warten, dass die Anzeige von selbst aktuell wird. Er ruft „await fixture.whenStable()“ auf. Das wartet, bis Angular fertig gerendert hat.</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„Signals und Effects testen“.</a:t>
            </a:r>
          </a:p>
          <a:p/>
          <a:p>
            <a:r>
              <a:t>„signal“ und „computed“ kann man direkt testen. Man setzt einen Wert und liest das Ergebnis. Ein „TestBed“ ist dafür nicht nötig.</a:t>
            </a:r>
          </a:p>
          <a:p/>
          <a:p>
            <a:r>
              <a:t>Ein „effect“ ist etwas anderes. Er braucht einen „Injection Context“. Das ist der Rahmen, in dem Angular Abhängigkeiten bereitstellen kann. Das Beispiel erzeugt den Store deshalb mit „runInInjectionContext“. Nach dem Setzen des Filters führt „TestBed.tick“ die anstehenden Effects aus. Erst danach prüft der Test, ob der Filterwert im „localStorage“ des Browsers gespeichert wurde.</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Dafür vermeidet man echte Zeit und echtes Netzwerk.</a:t>
            </a:r>
          </a:p>
          <a:p/>
          <a:p>
            <a:r>
              <a:t>Er prüft, was die Komponente tut, und nicht, wie sie es intern macht. Sonst muss man ihn bei jedem Umbau ändern.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a:t>
            </a:r>
          </a:p>
          <a:p/>
          <a:p>
            <a:r>
              <a:t>Erklärung für die Dolmetscherin:</a:t>
            </a:r>
          </a:p>
          <a:p>
            <a:r>
              <a:t>Dies ist die Aufgabenstellung für Übung 34 im Ordner 34_tests. Alle Projekte nutzen jetzt „Vitest“ als Test-Werkzeug.</a:t>
            </a:r>
          </a:p>
          <a:p/>
          <a:p>
            <a:r>
              <a:t>In Teil A schreiben die Teilnehmer Tests für den „CustomerStore“, ohne die Oberfläche. Dabei ersetzen sie die Schnittstelle zum Server durch ein Ersatzobjekt. In Teil B testen sie die kleine Listenkomponente: Der Name erscheint, und ein Klick löst das Ereignis „chosen“ aus.</a:t>
            </a:r>
          </a:p>
          <a:p/>
          <a:p>
            <a:r>
              <a:t>In Teil C bekommen sie eine automatisch erzeugte Testdatei mit fünf versteckten Schwächen. Sie sollen die Schwächen finden, den Programmcode gezielt kaputt machen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wie die Struktur der Anwendung die Laufzeit beeinflusst und welche typischen Ursachen für Langsamkeit es gibt.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nicht, möglichst schnellen Code zu schreiben. Es geht darum, wie sich die Anwendung für die Nutzer anfühlt. Man unterscheidet zwei Seiten.</a:t>
            </a:r>
          </a:p>
          <a:p/>
          <a:p>
            <a:r>
              <a:t>Die Ladezeit sagt, wie schnell etwas sichtbar und bedienbar ist. Die Laufzeit sagt, wie flüssig die Anwendung auf Eingaben reagiert.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Kennzahlen“.</a:t>
            </a:r>
          </a:p>
          <a:p/>
          <a:p>
            <a:r>
              <a:t>Es gibt feste Kennzahlen, mit denen man Performance beschreibt. „LCP“ steht für „Largest Contentful Paint“. Sie misst, wann der größte Inhalt der Seite sichtbar wird. „INP“ steht für „Interaction to Next Paint“. Sie misst, wie schnell die Seite nach einer Eingabe wie einem Klick reagiert.</a:t>
            </a:r>
          </a:p>
          <a:p/>
          <a:p>
            <a:r>
              <a:t>„CLS“ steht für „Cumulative Layout Shift“. Sie misst, wie stark Elemente beim Laden verrutschen. Die „Bundle-Größe“ ist die Menge an Programmcode, die der Browser herunterladen muss.</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a:t>
            </a:r>
          </a:p>
          <a:p/>
          <a:p>
            <a:r>
              <a:t>Für das Messen gibt es mehrere Werkzeuge. Die „Chrome DevTools“ sind die Entwicklerwerkzeuge des Browsers. Im Bereich „Performance“ kann man aufzeichnen, was der Browser wann tut. Ein „Flamegraph“ ist eine Grafik, die zeigt, welche Funktion wie lange gelaufen ist.</a:t>
            </a:r>
          </a:p>
          <a:p/>
          <a:p>
            <a:r>
              <a:t>„Lighthouse“ prüft eine Seite und gibt Kennzahlen aus. Der „Profiler“ der Angular DevTools zeigt, welche Komponenten wie oft geprüft werden. Mit „Budgets“ in der Datei „angular.json“ legt man Größengrenzen fest. Wird eine Grenze überschritten, schlägt der Build fehl.</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rendert“.</a:t>
            </a:r>
          </a:p>
          <a:p/>
          <a:p>
            <a:r>
              <a:t>Hier geht es um die Frage, wann Angular die Anzeige aktualisiert. Früher benutzte Angular dafür die Bibliothek „Zone.js“. Bei jedem Ereignis, jedem Timer und jeder Serverantwort wurde der ganze Komponentenbaum geprüft.</a:t>
            </a:r>
          </a:p>
          <a:p/>
          <a:p>
            <a:r>
              <a:t>Heute läuft die Anwendung „zoneless“, also ohne diese Bibliothek. Ändert sich ein Signal, markiert Angular nur die Komponenten, die dieses Signal lesen. Nur sie werden neu geprüft. Zusätzlich gibt es die Einstellung „OnPush“. Dann prüft Angular eine Komponente nur, wenn sich eine Eingabe, ein Ereignis aus dem eigenen Template oder ein gelesenes Signal geändert hat. Das wird für alle neuen Komponenten empfohlen. Das Startprojekt nutzt zoneless bereits in der Datei „main.ts“.</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Aufteilung in Komponenten wirkt sich direkt auf die Geschwindigkeit aus. Hat eine Komponente nur wenige Signals, wird bei einer Änderung auch nur wenig neu berechnet. Liest eine große Komponente dagegen alles, wird bei jeder kleinen Änderung alles neu bewertet.</a:t>
            </a:r>
          </a:p>
          <a:p/>
          <a:p>
            <a:r>
              <a:t>In der Invoice-App soll zum Beispiel eine Eingabe im Filterfeld nur die Liste aktualisieren. Der Kopfbereich bleibt unverändert. Das ist ein weiterer Grund für die Aufteilung in kleine Komponenten, die schon im ersten Kapitel erklärt wurde.</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Das Beispiel zeigt zwei Arten, Zustand abzulegen. Im ersten Fall liegt alles in einem einzigen Signal mit einem Objekt. Ändert sich nur der Filter, gilt trotzdem das ganze Objekt als geändert. Alle, die es lesen, müssen neu rechnen.</a:t>
            </a:r>
          </a:p>
          <a:p/>
          <a:p>
            <a:r>
              <a:t>Im zweiten Fall hat jeder Wert sein eigenes Signal. „computed“ ist ein berechneter Wert. Er rechnet sich automatisch neu, sobald sich ein Wert ändert, den er liest. Liefert er danach dasselbe Ergebnis wie vorher, müssen auch die nachfolgenden Leser nicht neu rechnen.</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Die Schleife „@for“ braucht die Angabe „track“. Damit erkennt Angular, welches Element der Liste zu welchem Eintrag auf der Seite gehört. Im Startprojekt steht „track c“, also das ganze Objekt. Wird die Liste neu vom Server geladen, sind es neue Objekte. Angular hält dann alle Einträge für neu und baut alle Elemente der Seite neu auf.</a:t>
            </a:r>
          </a:p>
          <a:p/>
          <a:p>
            <a:r>
              <a:t>Mit „track c.id“ erkennt Angular dieselben Kunden wieder und ändert nur, was sich wirklich geändert hat.</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Wenn man die ganze Seite neu aufbaut, geht der Zustand der einzelnen Zeilen verloren. Zum Beispiel verliert ein Eingabefeld den Fokus, oder eine laufende Animation beginnt von vorn. „DOM“ bedeutet hier die Elemente der Seite im Browser.</a:t>
            </a:r>
          </a:p>
          <a:p/>
          <a:p>
            <a:r>
              <a:t>„track $index“ benutzt die Position in der Liste. Das ist nur sinnvoll, wenn sich die Liste nie ändert. Die einfache Regel lautet: Immer eine feste, eindeutige Kennung wie die ID nehmen.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Im Template sollte keine teure Berechnung über eine normale Methode stehen. Eine Methode wird bei jeder Prüfung durch Angular neu aufgerufen, auch wenn sich nichts geändert hat.</a:t>
            </a:r>
          </a:p>
          <a:p/>
          <a:p>
            <a:r>
              <a:t>Ein „computed“ merkt sich sein Ergebnis und rechnet nur dann neu, wenn sich ein gelesener Wert ändert. Eine „reine Pipe“ verhält sich ähnlich. Sie rechnet nur neu, wenn sich ihre Eingabe ändert. Eine „Pipe“ ist ein kleiner Baustein, der einen Wert für die Anzeige umwandelt. Vorsicht ist bei unreinen Pipes geboten, die bei jeder Prüfung laufen, und bei der „async-Pipe“ innerhalb von Schleifen.</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großen Listen gibt es mehrere Maßnahmen. Mit einer eindeutigen Kennung bei „track“ wird weniger neu aufgebaut. Beim „Virtual Scrolling“ stellt Angular nur die Zeilen dar, die gerade im sichtbaren Bereich liegen. Es gehört zur Bibliothek „Angular CDK“.</a:t>
            </a:r>
          </a:p>
          <a:p/>
          <a:p>
            <a:r>
              <a:t>Mit „Paginierung“ lädt man die Daten seitenweise. Mit „Debounce“ wartet man bei einer Eingabe kurz ab, bevor man filtert. So rechnet die Anwendung nicht bei jedem einzelnen Tastendruck. Außerdem helfen leichte Zeilenkomponenten mit „OnPush“.</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Dieses Beispiel verzögert den Filter. „toObservable“ macht aus dem Signal einen Datenstrom. „debounceTime(250)“ gibt einen Wert erst weiter, wenn 250 Millisekunden lang kein neuer Wert kam. „toSignal“ macht daraus wieder ein Signal, mit dem Startwert leerer Text.</a:t>
            </a:r>
          </a:p>
          <a:p/>
          <a:p>
            <a:r>
              <a:t>Die Liste liest dann dieses verzögerte Signal. So wird nicht bei jedem Tastendruck gefiltert, sondern erst, wenn der Nutzer kurz aufhört zu tippen.</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soll der Browser anfangs nur laden, was gebraucht wird. Bei „Lazy Routes“ wird eine Seite erst geladen, wenn der Nutzer sie öffnet. Mit „@defer“ lädt man schwere Teile einer Seite erst bei Bedarf, zum Beispiel wenn sie sichtbar werden oder wenn der Nutzer sie anklickt.</a:t>
            </a:r>
          </a:p>
          <a:p/>
          <a:p>
            <a:r>
              <a:t>„NgOptimizedImage“ aus Übung 27 hilft bei Bildern: Das Hauptbild wird bevorzugt geladen, und feste Größen verhindern, dass die Seite beim Laden springt. „Tree-Shaking“ bedeutet, dass nicht benutzter Code aus dem fertigen Paket entfernt wird.</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interaktiv macht. Beim „Prerendering“ wird das HTML schon beim Bauen der Anwendung erzeugt.</a:t>
            </a:r>
          </a:p>
          <a:p/>
          <a:p>
            <a:r>
              <a:t>Für interne Fachanwendungen reicht oft das Rendern im Browser. Für öffentliche Seiten lohnt es sich, Server-Side Rendering zu prüfen.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Wichtig ist, immer gleich zu messen und die Ergebnisse aufzuschreiben, damit man Veränderungen vergleichen kann. Zum Thema Rendern auf dem Server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a:t>
            </a:r>
          </a:p>
          <a:p/>
          <a:p>
            <a:r>
              <a:t>Erklärung für die Dolmetscherin:</a:t>
            </a:r>
          </a:p>
          <a:p>
            <a:r>
              <a:t>Dies ist die Aufgabenstellung für Übung 35 im Ordner 35_performance.</a:t>
            </a:r>
          </a:p>
          <a:p/>
          <a:p>
            <a:r>
              <a:t>Die Teilnehmer erzeugen zuerst mit einem Hilfscode 5000 Kunden, damit die Liste spürbar langsam wird. Dann messen sie mit den Entwicklerwerkzeugen des Browsers und mit den Angular DevTools, wie lange eine Eingabe im Filterfeld braucht. Danach verbessern sie die Anwendung in kleinen Schritten und messen nach jedem Schritt erneut. Die Schritte sind: eine eindeutige Kennung bei „track“, „OnPush“, Debounce, Virtual Scrolling und optional eine Lazy Route.</a:t>
            </a:r>
          </a:p>
          <a:p/>
          <a:p>
            <a:r>
              <a:t>Die Ergebnisse tragen sie in eine Tabelle ein und besprechen danach, welche Maßnahme am meisten gebracht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jpeg"/><Relationship Id="rId3" Type="http://schemas.openxmlformats.org/officeDocument/2006/relationships/notesSlide" Target="../notesSlides/notes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3.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5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2.jpeg"/><Relationship Id="rId3" Type="http://schemas.openxmlformats.org/officeDocument/2006/relationships/notesSlide" Target="../notesSlides/notesSlide6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3.png"/><Relationship Id="rId3" Type="http://schemas.openxmlformats.org/officeDocument/2006/relationships/notesSlide" Target="../notesSlides/notesSlide6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4.png"/><Relationship Id="rId3" Type="http://schemas.openxmlformats.org/officeDocument/2006/relationships/notesSlide" Target="../notesSlides/notesSlide6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 Id="rId7" Type="http://schemas.openxmlformats.org/officeDocument/2006/relationships/notesSlide" Target="../notesSlides/notesSlide7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8" name="Picture 6" descr="CPU mit Binärzahlen und Blaupause"/>
          <p:cNvPicPr/>
          <p:nvPr/>
        </p:nvPicPr>
        <p:blipFill>
          <a:blip r:embed="rId2">
            <a:alphaModFix amt="50000"/>
          </a:blip>
          <a:stretch/>
        </p:blipFill>
        <p:spPr>
          <a:xfrm>
            <a:off x="0" y="0"/>
            <a:ext cx="12190680" cy="6856560"/>
          </a:xfrm>
          <a:prstGeom prst="rect">
            <a:avLst/>
          </a:prstGeom>
          <a:noFill/>
          <a:ln w="0">
            <a:noFill/>
          </a:ln>
        </p:spPr>
      </p:pic>
      <p:sp>
        <p:nvSpPr>
          <p:cNvPr id="16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Einrichten von Typescript </a:t>
            </a:r>
            <a:endParaRPr lang="de-DE" sz="6000" b="0" u="none" strike="noStrike">
              <a:solidFill>
                <a:srgbClr val="FFFFFF"/>
              </a:solidFill>
              <a:uFillTx/>
              <a:latin typeface="Arial"/>
            </a:endParaRPr>
          </a:p>
        </p:txBody>
      </p:sp>
      <p:sp>
        <p:nvSpPr>
          <p:cNvPr id="17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Installation</a:t>
            </a:r>
            <a:endParaRPr lang="de-DE" sz="2400" b="0" u="none" strike="noStrike">
              <a:solidFill>
                <a:srgbClr val="FFFFFF"/>
              </a:solidFill>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Benötigte Komponenten</a:t>
            </a:r>
            <a:endParaRPr lang="de-DE" sz="4400" b="0" u="none" strike="noStrike">
              <a:solidFill>
                <a:srgbClr val="000000"/>
              </a:solidFill>
              <a:uFillTx/>
              <a:latin typeface="Arial"/>
            </a:endParaRPr>
          </a:p>
        </p:txBody>
      </p:sp>
      <p:sp>
        <p:nvSpPr>
          <p:cNvPr id="1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TypeScript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r>
              <a:rPr lang="de-DE" sz="2400" b="0" u="none" strike="noStrike" dirty="0">
                <a:solidFill>
                  <a:schemeClr val="dk1"/>
                </a:solidFill>
                <a:uFillTx/>
                <a:latin typeface="Courier New"/>
              </a:rPr>
              <a:t>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Oder global</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sudo</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g</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Lite-Server</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lite</a:t>
            </a:r>
            <a:r>
              <a:rPr lang="de-DE" sz="2400" b="0" u="none" strike="noStrike" dirty="0">
                <a:solidFill>
                  <a:schemeClr val="dk1"/>
                </a:solidFill>
                <a:uFillTx/>
                <a:latin typeface="Courier New"/>
              </a:rPr>
              <a:t>-server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Parallelisierung von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-Kommandos</a:t>
            </a:r>
            <a:endParaRPr lang="de-DE" sz="2800" b="0" u="none" strike="noStrike" dirty="0">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2000" b="0" u="none" strike="noStrike" dirty="0" err="1">
                <a:solidFill>
                  <a:schemeClr val="dk1"/>
                </a:solidFill>
                <a:uFillTx/>
                <a:latin typeface="Courier New"/>
              </a:rPr>
              <a:t>npm</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install</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concurrenty</a:t>
            </a:r>
            <a:r>
              <a:rPr lang="de-DE" sz="2000" b="0" u="none" strike="noStrike" dirty="0">
                <a:solidFill>
                  <a:schemeClr val="dk1"/>
                </a:solidFill>
                <a:uFillTx/>
                <a:latin typeface="Courier New"/>
              </a:rPr>
              <a:t> --save-</a:t>
            </a:r>
            <a:r>
              <a:rPr lang="de-DE" sz="2000" b="0" u="none" strike="noStrike" dirty="0" err="1">
                <a:solidFill>
                  <a:schemeClr val="dk1"/>
                </a:solidFill>
                <a:uFillTx/>
                <a:latin typeface="Courier New"/>
              </a:rPr>
              <a:t>dev</a:t>
            </a:r>
            <a:endParaRPr lang="de-DE" sz="20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Konfiguration des TypeScript-Compilers</a:t>
            </a:r>
            <a:endParaRPr lang="de-DE" sz="4400" b="0" u="none" strike="noStrike">
              <a:solidFill>
                <a:srgbClr val="000000"/>
              </a:solidFill>
              <a:uFillTx/>
              <a:latin typeface="Arial"/>
            </a:endParaRPr>
          </a:p>
        </p:txBody>
      </p:sp>
      <p:sp>
        <p:nvSpPr>
          <p:cNvPr id="1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tsc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Erzeugt die Datei </a:t>
            </a:r>
            <a:r>
              <a:rPr lang="de-DE" sz="2400" b="0" i="1" u="none" strike="noStrike">
                <a:solidFill>
                  <a:schemeClr val="dk1"/>
                </a:solidFill>
                <a:uFillTx/>
                <a:latin typeface="Courier New"/>
              </a:rPr>
              <a:t>tsconfig.json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Darin werden alle möglichen Konfigurationen angelegt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wobei die allermeisten auskommentiert sind</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Für die folgenden Beispiele wird insbesondere der strict-Mode aktiviert</a:t>
            </a:r>
            <a:endParaRPr lang="de-DE" sz="2800" b="0" u="none" strike="noStrike">
              <a:solidFill>
                <a:srgbClr val="000000"/>
              </a:solidFill>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Scripts der package.json</a:t>
            </a:r>
            <a:endParaRPr lang="de-DE" sz="4400" b="0" u="none" strike="noStrike">
              <a:solidFill>
                <a:srgbClr val="000000"/>
              </a:solidFill>
              <a:uFillTx/>
              <a:latin typeface="Arial"/>
            </a:endParaRPr>
          </a:p>
        </p:txBody>
      </p:sp>
      <p:sp>
        <p:nvSpPr>
          <p:cNvPr id="17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"serve": "lite-server",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 "tsc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"compile-watch": "tsc -w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"start": "concurrently \"npm run compile-watch\" \"npm run serve\""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Benutzung</a:t>
            </a:r>
            <a:endParaRPr lang="de-DE" sz="4400" b="0" u="none" strike="noStrike">
              <a:solidFill>
                <a:srgbClr val="000000"/>
              </a:solidFill>
              <a:uFillTx/>
              <a:latin typeface="Arial"/>
            </a:endParaRPr>
          </a:p>
        </p:txBody>
      </p:sp>
      <p:sp>
        <p:nvSpPr>
          <p:cNvPr id="1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Starten mit </a:t>
            </a:r>
            <a:r>
              <a:rPr lang="de-DE" sz="2800" b="0" u="none" strike="noStrike">
                <a:solidFill>
                  <a:schemeClr val="dk1"/>
                </a:solidFill>
                <a:uFillTx/>
                <a:latin typeface="Courier New"/>
              </a:rPr>
              <a:t>npm start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TypeScript-Transpiler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Lite Server mit Browser-Sync</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Default-Browser und stellt die </a:t>
            </a:r>
            <a:r>
              <a:rPr lang="de-DE" sz="2400" b="0" i="1" u="none" strike="noStrike">
                <a:solidFill>
                  <a:schemeClr val="dk1"/>
                </a:solidFill>
                <a:uFillTx/>
                <a:latin typeface="Courier New"/>
              </a:rPr>
              <a:t>index.html</a:t>
            </a:r>
            <a:r>
              <a:rPr lang="de-DE" sz="2400" b="0" u="none" strike="noStrike">
                <a:solidFill>
                  <a:schemeClr val="dk1"/>
                </a:solidFill>
                <a:uFillTx/>
                <a:latin typeface="Calibri"/>
              </a:rPr>
              <a:t>-Seite dar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Parallelisierung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Sämtliche Dateien mit der Endung </a:t>
            </a:r>
            <a:r>
              <a:rPr lang="de-DE" sz="2400" b="0" u="none" strike="noStrike">
                <a:solidFill>
                  <a:schemeClr val="dk1"/>
                </a:solidFill>
                <a:uFillTx/>
                <a:latin typeface="Courier New"/>
              </a:rPr>
              <a:t>.ts</a:t>
            </a:r>
            <a:r>
              <a:rPr lang="de-DE" sz="2400" b="0" u="none" strike="noStrike">
                <a:solidFill>
                  <a:schemeClr val="dk1"/>
                </a:solidFill>
                <a:uFillTx/>
                <a:latin typeface="Calibri"/>
              </a:rPr>
              <a:t> im Ordner </a:t>
            </a:r>
            <a:r>
              <a:rPr lang="de-DE" sz="2400" b="0" i="1" u="none" strike="noStrike">
                <a:solidFill>
                  <a:schemeClr val="dk1"/>
                </a:solidFill>
                <a:uFillTx/>
                <a:latin typeface="Courier New"/>
              </a:rPr>
              <a:t>src</a:t>
            </a:r>
            <a:r>
              <a:rPr lang="de-DE" sz="2400" b="0" u="none" strike="noStrike">
                <a:solidFill>
                  <a:schemeClr val="dk1"/>
                </a:solidFill>
                <a:uFillTx/>
                <a:latin typeface="Calibri"/>
              </a:rPr>
              <a:t> werden automatisch nach </a:t>
            </a:r>
            <a:r>
              <a:rPr lang="de-DE" sz="2400" b="0" i="1" u="none" strike="noStrike">
                <a:solidFill>
                  <a:schemeClr val="dk1"/>
                </a:solidFill>
                <a:uFillTx/>
                <a:latin typeface="Courier New"/>
              </a:rPr>
              <a:t>dist</a:t>
            </a:r>
            <a:r>
              <a:rPr lang="de-DE" sz="2400" b="0" u="none" strike="noStrike">
                <a:solidFill>
                  <a:schemeClr val="dk1"/>
                </a:solidFill>
                <a:uFillTx/>
                <a:latin typeface="Calibri"/>
              </a:rPr>
              <a:t> transpiliert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a:t>
            </a:r>
            <a:r>
              <a:rPr lang="de-DE" sz="2400" b="0" u="none" strike="noStrike">
                <a:solidFill>
                  <a:schemeClr val="dk1"/>
                </a:solidFill>
                <a:uFillTx/>
                <a:latin typeface="Courier New"/>
              </a:rPr>
              <a:t>.ts</a:t>
            </a:r>
            <a:r>
              <a:rPr lang="de-DE" sz="2400" b="0" u="none" strike="noStrike">
                <a:solidFill>
                  <a:schemeClr val="dk1"/>
                </a:solidFill>
                <a:uFillTx/>
                <a:latin typeface="Calibri"/>
              </a:rPr>
              <a:t>-Dateien werden automatisch erkannt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Server aktualisiert den Browser  mit den geänderten Informationen</a:t>
            </a:r>
            <a:endParaRPr lang="de-DE" sz="2400" b="0" u="none" strike="noStrike">
              <a:solidFill>
                <a:srgbClr val="000000"/>
              </a:solidFill>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400" b="0" u="none" strike="noStrike">
                <a:solidFill>
                  <a:schemeClr val="dk1"/>
                </a:solidFill>
                <a:uFillTx/>
                <a:latin typeface="Calibri Light"/>
              </a:rPr>
              <a:t>Type Hierarchy</a:t>
            </a:r>
            <a:endParaRPr lang="de-DE" sz="4400" b="0" u="none" strike="noStrike">
              <a:solidFill>
                <a:srgbClr val="000000"/>
              </a:solidFill>
              <a:uFillTx/>
              <a:latin typeface="Arial"/>
            </a:endParaRPr>
          </a:p>
        </p:txBody>
      </p:sp>
      <p:graphicFrame>
        <p:nvGraphicFramePr>
          <p:cNvPr id="3" name="Diagram3"/>
          <p:cNvGraphicFramePr/>
          <p:nvPr>
            <p:extLst>
              <p:ext uri="{D42A27DB-BD31-4B8C-83A1-F6EECF244321}">
                <p14:modId xmlns:p14="http://schemas.microsoft.com/office/powerpoint/2010/main" val="2526847042"/>
              </p:ext>
            </p:extLst>
          </p:nvPr>
        </p:nvGraphicFramePr>
        <p:xfrm>
          <a:off x="4965480" y="2438280"/>
          <a:ext cx="6585120" cy="3783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6"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useBgFill="1">
        <p:nvSpPr>
          <p:cNvPr id="187" name="Rectangle 9">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8" name="Rectangle 11">
            <a:extLst>
              <a:ext uri="{C183D7F6-B498-43B3-948B-1728B52AA6E4}">
                <adec:decorative xmlns:adec="http://schemas.microsoft.com/office/drawing/2017/decorative" val="1"/>
              </a:ext>
            </a:extLst>
          </p:cNvPr>
          <p:cNvSpPr/>
          <p:nvPr/>
        </p:nvSpPr>
        <p:spPr>
          <a:xfrm rot="5400000" flipH="1">
            <a:off x="-1411560" y="1411560"/>
            <a:ext cx="6856560" cy="4036320"/>
          </a:xfrm>
          <a:prstGeom prst="rect">
            <a:avLst/>
          </a:prstGeom>
          <a:gradFill rotWithShape="0">
            <a:gsLst>
              <a:gs pos="8000">
                <a:srgbClr val="000000"/>
              </a:gs>
              <a:gs pos="100000">
                <a:srgbClr val="16735A"/>
              </a:gs>
            </a:gsLst>
            <a:lin ang="19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9" name="Rectangle 13">
            <a:extLst>
              <a:ext uri="{C183D7F6-B498-43B3-948B-1728B52AA6E4}">
                <adec:decorative xmlns:adec="http://schemas.microsoft.com/office/drawing/2017/decorative" val="1"/>
              </a:ext>
            </a:extLst>
          </p:cNvPr>
          <p:cNvSpPr/>
          <p:nvPr/>
        </p:nvSpPr>
        <p:spPr>
          <a:xfrm rot="5400000" flipH="1">
            <a:off x="-1411560" y="1421640"/>
            <a:ext cx="6856560" cy="4036320"/>
          </a:xfrm>
          <a:prstGeom prst="rect">
            <a:avLst/>
          </a:prstGeom>
          <a:gradFill rotWithShape="0">
            <a:gsLst>
              <a:gs pos="0">
                <a:srgbClr val="000000">
                  <a:alpha val="0"/>
                </a:srgbClr>
              </a:gs>
              <a:gs pos="99000">
                <a:srgbClr val="1D9A78">
                  <a:alpha val="46000"/>
                </a:srgbClr>
              </a:gs>
            </a:gsLst>
            <a:lin ang="18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0" name="Rectangle 15">
            <a:extLst>
              <a:ext uri="{C183D7F6-B498-43B3-948B-1728B52AA6E4}">
                <adec:decorative xmlns:adec="http://schemas.microsoft.com/office/drawing/2017/decorative" val="1"/>
              </a:ext>
            </a:extLst>
          </p:cNvPr>
          <p:cNvSpPr/>
          <p:nvPr/>
        </p:nvSpPr>
        <p:spPr>
          <a:xfrm rot="5400000" flipH="1">
            <a:off x="765000" y="3589560"/>
            <a:ext cx="2500560" cy="4036320"/>
          </a:xfrm>
          <a:prstGeom prst="rect">
            <a:avLst/>
          </a:prstGeom>
          <a:gradFill rotWithShape="0">
            <a:gsLst>
              <a:gs pos="2000">
                <a:srgbClr val="1D9A78">
                  <a:alpha val="29000"/>
                </a:srgbClr>
              </a:gs>
              <a:gs pos="100000">
                <a:srgbClr val="000000">
                  <a:alpha val="30000"/>
                </a:srgbClr>
              </a:gs>
            </a:gsLst>
            <a:lin ang="2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1" name="Freeform: Shape 17">
            <a:extLst>
              <a:ext uri="{C183D7F6-B498-43B3-948B-1728B52AA6E4}">
                <adec:decorative xmlns:adec="http://schemas.microsoft.com/office/drawing/2017/decorative" val="1"/>
              </a:ext>
            </a:extLst>
          </p:cNvPr>
          <p:cNvSpPr/>
          <p:nvPr/>
        </p:nvSpPr>
        <p:spPr>
          <a:xfrm rot="20635800">
            <a:off x="-501480" y="969480"/>
            <a:ext cx="3898800" cy="4177440"/>
          </a:xfrm>
          <a:custGeom>
            <a:avLst/>
            <a:gdLst>
              <a:gd name="textAreaLeft" fmla="*/ 0 w 3898800"/>
              <a:gd name="textAreaRight" fmla="*/ 3900240 w 3898800"/>
              <a:gd name="textAreaTop" fmla="*/ 0 h 4177440"/>
              <a:gd name="textAreaBottom" fmla="*/ 4178880 h 4177440"/>
            </a:gdLst>
            <a:ahLst/>
            <a:cxnLst/>
            <a:rect l="textAreaLeft" t="textAreaTop" r="textAreaRight" b="textAreaBottom"/>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rotWithShape="0">
            <a:gsLst>
              <a:gs pos="29000">
                <a:srgbClr val="000000">
                  <a:alpha val="0"/>
                </a:srgbClr>
              </a:gs>
              <a:gs pos="100000">
                <a:srgbClr val="1D9A78">
                  <a:alpha val="43000"/>
                </a:srgbClr>
              </a:gs>
            </a:gsLst>
            <a:lin ang="83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2" name="Rectangle 19">
            <a:extLst>
              <a:ext uri="{C183D7F6-B498-43B3-948B-1728B52AA6E4}">
                <adec:decorative xmlns:adec="http://schemas.microsoft.com/office/drawing/2017/decorative" val="1"/>
              </a:ext>
            </a:extLst>
          </p:cNvPr>
          <p:cNvSpPr/>
          <p:nvPr/>
        </p:nvSpPr>
        <p:spPr>
          <a:xfrm rot="5400000" flipH="1">
            <a:off x="-1411560" y="1401480"/>
            <a:ext cx="6856560" cy="4036320"/>
          </a:xfrm>
          <a:prstGeom prst="rect">
            <a:avLst/>
          </a:prstGeom>
          <a:gradFill rotWithShape="0">
            <a:gsLst>
              <a:gs pos="0">
                <a:srgbClr val="000000">
                  <a:alpha val="0"/>
                </a:srgbClr>
              </a:gs>
              <a:gs pos="99000">
                <a:srgbClr val="5AE0BB">
                  <a:alpha val="11000"/>
                </a:srgbClr>
              </a:gs>
            </a:gsLst>
            <a:lin ang="1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3" name="PlaceHolder 1"/>
          <p:cNvSpPr>
            <a:spLocks noGrp="1"/>
          </p:cNvSpPr>
          <p:nvPr>
            <p:ph type="title"/>
          </p:nvPr>
        </p:nvSpPr>
        <p:spPr>
          <a:xfrm>
            <a:off x="466560" y="586800"/>
            <a:ext cx="3200040" cy="338616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de-DE" sz="4000" b="0" u="none" strike="noStrike">
                <a:solidFill>
                  <a:srgbClr val="FFFFFF"/>
                </a:solidFill>
                <a:uFillTx/>
                <a:latin typeface="Calibri Light"/>
              </a:rPr>
              <a:t>Spezielle Typen</a:t>
            </a:r>
            <a:endParaRPr lang="de-DE" sz="4000" b="0" u="none" strike="noStrike">
              <a:solidFill>
                <a:srgbClr val="000000"/>
              </a:solidFill>
              <a:uFillTx/>
              <a:latin typeface="Arial"/>
            </a:endParaRPr>
          </a:p>
        </p:txBody>
      </p:sp>
      <p:sp>
        <p:nvSpPr>
          <p:cNvPr id="194" name="PlaceHolder 2"/>
          <p:cNvSpPr>
            <a:spLocks noGrp="1"/>
          </p:cNvSpPr>
          <p:nvPr>
            <p:ph/>
          </p:nvPr>
        </p:nvSpPr>
        <p:spPr>
          <a:xfrm>
            <a:off x="4810320" y="649440"/>
            <a:ext cx="6553800" cy="55447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null</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ist nicht gesetzt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undefined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oder Funktion ist nicht vorhanden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unterschiedlich zu null</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any</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untypisierte Variable, die jeden Wert zugewiesen bekommen kann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ist bei Bedarf auch eine untypisierte Programmierung auch in TypeScript möglich</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void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Funktion, die keinen expliziten </a:t>
            </a:r>
            <a:r>
              <a:rPr lang="de-DE" sz="1700" b="0" u="none" strike="noStrike">
                <a:solidFill>
                  <a:schemeClr val="dk1"/>
                </a:solidFill>
                <a:uFillTx/>
                <a:latin typeface="Courier New"/>
              </a:rPr>
              <a:t>return</a:t>
            </a:r>
            <a:r>
              <a:rPr lang="de-DE" sz="1700" b="0" u="none" strike="noStrike">
                <a:solidFill>
                  <a:schemeClr val="dk1"/>
                </a:solidFill>
                <a:uFillTx/>
                <a:latin typeface="Calibri"/>
              </a:rPr>
              <a:t>-Wert aufweist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never</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Der Rückgabetyp einer Funktion, die kein implizites oder explizites </a:t>
            </a:r>
            <a:r>
              <a:rPr lang="de-DE" sz="1700" b="0" u="none" strike="noStrike">
                <a:solidFill>
                  <a:schemeClr val="dk1"/>
                </a:solidFill>
                <a:uFillTx/>
                <a:latin typeface="Courier New"/>
              </a:rPr>
              <a:t>return</a:t>
            </a:r>
            <a:r>
              <a:rPr lang="de-DE" sz="1700" b="0" u="none" strike="noStrike">
                <a:solidFill>
                  <a:schemeClr val="dk1"/>
                </a:solidFill>
                <a:uFillTx/>
                <a:latin typeface="Calibri"/>
              </a:rPr>
              <a:t>-Statement aufweist</a:t>
            </a:r>
            <a:endParaRPr lang="de-DE" sz="17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Endlose Ausführung oder garantiertes Werfen einer </a:t>
            </a:r>
            <a:r>
              <a:rPr lang="de-DE" sz="1700" b="0" u="none" strike="noStrike">
                <a:solidFill>
                  <a:schemeClr val="dk1"/>
                </a:solidFill>
                <a:uFillTx/>
                <a:latin typeface="Courier New"/>
              </a:rPr>
              <a:t>Exception</a:t>
            </a:r>
            <a:endParaRPr lang="de-DE" sz="1700" b="0" u="none" strike="noStrike">
              <a:solidFill>
                <a:srgbClr val="000000"/>
              </a:solidFill>
              <a:uFillTx/>
              <a:latin typeface="Arial"/>
            </a:endParaRPr>
          </a:p>
          <a:p>
            <a:pPr indent="0" defTabSz="914400">
              <a:lnSpc>
                <a:spcPct val="90000"/>
              </a:lnSpc>
              <a:spcBef>
                <a:spcPts val="499"/>
              </a:spcBef>
              <a:buNone/>
              <a:tabLst>
                <a:tab pos="0" algn="l"/>
              </a:tabLst>
            </a:pPr>
            <a:endParaRPr lang="de-DE" sz="1700" b="0" u="none" strike="noStrike">
              <a:solidFill>
                <a:srgbClr val="000000"/>
              </a:solidFill>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Variablen Deklaration</a:t>
            </a:r>
            <a:endParaRPr lang="de-DE" sz="4400" b="0" u="none" strike="noStrike">
              <a:solidFill>
                <a:srgbClr val="000000"/>
              </a:solidFill>
              <a:uFillTx/>
              <a:latin typeface="Arial"/>
            </a:endParaRPr>
          </a:p>
        </p:txBody>
      </p:sp>
      <p:sp>
        <p:nvSpPr>
          <p:cNvPr id="19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97"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8"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9"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0"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1"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Typisierte Deklaration von Variablen</a:t>
            </a:r>
            <a:endParaRPr lang="de-DE" sz="4000" b="0" u="none" strike="noStrike">
              <a:solidFill>
                <a:srgbClr val="000000"/>
              </a:solidFill>
              <a:uFillTx/>
              <a:latin typeface="Arial"/>
            </a:endParaRPr>
          </a:p>
        </p:txBody>
      </p:sp>
      <p:sp>
        <p:nvSpPr>
          <p:cNvPr id="20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600" b="0" u="none" strike="noStrike">
                <a:solidFill>
                  <a:schemeClr val="dk1"/>
                </a:solidFill>
                <a:uFillTx/>
                <a:latin typeface="Calibri"/>
              </a:rPr>
              <a:t>Explizite Typisierung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string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boolean</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Type Inference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Hier wird der Typ durch die Zuweisung eines Wertes definiert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"Hello"</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true</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Contextual Type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Auch bei Zuweisungen versucht TypeScript, untypisierte Deklarationen zu erkennen</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window.onmousedown = function(mouseEvent)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    console.log(mouseEvent.button);  //&lt;- Error,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endParaRPr lang="de-DE" sz="1600" b="0" u="none" strike="noStrike">
              <a:solidFill>
                <a:srgbClr val="000000"/>
              </a:solidFill>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04"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5" name="Rectangle 12">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6" name="Rectangle 14">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7" name="Rectangle 16">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8" name="Rectangle 18">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9"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de-DE" sz="4000" b="0" u="none" strike="noStrike">
                <a:solidFill>
                  <a:srgbClr val="FFFFFF"/>
                </a:solidFill>
                <a:uFillTx/>
                <a:latin typeface="Calibri Light"/>
              </a:rPr>
              <a:t>Deklaration von Variablen mit const und let</a:t>
            </a:r>
            <a:endParaRPr lang="de-DE" sz="4000" b="0" u="none" strike="noStrike">
              <a:solidFill>
                <a:srgbClr val="000000"/>
              </a:solidFill>
              <a:uFillTx/>
              <a:latin typeface="Arial"/>
            </a:endParaRPr>
          </a:p>
        </p:txBody>
      </p:sp>
      <p:sp>
        <p:nvSpPr>
          <p:cNvPr id="210"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let | const&lt;name&gt;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const name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let state</a:t>
            </a:r>
            <a:endParaRPr lang="de-DE" sz="2000" b="0" u="none" strike="noStrike">
              <a:solidFill>
                <a:srgbClr val="000000"/>
              </a:solidFill>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Variable Samples</a:t>
            </a:r>
            <a:endParaRPr lang="de-DE" sz="4400" b="0" u="none" strike="noStrike">
              <a:solidFill>
                <a:srgbClr val="000000"/>
              </a:solidFill>
              <a:uFillTx/>
              <a:latin typeface="Arial"/>
            </a:endParaRPr>
          </a:p>
        </p:txBody>
      </p:sp>
      <p:sp>
        <p:nvSpPr>
          <p:cNvPr id="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message</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CE9178"/>
                </a:solidFill>
                <a:uFillTx/>
                <a:latin typeface="Menlo"/>
              </a:rPr>
              <a:t>"Hello Typscript"</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message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f</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 = </a:t>
            </a:r>
            <a:r>
              <a:rPr lang="de-DE" sz="2400" b="0" u="none" strike="noStrike">
                <a:solidFill>
                  <a:srgbClr val="CE9178"/>
                </a:solidFill>
                <a:uFillTx/>
                <a:latin typeface="Menlo"/>
              </a:rPr>
              <a:t>"Hello, world!"</a:t>
            </a:r>
            <a:r>
              <a:rPr lang="de-DE" sz="2400" b="0" u="none" strike="noStrike">
                <a:solidFill>
                  <a:srgbClr val="D4D4D4"/>
                </a:solidFill>
                <a:uFillTx/>
                <a:latin typeface="Menlo"/>
              </a:rPr>
              <a:t>;</a:t>
            </a: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a:t>
            </a:r>
            <a:endParaRPr lang="de-DE" sz="4400" b="0" u="none" strike="noStrike">
              <a:solidFill>
                <a:srgbClr val="000000"/>
              </a:solidFill>
              <a:uFillTx/>
              <a:latin typeface="Arial"/>
            </a:endParaRPr>
          </a:p>
        </p:txBody>
      </p:sp>
      <p:sp>
        <p:nvSpPr>
          <p:cNvPr id="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9CDCFE"/>
                </a:solidFill>
                <a:uFillTx/>
                <a:latin typeface="Menlo"/>
              </a:rPr>
              <a:t>someFlag</a:t>
            </a:r>
            <a:r>
              <a:rPr lang="de-DE" sz="2800" b="0" u="none" strike="noStrike">
                <a:solidFill>
                  <a:srgbClr val="D4D4D4"/>
                </a:solidFill>
                <a:uFillTx/>
                <a:latin typeface="Menlo"/>
              </a:rPr>
              <a:t>: </a:t>
            </a:r>
            <a:r>
              <a:rPr lang="de-DE" sz="2800" b="0" u="none" strike="noStrike">
                <a:solidFill>
                  <a:srgbClr val="4EC9B0"/>
                </a:solidFill>
                <a:uFillTx/>
                <a:latin typeface="Menlo"/>
              </a:rPr>
              <a:t>boolean</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if</a:t>
            </a:r>
            <a:r>
              <a:rPr lang="de-DE" sz="2400" b="0" u="none" strike="noStrike">
                <a:solidFill>
                  <a:srgbClr val="D4D4D4"/>
                </a:solidFill>
                <a:uFillTx/>
                <a:latin typeface="Menlo"/>
              </a:rPr>
              <a:t> (</a:t>
            </a:r>
            <a:r>
              <a:rPr lang="de-DE" sz="2400" b="0" u="none" strike="noStrike">
                <a:solidFill>
                  <a:srgbClr val="9CDCFE"/>
                </a:solidFill>
                <a:uFillTx/>
                <a:latin typeface="Menlo"/>
              </a:rPr>
              <a:t>someFlag</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x</a:t>
            </a:r>
            <a:r>
              <a:rPr lang="de-DE" sz="2400" b="0" u="none" strike="noStrike">
                <a:solidFill>
                  <a:srgbClr val="D4D4D4"/>
                </a:solidFill>
                <a:uFillTx/>
                <a:latin typeface="Menlo"/>
              </a:rPr>
              <a:t> = </a:t>
            </a:r>
            <a:r>
              <a:rPr lang="de-DE" sz="2400" b="0" u="none" strike="noStrike">
                <a:solidFill>
                  <a:srgbClr val="B5CEA8"/>
                </a:solidFill>
                <a:uFillTx/>
                <a:latin typeface="Menlo"/>
              </a:rPr>
              <a:t>10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br>
              <a:rPr sz="2800"/>
            </a:br>
            <a:r>
              <a:rPr lang="de-DE" sz="2800" b="0" u="none" strike="noStrike">
                <a:solidFill>
                  <a:srgbClr val="D4D4D4"/>
                </a:solidFill>
                <a:uFillTx/>
                <a:latin typeface="Menlo"/>
              </a:rPr>
              <a:t>	</a:t>
            </a:r>
            <a:r>
              <a:rPr lang="de-DE" sz="2800" b="0" u="none" strike="noStrike">
                <a:solidFill>
                  <a:srgbClr val="C586C0"/>
                </a:solidFill>
                <a:uFillTx/>
                <a:latin typeface="Menlo"/>
              </a:rPr>
              <a:t>return</a:t>
            </a:r>
            <a:r>
              <a:rPr lang="de-DE" sz="2800" b="0" u="none" strike="noStrike">
                <a:solidFill>
                  <a:srgbClr val="D4D4D4"/>
                </a:solidFill>
                <a:uFillTx/>
                <a:latin typeface="Menlo"/>
              </a:rPr>
              <a:t> </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569CD6"/>
                </a:solidFill>
                <a:uFillTx/>
                <a:latin typeface="Menlo"/>
              </a:rPr>
              <a:t>false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2</a:t>
            </a:r>
            <a:endParaRPr lang="de-DE" sz="4400" b="0" u="none" strike="noStrike">
              <a:solidFill>
                <a:srgbClr val="000000"/>
              </a:solidFill>
              <a:uFillTx/>
              <a:latin typeface="Arial"/>
            </a:endParaRPr>
          </a:p>
        </p:txBody>
      </p:sp>
      <p:sp>
        <p:nvSpPr>
          <p:cNvPr id="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sumOf</a:t>
            </a:r>
            <a:r>
              <a:rPr lang="de-DE" sz="2800" b="0" u="none" strike="noStrike">
                <a:solidFill>
                  <a:srgbClr val="D4D4D4"/>
                </a:solidFill>
                <a:uFillTx/>
                <a:latin typeface="Menlo"/>
              </a:rPr>
              <a:t>(</a:t>
            </a:r>
            <a:r>
              <a:rPr lang="de-DE" sz="2800" b="0" u="none" strike="noStrike">
                <a:solidFill>
                  <a:srgbClr val="9CDCFE"/>
                </a:solidFill>
                <a:uFillTx/>
                <a:latin typeface="Menlo"/>
              </a:rPr>
              <a:t>matrix</a:t>
            </a:r>
            <a:r>
              <a:rPr lang="de-DE" sz="2800" b="0" u="none" strike="noStrike">
                <a:solidFill>
                  <a:srgbClr val="D4D4D4"/>
                </a:solidFill>
                <a:uFillTx/>
                <a:latin typeface="Menlo"/>
              </a:rPr>
              <a:t>: </a:t>
            </a:r>
            <a:r>
              <a:rPr lang="de-DE" sz="2800" b="0" u="none" strike="noStrike">
                <a:solidFill>
                  <a:srgbClr val="4EC9B0"/>
                </a:solidFill>
                <a:uFillTx/>
                <a:latin typeface="Menlo"/>
              </a:rPr>
              <a:t>number</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row</a:t>
            </a:r>
            <a:r>
              <a:rPr lang="de-DE" sz="2400" b="0" u="none" strike="noStrike">
                <a:solidFill>
                  <a:srgbClr val="D4D4D4"/>
                </a:solidFill>
                <a:uFillTx/>
                <a:latin typeface="Menlo"/>
              </a:rPr>
              <a:t> =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3</a:t>
            </a:r>
            <a:endParaRPr lang="de-DE" sz="4400" b="0" u="none" strike="noStrike">
              <a:solidFill>
                <a:srgbClr val="000000"/>
              </a:solidFill>
              <a:uFillTx/>
              <a:latin typeface="Arial"/>
            </a:endParaRPr>
          </a:p>
        </p:txBody>
      </p:sp>
      <p:sp>
        <p:nvSpPr>
          <p:cNvPr id="2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C586C0"/>
                </a:solidFill>
                <a:uFillTx/>
                <a:latin typeface="Menlo"/>
              </a:rPr>
              <a:t>for</a:t>
            </a:r>
            <a:r>
              <a:rPr lang="de-DE" sz="2800" b="0" u="none" strike="noStrike">
                <a:solidFill>
                  <a:srgbClr val="D4D4D4"/>
                </a:solidFill>
                <a:uFillTx/>
                <a:latin typeface="Menlo"/>
              </a:rPr>
              <a:t> (</a:t>
            </a: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 </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&lt; </a:t>
            </a:r>
            <a:r>
              <a:rPr lang="de-DE" sz="2800" b="0" u="none" strike="noStrike">
                <a:solidFill>
                  <a:srgbClr val="B5CEA8"/>
                </a:solidFill>
                <a:uFillTx/>
                <a:latin typeface="Menlo"/>
              </a:rPr>
              <a:t>10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CDCAA"/>
                </a:solidFill>
                <a:uFillTx/>
                <a:latin typeface="Menlo"/>
              </a:rPr>
              <a:t>setTimeout</a:t>
            </a:r>
            <a:r>
              <a:rPr lang="de-DE" sz="2400" b="0" u="none" strike="noStrike">
                <a:solidFill>
                  <a:srgbClr val="D4D4D4"/>
                </a:solidFill>
                <a:uFillTx/>
                <a:latin typeface="Menlo"/>
              </a:rPr>
              <a:t>(</a:t>
            </a:r>
            <a:r>
              <a:rPr lang="de-DE" sz="2400" b="0" u="none" strike="noStrike">
                <a:solidFill>
                  <a:srgbClr val="569CD6"/>
                </a:solidFill>
                <a:uFillTx/>
                <a:latin typeface="Menlo"/>
              </a:rPr>
              <a:t>function</a:t>
            </a:r>
            <a:r>
              <a:rPr lang="de-DE" sz="2400" b="0" u="none" strike="noStrike">
                <a:solidFill>
                  <a:srgbClr val="D4D4D4"/>
                </a:solidFill>
                <a:uFillTx/>
                <a:latin typeface="Menlo"/>
              </a:rPr>
              <a:t>() { </a:t>
            </a: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100</a:t>
            </a:r>
            <a:r>
              <a:rPr lang="de-DE" sz="2400" b="0" u="none" strike="noStrike">
                <a:solidFill>
                  <a:srgbClr val="D4D4D4"/>
                </a:solidFill>
                <a:uFillTx/>
                <a:latin typeface="Menlo"/>
              </a:rPr>
              <a:t> * </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a:t>
            </a:r>
            <a:endParaRPr lang="de-DE" sz="4400" b="0" u="none" strike="noStrike">
              <a:solidFill>
                <a:srgbClr val="000000"/>
              </a:solidFill>
              <a:uFillTx/>
              <a:latin typeface="Arial"/>
            </a:endParaRPr>
          </a:p>
        </p:txBody>
      </p:sp>
      <p:sp>
        <p:nvSpPr>
          <p:cNvPr id="220"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someFunc</a:t>
            </a:r>
            <a:r>
              <a:rPr lang="de-DE" sz="2000" b="0" u="none" strike="noStrike">
                <a:solidFill>
                  <a:srgbClr val="D4D4D4"/>
                </a:solidFill>
                <a:uFillTx/>
                <a:latin typeface="Menlo"/>
              </a:rPr>
              <a:t>(</a:t>
            </a:r>
            <a:r>
              <a:rPr lang="de-DE" sz="2000" b="0" u="none" strike="noStrike">
                <a:solidFill>
                  <a:srgbClr val="9CDCFE"/>
                </a:solidFill>
                <a:uFillTx/>
                <a:latin typeface="Menlo"/>
              </a:rPr>
              <a:t>flag</a:t>
            </a:r>
            <a:r>
              <a:rPr lang="de-DE" sz="2000" b="0" u="none" strike="noStrike">
                <a:solidFill>
                  <a:srgbClr val="D4D4D4"/>
                </a:solidFill>
                <a:uFillTx/>
                <a:latin typeface="Menlo"/>
              </a:rPr>
              <a:t>: </a:t>
            </a:r>
            <a:r>
              <a:rPr lang="de-DE" sz="2000" b="0" u="none" strike="noStrike">
                <a:solidFill>
                  <a:srgbClr val="4EC9B0"/>
                </a:solidFill>
                <a:uFillTx/>
                <a:latin typeface="Menlo"/>
              </a:rPr>
              <a:t>boolean</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a</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if</a:t>
            </a:r>
            <a:r>
              <a:rPr lang="de-DE" sz="1600" b="0" u="none" strike="noStrike">
                <a:solidFill>
                  <a:srgbClr val="D4D4D4"/>
                </a:solidFill>
                <a:uFillTx/>
                <a:latin typeface="Menlo"/>
              </a:rPr>
              <a:t> (</a:t>
            </a:r>
            <a:r>
              <a:rPr lang="de-DE" sz="1600" b="0" u="none" strike="noStrike">
                <a:solidFill>
                  <a:srgbClr val="9CDCFE"/>
                </a:solidFill>
                <a:uFillTx/>
                <a:latin typeface="Menlo"/>
              </a:rPr>
              <a:t>input</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569CD6"/>
                </a:solidFill>
                <a:uFillTx/>
                <a:latin typeface="Menlo"/>
              </a:rPr>
              <a:t>let</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 = </a:t>
            </a:r>
            <a:r>
              <a:rPr lang="de-DE" sz="1200" b="0" u="none" strike="noStrike">
                <a:solidFill>
                  <a:srgbClr val="9CDCFE"/>
                </a:solidFill>
                <a:uFillTx/>
                <a:latin typeface="Menlo"/>
              </a:rPr>
              <a:t>a</a:t>
            </a:r>
            <a:r>
              <a:rPr lang="de-DE" sz="1200" b="0" u="none" strike="noStrike">
                <a:solidFill>
                  <a:srgbClr val="D4D4D4"/>
                </a:solidFill>
                <a:uFillTx/>
                <a:latin typeface="Menlo"/>
              </a:rPr>
              <a:t> + </a:t>
            </a:r>
            <a:r>
              <a:rPr lang="de-DE" sz="1200" b="0" u="none" strike="noStrike">
                <a:solidFill>
                  <a:srgbClr val="B5CEA8"/>
                </a:solidFill>
                <a:uFillTx/>
                <a:latin typeface="Menlo"/>
              </a:rPr>
              <a:t>1</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C586C0"/>
                </a:solidFill>
                <a:uFillTx/>
                <a:latin typeface="Menlo"/>
              </a:rPr>
              <a:t>return</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6A9955"/>
                </a:solidFill>
                <a:uFillTx/>
                <a:latin typeface="Menlo"/>
              </a:rPr>
              <a:t>// CompileError: 'b' doesn't exist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b</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1"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2	</a:t>
            </a:r>
            <a:endParaRPr lang="de-DE" sz="4400" b="0" u="none" strike="noStrike">
              <a:solidFill>
                <a:srgbClr val="000000"/>
              </a:solidFill>
              <a:uFillTx/>
              <a:latin typeface="Arial"/>
            </a:endParaRPr>
          </a:p>
        </p:txBody>
      </p:sp>
      <p:sp>
        <p:nvSpPr>
          <p:cNvPr id="223"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foo</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	</a:t>
            </a:r>
            <a:r>
              <a:rPr lang="de-DE" sz="2000" b="0" u="none" strike="noStrike">
                <a:solidFill>
                  <a:srgbClr val="C586C0"/>
                </a:solidFill>
                <a:uFillTx/>
                <a:latin typeface="Menlo"/>
              </a:rPr>
              <a:t>return</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6A9955"/>
                </a:solidFill>
                <a:uFillTx/>
                <a:latin typeface="Menlo"/>
              </a:rPr>
              <a:t>// undefined</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DCDCAA"/>
                </a:solidFill>
                <a:uFillTx/>
                <a:latin typeface="Menlo"/>
              </a:rPr>
              <a:t>foo</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569CD6"/>
                </a:solidFill>
                <a:uFillTx/>
                <a:latin typeface="Menlo"/>
              </a:rPr>
              <a:t>let</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4"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3</a:t>
            </a:r>
            <a:endParaRPr lang="de-DE" sz="4400" b="0" u="none" strike="noStrike">
              <a:solidFill>
                <a:srgbClr val="000000"/>
              </a:solidFill>
              <a:uFillTx/>
              <a:latin typeface="Arial"/>
            </a:endParaRPr>
          </a:p>
        </p:txBody>
      </p:sp>
      <p:sp>
        <p:nvSpPr>
          <p:cNvPr id="22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sumOfWithLet</a:t>
            </a:r>
            <a:r>
              <a:rPr lang="de-DE" sz="2000" b="0" u="none" strike="noStrike">
                <a:solidFill>
                  <a:srgbClr val="D4D4D4"/>
                </a:solidFill>
                <a:uFillTx/>
                <a:latin typeface="Menlo"/>
              </a:rPr>
              <a:t>(</a:t>
            </a:r>
            <a:r>
              <a:rPr lang="de-DE" sz="2000" b="0" u="none" strike="noStrike">
                <a:solidFill>
                  <a:srgbClr val="9CDCFE"/>
                </a:solidFill>
                <a:uFillTx/>
                <a:latin typeface="Menlo"/>
              </a:rPr>
              <a:t>matrix</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	var</a:t>
            </a:r>
            <a:r>
              <a:rPr lang="de-DE" sz="1600" b="0" u="none" strike="noStrike">
                <a:solidFill>
                  <a:srgbClr val="D4D4D4"/>
                </a:solidFill>
                <a:uFillTx/>
                <a:latin typeface="Menlo"/>
              </a:rPr>
              <a:t> </a:t>
            </a:r>
            <a:r>
              <a:rPr lang="de-DE" sz="1600" b="0" u="none" strike="noStrike">
                <a:solidFill>
                  <a:srgbClr val="9CDCFE"/>
                </a:solidFill>
                <a:uFillTx/>
                <a:latin typeface="Menlo"/>
              </a:rPr>
              <a:t>row</a:t>
            </a:r>
            <a:r>
              <a:rPr lang="de-DE" sz="1600" b="0" u="none" strike="noStrike">
                <a:solidFill>
                  <a:srgbClr val="D4D4D4"/>
                </a:solidFill>
                <a:uFillTx/>
                <a:latin typeface="Menlo"/>
              </a:rPr>
              <a:t> =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	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9CDCFE"/>
                </a:solidFill>
                <a:uFillTx/>
                <a:latin typeface="Menlo"/>
              </a:rPr>
              <a:t>		sum</a:t>
            </a:r>
            <a:r>
              <a:rPr lang="de-DE" sz="1600" b="0" u="none" strike="noStrike">
                <a:solidFill>
                  <a:srgbClr val="D4D4D4"/>
                </a:solidFill>
                <a:uFillTx/>
                <a:latin typeface="Menlo"/>
              </a:rPr>
              <a:t> +=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p:txBody>
      </p:sp>
      <p:pic>
        <p:nvPicPr>
          <p:cNvPr id="227"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291240"/>
            <a:ext cx="10514160" cy="93132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en-US" sz="5400" b="0" u="none" strike="noStrike">
                <a:solidFill>
                  <a:schemeClr val="dk1"/>
                </a:solidFill>
                <a:uFillTx/>
                <a:latin typeface="Calibri Light"/>
              </a:rPr>
              <a:t>const</a:t>
            </a:r>
            <a:endParaRPr lang="de-DE" sz="5400" b="0" u="none" strike="noStrike">
              <a:solidFill>
                <a:srgbClr val="000000"/>
              </a:solidFill>
              <a:uFillTx/>
              <a:latin typeface="Arial"/>
            </a:endParaRPr>
          </a:p>
        </p:txBody>
      </p:sp>
      <p:pic>
        <p:nvPicPr>
          <p:cNvPr id="229" name="Picture 6" descr="A close up of a screen&#10;&#10;Description automatically generated"/>
          <p:cNvPicPr/>
          <p:nvPr/>
        </p:nvPicPr>
        <p:blipFill>
          <a:blip r:embed="rId2"/>
          <a:stretch/>
        </p:blipFill>
        <p:spPr>
          <a:xfrm>
            <a:off x="838080" y="3137760"/>
            <a:ext cx="10514160" cy="189144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1"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boolean_expression1</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a:t>
            </a: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boolean_expression2</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//someOther</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//elsedo</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2"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4"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n</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1</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 &gt; </a:t>
            </a:r>
            <a:r>
              <a:rPr lang="de-DE" sz="2400" b="0" u="none" strike="noStrike">
                <a:solidFill>
                  <a:srgbClr val="B5CEA8"/>
                </a:solidFill>
                <a:uFillTx/>
                <a:latin typeface="Menlo"/>
              </a:rPr>
              <a:t>5</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do</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&gt;</a:t>
            </a:r>
            <a:r>
              <a:rPr lang="de-DE" sz="2400" b="0" u="none" strike="noStrike">
                <a:solidFill>
                  <a:srgbClr val="B5CEA8"/>
                </a:solidFill>
                <a:uFillTx/>
                <a:latin typeface="Menlo"/>
              </a:rPr>
              <a:t>5</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5"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Datentyp</a:t>
            </a:r>
            <a:endParaRPr lang="de-DE" sz="4400" b="0" u="none" strike="noStrike">
              <a:solidFill>
                <a:srgbClr val="000000"/>
              </a:solidFill>
              <a:uFillTx/>
              <a:latin typeface="Arial"/>
            </a:endParaRPr>
          </a:p>
        </p:txBody>
      </p:sp>
      <p:graphicFrame>
        <p:nvGraphicFramePr>
          <p:cNvPr id="4" name="Diagram4"/>
          <p:cNvGraphicFramePr/>
          <p:nvPr>
            <p:extLst>
              <p:ext uri="{D42A27DB-BD31-4B8C-83A1-F6EECF244321}">
                <p14:modId xmlns:p14="http://schemas.microsoft.com/office/powerpoint/2010/main" val="3035454158"/>
              </p:ext>
            </p:extLst>
          </p:nvPr>
        </p:nvGraphicFramePr>
        <p:xfrm>
          <a:off x="859320" y="184680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Funktionen</a:t>
            </a:r>
            <a:endParaRPr lang="de-DE" sz="4400" b="0" u="none" strike="noStrike">
              <a:solidFill>
                <a:srgbClr val="000000"/>
              </a:solidFill>
              <a:uFillTx/>
              <a:latin typeface="Arial"/>
            </a:endParaRPr>
          </a:p>
        </p:txBody>
      </p:sp>
      <p:sp>
        <p:nvSpPr>
          <p:cNvPr id="23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toFixed()</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numToFixed</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"numToFixed.toFixed(2)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2</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"numToFixed.toFixed(6)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4</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toLocaleString()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a:t>
            </a:r>
            <a:r>
              <a:rPr lang="de-DE" sz="2000" b="0" u="none" strike="noStrike">
                <a:solidFill>
                  <a:srgbClr val="DCDCAA"/>
                </a:solidFill>
                <a:uFillTx/>
                <a:latin typeface="Menlo"/>
              </a:rPr>
              <a:t>toLocaleString</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String Funktionen	</a:t>
            </a:r>
            <a:endParaRPr lang="de-DE" sz="4400" b="0" u="none" strike="noStrike">
              <a:solidFill>
                <a:srgbClr val="000000"/>
              </a:solidFill>
              <a:uFillTx/>
              <a:latin typeface="Arial"/>
            </a:endParaRPr>
          </a:p>
        </p:txBody>
      </p:sp>
      <p:sp>
        <p:nvSpPr>
          <p:cNvPr id="2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str1</a:t>
            </a:r>
            <a:r>
              <a:rPr lang="de-DE" sz="2800" b="0" u="none" strike="noStrike">
                <a:solidFill>
                  <a:srgbClr val="D4D4D4"/>
                </a:solidFill>
                <a:uFillTx/>
                <a:latin typeface="Menlo"/>
              </a:rPr>
              <a:t> = </a:t>
            </a:r>
            <a:r>
              <a:rPr lang="de-DE" sz="2800" b="0" u="none" strike="noStrike">
                <a:solidFill>
                  <a:srgbClr val="569CD6"/>
                </a:solidFill>
                <a:uFillTx/>
                <a:latin typeface="Menlo"/>
              </a:rPr>
              <a:t>new</a:t>
            </a:r>
            <a:r>
              <a:rPr lang="de-DE" sz="2800" b="0" u="none" strike="noStrike">
                <a:solidFill>
                  <a:srgbClr val="D4D4D4"/>
                </a:solidFill>
                <a:uFillTx/>
                <a:latin typeface="Menlo"/>
              </a:rPr>
              <a:t> </a:t>
            </a:r>
            <a:r>
              <a:rPr lang="de-DE" sz="2800" b="0" u="none" strike="noStrike">
                <a:solidFill>
                  <a:srgbClr val="4EC9B0"/>
                </a:solidFill>
                <a:uFillTx/>
                <a:latin typeface="Menlo"/>
              </a:rPr>
              <a:t>String</a:t>
            </a:r>
            <a:r>
              <a:rPr lang="de-DE" sz="2800" b="0" u="none" strike="noStrike">
                <a:solidFill>
                  <a:srgbClr val="D4D4D4"/>
                </a:solidFill>
                <a:uFillTx/>
                <a:latin typeface="Menlo"/>
              </a:rPr>
              <a:t>( </a:t>
            </a:r>
            <a:r>
              <a:rPr lang="de-DE" sz="2800" b="0" u="none" strike="noStrike">
                <a:solidFill>
                  <a:srgbClr val="CE9178"/>
                </a:solidFill>
                <a:uFillTx/>
                <a:latin typeface="Menlo"/>
              </a:rPr>
              <a:t>"The TS String"</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index</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indexOf</a:t>
            </a:r>
            <a:r>
              <a:rPr lang="de-DE" sz="2800" b="0" u="none" strike="noStrike">
                <a:solidFill>
                  <a:srgbClr val="D4D4D4"/>
                </a:solidFill>
                <a:uFillTx/>
                <a:latin typeface="Menlo"/>
              </a:rPr>
              <a:t>( </a:t>
            </a:r>
            <a:r>
              <a:rPr lang="de-DE" sz="2800" b="0" u="none" strike="noStrike">
                <a:solidFill>
                  <a:srgbClr val="CE9178"/>
                </a:solidFill>
                <a:uFillTx/>
                <a:latin typeface="Menlo"/>
              </a:rPr>
              <a:t>"String"</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"indexOf found String :"</a:t>
            </a:r>
            <a:r>
              <a:rPr lang="de-DE" sz="2800" b="0" u="none" strike="noStrike">
                <a:solidFill>
                  <a:srgbClr val="D4D4D4"/>
                </a:solidFill>
                <a:uFillTx/>
                <a:latin typeface="Menlo"/>
              </a:rPr>
              <a:t> + </a:t>
            </a:r>
            <a:r>
              <a:rPr lang="de-DE" sz="2800" b="0" u="none" strike="noStrike">
                <a:solidFill>
                  <a:srgbClr val="9CDCFE"/>
                </a:solidFill>
                <a:uFillTx/>
                <a:latin typeface="Menlo"/>
              </a:rPr>
              <a:t>index</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"(1,2):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"(0,8):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B5CEA8"/>
                </a:solidFill>
                <a:uFillTx/>
                <a:latin typeface="Menlo"/>
              </a:rPr>
              <a:t>8</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Funktionen deklarieren</a:t>
            </a:r>
            <a:endParaRPr lang="de-DE" sz="4400" b="0" u="none" strike="noStrike">
              <a:solidFill>
                <a:srgbClr val="000000"/>
              </a:solidFill>
              <a:uFillTx/>
              <a:latin typeface="Arial"/>
            </a:endParaRPr>
          </a:p>
        </p:txBody>
      </p:sp>
      <p:sp>
        <p:nvSpPr>
          <p:cNvPr id="242"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 (param1[:type], param2?[:type])</a:t>
            </a:r>
            <a:endParaRPr lang="de-DE" sz="2400" b="0" u="none" strike="noStrike">
              <a:solidFill>
                <a:srgbClr val="000000"/>
              </a:solidFill>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Varargs AKA Rest Parameters</a:t>
            </a:r>
            <a:endParaRPr lang="de-DE" sz="4400" b="0" u="none" strike="noStrike">
              <a:solidFill>
                <a:srgbClr val="000000"/>
              </a:solidFill>
              <a:uFillTx/>
              <a:latin typeface="Arial"/>
            </a:endParaRPr>
          </a:p>
        </p:txBody>
      </p:sp>
      <p:sp>
        <p:nvSpPr>
          <p:cNvPr id="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9CDCFE"/>
                </a:solidFill>
                <a:uFillTx/>
                <a:latin typeface="Menlo"/>
              </a:rPr>
              <a:t>nums</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&lt;</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CE9178"/>
                </a:solidFill>
                <a:uFillTx/>
                <a:latin typeface="Menlo"/>
              </a:rPr>
              <a:t>"sum of the numbers"</a:t>
            </a:r>
            <a:r>
              <a:rPr lang="de-DE" sz="2400" b="0" u="none" strike="noStrike">
                <a:solidFill>
                  <a:srgbClr val="D4D4D4"/>
                </a:solidFill>
                <a:uFillTx/>
                <a:latin typeface="Menlo"/>
              </a:rPr>
              <a:t>,</a:t>
            </a:r>
            <a:r>
              <a:rPr lang="de-DE" sz="2400" b="0" u="none" strike="noStrike">
                <a:solidFill>
                  <a:srgbClr val="9CDCFE"/>
                </a:solidFill>
                <a:uFillTx/>
                <a:latin typeface="Menlo"/>
              </a:rPr>
              <a:t>sum</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a:t>
            </a:r>
            <a:r>
              <a:rPr lang="de-DE" sz="2800" b="0" u="none" strike="noStrike">
                <a:solidFill>
                  <a:srgbClr val="B5CEA8"/>
                </a:solidFill>
                <a:uFillTx/>
                <a:latin typeface="Menlo"/>
              </a:rPr>
              <a:t>3</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endParaRPr lang="de-DE" sz="2800" b="0" u="none" strike="noStrike">
              <a:solidFill>
                <a:srgbClr val="000000"/>
              </a:solidFill>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Default Parameter</a:t>
            </a:r>
            <a:endParaRPr lang="de-DE" sz="4400" b="0" u="none" strike="noStrike">
              <a:solidFill>
                <a:srgbClr val="000000"/>
              </a:solidFill>
              <a:uFillTx/>
              <a:latin typeface="Arial"/>
            </a:endParaRPr>
          </a:p>
        </p:txBody>
      </p:sp>
      <p:sp>
        <p:nvSpPr>
          <p:cNvPr id="24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name(param1[:type],param2[:type] = default_value) { }</a:t>
            </a:r>
            <a:endParaRPr lang="de-DE" sz="2400" b="0" u="none" strike="noStrike">
              <a:solidFill>
                <a:srgbClr val="000000"/>
              </a:solidFill>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Anonyme Funktionen</a:t>
            </a:r>
            <a:endParaRPr lang="de-DE" sz="4400" b="0" u="none" strike="noStrike">
              <a:solidFill>
                <a:srgbClr val="000000"/>
              </a:solidFill>
              <a:uFillTx/>
              <a:latin typeface="Arial"/>
            </a:endParaRPr>
          </a:p>
        </p:txBody>
      </p:sp>
      <p:sp>
        <p:nvSpPr>
          <p:cNvPr id="248" name="PlaceHolder 2"/>
          <p:cNvSpPr>
            <a:spLocks noGrp="1"/>
          </p:cNvSpPr>
          <p:nvPr>
            <p:ph/>
          </p:nvPr>
        </p:nvSpPr>
        <p:spPr>
          <a:xfrm>
            <a:off x="4975920" y="963720"/>
            <a:ext cx="663300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de-DE" sz="2400" b="0" u="none" strike="noStrike">
                <a:solidFill>
                  <a:schemeClr val="dk1"/>
                </a:solidFill>
                <a:uFillTx/>
                <a:latin typeface="Calibri"/>
              </a:rPr>
              <a:t>var res = function( [arguments] ) {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 [param1, parma2,…param n] )=&gt;statement;</a:t>
            </a:r>
            <a:endParaRPr lang="de-DE" sz="2800" b="0" u="none" strike="noStrike">
              <a:solidFill>
                <a:srgbClr val="000000"/>
              </a:solidFill>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überladen</a:t>
            </a:r>
            <a:endParaRPr lang="de-DE" sz="4400" b="0" u="none" strike="noStrike">
              <a:solidFill>
                <a:srgbClr val="000000"/>
              </a:solidFill>
              <a:uFillTx/>
              <a:latin typeface="Arial"/>
            </a:endParaRPr>
          </a:p>
        </p:txBody>
      </p:sp>
      <p:sp>
        <p:nvSpPr>
          <p:cNvPr id="2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r>
              <a:rPr lang="de-DE" sz="2800" b="0" u="none" strike="noStrike">
                <a:solidFill>
                  <a:srgbClr val="D4D4D4"/>
                </a:solidFill>
                <a:uFillTx/>
                <a:latin typeface="Menlo"/>
              </a:rPr>
              <a:t>1.SIGNATURES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n</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s</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2. 1 BODY FOR ALL</a:t>
            </a: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	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51"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2"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3"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4"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5"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6"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Container</a:t>
            </a:r>
            <a:endParaRPr lang="de-DE" sz="4000" b="0" u="none" strike="noStrike">
              <a:solidFill>
                <a:srgbClr val="000000"/>
              </a:solidFill>
              <a:uFillTx/>
              <a:latin typeface="Arial"/>
            </a:endParaRPr>
          </a:p>
        </p:txBody>
      </p:sp>
      <p:sp>
        <p:nvSpPr>
          <p:cNvPr id="257"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array</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Liste</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tuple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anderen Basis-Typen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enum</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Werten</a:t>
            </a:r>
            <a:endParaRPr lang="de-DE" sz="2000" b="0" u="none" strike="noStrike">
              <a:solidFill>
                <a:srgbClr val="000000"/>
              </a:solidFill>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ounded Rectangle 3"/>
          <p:cNvSpPr/>
          <p:nvPr/>
        </p:nvSpPr>
        <p:spPr>
          <a:xfrm>
            <a:off x="794160" y="4908960"/>
            <a:ext cx="9479520" cy="105732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cxnSp>
        <p:nvCxnSpPr>
          <p:cNvPr id="259" name="Straight Connector 5"/>
          <p:cNvCxnSpPr/>
          <p:nvPr/>
        </p:nvCxnSpPr>
        <p:spPr>
          <a:xfrm>
            <a:off x="2045160" y="4908600"/>
            <a:ext cx="1440" cy="1072440"/>
          </a:xfrm>
          <a:prstGeom prst="straightConnector1">
            <a:avLst/>
          </a:prstGeom>
          <a:ln w="0">
            <a:solidFill>
              <a:srgbClr val="000000"/>
            </a:solidFill>
          </a:ln>
        </p:spPr>
      </p:cxnSp>
      <p:cxnSp>
        <p:nvCxnSpPr>
          <p:cNvPr id="260" name="Straight Connector 6"/>
          <p:cNvCxnSpPr/>
          <p:nvPr/>
        </p:nvCxnSpPr>
        <p:spPr>
          <a:xfrm>
            <a:off x="3160080" y="4880520"/>
            <a:ext cx="1440" cy="1072440"/>
          </a:xfrm>
          <a:prstGeom prst="straightConnector1">
            <a:avLst/>
          </a:prstGeom>
          <a:ln w="0">
            <a:solidFill>
              <a:srgbClr val="000000"/>
            </a:solidFill>
          </a:ln>
        </p:spPr>
      </p:cxnSp>
      <p:cxnSp>
        <p:nvCxnSpPr>
          <p:cNvPr id="261" name="Straight Connector 7"/>
          <p:cNvCxnSpPr/>
          <p:nvPr/>
        </p:nvCxnSpPr>
        <p:spPr>
          <a:xfrm>
            <a:off x="4443480" y="4896720"/>
            <a:ext cx="1440" cy="1072080"/>
          </a:xfrm>
          <a:prstGeom prst="straightConnector1">
            <a:avLst/>
          </a:prstGeom>
          <a:ln w="0">
            <a:solidFill>
              <a:srgbClr val="000000"/>
            </a:solidFill>
          </a:ln>
        </p:spPr>
      </p:cxnSp>
      <p:cxnSp>
        <p:nvCxnSpPr>
          <p:cNvPr id="262" name="Straight Connector 8"/>
          <p:cNvCxnSpPr/>
          <p:nvPr/>
        </p:nvCxnSpPr>
        <p:spPr>
          <a:xfrm>
            <a:off x="8458200" y="4880520"/>
            <a:ext cx="1440" cy="1072440"/>
          </a:xfrm>
          <a:prstGeom prst="straightConnector1">
            <a:avLst/>
          </a:prstGeom>
          <a:ln w="0">
            <a:solidFill>
              <a:srgbClr val="000000"/>
            </a:solidFill>
          </a:ln>
        </p:spPr>
      </p:cxnSp>
      <p:cxnSp>
        <p:nvCxnSpPr>
          <p:cNvPr id="263" name="Straight Connector 9"/>
          <p:cNvCxnSpPr/>
          <p:nvPr/>
        </p:nvCxnSpPr>
        <p:spPr>
          <a:xfrm>
            <a:off x="7166520" y="4908600"/>
            <a:ext cx="1440" cy="1072440"/>
          </a:xfrm>
          <a:prstGeom prst="straightConnector1">
            <a:avLst/>
          </a:prstGeom>
          <a:ln w="0">
            <a:solidFill>
              <a:srgbClr val="000000"/>
            </a:solidFill>
          </a:ln>
        </p:spPr>
      </p:cxnSp>
      <p:cxnSp>
        <p:nvCxnSpPr>
          <p:cNvPr id="264" name="Straight Connector 10"/>
          <p:cNvCxnSpPr/>
          <p:nvPr/>
        </p:nvCxnSpPr>
        <p:spPr>
          <a:xfrm>
            <a:off x="5766840" y="4908600"/>
            <a:ext cx="1440" cy="1072440"/>
          </a:xfrm>
          <a:prstGeom prst="straightConnector1">
            <a:avLst/>
          </a:prstGeom>
          <a:ln w="0">
            <a:solidFill>
              <a:srgbClr val="000000"/>
            </a:solidFill>
          </a:ln>
        </p:spPr>
      </p:cxnSp>
      <p:sp>
        <p:nvSpPr>
          <p:cNvPr id="265" name="TextBox 11"/>
          <p:cNvSpPr/>
          <p:nvPr/>
        </p:nvSpPr>
        <p:spPr>
          <a:xfrm>
            <a:off x="1375920" y="4511880"/>
            <a:ext cx="78177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0	1	         2		3	      4		5	    6</a:t>
            </a:r>
            <a:endParaRPr lang="de-DE" sz="1800" b="0" u="none" strike="noStrike">
              <a:solidFill>
                <a:srgbClr val="000000"/>
              </a:solidFill>
              <a:uFillTx/>
              <a:latin typeface="Arial"/>
            </a:endParaRPr>
          </a:p>
        </p:txBody>
      </p:sp>
      <p:sp>
        <p:nvSpPr>
          <p:cNvPr id="266" name="Rectangle 13"/>
          <p:cNvSpPr/>
          <p:nvPr/>
        </p:nvSpPr>
        <p:spPr>
          <a:xfrm>
            <a:off x="6244560" y="3238200"/>
            <a:ext cx="439020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nummern</a:t>
            </a:r>
            <a:r>
              <a:rPr lang="de-DE" sz="1800" b="0" u="none" strike="noStrike">
                <a:solidFill>
                  <a:srgbClr val="D4D4D4"/>
                </a:solidFill>
                <a:uFillTx/>
                <a:latin typeface="Menlo"/>
              </a:rPr>
              <a:t> = [</a:t>
            </a:r>
            <a:r>
              <a:rPr lang="de-DE" sz="1800" b="0" u="none" strike="noStrike">
                <a:solidFill>
                  <a:srgbClr val="B5CEA8"/>
                </a:solidFill>
                <a:uFillTx/>
                <a:latin typeface="Menlo"/>
              </a:rPr>
              <a:t>1</a:t>
            </a:r>
            <a:r>
              <a:rPr lang="de-DE" sz="1800" b="0" u="none" strike="noStrike">
                <a:solidFill>
                  <a:srgbClr val="D4D4D4"/>
                </a:solidFill>
                <a:uFillTx/>
                <a:latin typeface="Menlo"/>
              </a:rPr>
              <a:t>,</a:t>
            </a:r>
            <a:r>
              <a:rPr lang="de-DE" sz="1800" b="0" u="none" strike="noStrike">
                <a:solidFill>
                  <a:srgbClr val="B5CEA8"/>
                </a:solidFill>
                <a:uFillTx/>
                <a:latin typeface="Menlo"/>
              </a:rPr>
              <a:t>3</a:t>
            </a:r>
            <a:r>
              <a:rPr lang="de-DE" sz="1800" b="0" u="none" strike="noStrike">
                <a:solidFill>
                  <a:srgbClr val="D4D4D4"/>
                </a:solidFill>
                <a:uFillTx/>
                <a:latin typeface="Menlo"/>
              </a:rPr>
              <a:t>,</a:t>
            </a:r>
            <a:r>
              <a:rPr lang="de-DE" sz="1800" b="0" u="none" strike="noStrike">
                <a:solidFill>
                  <a:srgbClr val="B5CEA8"/>
                </a:solidFill>
                <a:uFillTx/>
                <a:latin typeface="Menlo"/>
              </a:rPr>
              <a:t>5</a:t>
            </a:r>
            <a:r>
              <a:rPr lang="de-DE" sz="1800" b="0" u="none" strike="noStrike">
                <a:solidFill>
                  <a:srgbClr val="D4D4D4"/>
                </a:solidFill>
                <a:uFillTx/>
                <a:latin typeface="Menlo"/>
              </a:rPr>
              <a:t>,</a:t>
            </a:r>
            <a:r>
              <a:rPr lang="de-DE" sz="1800" b="0" u="none" strike="noStrike">
                <a:solidFill>
                  <a:srgbClr val="B5CEA8"/>
                </a:solidFill>
                <a:uFillTx/>
                <a:latin typeface="Menlo"/>
              </a:rPr>
              <a:t>7</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secondEntry</a:t>
            </a:r>
            <a:r>
              <a:rPr lang="de-DE" sz="1800" b="0" u="none" strike="noStrike">
                <a:solidFill>
                  <a:srgbClr val="D4D4D4"/>
                </a:solidFill>
                <a:uFillTx/>
                <a:latin typeface="Menlo"/>
              </a:rPr>
              <a:t> =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B5CEA8"/>
                </a:solidFill>
                <a:uFillTx/>
                <a:latin typeface="Menlo"/>
              </a:rPr>
              <a:t>1</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 </a:t>
            </a:r>
            <a:endParaRPr lang="de-DE" sz="1800" b="0" u="none" strike="noStrike">
              <a:solidFill>
                <a:srgbClr val="000000"/>
              </a:solidFill>
              <a:uFillTx/>
              <a:latin typeface="Arial"/>
            </a:endParaRPr>
          </a:p>
        </p:txBody>
      </p:sp>
      <p:sp>
        <p:nvSpPr>
          <p:cNvPr id="267" name="Rectangle 14"/>
          <p:cNvSpPr/>
          <p:nvPr/>
        </p:nvSpPr>
        <p:spPr>
          <a:xfrm>
            <a:off x="908640" y="878400"/>
            <a:ext cx="5834520" cy="455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2400" b="0" u="none" strike="noStrike">
                <a:solidFill>
                  <a:schemeClr val="dk1"/>
                </a:solidFill>
                <a:uFillTx/>
                <a:latin typeface="Calibri"/>
              </a:rPr>
              <a:t>var array_name[:data type] = [val1,val2…valn]</a:t>
            </a:r>
            <a:endParaRPr lang="de-DE" sz="2400" b="0" u="none" strike="noStrike">
              <a:solidFill>
                <a:srgbClr val="000000"/>
              </a:solidFill>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Rectangle 1"/>
          <p:cNvSpPr/>
          <p:nvPr/>
        </p:nvSpPr>
        <p:spPr>
          <a:xfrm>
            <a:off x="4523760" y="3947400"/>
            <a:ext cx="740988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 </a:t>
            </a:r>
            <a:r>
              <a:rPr lang="de-DE" sz="1800" b="0" u="none" strike="noStrike">
                <a:solidFill>
                  <a:srgbClr val="569CD6"/>
                </a:solidFill>
                <a:uFillTx/>
                <a:latin typeface="Menlo"/>
              </a:rPr>
              <a:t>new</a:t>
            </a:r>
            <a:r>
              <a:rPr lang="de-DE" sz="1800" b="0" u="none" strike="noStrike">
                <a:solidFill>
                  <a:srgbClr val="D4D4D4"/>
                </a:solidFill>
                <a:uFillTx/>
                <a:latin typeface="Menlo"/>
              </a:rPr>
              <a:t> </a:t>
            </a:r>
            <a:r>
              <a:rPr lang="de-DE" sz="1800" b="0" u="none" strike="noStrike">
                <a:solidFill>
                  <a:srgbClr val="4EC9B0"/>
                </a:solidFill>
                <a:uFillTx/>
                <a:latin typeface="Menlo"/>
              </a:rPr>
              <a:t>Array</a:t>
            </a:r>
            <a:r>
              <a:rPr lang="de-DE" sz="1800" b="0" u="none" strike="noStrike">
                <a:solidFill>
                  <a:srgbClr val="D4D4D4"/>
                </a:solidFill>
                <a:uFillTx/>
                <a:latin typeface="Menlo"/>
              </a:rPr>
              <a:t>(</a:t>
            </a:r>
            <a:r>
              <a:rPr lang="de-DE" sz="1800" b="0" u="none" strike="noStrike">
                <a:solidFill>
                  <a:srgbClr val="B5CEA8"/>
                </a:solidFill>
                <a:uFillTx/>
                <a:latin typeface="Menlo"/>
              </a:rPr>
              <a:t>4</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br>
              <a:rPr sz="1800"/>
            </a:br>
            <a:r>
              <a:rPr lang="de-DE" sz="1800" b="0" u="none" strike="noStrike">
                <a:solidFill>
                  <a:srgbClr val="C586C0"/>
                </a:solidFill>
                <a:uFillTx/>
                <a:latin typeface="Menlo"/>
              </a:rPr>
              <a:t>for</a:t>
            </a:r>
            <a:r>
              <a:rPr lang="de-DE" sz="1800" b="0" u="none" strike="noStrike">
                <a:solidFill>
                  <a:srgbClr val="D4D4D4"/>
                </a:solidFill>
                <a:uFillTx/>
                <a:latin typeface="Menlo"/>
              </a:rPr>
              <a:t>(</a:t>
            </a: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0</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&lt;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length</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	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10</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4EC9B0"/>
                </a:solidFill>
                <a:uFillTx/>
                <a:latin typeface="Menlo"/>
              </a:rPr>
              <a:t>	console</a:t>
            </a:r>
            <a:r>
              <a:rPr lang="de-DE" sz="1800" b="0" u="none" strike="noStrike">
                <a:solidFill>
                  <a:srgbClr val="D4D4D4"/>
                </a:solidFill>
                <a:uFillTx/>
                <a:latin typeface="Menlo"/>
              </a:rPr>
              <a:t>.</a:t>
            </a:r>
            <a:r>
              <a:rPr lang="de-DE" sz="1800" b="0" u="none" strike="noStrike">
                <a:solidFill>
                  <a:srgbClr val="DCDCAA"/>
                </a:solidFill>
                <a:uFillTx/>
                <a:latin typeface="Menlo"/>
              </a:rPr>
              <a:t>log</a:t>
            </a:r>
            <a:r>
              <a:rPr lang="de-DE" sz="1800" b="0" u="none" strike="noStrike">
                <a:solidFill>
                  <a:srgbClr val="D4D4D4"/>
                </a:solidFill>
                <a:uFillTx/>
                <a:latin typeface="Menlo"/>
              </a:rPr>
              <a: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a:t>
            </a:r>
            <a:endParaRPr lang="de-DE" sz="1800" b="0" u="none" strike="noStrike">
              <a:solidFill>
                <a:srgbClr val="000000"/>
              </a:solidFill>
              <a:uFillTx/>
              <a:latin typeface="Arial"/>
            </a:endParaRPr>
          </a:p>
        </p:txBody>
      </p:sp>
      <p:pic>
        <p:nvPicPr>
          <p:cNvPr id="269" name="Picture 5" descr="A crowd of people in a room&#10;&#10;Description automatically generated"/>
          <p:cNvPicPr/>
          <p:nvPr/>
        </p:nvPicPr>
        <p:blipFill>
          <a:blip r:embed="rId2"/>
          <a:stretch/>
        </p:blipFill>
        <p:spPr>
          <a:xfrm>
            <a:off x="885960" y="990720"/>
            <a:ext cx="3046680" cy="22082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70" name="Rectangle 72">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1" name="PlaceHolder 1"/>
          <p:cNvSpPr>
            <a:spLocks noGrp="1"/>
          </p:cNvSpPr>
          <p:nvPr>
            <p:ph type="title"/>
          </p:nvPr>
        </p:nvSpPr>
        <p:spPr>
          <a:xfrm>
            <a:off x="5297760" y="329040"/>
            <a:ext cx="6249600" cy="1781640"/>
          </a:xfrm>
          <a:prstGeom prst="rect">
            <a:avLst/>
          </a:prstGeom>
          <a:noFill/>
          <a:ln w="0">
            <a:noFill/>
          </a:ln>
        </p:spPr>
        <p:txBody>
          <a:bodyPr lIns="91440" tIns="45720" rIns="91440" bIns="45720" anchor="b">
            <a:normAutofit fontScale="92500"/>
          </a:bodyPr>
          <a:lstStyle/>
          <a:p>
            <a:pPr indent="0" defTabSz="914400">
              <a:lnSpc>
                <a:spcPct val="90000"/>
              </a:lnSpc>
              <a:buNone/>
              <a:tabLst>
                <a:tab pos="0" algn="l"/>
              </a:tabLst>
            </a:pPr>
            <a:r>
              <a:rPr lang="en-US" sz="5400" b="0" u="none" strike="noStrike">
                <a:solidFill>
                  <a:schemeClr val="dk1"/>
                </a:solidFill>
                <a:uFillTx/>
                <a:latin typeface="Calibri Light"/>
              </a:rPr>
              <a:t>Array Schnittstellen Auszug </a:t>
            </a:r>
            <a:endParaRPr lang="de-DE" sz="5400" b="0" u="none" strike="noStrike">
              <a:solidFill>
                <a:srgbClr val="000000"/>
              </a:solidFill>
              <a:uFillTx/>
              <a:latin typeface="Arial"/>
            </a:endParaRPr>
          </a:p>
        </p:txBody>
      </p:sp>
      <p:pic>
        <p:nvPicPr>
          <p:cNvPr id="272" name="Picture 4" descr="NewSpringcollection2007_"/>
          <p:cNvPicPr/>
          <p:nvPr/>
        </p:nvPicPr>
        <p:blipFill>
          <a:blip r:embed="rId2"/>
          <a:srcRect l="21422" r="10668"/>
          <a:stretch/>
        </p:blipFill>
        <p:spPr>
          <a:xfrm>
            <a:off x="0" y="0"/>
            <a:ext cx="4655880" cy="6856560"/>
          </a:xfrm>
          <a:prstGeom prst="rect">
            <a:avLst/>
          </a:prstGeom>
          <a:noFill/>
          <a:ln w="0">
            <a:noFill/>
          </a:ln>
        </p:spPr>
      </p:pic>
      <p:sp>
        <p:nvSpPr>
          <p:cNvPr id="273" name="sketchy line">
            <a:extLst>
              <a:ext uri="{C183D7F6-B498-43B3-948B-1728B52AA6E4}">
                <adec:decorative xmlns:adec="http://schemas.microsoft.com/office/drawing/2017/decorative" val="1"/>
              </a:ext>
            </a:extLst>
          </p:cNvPr>
          <p:cNvSpPr/>
          <p:nvPr/>
        </p:nvSpPr>
        <p:spPr>
          <a:xfrm>
            <a:off x="5297760" y="2374920"/>
            <a:ext cx="4242240" cy="16920"/>
          </a:xfrm>
          <a:custGeom>
            <a:avLst/>
            <a:gdLst>
              <a:gd name="textAreaLeft" fmla="*/ 0 w 4242240"/>
              <a:gd name="textAreaRight" fmla="*/ 4243680 w 4242240"/>
              <a:gd name="textAreaTop" fmla="*/ 0 h 16920"/>
              <a:gd name="textAreaBottom" fmla="*/ 18360 h 16920"/>
            </a:gdLst>
            <a:ahLst/>
            <a:cxnLst/>
            <a:rect l="textAreaLeft" t="textAreaTop" r="textAreaRight" b="textAreaBottom"/>
            <a:pathLst>
              <a:path w="4243589" h="18288" fill="none">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4" name="PlaceHolder 2"/>
          <p:cNvSpPr>
            <a:spLocks noGrp="1"/>
          </p:cNvSpPr>
          <p:nvPr>
            <p:ph/>
          </p:nvPr>
        </p:nvSpPr>
        <p:spPr>
          <a:xfrm>
            <a:off x="5297760" y="2706480"/>
            <a:ext cx="6249600" cy="34822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concat(value1, value2, ..., valueN)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indexOf(o)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lastIndexOf(o) : number;</a:t>
            </a:r>
            <a:r>
              <a:rPr lang="en-US" sz="2200" b="1" u="none" strike="noStrike">
                <a:solidFill>
                  <a:schemeClr val="dk1"/>
                </a:solidFill>
                <a:uFillTx/>
                <a:latin typeface="Calibri"/>
              </a:rPr>
              <a:t> </a:t>
            </a:r>
            <a:endParaRPr lang="de-DE" sz="22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push(e1,e2,..en)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unshift(e1,e2,..en)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pop()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shift() : T;</a:t>
            </a:r>
            <a:endParaRPr lang="de-DE" sz="2200" b="0" u="none" strike="noStrike">
              <a:solidFill>
                <a:srgbClr val="000000"/>
              </a:solidFill>
              <a:uFillTx/>
              <a:latin typeface="Arial"/>
            </a:endParaRPr>
          </a:p>
        </p:txBody>
      </p:sp>
      <p:sp>
        <p:nvSpPr>
          <p:cNvPr id="275" name="Rectangle 1"/>
          <p:cNvSpPr/>
          <p:nvPr/>
        </p:nvSpPr>
        <p:spPr>
          <a:xfrm>
            <a:off x="5297760" y="6319080"/>
            <a:ext cx="63511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n-DE" sz="1800" b="0" u="none" strike="noStrike">
                <a:solidFill>
                  <a:schemeClr val="dk1"/>
                </a:solidFill>
                <a:uFillTx/>
                <a:latin typeface="Calibri"/>
              </a:rPr>
              <a:t>https://www.tutorialspoint.com/typescript/typescript_arrays.htm</a:t>
            </a:r>
            <a:endParaRPr lang="de-DE" sz="1800" b="0" u="none" strike="noStrike">
              <a:solidFill>
                <a:srgbClr val="000000"/>
              </a:solidFill>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concat()</a:t>
            </a:r>
            <a:endParaRPr lang="de-DE" sz="4400" b="0" u="none" strike="noStrike">
              <a:solidFill>
                <a:srgbClr val="000000"/>
              </a:solidFill>
              <a:uFillTx/>
              <a:latin typeface="Arial"/>
            </a:endParaRPr>
          </a:p>
        </p:txBody>
      </p:sp>
      <p:sp>
        <p:nvSpPr>
          <p:cNvPr id="27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 = [</a:t>
            </a:r>
            <a:r>
              <a:rPr lang="de-DE" sz="2800" b="0" u="none" strike="noStrike">
                <a:solidFill>
                  <a:srgbClr val="CE9178"/>
                </a:solidFill>
                <a:uFillTx/>
                <a:latin typeface="Menlo"/>
              </a:rPr>
              <a:t>"a"</a:t>
            </a:r>
            <a:r>
              <a:rPr lang="de-DE" sz="2800" b="0" u="none" strike="noStrike">
                <a:solidFill>
                  <a:srgbClr val="D4D4D4"/>
                </a:solidFill>
                <a:uFillTx/>
                <a:latin typeface="Menlo"/>
              </a:rPr>
              <a:t>, </a:t>
            </a:r>
            <a:r>
              <a:rPr lang="de-DE" sz="2800" b="0" u="none" strike="noStrike">
                <a:solidFill>
                  <a:srgbClr val="CE9178"/>
                </a:solidFill>
                <a:uFillTx/>
                <a:latin typeface="Menlo"/>
              </a:rPr>
              <a:t>"b"</a:t>
            </a:r>
            <a:r>
              <a:rPr lang="de-DE" sz="2800" b="0" u="none" strike="noStrike">
                <a:solidFill>
                  <a:srgbClr val="D4D4D4"/>
                </a:solidFill>
                <a:uFillTx/>
                <a:latin typeface="Menlo"/>
              </a:rPr>
              <a:t>, </a:t>
            </a:r>
            <a:r>
              <a:rPr lang="de-DE" sz="2800" b="0" u="none" strike="noStrike">
                <a:solidFill>
                  <a:srgbClr val="CE9178"/>
                </a:solidFill>
                <a:uFillTx/>
                <a:latin typeface="Menlo"/>
              </a:rPr>
              <a:t>"c"</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nummern2</a:t>
            </a:r>
            <a:r>
              <a:rPr lang="de-DE" sz="2800" b="0" u="none" strike="noStrike">
                <a:solidFill>
                  <a:srgbClr val="D4D4D4"/>
                </a:solidFill>
                <a:uFillTx/>
                <a:latin typeface="Menlo"/>
              </a:rPr>
              <a:t> = [</a:t>
            </a:r>
            <a:r>
              <a:rPr lang="de-DE" sz="2800" b="0" u="none" strike="noStrike">
                <a:solidFill>
                  <a:srgbClr val="B5CEA8"/>
                </a:solidFill>
                <a:uFillTx/>
                <a:latin typeface="Menlo"/>
              </a:rPr>
              <a:t>1</a:t>
            </a:r>
            <a:r>
              <a:rPr lang="de-DE" sz="2800" b="0" u="none" strike="noStrike">
                <a:solidFill>
                  <a:srgbClr val="D4D4D4"/>
                </a:solidFill>
                <a:uFillTx/>
                <a:latin typeface="Menlo"/>
              </a:rPr>
              <a:t>, </a:t>
            </a:r>
            <a:r>
              <a:rPr lang="de-DE" sz="2800" b="0" u="none" strike="noStrike">
                <a:solidFill>
                  <a:srgbClr val="B5CEA8"/>
                </a:solidFill>
                <a:uFillTx/>
                <a:latin typeface="Menlo"/>
              </a:rPr>
              <a:t>2</a:t>
            </a:r>
            <a:r>
              <a:rPr lang="de-DE" sz="2800" b="0" u="none" strike="noStrike">
                <a:solidFill>
                  <a:srgbClr val="D4D4D4"/>
                </a:solidFill>
                <a:uFillTx/>
                <a:latin typeface="Menlo"/>
              </a:rPr>
              <a:t>, </a:t>
            </a:r>
            <a:r>
              <a:rPr lang="de-DE" sz="2800" b="0" u="none" strike="noStrike">
                <a:solidFill>
                  <a:srgbClr val="B5CEA8"/>
                </a:solidFill>
                <a:uFillTx/>
                <a:latin typeface="Menlo"/>
              </a:rPr>
              <a:t>3</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alphaNumeric</a:t>
            </a:r>
            <a:r>
              <a:rPr lang="de-DE" sz="2800" b="0" u="none" strike="noStrike">
                <a:solidFill>
                  <a:srgbClr val="D4D4D4"/>
                </a:solidFill>
                <a:uFillTx/>
                <a:latin typeface="Menlo"/>
              </a:rPr>
              <a:t> =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DCDCAA"/>
                </a:solidFill>
                <a:uFillTx/>
                <a:latin typeface="Menlo"/>
              </a:rPr>
              <a:t>concat</a:t>
            </a:r>
            <a:r>
              <a:rPr lang="de-DE" sz="2800" b="0" u="none" strike="noStrike">
                <a:solidFill>
                  <a:srgbClr val="D4D4D4"/>
                </a:solidFill>
                <a:uFillTx/>
                <a:latin typeface="Menlo"/>
              </a:rPr>
              <a:t>(</a:t>
            </a:r>
            <a:r>
              <a:rPr lang="de-DE" sz="2800" b="0" u="none" strike="noStrike">
                <a:solidFill>
                  <a:srgbClr val="9CDCFE"/>
                </a:solidFill>
                <a:uFillTx/>
                <a:latin typeface="Menlo"/>
              </a:rPr>
              <a:t>nummern2</a:t>
            </a:r>
            <a:r>
              <a:rPr lang="de-DE" sz="2800" b="0" u="none" strike="noStrike">
                <a:solidFill>
                  <a:srgbClr val="D4D4D4"/>
                </a:solidFill>
                <a:uFillTx/>
                <a:latin typeface="Menlo"/>
              </a:rPr>
              <a:t>); </a:t>
            </a:r>
            <a:endParaRPr lang="de-DE" sz="2800" b="0" u="none" strike="noStrike">
              <a:solidFill>
                <a:srgbClr val="000000"/>
              </a:solidFill>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Pop und push</a:t>
            </a:r>
            <a:endParaRPr lang="de-DE" sz="4400" b="0" u="none" strike="noStrike">
              <a:solidFill>
                <a:srgbClr val="000000"/>
              </a:solidFill>
              <a:uFillTx/>
              <a:latin typeface="Arial"/>
            </a:endParaRPr>
          </a:p>
        </p:txBody>
      </p:sp>
      <p:sp>
        <p:nvSpPr>
          <p:cNvPr id="279" name="PlaceHolder 2"/>
          <p:cNvSpPr>
            <a:spLocks noGrp="1"/>
          </p:cNvSpPr>
          <p:nvPr>
            <p:ph/>
          </p:nvPr>
        </p:nvSpPr>
        <p:spPr>
          <a:xfrm>
            <a:off x="3473280" y="3073320"/>
            <a:ext cx="8717040" cy="15033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lengthAfterPush</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push</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000" b="0" u="none" strike="noStrike">
                <a:solidFill>
                  <a:srgbClr val="569CD6"/>
                </a:solidFill>
                <a:uFillTx/>
                <a:latin typeface="Menlo"/>
              </a:rPr>
              <a:t>new</a:t>
            </a:r>
            <a:r>
              <a:rPr lang="en-GB" sz="2000" b="0" u="none" strike="noStrike">
                <a:solidFill>
                  <a:srgbClr val="D4D4D4"/>
                </a:solidFill>
                <a:uFillTx/>
                <a:latin typeface="Menlo"/>
              </a:rPr>
              <a:t> </a:t>
            </a:r>
            <a:r>
              <a:rPr lang="en-GB" sz="2000" b="0" u="none" strike="noStrike">
                <a:solidFill>
                  <a:srgbClr val="4EC9B0"/>
                </a:solidFill>
                <a:uFillTx/>
                <a:latin typeface="Menlo"/>
              </a:rPr>
              <a:t>Fahrzeug</a:t>
            </a:r>
            <a:r>
              <a:rPr lang="en-GB" sz="2000" b="0" u="none" strike="noStrike">
                <a:solidFill>
                  <a:srgbClr val="D4D4D4"/>
                </a:solidFill>
                <a:uFillTx/>
                <a:latin typeface="Menlo"/>
              </a:rPr>
              <a:t>(</a:t>
            </a:r>
            <a:r>
              <a:rPr lang="en-GB" sz="2000" b="0" u="none" strike="noStrike">
                <a:solidFill>
                  <a:srgbClr val="CE9178"/>
                </a:solidFill>
                <a:uFillTx/>
                <a:latin typeface="Menlo"/>
              </a:rPr>
              <a:t>"Cybertruck Dual Motor"</a:t>
            </a:r>
            <a:r>
              <a:rPr lang="en-GB" sz="2000" b="0" u="none" strike="noStrike">
                <a:solidFill>
                  <a:srgbClr val="D4D4D4"/>
                </a:solidFill>
                <a:uFillTx/>
                <a:latin typeface="Menlo"/>
              </a:rPr>
              <a:t>,</a:t>
            </a:r>
            <a:r>
              <a:rPr lang="en-GB" sz="2000" b="0" u="none" strike="noStrike">
                <a:solidFill>
                  <a:srgbClr val="CE9178"/>
                </a:solidFill>
                <a:uFillTx/>
                <a:latin typeface="Menlo"/>
              </a:rPr>
              <a:t>"Tesla"</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fahrzeug</a:t>
            </a:r>
            <a:r>
              <a:rPr lang="en-GB" sz="2000" b="0" u="none" strike="noStrike">
                <a:solidFill>
                  <a:srgbClr val="D4D4D4"/>
                </a:solidFill>
                <a:uFillTx/>
                <a:latin typeface="Menlo"/>
              </a:rPr>
              <a:t>:</a:t>
            </a:r>
            <a:r>
              <a:rPr lang="en-GB" sz="2000" b="0" u="none" strike="noStrike">
                <a:solidFill>
                  <a:srgbClr val="4EC9B0"/>
                </a:solidFill>
                <a:uFillTx/>
                <a:latin typeface="Menlo"/>
              </a:rPr>
              <a:t>Fahrzeug</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pop</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sp>
        <p:nvSpPr>
          <p:cNvPr id="280" name="Rectangle 27"/>
          <p:cNvSpPr/>
          <p:nvPr/>
        </p:nvSpPr>
        <p:spPr>
          <a:xfrm>
            <a:off x="6095880" y="4149720"/>
            <a:ext cx="912960" cy="912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1" name="Rectangle 28"/>
          <p:cNvSpPr/>
          <p:nvPr/>
        </p:nvSpPr>
        <p:spPr>
          <a:xfrm>
            <a:off x="2063880" y="472428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2" name="Line 29"/>
          <p:cNvSpPr/>
          <p:nvPr/>
        </p:nvSpPr>
        <p:spPr>
          <a:xfrm>
            <a:off x="2063520" y="50130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3" name="Line 30"/>
          <p:cNvSpPr/>
          <p:nvPr/>
        </p:nvSpPr>
        <p:spPr>
          <a:xfrm>
            <a:off x="2063520" y="537336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4" name="Line 31"/>
          <p:cNvSpPr/>
          <p:nvPr/>
        </p:nvSpPr>
        <p:spPr>
          <a:xfrm>
            <a:off x="2063520" y="5733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5" name="Line 32"/>
          <p:cNvSpPr/>
          <p:nvPr/>
        </p:nvSpPr>
        <p:spPr>
          <a:xfrm>
            <a:off x="2063520" y="6165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6" name="Text Box 33"/>
          <p:cNvSpPr/>
          <p:nvPr/>
        </p:nvSpPr>
        <p:spPr>
          <a:xfrm>
            <a:off x="2424600" y="472428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87" name="Text Box 34"/>
          <p:cNvSpPr/>
          <p:nvPr/>
        </p:nvSpPr>
        <p:spPr>
          <a:xfrm>
            <a:off x="2352600" y="508464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88" name="Text Box 35"/>
          <p:cNvSpPr/>
          <p:nvPr/>
        </p:nvSpPr>
        <p:spPr>
          <a:xfrm>
            <a:off x="2207160" y="537372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89" name="Text Box 36"/>
          <p:cNvSpPr/>
          <p:nvPr/>
        </p:nvSpPr>
        <p:spPr>
          <a:xfrm>
            <a:off x="2356200" y="580536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290" name="AutoShape 46"/>
          <p:cNvCxnSpPr>
            <a:stCxn id="281" idx="3"/>
          </p:cNvCxnSpPr>
          <p:nvPr/>
        </p:nvCxnSpPr>
        <p:spPr>
          <a:xfrm>
            <a:off x="3646800" y="5659920"/>
            <a:ext cx="1874160" cy="2520"/>
          </a:xfrm>
          <a:prstGeom prst="straightConnector1">
            <a:avLst/>
          </a:prstGeom>
          <a:ln w="9525">
            <a:solidFill>
              <a:srgbClr val="000000"/>
            </a:solidFill>
            <a:round/>
            <a:tailEnd type="triangle" w="med" len="med"/>
          </a:ln>
        </p:spPr>
      </p:cxnSp>
      <p:sp>
        <p:nvSpPr>
          <p:cNvPr id="291" name="Rectangle 49"/>
          <p:cNvSpPr/>
          <p:nvPr/>
        </p:nvSpPr>
        <p:spPr>
          <a:xfrm>
            <a:off x="8616960" y="4797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92" name="Line 50"/>
          <p:cNvSpPr/>
          <p:nvPr/>
        </p:nvSpPr>
        <p:spPr>
          <a:xfrm>
            <a:off x="8616600" y="5086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3" name="Line 51"/>
          <p:cNvSpPr/>
          <p:nvPr/>
        </p:nvSpPr>
        <p:spPr>
          <a:xfrm>
            <a:off x="8616600" y="5446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4" name="Line 52"/>
          <p:cNvSpPr/>
          <p:nvPr/>
        </p:nvSpPr>
        <p:spPr>
          <a:xfrm>
            <a:off x="8616600" y="5806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5" name="Line 53"/>
          <p:cNvSpPr/>
          <p:nvPr/>
        </p:nvSpPr>
        <p:spPr>
          <a:xfrm>
            <a:off x="8616600" y="6238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6" name="Text Box 54"/>
          <p:cNvSpPr/>
          <p:nvPr/>
        </p:nvSpPr>
        <p:spPr>
          <a:xfrm>
            <a:off x="8977680" y="4797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97" name="Text Box 55"/>
          <p:cNvSpPr/>
          <p:nvPr/>
        </p:nvSpPr>
        <p:spPr>
          <a:xfrm>
            <a:off x="8906040" y="5157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98" name="Text Box 56"/>
          <p:cNvSpPr/>
          <p:nvPr/>
        </p:nvSpPr>
        <p:spPr>
          <a:xfrm>
            <a:off x="8760240" y="5446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99" name="Text Box 57"/>
          <p:cNvSpPr/>
          <p:nvPr/>
        </p:nvSpPr>
        <p:spPr>
          <a:xfrm>
            <a:off x="8909640" y="5878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300" name="AutoShape 59"/>
          <p:cNvCxnSpPr>
            <a:endCxn id="291" idx="1"/>
          </p:cNvCxnSpPr>
          <p:nvPr/>
        </p:nvCxnSpPr>
        <p:spPr>
          <a:xfrm>
            <a:off x="7103880" y="5661000"/>
            <a:ext cx="1513440" cy="72360"/>
          </a:xfrm>
          <a:prstGeom prst="bentConnector3">
            <a:avLst>
              <a:gd name="adj1" fmla="val 49964"/>
            </a:avLst>
          </a:prstGeom>
          <a:ln w="9525">
            <a:solidFill>
              <a:srgbClr val="000000"/>
            </a:solidFill>
            <a:miter/>
            <a:tailEnd type="triangle" w="med" len="med"/>
          </a:ln>
        </p:spPr>
      </p:cxnSp>
      <p:sp>
        <p:nvSpPr>
          <p:cNvPr id="301" name="Text Box 61"/>
          <p:cNvSpPr/>
          <p:nvPr/>
        </p:nvSpPr>
        <p:spPr>
          <a:xfrm>
            <a:off x="7086240" y="5083200"/>
            <a:ext cx="127512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Fahrzeug ct =</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v.pop();</a:t>
            </a:r>
            <a:endParaRPr lang="de-DE" sz="1400" b="0" u="none" strike="noStrike">
              <a:solidFill>
                <a:srgbClr val="000000"/>
              </a:solidFill>
              <a:uFillTx/>
              <a:latin typeface="Arial"/>
            </a:endParaRPr>
          </a:p>
        </p:txBody>
      </p:sp>
      <p:sp>
        <p:nvSpPr>
          <p:cNvPr id="302" name="Text Box 48"/>
          <p:cNvSpPr/>
          <p:nvPr/>
        </p:nvSpPr>
        <p:spPr>
          <a:xfrm>
            <a:off x="5547960" y="6257520"/>
            <a:ext cx="1507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Tesla Cybertruck</a:t>
            </a:r>
            <a:endParaRPr lang="de-DE" sz="1400" b="0" u="none" strike="noStrike">
              <a:solidFill>
                <a:srgbClr val="000000"/>
              </a:solidFill>
              <a:uFillTx/>
              <a:latin typeface="Arial"/>
            </a:endParaRPr>
          </a:p>
        </p:txBody>
      </p:sp>
      <p:sp>
        <p:nvSpPr>
          <p:cNvPr id="303" name="Rectangle 28"/>
          <p:cNvSpPr/>
          <p:nvPr/>
        </p:nvSpPr>
        <p:spPr>
          <a:xfrm>
            <a:off x="5519880" y="4770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304" name="Line 29"/>
          <p:cNvSpPr/>
          <p:nvPr/>
        </p:nvSpPr>
        <p:spPr>
          <a:xfrm>
            <a:off x="5519520" y="5059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5" name="Line 30"/>
          <p:cNvSpPr/>
          <p:nvPr/>
        </p:nvSpPr>
        <p:spPr>
          <a:xfrm>
            <a:off x="5519520" y="5419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6" name="Line 31"/>
          <p:cNvSpPr/>
          <p:nvPr/>
        </p:nvSpPr>
        <p:spPr>
          <a:xfrm>
            <a:off x="5519520" y="5779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7" name="Line 32"/>
          <p:cNvSpPr/>
          <p:nvPr/>
        </p:nvSpPr>
        <p:spPr>
          <a:xfrm>
            <a:off x="5519520" y="6211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8" name="Text Box 33"/>
          <p:cNvSpPr/>
          <p:nvPr/>
        </p:nvSpPr>
        <p:spPr>
          <a:xfrm>
            <a:off x="5880600" y="4770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309" name="Text Box 34"/>
          <p:cNvSpPr/>
          <p:nvPr/>
        </p:nvSpPr>
        <p:spPr>
          <a:xfrm>
            <a:off x="5808600" y="5130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310" name="Text Box 35"/>
          <p:cNvSpPr/>
          <p:nvPr/>
        </p:nvSpPr>
        <p:spPr>
          <a:xfrm>
            <a:off x="5663160" y="5419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311" name="Text Box 36"/>
          <p:cNvSpPr/>
          <p:nvPr/>
        </p:nvSpPr>
        <p:spPr>
          <a:xfrm>
            <a:off x="5812200" y="5851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5"/>
          <p:cNvSpPr/>
          <p:nvPr/>
        </p:nvSpPr>
        <p:spPr>
          <a:xfrm>
            <a:off x="655200" y="365040"/>
            <a:ext cx="5118840" cy="1691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defTabSz="914400">
              <a:lnSpc>
                <a:spcPct val="90000"/>
              </a:lnSpc>
              <a:spcAft>
                <a:spcPts val="601"/>
              </a:spcAft>
            </a:pPr>
            <a:r>
              <a:rPr lang="en-US" sz="4400" b="1" u="none" strike="noStrike" spc="51">
                <a:solidFill>
                  <a:schemeClr val="dk1"/>
                </a:solidFill>
                <a:uFillTx/>
                <a:latin typeface="Calibri Light"/>
              </a:rPr>
              <a:t>UNION TYPES</a:t>
            </a:r>
            <a:endParaRPr lang="de-DE" sz="4400" b="0" u="none" strike="noStrike">
              <a:solidFill>
                <a:srgbClr val="000000"/>
              </a:solidFill>
              <a:uFillTx/>
              <a:latin typeface="Arial"/>
            </a:endParaRPr>
          </a:p>
        </p:txBody>
      </p:sp>
      <p:sp>
        <p:nvSpPr>
          <p:cNvPr id="313" name="Rectangle 6"/>
          <p:cNvSpPr/>
          <p:nvPr/>
        </p:nvSpPr>
        <p:spPr>
          <a:xfrm>
            <a:off x="529560" y="3549600"/>
            <a:ext cx="6311880" cy="238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B5CEA8"/>
                </a:solidFill>
                <a:uFillTx/>
                <a:latin typeface="Menlo"/>
              </a:rPr>
              <a:t>42</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"numeric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CE9178"/>
                </a:solidFill>
                <a:uFillTx/>
                <a:latin typeface="Menlo"/>
              </a:rPr>
              <a:t>"42 as 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"string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14" name="Picture 4"/>
          <p:cNvSpPr/>
          <p:nvPr/>
        </p:nvSpPr>
        <p:spPr>
          <a:xfrm>
            <a:off x="5878800" y="0"/>
            <a:ext cx="6311880" cy="6856560"/>
          </a:xfrm>
          <a:custGeom>
            <a:avLst/>
            <a:gdLst>
              <a:gd name="textAreaLeft" fmla="*/ 0 w 6311880"/>
              <a:gd name="textAreaRight" fmla="*/ 6313320 w 6311880"/>
              <a:gd name="textAreaTop" fmla="*/ 0 h 6856560"/>
              <a:gd name="textAreaBottom" fmla="*/ 6858000 h 6856560"/>
            </a:gdLst>
            <a:ahLst/>
            <a:cxnLst/>
            <a:rect l="textAreaLeft" t="textAreaTop" r="textAreaRight" b="textAreaBottom"/>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Schnittstellen - Interfaces</a:t>
            </a:r>
            <a:endParaRPr lang="de-DE" sz="4400" b="0" u="none" strike="noStrike">
              <a:solidFill>
                <a:srgbClr val="000000"/>
              </a:solidFill>
              <a:uFillTx/>
              <a:latin typeface="Arial"/>
            </a:endParaRPr>
          </a:p>
        </p:txBody>
      </p:sp>
      <p:sp>
        <p:nvSpPr>
          <p:cNvPr id="31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Schnittstelle beschreibt eine Menge von Signaturen und Attributen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Externe </a:t>
            </a:r>
            <a:r>
              <a:rPr lang="de-DE" sz="2400" b="0" i="1" u="none" strike="noStrike">
                <a:solidFill>
                  <a:schemeClr val="dk1"/>
                </a:solidFill>
                <a:uFillTx/>
                <a:latin typeface="Calibri"/>
              </a:rPr>
              <a:t>Sicht</a:t>
            </a:r>
            <a:r>
              <a:rPr lang="de-DE" sz="2400" b="0" u="none" strike="noStrike">
                <a:solidFill>
                  <a:schemeClr val="dk1"/>
                </a:solidFill>
                <a:uFillTx/>
                <a:latin typeface="Calibri"/>
              </a:rPr>
              <a:t>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Verhalten der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Enthält in der Regel nicht alle Attribute/Methoden der Klasse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Klasse kann mehrere Interfaces </a:t>
            </a:r>
            <a:r>
              <a:rPr lang="de-DE" sz="2400" b="0" i="1" u="none" strike="noStrike">
                <a:solidFill>
                  <a:schemeClr val="dk1"/>
                </a:solidFill>
                <a:uFillTx/>
                <a:latin typeface="Calibri"/>
              </a:rPr>
              <a:t>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Muss alle in der Schnittstelle deklarierten Methoden 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Schnittstellenmethoden sind de facto abstrakt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Enum</a:t>
            </a:r>
            <a:endParaRPr lang="de-DE" sz="4400" b="0" u="none" strike="noStrike">
              <a:solidFill>
                <a:srgbClr val="000000"/>
              </a:solidFill>
              <a:uFillTx/>
              <a:latin typeface="Arial"/>
            </a:endParaRPr>
          </a:p>
        </p:txBody>
      </p:sp>
      <p:sp>
        <p:nvSpPr>
          <p:cNvPr id="3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enum</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Up</a:t>
            </a:r>
            <a:r>
              <a:rPr lang="en-GB" sz="2800" b="0" u="none" strike="noStrike">
                <a:solidFill>
                  <a:srgbClr val="D4D4D4"/>
                </a:solidFill>
                <a:uFillTx/>
                <a:latin typeface="Menlo"/>
              </a:rPr>
              <a:t> = </a:t>
            </a:r>
            <a:r>
              <a:rPr lang="en-GB" sz="2800" b="0" u="none" strike="noStrike">
                <a:solidFill>
                  <a:srgbClr val="B5CEA8"/>
                </a:solidFill>
                <a:uFillTx/>
                <a:latin typeface="Menlo"/>
              </a:rPr>
              <a:t>1</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Left</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Right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dir</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Nonsens Code</a:t>
            </a:r>
            <a:endParaRPr lang="de-DE" sz="4400" b="0" u="none" strike="noStrike">
              <a:solidFill>
                <a:srgbClr val="000000"/>
              </a:solidFill>
              <a:uFillTx/>
              <a:latin typeface="Arial"/>
            </a:endParaRPr>
          </a:p>
        </p:txBody>
      </p:sp>
      <p:sp>
        <p:nvSpPr>
          <p:cNvPr id="3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569CD6"/>
              </a:buClr>
              <a:buFont typeface="Arial"/>
              <a:buChar char="•"/>
            </a:pPr>
            <a:r>
              <a:rPr lang="en-GB" sz="2800" b="0" u="none" strike="noStrike">
                <a:solidFill>
                  <a:srgbClr val="569CD6"/>
                </a:solidFill>
                <a:uFillTx/>
                <a:latin typeface="Menlo"/>
              </a:rPr>
              <a:t>function</a:t>
            </a:r>
            <a:r>
              <a:rPr lang="en-GB" sz="2800" b="0" u="none" strike="noStrike">
                <a:solidFill>
                  <a:srgbClr val="D4D4D4"/>
                </a:solidFill>
                <a:uFillTx/>
                <a:latin typeface="Menlo"/>
              </a:rPr>
              <a:t> </a:t>
            </a:r>
            <a:r>
              <a:rPr lang="en-GB" sz="2800" b="0" u="none" strike="noStrike">
                <a:solidFill>
                  <a:srgbClr val="DCDCAA"/>
                </a:solidFill>
                <a:uFillTx/>
                <a:latin typeface="Menlo"/>
              </a:rPr>
              <a:t>some</a:t>
            </a:r>
            <a:r>
              <a:rPr lang="en-GB" sz="2800" b="0" u="none" strike="noStrike">
                <a:solidFill>
                  <a:srgbClr val="D4D4D4"/>
                </a:solidFill>
                <a:uFillTx/>
                <a:latin typeface="Menlo"/>
              </a:rPr>
              <a:t>(</a:t>
            </a:r>
            <a:r>
              <a:rPr lang="en-GB" sz="2800" b="0" u="none" strike="noStrike">
                <a:solidFill>
                  <a:srgbClr val="9CDCFE"/>
                </a:solidFill>
                <a:uFillTx/>
                <a:latin typeface="Menlo"/>
              </a:rPr>
              <a:t>x</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C586C0"/>
              </a:buClr>
              <a:buFont typeface="Arial"/>
              <a:buChar char="•"/>
            </a:pPr>
            <a:r>
              <a:rPr lang="en-GB" sz="2800" b="0" u="none" strike="noStrike">
                <a:solidFill>
                  <a:srgbClr val="C586C0"/>
                </a:solidFill>
                <a:uFillTx/>
                <a:latin typeface="Menlo"/>
              </a:rPr>
              <a:t>if</a:t>
            </a:r>
            <a:r>
              <a:rPr lang="en-GB" sz="2800" b="0" u="none" strike="noStrike">
                <a:solidFill>
                  <a:srgbClr val="D4D4D4"/>
                </a:solidFill>
                <a:uFillTx/>
                <a:latin typeface="Menlo"/>
              </a:rPr>
              <a:t>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 ||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Error! This condition will always return 'true' since the types 'Direction.Up' and 'Direction.Down' have no overlap.</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21" name="Rectangle 71">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2" name="Rectangle 73">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3" name="Rectangle 75">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4" name="Rectangle 77">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5" name="Freeform: Shape 79">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6" name="PlaceHolder 1"/>
          <p:cNvSpPr>
            <a:spLocks noGrp="1"/>
          </p:cNvSpPr>
          <p:nvPr>
            <p:ph type="title"/>
          </p:nvPr>
        </p:nvSpPr>
        <p:spPr>
          <a:xfrm>
            <a:off x="659880" y="2766960"/>
            <a:ext cx="2879280" cy="307044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rgbClr val="FFFFFF"/>
                </a:solidFill>
                <a:uFillTx/>
                <a:latin typeface="Calibri Light"/>
              </a:rPr>
              <a:t>Beispiel Interface</a:t>
            </a:r>
            <a:endParaRPr lang="de-DE" sz="4000" b="0" u="none" strike="noStrike">
              <a:solidFill>
                <a:srgbClr val="000000"/>
              </a:solidFill>
              <a:uFillTx/>
              <a:latin typeface="Arial"/>
            </a:endParaRPr>
          </a:p>
        </p:txBody>
      </p:sp>
      <p:pic>
        <p:nvPicPr>
          <p:cNvPr id="327" name="Inhaltsplatzhalter 4" descr="schnittstelle.jpg"/>
          <p:cNvPicPr/>
          <p:nvPr/>
        </p:nvPicPr>
        <p:blipFill>
          <a:blip r:embed="rId3"/>
          <a:stretch/>
        </p:blipFill>
        <p:spPr>
          <a:xfrm>
            <a:off x="6464160" y="467280"/>
            <a:ext cx="3300840" cy="59220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3"/>
          <p:cNvSpPr/>
          <p:nvPr/>
        </p:nvSpPr>
        <p:spPr>
          <a:xfrm>
            <a:off x="1514520" y="2780280"/>
            <a:ext cx="891396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suhlen</a:t>
            </a:r>
            <a:r>
              <a:rPr lang="en-GB" sz="1800" b="0" u="none" strike="noStrike">
                <a:solidFill>
                  <a:srgbClr val="D4D4D4"/>
                </a:solidFill>
                <a:uFillTx/>
                <a:latin typeface="Menlo"/>
              </a:rPr>
              <a:t> : ()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CE9178"/>
                </a:solidFill>
                <a:uFillTx/>
                <a:latin typeface="Menlo"/>
              </a:rPr>
              <a:t>"Ich mag nicht schmutzig sein"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2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a:t>
            </a:r>
            <a:endParaRPr lang="de-DE" sz="4400" b="0" u="none" strike="noStrike">
              <a:solidFill>
                <a:srgbClr val="000000"/>
              </a:solidFill>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Rectangle 3"/>
          <p:cNvSpPr/>
          <p:nvPr/>
        </p:nvSpPr>
        <p:spPr>
          <a:xfrm>
            <a:off x="1514520" y="2780280"/>
            <a:ext cx="891396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4EC9B0"/>
                </a:solidFill>
                <a:uFillTx/>
                <a:latin typeface="Menlo"/>
              </a:rPr>
              <a:t>Schmutzfink</a:t>
            </a:r>
            <a:r>
              <a:rPr lang="en-GB" sz="1800" b="0" u="none" strike="noStrike">
                <a:solidFill>
                  <a:srgbClr val="D4D4D4"/>
                </a:solidFill>
                <a:uFillTx/>
                <a:latin typeface="Menlo"/>
              </a:rPr>
              <a:t> =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 :</a:t>
            </a:r>
            <a:r>
              <a:rPr lang="en-GB" sz="1800" b="0" u="none" strike="noStrike">
                <a:solidFill>
                  <a:srgbClr val="D4D4D4"/>
                </a:solidFill>
                <a:uFillTx/>
                <a:latin typeface="Menlo"/>
              </a:rPr>
              <a:t> </a:t>
            </a:r>
            <a:r>
              <a:rPr lang="en-GB" sz="1800" b="0" u="none" strike="noStrike">
                <a:solidFill>
                  <a:srgbClr val="CE9178"/>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 ist gerne im Dreck"</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DCDCAA"/>
                </a:solidFill>
                <a:uFillTx/>
                <a:latin typeface="Menlo"/>
              </a:rPr>
              <a:t>suhlen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 mit var</a:t>
            </a:r>
            <a:endParaRPr lang="de-DE" sz="4400" b="0" u="none" strike="noStrike">
              <a:solidFill>
                <a:srgbClr val="000000"/>
              </a:solidFill>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Inline Interface Def</a:t>
            </a:r>
            <a:endParaRPr lang="de-DE" sz="4400" b="0" u="none" strike="noStrike">
              <a:solidFill>
                <a:srgbClr val="000000"/>
              </a:solidFill>
              <a:uFillTx/>
              <a:latin typeface="Arial"/>
            </a:endParaRPr>
          </a:p>
        </p:txBody>
      </p:sp>
      <p:sp>
        <p:nvSpPr>
          <p:cNvPr id="333" name="Rectangle 2"/>
          <p:cNvSpPr/>
          <p:nvPr/>
        </p:nvSpPr>
        <p:spPr>
          <a:xfrm>
            <a:off x="2683080" y="2828880"/>
            <a:ext cx="64594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function</a:t>
            </a:r>
            <a:r>
              <a:rPr lang="en-GB" sz="1800" b="0" u="none" strike="noStrike">
                <a:solidFill>
                  <a:srgbClr val="D4D4D4"/>
                </a:solidFill>
                <a:uFillTx/>
                <a:latin typeface="Menlo"/>
              </a:rPr>
              <a:t> </a:t>
            </a: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335" name="Rectangle 2"/>
          <p:cNvSpPr/>
          <p:nvPr/>
        </p:nvSpPr>
        <p:spPr>
          <a:xfrm>
            <a:off x="1154880" y="3285360"/>
            <a:ext cx="8938080" cy="2284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br>
              <a:rPr sz="1800"/>
            </a:b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readonly</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	weight</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missPiggy2_1</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r>
              <a:rPr lang="en-GB" sz="1800" b="0" u="none" strike="noStrike">
                <a:solidFill>
                  <a:srgbClr val="9CDCFE"/>
                </a:solidFill>
                <a:uFillTx/>
                <a:latin typeface="Menlo"/>
              </a:rPr>
              <a:t>weight:</a:t>
            </a:r>
            <a:r>
              <a:rPr lang="en-GB" sz="1800" b="0" u="none" strike="noStrike">
                <a:solidFill>
                  <a:srgbClr val="D4D4D4"/>
                </a:solidFill>
                <a:uFillTx/>
                <a:latin typeface="Menlo"/>
              </a:rPr>
              <a:t> </a:t>
            </a:r>
            <a:r>
              <a:rPr lang="en-GB" sz="1800" b="0" u="none" strike="noStrike">
                <a:solidFill>
                  <a:srgbClr val="B5CEA8"/>
                </a:solidFill>
                <a:uFillTx/>
                <a:latin typeface="Menlo"/>
              </a:rPr>
              <a:t>100</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Klassen deklarieren</a:t>
            </a:r>
            <a:endParaRPr lang="de-DE" sz="4400" b="0" u="none" strike="noStrike">
              <a:solidFill>
                <a:srgbClr val="000000"/>
              </a:solidFill>
              <a:uFillTx/>
              <a:latin typeface="Arial"/>
            </a:endParaRPr>
          </a:p>
        </p:txBody>
      </p:sp>
      <p:sp>
        <p:nvSpPr>
          <p:cNvPr id="337"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GB" sz="2400" b="0" u="none" strike="noStrike">
                <a:solidFill>
                  <a:schemeClr val="dk1"/>
                </a:solidFill>
                <a:uFillTx/>
                <a:latin typeface="Calibri"/>
              </a:rPr>
              <a:t>	class class_name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//class scope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a:t>
            </a:r>
            <a:endParaRPr lang="de-DE" sz="2400" b="0" u="none" strike="noStrike">
              <a:solidFill>
                <a:srgbClr val="000000"/>
              </a:solidFill>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Member von Klassen</a:t>
            </a:r>
            <a:endParaRPr lang="de-DE" sz="4400" b="0" u="none" strike="noStrike">
              <a:solidFill>
                <a:srgbClr val="000000"/>
              </a:solidFill>
              <a:uFillTx/>
              <a:latin typeface="Arial"/>
            </a:endParaRPr>
          </a:p>
        </p:txBody>
      </p:sp>
      <p:graphicFrame>
        <p:nvGraphicFramePr>
          <p:cNvPr id="5" name="Diagram5"/>
          <p:cNvGraphicFramePr/>
          <p:nvPr>
            <p:extLst>
              <p:ext uri="{D42A27DB-BD31-4B8C-83A1-F6EECF244321}">
                <p14:modId xmlns:p14="http://schemas.microsoft.com/office/powerpoint/2010/main" val="1693529396"/>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Klassen Definition</a:t>
            </a:r>
            <a:endParaRPr lang="de-DE" sz="4400" b="0" u="none" strike="noStrike">
              <a:solidFill>
                <a:srgbClr val="000000"/>
              </a:solidFill>
              <a:uFillTx/>
              <a:latin typeface="Arial"/>
            </a:endParaRPr>
          </a:p>
        </p:txBody>
      </p:sp>
      <p:sp>
        <p:nvSpPr>
          <p:cNvPr id="3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gibLaut</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readonly</a:t>
            </a:r>
            <a:endParaRPr lang="de-DE" sz="4400" b="0" u="none" strike="noStrike">
              <a:solidFill>
                <a:srgbClr val="000000"/>
              </a:solidFill>
              <a:uFillTx/>
              <a:latin typeface="Arial"/>
            </a:endParaRPr>
          </a:p>
        </p:txBody>
      </p:sp>
      <p:sp>
        <p:nvSpPr>
          <p:cNvPr id="34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readonly</a:t>
            </a:r>
            <a:r>
              <a:rPr lang="de-DE" sz="2800" b="0" u="none" strike="noStrike">
                <a:solidFill>
                  <a:schemeClr val="dk1"/>
                </a:solidFill>
                <a:uFillTx/>
                <a:latin typeface="Calibri"/>
              </a:rPr>
              <a:t>-Attribute sind möglich</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Verkürzter Konstruktor durch "Parameter 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constructor(readonly attr:type) </a:t>
            </a:r>
            <a:r>
              <a:rPr lang="de-DE" sz="2400" b="0" u="none" strike="noStrike">
                <a:solidFill>
                  <a:schemeClr val="dk1"/>
                </a:solidFill>
                <a:uFillTx/>
                <a:latin typeface="Calibri"/>
              </a:rPr>
              <a:t>deklariert und setzt ein Attribut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a:t>
            </a:r>
            <a:endParaRPr lang="de-DE" sz="4400" b="0" u="none" strike="noStrike">
              <a:solidFill>
                <a:srgbClr val="000000"/>
              </a:solidFill>
              <a:uFillTx/>
              <a:latin typeface="Arial"/>
            </a:endParaRPr>
          </a:p>
        </p:txBody>
      </p:sp>
      <p:sp>
        <p:nvSpPr>
          <p:cNvPr id="3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Sichtbarkeiten von Exemplarvariablen und 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public	Zugriff von allen Klassen möglich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protected	Zugriff von Unterklassen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private	Zugriff nur innerhalb Klasse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pic>
        <p:nvPicPr>
          <p:cNvPr id="345" name="Picture 4" descr="cd_bild_sichtbarkeit"/>
          <p:cNvPicPr/>
          <p:nvPr/>
        </p:nvPicPr>
        <p:blipFill>
          <a:blip r:embed="rId3"/>
          <a:stretch/>
        </p:blipFill>
        <p:spPr>
          <a:xfrm>
            <a:off x="5238720" y="4500720"/>
            <a:ext cx="2157480" cy="2065320"/>
          </a:xfrm>
          <a:prstGeom prst="rect">
            <a:avLst/>
          </a:prstGeom>
          <a:noFill/>
          <a:ln w="0">
            <a:noFill/>
          </a:ln>
        </p:spPr>
      </p:pic>
      <p:sp>
        <p:nvSpPr>
          <p:cNvPr id="346" name="Line 5"/>
          <p:cNvSpPr/>
          <p:nvPr/>
        </p:nvSpPr>
        <p:spPr>
          <a:xfrm flipV="1">
            <a:off x="4511520" y="4952880"/>
            <a:ext cx="746280" cy="131760"/>
          </a:xfrm>
          <a:prstGeom prst="line">
            <a:avLst/>
          </a:prstGeom>
          <a:ln w="9525">
            <a:solidFill>
              <a:srgbClr val="00000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uFillTx/>
              <a:latin typeface="Calibri"/>
            </a:endParaRPr>
          </a:p>
        </p:txBody>
      </p:sp>
      <p:sp>
        <p:nvSpPr>
          <p:cNvPr id="347" name="Text Box 6"/>
          <p:cNvSpPr/>
          <p:nvPr/>
        </p:nvSpPr>
        <p:spPr>
          <a:xfrm>
            <a:off x="3270600" y="4940280"/>
            <a:ext cx="108180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sichtbarkeit</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private</a:t>
            </a:r>
            <a:endParaRPr lang="de-DE" sz="1400" b="0" u="none" strike="noStrike">
              <a:solidFill>
                <a:srgbClr val="000000"/>
              </a:solidFill>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Sichtbarkeit Beispiel</a:t>
            </a:r>
            <a:endParaRPr lang="de-DE" sz="4400" b="0" u="none" strike="noStrike">
              <a:solidFill>
                <a:srgbClr val="000000"/>
              </a:solidFill>
              <a:uFillTx/>
              <a:latin typeface="Arial"/>
            </a:endParaRPr>
          </a:p>
        </p:txBody>
      </p:sp>
      <p:sp>
        <p:nvSpPr>
          <p:cNvPr id="3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	private</a:t>
            </a:r>
            <a:r>
              <a:rPr lang="en-GB" sz="2800" b="0" u="none" strike="noStrike">
                <a:solidFill>
                  <a:srgbClr val="D4D4D4"/>
                </a:solidFill>
                <a:uFillTx/>
                <a:latin typeface="Menlo"/>
              </a:rPr>
              <a:t> </a:t>
            </a:r>
            <a:r>
              <a:rPr lang="en-GB" sz="2800" b="0" u="none" strike="noStrike">
                <a:solidFill>
                  <a:srgbClr val="9CDCFE"/>
                </a:solidFill>
                <a:uFillTx/>
                <a:latin typeface="Menlo"/>
              </a:rPr>
              <a:t>name</a:t>
            </a:r>
            <a:r>
              <a:rPr lang="en-GB" sz="2800" b="0" u="none" strike="noStrike">
                <a:solidFill>
                  <a:srgbClr val="D4D4D4"/>
                </a:solidFill>
                <a:uFillTx/>
                <a:latin typeface="Menlo"/>
              </a:rPr>
              <a:t> :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1: Erstelle die Klasse Student,</a:t>
            </a:r>
            <a:br>
              <a:rPr sz="4400"/>
            </a:br>
            <a:r>
              <a:rPr lang="de-DE" sz="4400" b="0" u="none" strike="noStrike">
                <a:solidFill>
                  <a:schemeClr val="dk1"/>
                </a:solidFill>
                <a:uFillTx/>
                <a:latin typeface="Calibri Light"/>
              </a:rPr>
              <a:t>so dass sie wie hier arbeitet</a:t>
            </a:r>
            <a:endParaRPr lang="de-DE" sz="4400" b="0" u="none" strike="noStrike">
              <a:solidFill>
                <a:srgbClr val="000000"/>
              </a:solidFill>
              <a:uFillTx/>
              <a:latin typeface="Arial"/>
            </a:endParaRPr>
          </a:p>
        </p:txBody>
      </p:sp>
      <p:sp>
        <p:nvSpPr>
          <p:cNvPr id="3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mit Matrikelnummer: 123456"</a:t>
            </a:r>
            <a:endParaRPr lang="de-DE" sz="2800" b="0" u="none" strike="noStrike">
              <a:solidFill>
                <a:srgbClr val="000000"/>
              </a:solidFill>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2: Erstelle einen Konstruktor,</a:t>
            </a:r>
            <a:br>
              <a:rPr sz="4400"/>
            </a:br>
            <a:r>
              <a:rPr lang="de-DE" sz="4400" b="0" u="none" strike="noStrike">
                <a:solidFill>
                  <a:schemeClr val="dk1"/>
                </a:solidFill>
                <a:uFillTx/>
                <a:latin typeface="Calibri Light"/>
              </a:rPr>
              <a:t>so dass die Klasse wie hier arbeitet</a:t>
            </a:r>
            <a:endParaRPr lang="de-DE" sz="4400" b="0" u="none" strike="noStrike">
              <a:solidFill>
                <a:srgbClr val="000000"/>
              </a:solidFill>
              <a:uFillTx/>
              <a:latin typeface="Arial"/>
            </a:endParaRPr>
          </a:p>
        </p:txBody>
      </p:sp>
      <p:sp>
        <p:nvSpPr>
          <p:cNvPr id="3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"Max"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Max mit Matrikelnummer: 123456"</a:t>
            </a:r>
            <a:endParaRPr lang="de-DE" sz="2800" b="0" u="none" strike="noStrike">
              <a:solidFill>
                <a:srgbClr val="000000"/>
              </a:solidFill>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Getter Setter</a:t>
            </a:r>
            <a:endParaRPr lang="de-DE" sz="4400" b="0" u="none" strike="noStrike">
              <a:solidFill>
                <a:srgbClr val="000000"/>
              </a:solidFill>
              <a:uFillTx/>
              <a:latin typeface="Arial"/>
            </a:endParaRPr>
          </a:p>
        </p:txBody>
      </p:sp>
      <p:sp>
        <p:nvSpPr>
          <p:cNvPr id="355" name="Rectangle 2"/>
          <p:cNvSpPr/>
          <p:nvPr/>
        </p:nvSpPr>
        <p:spPr>
          <a:xfrm>
            <a:off x="3336840" y="2171880"/>
            <a:ext cx="6094440" cy="3930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get</a:t>
            </a:r>
            <a:r>
              <a:rPr lang="en-GB" sz="1800" b="0" u="none" strike="noStrike">
                <a:solidFill>
                  <a:srgbClr val="D4D4D4"/>
                </a:solidFill>
                <a:uFillTx/>
                <a:latin typeface="Menlo"/>
              </a:rPr>
              <a:t> </a:t>
            </a: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9CDCFE"/>
                </a:solidFill>
                <a:uFillTx/>
                <a:latin typeface="Menlo"/>
              </a:rPr>
              <a:t>new_name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new_name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6" name="Inhaltsplatzhalter 7" descr="2schnittstelle.jpg"/>
          <p:cNvPicPr/>
          <p:nvPr/>
        </p:nvPicPr>
        <p:blipFill>
          <a:blip r:embed="rId3"/>
          <a:stretch/>
        </p:blipFill>
        <p:spPr>
          <a:xfrm>
            <a:off x="3645720" y="677880"/>
            <a:ext cx="5297760" cy="5500440"/>
          </a:xfrm>
          <a:prstGeom prst="rect">
            <a:avLst/>
          </a:prstGeom>
          <a:noFill/>
          <a:ln w="0">
            <a:noFill/>
          </a:ln>
        </p:spPr>
      </p:pic>
    </p:spTree>
  </p:cSld>
  <p:clrMapOvr>
    <a:masterClrMapping/>
  </p:clrMapOvr>
  <p:transition spd="med">
    <p:dissolv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3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interface</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9CDCFE"/>
                </a:solidFill>
                <a:uFillTx/>
                <a:latin typeface="Menlo"/>
              </a:rPr>
              <a:t>	suhlen</a:t>
            </a:r>
            <a:r>
              <a:rPr lang="en-GB" sz="2800" b="0" u="none" strike="noStrike">
                <a:solidFill>
                  <a:srgbClr val="D4D4D4"/>
                </a:solidFill>
                <a:uFillTx/>
                <a:latin typeface="Menlo"/>
              </a:rPr>
              <a:t> : () </a:t>
            </a:r>
            <a:r>
              <a:rPr lang="en-GB" sz="2800" b="0" u="none" strike="noStrike">
                <a:solidFill>
                  <a:srgbClr val="569CD6"/>
                </a:solidFill>
                <a:uFillTx/>
                <a:latin typeface="Menlo"/>
              </a:rPr>
              <a:t>=&gt;</a:t>
            </a:r>
            <a:r>
              <a:rPr lang="en-GB" sz="2800" b="0" u="none" strike="noStrike">
                <a:solidFill>
                  <a:srgbClr val="D4D4D4"/>
                </a:solidFill>
                <a:uFillTx/>
                <a:latin typeface="Menlo"/>
              </a:rPr>
              <a:t>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 </a:t>
            </a:r>
            <a:r>
              <a:rPr lang="en-GB" sz="2800" b="0" u="none" strike="noStrike">
                <a:solidFill>
                  <a:srgbClr val="569CD6"/>
                </a:solidFill>
                <a:uFillTx/>
                <a:latin typeface="Menlo"/>
              </a:rPr>
              <a:t>implements</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private</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suhlen</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miss_piggy</a:t>
            </a:r>
            <a:r>
              <a:rPr lang="en-GB" sz="2800" b="0" u="none" strike="noStrike">
                <a:solidFill>
                  <a:srgbClr val="D4D4D4"/>
                </a:solidFill>
                <a:uFillTx/>
                <a:latin typeface="Menlo"/>
              </a:rPr>
              <a:t> : </a:t>
            </a:r>
            <a:r>
              <a:rPr lang="en-GB" sz="2800" b="0" u="none" strike="noStrike">
                <a:solidFill>
                  <a:srgbClr val="4EC9B0"/>
                </a:solidFill>
                <a:uFillTx/>
                <a:latin typeface="Menlo"/>
              </a:rPr>
              <a:t>Schmutzfink</a:t>
            </a:r>
            <a:r>
              <a:rPr lang="en-GB" sz="2800" b="0" u="none" strike="noStrike">
                <a:solidFill>
                  <a:srgbClr val="D4D4D4"/>
                </a:solidFill>
                <a:uFillTx/>
                <a:latin typeface="Menlo"/>
              </a:rPr>
              <a:t> = </a:t>
            </a:r>
            <a:r>
              <a:rPr lang="en-GB" sz="2800" b="0" u="none" strike="noStrike">
                <a:solidFill>
                  <a:srgbClr val="569CD6"/>
                </a:solidFill>
                <a:uFillTx/>
                <a:latin typeface="Menlo"/>
              </a:rPr>
              <a:t>new</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r>
              <a:rPr lang="en-GB" sz="2800" b="0" u="none" strike="noStrike">
                <a:solidFill>
                  <a:srgbClr val="CE9178"/>
                </a:solidFill>
                <a:uFillTx/>
                <a:latin typeface="Menlo"/>
              </a:rPr>
              <a:t>"Miss Piggy"</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9CDCFE"/>
                </a:solidFill>
                <a:uFillTx/>
                <a:latin typeface="Menlo"/>
              </a:rPr>
              <a:t>miss_piggy</a:t>
            </a:r>
            <a:r>
              <a:rPr lang="en-GB" sz="2800" b="0" u="none" strike="noStrike">
                <a:solidFill>
                  <a:srgbClr val="D4D4D4"/>
                </a:solidFill>
                <a:uFillTx/>
                <a:latin typeface="Menlo"/>
              </a:rPr>
              <a:t>.</a:t>
            </a:r>
            <a:r>
              <a:rPr lang="en-GB" sz="2800" b="0" u="none" strike="noStrike">
                <a:solidFill>
                  <a:srgbClr val="DCDCAA"/>
                </a:solidFill>
                <a:uFillTx/>
                <a:latin typeface="Menlo"/>
              </a:rPr>
              <a:t>suhlen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59"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0" name="Rectangle 7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1" name="Rectangle 74">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2" name="Rectangle 76">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3" name="Freeform: Shape 78">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4" name="Rectangle 1"/>
          <p:cNvSpPr/>
          <p:nvPr/>
        </p:nvSpPr>
        <p:spPr>
          <a:xfrm>
            <a:off x="659880" y="2766960"/>
            <a:ext cx="2879280" cy="307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90000"/>
              </a:lnSpc>
              <a:spcAft>
                <a:spcPts val="601"/>
              </a:spcAft>
            </a:pPr>
            <a:r>
              <a:rPr lang="en-US" sz="4000" b="1" u="none" strike="noStrike" spc="51">
                <a:solidFill>
                  <a:srgbClr val="FFFFFF"/>
                </a:solidFill>
                <a:uFillTx/>
                <a:latin typeface="Calibri Light"/>
              </a:rPr>
              <a:t>Vererbung</a:t>
            </a:r>
            <a:endParaRPr lang="de-DE" sz="4000" b="0" u="none" strike="noStrike">
              <a:solidFill>
                <a:srgbClr val="000000"/>
              </a:solidFill>
              <a:uFillTx/>
              <a:latin typeface="Arial"/>
            </a:endParaRPr>
          </a:p>
        </p:txBody>
      </p:sp>
      <p:pic>
        <p:nvPicPr>
          <p:cNvPr id="365" name="Inhaltsplatzhalter 3" descr="lineWriter.jpg"/>
          <p:cNvPicPr/>
          <p:nvPr/>
        </p:nvPicPr>
        <p:blipFill>
          <a:blip r:embed="rId3"/>
          <a:stretch/>
        </p:blipFill>
        <p:spPr>
          <a:xfrm>
            <a:off x="4502520" y="1116720"/>
            <a:ext cx="7224480" cy="4623120"/>
          </a:xfrm>
          <a:prstGeom prst="rect">
            <a:avLst/>
          </a:prstGeom>
          <a:noFill/>
          <a:ln w="0">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Vererbung</a:t>
            </a:r>
            <a:endParaRPr lang="de-DE" sz="4400" b="0" u="none" strike="noStrike">
              <a:solidFill>
                <a:srgbClr val="000000"/>
              </a:solidFill>
              <a:uFillTx/>
              <a:latin typeface="Arial"/>
            </a:endParaRPr>
          </a:p>
        </p:txBody>
      </p:sp>
      <p:sp>
        <p:nvSpPr>
          <p:cNvPr id="3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Klassen unterstützen das Konzept der Vererbung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einer Klasse können auch abstrakt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Analog zu Definition einer Interface-Funktion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Klasse, die mit </a:t>
            </a:r>
            <a:r>
              <a:rPr lang="de-DE" sz="2400" b="0" u="none" strike="noStrike">
                <a:solidFill>
                  <a:schemeClr val="dk1"/>
                </a:solidFill>
                <a:uFillTx/>
                <a:latin typeface="Courier New"/>
              </a:rPr>
              <a:t>new</a:t>
            </a:r>
            <a:r>
              <a:rPr lang="de-DE" sz="2400" b="0" u="none" strike="noStrike">
                <a:solidFill>
                  <a:schemeClr val="dk1"/>
                </a:solidFill>
                <a:uFillTx/>
                <a:latin typeface="Calibri"/>
              </a:rPr>
              <a:t> instanziiert werden soll darf keine 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Interface kann von einer Klasse erben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darf die Klasse keine nicht-abstrakten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Klasse kann eine Schnittstelle implementieren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Schlüsselwort </a:t>
            </a:r>
            <a:r>
              <a:rPr lang="de-DE" sz="2400" b="0" u="none" strike="noStrike">
                <a:solidFill>
                  <a:schemeClr val="dk1"/>
                </a:solidFill>
                <a:uFillTx/>
                <a:latin typeface="Courier New"/>
              </a:rPr>
              <a:t>implements</a:t>
            </a:r>
            <a:endParaRPr lang="de-DE" sz="2400" b="0" u="none" strike="noStrike">
              <a:solidFill>
                <a:srgbClr val="000000"/>
              </a:solidFill>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Rectangle 1"/>
          <p:cNvSpPr/>
          <p:nvPr/>
        </p:nvSpPr>
        <p:spPr>
          <a:xfrm>
            <a:off x="1082880" y="612720"/>
            <a:ext cx="8348400" cy="5301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CDCAA"/>
                </a:solidFill>
                <a:uFillTx/>
                <a:latin typeface="Menlo"/>
              </a:rPr>
              <a:t>suhlen</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CE9178"/>
                </a:solidFill>
                <a:uFillTx/>
                <a:latin typeface="Menlo"/>
              </a:rPr>
              <a:t>"Ich bin "</a:t>
            </a:r>
            <a:r>
              <a:rPr lang="en-GB" sz="1800" b="0" u="none" strike="noStrike">
                <a:solidFill>
                  <a:srgbClr val="D4D4D4"/>
                </a:solidFill>
                <a:uFillTx/>
                <a:latin typeface="Menlo"/>
              </a:rPr>
              <a:t> +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Mastschwein</a:t>
            </a:r>
            <a:r>
              <a:rPr lang="en-GB" sz="1800" b="0" u="none" strike="noStrike">
                <a:solidFill>
                  <a:srgbClr val="D4D4D4"/>
                </a:solidFill>
                <a:uFillTx/>
                <a:latin typeface="Menlo"/>
              </a:rPr>
              <a:t> </a:t>
            </a:r>
            <a:r>
              <a:rPr lang="en-GB" sz="1800" b="0" u="none" strike="noStrike">
                <a:solidFill>
                  <a:srgbClr val="569CD6"/>
                </a:solidFill>
                <a:uFillTx/>
                <a:latin typeface="Menlo"/>
              </a:rPr>
              <a:t>extends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	genmodifikation</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super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genmodifikation</a:t>
            </a:r>
            <a:r>
              <a:rPr lang="en-GB" sz="1800" b="0" u="none" strike="noStrike">
                <a:solidFill>
                  <a:srgbClr val="D4D4D4"/>
                </a:solidFill>
                <a:uFillTx/>
                <a:latin typeface="Menlo"/>
              </a:rPr>
              <a:t> =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br>
              <a:rPr sz="1800"/>
            </a:b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im Detail: Attribute und Methoden </a:t>
            </a:r>
            <a:endParaRPr lang="de-DE" sz="4400" b="0" u="none" strike="noStrike">
              <a:solidFill>
                <a:srgbClr val="000000"/>
              </a:solidFill>
              <a:uFillTx/>
              <a:latin typeface="Arial"/>
            </a:endParaRPr>
          </a:p>
        </p:txBody>
      </p:sp>
      <p:sp>
        <p:nvSpPr>
          <p:cNvPr id="3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können überschrieben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Subklasse implementiert die selbe Signatur einer Methode wie die Superklasse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Aufrufe von überschriebenen Methoden werden zur Laufzeit ausgewertet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Polymorphie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Zugriff auf eine Methode der Superklassen-Hierarchie ist mit der Referenz </a:t>
            </a:r>
            <a:r>
              <a:rPr lang="de-DE" sz="2400" b="0" u="none" strike="noStrike">
                <a:solidFill>
                  <a:schemeClr val="dk1"/>
                </a:solidFill>
                <a:uFillTx/>
                <a:latin typeface="Courier New"/>
              </a:rPr>
              <a:t>super</a:t>
            </a:r>
            <a:r>
              <a:rPr lang="de-DE" sz="2400" b="0" u="none" strike="noStrike">
                <a:solidFill>
                  <a:schemeClr val="dk1"/>
                </a:solidFill>
                <a:uFillTx/>
                <a:latin typeface="Calibri"/>
              </a:rPr>
              <a: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2" name="Rectangle 2"/>
          <p:cNvSpPr/>
          <p:nvPr/>
        </p:nvSpPr>
        <p:spPr>
          <a:xfrm>
            <a:off x="3878280" y="2967480"/>
            <a:ext cx="443340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harsh" dir="t"/>
            </a:scene3d>
            <a:sp3d extrusionH="57150" prstMaterial="matte">
              <a:bevelT w="63500" h="12700" prst="angle"/>
              <a:contourClr>
                <a:schemeClr val="bg1"/>
              </a:contourClr>
            </a:sp3d>
          </a:bodyPr>
          <a:lstStyle/>
          <a:p>
            <a:pPr algn="ctr" defTabSz="914400">
              <a:lnSpc>
                <a:spcPct val="100000"/>
              </a:lnSpc>
            </a:pPr>
            <a:r>
              <a:rPr lang="en-GB" sz="5400" b="1" u="none" strike="noStrike">
                <a:solidFill>
                  <a:schemeClr val="accent3"/>
                </a:solidFill>
                <a:uFillTx/>
                <a:latin typeface="Calibri"/>
              </a:rPr>
              <a:t>Code Gruppen </a:t>
            </a:r>
            <a:endParaRPr lang="de-DE" sz="5400" b="0" u="none" strike="noStrike">
              <a:solidFill>
                <a:srgbClr val="000000"/>
              </a:solidFill>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Namespaces gruppieren Deklarationen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sind nur innerhalb des Namespaces direkt ansprechbar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wird die Wahrscheinlichkeit von Namenskollisionen vermieden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Deklarationen werden mit Hilfe des Schlüsselworts </a:t>
            </a:r>
            <a:r>
              <a:rPr lang="de-DE" sz="2800" b="0" u="none" strike="noStrike">
                <a:solidFill>
                  <a:schemeClr val="dk1"/>
                </a:solidFill>
                <a:uFillTx/>
                <a:latin typeface="Courier New"/>
              </a:rPr>
              <a:t>export</a:t>
            </a:r>
            <a:r>
              <a:rPr lang="de-DE" sz="2800" b="0" u="none" strike="noStrike">
                <a:solidFill>
                  <a:schemeClr val="dk1"/>
                </a:solidFill>
                <a:uFillTx/>
                <a:latin typeface="Calibri"/>
              </a:rPr>
              <a:t> anderen Namespaces zur Verfügung 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Aus einem anderen Namespace müssen die Variablen mit dem Namespace angesprochen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"Qualifizierte Namen"</a:t>
            </a:r>
            <a:endParaRPr lang="de-DE" sz="2400" b="0" u="none" strike="noStrike">
              <a:solidFill>
                <a:srgbClr val="000000"/>
              </a:solidFill>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Rectangle 2"/>
          <p:cNvSpPr/>
          <p:nvPr/>
        </p:nvSpPr>
        <p:spPr>
          <a:xfrm>
            <a:off x="786240" y="789480"/>
            <a:ext cx="6094440" cy="146124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	makeSomeNoise</a:t>
            </a:r>
            <a:r>
              <a:rPr lang="en-GB" sz="1800" b="0" u="none" strike="noStrike">
                <a:solidFill>
                  <a:srgbClr val="D4D4D4"/>
                </a:solidFill>
                <a:uFillTx/>
                <a:latin typeface="Menlo"/>
              </a:rPr>
              <a:t>():</a:t>
            </a:r>
            <a:r>
              <a:rPr lang="en-GB" sz="1800" b="0" u="none" strike="noStrike">
                <a:solidFill>
                  <a:srgbClr val="4EC9B0"/>
                </a:solidFill>
                <a:uFillTx/>
                <a:latin typeface="Menlo"/>
              </a:rPr>
              <a:t>void</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6" name="TextBox 3"/>
          <p:cNvSpPr/>
          <p:nvPr/>
        </p:nvSpPr>
        <p:spPr>
          <a:xfrm>
            <a:off x="791280" y="420120"/>
            <a:ext cx="1048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Animal.ts</a:t>
            </a:r>
            <a:endParaRPr lang="de-DE" sz="1800" b="0" u="none" strike="noStrike">
              <a:solidFill>
                <a:srgbClr val="000000"/>
              </a:solidFill>
              <a:uFillTx/>
              <a:latin typeface="Arial"/>
            </a:endParaRPr>
          </a:p>
        </p:txBody>
      </p:sp>
      <p:sp>
        <p:nvSpPr>
          <p:cNvPr id="377" name="Rectangle 4"/>
          <p:cNvSpPr/>
          <p:nvPr/>
        </p:nvSpPr>
        <p:spPr>
          <a:xfrm>
            <a:off x="786240" y="3114000"/>
            <a:ext cx="6094440" cy="310716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Pig</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CDCAA"/>
                </a:solidFill>
                <a:uFillTx/>
                <a:latin typeface="Menlo"/>
              </a:rPr>
              <a:t>makeSomeNoise</a:t>
            </a:r>
            <a:r>
              <a:rPr lang="en-GB" sz="1800" b="0" u="none" strike="noStrike">
                <a:solidFill>
                  <a:srgbClr val="D4D4D4"/>
                </a:solidFill>
                <a:uFillTx/>
                <a:latin typeface="Menlo"/>
              </a:rPr>
              <a:t>(): </a:t>
            </a:r>
            <a:r>
              <a:rPr lang="en-GB" sz="1800" b="0" u="none" strike="noStrike">
                <a:solidFill>
                  <a:srgbClr val="4EC9B0"/>
                </a:solidFill>
                <a:uFillTx/>
                <a:latin typeface="Menlo"/>
              </a:rPr>
              <a:t>void</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"Oink"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8" name="TextBox 5"/>
          <p:cNvSpPr/>
          <p:nvPr/>
        </p:nvSpPr>
        <p:spPr>
          <a:xfrm>
            <a:off x="789480" y="2744640"/>
            <a:ext cx="676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Pig.ts</a:t>
            </a:r>
            <a:endParaRPr lang="de-DE" sz="1800" b="0" u="none" strike="noStrike">
              <a:solidFill>
                <a:srgbClr val="000000"/>
              </a:solidFill>
              <a:uFillTx/>
              <a:latin typeface="Arial"/>
            </a:endParaRPr>
          </a:p>
        </p:txBody>
      </p:sp>
      <p:sp>
        <p:nvSpPr>
          <p:cNvPr id="379" name="Rectangle 6"/>
          <p:cNvSpPr/>
          <p:nvPr/>
        </p:nvSpPr>
        <p:spPr>
          <a:xfrm>
            <a:off x="7115040" y="1812960"/>
            <a:ext cx="5075280" cy="228420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"Pig.ts"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br>
              <a:rPr sz="1800"/>
            </a:br>
            <a:br>
              <a:rPr sz="1800"/>
            </a:br>
            <a:r>
              <a:rPr lang="en-GB" sz="1800" b="0" u="none" strike="noStrike">
                <a:solidFill>
                  <a:srgbClr val="569CD6"/>
                </a:solidFill>
                <a:uFillTx/>
                <a:latin typeface="Menlo"/>
              </a:rPr>
              <a:t>let</a:t>
            </a:r>
            <a:r>
              <a:rPr lang="en-GB" sz="1800" b="0" u="none" strike="noStrike">
                <a:solidFill>
                  <a:srgbClr val="D4D4D4"/>
                </a:solidFill>
                <a:uFillTx/>
                <a:latin typeface="Menlo"/>
              </a:rPr>
              <a:t> </a:t>
            </a:r>
            <a:r>
              <a:rPr lang="en-GB" sz="1800" b="0" u="none" strike="noStrike">
                <a:solidFill>
                  <a:srgbClr val="9CDCFE"/>
                </a:solidFill>
                <a:uFillTx/>
                <a:latin typeface="Menlo"/>
              </a:rPr>
              <a:t>pig</a:t>
            </a:r>
            <a:r>
              <a:rPr lang="en-GB" sz="1800" b="0" u="none" strike="noStrike">
                <a:solidFill>
                  <a:srgbClr val="D4D4D4"/>
                </a:solidFill>
                <a:uFillTx/>
                <a:latin typeface="Menlo"/>
              </a:rPr>
              <a:t> = </a:t>
            </a:r>
            <a:r>
              <a:rPr lang="en-GB" sz="1800" b="0" u="none" strike="noStrike">
                <a:solidFill>
                  <a:srgbClr val="569CD6"/>
                </a:solidFill>
                <a:uFillTx/>
                <a:latin typeface="Menlo"/>
              </a:rPr>
              <a:t>new</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r>
              <a:rPr lang="en-GB" sz="1800" b="0" u="none" strike="noStrike">
                <a:solidFill>
                  <a:srgbClr val="4EC9B0"/>
                </a:solidFill>
                <a:uFillTx/>
                <a:latin typeface="Menlo"/>
              </a:rPr>
              <a:t>Pig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pig</a:t>
            </a:r>
            <a:r>
              <a:rPr lang="en-GB" sz="1800" b="0" u="none" strike="noStrike">
                <a:solidFill>
                  <a:srgbClr val="D4D4D4"/>
                </a:solidFill>
                <a:uFillTx/>
                <a:latin typeface="Menlo"/>
              </a:rPr>
              <a:t>.</a:t>
            </a:r>
            <a:r>
              <a:rPr lang="en-GB" sz="1800" b="0" u="none" strike="noStrike">
                <a:solidFill>
                  <a:srgbClr val="DCDCAA"/>
                </a:solidFill>
                <a:uFillTx/>
                <a:latin typeface="Menlo"/>
              </a:rPr>
              <a:t>makeSomeNoise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p:txBody>
      </p:sp>
      <p:sp>
        <p:nvSpPr>
          <p:cNvPr id="380" name="TextBox 9"/>
          <p:cNvSpPr/>
          <p:nvPr/>
        </p:nvSpPr>
        <p:spPr>
          <a:xfrm>
            <a:off x="7133040" y="1443600"/>
            <a:ext cx="876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Main</a:t>
            </a:r>
            <a:r>
              <a:rPr lang="en-DE" sz="1800" b="0" u="none" strike="noStrike">
                <a:solidFill>
                  <a:schemeClr val="dk1"/>
                </a:solidFill>
                <a:uFillTx/>
                <a:latin typeface="Calibri"/>
              </a:rPr>
              <a:t>.ts</a:t>
            </a:r>
            <a:endParaRPr lang="de-DE" sz="1800" b="0" u="none" strike="noStrike">
              <a:solidFill>
                <a:srgbClr val="000000"/>
              </a:solidFill>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Exporte </a:t>
            </a:r>
            <a:endParaRPr lang="de-DE" sz="4400" b="0" u="none" strike="noStrike">
              <a:solidFill>
                <a:srgbClr val="000000"/>
              </a:solidFill>
              <a:uFillTx/>
              <a:latin typeface="Arial"/>
            </a:endParaRPr>
          </a:p>
        </p:txBody>
      </p:sp>
      <p:sp>
        <p:nvSpPr>
          <p:cNvPr id="3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aPrivate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publicA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publicB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publicC</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PublicD</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Named importieren</a:t>
            </a:r>
            <a:endParaRPr lang="de-DE" sz="4400" b="0" u="none" strike="noStrike">
              <a:solidFill>
                <a:srgbClr val="000000"/>
              </a:solidFill>
              <a:uFillTx/>
              <a:latin typeface="Arial"/>
            </a:endParaRPr>
          </a:p>
        </p:txBody>
      </p:sp>
      <p:sp>
        <p:nvSpPr>
          <p:cNvPr id="3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1" u="none" strike="noStrike">
                <a:solidFill>
                  <a:srgbClr val="333333"/>
                </a:solidFill>
                <a:uFillTx/>
                <a:latin typeface="Aller"/>
              </a:rPr>
              <a:t>named exports</a:t>
            </a:r>
            <a:r>
              <a:rPr lang="de-DE" sz="2800" b="0" u="none" strike="noStrike">
                <a:solidFill>
                  <a:srgbClr val="333333"/>
                </a:solidFill>
                <a:uFillTx/>
                <a:latin typeface="Aller"/>
              </a:rPr>
              <a:t> importieren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publicA</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publicB</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"./lib"</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Imports</a:t>
            </a:r>
            <a:endParaRPr lang="de-DE" sz="4400" b="0" u="none" strike="noStrike">
              <a:solidFill>
                <a:srgbClr val="000000"/>
              </a:solidFill>
              <a:uFillTx/>
              <a:latin typeface="Arial"/>
            </a:endParaRPr>
          </a:p>
        </p:txBody>
      </p:sp>
      <p:sp>
        <p:nvSpPr>
          <p:cNvPr id="3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Alle import Statements sind </a:t>
            </a:r>
            <a:r>
              <a:rPr lang="de-DE" sz="2800" b="0" i="1" u="none" strike="noStrike">
                <a:solidFill>
                  <a:srgbClr val="333333"/>
                </a:solidFill>
                <a:uFillTx/>
                <a:latin typeface="Aller"/>
              </a:rPr>
              <a:t>hoisted</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import/export Statements dürfen nicht ...</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variabel sein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conditional sein (if, case, etc.)</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Erlaubt statische Analyse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Bundling</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Code Navigation in IDE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8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8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389"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3: Module</a:t>
            </a:r>
            <a:endParaRPr lang="de-DE" sz="3600" b="0" u="none" strike="noStrike">
              <a:solidFill>
                <a:srgbClr val="000000"/>
              </a:solidFill>
              <a:uFillTx/>
              <a:latin typeface="Arial"/>
            </a:endParaRPr>
          </a:p>
        </p:txBody>
      </p:sp>
      <p:grpSp>
        <p:nvGrpSpPr>
          <p:cNvPr id="390"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391"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2"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3"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4"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395"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Lagere die Klasse Student in ein Module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Erstelle eine Datei student.ts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Klasse dort hin und exportiere sie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Importiere die Klasse in der ursprünglichen Datei</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396"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397"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8"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9"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0"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Reactive Form mit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Validierung (Reactive Forms)</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Resource API (httpResource &amp; rxResource)</a:t>
            </a:r>
          </a:p>
        </p:txBody>
      </p:sp>
      <p:sp>
        <p:nvSpPr>
          <p:cNvPr id="3" name="Subtitle 2"/>
          <p:cNvSpPr>
            <a:spLocks noGrp="1"/>
          </p:cNvSpPr>
          <p:nvPr>
            <p:ph type="subTitle"/>
          </p:nvPr>
        </p:nvSpPr>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httpResource &amp; rxResource</a:t>
            </a:r>
          </a:p>
        </p:txBody>
      </p:sp>
      <p:sp>
        <p:nvSpPr>
          <p:cNvPr id="3" name="Subtitle 2"/>
          <p:cNvSpPr>
            <a:spLocks noGrp="1"/>
          </p:cNvSpPr>
          <p:nvPr>
            <p:ph type="subTitle"/>
          </p:nvPr>
        </p:nvSpPr>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26: Resource API</a:t>
            </a:r>
          </a:p>
        </p:txBody>
      </p:sp>
      <p:sp>
        <p:nvSpPr>
          <p:cNvPr id="3" name="Subtitle 2"/>
          <p:cNvSpPr>
            <a:spLocks noGrp="1"/>
          </p:cNvSpPr>
          <p:nvPr>
            <p:ph type="subTitle"/>
          </p:nvPr>
        </p:nvSpPr>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Bild-Optimierung mit NgOptimizedImage</a:t>
            </a:r>
          </a:p>
        </p:txBody>
      </p:sp>
      <p:sp>
        <p:nvSpPr>
          <p:cNvPr id="3" name="Subtitle 2"/>
          <p:cNvSpPr>
            <a:spLocks noGrp="1"/>
          </p:cNvSpPr>
          <p:nvPr>
            <p:ph type="subTitle"/>
          </p:nvPr>
        </p:nvSpPr>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NgOptimizedImage</a:t>
            </a:r>
          </a:p>
        </p:txBody>
      </p:sp>
      <p:sp>
        <p:nvSpPr>
          <p:cNvPr id="3" name="Subtitle 2"/>
          <p:cNvSpPr>
            <a:spLocks noGrp="1"/>
          </p:cNvSpPr>
          <p:nvPr>
            <p:ph type="subTitle"/>
          </p:nvPr>
        </p:nvSpPr>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27: NgOptimizedImage</a:t>
            </a:r>
          </a:p>
        </p:txBody>
      </p:sp>
      <p:sp>
        <p:nvSpPr>
          <p:cNvPr id="3" name="Subtitle 2"/>
          <p:cNvSpPr>
            <a:spLocks noGrp="1"/>
          </p:cNvSpPr>
          <p:nvPr>
            <p:ph type="subTitle"/>
          </p:nvPr>
        </p:nvSpPr>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Signal Queries: viewChild &amp; contentChild</a:t>
            </a:r>
          </a:p>
        </p:txBody>
      </p:sp>
      <p:sp>
        <p:nvSpPr>
          <p:cNvPr id="3" name="Subtitle 2"/>
          <p:cNvSpPr>
            <a:spLocks noGrp="1"/>
          </p:cNvSpPr>
          <p:nvPr>
            <p:ph type="subTitle"/>
          </p:nvPr>
        </p:nvSpPr>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DOM-Zugriff mit viewChild()</a:t>
            </a:r>
          </a:p>
        </p:txBody>
      </p:sp>
      <p:sp>
        <p:nvSpPr>
          <p:cNvPr id="3" name="Subtitle 2"/>
          <p:cNvSpPr>
            <a:spLocks noGrp="1"/>
          </p:cNvSpPr>
          <p:nvPr>
            <p:ph type="subTitle"/>
          </p:nvPr>
        </p:nvSpPr>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28: viewChild()</a:t>
            </a:r>
          </a:p>
        </p:txBody>
      </p:sp>
      <p:sp>
        <p:nvSpPr>
          <p:cNvPr id="3" name="Subtitle 2"/>
          <p:cNvSpPr>
            <a:spLocks noGrp="1"/>
          </p:cNvSpPr>
          <p:nvPr>
            <p:ph type="subTitle"/>
          </p:nvPr>
        </p:nvSpPr>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Komponenten-Komposition mit &lt;ng-content&gt;</a:t>
            </a:r>
          </a:p>
        </p:txBody>
      </p:sp>
      <p:sp>
        <p:nvSpPr>
          <p:cNvPr id="3" name="Subtitle 2"/>
          <p:cNvSpPr>
            <a:spLocks noGrp="1"/>
          </p:cNvSpPr>
          <p:nvPr>
            <p:ph type="subTitle"/>
          </p:nvPr>
        </p:nvSpPr>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Multi-Slot Content Projection</a:t>
            </a:r>
          </a:p>
        </p:txBody>
      </p:sp>
      <p:sp>
        <p:nvSpPr>
          <p:cNvPr id="3" name="Subtitle 2"/>
          <p:cNvSpPr>
            <a:spLocks noGrp="1"/>
          </p:cNvSpPr>
          <p:nvPr>
            <p:ph type="subTitle"/>
          </p:nvPr>
        </p:nvSpPr>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#form="ngForm"&gt;&lt;!--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29: Content Projection</a:t>
            </a:r>
          </a:p>
        </p:txBody>
      </p:sp>
      <p:sp>
        <p:nvSpPr>
          <p:cNvPr id="3" name="Subtitle 2"/>
          <p:cNvSpPr>
            <a:spLocks noGrp="1"/>
          </p:cNvSpPr>
          <p:nvPr>
            <p:ph type="subTitle"/>
          </p:nvPr>
        </p:nvSpPr>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Server-Side Rendering (SSR) &amp; Hydration</a:t>
            </a:r>
          </a:p>
        </p:txBody>
      </p:sp>
      <p:sp>
        <p:nvSpPr>
          <p:cNvPr id="3" name="Subtitle 2"/>
          <p:cNvSpPr>
            <a:spLocks noGrp="1"/>
          </p:cNvSpPr>
          <p:nvPr>
            <p:ph type="subTitle"/>
          </p:nvPr>
        </p:nvSpPr>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Routing: @angular/router (sonst z. B. React Router oder TanStack Router)</a:t>
            </a:r>
          </a:p>
          <a:p>
            <a:pPr>
              <a:defRPr sz="2000" b="0">
                <a:latin typeface="Segoe UI"/>
              </a:defRPr>
            </a:pPr>
            <a:r>
              <a:rPr lang="de-DE" sz="2000" b="0">
                <a:latin typeface="Segoe UI"/>
              </a:rPr>
              <a:t>HTTP: HttpClient mit Interceptors (sonst z. B. fetch oder axios)</a:t>
            </a:r>
          </a:p>
          <a:p>
            <a:pPr>
              <a:defRPr sz="2000" b="0">
                <a:latin typeface="Segoe UI"/>
              </a:defRPr>
            </a:pPr>
            <a:r>
              <a:rPr lang="de-DE" sz="2000" b="0">
                <a:latin typeface="Segoe UI"/>
              </a:rPr>
              <a:t>Formulare: Template-Driven Forms und Reactive Forms (sonst z. B. Formik)</a:t>
            </a:r>
          </a:p>
          <a:p>
            <a:pPr>
              <a:defRPr sz="2000" b="0">
                <a:latin typeface="Segoe UI"/>
              </a:defRPr>
            </a:pPr>
            <a:r>
              <a:rPr lang="de-DE" sz="2000" b="0">
                <a:latin typeface="Segoe UI"/>
              </a:rPr>
              <a:t>Zustand: Signals, Services und NgRx (sonst z. B. Redux, Zustand oder MobX)</a:t>
            </a:r>
          </a:p>
          <a:p>
            <a:pPr>
              <a:defRPr sz="2000" b="0">
                <a:latin typeface="Segoe UI"/>
              </a:defRPr>
            </a:pPr>
            <a:r>
              <a:rPr lang="de-DE" sz="2000" b="0">
                <a:latin typeface="Segoe UI"/>
              </a:rPr>
              <a:t>Abhängigkeiten: Dependency Injection (sonst z. B. Context oder Module-Singletons)</a:t>
            </a:r>
          </a:p>
          <a:p>
            <a:pPr>
              <a:defRPr sz="2000" b="0">
                <a:latin typeface="Segoe UI"/>
              </a:defRPr>
            </a:pPr>
            <a:r>
              <a:rPr lang="de-DE" sz="2000" b="0">
                <a:latin typeface="Segoe UI"/>
              </a:rPr>
              <a:t>Werkzeuge: Angular CLI mit dem Befehl ng (sonst z. B. Vite oder eigene Konfiguration)</a:t>
            </a:r>
          </a:p>
          <a:p>
            <a:pPr>
              <a:defRPr sz="2000" b="0">
                <a:latin typeface="Segoe UI"/>
              </a:defRPr>
            </a:pPr>
            <a:r>
              <a:rPr lang="de-DE" sz="2000" b="0">
                <a:latin typeface="Segoe UI"/>
              </a:rPr>
              <a:t>Tests: Vitest-Setup ab Version 21 und TestBed (sonst z. B. Jest mit Testing Library)</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Passt gut: große, langlebige Unternehmensanwendungen mit vielen Teams</a:t>
            </a:r>
          </a:p>
          <a:p>
            <a:pPr>
              <a:defRPr sz="2000" b="0">
                <a:latin typeface="Segoe UI"/>
              </a:defRPr>
            </a:pPr>
            <a:r>
              <a:rPr lang="de-DE" sz="2000" b="0">
                <a:latin typeface="Segoe UI"/>
              </a:rPr>
              <a:t>Passt gut: Dashboards und formularlastige Fachanwendungen mit hohen Qualitätsanforderungen</a:t>
            </a:r>
          </a:p>
          <a:p>
            <a:pPr>
              <a:defRPr sz="2000" b="0">
                <a:latin typeface="Segoe UI"/>
              </a:defRPr>
            </a:pPr>
            <a:r>
              <a:rPr lang="de-DE" sz="2000" b="0">
                <a:latin typeface="Segoe UI"/>
              </a:rPr>
              <a:t>Passt weniger: reine Inhaltsseiten und Blogs (z. B. Astro oder statische Generatoren)</a:t>
            </a:r>
          </a:p>
          <a:p>
            <a:pPr>
              <a:defRPr sz="2000" b="0">
                <a:latin typeface="Segoe UI"/>
              </a:defRPr>
            </a:pPr>
            <a:r>
              <a:rPr lang="de-DE" sz="2000" b="0">
                <a:latin typeface="Segoe UI"/>
              </a:rPr>
              <a:t>Passt weniger: sehr kleine Widgets</a:t>
            </a:r>
          </a:p>
          <a:p>
            <a:pPr>
              <a:defRPr sz="2000" b="0">
                <a:latin typeface="Segoe UI"/>
              </a:defRPr>
            </a:pPr>
            <a:r>
              <a:rPr lang="de-DE" sz="2000" b="0">
                <a:latin typeface="Segoe UI"/>
              </a:rPr>
              <a:t>Passt weniger: Teams ohne TypeScript-Erfahrung und ohne Zeit zum Einarbeiten</a:t>
            </a:r>
          </a:p>
          <a:p>
            <a:pPr>
              <a:defRPr sz="2000" b="0">
                <a:latin typeface="Segoe UI"/>
              </a:defRPr>
            </a:pPr>
            <a:r>
              <a:rPr lang="de-DE" sz="2000" b="0">
                <a:latin typeface="Segoe UI"/>
              </a:rPr>
              <a:t>Entscheidungskriterien: Teamgröße, Lebensdauer, vorhandene Skills, Integrationsbedarf</a:t>
            </a:r>
          </a:p>
          <a:p>
            <a:pPr>
              <a:defRPr sz="2000" b="0">
                <a:latin typeface="Segoe UI"/>
              </a:defRPr>
            </a:pPr>
            <a:r>
              <a:rPr lang="de-DE" sz="2000" b="0">
                <a:latin typeface="Segoe UI"/>
              </a:rPr>
              <a:t>Außerdem: Rendering-Anforderungen wie Suchmaschinen-Optimierung (SEO) und Server-Rendering</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Leitgedanke: weniger Boilerplate, mehr Reaktivität</a:t>
            </a:r>
          </a:p>
          <a:p>
            <a:pPr>
              <a:defRPr sz="2000" b="0">
                <a:latin typeface="Segoe UI"/>
              </a:defRPr>
            </a:pPr>
            <a:r>
              <a:rPr lang="de-DE" sz="2000" b="0">
                <a:latin typeface="Segoe UI"/>
              </a:rPr>
              <a:t>NgModule wird zu Standalone-Komponenten (imports: [])</a:t>
            </a:r>
          </a:p>
          <a:p>
            <a:pPr>
              <a:defRPr sz="2000" b="0">
                <a:latin typeface="Segoe UI"/>
              </a:defRPr>
            </a:pPr>
            <a:r>
              <a:rPr lang="de-DE" sz="2000" b="0">
                <a:latin typeface="Segoe UI"/>
              </a:rPr>
              <a:t>Zone.js und implizite Change Detection werden zu Signals und zoneless</a:t>
            </a:r>
          </a:p>
          <a:p>
            <a:pPr>
              <a:defRPr sz="2000" b="0">
                <a:latin typeface="Segoe UI"/>
              </a:defRPr>
            </a:pPr>
            <a:r>
              <a:rPr lang="de-DE" sz="2000" b="0">
                <a:latin typeface="Segoe UI"/>
              </a:rPr>
              <a:t>*ngIf und *ngFor werden zu @if, @for und @switch</a:t>
            </a:r>
          </a:p>
          <a:p>
            <a:pPr>
              <a:defRPr sz="2000" b="0">
                <a:latin typeface="Segoe UI"/>
              </a:defRPr>
            </a:pPr>
            <a:r>
              <a:rPr lang="de-DE" sz="2000" b="0">
                <a:latin typeface="Segoe UI"/>
              </a:rPr>
              <a:t>@Input(), @Output() und EventEmitter werden zu input(), output() und model()</a:t>
            </a:r>
          </a:p>
          <a:p>
            <a:pPr>
              <a:defRPr sz="2000" b="0">
                <a:latin typeface="Segoe UI"/>
              </a:defRPr>
            </a:pPr>
            <a:r>
              <a:rPr lang="de-DE" sz="2000" b="0">
                <a:latin typeface="Segoe UI"/>
              </a:rPr>
              <a:t>Konstruktor-Injection wird zu inject()</a:t>
            </a:r>
          </a:p>
          <a:p>
            <a:pPr>
              <a:defRPr sz="2000" b="0">
                <a:latin typeface="Segoe UI"/>
              </a:defRPr>
            </a:pPr>
            <a:r>
              <a:rPr lang="de-DE" sz="2000" b="0">
                <a:latin typeface="Segoe UI"/>
              </a:rPr>
              <a:t>Klassen-Guards und -Interceptors werden zu funktionalen Guards und Interceptors</a:t>
            </a:r>
          </a:p>
          <a:p>
            <a:pPr>
              <a:defRPr sz="2000" b="0">
                <a:latin typeface="Segoe UI"/>
              </a:defRPr>
            </a:pPr>
            <a:r>
              <a:rPr lang="de-DE" sz="2000" b="0">
                <a:latin typeface="Segoe UI"/>
              </a:rPr>
              <a:t>Karma und Jasmine werden zu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2016: Angular 2 als Neuentwurf gegenüber AngularJS</a:t>
            </a:r>
          </a:p>
          <a:p>
            <a:pPr>
              <a:defRPr sz="2000" b="0">
                <a:latin typeface="Segoe UI"/>
              </a:defRPr>
            </a:pPr>
            <a:r>
              <a:rPr lang="de-DE" sz="2000" b="0">
                <a:latin typeface="Segoe UI"/>
              </a:rPr>
              <a:t>Ivy-Renderer (Version 9), Standalone-Komponenten (ab Version 14/15)</a:t>
            </a:r>
          </a:p>
          <a:p>
            <a:pPr>
              <a:defRPr sz="2000" b="0">
                <a:latin typeface="Segoe UI"/>
              </a:defRPr>
            </a:pPr>
            <a:r>
              <a:rPr lang="de-DE" sz="2000" b="0">
                <a:latin typeface="Segoe UI"/>
              </a:rPr>
              <a:t>Signals und neuer Control Flow (Version 16/17)</a:t>
            </a:r>
          </a:p>
          <a:p>
            <a:pPr>
              <a:defRPr sz="2000" b="0">
                <a:latin typeface="Segoe UI"/>
              </a:defRPr>
            </a:pPr>
            <a:r>
              <a:rPr lang="de-DE" sz="2000" b="0">
                <a:latin typeface="Segoe UI"/>
              </a:rPr>
              <a:t>Zoneless (Version 20/21), Vitest als Standard-Testrunner (Version 21)</a:t>
            </a:r>
          </a:p>
          <a:p>
            <a:pPr>
              <a:defRPr sz="2000" b="0">
                <a:latin typeface="Segoe UI"/>
              </a:defRPr>
            </a:pPr>
            <a:r>
              <a:rPr lang="de-DE" sz="2000" b="0">
                <a:latin typeface="Segoe UI"/>
              </a:rPr>
              <a:t>Release-Rhythmus: zwei Major-Versionen pro Jahr, jede etwa 18 Monate unterstützt</a:t>
            </a:r>
          </a:p>
          <a:p>
            <a:pPr>
              <a:defRPr sz="2000" b="0">
                <a:latin typeface="Segoe UI"/>
              </a:defRPr>
            </a:pPr>
            <a:r>
              <a:rPr lang="de-DE" sz="2000" b="0">
                <a:latin typeface="Segoe UI"/>
              </a:rPr>
              <a:t>Updates mit ng update und Migrations-Schematics</a:t>
            </a:r>
          </a:p>
          <a:p>
            <a:pPr>
              <a:defRPr sz="2000" b="0">
                <a:latin typeface="Segoe UI"/>
              </a:defRPr>
            </a:pPr>
            <a:r>
              <a:rPr lang="de-DE" sz="2000" b="0">
                <a:latin typeface="Segoe UI"/>
              </a:rPr>
              <a:t>Wissen veraltet nicht schlagartig, aber die Muster wandeln sich</a:t>
            </a:r>
          </a:p>
          <a:p>
            <a:pPr>
              <a:defRPr sz="2000" b="0">
                <a:latin typeface="Segoe UI"/>
              </a:defRPr>
            </a:pPr>
            <a:r>
              <a:rPr lang="de-DE" sz="2000" b="0">
                <a:latin typeface="Segoe UI"/>
              </a:rPr>
              <a:t>Der Kurs vermittelt deshalb Prinzipien und nicht nur Programmierschnittstellen</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 Übungen entwickeln eine Anwendung weiter: Kundenverwaltung mit Liste, Details, Login</a:t>
            </a:r>
          </a:p>
          <a:p>
            <a:pPr>
              <a:defRPr sz="2000" b="0">
                <a:latin typeface="Segoe UI"/>
              </a:defRPr>
            </a:pPr>
            <a:r>
              <a:rPr lang="de-DE" sz="2000" b="0">
                <a:latin typeface="Segoe UI"/>
              </a:rPr>
              <a:t>Jede Übung startet mit dem Ergebnis der vorherigen (Ordner 04_… bis 38_…)</a:t>
            </a:r>
          </a:p>
          <a:p>
            <a:pPr>
              <a:defRPr sz="2000" b="0">
                <a:latin typeface="Segoe UI"/>
              </a:defRPr>
            </a:pPr>
            <a:r>
              <a:rPr lang="de-DE" sz="2000" b="0">
                <a:latin typeface="Segoe UI"/>
              </a:rPr>
              <a:t>Aufbau des Kurses:</a:t>
            </a:r>
          </a:p>
          <a:p>
            <a:pPr lvl="1">
              <a:defRPr sz="1700" b="0">
                <a:latin typeface="Segoe UI"/>
              </a:defRPr>
            </a:pPr>
            <a:r>
              <a:rPr lang="de-DE" sz="1700" b="0">
                <a:latin typeface="Segoe UI"/>
              </a:rPr>
              <a:t>1. Grundlagen: Komponenten, Templates, Services, Routing</a:t>
            </a:r>
          </a:p>
          <a:p>
            <a:pPr lvl="1">
              <a:defRPr sz="1700" b="0">
                <a:latin typeface="Segoe UI"/>
              </a:defRPr>
            </a:pPr>
            <a:r>
              <a:rPr lang="de-DE" sz="1700" b="0">
                <a:latin typeface="Segoe UI"/>
              </a:rPr>
              <a:t>2. Reaktivität und Datenfluss</a:t>
            </a:r>
          </a:p>
          <a:p>
            <a:pPr lvl="1">
              <a:defRPr sz="1700" b="0">
                <a:latin typeface="Segoe UI"/>
              </a:defRPr>
            </a:pPr>
            <a:r>
              <a:rPr lang="de-DE" sz="1700" b="0">
                <a:latin typeface="Segoe UI"/>
              </a:rPr>
              <a:t>3. Anwendungsstruktur und Zustandsverwaltung</a:t>
            </a:r>
          </a:p>
          <a:p>
            <a:pPr lvl="1">
              <a:defRPr sz="1700" b="0">
                <a:latin typeface="Segoe UI"/>
              </a:defRPr>
            </a:pPr>
            <a:r>
              <a:rPr lang="de-DE" sz="1700" b="0">
                <a:latin typeface="Segoe UI"/>
              </a:rPr>
              <a:t>4. Qualität, Tests, Wartbarkeit</a:t>
            </a:r>
          </a:p>
          <a:p>
            <a:pPr lvl="1">
              <a:defRPr sz="1700" b="0">
                <a:latin typeface="Segoe UI"/>
              </a:defRPr>
            </a:pPr>
            <a:r>
              <a:rPr lang="de-DE" sz="1700" b="0">
                <a:latin typeface="Segoe UI"/>
              </a:rPr>
              <a:t>5. Performance, Sicherheit, KI-gestützte Entwicklung</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 das Formular wird im Template beschrieben, die Klasse bleibt schlank</a:t>
            </a:r>
          </a:p>
          <a:p>
            <a:pPr>
              <a:defRPr sz="2000" b="0">
                <a:latin typeface="Segoe UI"/>
              </a:defRPr>
            </a:pPr>
            <a:r>
              <a:rPr lang="de-DE" sz="2000" b="0">
                <a:latin typeface="Segoe UI"/>
              </a:rPr>
              <a:t>FormsModule aus @angular/forms im imports-Array der Komponente importieren</a:t>
            </a:r>
          </a:p>
          <a:p>
            <a:pPr>
              <a:defRPr sz="2000" b="0">
                <a:latin typeface="Segoe UI"/>
              </a:defRPr>
            </a:pPr>
            <a:r>
              <a:rPr lang="de-DE" sz="2000" b="0">
                <a:latin typeface="Segoe UI"/>
              </a:rPr>
              <a:t>Jedes Feld bekommt die Direktive ngModel und ein name-Attribut</a:t>
            </a:r>
          </a:p>
          <a:p>
            <a:pPr lvl="1">
              <a:defRPr sz="1700" b="0">
                <a:latin typeface="Segoe UI"/>
              </a:defRPr>
            </a:pPr>
            <a:r>
              <a:rPr lang="de-DE" sz="1700" b="0">
                <a:latin typeface="Segoe UI"/>
              </a:rPr>
              <a:t>Innerhalb eines form-Tags ist das name-Attribut Pflicht, sonst gibt es einen Fehler</a:t>
            </a:r>
          </a:p>
          <a:p>
            <a:pPr>
              <a:defRPr sz="2000" b="0">
                <a:latin typeface="Segoe UI"/>
              </a:defRPr>
            </a:pPr>
            <a:r>
              <a:rPr lang="de-DE" sz="2000" b="0">
                <a:latin typeface="Segoe UI"/>
              </a:rPr>
              <a:t>Template-Referenz #f="ngModel" gibt Zugriff auf den Zustand eines Feldes</a:t>
            </a:r>
          </a:p>
          <a:p>
            <a:pPr lvl="1">
              <a:defRPr sz="1700" b="0">
                <a:latin typeface="Segoe UI"/>
              </a:defRPr>
            </a:pPr>
            <a:r>
              <a:rPr lang="de-DE" sz="1700" b="0">
                <a:latin typeface="Segoe UI"/>
              </a:rPr>
              <a:t>z. B. f.invalid, f.dirty, f.touched, f.errors</a:t>
            </a:r>
          </a:p>
          <a:p>
            <a:pPr>
              <a:defRPr sz="2000" b="0">
                <a:latin typeface="Segoe UI"/>
              </a:defRPr>
            </a:pPr>
            <a:r>
              <a:rPr lang="de-DE" sz="2000" b="0">
                <a:latin typeface="Segoe UI"/>
              </a:rPr>
              <a:t>Angular legt das Formular (NgForm) und die Felder automatisch im Hintergrund an</a:t>
            </a:r>
          </a:p>
          <a:p>
            <a:pPr>
              <a:defRPr sz="2000" b="0">
                <a:latin typeface="Segoe UI"/>
              </a:defRPr>
            </a:pPr>
            <a:r>
              <a:rPr lang="de-DE" sz="2000" b="0">
                <a:latin typeface="Segoe UI"/>
              </a:rPr>
              <a:t>Im Hauptpfad des Kurses bleiben wir bei dieser einfachen Variante</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&lt;form #form="ngForm" (ngSubmit)="save()"&gt;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for="firstname"&gt;Vorname&lt;/label&gt;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id="firstname" name="firstname"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[ngModel]="draft().firstname"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(ngModelChange)="setField('firstname', $event)"&gt;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&lt;label for="city"&gt;Stadt&lt;/label&gt;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id="city" name="city"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[ngModel]="draft().city"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(ngModelChange)="setField('city', $event)"&gt;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#form="ngForm": Zugriff auf das ganze Formular, z. B. form.invalid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(ngSubmit): wird beim Absenden aufgerufen, ohne die Seite neu zu laden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 Signal mit dem Original (per ID vom Service geladen)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signal&lt;Customer | undefined&gt;(undefined);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 ...this.customer()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setField(field: 'firstname' | 'lastname' | 'zip', value: string)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neues Objekt erzeugen, das Original bleibt unverändert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this.draft.update(d =&gt; ({ ...d, [field]: value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pattern="[0-9]{5}": Eingabe muss zum regulären Ausdruck passen (z. B. fünfstellige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Jedes Feld hat unabhängige Zustände:</a:t>
            </a:r>
          </a:p>
          <a:p>
            <a:pPr lvl="1">
              <a:defRPr sz="1700" b="0">
                <a:latin typeface="Segoe UI"/>
              </a:defRPr>
            </a:pPr>
            <a:r>
              <a:rPr lang="de-DE" sz="1700" b="0">
                <a:latin typeface="Segoe UI"/>
              </a:rPr>
              <a:t>untouched / touched: das Feld wurde noch nicht / schon einmal verlassen</a:t>
            </a:r>
          </a:p>
          <a:p>
            <a:pPr lvl="1">
              <a:defRPr sz="1700" b="0">
                <a:latin typeface="Segoe UI"/>
              </a:defRPr>
            </a:pPr>
            <a:r>
              <a:rPr lang="de-DE" sz="1700" b="0">
                <a:latin typeface="Segoe UI"/>
              </a:rPr>
              <a:t>pristine / dirty: der Wert ist noch unverändert / wurde verändert</a:t>
            </a:r>
          </a:p>
          <a:p>
            <a:pPr lvl="1">
              <a:defRPr sz="1700" b="0">
                <a:latin typeface="Segoe UI"/>
              </a:defRPr>
            </a:pPr>
            <a:r>
              <a:rPr lang="de-DE" sz="1700" b="0">
                <a:latin typeface="Segoe UI"/>
              </a:rPr>
              <a:t>valid / invalid: der aktuelle Wert ist gültig / ungültig</a:t>
            </a:r>
          </a:p>
          <a:p>
            <a:pPr>
              <a:defRPr sz="2000" b="0">
                <a:latin typeface="Segoe UI"/>
              </a:defRPr>
            </a:pPr>
            <a:r>
              <a:rPr lang="de-DE" sz="2000" b="0">
                <a:latin typeface="Segoe UI"/>
              </a:rPr>
              <a:t>errors enthält die konkrete Fehlerursache, z. B. required oder pattern</a:t>
            </a:r>
          </a:p>
          <a:p>
            <a:pPr>
              <a:defRPr sz="2000" b="0">
                <a:latin typeface="Segoe UI"/>
              </a:defRPr>
            </a:pPr>
            <a:r>
              <a:rPr lang="de-DE" sz="2000" b="0">
                <a:latin typeface="Segoe UI"/>
              </a:rPr>
              <a:t>Angular setzt passende CSS-Klassen: ng-valid, ng-invalid, ng-dirty, ng-touched</a:t>
            </a:r>
          </a:p>
          <a:p>
            <a:pPr>
              <a:defRPr sz="2000" b="0">
                <a:latin typeface="Segoe UI"/>
              </a:defRPr>
            </a:pPr>
            <a:r>
              <a:rPr lang="de-DE" sz="2000" b="0">
                <a:latin typeface="Segoe UI"/>
              </a:rPr>
              <a:t>Fehlermeldungen erst zeigen, wenn der Benutzer das Feld verändert hat (dirty)</a:t>
            </a:r>
          </a:p>
          <a:p>
            <a:pPr>
              <a:defRPr sz="2000" b="0">
                <a:latin typeface="Segoe UI"/>
              </a:defRPr>
            </a:pPr>
            <a:r>
              <a:rPr lang="de-DE" sz="2000" b="0">
                <a:latin typeface="Segoe UI"/>
              </a:rPr>
              <a:t>Das ganze Formular ist ungültig, sobald ein Feld ungültig ist</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Speichern-Button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&lt;form #form="ngForm" (ngSubmit)="save()"&gt;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required #firstname="ngModel"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[ngModel]="draft().firstname"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(ngModelChange)="setField('firstname', $event)"&gt;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&lt;small class="error"&gt;Der Vorname ist ein Pflichtfeld.&lt;/small&gt;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name="zip" pattern="[0-9]{5}" #zip="ngModel"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[ngModel]="draft().zip"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(ngModelChange)="setField('zip', $event)"&gt;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&lt;small class="error"&gt;Die PLZ besteht aus genau 5 Ziffern.&lt;/small&gt;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&lt;button type="submit" [disabled]="form.invalid"&gt;Speichern&lt;/button&gt;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&lt;/form&gt;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(Vorname, Nachname, Straße, PLZ, Stadt) mit [ngModel] und (ngModelChange) binden</a:t>
            </a:r>
          </a:p>
          <a:p>
            <a:pPr lvl="1">
              <a:defRPr sz="1700" b="0">
                <a:latin typeface="Segoe UI"/>
              </a:defRPr>
            </a:pPr>
            <a:r>
              <a:rPr lang="de-DE" sz="1700" b="0">
                <a:latin typeface="Segoe UI"/>
              </a:rPr>
              <a:t>Jedes Feld braucht ein name-Attribut</a:t>
            </a:r>
          </a:p>
          <a:p>
            <a:pPr>
              <a:defRPr sz="2000" b="1">
                <a:latin typeface="Segoe UI"/>
              </a:defRPr>
            </a:pPr>
            <a:r>
              <a:rPr lang="de-DE" sz="2000" b="1">
                <a:latin typeface="Segoe UI"/>
              </a:rPr>
              <a:t>4. Validierung per HTML-Attribut: Vor- und Nachname required, PLZ pattern="[0-9]{5}"</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Speichern-Button deaktivieren, solange das Formular ungültig ist</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Wiederverwendung über Komposition: &lt;ng-content&gt; (Übung 29), Direktiven, kleine Komponenten</a:t>
            </a:r>
          </a:p>
          <a:p>
            <a:pPr>
              <a:defRPr sz="2000" b="0">
                <a:latin typeface="Segoe UI"/>
              </a:defRPr>
            </a:pPr>
            <a:r>
              <a:rPr lang="de-DE" sz="2000" b="0">
                <a:latin typeface="Segoe UI"/>
              </a:rPr>
              <a:t>Vererbung zwischen Komponenten vermeiden</a:t>
            </a:r>
          </a:p>
          <a:p>
            <a:pPr lvl="1">
              <a:defRPr sz="1700" b="0">
                <a:latin typeface="Segoe UI"/>
              </a:defRPr>
            </a:pPr>
            <a:r>
              <a:rPr lang="de-DE" sz="1700" b="0">
                <a:latin typeface="Segoe UI"/>
              </a:rPr>
              <a:t>Gründe: versteckte Kopplung und Eigenheiten der Dekoratoren</a:t>
            </a:r>
          </a:p>
          <a:p>
            <a:pPr>
              <a:defRPr sz="2000" b="0">
                <a:latin typeface="Segoe UI"/>
              </a:defRPr>
            </a:pPr>
            <a:r>
              <a:rPr lang="de-DE" sz="2000" b="0">
                <a:latin typeface="Segoe UI"/>
              </a:rPr>
              <a:t>Gemeinsames Verhalten besser in Services oder Host-Direktiven (hostDirectives)</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 Komponente kennt Service, Service kennt Client</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(z. B. aktive Kunden) als pure Funktion oder Pipe, ohne Angular testbar</a:t>
            </a:r>
          </a:p>
          <a:p>
            <a:pPr>
              <a:defRPr sz="2000" b="0">
                <a:latin typeface="Segoe UI"/>
              </a:defRPr>
            </a:pPr>
            <a:r>
              <a:rPr lang="de-DE" sz="2000" b="0">
                <a:latin typeface="Segoe UI"/>
              </a:rPr>
              <a:t>Keine Fachregeln im Template: komplexe @if-Bedingungen in ein computed oder eine Pipe</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Wartbarkeit: Merkmale einer stabilen Codebasis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klaren Inputs und Outputs: Test in etwa 5 Zeilen</a:t>
            </a:r>
          </a:p>
          <a:p>
            <a:pPr>
              <a:defRPr sz="2000" b="0">
                <a:latin typeface="Segoe UI"/>
              </a:defRPr>
            </a:pPr>
            <a:r>
              <a:rPr lang="de-DE" sz="2000" b="0">
                <a:latin typeface="Segoe UI"/>
              </a:rPr>
              <a:t>Viele versteckte Abhängigkeiten (inject überall, globale Zustände): Test braucht viel Mocking</a:t>
            </a:r>
          </a:p>
          <a:p>
            <a:pPr>
              <a:defRPr sz="2000" b="0">
                <a:latin typeface="Segoe UI"/>
              </a:defRPr>
            </a:pPr>
            <a:r>
              <a:rPr lang="de-DE" sz="2000" b="0">
                <a:latin typeface="Segoe UI"/>
              </a:rPr>
              <a:t>Faustregel: Wenn ein Test schwer zu schreiben ist, ist oft die Struktur das Problem</a:t>
            </a:r>
          </a:p>
          <a:p>
            <a:pPr>
              <a:defRPr sz="2000" b="0">
                <a:latin typeface="Segoe UI"/>
              </a:defRPr>
            </a:pPr>
            <a:r>
              <a:rPr lang="de-DE" sz="2000" b="0">
                <a:latin typeface="Segoe UI"/>
              </a:rPr>
              <a:t>Vertiefung im Kapitel zur Testbarkeit</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CustomerFilterComponent: Eingabefeld und Löschen-Button, viewChild-Fokus wandert mit</a:t>
            </a:r>
          </a:p>
          <a:p>
            <a:pPr lvl="1">
              <a:defRPr sz="1700" b="0">
                <a:latin typeface="Segoe UI"/>
              </a:defRPr>
            </a:pPr>
            <a:r>
              <a:rPr lang="de-DE" sz="1700" b="0">
                <a:latin typeface="Segoe UI"/>
              </a:rPr>
              <a:t>value = input(''), changed = output&lt;string&gt;(), cleared = output&lt;void&gt;()</a:t>
            </a:r>
          </a:p>
          <a:p>
            <a:pPr>
              <a:defRPr sz="2000" b="1">
                <a:latin typeface="Segoe UI"/>
              </a:defRPr>
            </a:pPr>
            <a:r>
              <a:rPr lang="de-DE" sz="2000" b="1">
                <a:latin typeface="Segoe UI"/>
              </a:rPr>
              <a:t>2. CustomerListItemComponent erstellen</a:t>
            </a:r>
          </a:p>
          <a:p>
            <a:pPr lvl="1">
              <a:defRPr sz="1700" b="0">
                <a:latin typeface="Segoe UI"/>
              </a:defRPr>
            </a:pPr>
            <a:r>
              <a:rPr lang="de-DE" sz="1700" b="0">
                <a:latin typeface="Segoe UI"/>
              </a:rPr>
              <a:t>customer = input.required&lt;Customer&gt;(), selected = input(false)</a:t>
            </a:r>
          </a:p>
          <a:p>
            <a:pPr lvl="1">
              <a:defRPr sz="1700" b="0">
                <a:latin typeface="Segoe UI"/>
              </a:defRPr>
            </a:pPr>
            <a:r>
              <a:rPr lang="de-DE" sz="1700" b="0">
                <a:latin typeface="Segoe UI"/>
              </a:rPr>
              <a:t>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Das Verhalten der App darf sich nicht ändern (Smoke-Test im Browser)</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Grundsatz: Das Frontend ist nicht vertrauenswürdig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Der Code läuft im Browser des Nutzers: Er kann ihn lesen, ändern und umgehen</a:t>
            </a:r>
          </a:p>
          <a:p>
            <a:pPr>
              <a:defRPr sz="2000" b="0">
                <a:latin typeface="Segoe UI"/>
              </a:defRPr>
            </a:pPr>
            <a:r>
              <a:rPr lang="de-DE" sz="2000" b="0">
                <a:latin typeface="Segoe UI"/>
              </a:rPr>
              <a:t>Keine Geheimnisse im Frontend: keine API-Keys mit Rechten, Passwörter, Signierschlüssel</a:t>
            </a:r>
          </a:p>
          <a:p>
            <a:pPr>
              <a:defRPr sz="2000" b="0">
                <a:latin typeface="Segoe UI"/>
              </a:defRPr>
            </a:pPr>
            <a:r>
              <a:rPr lang="de-DE" sz="2000" b="0">
                <a:latin typeface="Segoe UI"/>
              </a:rPr>
              <a:t>Berechtigungen werden im Backend durchgesetzt</a:t>
            </a:r>
          </a:p>
          <a:p>
            <a:pPr lvl="1">
              <a:defRPr sz="1700" b="0">
                <a:latin typeface="Segoe UI"/>
              </a:defRPr>
            </a:pPr>
            <a:r>
              <a:rPr lang="de-DE" sz="1700" b="0">
                <a:latin typeface="Segoe UI"/>
              </a:rPr>
              <a:t>Guards (Übung 25) verbessern die Bedienung, sie sind kein Schutz</a:t>
            </a:r>
          </a:p>
          <a:p>
            <a:pPr>
              <a:defRPr sz="2000" b="0">
                <a:latin typeface="Segoe UI"/>
              </a:defRPr>
            </a:pPr>
            <a:r>
              <a:rPr lang="de-DE" sz="2000" b="0">
                <a:latin typeface="Segoe UI"/>
              </a:rPr>
              <a:t>Validierung im Client ist Bedienkomfort, Validierung im Server ist Sicherheit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Nicht vertrauenswürdig, immer prüfen oder escapen:</a:t>
            </a:r>
          </a:p>
          <a:p>
            <a:pPr lvl="1">
              <a:defRPr sz="1700" b="0">
                <a:latin typeface="Segoe UI"/>
              </a:defRPr>
            </a:pPr>
            <a:r>
              <a:rPr lang="de-DE" sz="1700" b="0">
                <a:latin typeface="Segoe UI"/>
              </a:rPr>
              <a:t>Eingaben im Formular; URL, Query- und Pfadparameter, Fragment</a:t>
            </a:r>
          </a:p>
          <a:p>
            <a:pPr lvl="1">
              <a:defRPr sz="1700" b="0">
                <a:latin typeface="Segoe UI"/>
              </a:defRPr>
            </a:pPr>
            <a:r>
              <a:rPr lang="de-DE" sz="1700" b="0">
                <a:latin typeface="Segoe UI"/>
              </a:rPr>
              <a:t>Antworten von APIs, auch vom eigenen Backend; localStorage, Cookies, postMessage</a:t>
            </a:r>
          </a:p>
          <a:p>
            <a:pPr lvl="1">
              <a:defRPr sz="1700" b="0">
                <a:latin typeface="Segoe UI"/>
              </a:defRPr>
            </a:pPr>
            <a:r>
              <a:rPr lang="de-DE" sz="1700" b="0">
                <a:latin typeface="Segoe UI"/>
              </a:rPr>
              <a:t>Daten von Drittanbietern und Dateiuploads</a:t>
            </a:r>
          </a:p>
          <a:p>
            <a:pPr>
              <a:defRPr sz="2000" b="0">
                <a:latin typeface="Segoe UI"/>
              </a:defRPr>
            </a:pPr>
            <a:r>
              <a:rPr lang="de-DE" sz="2000" b="0">
                <a:latin typeface="Segoe UI"/>
              </a:rPr>
              <a:t>Vertrauenswürdig: der Quelltext der eigenen App und fest einkompilierte Konstanten</a:t>
            </a:r>
          </a:p>
          <a:p>
            <a:pPr>
              <a:defRPr sz="2000" b="0">
                <a:latin typeface="Segoe UI"/>
              </a:defRPr>
            </a:pPr>
            <a:r>
              <a:rPr lang="de-DE" sz="2000" b="0">
                <a:latin typeface="Segoe UI"/>
              </a:rPr>
              <a:t>Alles von außen ist Eingabe, auch Daten aus dem eigenen Backend</a:t>
            </a:r>
          </a:p>
          <a:p>
            <a:pPr>
              <a:defRPr sz="2000" b="0">
                <a:latin typeface="Segoe UI"/>
              </a:defRPr>
            </a:pPr>
            <a:r>
              <a:rPr lang="de-DE" sz="2000" b="0">
                <a:latin typeface="Segoe UI"/>
              </a:rPr>
              <a:t>Angezeigte Daten müssen für ihren Kontext geschützt werden (HTML, URL, Style)</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Cross-Site Scripting (XSS): Ein Angreifer schleust Script in die Seite ein</a:t>
            </a:r>
          </a:p>
          <a:p>
            <a:pPr>
              <a:defRPr sz="2000" b="0">
                <a:latin typeface="Segoe UI"/>
              </a:defRPr>
            </a:pPr>
            <a:r>
              <a:rPr lang="de-DE" sz="2000" b="0">
                <a:latin typeface="Segoe UI"/>
              </a:rPr>
              <a:t>Das Script läuft mit den Rechten des Nutzers: Es kann Token auslesen und Aktionen auslösen</a:t>
            </a:r>
          </a:p>
          <a:p>
            <a:pPr>
              <a:defRPr sz="2000" b="0">
                <a:latin typeface="Segoe UI"/>
              </a:defRPr>
            </a:pPr>
            <a:r>
              <a:rPr lang="de-DE" sz="2000" b="0">
                <a:latin typeface="Segoe UI"/>
              </a:rPr>
              <a:t>Beispiel: Eine Kunden-Notiz enthält ein Bild mit Fehler-Ereignis:</a:t>
            </a:r>
          </a:p>
          <a:p>
            <a:pPr lvl="1">
              <a:defRPr sz="1700" b="0">
                <a:latin typeface="Segoe UI"/>
              </a:defRPr>
            </a:pPr>
            <a:r>
              <a:rPr lang="de-DE" sz="1700" b="0">
                <a:latin typeface="Segoe UI"/>
              </a:rPr>
              <a:t>&lt;img src=x onerror="alert('XSS')"&gt;</a:t>
            </a:r>
          </a:p>
          <a:p>
            <a:pPr>
              <a:defRPr sz="2000" b="0">
                <a:latin typeface="Segoe UI"/>
              </a:defRPr>
            </a:pPr>
            <a:r>
              <a:rPr lang="de-DE" sz="2000" b="0">
                <a:latin typeface="Segoe UI"/>
              </a:rPr>
              <a:t>Zeigt die Seite die Notiz ungeschützt als HTML an, läuft das Script im Browser des Betrachters</a:t>
            </a:r>
          </a:p>
          <a:p>
            <a:pPr>
              <a:defRPr sz="2000" b="0">
                <a:latin typeface="Segoe UI"/>
              </a:defRPr>
            </a:pPr>
            <a:r>
              <a:rPr lang="de-DE" sz="2000" b="0">
                <a:latin typeface="Segoe UI"/>
              </a:rPr>
              <a:t>Hier genügt harmlos ein alert, in echten Fällen wäre der Schaden groß</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Interpolation {{ }}: Der Wert wird als Text ausgegeben (escaped)</a:t>
            </a:r>
          </a:p>
          <a:p>
            <a:pPr>
              <a:defRPr sz="2000" b="0">
                <a:latin typeface="Segoe UI"/>
              </a:defRPr>
            </a:pPr>
            <a:r>
              <a:rPr lang="de-DE" sz="2000" b="0">
                <a:latin typeface="Segoe UI"/>
              </a:rPr>
              <a:t>[innerHTML]: Angular bereinigt das HTML (Sanitizing) und entfernt gefährliche Teile</a:t>
            </a:r>
          </a:p>
          <a:p>
            <a:pPr lvl="1">
              <a:defRPr sz="1700" b="0">
                <a:latin typeface="Segoe UI"/>
              </a:defRPr>
            </a:pPr>
            <a:r>
              <a:rPr lang="de-DE" sz="1700" b="0">
                <a:latin typeface="Segoe UI"/>
              </a:rPr>
              <a:t>Zum Beispiel script-Elemente und Event-Handler wie onerror</a:t>
            </a:r>
          </a:p>
          <a:p>
            <a:pPr>
              <a:defRPr sz="2000" b="0">
                <a:latin typeface="Segoe UI"/>
              </a:defRPr>
            </a:pPr>
            <a:r>
              <a:rPr lang="de-DE" sz="2000" b="0">
                <a:latin typeface="Segoe UI"/>
              </a:rPr>
              <a:t>[href] und [src]: gefährliche URLs wie javascript: werden entschärft (Präfix unsafe:)</a:t>
            </a:r>
          </a:p>
          <a:p>
            <a:pPr>
              <a:defRPr sz="2000" b="0">
                <a:latin typeface="Segoe UI"/>
              </a:defRPr>
            </a:pPr>
            <a:r>
              <a:rPr lang="de-DE" sz="2000" b="0">
                <a:latin typeface="Segoe UI"/>
              </a:rPr>
              <a:t>Templates werden beim Build kompiliert, Nutzereingaben werden nicht als Template ausgewertet</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Sicher: Ausgabe als Text, die Notiz erscheint mit allen Zeichen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 customer.note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Bereinigt: Formatierung wie &lt;b&gt; bleibt, gefährliche Teile werden entfernt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&lt;div [innerHTML]="customer.note"&gt;&lt;/div&gt;</a:t>
            </a:r>
            <a:endParaRPr lang="de-DE" sz="1600" b="0" u="none" strike="noStrike">
              <a:solidFill>
                <a:srgbClr val="000000"/>
              </a:solidFill>
              <a:uFillTx/>
              <a:latin typeface="Arial"/>
            </a:endParaRP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Angulars Schutz ausgehebelt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DomSanitizer: bypassSecurityTrustHtml/-Url/-Script/-ResourceUrl, Angular prüft nicht mehr</a:t>
            </a:r>
          </a:p>
          <a:p>
            <a:pPr>
              <a:defRPr sz="2000" b="0">
                <a:latin typeface="Segoe UI"/>
              </a:defRPr>
            </a:pPr>
            <a:r>
              <a:rPr lang="de-DE" sz="2000" b="0">
                <a:latin typeface="Segoe UI"/>
              </a:rPr>
              <a:t>Nur für selbst kontrollierte Inhalte, nie für Nutzereingaben</a:t>
            </a:r>
          </a:p>
          <a:p>
            <a:pPr>
              <a:defRPr sz="2000" b="0">
                <a:latin typeface="Segoe UI"/>
              </a:defRPr>
            </a:pPr>
            <a:r>
              <a:rPr lang="de-DE" sz="2000" b="0">
                <a:latin typeface="Segoe UI"/>
              </a:rPr>
              <a:t>Direkter DOM-Zugriff: nativeElement.innerHTML = …, document.write, eval, new Function</a:t>
            </a:r>
          </a:p>
          <a:p>
            <a:pPr>
              <a:defRPr sz="2000" b="0">
                <a:latin typeface="Segoe UI"/>
              </a:defRPr>
            </a:pPr>
            <a:r>
              <a:rPr lang="de-DE" sz="2000" b="0">
                <a:latin typeface="Segoe UI"/>
              </a:rPr>
              <a:t>Templates zur Laufzeit aus Strings bauen, wenn Nutzertext enthalten ist</a:t>
            </a:r>
          </a:p>
          <a:p>
            <a:pPr>
              <a:defRPr sz="2000" b="0">
                <a:latin typeface="Segoe UI"/>
              </a:defRPr>
            </a:pPr>
            <a:r>
              <a:rPr lang="de-DE" sz="2000" b="0">
                <a:latin typeface="Segoe UI"/>
              </a:rPr>
              <a:t>Drittbibliotheken, die HTML erzeugen (Markdown-Renderer, Editoren) ohne Sanitizing</a:t>
            </a:r>
          </a:p>
          <a:p>
            <a:pPr>
              <a:defRPr sz="2000" b="0">
                <a:latin typeface="Segoe UI"/>
              </a:defRPr>
            </a:pPr>
            <a:r>
              <a:rPr lang="de-DE" sz="2000" b="0">
                <a:latin typeface="Segoe UI"/>
              </a:rPr>
              <a:t>Regel: bypassSecurityTrust* ist ein Review-Alarm, jeder Einsatz braucht eine Begründung im Code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Authentifizierung und Token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localStorage oder sessionStorage: bei XSS per Script auslesbar</a:t>
            </a:r>
          </a:p>
          <a:p>
            <a:pPr>
              <a:defRPr sz="2000" b="0">
                <a:latin typeface="Segoe UI"/>
              </a:defRPr>
            </a:pPr>
            <a:r>
              <a:rPr lang="de-DE" sz="2000" b="0">
                <a:latin typeface="Segoe UI"/>
              </a:rPr>
              <a:t>Cookie ohne HttpOnly: ebenfalls per Script auslesbar</a:t>
            </a:r>
          </a:p>
          <a:p>
            <a:pPr>
              <a:defRPr sz="2000" b="0">
                <a:latin typeface="Segoe UI"/>
              </a:defRPr>
            </a:pPr>
            <a:r>
              <a:rPr lang="de-DE" sz="2000" b="0">
                <a:latin typeface="Segoe UI"/>
              </a:rPr>
              <a:t>Cookie mit HttpOnly, Secure und SameSite: Script kommt nicht heran (CSRF beachten)</a:t>
            </a:r>
          </a:p>
          <a:p>
            <a:pPr>
              <a:defRPr sz="2000" b="0">
                <a:latin typeface="Segoe UI"/>
              </a:defRPr>
            </a:pPr>
            <a:r>
              <a:rPr lang="de-DE" sz="2000" b="0">
                <a:latin typeface="Segoe UI"/>
              </a:rPr>
              <a:t>Variable im Speicher: geht beim Reload verloren, schwerer zu stehlen</a:t>
            </a:r>
          </a:p>
          <a:p>
            <a:pPr>
              <a:defRPr sz="2000" b="0">
                <a:latin typeface="Segoe UI"/>
              </a:defRPr>
            </a:pPr>
            <a:r>
              <a:rPr lang="de-DE" sz="2000" b="0">
                <a:latin typeface="Segoe UI"/>
              </a:rPr>
              <a:t>Empfehlung: Sitzung über HttpOnly-Cookie, das das Backend setzt; Token mit kurzer Laufzeit</a:t>
            </a:r>
          </a:p>
          <a:p>
            <a:pPr>
              <a:defRPr sz="2000" b="0">
                <a:latin typeface="Segoe UI"/>
              </a:defRPr>
            </a:pPr>
            <a:r>
              <a:rPr lang="de-DE" sz="2000" b="0">
                <a:latin typeface="Segoe UI"/>
              </a:rPr>
              <a:t>Login bevorzugt über etablierte Bibliotheken oder Identity Provider statt Eigenbau</a:t>
            </a:r>
          </a:p>
          <a:p>
            <a:pPr>
              <a:defRPr sz="2000" b="0">
                <a:latin typeface="Segoe UI"/>
              </a:defRPr>
            </a:pPr>
            <a:r>
              <a:rPr lang="de-DE" sz="2000" b="0">
                <a:latin typeface="Segoe UI"/>
              </a:rPr>
              <a:t>Der AuthService aus Übung 25 (Signal isLoggedIn) ist nur eine Demo</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CSRF: Eine fremde Seite löst mit dem Browser des Nutzers Aktionen im Backend aus</a:t>
            </a:r>
          </a:p>
          <a:p>
            <a:pPr lvl="1">
              <a:defRPr sz="1700" b="0">
                <a:latin typeface="Segoe UI"/>
              </a:defRPr>
            </a:pPr>
            <a:r>
              <a:rPr lang="de-DE" sz="1700" b="0">
                <a:latin typeface="Segoe UI"/>
              </a:rPr>
              <a:t>Der Browser sendet dabei die Cookies des Nutzers automatisch mit</a:t>
            </a:r>
          </a:p>
          <a:p>
            <a:pPr>
              <a:defRPr sz="2000" b="0">
                <a:latin typeface="Segoe UI"/>
              </a:defRPr>
            </a:pPr>
            <a:r>
              <a:rPr lang="de-DE" sz="2000" b="0">
                <a:latin typeface="Segoe UI"/>
              </a:rPr>
              <a:t>Gegenmaßnahmen: SameSite-Cookies und CSRF-Token</a:t>
            </a:r>
          </a:p>
          <a:p>
            <a:pPr>
              <a:defRPr sz="2000" b="0">
                <a:latin typeface="Segoe UI"/>
              </a:defRPr>
            </a:pPr>
            <a:r>
              <a:rPr lang="de-DE" sz="2000" b="0">
                <a:latin typeface="Segoe UI"/>
              </a:rPr>
              <a:t>HttpClient liest das Cookie XSRF-TOKEN und sendet es als Header X-XSRF-TOKEN</a:t>
            </a:r>
          </a:p>
          <a:p>
            <a:pPr lvl="1">
              <a:defRPr sz="1700" b="0">
                <a:latin typeface="Segoe UI"/>
              </a:defRPr>
            </a:pPr>
            <a:r>
              <a:rPr lang="de-DE" sz="1700" b="0">
                <a:latin typeface="Segoe UI"/>
              </a:rPr>
              <a:t>Nur bei veränderten Anfragen (z. B. POST, PUT, DELETE) an relative URLs</a:t>
            </a:r>
          </a:p>
          <a:p>
            <a:pPr lvl="1">
              <a:defRPr sz="1700" b="0">
                <a:latin typeface="Segoe UI"/>
              </a:defRPr>
            </a:pPr>
            <a:r>
              <a:rPr lang="de-DE" sz="1700" b="0">
                <a:latin typeface="Segoe UI"/>
              </a:rPr>
              <a:t>Das Backend muss das Cookie setzen und den Header prüfen</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XSRF-Namen anpassen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Standard: Cookie "XSRF-TOKEN", Header "X-XSRF-TOKEN"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provideHttpClient(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withXsrfConfiguration({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cookieName: 'MY-XSRF-COOKIE',   // Name des Cookies, das das Backend 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headerName: 'X-MY-XSRF',        // Name des Headers, den das Backend erwartet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CORS regelt, welche Webseiten Antworten lesen dürfen</a:t>
            </a:r>
          </a:p>
          <a:p>
            <a:pPr lvl="1">
              <a:defRPr sz="1700" b="0">
                <a:latin typeface="Segoe UI"/>
              </a:defRPr>
            </a:pPr>
            <a:r>
              <a:rPr lang="de-DE" sz="1700" b="0">
                <a:latin typeface="Segoe UI"/>
              </a:rPr>
              <a:t>Nicht mit Absicherung verwechseln</a:t>
            </a:r>
          </a:p>
          <a:p>
            <a:pPr>
              <a:defRPr sz="2000" b="0">
                <a:latin typeface="Segoe UI"/>
              </a:defRPr>
            </a:pPr>
            <a:r>
              <a:rPr lang="de-DE" sz="2000" b="0">
                <a:latin typeface="Segoe UI"/>
              </a:rPr>
              <a:t>Immer HTTPS verwenden</a:t>
            </a:r>
          </a:p>
          <a:p>
            <a:pPr>
              <a:defRPr sz="2000" b="0">
                <a:latin typeface="Segoe UI"/>
              </a:defRPr>
            </a:pPr>
            <a:r>
              <a:rPr lang="de-DE" sz="2000" b="0">
                <a:latin typeface="Segoe UI"/>
              </a:rPr>
              <a:t>Keine sensiblen Daten in URLs (sie landen in Logs und im Referrer)</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Offene Weiterleitung: navigateByUrl mit ungeprüftem returnUrl-Parameter</a:t>
            </a:r>
          </a:p>
          <a:p>
            <a:pPr lvl="1">
              <a:defRPr sz="1700" b="0">
                <a:latin typeface="Segoe UI"/>
              </a:defRPr>
            </a:pPr>
            <a:r>
              <a:rPr lang="de-DE" sz="1700" b="0">
                <a:latin typeface="Segoe UI"/>
              </a:rPr>
              <a:t>Gegenmaßnahme: Ziel gegen eine Allowlist prüfen, nur interne Pfade</a:t>
            </a:r>
          </a:p>
          <a:p>
            <a:pPr>
              <a:defRPr sz="2000" b="0">
                <a:latin typeface="Segoe UI"/>
              </a:defRPr>
            </a:pPr>
            <a:r>
              <a:rPr lang="de-DE" sz="2000" b="0">
                <a:latin typeface="Segoe UI"/>
              </a:rPr>
              <a:t>Unsichere Abhängigkeiten: veraltete npm-Pakete mit Lücken</a:t>
            </a:r>
          </a:p>
          <a:p>
            <a:pPr lvl="1">
              <a:defRPr sz="1700" b="0">
                <a:latin typeface="Segoe UI"/>
              </a:defRPr>
            </a:pPr>
            <a:r>
              <a:rPr lang="de-DE" sz="1700" b="0">
                <a:latin typeface="Segoe UI"/>
              </a:rPr>
              <a:t>Gegenmaßnahme: npm audit, Updates, Lockfile, Werkzeuge für automatische Updates</a:t>
            </a:r>
          </a:p>
          <a:p>
            <a:pPr>
              <a:defRPr sz="2000" b="0">
                <a:latin typeface="Segoe UI"/>
              </a:defRPr>
            </a:pPr>
            <a:r>
              <a:rPr lang="de-DE" sz="2000" b="0">
                <a:latin typeface="Segoe UI"/>
              </a:rPr>
              <a:t>Geheimnisse im Bundle: API-Key in environment.ts</a:t>
            </a:r>
          </a:p>
          <a:p>
            <a:pPr lvl="1">
              <a:defRPr sz="1700" b="0">
                <a:latin typeface="Segoe UI"/>
              </a:defRPr>
            </a:pPr>
            <a:r>
              <a:rPr lang="de-DE" sz="1700" b="0">
                <a:latin typeface="Segoe UI"/>
              </a:rPr>
              <a:t>Gegenmaßnahme: Zugriff über das Backend, Keys mit minimalen Rechten</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 viele Daten im Client: Das Backend soll nur erlaubte Felder liefern</a:t>
            </a:r>
          </a:p>
          <a:p>
            <a:pPr>
              <a:defRPr sz="2000" b="0">
                <a:latin typeface="Segoe UI"/>
              </a:defRPr>
            </a:pPr>
            <a:r>
              <a:rPr lang="de-DE" sz="2000" b="0">
                <a:latin typeface="Segoe UI"/>
              </a:rPr>
              <a:t>Sensible Daten in Logs: nichts Sensibles per console.log oder Interceptor ausgeben (Übung 25)</a:t>
            </a:r>
          </a:p>
          <a:p>
            <a:pPr>
              <a:defRPr sz="2000" b="0">
                <a:latin typeface="Segoe UI"/>
              </a:defRPr>
            </a:pPr>
            <a:r>
              <a:rPr lang="de-DE" sz="2000" b="0">
                <a:latin typeface="Segoe UI"/>
              </a:rPr>
              <a:t>Clickjacking: Seite in fremdem iframe, Schutz durch frame-ancestors oder X-Frame-Options</a:t>
            </a:r>
          </a:p>
          <a:p>
            <a:pPr>
              <a:defRPr sz="2000" b="0">
                <a:latin typeface="Segoe UI"/>
              </a:defRPr>
            </a:pPr>
            <a:r>
              <a:rPr lang="de-DE" sz="2000" b="0">
                <a:latin typeface="Segoe UI"/>
              </a:rPr>
              <a:t>Drittanbieter-Skripte (Tracking, Widgets): Notwendigkeit prüfen, Subresource Integrity, CSP</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Content Security Policy und Trusted Types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CSP ist ein HTTP-Header des Servers</a:t>
            </a:r>
          </a:p>
          <a:p>
            <a:pPr lvl="1">
              <a:defRPr sz="1700" b="0">
                <a:latin typeface="Segoe UI"/>
              </a:defRPr>
            </a:pPr>
            <a:r>
              <a:rPr lang="de-DE" sz="1700" b="0">
                <a:latin typeface="Segoe UI"/>
              </a:rPr>
              <a:t>Er legt fest, woher Skripte und Styles geladen werden dürfen</a:t>
            </a:r>
          </a:p>
          <a:p>
            <a:pPr lvl="1">
              <a:defRPr sz="1700" b="0">
                <a:latin typeface="Segoe UI"/>
              </a:defRPr>
            </a:pPr>
            <a:r>
              <a:rPr lang="de-DE" sz="1700" b="0">
                <a:latin typeface="Segoe UI"/>
              </a:rPr>
              <a:t>Er begrenzt den Schaden bei XSS</a:t>
            </a:r>
          </a:p>
          <a:p>
            <a:pPr>
              <a:defRPr sz="2000" b="0">
                <a:latin typeface="Segoe UI"/>
              </a:defRPr>
            </a:pPr>
            <a:r>
              <a:rPr lang="de-DE" sz="2000" b="0">
                <a:latin typeface="Segoe UI"/>
              </a:rPr>
              <a:t>Angular unterstützt strikte CSP (z. B. Nonce über CSP_NONCE) und Trusted Types</a:t>
            </a:r>
          </a:p>
          <a:p>
            <a:pPr>
              <a:defRPr sz="2000" b="0">
                <a:latin typeface="Segoe UI"/>
              </a:defRPr>
            </a:pPr>
            <a:r>
              <a:rPr lang="de-DE" sz="2000" b="0">
                <a:latin typeface="Segoe UI"/>
              </a:rPr>
              <a:t>Einordnung: zusätzliche Verteidigungsschicht (Defense in Depth)</a:t>
            </a:r>
          </a:p>
          <a:p>
            <a:pPr>
              <a:defRPr sz="2000" b="0">
                <a:latin typeface="Segoe UI"/>
              </a:defRPr>
            </a:pPr>
            <a:r>
              <a:rPr lang="de-DE" sz="2000" b="0">
                <a:latin typeface="Segoe UI"/>
              </a:rPr>
              <a:t>Sie ersetzt kein sauberes Escaping</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Datensparsamkeit: nur anzeigen und speichern, was gebraucht wird (DSGVO)</a:t>
            </a:r>
          </a:p>
          <a:p>
            <a:pPr>
              <a:defRPr sz="2000" b="0">
                <a:latin typeface="Segoe UI"/>
              </a:defRPr>
            </a:pPr>
            <a:r>
              <a:rPr lang="de-DE" sz="2000" b="0">
                <a:latin typeface="Segoe UI"/>
              </a:rPr>
              <a:t>Kontextgerecht behandeln: Text per Interpolation, HTML per Sanitizing, URL durch Validieren</a:t>
            </a:r>
          </a:p>
          <a:p>
            <a:pPr>
              <a:defRPr sz="2000" b="0">
                <a:latin typeface="Segoe UI"/>
              </a:defRPr>
            </a:pPr>
            <a:r>
              <a:rPr lang="de-DE" sz="2000" b="0">
                <a:latin typeface="Segoe UI"/>
              </a:rPr>
              <a:t>Nicht auf Client-Validierung verlassen: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nicht zu detailreich, keine Stacktraces für Endnutzer</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 ist Teamaufgabe: Review-Checkliste und automatische Prüfungen (Lint, npm audit)</a:t>
            </a:r>
          </a:p>
          <a:p>
            <a:pPr>
              <a:defRPr sz="2000" b="0">
                <a:latin typeface="Segoe UI"/>
              </a:defRPr>
            </a:pPr>
            <a:r>
              <a:rPr lang="de-DE" sz="2000" b="0">
                <a:latin typeface="Segoe UI"/>
              </a:rPr>
              <a:t>Updates zeitnah mit ng update: Sicherheitsfixes kommen über Minor- und Patch-Versionen</a:t>
            </a:r>
          </a:p>
          <a:p>
            <a:pPr>
              <a:defRPr sz="2000" b="0">
                <a:latin typeface="Segoe UI"/>
              </a:defRPr>
            </a:pPr>
            <a:r>
              <a:rPr lang="de-DE" sz="2000" b="0">
                <a:latin typeface="Segoe UI"/>
              </a:rPr>
              <a:t>Dokumentierte Ausnahmen: Wo wird bypassSecurityTrust* oder innerHTML genutzt, und warum?</a:t>
            </a:r>
          </a:p>
          <a:p>
            <a:pPr>
              <a:defRPr sz="2000" b="0">
                <a:latin typeface="Segoe UI"/>
              </a:defRPr>
            </a:pPr>
            <a:r>
              <a:rPr lang="de-DE" sz="2000" b="0">
                <a:latin typeface="Segoe UI"/>
              </a:rPr>
              <a:t>Vorfälle offen und lernorientiert behandeln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Anzeige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36: XSS erleben und beheben</a:t>
            </a:r>
          </a:p>
        </p:txBody>
      </p:sp>
      <p:sp>
        <p:nvSpPr>
          <p:cNvPr id="3" name="Subtitle 2"/>
          <p:cNvSpPr>
            <a:spLocks noGrp="1"/>
          </p:cNvSpPr>
          <p:nvPr>
            <p:ph type="subTitle"/>
          </p:nvPr>
        </p:nvSpPr>
        <p:spPr/>
        <p:txBody>
          <a:bodyPr anchor="t"/>
          <a:lstStyle/>
          <a:p>
            <a:pPr>
              <a:defRPr sz="1800" b="1">
                <a:latin typeface="Segoe UI"/>
              </a:defRPr>
            </a:pPr>
            <a:r>
              <a:rPr lang="de-DE" sz="1800" b="1">
                <a:latin typeface="Segoe UI"/>
              </a:rPr>
              <a:t>Öffne das Projekt 36_sicherheit (die Notiz wird client-seitig ergänzt)</a:t>
            </a:r>
          </a:p>
          <a:p>
            <a:pPr>
              <a:defRPr sz="1800" b="1">
                <a:latin typeface="Segoe UI"/>
              </a:defRPr>
            </a:pPr>
            <a:r>
              <a:rPr lang="de-DE" sz="1800" b="1">
                <a:latin typeface="Segoe UI"/>
              </a:rPr>
              <a:t>1. Customer erhält note?: string; Kunde 1: &lt;b&gt;wichtig&lt;/b&gt; &lt;img src=x onerror="alert('XSS')"&gt;</a:t>
            </a:r>
          </a:p>
          <a:p>
            <a:pPr>
              <a:defRPr sz="1800" b="1">
                <a:latin typeface="Segoe UI"/>
              </a:defRPr>
            </a:pPr>
            <a:r>
              <a:rPr lang="de-DE" sz="1800" b="1">
                <a:latin typeface="Segoe UI"/>
              </a:rPr>
              <a:t>2. Anzeige per Interpolation und per [innerHTML]: Ergebnis im Browser (Elements) prüfen</a:t>
            </a:r>
          </a:p>
          <a:p>
            <a:pPr>
              <a:defRPr sz="1800" b="1">
                <a:latin typeface="Segoe UI"/>
              </a:defRPr>
            </a:pPr>
            <a:r>
              <a:rPr lang="de-DE" sz="1800" b="1">
                <a:latin typeface="Segoe UI"/>
              </a:rPr>
              <a:t>3. Gegenbeispiel mit bypassSecurityTrustHtml: Was passiert? Wann wäre das akzeptabel?</a:t>
            </a:r>
          </a:p>
          <a:p>
            <a:pPr>
              <a:defRPr sz="1800" b="1">
                <a:latin typeface="Segoe UI"/>
              </a:defRPr>
            </a:pPr>
            <a:r>
              <a:rPr lang="de-DE" sz="1800" b="1">
                <a:latin typeface="Segoe UI"/>
              </a:rPr>
              <a:t>4. Login: returnUrl nur zulassen, wenn der Pfad mit /customer beginnt und nicht absolut ist</a:t>
            </a:r>
          </a:p>
          <a:p>
            <a:pPr lvl="1">
              <a:defRPr sz="1530" b="0">
                <a:latin typeface="Segoe UI"/>
              </a:defRPr>
            </a:pPr>
            <a:r>
              <a:rPr lang="de-DE" sz="1530" b="0">
                <a:latin typeface="Segoe UI"/>
              </a:rPr>
              <a:t>Tipp: new URL(value, window.location.origin) und origin sowie pathname prüfen</a:t>
            </a:r>
          </a:p>
          <a:p>
            <a:pPr>
              <a:defRPr sz="1800" b="1">
                <a:latin typeface="Segoe UI"/>
              </a:defRPr>
            </a:pPr>
            <a:r>
              <a:rPr lang="de-DE" sz="1800" b="1">
                <a:latin typeface="Segoe UI"/>
              </a:rPr>
              <a:t>5. loggingInterceptor darf Header wie Authorization nie ausgeben (Test oder Review-Kommentar)</a:t>
            </a:r>
          </a:p>
          <a:p>
            <a:pPr>
              <a:defRPr sz="1800" b="1">
                <a:latin typeface="Segoe UI"/>
              </a:defRPr>
            </a:pPr>
            <a:r>
              <a:rPr lang="de-DE" sz="1800" b="1">
                <a:latin typeface="Segoe UI"/>
              </a:rPr>
              <a:t>6. Gehe die Review-Checkliste für die ganze App durch und dokumentiere Funde</a:t>
            </a:r>
          </a:p>
          <a:p>
            <a:pPr>
              <a:defRPr sz="1800" b="1">
                <a:latin typeface="Segoe UI"/>
              </a:defRPr>
            </a:pPr>
            <a:r>
              <a:rPr lang="de-DE" sz="1800" b="1">
                <a:latin typeface="Segoe UI"/>
              </a:rPr>
              <a:t>Musterlösung: 36_sicherheit (baut auf 35_performance auf)</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den Quellen neue Werte</a:t>
            </a:r>
          </a:p>
          <a:p>
            <a:pPr>
              <a:defRPr sz="2000" b="0">
                <a:latin typeface="Segoe UI"/>
              </a:defRPr>
            </a:pPr>
            <a:r>
              <a:rPr lang="de-DE" sz="2000" b="0">
                <a:latin typeface="Segoe UI"/>
              </a:rPr>
              <a:t>Wirkung (Template oder effect): greift nach außen – Oberfläche, Speicher, Logging</a:t>
            </a:r>
          </a:p>
          <a:p>
            <a:pPr>
              <a:defRPr sz="2000" b="0">
                <a:latin typeface="Segoe UI"/>
              </a:defRPr>
            </a:pPr>
            <a:r>
              <a:rPr lang="de-DE" sz="2000" b="0">
                <a:latin typeface="Segoe UI"/>
              </a:rPr>
              <a:t>Reihenfolge: Quelle, dann Ableitung, dann Wirkung</a:t>
            </a:r>
          </a:p>
          <a:p>
            <a:pPr>
              <a:defRPr sz="2000" b="0">
                <a:latin typeface="Segoe UI"/>
              </a:defRPr>
            </a:pPr>
            <a:r>
              <a:rPr lang="de-DE" sz="2000" b="0">
                <a:latin typeface="Segoe UI"/>
              </a:rPr>
              <a:t>Angular verfolgt automatisch, wer welches Signal liest (Abhängigkeitsgraph)</a:t>
            </a:r>
          </a:p>
          <a:p>
            <a:pPr>
              <a:defRPr sz="2000" b="0">
                <a:latin typeface="Segoe UI"/>
              </a:defRPr>
            </a:pPr>
            <a:r>
              <a:rPr lang="de-DE" sz="2000" b="0">
                <a:latin typeface="Segoe UI"/>
              </a:rPr>
              <a:t>Nichts muss von Hand abonniert werden</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 Zustand halten, schreibbar – z. B. Filtertext, Auswahl</a:t>
            </a:r>
          </a:p>
          <a:p>
            <a:pPr>
              <a:defRPr sz="2000" b="0">
                <a:latin typeface="Segoe UI"/>
              </a:defRPr>
            </a:pPr>
            <a:r>
              <a:rPr lang="de-DE" sz="2000" b="0">
                <a:latin typeface="Segoe UI"/>
              </a:rPr>
              <a:t>computed(): Wert ableiten, nur lesbar – z. B. gefilterte Liste, Summen</a:t>
            </a:r>
          </a:p>
          <a:p>
            <a:pPr>
              <a:defRPr sz="2000" b="0">
                <a:latin typeface="Segoe UI"/>
              </a:defRPr>
            </a:pPr>
            <a:r>
              <a:rPr lang="de-DE" sz="2000" b="0">
                <a:latin typeface="Segoe UI"/>
              </a:rPr>
              <a:t>linkedSignal(): abgeleitet, überschreibbar – z. B. Auswahl, die bei Listenwechsel zurückspringt</a:t>
            </a:r>
          </a:p>
          <a:p>
            <a:pPr>
              <a:defRPr sz="2000" b="0">
                <a:latin typeface="Segoe UI"/>
              </a:defRPr>
            </a:pPr>
            <a:r>
              <a:rPr lang="de-DE" sz="2000" b="0">
                <a:latin typeface="Segoe UI"/>
              </a:rPr>
              <a:t>effect(): Nebenwirkung – z. B. localStorage, Logging, Drittbibliothek</a:t>
            </a:r>
          </a:p>
          <a:p>
            <a:pPr>
              <a:defRPr sz="2000" b="0">
                <a:latin typeface="Segoe UI"/>
              </a:defRPr>
            </a:pPr>
            <a:r>
              <a:rPr lang="de-DE" sz="2000" b="0">
                <a:latin typeface="Segoe UI"/>
              </a:rPr>
              <a:t>resource() / httpResource(): asynchron laden – z. B. Daten vom Server</a:t>
            </a:r>
          </a:p>
          <a:p>
            <a:pPr>
              <a:defRPr sz="2000" b="0">
                <a:latin typeface="Segoe UI"/>
              </a:defRPr>
            </a:pPr>
            <a:r>
              <a:rPr lang="de-DE" sz="2000" b="0">
                <a:latin typeface="Segoe UI"/>
              </a:rPr>
              <a:t>toSignal() / toObservable(): Brücke zu RxJS – z. B. Router-Ereignisse</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Lokaler Zustand (Quelle): Benutzer oder ein Ereignis kann ihn direkt ändern</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darf nur an einer Stelle gespeichert sein</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Normale Methode: läuft bei jeder Change Detection neu</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filteredCustomers() {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Funktion statt computed: kein Zwischenspeicher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customers = () =&gt; this.customerResource.value()?.data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Das funktioniert, aber: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keine Zwischenspeicherung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schwer zu verfolgen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Abhängigkeiten sind nicht sichtbar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Umbau zu computed ist Teil von Übung 32</a:t>
            </a:r>
            <a:endParaRPr lang="de-DE" sz="2000" b="0" u="none" strike="noStrike">
              <a:solidFill>
                <a:srgbClr val="000000"/>
              </a:solidFill>
              <a:uFillTx/>
              <a:latin typeface="Arial"/>
            </a:endParaRP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berechnet erst, wenn der Wert zum ersten Mal gelesen wird</a:t>
            </a:r>
          </a:p>
          <a:p>
            <a:pPr>
              <a:defRPr sz="2000" b="0">
                <a:latin typeface="Segoe UI"/>
              </a:defRPr>
            </a:pPr>
            <a:r>
              <a:rPr lang="de-DE" sz="2000" b="0">
                <a:latin typeface="Segoe UI"/>
              </a:rPr>
              <a:t>Memoized: liefert den gespeicherten Wert, solange sich die Abhängigkeiten nicht ändern</a:t>
            </a:r>
          </a:p>
          <a:p>
            <a:pPr>
              <a:defRPr sz="2000" b="0">
                <a:latin typeface="Segoe UI"/>
              </a:defRPr>
            </a:pPr>
            <a:r>
              <a:rPr lang="de-DE" sz="2000" b="0">
                <a:latin typeface="Segoe UI"/>
              </a:rPr>
              <a:t>Dynamische Abhängigkeiten: nur Signals, die beim letzten Lauf wirklich gelesen wurden, zählen</a:t>
            </a:r>
          </a:p>
          <a:p>
            <a:pPr>
              <a:defRPr sz="2000" b="0">
                <a:latin typeface="Segoe UI"/>
              </a:defRPr>
            </a:pPr>
            <a:r>
              <a:rPr lang="de-DE" sz="2000" b="0">
                <a:latin typeface="Segoe UI"/>
              </a:rPr>
              <a:t>Rein: keine Nebenwirkungen und kein Schreiben auf Signals (Angular wirft einen Fehler)</a:t>
            </a:r>
          </a:p>
          <a:p>
            <a:pPr>
              <a:defRPr sz="2000" b="0">
                <a:latin typeface="Segoe UI"/>
              </a:defRPr>
            </a:pPr>
            <a:r>
              <a:rPr lang="de-DE" sz="2000" b="0">
                <a:latin typeface="Segoe UI"/>
              </a:rPr>
              <a:t>Gleichheit: geändert nur bei anderem Wert oder anderer Referenz (Vergleich wie ===)</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abgeleitet, aber änderbar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kann aber vom Benutzer überschrieben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 "ein effect setzt ein Signal anhand eines anderen zurück"</a:t>
            </a:r>
            <a:endParaRPr lang="de-DE" sz="1600" b="0" u="none" strike="noStrike">
              <a:solidFill>
                <a:srgbClr val="000000"/>
              </a:solidFill>
              <a:uFillTx/>
              <a:latin typeface="Arial"/>
            </a:endParaRP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Filtertext im Browser sichern, sobald er sich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this.filterText());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Aufräumen mit onCleanup, bevor der effect erneut läuft oder zerstört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effect((onCleanup)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setInterval(() =&gt; this.refresh(), this.pollMs());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onCleanup(() =&gt; clearInterval(id));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untracked(() =&gt; ...): Lesen ohne Abhängigkeit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effect muss im Injection Context entstehen (Konstruktor, Feldinitialisierer)</a:t>
            </a:r>
            <a:endParaRPr lang="de-DE" sz="1600" b="0" u="none" strike="noStrike">
              <a:solidFill>
                <a:srgbClr val="000000"/>
              </a:solidFill>
              <a:uFillTx/>
              <a:latin typeface="Arial"/>
            </a:endParaRP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Wert aus anderen Signals berechnen: besser computed</a:t>
            </a:r>
          </a:p>
          <a:p>
            <a:pPr>
              <a:defRPr sz="2000" b="0">
                <a:latin typeface="Segoe UI"/>
              </a:defRPr>
            </a:pPr>
            <a:r>
              <a:rPr lang="de-DE" sz="2000" b="0">
                <a:latin typeface="Segoe UI"/>
              </a:rPr>
              <a:t>Signal bei Änderung einer Quelle zurücksetzen: besser linkedSignal</a:t>
            </a:r>
          </a:p>
          <a:p>
            <a:pPr>
              <a:defRPr sz="2000" b="0">
                <a:latin typeface="Segoe UI"/>
              </a:defRPr>
            </a:pPr>
            <a:r>
              <a:rPr lang="de-DE" sz="2000" b="0">
                <a:latin typeface="Segoe UI"/>
              </a:rPr>
              <a:t>Auf Klick oder Eingabe reagieren: besser Event-Handler, z. B. (click)</a:t>
            </a:r>
          </a:p>
          <a:p>
            <a:pPr>
              <a:defRPr sz="2000" b="0">
                <a:latin typeface="Segoe UI"/>
              </a:defRPr>
            </a:pPr>
            <a:r>
              <a:rPr lang="de-DE" sz="2000" b="0">
                <a:latin typeface="Segoe UI"/>
              </a:rPr>
              <a:t>Daten laden, wenn sich eine id ändert: besser resource oder rxResource</a:t>
            </a:r>
          </a:p>
          <a:p>
            <a:pPr>
              <a:defRPr sz="2000" b="0">
                <a:latin typeface="Segoe UI"/>
              </a:defRPr>
            </a:pPr>
            <a:r>
              <a:rPr lang="de-DE" sz="2000" b="0">
                <a:latin typeface="Segoe UI"/>
              </a:rPr>
              <a:t>Beim Start einmal etwas tun: besser Konstruktor oder afterNextRender</a:t>
            </a:r>
          </a:p>
          <a:p>
            <a:pPr>
              <a:defRPr sz="2000" b="0">
                <a:latin typeface="Segoe UI"/>
              </a:defRPr>
            </a:pPr>
            <a:r>
              <a:rPr lang="de-DE" sz="2000" b="0">
                <a:latin typeface="Segoe UI"/>
              </a:rPr>
              <a:t>Faustregel: Wenn der effect ein Signal schreibt, gibt es fast immer eine bessere Lösung</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Läuft mindestens einmal, danach bei jeder Änderung der gelesenen Signals</a:t>
            </a:r>
          </a:p>
          <a:p>
            <a:pPr>
              <a:defRPr sz="2000" b="0">
                <a:latin typeface="Segoe UI"/>
              </a:defRPr>
            </a:pPr>
            <a:r>
              <a:rPr lang="de-DE" sz="2000" b="0">
                <a:latin typeface="Segoe UI"/>
              </a:rPr>
              <a:t>Läuft asynchron, nicht sofort nach set(): Angular plant ihn bei der Change Detection ein</a:t>
            </a:r>
          </a:p>
          <a:p>
            <a:pPr>
              <a:defRPr sz="2000" b="0">
                <a:latin typeface="Segoe UI"/>
              </a:defRPr>
            </a:pPr>
            <a:r>
              <a:rPr lang="de-DE" sz="2000" b="0">
                <a:latin typeface="Segoe UI"/>
              </a:rPr>
              <a:t>Mehrere Änderungen hintereinander ergeben nur einen Lauf (Batching)</a:t>
            </a:r>
          </a:p>
          <a:p>
            <a:pPr>
              <a:defRPr sz="2000" b="0">
                <a:latin typeface="Segoe UI"/>
              </a:defRPr>
            </a:pPr>
            <a:r>
              <a:rPr lang="de-DE" sz="2000" b="0">
                <a:latin typeface="Segoe UI"/>
              </a:rPr>
              <a:t>Aufräumen über onCleanup</a:t>
            </a:r>
          </a:p>
          <a:p>
            <a:pPr>
              <a:defRPr sz="2000" b="0">
                <a:latin typeface="Segoe UI"/>
              </a:defRPr>
            </a:pPr>
            <a:r>
              <a:rPr lang="de-DE" sz="2000" b="0">
                <a:latin typeface="Segoe UI"/>
              </a:rPr>
              <a:t>Muss im Injection Context entstehen (Konstruktor, Feldinitialisierer) oder mit injector</a:t>
            </a:r>
          </a:p>
          <a:p>
            <a:pPr>
              <a:defRPr sz="2000" b="0">
                <a:latin typeface="Segoe UI"/>
              </a:defRPr>
            </a:pPr>
            <a:r>
              <a:rPr lang="de-DE" sz="2000" b="0">
                <a:latin typeface="Segoe UI"/>
              </a:rPr>
              <a:t>untracked(): Lesen ohne Abhängigkeit</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neuer Referenz</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list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this.list().push(c);                 // Falsch: Signal merkt nichts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 c]);    // Richtig: neue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Eintrag ändern, ebenfalls mit neuer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l.map(x =&gt; x.id === c.id ? { ...x, ...changes } : 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Signals vergleichen mit ===: gleiches Array bedeutet "keine Änderung"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Gilt auch für Objekte in Signals und für input()-Werte</a:t>
            </a:r>
            <a:endParaRPr lang="de-DE" sz="1600" b="0" u="none" strike="noStrike">
              <a:solidFill>
                <a:srgbClr val="000000"/>
              </a:solidFill>
              <a:uFillTx/>
              <a:latin typeface="Arial"/>
            </a:endParaRP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in b, der zweite liest b und schreibt in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 schwer nachzuvollziehen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expensiveSum()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total()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Ausnahme: reine, billige Aufrufe. Im Zweifel computed oder eine reine Pipe --&gt;</a:t>
            </a:r>
            <a:endParaRPr lang="de-DE" sz="1600" b="0" u="none" strike="noStrike">
              <a:solidFill>
                <a:srgbClr val="000000"/>
              </a:solidFill>
              <a:uFillTx/>
              <a:latin typeface="Arial"/>
            </a:endParaRP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Stolperfalle 4: Brücke zu RxJS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toSignal(obs$) ohne initialValue liefert T | undefined – im Template behandeln</a:t>
            </a:r>
          </a:p>
          <a:p>
            <a:pPr>
              <a:defRPr sz="2000" b="0">
                <a:latin typeface="Segoe UI"/>
              </a:defRPr>
            </a:pPr>
            <a:r>
              <a:rPr lang="de-DE" sz="2000" b="0">
                <a:latin typeface="Segoe UI"/>
              </a:rPr>
              <a:t>toSignal abonniert automatisch und räumt auf (Injection Context nötig)</a:t>
            </a:r>
          </a:p>
          <a:p>
            <a:pPr>
              <a:defRPr sz="2000" b="0">
                <a:latin typeface="Segoe UI"/>
              </a:defRPr>
            </a:pPr>
            <a:r>
              <a:rPr lang="de-DE" sz="2000" b="0">
                <a:latin typeface="Segoe UI"/>
              </a:rPr>
              <a:t>Fehler im Observable werden beim Lesen des Signals erneut geworfen: vorher catchError</a:t>
            </a:r>
          </a:p>
          <a:p>
            <a:pPr>
              <a:defRPr sz="2000" b="0">
                <a:latin typeface="Segoe UI"/>
              </a:defRPr>
            </a:pPr>
            <a:r>
              <a:rPr lang="de-DE" sz="2000" b="0">
                <a:latin typeface="Segoe UI"/>
              </a:rPr>
              <a:t>Zeit und Ereignisströme (debounce, switchMap, Retry): RxJS bleibt die bessere Wahl</a:t>
            </a:r>
          </a:p>
          <a:p>
            <a:pPr>
              <a:defRPr sz="2000" b="0">
                <a:latin typeface="Segoe UI"/>
              </a:defRPr>
            </a:pPr>
            <a:r>
              <a:rPr lang="de-DE" sz="2000" b="0">
                <a:latin typeface="Segoe UI"/>
              </a:rPr>
              <a:t>Zustand: Signals</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erst weiterreichen, wenn 300 ms keine neue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gleiche Werte hintereinander ignorieren</a:t>
            </a:r>
            <a:endParaRPr lang="de-DE" sz="1600" b="0" u="none" strike="noStrike">
              <a:solidFill>
                <a:srgbClr val="000000"/>
              </a:solidFill>
              <a:uFillTx/>
              <a:latin typeface="Arial"/>
            </a:endParaRP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5: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state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selectedId: null,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loading: false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Jede Änderung an irgendeinem Feld invalidiert ALLE, die state()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Besser: mehrere kleine Signals, daraus computed für Ausschnitte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customers = signal&lt;Customer[]&gt;([]);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filter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selectedId = signal&lt;number | null&gt;(null);</a:t>
            </a:r>
            <a:endParaRPr lang="de-DE" sz="1800" b="0" u="none" strike="noStrike">
              <a:solidFill>
                <a:srgbClr val="000000"/>
              </a:solidFill>
              <a:uFillTx/>
              <a:latin typeface="Arial"/>
            </a:endParaRP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Eltern zu Kind: input() – Daten nach unten</a:t>
            </a:r>
          </a:p>
          <a:p>
            <a:pPr>
              <a:defRPr sz="2000" b="0">
                <a:latin typeface="Segoe UI"/>
              </a:defRPr>
            </a:pPr>
            <a:r>
              <a:rPr lang="de-DE" sz="2000" b="0">
                <a:latin typeface="Segoe UI"/>
              </a:rPr>
              <a:t>Kind zu Eltern: output() – Ereignisse nach oben</a:t>
            </a:r>
          </a:p>
          <a:p>
            <a:pPr>
              <a:defRPr sz="2000" b="0">
                <a:latin typeface="Segoe UI"/>
              </a:defRPr>
            </a:pPr>
            <a:r>
              <a:rPr lang="de-DE" sz="2000" b="0">
                <a:latin typeface="Segoe UI"/>
              </a:rPr>
              <a:t>Komponente, Service oder Store, Signal, alle Leser aktualisieren sich</a:t>
            </a:r>
          </a:p>
          <a:p>
            <a:pPr>
              <a:defRPr sz="2000" b="0">
                <a:latin typeface="Segoe UI"/>
              </a:defRPr>
            </a:pPr>
            <a:r>
              <a:rPr lang="de-DE" sz="2000" b="0">
                <a:latin typeface="Segoe UI"/>
              </a:rPr>
              <a:t>Regeln: eine Richtung, ein Besitzer pro Zustand</a:t>
            </a:r>
          </a:p>
          <a:p>
            <a:pPr>
              <a:defRPr sz="2000" b="0">
                <a:latin typeface="Segoe UI"/>
              </a:defRPr>
            </a:pPr>
            <a:r>
              <a:rPr lang="de-DE" sz="2000" b="0">
                <a:latin typeface="Segoe UI"/>
              </a:rPr>
              <a:t>Änderungen nur über benannte Methoden („Aktionen“)</a:t>
            </a:r>
          </a:p>
          <a:p>
            <a:pPr>
              <a:defRPr sz="2000" b="0">
                <a:latin typeface="Segoe UI"/>
              </a:defRPr>
            </a:pPr>
            <a:r>
              <a:rPr lang="de-DE" sz="2000" b="0">
                <a:latin typeface="Segoe UI"/>
              </a:rPr>
              <a:t>Debugging: Angular DevTools zeigen den Signal-Graph und die Werte</a:t>
            </a:r>
          </a:p>
          <a:p>
            <a:pPr>
              <a:defRPr sz="2000" b="0">
                <a:latin typeface="Segoe UI"/>
              </a:defRPr>
            </a:pPr>
            <a:r>
              <a:rPr lang="de-DE" sz="2000" b="0">
                <a:latin typeface="Segoe UI"/>
              </a:rPr>
              <a:t>Im Zweifel temporär effect(() =&gt; console.log(x()))</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überschreibbar sein: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a:defRPr sz="2000" b="0">
                <a:latin typeface="Segoe UI"/>
              </a:defRPr>
            </a:pPr>
            <a:r>
              <a:rPr lang="de-DE" sz="2000" b="0">
                <a:latin typeface="Segoe UI"/>
              </a:rPr>
              <a:t>5. Geht es um Zeit und Ereignisströme (Debounce, Abbrechen, Wiederholen)?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Teil A: filteredCustomers() und customers in computed umbauen</a:t>
            </a:r>
          </a:p>
          <a:p>
            <a:pPr lvl="1">
              <a:defRPr sz="1700" b="0">
                <a:latin typeface="Segoe UI"/>
              </a:defRPr>
            </a:pPr>
            <a:r>
              <a:rPr lang="de-DE" sz="1700" b="0">
                <a:latin typeface="Segoe UI"/>
              </a:rPr>
              <a:t>Prüfen: Ein console.log im computed erscheint nur bei geänderten Abhängigkeiten</a:t>
            </a:r>
          </a:p>
          <a:p>
            <a:pPr>
              <a:defRPr sz="2000" b="0">
                <a:latin typeface="Segoe UI"/>
              </a:defRPr>
            </a:pPr>
            <a:r>
              <a:rPr lang="de-DE" sz="2000" b="0">
                <a:latin typeface="Segoe UI"/>
              </a:rPr>
              <a:t>Teil B: Filtertext per effect in localStorage sichern und beim Start wiederherstellen</a:t>
            </a:r>
          </a:p>
          <a:p>
            <a:pPr>
              <a:defRPr sz="2000" b="0">
                <a:latin typeface="Segoe UI"/>
              </a:defRPr>
            </a:pPr>
            <a:r>
              <a:rPr lang="de-DE" sz="2000" b="0">
                <a:latin typeface="Segoe UI"/>
              </a:rPr>
              <a:t>Teil C: Patch von der nächsten Folie in CustomerListComponent einfügen</a:t>
            </a:r>
          </a:p>
          <a:p>
            <a:pPr lvl="1">
              <a:defRPr sz="1700" b="0">
                <a:latin typeface="Segoe UI"/>
              </a:defRPr>
            </a:pPr>
            <a:r>
              <a:rPr lang="de-DE" sz="1700" b="0">
                <a:latin typeface="Segoe UI"/>
              </a:rPr>
              <a:t>Je Zeile benennen: Was ist falsch? Welche Regel wird verletzt?</a:t>
            </a:r>
          </a:p>
          <a:p>
            <a:pPr lvl="1">
              <a:defRPr sz="1700" b="0">
                <a:latin typeface="Segoe UI"/>
              </a:defRPr>
            </a:pPr>
            <a:r>
              <a:rPr lang="de-DE" sz="1700" b="0">
                <a:latin typeface="Segoe UI"/>
              </a:rPr>
              <a:t>Beheben: (1) computed, (2) neue Referenz im Zustand, (3) computed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this.selectedName.set(this.selectedCustomer()?.firstname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addDemo() { this.customers().push(new Customer('Neu', 'Demo'));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signal(0);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this.total.set(this.filteredCustomers().length));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Aufgabe: Was ist je Nummer falsch? Welche Regel wird verletzt?</a:t>
            </a:r>
            <a:endParaRPr lang="de-DE" sz="1600" b="0" u="none" strike="noStrike">
              <a:solidFill>
                <a:srgbClr val="000000"/>
              </a:solidFill>
              <a:uFillTx/>
              <a:latin typeface="Arial"/>
            </a:endParaRP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Architekturentscheidungen,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in der Entwicklungsumgebung: Ergänzung einzelner Zeilen oder Blöcke</a:t>
            </a:r>
          </a:p>
          <a:p>
            <a:pPr>
              <a:defRPr sz="2000" b="0">
                <a:latin typeface="Segoe UI"/>
              </a:defRPr>
            </a:pPr>
            <a:r>
              <a:rPr lang="de-DE" sz="2000" b="0">
                <a:latin typeface="Segoe UI"/>
              </a:rPr>
              <a:t>Agentische Werkzeuge: lesen das Projekt, ändern mehrere Dateien, führen Befehle oder Tests aus</a:t>
            </a:r>
          </a:p>
          <a:p>
            <a:pPr>
              <a:defRPr sz="2000" b="0">
                <a:latin typeface="Segoe UI"/>
              </a:defRPr>
            </a:pPr>
            <a:r>
              <a:rPr lang="de-DE" sz="2000" b="0">
                <a:latin typeface="Segoe UI"/>
              </a:rPr>
              <a:t>Je höher die Selbstständigkeit, desto höher der Prüfaufwand und der mögliche Schaden</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Zusammenarbeit: Kontext ist alles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Aufgabe klar und klein: „Erstelle eine Darstellungskomponente CustomerFilter mit input/output“</a:t>
            </a:r>
          </a:p>
          <a:p>
            <a:pPr>
              <a:defRPr sz="2000" b="0">
                <a:latin typeface="Segoe UI"/>
              </a:defRPr>
            </a:pPr>
            <a:r>
              <a:rPr lang="de-DE" sz="2000" b="0">
                <a:latin typeface="Segoe UI"/>
              </a:rPr>
              <a:t>Nicht: „Baue die App um“</a:t>
            </a:r>
          </a:p>
          <a:p>
            <a:pPr>
              <a:defRPr sz="2000" b="0">
                <a:latin typeface="Segoe UI"/>
              </a:defRPr>
            </a:pPr>
            <a:r>
              <a:rPr lang="de-DE" sz="2000" b="0">
                <a:latin typeface="Segoe UI"/>
              </a:rPr>
              <a:t>Projektregeln mitgeben: eine Datei im Repository mit Stil und Verboten (Name je nach Werkzeug)</a:t>
            </a:r>
          </a:p>
          <a:p>
            <a:pPr>
              <a:defRPr sz="2000" b="0">
                <a:latin typeface="Segoe UI"/>
              </a:defRPr>
            </a:pPr>
            <a:r>
              <a:rPr lang="de-DE" sz="2000" b="0">
                <a:latin typeface="Segoe UI"/>
              </a:rPr>
              <a:t>Beispiele zeigen: „Mache es analog zu CustomerListComponent“</a:t>
            </a:r>
          </a:p>
          <a:p>
            <a:pPr>
              <a:defRPr sz="2000" b="0">
                <a:latin typeface="Segoe UI"/>
              </a:defRPr>
            </a:pPr>
            <a:r>
              <a:rPr lang="de-DE" sz="2000" b="0">
                <a:latin typeface="Segoe UI"/>
              </a:rPr>
              <a:t>Aktuelle Angular-Konventionen angeben; Hinweise auf angular.dev prüfen</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keine *ngIf/*ngFor.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keine Dekoratoren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Tests mit Vitest; neue Logik immer mit Tests.</a:t>
            </a:r>
            <a:endParaRPr lang="de-DE" sz="1600" b="0" u="none" strike="noStrike">
              <a:solidFill>
                <a:srgbClr val="000000"/>
              </a:solidFill>
              <a:uFillTx/>
              <a:latin typeface="Arial"/>
            </a:endParaRP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neue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Ablauf: Ziel, Plan prüfen, kleiner Schritt, Review und Tests, Korrektur, nächste Runde</a:t>
            </a:r>
          </a:p>
          <a:p>
            <a:pPr>
              <a:defRPr sz="2000" b="0">
                <a:latin typeface="Segoe UI"/>
              </a:defRPr>
            </a:pPr>
            <a:r>
              <a:rPr lang="de-DE" sz="2000" b="0">
                <a:latin typeface="Segoe UI"/>
              </a:rPr>
              <a:t>Erst Plan, dann Code: Schritte besprechen, bevor Dateien geändert werden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Fehlermeldungen, Testausgaben und Befunde konkret nennen</a:t>
            </a:r>
          </a:p>
          <a:p>
            <a:pPr>
              <a:defRPr sz="2000" b="0">
                <a:latin typeface="Segoe UI"/>
              </a:defRPr>
            </a:pPr>
            <a:r>
              <a:rPr lang="de-DE" sz="2000" b="0">
                <a:latin typeface="Segoe UI"/>
              </a:rPr>
              <a:t>Kontext pflegen: Bei langen Sitzungen Regeln wiederholen oder neu mit Zusammenfassung starten</a:t>
            </a:r>
          </a:p>
          <a:p>
            <a:pPr>
              <a:defRPr sz="2000" b="0">
                <a:latin typeface="Segoe UI"/>
              </a:defRPr>
            </a:pPr>
            <a:r>
              <a:rPr lang="de-DE" sz="2000" b="0">
                <a:latin typeface="Segoe UI"/>
              </a:rPr>
              <a:t>Bei Abweichung vom Plan stoppen und korrigieren</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die Dokumentation prüfen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Keine Geheimnisse, Zugangsdaten oder Kundendaten in Prompts oder Kontextdateien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Nachvollziehbarkeit: Verantwortlich ist der Entwickler, der den Code committet</a:t>
            </a:r>
          </a:p>
          <a:p>
            <a:pPr>
              <a:defRPr sz="2000" b="0">
                <a:latin typeface="Segoe UI"/>
              </a:defRPr>
            </a:pPr>
            <a:r>
              <a:rPr lang="de-DE" sz="2000" b="0">
                <a:latin typeface="Segoe UI"/>
              </a:rPr>
              <a:t>Vorgeschlagene Pakete prüfen (Existenz, Pflege, Sicherheit): Namen werden manchmal erfunden</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37_ki_review</a:t>
            </a:r>
          </a:p>
          <a:p>
            <a:pPr>
              <a:defRPr sz="2000" b="0">
                <a:latin typeface="Segoe UI"/>
              </a:defRPr>
            </a:pPr>
            <a:r>
              <a:rPr lang="de-DE" sz="2000" b="0">
                <a:latin typeface="Segoe UI"/>
              </a:rPr>
              <a:t>Auftrag: „Ergänze Kunden-Export als CSV und eine Komponente CustomerExportButton“</a:t>
            </a:r>
          </a:p>
          <a:p>
            <a:pPr lvl="1">
              <a:defRPr sz="1700" b="0">
                <a:latin typeface="Segoe UI"/>
              </a:defRPr>
            </a:pPr>
            <a:r>
              <a:rPr lang="de-DE" sz="1700" b="0">
                <a:latin typeface="Segoe UI"/>
              </a:rPr>
              <a:t>Ohne erlaubtes Werkzeug: Datei ki-vorschlag.md aus der Aufgabe verwenden</a:t>
            </a:r>
          </a:p>
          <a:p>
            <a:pPr>
              <a:defRPr sz="2000" b="1">
                <a:latin typeface="Segoe UI"/>
              </a:defRPr>
            </a:pPr>
            <a:r>
              <a:rPr lang="de-DE" sz="2000" b="1">
                <a:latin typeface="Segoe UI"/>
              </a:rPr>
              <a:t>1. Prüfe das Ergebnis mit der Review-Checkliste und dokumentiere mindestens 5 Befunde</a:t>
            </a:r>
          </a:p>
          <a:p>
            <a:pPr lvl="1">
              <a:defRPr sz="1700" b="0">
                <a:latin typeface="Segoe UI"/>
              </a:defRPr>
            </a:pPr>
            <a:r>
              <a:rPr lang="de-DE" sz="1700" b="0">
                <a:latin typeface="Segoe UI"/>
              </a:rPr>
              <a:t>Absichtlich enthalten: *ngIf, any, effect schreibt Signal, innerHTML, toBeTruthy</a:t>
            </a:r>
          </a:p>
          <a:p>
            <a:pPr>
              <a:defRPr sz="2000" b="1">
                <a:latin typeface="Segoe UI"/>
              </a:defRPr>
            </a:pPr>
            <a:r>
              <a:rPr lang="de-DE" sz="2000" b="1">
                <a:latin typeface="Segoe UI"/>
              </a:rPr>
              <a:t>2. Gib die Befunde in einem zweiten Prompt zurück („Behebe: …“) und prüfe erneut</a:t>
            </a:r>
          </a:p>
          <a:p>
            <a:pPr>
              <a:defRPr sz="2000" b="1">
                <a:latin typeface="Segoe UI"/>
              </a:defRPr>
            </a:pPr>
            <a:r>
              <a:rPr lang="de-DE" sz="2000" b="1">
                <a:latin typeface="Segoe UI"/>
              </a:rPr>
              <a:t>3. Auswertung: Welche Fehler hat die KI nicht selbst erkannt? Welche kamen neu hinzu?</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38: Abschlussprojekt Kunden-Dashboard</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der letzten 7 Tage, Kunden pro Stadt</a:t>
            </a:r>
          </a:p>
          <a:p>
            <a:pPr>
              <a:defRPr sz="2000" b="1">
                <a:latin typeface="Segoe UI"/>
              </a:defRPr>
            </a:pPr>
            <a:r>
              <a:rPr lang="de-DE" sz="2000" b="1">
                <a:latin typeface="Segoe UI"/>
              </a:rPr>
              <a:t>1. Plan mit 5 Schritten schreiben und im Team abstimmen</a:t>
            </a:r>
          </a:p>
          <a:p>
            <a:pPr>
              <a:defRPr sz="2000" b="1">
                <a:latin typeface="Segoe UI"/>
              </a:defRPr>
            </a:pPr>
            <a:r>
              <a:rPr lang="de-DE" sz="2000" b="1">
                <a:latin typeface="Segoe UI"/>
              </a:rPr>
              <a:t>2. In kleinen Schritten umsetzen, je Schritt ein Commit</a:t>
            </a:r>
          </a:p>
          <a:p>
            <a:pPr>
              <a:defRPr sz="2000" b="1">
                <a:latin typeface="Segoe UI"/>
              </a:defRPr>
            </a:pPr>
            <a:r>
              <a:rPr lang="de-DE" sz="2000" b="1">
                <a:latin typeface="Segoe UI"/>
              </a:rPr>
              <a:t>3. Anforderungen: computed für Kennzahlen, CustomerStore, Lazy Route, mindestens 3 Tests</a:t>
            </a:r>
          </a:p>
          <a:p>
            <a:pPr lvl="1">
              <a:defRPr sz="1700" b="0">
                <a:latin typeface="Segoe UI"/>
              </a:defRPr>
            </a:pPr>
            <a:r>
              <a:rPr lang="de-DE" sz="1700" b="0">
                <a:latin typeface="Segoe UI"/>
              </a:rPr>
              <a:t>Keine unsicheren Muster; Selbst-Review mit den Checklisten</a:t>
            </a:r>
          </a:p>
          <a:p>
            <a:pPr>
              <a:defRPr sz="2000" b="1">
                <a:latin typeface="Segoe UI"/>
              </a:defRPr>
            </a:pPr>
            <a:r>
              <a:rPr lang="de-DE" sz="2000" b="1">
                <a:latin typeface="Segoe UI"/>
              </a:rPr>
              <a:t>4. Kurzvorstellung (5 Minuten je Gruppe): Was war gut, was musste korrigiert werden?</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Phase 1: eine Komponente, 3 Felder – signal() genügt</a:t>
            </a:r>
          </a:p>
          <a:p>
            <a:pPr>
              <a:defRPr sz="2000" b="0">
                <a:latin typeface="Segoe UI"/>
              </a:defRPr>
            </a:pPr>
            <a:r>
              <a:rPr lang="de-DE" sz="2000" b="0">
                <a:latin typeface="Segoe UI"/>
              </a:rPr>
              <a:t>Phase 2: 3 Komponenten teilen sich Daten – Service</a:t>
            </a:r>
          </a:p>
          <a:p>
            <a:pPr>
              <a:defRPr sz="2000" b="0">
                <a:latin typeface="Segoe UI"/>
              </a:defRPr>
            </a:pPr>
            <a:r>
              <a:rPr lang="de-DE" sz="2000" b="0">
                <a:latin typeface="Segoe UI"/>
              </a:rPr>
              <a:t>Phase 3: Daten, Filter, Auswahl, Laden und Fehler – Store-Muster</a:t>
            </a:r>
          </a:p>
          <a:p>
            <a:pPr>
              <a:defRPr sz="2000" b="0">
                <a:latin typeface="Segoe UI"/>
              </a:defRPr>
            </a:pPr>
            <a:r>
              <a:rPr lang="de-DE" sz="2000" b="0">
                <a:latin typeface="Segoe UI"/>
              </a:rPr>
              <a:t>Phase 4: viele Teams, Nachvollziehbarkeit nötig – Redux-Muster (NgRx)</a:t>
            </a:r>
          </a:p>
          <a:p>
            <a:pPr>
              <a:defRPr sz="2000" b="0">
                <a:latin typeface="Segoe UI"/>
              </a:defRPr>
            </a:pPr>
            <a:r>
              <a:rPr lang="de-DE" sz="2000" b="0">
                <a:latin typeface="Segoe UI"/>
              </a:rPr>
              <a:t>Nicht jede Anwendung braucht Phase 4</a:t>
            </a:r>
          </a:p>
          <a:p>
            <a:pPr>
              <a:defRPr sz="2000" b="0">
                <a:latin typeface="Segoe UI"/>
              </a:defRPr>
            </a:pPr>
            <a:r>
              <a:rPr lang="de-DE" sz="2000" b="0">
                <a:latin typeface="Segoe UI"/>
              </a:rPr>
              <a:t>Zu früh strukturieren kostet Boilerplate, zu spät strukturieren kostet Umbau</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Anwendung strukturieren: Ordner und Zuständigkeiten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src/app/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&lt;- Feature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       &lt;- Container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ui/                  &lt;- Darstellungskomponenten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customer.store.ts    &lt;- Zustand und Fachlogik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customer.api.ts      &lt;- HTTP-Zugriff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customer.model.ts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shared/                &lt;- nur wirklich Allgemeines (Card, Pipes)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Feature kennt andere Features nur über Schnittstellen (Service, 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Abhängigkeitsrichtung: Features nutzen shared, nie umgekehrt</a:t>
            </a:r>
            <a:endParaRPr lang="de-DE" sz="1600" b="0" u="none" strike="noStrike">
              <a:solidFill>
                <a:srgbClr val="000000"/>
              </a:solidFill>
              <a:uFillTx/>
              <a:latin typeface="Arial"/>
            </a:endParaRP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Drei Schichten: Zustand, Logik, Darstellung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Zustand: Daten halten und ableiten – Signals im Store</a:t>
            </a:r>
          </a:p>
          <a:p>
            <a:pPr>
              <a:defRPr sz="2000" b="0">
                <a:latin typeface="Segoe UI"/>
              </a:defRPr>
            </a:pPr>
            <a:r>
              <a:rPr lang="de-DE" sz="2000" b="0">
                <a:latin typeface="Segoe UI"/>
              </a:rPr>
              <a:t>Logik: Regeln, Befehle, Laden – Methoden im Store oder Service</a:t>
            </a:r>
          </a:p>
          <a:p>
            <a:pPr>
              <a:defRPr sz="2000" b="0">
                <a:latin typeface="Segoe UI"/>
              </a:defRPr>
            </a:pPr>
            <a:r>
              <a:rPr lang="de-DE" sz="2000" b="0">
                <a:latin typeface="Segoe UI"/>
              </a:rPr>
              <a:t>Darstellung: Anzeigen und Eingaben weitergeben – Komponenten und Templates</a:t>
            </a:r>
          </a:p>
          <a:p>
            <a:pPr>
              <a:defRPr sz="2000" b="0">
                <a:latin typeface="Segoe UI"/>
              </a:defRPr>
            </a:pPr>
            <a:r>
              <a:rPr lang="de-DE" sz="2000" b="0">
                <a:latin typeface="Segoe UI"/>
              </a:rPr>
              <a:t>Komponenten lesen Signals und rufen Methoden auf</a:t>
            </a:r>
          </a:p>
          <a:p>
            <a:pPr>
              <a:defRPr sz="2000" b="0">
                <a:latin typeface="Segoe UI"/>
              </a:defRPr>
            </a:pPr>
            <a:r>
              <a:rPr lang="de-DE" sz="2000" b="0">
                <a:latin typeface="Segoe UI"/>
              </a:rPr>
              <a:t>Sie entscheiden nicht, wie der Zustand aussieht</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 mit Signals als einfacher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api = inject(CustomerApi);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schreibbar, öffentlich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 = this._filter().toLowerCase();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this._customers().filter(c =&gt; c.firstname.toLowerCase().includes(f));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setFilter(text: string) { this._filter.set(text);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 this._customers.set(await firstValueFrom(this.api.getAll()));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modellieren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LoadState&lt;T&gt;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Unmögliche Kombinationen (loading UND error) sind nicht darstellbar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Alternative: resource liefert value(), isLoading(), error() fertig (Übung 26)</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Regel: Server-Daten (geladen, gecacht) von UI-Zustand (Dialog offen, Tab) trennen</a:t>
            </a:r>
            <a:endParaRPr lang="de-DE" sz="1600" b="0" u="none" strike="noStrike">
              <a:solidFill>
                <a:srgbClr val="000000"/>
              </a:solidFill>
              <a:uFillTx/>
              <a:latin typeface="Arial"/>
            </a:endParaRP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Wachsende Zustandskomplexität beherrschen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Normalisieren: Entitäten nach id in einer Map halten, Listen enthalten nur IDs</a:t>
            </a:r>
          </a:p>
          <a:p>
            <a:pPr>
              <a:defRPr sz="2000" b="0">
                <a:latin typeface="Segoe UI"/>
              </a:defRPr>
            </a:pPr>
            <a:r>
              <a:rPr lang="de-DE" sz="2000" b="0">
                <a:latin typeface="Segoe UI"/>
              </a:rPr>
              <a:t>Ableiten statt kopieren: ausgewählter Kunde = computed aus selectedId und customers</a:t>
            </a:r>
          </a:p>
          <a:p>
            <a:pPr>
              <a:defRPr sz="2000" b="0">
                <a:latin typeface="Segoe UI"/>
              </a:defRPr>
            </a:pPr>
            <a:r>
              <a:rPr lang="de-DE" sz="2000" b="0">
                <a:latin typeface="Segoe UI"/>
              </a:rPr>
              <a:t>Änderungen als benannte Befehle: addCustomer, renameCustomer statt überall set()</a:t>
            </a:r>
          </a:p>
          <a:p>
            <a:pPr>
              <a:defRPr sz="2000" b="0">
                <a:latin typeface="Segoe UI"/>
              </a:defRPr>
            </a:pPr>
            <a:r>
              <a:rPr lang="de-DE" sz="2000" b="0">
                <a:latin typeface="Segoe UI"/>
              </a:rPr>
              <a:t>Unveränderlich aktualisieren (neue Referenzen), siehe Kapitel Reaktivität</a:t>
            </a:r>
          </a:p>
          <a:p>
            <a:pPr>
              <a:defRPr sz="2000" b="0">
                <a:latin typeface="Segoe UI"/>
              </a:defRPr>
            </a:pPr>
            <a:r>
              <a:rPr lang="de-DE" sz="2000" b="0">
                <a:latin typeface="Segoe UI"/>
              </a:rPr>
              <a:t>Zustand klein halten: nur speichern, was nicht berechenbar ist</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Konsumenten: Service bei 1–3 Komponenten, Store bei vielen, verteilt über Features</a:t>
            </a:r>
          </a:p>
          <a:p>
            <a:pPr>
              <a:defRPr sz="2000" b="0">
                <a:latin typeface="Segoe UI"/>
              </a:defRPr>
            </a:pPr>
            <a:r>
              <a:rPr lang="de-DE" sz="2000" b="0">
                <a:latin typeface="Segoe UI"/>
              </a:rPr>
              <a:t>Zustandsarten: Service bei 1–2, Store bei mehreren zusammenhängenden (Daten, Filter, Status)</a:t>
            </a:r>
          </a:p>
          <a:p>
            <a:pPr>
              <a:defRPr sz="2000" b="0">
                <a:latin typeface="Segoe UI"/>
              </a:defRPr>
            </a:pPr>
            <a:r>
              <a:rPr lang="de-DE" sz="2000" b="0">
                <a:latin typeface="Segoe UI"/>
              </a:rPr>
              <a:t>Seiteneffekte: Service bei wenigen, Store bei vielen, die voneinander abhängen</a:t>
            </a:r>
          </a:p>
          <a:p>
            <a:pPr>
              <a:defRPr sz="2000" b="0">
                <a:latin typeface="Segoe UI"/>
              </a:defRPr>
            </a:pPr>
            <a:r>
              <a:rPr lang="de-DE" sz="2000" b="0">
                <a:latin typeface="Segoe UI"/>
              </a:rPr>
              <a:t>Nachvollziehbarkeit: Service, wenn unwichtig; Store, wenn Änderungen protokolliert werden</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Teamgröße: Service bei 1–3 Personen, Store bei mehreren Teams mit einheitlichen Mustern</a:t>
            </a:r>
          </a:p>
          <a:p>
            <a:pPr>
              <a:defRPr sz="2000" b="0">
                <a:latin typeface="Segoe UI"/>
              </a:defRPr>
            </a:pPr>
            <a:r>
              <a:rPr lang="de-DE" sz="2000" b="0">
                <a:latin typeface="Segoe UI"/>
              </a:rPr>
              <a:t>Wiederverwendung: Service im Einzelfall, Store bei gleichen Mustern in vielen Features</a:t>
            </a:r>
          </a:p>
          <a:p>
            <a:pPr>
              <a:defRPr sz="2000" b="0">
                <a:latin typeface="Segoe UI"/>
              </a:defRPr>
            </a:pPr>
            <a:r>
              <a:rPr lang="de-DE" sz="2000" b="0">
                <a:latin typeface="Segoe UI"/>
              </a:rPr>
              <a:t>Testaufwand: Service bei geringem Aufwand, Store bei gezielten Tests der Zustandslogik</a:t>
            </a:r>
          </a:p>
          <a:p>
            <a:pPr>
              <a:defRPr sz="2000" b="0">
                <a:latin typeface="Segoe UI"/>
              </a:defRPr>
            </a:pPr>
            <a:r>
              <a:rPr lang="de-DE" sz="2000" b="0">
                <a:latin typeface="Segoe UI"/>
              </a:rPr>
              <a:t>Ergebnis: Starte einfach (Service mit Signals)</a:t>
            </a:r>
          </a:p>
          <a:p>
            <a:pPr lvl="1">
              <a:defRPr sz="1700" b="0">
                <a:latin typeface="Segoe UI"/>
              </a:defRPr>
            </a:pPr>
            <a:r>
              <a:rPr lang="de-DE" sz="1700" b="0">
                <a:latin typeface="Segoe UI"/>
              </a:rPr>
              <a:t>Strukturiere erst, wenn ein Kriterium zum Problem wird</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NgRx Signal Store: Muster als Bibliothek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api = inject(CustomerApi))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 = inject(CustomerStore);   -&gt; store.filtered(), store.setFilter(...)</a:t>
            </a:r>
            <a:endParaRPr lang="de-DE" sz="1600" b="0" u="none" strike="noStrike">
              <a:solidFill>
                <a:srgbClr val="000000"/>
              </a:solidFill>
              <a:uFillTx/>
              <a:latin typeface="Arial"/>
            </a:endParaRP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Klassisches NgRx im Vergleich</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State (Zustand): im Signal Store withState</a:t>
            </a:r>
          </a:p>
          <a:p>
            <a:pPr>
              <a:defRPr sz="2000" b="0">
                <a:latin typeface="Segoe UI"/>
              </a:defRPr>
            </a:pPr>
            <a:r>
              <a:rPr lang="de-DE" sz="2000" b="0">
                <a:latin typeface="Segoe UI"/>
              </a:rPr>
              <a:t>Selector (Ableitung): im Signal Store withComputed</a:t>
            </a:r>
          </a:p>
          <a:p>
            <a:pPr>
              <a:defRPr sz="2000" b="0">
                <a:latin typeface="Segoe UI"/>
              </a:defRPr>
            </a:pPr>
            <a:r>
              <a:rPr lang="de-DE" sz="2000" b="0">
                <a:latin typeface="Segoe UI"/>
              </a:rPr>
              <a:t>Action (Absicht): im Signal Store eine Methode</a:t>
            </a:r>
          </a:p>
          <a:p>
            <a:pPr>
              <a:defRPr sz="2000" b="0">
                <a:latin typeface="Segoe UI"/>
              </a:defRPr>
            </a:pPr>
            <a:r>
              <a:rPr lang="de-DE" sz="2000" b="0">
                <a:latin typeface="Segoe UI"/>
              </a:rPr>
              <a:t>Reducer (Zustandsübergang): im Signal Store patchState in einer Methode</a:t>
            </a:r>
          </a:p>
          <a:p>
            <a:pPr>
              <a:defRPr sz="2000" b="0">
                <a:latin typeface="Segoe UI"/>
              </a:defRPr>
            </a:pPr>
            <a:r>
              <a:rPr lang="de-DE" sz="2000" b="0">
                <a:latin typeface="Segoe UI"/>
              </a:rPr>
              <a:t>Effect (asynchrone Nebenwirkung): im Signal Store eine Methode oder rxMethod</a:t>
            </a:r>
          </a:p>
          <a:p>
            <a:pPr>
              <a:defRPr sz="2000" b="0">
                <a:latin typeface="Segoe UI"/>
              </a:defRPr>
            </a:pPr>
            <a:r>
              <a:rPr lang="de-DE" sz="2000" b="0">
                <a:latin typeface="Segoe UI"/>
              </a:rPr>
              <a:t>Klassisches NgRx: mehr Zeremonie, dafür Action-Log, Time-Travel und strikte Trennung</a:t>
            </a:r>
          </a:p>
          <a:p>
            <a:pPr>
              <a:defRPr sz="2000" b="0">
                <a:latin typeface="Segoe UI"/>
              </a:defRPr>
            </a:pPr>
            <a:r>
              <a:rPr lang="de-DE" sz="2000" b="0">
                <a:latin typeface="Segoe UI"/>
              </a:rPr>
              <a:t>Sinnvoll bei sehr großen Anwendungen mit vielen Teams</a:t>
            </a:r>
          </a:p>
          <a:p>
            <a:pPr>
              <a:defRPr sz="2000" b="0">
                <a:latin typeface="Segoe UI"/>
              </a:defRPr>
            </a:pPr>
            <a:r>
              <a:rPr lang="de-DE" sz="2000" b="0">
                <a:latin typeface="Segoe UI"/>
              </a:rPr>
              <a:t>Vertiefung: folgendes Deck „State Management“</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Alles in den Store: UI-Details (Tab offen, Tooltip) gehören in die Komponente</a:t>
            </a:r>
          </a:p>
          <a:p>
            <a:pPr>
              <a:defRPr sz="2000" b="0">
                <a:latin typeface="Segoe UI"/>
              </a:defRPr>
            </a:pPr>
            <a:r>
              <a:rPr lang="de-DE" sz="2000" b="0">
                <a:latin typeface="Segoe UI"/>
              </a:rPr>
              <a:t>God Store: ein Store für die ganze Anwendung – besser einer pro Feature</a:t>
            </a:r>
          </a:p>
          <a:p>
            <a:pPr>
              <a:defRPr sz="2000" b="0">
                <a:latin typeface="Segoe UI"/>
              </a:defRPr>
            </a:pPr>
            <a:r>
              <a:rPr lang="de-DE" sz="2000" b="0">
                <a:latin typeface="Segoe UI"/>
              </a:rPr>
              <a:t>Doppelte Wahrheit: Daten im Store und zusätzlich kopiert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haben Alter, Invalidierung und Fehler: resource oder Caching-Strategie bedenken</a:t>
            </a:r>
          </a:p>
          <a:p>
            <a:pPr>
              <a:defRPr sz="2000" b="0">
                <a:latin typeface="Segoe UI"/>
              </a:defRPr>
            </a:pPr>
            <a:r>
              <a:rPr lang="de-DE" sz="2000" b="0">
                <a:latin typeface="Segoe UI"/>
              </a:rPr>
              <a:t>Framework-Entscheidung statt Problem: erst die Schwierigkeit benennen, dann das Werkzeug wählen</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Testbarkeit des Zustands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Store = Klasse oder Funktion mit klarer Schnittstelle: ohne Oberfläche testbar</a:t>
            </a:r>
          </a:p>
          <a:p>
            <a:pPr>
              <a:defRPr sz="2000" b="0">
                <a:latin typeface="Segoe UI"/>
              </a:defRPr>
            </a:pPr>
            <a:r>
              <a:rPr lang="de-DE" sz="2000" b="0">
                <a:latin typeface="Segoe UI"/>
              </a:rPr>
              <a:t>Test: Methode aufrufen, dann das Signal prüfen</a:t>
            </a:r>
          </a:p>
          <a:p>
            <a:pPr>
              <a:defRPr sz="2000" b="0">
                <a:latin typeface="Segoe UI"/>
              </a:defRPr>
            </a:pPr>
            <a:r>
              <a:rPr lang="de-DE" sz="2000" b="0">
                <a:latin typeface="Segoe UI"/>
              </a:rPr>
              <a:t>Kein fixture, kein DOM nötig</a:t>
            </a:r>
          </a:p>
          <a:p>
            <a:pPr>
              <a:defRPr sz="2000" b="0">
                <a:latin typeface="Segoe UI"/>
              </a:defRPr>
            </a:pPr>
            <a:r>
              <a:rPr lang="de-DE" sz="2000" b="0">
                <a:latin typeface="Segoe UI"/>
              </a:rPr>
              <a:t>Vertiefung im Kapitel zur Testbarkeit</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33: CustomerStore einführen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customer/customer.store.ts anlegen (Service mit Signals, wie im Beispiel davor)</a:t>
            </a:r>
          </a:p>
          <a:p>
            <a:pPr lvl="1">
              <a:defRPr sz="1700" b="0">
                <a:latin typeface="Segoe UI"/>
              </a:defRPr>
            </a:pPr>
            <a:r>
              <a:rPr lang="de-DE" sz="1700" b="0">
                <a:latin typeface="Segoe UI"/>
              </a:rPr>
              <a:t>Zustand: customers, filter, selectedId; abgeleitet: filtered, selected</a:t>
            </a:r>
          </a:p>
          <a:p>
            <a:pPr lvl="1">
              <a:defRPr sz="1700" b="0">
                <a:latin typeface="Segoe UI"/>
              </a:defRPr>
            </a:pPr>
            <a:r>
              <a:rPr lang="de-DE" sz="1700" b="0">
                <a:latin typeface="Segoe UI"/>
              </a:rPr>
              <a:t>Methoden: load(), setFilter(), select()</a:t>
            </a:r>
          </a:p>
          <a:p>
            <a:pPr>
              <a:defRPr sz="2000" b="1">
                <a:latin typeface="Segoe UI"/>
              </a:defRPr>
            </a:pPr>
            <a:r>
              <a:rPr lang="de-DE" sz="2000" b="1">
                <a:latin typeface="Segoe UI"/>
              </a:rPr>
              <a:t>2. CustomerListComponent nutzt nur noch den Store (keine eigene Filterlogik)</a:t>
            </a:r>
          </a:p>
          <a:p>
            <a:pPr>
              <a:defRPr sz="2000" b="1">
                <a:latin typeface="Segoe UI"/>
              </a:defRPr>
            </a:pPr>
            <a:r>
              <a:rPr lang="de-DE" sz="2000" b="1">
                <a:latin typeface="Segoe UI"/>
              </a:rPr>
              <a:t>3. Der localStorage-Effect aus Übung 32 wandert in den Store – wohin gehört er?</a:t>
            </a:r>
          </a:p>
          <a:p>
            <a:pPr>
              <a:defRPr sz="2000" b="1">
                <a:latin typeface="Segoe UI"/>
              </a:defRPr>
            </a:pPr>
            <a:r>
              <a:rPr lang="de-DE" sz="2000" b="1">
                <a:latin typeface="Segoe UI"/>
              </a:rPr>
              <a:t>4. Zusatz: Variante mit signalStore aus @ngrx/signals (npm install @ngrx/signals)</a:t>
            </a:r>
          </a:p>
          <a:p>
            <a:pPr>
              <a:defRPr sz="2000" b="1">
                <a:latin typeface="Segoe UI"/>
              </a:defRPr>
            </a:pPr>
            <a:r>
              <a:rPr lang="de-DE" sz="2000" b="1">
                <a:latin typeface="Segoe UI"/>
              </a:rPr>
              <a:t>5. Reflexion: War der Store hier nach den Kriterien nötig? Begründung in 3 Sätzen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Zeitpunkt: am Kursende, etwa 10 Minuten – jetzt ist das nötige Wissen vorhanden</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Welche Teile aus dem Kurs sprechen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 z. B. Skills, Lebensdauer, Teamgröße</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Sicherheitsnetz für Änderungen: Man kann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Tests sind Code und kosten Pflege: Schlechte Tests bremsen mehr, als sie helfen</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Unten, viele: Unit-Tests für Services, Stores und reine Funktionen</a:t>
            </a:r>
          </a:p>
          <a:p>
            <a:pPr>
              <a:defRPr sz="2000" b="0">
                <a:latin typeface="Segoe UI"/>
              </a:defRPr>
            </a:pPr>
            <a:r>
              <a:rPr lang="de-DE" sz="2000" b="0">
                <a:latin typeface="Segoe UI"/>
              </a:rPr>
              <a:t>In der Mitte, mittel viele: Komponententests mit Template und Klasse (TestBed)</a:t>
            </a:r>
          </a:p>
          <a:p>
            <a:pPr>
              <a:defRPr sz="2000" b="0">
                <a:latin typeface="Segoe UI"/>
              </a:defRPr>
            </a:pPr>
            <a:r>
              <a:rPr lang="de-DE" sz="2000" b="0">
                <a:latin typeface="Segoe UI"/>
              </a:rPr>
              <a:t>Oben, wenige: End-to-End-Tests für kritische Abläufe (z. B. mit Playwright oder Cypress)</a:t>
            </a:r>
          </a:p>
          <a:p>
            <a:pPr>
              <a:defRPr sz="2000" b="0">
                <a:latin typeface="Segoe UI"/>
              </a:defRPr>
            </a:pPr>
            <a:r>
              <a:rPr lang="de-DE" sz="2000" b="0">
                <a:latin typeface="Segoe UI"/>
              </a:rPr>
              <a:t>Je mehr Logik außerhalb der Komponenten liegt, desto mehr schnelle Unit-Tests sind möglich</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Reine Funktion oder Pipe: trivial zu testen, Eingabe hinein, Ausgabe prüfen</a:t>
            </a:r>
          </a:p>
          <a:p>
            <a:pPr>
              <a:defRPr sz="2000" b="0">
                <a:latin typeface="Segoe UI"/>
              </a:defRPr>
            </a:pPr>
            <a:r>
              <a:rPr lang="de-DE" sz="2000" b="0">
                <a:latin typeface="Segoe UI"/>
              </a:rPr>
              <a:t>Store oder Service mit Signals: einfach, Methode aufrufen und das Signal lesen</a:t>
            </a:r>
          </a:p>
          <a:p>
            <a:pPr>
              <a:defRPr sz="2000" b="0">
                <a:latin typeface="Segoe UI"/>
              </a:defRPr>
            </a:pPr>
            <a:r>
              <a:rPr lang="de-DE" sz="2000" b="0">
                <a:latin typeface="Segoe UI"/>
              </a:rPr>
              <a:t>Darstellungskomponente mit input und output: einfach, Input setzen und Output prüfen</a:t>
            </a:r>
          </a:p>
          <a:p>
            <a:pPr>
              <a:defRPr sz="2000" b="0">
                <a:latin typeface="Segoe UI"/>
              </a:defRPr>
            </a:pPr>
            <a:r>
              <a:rPr lang="de-DE" sz="2000" b="0">
                <a:latin typeface="Segoe UI"/>
              </a:rPr>
              <a:t>Container mit mehreren Services: aufwendig, es werden Ersatzobjekte (Mocks) nötig</a:t>
            </a:r>
          </a:p>
          <a:p>
            <a:pPr>
              <a:defRPr sz="2000" b="0">
                <a:latin typeface="Segoe UI"/>
              </a:defRPr>
            </a:pPr>
            <a:r>
              <a:rPr lang="de-DE" sz="2000" b="0">
                <a:latin typeface="Segoe UI"/>
              </a:rPr>
              <a:t>Komponente mit DOM- oder window-Zugriff und Singletons: schwer</a:t>
            </a:r>
          </a:p>
          <a:p>
            <a:pPr>
              <a:defRPr sz="2000" b="0">
                <a:latin typeface="Segoe UI"/>
              </a:defRPr>
            </a:pPr>
            <a:r>
              <a:rPr lang="de-DE" sz="2000" b="0">
                <a:latin typeface="Segoe UI"/>
              </a:rPr>
              <a:t>Vorher: Komponente ruft HttpClient selbst auf und filtert, nötig sind HTTP-Mocks und DOM</a:t>
            </a:r>
          </a:p>
          <a:p>
            <a:pPr>
              <a:defRPr sz="2000" b="0">
                <a:latin typeface="Segoe UI"/>
              </a:defRPr>
            </a:pPr>
            <a:r>
              <a:rPr lang="de-DE" sz="2000" b="0">
                <a:latin typeface="Segoe UI"/>
              </a:rPr>
              <a:t>Nachher: dieselbe Logik im Store, der Test hat etwa fünf Zeilen und braucht kein TestBed</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Vitest-Grundlagen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describe, it, expect, vi, beforeEach } from 'vitest';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describe('CustomerStore',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let store: 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beforeEach(() =&gt; { store = TestBed.inject(CustomerStore);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it('filtert nach Vornamen (Groß-/Kleinschreibung egal)',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store.setCustomers([new Customer('Hans', 'M'), new Customer('Lisa', 'S')]);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expect(store.filtered().map(c =&gt; c.firstname)).toEqual(['Lisa']);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Vitest: Werkzeuge und Aufbau</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vi.fn() erzeugt eine Mock-Funktion, die ihre Aufrufe aufzeichnet</a:t>
            </a:r>
          </a:p>
          <a:p>
            <a:pPr>
              <a:defRPr sz="2000" b="0">
                <a:latin typeface="Segoe UI"/>
              </a:defRPr>
            </a:pPr>
            <a:r>
              <a:rPr lang="de-DE" sz="2000" b="0">
                <a:latin typeface="Segoe UI"/>
              </a:rPr>
              <a:t>vi.spyOn() beobachtet eine echte Methode, ohne sie zu ersetzen</a:t>
            </a:r>
          </a:p>
          <a:p>
            <a:pPr>
              <a:defRPr sz="2000" b="0">
                <a:latin typeface="Segoe UI"/>
              </a:defRPr>
            </a:pPr>
            <a:r>
              <a:rPr lang="de-DE" sz="2000" b="0">
                <a:latin typeface="Segoe UI"/>
              </a:rPr>
              <a:t>vi.useFakeTimers() ersetzt echte Zeit durch steuerbare Zeit</a:t>
            </a:r>
          </a:p>
          <a:p>
            <a:pPr>
              <a:defRPr sz="2000" b="0">
                <a:latin typeface="Segoe UI"/>
              </a:defRPr>
            </a:pPr>
            <a:r>
              <a:rPr lang="de-DE" sz="2000" b="0">
                <a:latin typeface="Segoe UI"/>
              </a:rPr>
              <a:t>Aufbau: Arrange (vorbereiten), Act (ausführen), Assert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 („filtert …“), nicht Methodennamen</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Abhängigkeiten isolieren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Stub oder Fake: einfache Ersatzimplementierung, z. B. ein Service mit festen Daten</a:t>
            </a:r>
          </a:p>
          <a:p>
            <a:pPr>
              <a:defRPr sz="2000" b="0">
                <a:latin typeface="Segoe UI"/>
              </a:defRPr>
            </a:pPr>
            <a:r>
              <a:rPr lang="de-DE" sz="2000" b="0">
                <a:latin typeface="Segoe UI"/>
              </a:rPr>
              <a:t>Mock (vi.fn): prüft Aufrufe, z. B. „wurde update mit diesem Wert aufgerufen?“</a:t>
            </a:r>
          </a:p>
          <a:p>
            <a:pPr>
              <a:defRPr sz="2000" b="0">
                <a:latin typeface="Segoe UI"/>
              </a:defRPr>
            </a:pPr>
            <a:r>
              <a:rPr lang="de-DE" sz="2000" b="0">
                <a:latin typeface="Segoe UI"/>
              </a:rPr>
              <a:t>Spy: echtes Objekt wird beobachtet, selten nötig, eher bei Altcode</a:t>
            </a:r>
          </a:p>
          <a:p>
            <a:pPr>
              <a:defRPr sz="2000" b="0">
                <a:latin typeface="Segoe UI"/>
              </a:defRPr>
            </a:pPr>
            <a:r>
              <a:rPr lang="de-DE" sz="2000" b="0">
                <a:latin typeface="Segoe UI"/>
              </a:rPr>
              <a:t>Echte Abhängigkeit: kein Ersatz bei reinen Funktionen und billigen Hilfsklassen</a:t>
            </a:r>
          </a:p>
          <a:p>
            <a:pPr>
              <a:defRPr sz="2000" b="0">
                <a:latin typeface="Segoe UI"/>
              </a:defRPr>
            </a:pPr>
            <a:r>
              <a:rPr lang="de-DE" sz="2000" b="0">
                <a:latin typeface="Segoe UI"/>
              </a:rPr>
              <a:t>Over-Mocking vermeiden: Wer alles ersetzt, testet nur die Ersatzobjekte</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Abhängigkeiten per Dependency Injection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TestBed.configureTestingModule({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providers: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 provide: CustomerApi, useValue: { getAll: () =&gt; of([hans, lisa]) }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store = TestBed.inject(CustomerStore);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Der Store bekommt jetzt den Ersatz statt des echten CustomerApi.</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Kein Code im Store muss dafür geändert werden.</a:t>
            </a:r>
            <a:endParaRPr lang="de-DE" sz="1800" b="0" u="none" strike="noStrike">
              <a:solidFill>
                <a:srgbClr val="000000"/>
              </a:solidFill>
              <a:uFillTx/>
              <a:latin typeface="Arial"/>
            </a:endParaRP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TestBed.configureTestingModule({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providers: [provideHttpClient(), provideHttpClientTesting()],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http = TestBed.inject(HttpTestingController);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service.getAll().subscribe(r =&gt; result = 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http.expectOne('api/customer').flush({ data: [hans]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http.verify();            // keine unerwarteten Requests</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expect(result).toEqual([hans]);</a:t>
            </a:r>
            <a:endParaRPr lang="de-DE" sz="2000" b="0" u="none" strike="noStrike">
              <a:solidFill>
                <a:srgbClr val="000000"/>
              </a:solidFill>
              <a:uFillTx/>
              <a:latin typeface="Arial"/>
            </a:endParaRP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fixture = TestBed.createComponent(CustomerListItemComponent);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fixture.componentRef.setInput('customer', hans);   // Signal-Input setzen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await fixture.whenStable();                         // Rendering abwarten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expect(fixture.nativeElement.textContent).toContain('Hans');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spy = vi.fn();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fixture.componentInstance.chosen.subscribe(spy);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fixture.nativeElement.querySelector('li').click();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expect(spy).toHaveBeenCalledWith(hans);</a:t>
            </a:r>
            <a:endParaRPr lang="de-DE" sz="1800" b="0" u="none" strike="noStrike">
              <a:solidFill>
                <a:srgbClr val="000000"/>
              </a:solidFill>
              <a:uFillTx/>
              <a:latin typeface="Arial"/>
            </a:endParaRP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Signal-Inputs nie direkt zuweisen (component.customer = …), das funktioniert nicht</a:t>
            </a:r>
          </a:p>
          <a:p>
            <a:pPr>
              <a:defRPr sz="2000" b="0">
                <a:latin typeface="Segoe UI"/>
              </a:defRPr>
            </a:pPr>
            <a:r>
              <a:rPr lang="de-DE" sz="2000" b="0">
                <a:latin typeface="Segoe UI"/>
              </a:rPr>
              <a:t>Stattdessen fixture.componentRef.setInput('name', wert) verwenden</a:t>
            </a:r>
          </a:p>
          <a:p>
            <a:pPr>
              <a:defRPr sz="2000" b="0">
                <a:latin typeface="Segoe UI"/>
              </a:defRPr>
            </a:pPr>
            <a:r>
              <a:rPr lang="de-DE" sz="2000" b="0">
                <a:latin typeface="Segoe UI"/>
              </a:rPr>
              <a:t>Die Anwendung läuft zoneless: nicht auf automatische Change Detection verlassen</a:t>
            </a:r>
          </a:p>
          <a:p>
            <a:pPr>
              <a:defRPr sz="2000" b="0">
                <a:latin typeface="Segoe UI"/>
              </a:defRPr>
            </a:pPr>
            <a:r>
              <a:rPr lang="de-DE" sz="2000" b="0">
                <a:latin typeface="Segoe UI"/>
              </a:rPr>
              <a:t>Nach Änderungen await fixture.whenStable() aufrufen, bevor das DOM geprüft wird</a:t>
            </a:r>
          </a:p>
          <a:p>
            <a:pPr>
              <a:defRPr sz="2000" b="0">
                <a:latin typeface="Segoe UI"/>
              </a:defRPr>
            </a:pPr>
            <a:r>
              <a:rPr lang="de-DE" sz="2000" b="0">
                <a:latin typeface="Segoe UI"/>
              </a:rPr>
              <a:t>Ausgänge (output) prüft man, indem man sich mit subscribe anhängt</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Signals und Effects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signal und computed: direkt testen, ohne TestBed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effect: braucht einen Injection Context und einen "Tick"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TestBed.runInInjectionContext(() =&gt; { store = new CustomerStore();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store.setFilter('x');</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TestBed.tick();                 // führt anstehende Effects aus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expect(localStorage.getItem('customerFilter')).toBe('x');</a:t>
            </a:r>
            <a:endParaRPr lang="de-DE" sz="1800" b="0" u="none" strike="noStrike">
              <a:solidFill>
                <a:srgbClr val="000000"/>
              </a:solidFill>
              <a:uFillTx/>
              <a:latin typeface="Arial"/>
            </a:endParaRP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Lesen: Was behauptet der Test? Passt das zur Anforderung?</a:t>
            </a:r>
          </a:p>
          <a:p>
            <a:pPr>
              <a:defRPr sz="2000" b="0">
                <a:latin typeface="Segoe UI"/>
              </a:defRPr>
            </a:pPr>
            <a:r>
              <a:rPr lang="de-DE" sz="2000" b="0">
                <a:latin typeface="Segoe UI"/>
              </a:rPr>
              <a:t>2. Kaputtmachen: Produktivcode absichtlich ändern, wird der Test rot? Sonst ist er wertlos</a:t>
            </a:r>
          </a:p>
          <a:p>
            <a:pPr>
              <a:defRPr sz="2000" b="0">
                <a:latin typeface="Segoe UI"/>
              </a:defRPr>
            </a:pPr>
            <a:r>
              <a:rPr lang="de-DE" sz="2000" b="0">
                <a:latin typeface="Segoe UI"/>
              </a:rPr>
              <a:t>3. Randfälle ergänzen: leer, sehr groß, Fehlerfall,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den Test committet, haftet dafür, nicht das Werkzeug</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34: Tests schreiben und bewerten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34_tests (Test-Runner: Vitest)</a:t>
            </a:r>
          </a:p>
          <a:p>
            <a:pPr>
              <a:defRPr sz="2000" b="0">
                <a:latin typeface="Segoe UI"/>
              </a:defRPr>
            </a:pPr>
            <a:r>
              <a:rPr lang="de-DE" sz="2000" b="0">
                <a:latin typeface="Segoe UI"/>
              </a:rPr>
              <a:t>Teil A: Schreibe Tests für CustomerStore, ohne Oberfläche</a:t>
            </a:r>
          </a:p>
          <a:p>
            <a:pPr lvl="1">
              <a:defRPr sz="1700" b="0">
                <a:latin typeface="Segoe UI"/>
              </a:defRPr>
            </a:pPr>
            <a:r>
              <a:rPr lang="de-DE" sz="1700" b="0">
                <a:latin typeface="Segoe UI"/>
              </a:rPr>
              <a:t>Filter (Groß-/Kleinschreibung), Auswahl, leere Liste, Filter ohne Treffer</a:t>
            </a:r>
          </a:p>
          <a:p>
            <a:pPr lvl="1">
              <a:defRPr sz="1700" b="0">
                <a:latin typeface="Segoe UI"/>
              </a:defRPr>
            </a:pPr>
            <a:r>
              <a:rPr lang="de-DE" sz="1700" b="0">
                <a:latin typeface="Segoe UI"/>
              </a:rPr>
              <a:t>Ersetze CustomerApi per providers durch ein Ersatzobjekt</a:t>
            </a:r>
          </a:p>
          <a:p>
            <a:pPr>
              <a:defRPr sz="2000" b="0">
                <a:latin typeface="Segoe UI"/>
              </a:defRPr>
            </a:pPr>
            <a:r>
              <a:rPr lang="de-DE" sz="2000" b="0">
                <a:latin typeface="Segoe UI"/>
              </a:rPr>
              <a:t>Teil B: Teste CustomerListItemComponent: Name wird angezeigt, Klick löst chosen aus</a:t>
            </a:r>
          </a:p>
          <a:p>
            <a:pPr>
              <a:defRPr sz="2000" b="0">
                <a:latin typeface="Segoe UI"/>
              </a:defRPr>
            </a:pPr>
            <a:r>
              <a:rPr lang="de-DE" sz="2000" b="0">
                <a:latin typeface="Segoe UI"/>
              </a:rPr>
              <a:t>Teil C: Bewerte die mitgelieferte, generierte Spec für CustomerStore (5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Performance ist kein Selbstzweck, sondern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Rendering</a:t>
            </a:r>
          </a:p>
          <a:p>
            <a:pPr>
              <a:defRPr sz="2000" b="0">
                <a:latin typeface="Segoe UI"/>
              </a:defRPr>
            </a:pPr>
            <a:r>
              <a:rPr lang="de-DE" sz="2000" b="0">
                <a:latin typeface="Segoe UI"/>
              </a:rPr>
              <a:t>Laufzeit: Wie flüssig reagiert die App?</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Kennzahlen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LCP (Largest Contentful Paint): Wann ist der Hauptinhalt sichtbar?</a:t>
            </a:r>
          </a:p>
          <a:p>
            <a:pPr>
              <a:defRPr sz="2000" b="0">
                <a:latin typeface="Segoe UI"/>
              </a:defRPr>
            </a:pPr>
            <a:r>
              <a:rPr lang="de-DE" sz="2000" b="0">
                <a:latin typeface="Segoe UI"/>
              </a:rPr>
              <a:t>INP (Interaction to Next Paint): Wie schnell reagiert die App auf Eingaben?</a:t>
            </a:r>
          </a:p>
          <a:p>
            <a:pPr>
              <a:defRPr sz="2000" b="0">
                <a:latin typeface="Segoe UI"/>
              </a:defRPr>
            </a:pPr>
            <a:r>
              <a:rPr lang="de-DE" sz="2000" b="0">
                <a:latin typeface="Segoe UI"/>
              </a:rPr>
              <a:t>CLS (Cumulative Layout Shift): Springt das Layout beim Laden?</a:t>
            </a:r>
          </a:p>
          <a:p>
            <a:pPr>
              <a:defRPr sz="2000" b="0">
                <a:latin typeface="Segoe UI"/>
              </a:defRPr>
            </a:pPr>
            <a:r>
              <a:rPr lang="de-DE" sz="2000" b="0">
                <a:latin typeface="Segoe UI"/>
              </a:rPr>
              <a:t>Bundle-Größe: Wie viel Code muss der Browser laden?</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Werkzeuge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Chrome DevTools, Bereich Performance: Flamegraph und lange Aufgaben (Long Tasks)</a:t>
            </a:r>
          </a:p>
          <a:p>
            <a:pPr>
              <a:defRPr sz="2000" b="0">
                <a:latin typeface="Segoe UI"/>
              </a:defRPr>
            </a:pPr>
            <a:r>
              <a:rPr lang="de-DE" sz="2000" b="0">
                <a:latin typeface="Segoe UI"/>
              </a:rPr>
              <a:t>Lighthouse: Ladeverhalten und Kennzahlen (Core Web Vitals)</a:t>
            </a:r>
          </a:p>
          <a:p>
            <a:pPr>
              <a:defRPr sz="2000" b="0">
                <a:latin typeface="Segoe UI"/>
              </a:defRPr>
            </a:pPr>
            <a:r>
              <a:rPr lang="de-DE" sz="2000" b="0">
                <a:latin typeface="Segoe UI"/>
              </a:rPr>
              <a:t>Angular DevTools, Profiler: Welche Komponente wird wie oft geprüft?</a:t>
            </a:r>
          </a:p>
          <a:p>
            <a:pPr>
              <a:defRPr sz="2000" b="0">
                <a:latin typeface="Segoe UI"/>
              </a:defRPr>
            </a:pPr>
            <a:r>
              <a:rPr lang="de-DE" sz="2000" b="0">
                <a:latin typeface="Segoe UI"/>
              </a:rPr>
              <a:t>ng build --stats-json mit einem Analyse-Werkzeug: Was steckt im Bundle?</a:t>
            </a:r>
          </a:p>
          <a:p>
            <a:pPr>
              <a:defRPr sz="2000" b="0">
                <a:latin typeface="Segoe UI"/>
              </a:defRPr>
            </a:pPr>
            <a:r>
              <a:rPr lang="de-DE" sz="2000" b="0">
                <a:latin typeface="Segoe UI"/>
              </a:rPr>
              <a:t>Budgets in angular.json: Der Build schlägt bei zu großem Bundle fehl</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Angular rendert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Früher mit Zone.js: Jedes Ereignis, jeder Timer, jede HTTP-Antwort prüft den ganzen Baum</a:t>
            </a:r>
          </a:p>
          <a:p>
            <a:pPr>
              <a:defRPr sz="2000" b="0">
                <a:latin typeface="Segoe UI"/>
              </a:defRPr>
            </a:pPr>
            <a:r>
              <a:rPr lang="de-DE" sz="2000" b="0">
                <a:latin typeface="Segoe UI"/>
              </a:rPr>
              <a:t>Heute zoneless mit Signals: Ändert sich ein Signal, werden nur betroffene Komponenten geprüft</a:t>
            </a:r>
          </a:p>
          <a:p>
            <a:pPr>
              <a:defRPr sz="2000" b="0">
                <a:latin typeface="Segoe UI"/>
              </a:defRPr>
            </a:pPr>
            <a:r>
              <a:rPr lang="de-DE" sz="2000" b="0">
                <a:latin typeface="Segoe UI"/>
              </a:rPr>
              <a:t>OnPush: Prüfung nur bei geänderten Inputs, Ereignissen im Template oder geänderten Signals</a:t>
            </a:r>
          </a:p>
          <a:p>
            <a:pPr>
              <a:defRPr sz="2000" b="0">
                <a:latin typeface="Segoe UI"/>
              </a:defRPr>
            </a:pPr>
            <a:r>
              <a:rPr lang="de-DE" sz="2000" b="0">
                <a:latin typeface="Segoe UI"/>
              </a:rPr>
              <a:t>Empfehlung: changeDetection: ChangeDetectionStrategy.OnPush für alle neuen Komponenten</a:t>
            </a:r>
          </a:p>
          <a:p>
            <a:pPr>
              <a:defRPr sz="2000" b="0">
                <a:latin typeface="Segoe UI"/>
              </a:defRPr>
            </a:pPr>
            <a:r>
              <a:rPr lang="de-DE" sz="2000" b="0">
                <a:latin typeface="Segoe UI"/>
              </a:rPr>
              <a:t>Das Startprojekt läuft bereits mit provideZonelessChangeDetection()</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aus dem Kapitel zur Wartbarkeit</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liefert bei gleichem Ergebnis dieselbe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nachfolgende Leser rechnen dann nicht neu.</a:t>
            </a:r>
            <a:endParaRPr lang="de-DE" sz="1600" b="0" u="none" strike="noStrike">
              <a:solidFill>
                <a:srgbClr val="000000"/>
              </a:solidFill>
              <a:uFillTx/>
              <a:latin typeface="Arial"/>
            </a:endParaRP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&lt;!-- Schlecht: Objektidentität (so im Startprojekt)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&lt;!-- Besser: stabile, eindeutige ID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c.id)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Mit track c entstehen bei neu geladenen Objekten alle DOM-Elemente neu</a:t>
            </a:r>
          </a:p>
          <a:p>
            <a:pPr>
              <a:defRPr sz="2000" b="0">
                <a:latin typeface="Segoe UI"/>
              </a:defRPr>
            </a:pPr>
            <a:r>
              <a:rPr lang="de-DE" sz="2000" b="0">
                <a:latin typeface="Segoe UI"/>
              </a:rPr>
              <a:t>Zustand der Zeilen (Fokus, Animation) geht dabei verloren</a:t>
            </a:r>
          </a:p>
          <a:p>
            <a:pPr>
              <a:defRPr sz="2000" b="0">
                <a:latin typeface="Segoe UI"/>
              </a:defRPr>
            </a:pPr>
            <a:r>
              <a:rPr lang="de-DE" sz="2000" b="0">
                <a:latin typeface="Segoe UI"/>
              </a:rPr>
              <a:t>track $index nur verwenden, wenn die Liste statisch ist</a:t>
            </a:r>
          </a:p>
          <a:p>
            <a:pPr>
              <a:defRPr sz="2000" b="0">
                <a:latin typeface="Segoe UI"/>
              </a:defRPr>
            </a:pPr>
            <a:r>
              <a:rPr lang="de-DE" sz="2000" b="0">
                <a:latin typeface="Segoe UI"/>
              </a:rPr>
              <a:t>Faustregel: Eine stabile, eindeutige ID verwenden</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wird bei jeder Change Detection aufgerufen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Eingaben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async-Pipe in Schleifen --&gt;</a:t>
            </a:r>
            <a:endParaRPr lang="de-DE" sz="1400" b="0" u="none" strike="noStrike">
              <a:solidFill>
                <a:srgbClr val="000000"/>
              </a:solidFill>
              <a:uFillTx/>
              <a:latin typeface="Arial"/>
            </a:endParaRP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Virtual Scrolling (@angular/cdk/scrolling): nur sichtbare Zeilen sind im DOM</a:t>
            </a:r>
          </a:p>
          <a:p>
            <a:pPr>
              <a:defRPr sz="2000" b="0">
                <a:latin typeface="Segoe UI"/>
              </a:defRPr>
            </a:pPr>
            <a:r>
              <a:rPr lang="de-DE" sz="2000" b="0">
                <a:latin typeface="Segoe UI"/>
              </a:rPr>
              <a:t>Paginierung oder serverseitiges Filtern: weniger Daten werden übertragen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Leichte Zeilenkomponenten mit OnPush: günstigeres Prüfen</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filterText ist ein Signal, das an das Eingabefeld gebunden 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debouncedFilter = toSignal(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toObservable(this.filterText).pipe(debounceTime(250)),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initialValue: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Die Liste liest debouncedFilter() statt filterText():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Gefiltert wird erst, wenn 250 ms keine neue Eingabe kam.</a:t>
            </a:r>
            <a:endParaRPr lang="de-DE" sz="2000" b="0" u="none" strike="noStrike">
              <a:solidFill>
                <a:srgbClr val="000000"/>
              </a:solidFill>
              <a:uFillTx/>
              <a:latin typeface="Arial"/>
            </a:endParaRP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Routes: loadComponent: () =&gt; import('./customer-details/…').then(…)</a:t>
            </a:r>
          </a:p>
          <a:p>
            <a:pPr>
              <a:defRPr sz="2000" b="0">
                <a:latin typeface="Segoe UI"/>
              </a:defRPr>
            </a:pPr>
            <a:r>
              <a:rPr lang="de-DE" sz="2000" b="0">
                <a:latin typeface="Segoe UI"/>
              </a:rPr>
              <a:t>@defer: schwere Teile erst bei Bedarf laden (on viewport, on interaction, on idle, when)</a:t>
            </a:r>
          </a:p>
          <a:p>
            <a:pPr lvl="1">
              <a:defRPr sz="1700" b="0">
                <a:latin typeface="Segoe UI"/>
              </a:defRPr>
            </a:pPr>
            <a:r>
              <a:rPr lang="de-DE" sz="1700" b="0">
                <a:latin typeface="Segoe UI"/>
              </a:rPr>
              <a:t>Mit @placeholder und @loading für die Übergangszeit</a:t>
            </a:r>
          </a:p>
          <a:p>
            <a:pPr>
              <a:defRPr sz="2000" b="0">
                <a:latin typeface="Segoe UI"/>
              </a:defRPr>
            </a:pPr>
            <a:r>
              <a:rPr lang="de-DE" sz="2000" b="0">
                <a:latin typeface="Segoe UI"/>
              </a:rPr>
              <a:t>NgOptimizedImage (Übung 27): priority für das Hauptbild, width und height gegen Layout-Sprünge</a:t>
            </a:r>
          </a:p>
          <a:p>
            <a:pPr>
              <a:defRPr sz="2000" b="0">
                <a:latin typeface="Segoe UI"/>
              </a:defRPr>
            </a:pPr>
            <a:r>
              <a:rPr lang="de-DE" sz="2000" b="0">
                <a:latin typeface="Segoe UI"/>
              </a:rPr>
              <a:t>Bundle-Hygiene: nur importieren, was man nutzt; Tree-Shaking; Budgets</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 (Client-Side Rendering): Der Browser baut alles, einfach, aber erster Inhalt kommt später</a:t>
            </a:r>
          </a:p>
          <a:p>
            <a:pPr>
              <a:defRPr sz="2000" b="0">
                <a:latin typeface="Segoe UI"/>
              </a:defRPr>
            </a:pPr>
            <a:r>
              <a:rPr lang="de-DE" sz="2000" b="0">
                <a:latin typeface="Segoe UI"/>
              </a:rPr>
              <a:t>SSR mit Hydration: Server liefert HTML, Browser aktiviert es, schnellerer erster Inhalt</a:t>
            </a:r>
          </a:p>
          <a:p>
            <a:pPr>
              <a:defRPr sz="2000" b="0">
                <a:latin typeface="Segoe UI"/>
              </a:defRPr>
            </a:pPr>
            <a:r>
              <a:rPr lang="de-DE" sz="2000" b="0">
                <a:latin typeface="Segoe UI"/>
              </a:rPr>
              <a:t>Prerendering (SSG): HTML entsteht beim Build, schnell für statische Seiten</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siehe die Folie „Server-Side Rendering (SSR) &amp; Hydration“</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oder mit ungeeignetem track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35: Langsame Liste</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35_performance (5000 Kunden per Hilfscode, abschaltbar per Flag)</a:t>
            </a:r>
          </a:p>
          <a:p>
            <a:pPr>
              <a:defRPr sz="2000" b="1">
                <a:latin typeface="Segoe UI"/>
              </a:defRPr>
            </a:pPr>
            <a:r>
              <a:rPr lang="de-DE" sz="2000" b="1">
                <a:latin typeface="Segoe UI"/>
              </a:rPr>
              <a:t>1. Messe: Chrome DevTools (Eingabe im Filter) und Angular DevTools Profiler</a:t>
            </a:r>
          </a:p>
          <a:p>
            <a:pPr lvl="1">
              <a:defRPr sz="1700" b="0">
                <a:latin typeface="Segoe UI"/>
              </a:defRPr>
            </a:pPr>
            <a:r>
              <a:rPr lang="de-DE" sz="1700" b="0">
                <a:latin typeface="Segoe UI"/>
              </a:rPr>
              <a:t>Notiere Dauer der Aktualisierung und Anzahl neu gerenderter Komponenten</a:t>
            </a:r>
          </a:p>
          <a:p>
            <a:pPr>
              <a:defRPr sz="2000" b="1">
                <a:latin typeface="Segoe UI"/>
              </a:defRPr>
            </a:pPr>
            <a:r>
              <a:rPr lang="de-DE" sz="2000" b="1">
                <a:latin typeface="Segoe UI"/>
              </a:rPr>
              <a:t>2. Optimiere Schritt für Schritt und miss jeweils neu:</a:t>
            </a:r>
          </a:p>
          <a:p>
            <a:pPr lvl="1">
              <a:defRPr sz="1700" b="0">
                <a:latin typeface="Segoe UI"/>
              </a:defRPr>
            </a:pPr>
            <a:r>
              <a:rPr lang="de-DE" sz="1700" b="0">
                <a:latin typeface="Segoe UI"/>
              </a:rPr>
              <a:t>a) track customer zu track customer.id    b) OnPush für Liste und Listenelement</a:t>
            </a:r>
          </a:p>
          <a:p>
            <a:pPr lvl="1">
              <a:defRPr sz="1700" b="0">
                <a:latin typeface="Segoe UI"/>
              </a:defRPr>
            </a:pPr>
            <a:r>
              <a:rPr lang="de-DE" sz="1700" b="0">
                <a:latin typeface="Segoe UI"/>
              </a:rPr>
              <a:t>c) Debounce für den Filter (250 ms)    d) Virtual Scrolling mit cdk-virtual-scroll-viewport</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3. Fülle eine Tabelle: Maßnahme, Wert vorher, Wert nachher, Fazit</a:t>
            </a:r>
          </a:p>
          <a:p>
            <a:pPr>
              <a:defRPr sz="2000" b="1">
                <a:latin typeface="Segoe UI"/>
              </a:defRPr>
            </a:pPr>
            <a:r>
              <a:rPr lang="de-DE" sz="2000" b="1">
                <a:latin typeface="Segoe UI"/>
              </a:rPr>
              <a:t>Musterlösung: 35_performance (baut auf 34_tests auf)</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