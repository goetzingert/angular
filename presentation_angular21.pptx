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2.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2.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2.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2.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2.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3.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9.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62" r:id="rId53"/>
    <p:sldId id="263" r:id="rId54"/>
    <p:sldId id="264" r:id="rId55"/>
    <p:sldId id="852" r:id="rId643"/>
    <p:sldId id="853" r:id="rId644"/>
    <p:sldId id="854" r:id="rId645"/>
    <p:sldId id="855" r:id="rId646"/>
    <p:sldId id="933" r:id="rId724"/>
    <p:sldId id="934" r:id="rId725"/>
    <p:sldId id="935" r:id="rId726"/>
    <p:sldId id="936" r:id="rId727"/>
    <p:sldId id="937" r:id="rId728"/>
    <p:sldId id="938" r:id="rId729"/>
    <p:sldId id="939" r:id="rId730"/>
    <p:sldId id="940" r:id="rId731"/>
    <p:sldId id="990" r:id="rId781"/>
    <p:sldId id="991" r:id="rId782"/>
    <p:sldId id="992" r:id="rId783"/>
    <p:sldId id="993" r:id="rId784"/>
    <p:sldId id="994" r:id="rId785"/>
    <p:sldId id="1030" r:id="rId821"/>
    <p:sldId id="1031" r:id="rId822"/>
    <p:sldId id="1032" r:id="rId823"/>
    <p:sldId id="1033" r:id="rId824"/>
    <p:sldId id="1034" r:id="rId825"/>
    <p:sldId id="1035" r:id="rId826"/>
    <p:sldId id="1036" r:id="rId827"/>
    <p:sldId id="1078" r:id="rId869"/>
    <p:sldId id="1079" r:id="rId870"/>
    <p:sldId id="1080" r:id="rId871"/>
    <p:sldId id="1081" r:id="rId872"/>
    <p:sldId id="1082" r:id="rId873"/>
    <p:sldId id="1083" r:id="rId874"/>
    <p:sldId id="1112" r:id="rId903"/>
    <p:sldId id="1113" r:id="rId904"/>
    <p:sldId id="1114" r:id="rId905"/>
    <p:sldId id="1115" r:id="rId906"/>
    <p:sldId id="1116" r:id="rId907"/>
    <p:sldId id="1117" r:id="rId908"/>
    <p:sldId id="1118" r:id="rId909"/>
    <p:sldId id="1119" r:id="rId910"/>
    <p:sldId id="1120" r:id="rId911"/>
    <p:sldId id="1121" r:id="rId912"/>
    <p:sldId id="1122" r:id="rId913"/>
    <p:sldId id="1123" r:id="rId914"/>
    <p:sldId id="1124" r:id="rId915"/>
    <p:sldId id="1125" r:id="rId916"/>
    <p:sldId id="1126" r:id="rId917"/>
    <p:sldId id="325" r:id="rId116"/>
    <p:sldId id="326" r:id="rId117"/>
    <p:sldId id="1084" r:id="rId875"/>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1085" r:id="rId876"/>
    <p:sldId id="342" r:id="rId133"/>
    <p:sldId id="343" r:id="rId134"/>
    <p:sldId id="344" r:id="rId135"/>
    <p:sldId id="345" r:id="rId136"/>
    <p:sldId id="346" r:id="rId137"/>
    <p:sldId id="350" r:id="rId138"/>
    <p:sldId id="547" r:id="rId338"/>
    <p:sldId id="1086" r:id="rId877"/>
    <p:sldId id="351" r:id="rId139"/>
    <p:sldId id="352" r:id="rId140"/>
    <p:sldId id="353" r:id="rId141"/>
    <p:sldId id="354" r:id="rId142"/>
    <p:sldId id="355" r:id="rId143"/>
    <p:sldId id="356" r:id="rId144"/>
    <p:sldId id="357" r:id="rId145"/>
    <p:sldId id="358" r:id="rId146"/>
    <p:sldId id="1087" r:id="rId878"/>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1088" r:id="rId879"/>
    <p:sldId id="370" r:id="rId158"/>
    <p:sldId id="372" r:id="rId159"/>
    <p:sldId id="375" r:id="rId160"/>
    <p:sldId id="376" r:id="rId161"/>
    <p:sldId id="377" r:id="rId162"/>
    <p:sldId id="378" r:id="rId163"/>
    <p:sldId id="1089" r:id="rId880"/>
    <p:sldId id="379" r:id="rId164"/>
    <p:sldId id="380" r:id="rId165"/>
    <p:sldId id="381" r:id="rId166"/>
    <p:sldId id="382" r:id="rId167"/>
    <p:sldId id="383" r:id="rId168"/>
    <p:sldId id="384" r:id="rId169"/>
    <p:sldId id="385" r:id="rId170"/>
    <p:sldId id="386" r:id="rId171"/>
    <p:sldId id="387" r:id="rId172"/>
    <p:sldId id="549" r:id="rId340"/>
    <p:sldId id="1090" r:id="rId881"/>
    <p:sldId id="389" r:id="rId173"/>
    <p:sldId id="388" r:id="rId174"/>
    <p:sldId id="580" r:id="rId371"/>
    <p:sldId id="581" r:id="rId372"/>
    <p:sldId id="582" r:id="rId373"/>
    <p:sldId id="583" r:id="rId374"/>
    <p:sldId id="584" r:id="rId375"/>
    <p:sldId id="585" r:id="rId376"/>
    <p:sldId id="586" r:id="rId377"/>
    <p:sldId id="1091" r:id="rId882"/>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1092" r:id="rId883"/>
    <p:sldId id="408" r:id="rId194"/>
    <p:sldId id="409" r:id="rId195"/>
    <p:sldId id="410" r:id="rId196"/>
    <p:sldId id="411" r:id="rId197"/>
    <p:sldId id="412" r:id="rId198"/>
    <p:sldId id="413" r:id="rId199"/>
    <p:sldId id="414" r:id="rId200"/>
    <p:sldId id="415" r:id="rId201"/>
    <p:sldId id="551" r:id="rId342"/>
    <p:sldId id="1093" r:id="rId884"/>
    <p:sldId id="416" r:id="rId202"/>
    <p:sldId id="1094" r:id="rId885"/>
    <p:sldId id="417" r:id="rId203"/>
    <p:sldId id="418" r:id="rId204"/>
    <p:sldId id="419" r:id="rId205"/>
    <p:sldId id="1095" r:id="rId886"/>
    <p:sldId id="420" r:id="rId206"/>
    <p:sldId id="421" r:id="rId207"/>
    <p:sldId id="422" r:id="rId208"/>
    <p:sldId id="423" r:id="rId209"/>
    <p:sldId id="424" r:id="rId210"/>
    <p:sldId id="425" r:id="rId211"/>
    <p:sldId id="426" r:id="rId212"/>
    <p:sldId id="427" r:id="rId213"/>
    <p:sldId id="428" r:id="rId214"/>
    <p:sldId id="429" r:id="rId215"/>
    <p:sldId id="430" r:id="rId216"/>
    <p:sldId id="1096" r:id="rId887"/>
    <p:sldId id="431" r:id="rId217"/>
    <p:sldId id="432" r:id="rId218"/>
    <p:sldId id="433" r:id="rId219"/>
    <p:sldId id="434" r:id="rId220"/>
    <p:sldId id="435" r:id="rId221"/>
    <p:sldId id="436" r:id="rId222"/>
    <p:sldId id="437" r:id="rId223"/>
    <p:sldId id="438" r:id="rId224"/>
    <p:sldId id="439" r:id="rId225"/>
    <p:sldId id="440" r:id="rId226"/>
    <p:sldId id="1097" r:id="rId888"/>
    <p:sldId id="441" r:id="rId227"/>
    <p:sldId id="442" r:id="rId228"/>
    <p:sldId id="1098" r:id="rId889"/>
    <p:sldId id="443" r:id="rId229"/>
    <p:sldId id="444" r:id="rId230"/>
    <p:sldId id="445" r:id="rId231"/>
    <p:sldId id="446" r:id="rId232"/>
    <p:sldId id="552" r:id="rId343"/>
    <p:sldId id="1099" r:id="rId890"/>
    <p:sldId id="447" r:id="rId233"/>
    <p:sldId id="448" r:id="rId234"/>
    <p:sldId id="449" r:id="rId235"/>
    <p:sldId id="450" r:id="rId236"/>
    <p:sldId id="451" r:id="rId237"/>
    <p:sldId id="452" r:id="rId238"/>
    <p:sldId id="453" r:id="rId239"/>
    <p:sldId id="1100" r:id="rId891"/>
    <p:sldId id="454" r:id="rId240"/>
    <p:sldId id="1101" r:id="rId892"/>
    <p:sldId id="455" r:id="rId241"/>
    <p:sldId id="456" r:id="rId242"/>
    <p:sldId id="457" r:id="rId243"/>
    <p:sldId id="1102" r:id="rId893"/>
    <p:sldId id="458" r:id="rId244"/>
    <p:sldId id="459" r:id="rId245"/>
    <p:sldId id="460" r:id="rId246"/>
    <p:sldId id="461" r:id="rId247"/>
    <p:sldId id="462" r:id="rId248"/>
    <p:sldId id="1103" r:id="rId894"/>
    <p:sldId id="463" r:id="rId249"/>
    <p:sldId id="464" r:id="rId250"/>
    <p:sldId id="1104" r:id="rId895"/>
    <p:sldId id="1105" r:id="rId896"/>
    <p:sldId id="465" r:id="rId251"/>
    <p:sldId id="1106" r:id="rId897"/>
    <p:sldId id="466" r:id="rId252"/>
    <p:sldId id="467" r:id="rId253"/>
    <p:sldId id="468" r:id="rId254"/>
    <p:sldId id="469" r:id="rId255"/>
    <p:sldId id="470" r:id="rId256"/>
    <p:sldId id="587" r:id="rId378"/>
    <p:sldId id="588" r:id="rId379"/>
    <p:sldId id="589" r:id="rId380"/>
    <p:sldId id="590" r:id="rId381"/>
    <p:sldId id="1107" r:id="rId898"/>
    <p:sldId id="474" r:id="rId260"/>
    <p:sldId id="475" r:id="rId261"/>
    <p:sldId id="591" r:id="rId382"/>
    <p:sldId id="592" r:id="rId383"/>
    <p:sldId id="593" r:id="rId384"/>
    <p:sldId id="594" r:id="rId385"/>
    <p:sldId id="481" r:id="rId267"/>
    <p:sldId id="482" r:id="rId268"/>
    <p:sldId id="483" r:id="rId269"/>
    <p:sldId id="484" r:id="rId270"/>
    <p:sldId id="485" r:id="rId271"/>
    <p:sldId id="1108" r:id="rId899"/>
    <p:sldId id="486" r:id="rId272"/>
    <p:sldId id="1109" r:id="rId900"/>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1110" r:id="rId901"/>
    <p:sldId id="499" r:id="rId285"/>
    <p:sldId id="1111" r:id="rId902"/>
    <p:sldId id="500" r:id="rId286"/>
    <p:sldId id="501" r:id="rId287"/>
    <p:sldId id="502" r:id="rId288"/>
    <p:sldId id="503" r:id="rId289"/>
    <p:sldId id="666" r:id="rId457"/>
    <p:sldId id="667" r:id="rId458"/>
    <p:sldId id="668" r:id="rId459"/>
    <p:sldId id="669" r:id="rId460"/>
    <p:sldId id="670" r:id="rId461"/>
    <p:sldId id="671" r:id="rId462"/>
    <p:sldId id="672" r:id="rId463"/>
    <p:sldId id="673" r:id="rId464"/>
    <p:sldId id="674" r:id="rId465"/>
    <p:sldId id="675" r:id="rId466"/>
    <p:sldId id="676" r:id="rId467"/>
    <p:sldId id="677" r:id="rId468"/>
    <p:sldId id="678" r:id="rId469"/>
    <p:sldId id="679" r:id="rId470"/>
    <p:sldId id="680" r:id="rId471"/>
    <p:sldId id="681" r:id="rId472"/>
    <p:sldId id="682" r:id="rId473"/>
    <p:sldId id="683" r:id="rId474"/>
    <p:sldId id="684" r:id="rId475"/>
    <p:sldId id="685" r:id="rId476"/>
    <p:sldId id="686" r:id="rId477"/>
    <p:sldId id="687" r:id="rId478"/>
    <p:sldId id="688" r:id="rId479"/>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705" r:id="rId496"/>
    <p:sldId id="706" r:id="rId497"/>
    <p:sldId id="707" r:id="rId498"/>
    <p:sldId id="708" r:id="rId499"/>
    <p:sldId id="709" r:id="rId500"/>
    <p:sldId id="710" r:id="rId501"/>
    <p:sldId id="711" r:id="rId502"/>
    <p:sldId id="712" r:id="rId503"/>
    <p:sldId id="713" r:id="rId504"/>
    <p:sldId id="714" r:id="rId505"/>
    <p:sldId id="715" r:id="rId506"/>
    <p:sldId id="716" r:id="rId507"/>
    <p:sldId id="717" r:id="rId508"/>
    <p:sldId id="718" r:id="rId509"/>
    <p:sldId id="719" r:id="rId510"/>
    <p:sldId id="720" r:id="rId511"/>
    <p:sldId id="721" r:id="rId512"/>
    <p:sldId id="730" r:id="rId521"/>
    <p:sldId id="731" r:id="rId522"/>
    <p:sldId id="732" r:id="rId523"/>
    <p:sldId id="733" r:id="rId524"/>
    <p:sldId id="734" r:id="rId525"/>
    <p:sldId id="735" r:id="rId526"/>
    <p:sldId id="736" r:id="rId527"/>
    <p:sldId id="737" r:id="rId528"/>
    <p:sldId id="738" r:id="rId529"/>
    <p:sldId id="739" r:id="rId530"/>
    <p:sldId id="740" r:id="rId531"/>
    <p:sldId id="741" r:id="rId532"/>
    <p:sldId id="742" r:id="rId533"/>
    <p:sldId id="743" r:id="rId534"/>
    <p:sldId id="744" r:id="rId535"/>
    <p:sldId id="745" r:id="rId536"/>
    <p:sldId id="746" r:id="rId537"/>
    <p:sldId id="747" r:id="rId538"/>
    <p:sldId id="748" r:id="rId539"/>
    <p:sldId id="749" r:id="rId540"/>
    <p:sldId id="750" r:id="rId541"/>
    <p:sldId id="856" r:id="rId647"/>
    <p:sldId id="857" r:id="rId648"/>
    <p:sldId id="858" r:id="rId649"/>
    <p:sldId id="859" r:id="rId650"/>
    <p:sldId id="860" r:id="rId651"/>
    <p:sldId id="861" r:id="rId652"/>
    <p:sldId id="862" r:id="rId653"/>
    <p:sldId id="863" r:id="rId654"/>
    <p:sldId id="864" r:id="rId655"/>
    <p:sldId id="865" r:id="rId656"/>
    <p:sldId id="866" r:id="rId657"/>
    <p:sldId id="867" r:id="rId658"/>
    <p:sldId id="868" r:id="rId659"/>
    <p:sldId id="869" r:id="rId660"/>
    <p:sldId id="870" r:id="rId661"/>
    <p:sldId id="871" r:id="rId662"/>
    <p:sldId id="872" r:id="rId663"/>
    <p:sldId id="873" r:id="rId664"/>
    <p:sldId id="874" r:id="rId665"/>
    <p:sldId id="875" r:id="rId666"/>
    <p:sldId id="876" r:id="rId667"/>
    <p:sldId id="877" r:id="rId668"/>
    <p:sldId id="878" r:id="rId669"/>
    <p:sldId id="879" r:id="rId670"/>
    <p:sldId id="880" r:id="rId671"/>
    <p:sldId id="881" r:id="rId672"/>
    <p:sldId id="882" r:id="rId673"/>
    <p:sldId id="883" r:id="rId674"/>
    <p:sldId id="884" r:id="rId675"/>
    <p:sldId id="885" r:id="rId676"/>
    <p:sldId id="886" r:id="rId677"/>
    <p:sldId id="887" r:id="rId678"/>
    <p:sldId id="888" r:id="rId679"/>
    <p:sldId id="889" r:id="rId680"/>
    <p:sldId id="890" r:id="rId681"/>
    <p:sldId id="891" r:id="rId682"/>
    <p:sldId id="892" r:id="rId683"/>
    <p:sldId id="893" r:id="rId684"/>
    <p:sldId id="894" r:id="rId685"/>
    <p:sldId id="895" r:id="rId686"/>
    <p:sldId id="896" r:id="rId687"/>
    <p:sldId id="897" r:id="rId688"/>
    <p:sldId id="898" r:id="rId689"/>
    <p:sldId id="899" r:id="rId690"/>
    <p:sldId id="900" r:id="rId691"/>
    <p:sldId id="901" r:id="rId692"/>
    <p:sldId id="902" r:id="rId693"/>
    <p:sldId id="903" r:id="rId694"/>
    <p:sldId id="904" r:id="rId695"/>
    <p:sldId id="905" r:id="rId696"/>
    <p:sldId id="941" r:id="rId732"/>
    <p:sldId id="942" r:id="rId733"/>
    <p:sldId id="943" r:id="rId734"/>
    <p:sldId id="944" r:id="rId735"/>
    <p:sldId id="945" r:id="rId736"/>
    <p:sldId id="946" r:id="rId737"/>
    <p:sldId id="947" r:id="rId738"/>
    <p:sldId id="948" r:id="rId739"/>
    <p:sldId id="949" r:id="rId740"/>
    <p:sldId id="950" r:id="rId741"/>
    <p:sldId id="951" r:id="rId742"/>
    <p:sldId id="952" r:id="rId743"/>
    <p:sldId id="953" r:id="rId744"/>
    <p:sldId id="954" r:id="rId745"/>
    <p:sldId id="955" r:id="rId746"/>
    <p:sldId id="956" r:id="rId747"/>
    <p:sldId id="957" r:id="rId748"/>
    <p:sldId id="958" r:id="rId749"/>
    <p:sldId id="959" r:id="rId750"/>
    <p:sldId id="960" r:id="rId751"/>
    <p:sldId id="961" r:id="rId752"/>
    <p:sldId id="962" r:id="rId753"/>
    <p:sldId id="963" r:id="rId754"/>
    <p:sldId id="964" r:id="rId755"/>
    <p:sldId id="965" r:id="rId756"/>
    <p:sldId id="966" r:id="rId757"/>
    <p:sldId id="967" r:id="rId758"/>
    <p:sldId id="968" r:id="rId759"/>
    <p:sldId id="969" r:id="rId760"/>
    <p:sldId id="970" r:id="rId761"/>
    <p:sldId id="971" r:id="rId762"/>
    <p:sldId id="972" r:id="rId763"/>
    <p:sldId id="973" r:id="rId764"/>
    <p:sldId id="974" r:id="rId765"/>
    <p:sldId id="975" r:id="rId766"/>
    <p:sldId id="976" r:id="rId767"/>
    <p:sldId id="977" r:id="rId768"/>
    <p:sldId id="978" r:id="rId769"/>
    <p:sldId id="979" r:id="rId770"/>
    <p:sldId id="980" r:id="rId771"/>
    <p:sldId id="981" r:id="rId772"/>
    <p:sldId id="982" r:id="rId773"/>
    <p:sldId id="983" r:id="rId774"/>
    <p:sldId id="984" r:id="rId775"/>
    <p:sldId id="985" r:id="rId776"/>
    <p:sldId id="986" r:id="rId777"/>
    <p:sldId id="987" r:id="rId778"/>
    <p:sldId id="995" r:id="rId786"/>
    <p:sldId id="996" r:id="rId787"/>
    <p:sldId id="997" r:id="rId788"/>
    <p:sldId id="998" r:id="rId789"/>
    <p:sldId id="999" r:id="rId790"/>
    <p:sldId id="1000" r:id="rId791"/>
    <p:sldId id="1001" r:id="rId792"/>
    <p:sldId id="1002" r:id="rId793"/>
    <p:sldId id="1003" r:id="rId794"/>
    <p:sldId id="1004" r:id="rId795"/>
    <p:sldId id="1005" r:id="rId796"/>
    <p:sldId id="1006" r:id="rId797"/>
    <p:sldId id="1007" r:id="rId798"/>
    <p:sldId id="1008" r:id="rId799"/>
    <p:sldId id="1009" r:id="rId800"/>
    <p:sldId id="1010" r:id="rId801"/>
    <p:sldId id="1011" r:id="rId802"/>
    <p:sldId id="1012" r:id="rId803"/>
    <p:sldId id="1013" r:id="rId804"/>
    <p:sldId id="1014" r:id="rId805"/>
    <p:sldId id="1015" r:id="rId806"/>
    <p:sldId id="1016" r:id="rId807"/>
    <p:sldId id="1017" r:id="rId808"/>
    <p:sldId id="1018" r:id="rId809"/>
    <p:sldId id="1019" r:id="rId810"/>
    <p:sldId id="1020" r:id="rId811"/>
    <p:sldId id="1021" r:id="rId812"/>
    <p:sldId id="1022" r:id="rId813"/>
    <p:sldId id="1023" r:id="rId814"/>
    <p:sldId id="1024" r:id="rId815"/>
    <p:sldId id="1025" r:id="rId816"/>
    <p:sldId id="1026" r:id="rId817"/>
    <p:sldId id="1027" r:id="rId818"/>
    <p:sldId id="1028" r:id="rId819"/>
    <p:sldId id="1029" r:id="rId820"/>
    <p:sldId id="1037" r:id="rId828"/>
    <p:sldId id="1038" r:id="rId829"/>
    <p:sldId id="1039" r:id="rId830"/>
    <p:sldId id="1040" r:id="rId831"/>
    <p:sldId id="1041" r:id="rId832"/>
    <p:sldId id="1042" r:id="rId833"/>
    <p:sldId id="1043" r:id="rId834"/>
    <p:sldId id="1044" r:id="rId835"/>
    <p:sldId id="1045" r:id="rId836"/>
    <p:sldId id="1046" r:id="rId837"/>
    <p:sldId id="1047" r:id="rId838"/>
    <p:sldId id="1048" r:id="rId839"/>
    <p:sldId id="1049" r:id="rId840"/>
    <p:sldId id="1050" r:id="rId841"/>
    <p:sldId id="1051" r:id="rId842"/>
    <p:sldId id="1052" r:id="rId843"/>
    <p:sldId id="1053" r:id="rId844"/>
    <p:sldId id="1054" r:id="rId845"/>
    <p:sldId id="1055" r:id="rId846"/>
    <p:sldId id="1056" r:id="rId847"/>
    <p:sldId id="1057" r:id="rId848"/>
    <p:sldId id="1058" r:id="rId849"/>
    <p:sldId id="1059" r:id="rId850"/>
    <p:sldId id="1060" r:id="rId851"/>
    <p:sldId id="1061" r:id="rId852"/>
    <p:sldId id="1062" r:id="rId853"/>
    <p:sldId id="1063" r:id="rId854"/>
    <p:sldId id="1064" r:id="rId855"/>
    <p:sldId id="1065" r:id="rId856"/>
    <p:sldId id="1066" r:id="rId857"/>
    <p:sldId id="1067" r:id="rId858"/>
    <p:sldId id="1068" r:id="rId859"/>
    <p:sldId id="1069" r:id="rId860"/>
    <p:sldId id="1070" r:id="rId861"/>
    <p:sldId id="1071" r:id="rId862"/>
    <p:sldId id="1072" r:id="rId863"/>
    <p:sldId id="1073" r:id="rId864"/>
    <p:sldId id="1074" r:id="rId865"/>
    <p:sldId id="1075" r:id="rId866"/>
    <p:sldId id="1076" r:id="rId867"/>
    <p:sldId id="1077" r:id="rId868"/>
    <p:sldId id="722" r:id="rId513"/>
    <p:sldId id="723" r:id="rId514"/>
    <p:sldId id="724" r:id="rId515"/>
    <p:sldId id="725" r:id="rId516"/>
    <p:sldId id="726" r:id="rId517"/>
    <p:sldId id="727" r:id="rId518"/>
    <p:sldId id="728" r:id="rId519"/>
    <p:sldId id="729" r:id="rId520"/>
    <p:sldId id="751" r:id="rId542"/>
    <p:sldId id="752" r:id="rId543"/>
    <p:sldId id="753" r:id="rId544"/>
    <p:sldId id="754" r:id="rId545"/>
    <p:sldId id="755" r:id="rId546"/>
    <p:sldId id="756" r:id="rId547"/>
    <p:sldId id="757" r:id="rId548"/>
    <p:sldId id="758" r:id="rId549"/>
    <p:sldId id="759" r:id="rId550"/>
    <p:sldId id="760" r:id="rId551"/>
    <p:sldId id="761" r:id="rId552"/>
    <p:sldId id="762" r:id="rId553"/>
    <p:sldId id="763" r:id="rId554"/>
    <p:sldId id="764" r:id="rId555"/>
    <p:sldId id="765" r:id="rId556"/>
    <p:sldId id="766" r:id="rId557"/>
    <p:sldId id="767" r:id="rId558"/>
    <p:sldId id="768" r:id="rId559"/>
    <p:sldId id="769" r:id="rId560"/>
    <p:sldId id="770" r:id="rId561"/>
    <p:sldId id="771" r:id="rId562"/>
    <p:sldId id="772" r:id="rId563"/>
    <p:sldId id="773" r:id="rId564"/>
    <p:sldId id="774" r:id="rId565"/>
    <p:sldId id="775" r:id="rId566"/>
    <p:sldId id="776" r:id="rId567"/>
    <p:sldId id="777" r:id="rId568"/>
    <p:sldId id="778" r:id="rId569"/>
    <p:sldId id="779" r:id="rId570"/>
    <p:sldId id="780" r:id="rId571"/>
    <p:sldId id="781" r:id="rId572"/>
    <p:sldId id="782" r:id="rId573"/>
    <p:sldId id="783" r:id="rId574"/>
    <p:sldId id="784" r:id="rId575"/>
    <p:sldId id="785" r:id="rId576"/>
    <p:sldId id="786" r:id="rId577"/>
    <p:sldId id="787" r:id="rId578"/>
    <p:sldId id="788" r:id="rId579"/>
    <p:sldId id="789" r:id="rId580"/>
    <p:sldId id="790" r:id="rId581"/>
    <p:sldId id="791" r:id="rId582"/>
    <p:sldId id="792" r:id="rId583"/>
    <p:sldId id="793" r:id="rId584"/>
    <p:sldId id="794" r:id="rId585"/>
    <p:sldId id="795" r:id="rId586"/>
    <p:sldId id="906" r:id="rId697"/>
    <p:sldId id="907" r:id="rId698"/>
    <p:sldId id="908" r:id="rId699"/>
    <p:sldId id="909" r:id="rId700"/>
    <p:sldId id="910" r:id="rId701"/>
    <p:sldId id="911" r:id="rId702"/>
    <p:sldId id="912" r:id="rId703"/>
    <p:sldId id="913" r:id="rId704"/>
    <p:sldId id="914" r:id="rId705"/>
    <p:sldId id="915" r:id="rId706"/>
    <p:sldId id="916" r:id="rId707"/>
    <p:sldId id="917" r:id="rId708"/>
    <p:sldId id="918" r:id="rId709"/>
    <p:sldId id="919" r:id="rId710"/>
    <p:sldId id="920" r:id="rId711"/>
    <p:sldId id="921" r:id="rId712"/>
    <p:sldId id="922" r:id="rId713"/>
    <p:sldId id="923" r:id="rId714"/>
    <p:sldId id="924" r:id="rId715"/>
    <p:sldId id="925" r:id="rId716"/>
    <p:sldId id="926" r:id="rId717"/>
    <p:sldId id="927" r:id="rId718"/>
    <p:sldId id="928" r:id="rId719"/>
    <p:sldId id="929" r:id="rId720"/>
    <p:sldId id="930" r:id="rId721"/>
    <p:sldId id="931" r:id="rId722"/>
    <p:sldId id="932" r:id="rId723"/>
    <p:sldId id="988" r:id="rId779"/>
    <p:sldId id="989" r:id="rId780"/>
    <p:sldId id="595" r:id="rId386"/>
    <p:sldId id="596" r:id="rId387"/>
    <p:sldId id="597" r:id="rId388"/>
    <p:sldId id="598" r:id="rId389"/>
    <p:sldId id="599" r:id="rId390"/>
    <p:sldId id="600" r:id="rId391"/>
    <p:sldId id="601" r:id="rId392"/>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20" r:id="rId411"/>
    <p:sldId id="621" r:id="rId412"/>
    <p:sldId id="622" r:id="rId413"/>
    <p:sldId id="623" r:id="rId414"/>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42" r:id="rId433"/>
    <p:sldId id="643" r:id="rId434"/>
    <p:sldId id="644" r:id="rId435"/>
    <p:sldId id="645" r:id="rId436"/>
    <p:sldId id="646" r:id="rId437"/>
    <p:sldId id="647" r:id="rId438"/>
    <p:sldId id="648" r:id="rId439"/>
    <p:sldId id="649" r:id="rId440"/>
    <p:sldId id="650" r:id="rId441"/>
    <p:sldId id="651" r:id="rId442"/>
    <p:sldId id="652" r:id="rId443"/>
    <p:sldId id="653" r:id="rId444"/>
    <p:sldId id="654" r:id="rId445"/>
    <p:sldId id="655" r:id="rId446"/>
    <p:sldId id="656" r:id="rId447"/>
    <p:sldId id="657" r:id="rId448"/>
    <p:sldId id="658" r:id="rId449"/>
    <p:sldId id="659" r:id="rId450"/>
    <p:sldId id="660" r:id="rId451"/>
    <p:sldId id="661" r:id="rId452"/>
    <p:sldId id="662" r:id="rId453"/>
    <p:sldId id="663" r:id="rId454"/>
    <p:sldId id="664" r:id="rId455"/>
    <p:sldId id="665" r:id="rId456"/>
    <p:sldId id="796" r:id="rId587"/>
    <p:sldId id="797" r:id="rId588"/>
    <p:sldId id="798" r:id="rId589"/>
    <p:sldId id="799" r:id="rId590"/>
    <p:sldId id="800" r:id="rId591"/>
    <p:sldId id="801" r:id="rId592"/>
    <p:sldId id="802" r:id="rId593"/>
    <p:sldId id="803" r:id="rId594"/>
    <p:sldId id="804" r:id="rId595"/>
    <p:sldId id="805" r:id="rId596"/>
    <p:sldId id="806" r:id="rId597"/>
    <p:sldId id="807" r:id="rId598"/>
    <p:sldId id="808" r:id="rId599"/>
    <p:sldId id="809" r:id="rId600"/>
    <p:sldId id="810" r:id="rId601"/>
    <p:sldId id="811" r:id="rId602"/>
    <p:sldId id="812" r:id="rId603"/>
    <p:sldId id="813" r:id="rId604"/>
    <p:sldId id="814" r:id="rId605"/>
    <p:sldId id="815" r:id="rId606"/>
    <p:sldId id="816" r:id="rId607"/>
    <p:sldId id="817" r:id="rId608"/>
    <p:sldId id="818" r:id="rId609"/>
    <p:sldId id="819" r:id="rId610"/>
    <p:sldId id="820" r:id="rId611"/>
    <p:sldId id="821" r:id="rId612"/>
    <p:sldId id="822" r:id="rId613"/>
    <p:sldId id="823" r:id="rId614"/>
    <p:sldId id="824" r:id="rId615"/>
    <p:sldId id="825" r:id="rId616"/>
    <p:sldId id="826" r:id="rId617"/>
    <p:sldId id="827" r:id="rId618"/>
    <p:sldId id="828" r:id="rId619"/>
    <p:sldId id="829" r:id="rId620"/>
    <p:sldId id="830" r:id="rId621"/>
    <p:sldId id="831" r:id="rId622"/>
    <p:sldId id="832" r:id="rId623"/>
    <p:sldId id="833" r:id="rId624"/>
    <p:sldId id="834" r:id="rId625"/>
    <p:sldId id="835" r:id="rId626"/>
    <p:sldId id="836" r:id="rId627"/>
    <p:sldId id="837" r:id="rId628"/>
    <p:sldId id="838" r:id="rId629"/>
    <p:sldId id="839" r:id="rId630"/>
    <p:sldId id="840" r:id="rId631"/>
    <p:sldId id="841" r:id="rId632"/>
    <p:sldId id="842" r:id="rId633"/>
    <p:sldId id="843" r:id="rId634"/>
    <p:sldId id="844" r:id="rId635"/>
    <p:sldId id="845" r:id="rId636"/>
    <p:sldId id="846" r:id="rId637"/>
    <p:sldId id="847" r:id="rId638"/>
    <p:sldId id="848" r:id="rId639"/>
    <p:sldId id="849" r:id="rId640"/>
    <p:sldId id="850" r:id="rId641"/>
    <p:sldId id="851" r:id="rId64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60" Type="http://schemas.openxmlformats.org/officeDocument/2006/relationships/slide" Target="slides/slide220.xml"/><Relationship Id="rId261" Type="http://schemas.openxmlformats.org/officeDocument/2006/relationships/slide" Target="slides/slide221.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61" Type="http://schemas.openxmlformats.org/officeDocument/2006/relationships/slide" Target="slides/slide310.xml"/><Relationship Id="rId362" Type="http://schemas.openxmlformats.org/officeDocument/2006/relationships/slide" Target="slides/slide311.xml"/><Relationship Id="rId363" Type="http://schemas.openxmlformats.org/officeDocument/2006/relationships/slide" Target="slides/slide312.xml"/><Relationship Id="rId364" Type="http://schemas.openxmlformats.org/officeDocument/2006/relationships/slide" Target="slides/slide313.xml"/><Relationship Id="rId365" Type="http://schemas.openxmlformats.org/officeDocument/2006/relationships/slide" Target="slides/slide314.xml"/><Relationship Id="rId366" Type="http://schemas.openxmlformats.org/officeDocument/2006/relationships/slide" Target="slides/slide315.xml"/><Relationship Id="rId367" Type="http://schemas.openxmlformats.org/officeDocument/2006/relationships/slide" Target="slides/slide316.xml"/><Relationship Id="rId368" Type="http://schemas.openxmlformats.org/officeDocument/2006/relationships/slide" Target="slides/slide317.xml"/><Relationship Id="rId369" Type="http://schemas.openxmlformats.org/officeDocument/2006/relationships/slide" Target="slides/slide318.xml"/><Relationship Id="rId370" Type="http://schemas.openxmlformats.org/officeDocument/2006/relationships/slide" Target="slides/slide319.xml"/><Relationship Id="rId371" Type="http://schemas.openxmlformats.org/officeDocument/2006/relationships/slide" Target="slides/slide320.xml"/><Relationship Id="rId372" Type="http://schemas.openxmlformats.org/officeDocument/2006/relationships/slide" Target="slides/slide321.xml"/><Relationship Id="rId373" Type="http://schemas.openxmlformats.org/officeDocument/2006/relationships/slide" Target="slides/slide322.xml"/><Relationship Id="rId374" Type="http://schemas.openxmlformats.org/officeDocument/2006/relationships/slide" Target="slides/slide323.xml"/><Relationship Id="rId375" Type="http://schemas.openxmlformats.org/officeDocument/2006/relationships/slide" Target="slides/slide324.xml"/><Relationship Id="rId376" Type="http://schemas.openxmlformats.org/officeDocument/2006/relationships/slide" Target="slides/slide325.xml"/><Relationship Id="rId377" Type="http://schemas.openxmlformats.org/officeDocument/2006/relationships/slide" Target="slides/slide326.xml"/><Relationship Id="rId378" Type="http://schemas.openxmlformats.org/officeDocument/2006/relationships/slide" Target="slides/slide327.xml"/><Relationship Id="rId379" Type="http://schemas.openxmlformats.org/officeDocument/2006/relationships/slide" Target="slides/slide328.xml"/><Relationship Id="rId380" Type="http://schemas.openxmlformats.org/officeDocument/2006/relationships/slide" Target="slides/slide329.xml"/><Relationship Id="rId381" Type="http://schemas.openxmlformats.org/officeDocument/2006/relationships/slide" Target="slides/slide330.xml"/><Relationship Id="rId382" Type="http://schemas.openxmlformats.org/officeDocument/2006/relationships/slide" Target="slides/slide331.xml"/><Relationship Id="rId383" Type="http://schemas.openxmlformats.org/officeDocument/2006/relationships/slide" Target="slides/slide332.xml"/><Relationship Id="rId384" Type="http://schemas.openxmlformats.org/officeDocument/2006/relationships/slide" Target="slides/slide333.xml"/><Relationship Id="rId385" Type="http://schemas.openxmlformats.org/officeDocument/2006/relationships/slide" Target="slides/slide334.xml"/><Relationship Id="rId386" Type="http://schemas.openxmlformats.org/officeDocument/2006/relationships/slide" Target="slides/slide335.xml"/><Relationship Id="rId387" Type="http://schemas.openxmlformats.org/officeDocument/2006/relationships/slide" Target="slides/slide336.xml"/><Relationship Id="rId388" Type="http://schemas.openxmlformats.org/officeDocument/2006/relationships/slide" Target="slides/slide337.xml"/><Relationship Id="rId389" Type="http://schemas.openxmlformats.org/officeDocument/2006/relationships/slide" Target="slides/slide338.xml"/><Relationship Id="rId390" Type="http://schemas.openxmlformats.org/officeDocument/2006/relationships/slide" Target="slides/slide339.xml"/><Relationship Id="rId391" Type="http://schemas.openxmlformats.org/officeDocument/2006/relationships/slide" Target="slides/slide340.xml"/><Relationship Id="rId392" Type="http://schemas.openxmlformats.org/officeDocument/2006/relationships/slide" Target="slides/slide341.xml"/><Relationship Id="rId393" Type="http://schemas.openxmlformats.org/officeDocument/2006/relationships/slide" Target="slides/slide342.xml"/><Relationship Id="rId394" Type="http://schemas.openxmlformats.org/officeDocument/2006/relationships/slide" Target="slides/slide343.xml"/><Relationship Id="rId395" Type="http://schemas.openxmlformats.org/officeDocument/2006/relationships/slide" Target="slides/slide344.xml"/><Relationship Id="rId396" Type="http://schemas.openxmlformats.org/officeDocument/2006/relationships/slide" Target="slides/slide345.xml"/><Relationship Id="rId397" Type="http://schemas.openxmlformats.org/officeDocument/2006/relationships/slide" Target="slides/slide346.xml"/><Relationship Id="rId398" Type="http://schemas.openxmlformats.org/officeDocument/2006/relationships/slide" Target="slides/slide347.xml"/><Relationship Id="rId399" Type="http://schemas.openxmlformats.org/officeDocument/2006/relationships/slide" Target="slides/slide348.xml"/><Relationship Id="rId400" Type="http://schemas.openxmlformats.org/officeDocument/2006/relationships/slide" Target="slides/slide349.xml"/><Relationship Id="rId401" Type="http://schemas.openxmlformats.org/officeDocument/2006/relationships/slide" Target="slides/slide350.xml"/><Relationship Id="rId402" Type="http://schemas.openxmlformats.org/officeDocument/2006/relationships/slide" Target="slides/slide351.xml"/><Relationship Id="rId403" Type="http://schemas.openxmlformats.org/officeDocument/2006/relationships/slide" Target="slides/slide352.xml"/><Relationship Id="rId404" Type="http://schemas.openxmlformats.org/officeDocument/2006/relationships/slide" Target="slides/slide353.xml"/><Relationship Id="rId405" Type="http://schemas.openxmlformats.org/officeDocument/2006/relationships/slide" Target="slides/slide354.xml"/><Relationship Id="rId406" Type="http://schemas.openxmlformats.org/officeDocument/2006/relationships/slide" Target="slides/slide355.xml"/><Relationship Id="rId407" Type="http://schemas.openxmlformats.org/officeDocument/2006/relationships/slide" Target="slides/slide356.xml"/><Relationship Id="rId408" Type="http://schemas.openxmlformats.org/officeDocument/2006/relationships/slide" Target="slides/slide357.xml"/><Relationship Id="rId409" Type="http://schemas.openxmlformats.org/officeDocument/2006/relationships/slide" Target="slides/slide358.xml"/><Relationship Id="rId410" Type="http://schemas.openxmlformats.org/officeDocument/2006/relationships/slide" Target="slides/slide359.xml"/><Relationship Id="rId411" Type="http://schemas.openxmlformats.org/officeDocument/2006/relationships/slide" Target="slides/slide360.xml"/><Relationship Id="rId412" Type="http://schemas.openxmlformats.org/officeDocument/2006/relationships/slide" Target="slides/slide361.xml"/><Relationship Id="rId413" Type="http://schemas.openxmlformats.org/officeDocument/2006/relationships/slide" Target="slides/slide362.xml"/><Relationship Id="rId414" Type="http://schemas.openxmlformats.org/officeDocument/2006/relationships/slide" Target="slides/slide363.xml"/><Relationship Id="rId415" Type="http://schemas.openxmlformats.org/officeDocument/2006/relationships/slide" Target="slides/slide364.xml"/><Relationship Id="rId416" Type="http://schemas.openxmlformats.org/officeDocument/2006/relationships/slide" Target="slides/slide365.xml"/><Relationship Id="rId417" Type="http://schemas.openxmlformats.org/officeDocument/2006/relationships/slide" Target="slides/slide366.xml"/><Relationship Id="rId418" Type="http://schemas.openxmlformats.org/officeDocument/2006/relationships/slide" Target="slides/slide367.xml"/><Relationship Id="rId419" Type="http://schemas.openxmlformats.org/officeDocument/2006/relationships/slide" Target="slides/slide368.xml"/><Relationship Id="rId420" Type="http://schemas.openxmlformats.org/officeDocument/2006/relationships/slide" Target="slides/slide369.xml"/><Relationship Id="rId421" Type="http://schemas.openxmlformats.org/officeDocument/2006/relationships/slide" Target="slides/slide370.xml"/><Relationship Id="rId422" Type="http://schemas.openxmlformats.org/officeDocument/2006/relationships/slide" Target="slides/slide371.xml"/><Relationship Id="rId423" Type="http://schemas.openxmlformats.org/officeDocument/2006/relationships/slide" Target="slides/slide372.xml"/><Relationship Id="rId424" Type="http://schemas.openxmlformats.org/officeDocument/2006/relationships/slide" Target="slides/slide373.xml"/><Relationship Id="rId425" Type="http://schemas.openxmlformats.org/officeDocument/2006/relationships/slide" Target="slides/slide374.xml"/><Relationship Id="rId426" Type="http://schemas.openxmlformats.org/officeDocument/2006/relationships/slide" Target="slides/slide375.xml"/><Relationship Id="rId427" Type="http://schemas.openxmlformats.org/officeDocument/2006/relationships/slide" Target="slides/slide376.xml"/><Relationship Id="rId428" Type="http://schemas.openxmlformats.org/officeDocument/2006/relationships/slide" Target="slides/slide377.xml"/><Relationship Id="rId429" Type="http://schemas.openxmlformats.org/officeDocument/2006/relationships/slide" Target="slides/slide378.xml"/><Relationship Id="rId430" Type="http://schemas.openxmlformats.org/officeDocument/2006/relationships/slide" Target="slides/slide379.xml"/><Relationship Id="rId431" Type="http://schemas.openxmlformats.org/officeDocument/2006/relationships/slide" Target="slides/slide380.xml"/><Relationship Id="rId432" Type="http://schemas.openxmlformats.org/officeDocument/2006/relationships/slide" Target="slides/slide381.xml"/><Relationship Id="rId433" Type="http://schemas.openxmlformats.org/officeDocument/2006/relationships/slide" Target="slides/slide382.xml"/><Relationship Id="rId434" Type="http://schemas.openxmlformats.org/officeDocument/2006/relationships/slide" Target="slides/slide383.xml"/><Relationship Id="rId435" Type="http://schemas.openxmlformats.org/officeDocument/2006/relationships/slide" Target="slides/slide384.xml"/><Relationship Id="rId436" Type="http://schemas.openxmlformats.org/officeDocument/2006/relationships/slide" Target="slides/slide385.xml"/><Relationship Id="rId437" Type="http://schemas.openxmlformats.org/officeDocument/2006/relationships/slide" Target="slides/slide386.xml"/><Relationship Id="rId438" Type="http://schemas.openxmlformats.org/officeDocument/2006/relationships/slide" Target="slides/slide387.xml"/><Relationship Id="rId439" Type="http://schemas.openxmlformats.org/officeDocument/2006/relationships/slide" Target="slides/slide388.xml"/><Relationship Id="rId440" Type="http://schemas.openxmlformats.org/officeDocument/2006/relationships/slide" Target="slides/slide389.xml"/><Relationship Id="rId441" Type="http://schemas.openxmlformats.org/officeDocument/2006/relationships/slide" Target="slides/slide390.xml"/><Relationship Id="rId442" Type="http://schemas.openxmlformats.org/officeDocument/2006/relationships/slide" Target="slides/slide391.xml"/><Relationship Id="rId443" Type="http://schemas.openxmlformats.org/officeDocument/2006/relationships/slide" Target="slides/slide392.xml"/><Relationship Id="rId444" Type="http://schemas.openxmlformats.org/officeDocument/2006/relationships/slide" Target="slides/slide393.xml"/><Relationship Id="rId445" Type="http://schemas.openxmlformats.org/officeDocument/2006/relationships/slide" Target="slides/slide394.xml"/><Relationship Id="rId446" Type="http://schemas.openxmlformats.org/officeDocument/2006/relationships/slide" Target="slides/slide395.xml"/><Relationship Id="rId447" Type="http://schemas.openxmlformats.org/officeDocument/2006/relationships/slide" Target="slides/slide396.xml"/><Relationship Id="rId448" Type="http://schemas.openxmlformats.org/officeDocument/2006/relationships/slide" Target="slides/slide397.xml"/><Relationship Id="rId449" Type="http://schemas.openxmlformats.org/officeDocument/2006/relationships/slide" Target="slides/slide398.xml"/><Relationship Id="rId450" Type="http://schemas.openxmlformats.org/officeDocument/2006/relationships/slide" Target="slides/slide399.xml"/><Relationship Id="rId451" Type="http://schemas.openxmlformats.org/officeDocument/2006/relationships/slide" Target="slides/slide400.xml"/><Relationship Id="rId452" Type="http://schemas.openxmlformats.org/officeDocument/2006/relationships/slide" Target="slides/slide401.xml"/><Relationship Id="rId453" Type="http://schemas.openxmlformats.org/officeDocument/2006/relationships/slide" Target="slides/slide402.xml"/><Relationship Id="rId454" Type="http://schemas.openxmlformats.org/officeDocument/2006/relationships/slide" Target="slides/slide403.xml"/><Relationship Id="rId455" Type="http://schemas.openxmlformats.org/officeDocument/2006/relationships/slide" Target="slides/slide404.xml"/><Relationship Id="rId456" Type="http://schemas.openxmlformats.org/officeDocument/2006/relationships/slide" Target="slides/slide405.xml"/><Relationship Id="rId457" Type="http://schemas.openxmlformats.org/officeDocument/2006/relationships/slide" Target="slides/slide406.xml"/><Relationship Id="rId458" Type="http://schemas.openxmlformats.org/officeDocument/2006/relationships/slide" Target="slides/slide407.xml"/><Relationship Id="rId459" Type="http://schemas.openxmlformats.org/officeDocument/2006/relationships/slide" Target="slides/slide408.xml"/><Relationship Id="rId460" Type="http://schemas.openxmlformats.org/officeDocument/2006/relationships/slide" Target="slides/slide409.xml"/><Relationship Id="rId461" Type="http://schemas.openxmlformats.org/officeDocument/2006/relationships/slide" Target="slides/slide410.xml"/><Relationship Id="rId462" Type="http://schemas.openxmlformats.org/officeDocument/2006/relationships/slide" Target="slides/slide411.xml"/><Relationship Id="rId463" Type="http://schemas.openxmlformats.org/officeDocument/2006/relationships/slide" Target="slides/slide412.xml"/><Relationship Id="rId464" Type="http://schemas.openxmlformats.org/officeDocument/2006/relationships/slide" Target="slides/slide413.xml"/><Relationship Id="rId465" Type="http://schemas.openxmlformats.org/officeDocument/2006/relationships/slide" Target="slides/slide414.xml"/><Relationship Id="rId466" Type="http://schemas.openxmlformats.org/officeDocument/2006/relationships/slide" Target="slides/slide415.xml"/><Relationship Id="rId467" Type="http://schemas.openxmlformats.org/officeDocument/2006/relationships/slide" Target="slides/slide416.xml"/><Relationship Id="rId468" Type="http://schemas.openxmlformats.org/officeDocument/2006/relationships/slide" Target="slides/slide417.xml"/><Relationship Id="rId469" Type="http://schemas.openxmlformats.org/officeDocument/2006/relationships/slide" Target="slides/slide418.xml"/><Relationship Id="rId470" Type="http://schemas.openxmlformats.org/officeDocument/2006/relationships/slide" Target="slides/slide419.xml"/><Relationship Id="rId471" Type="http://schemas.openxmlformats.org/officeDocument/2006/relationships/slide" Target="slides/slide420.xml"/><Relationship Id="rId472" Type="http://schemas.openxmlformats.org/officeDocument/2006/relationships/slide" Target="slides/slide421.xml"/><Relationship Id="rId473" Type="http://schemas.openxmlformats.org/officeDocument/2006/relationships/slide" Target="slides/slide422.xml"/><Relationship Id="rId474" Type="http://schemas.openxmlformats.org/officeDocument/2006/relationships/slide" Target="slides/slide423.xml"/><Relationship Id="rId475" Type="http://schemas.openxmlformats.org/officeDocument/2006/relationships/slide" Target="slides/slide424.xml"/><Relationship Id="rId476" Type="http://schemas.openxmlformats.org/officeDocument/2006/relationships/slide" Target="slides/slide425.xml"/><Relationship Id="rId477" Type="http://schemas.openxmlformats.org/officeDocument/2006/relationships/slide" Target="slides/slide426.xml"/><Relationship Id="rId478" Type="http://schemas.openxmlformats.org/officeDocument/2006/relationships/slide" Target="slides/slide427.xml"/><Relationship Id="rId479" Type="http://schemas.openxmlformats.org/officeDocument/2006/relationships/slide" Target="slides/slide428.xml"/><Relationship Id="rId480" Type="http://schemas.openxmlformats.org/officeDocument/2006/relationships/slide" Target="slides/slide429.xml"/><Relationship Id="rId481" Type="http://schemas.openxmlformats.org/officeDocument/2006/relationships/slide" Target="slides/slide430.xml"/><Relationship Id="rId482" Type="http://schemas.openxmlformats.org/officeDocument/2006/relationships/slide" Target="slides/slide431.xml"/><Relationship Id="rId483" Type="http://schemas.openxmlformats.org/officeDocument/2006/relationships/slide" Target="slides/slide432.xml"/><Relationship Id="rId484" Type="http://schemas.openxmlformats.org/officeDocument/2006/relationships/slide" Target="slides/slide433.xml"/><Relationship Id="rId485" Type="http://schemas.openxmlformats.org/officeDocument/2006/relationships/slide" Target="slides/slide434.xml"/><Relationship Id="rId486" Type="http://schemas.openxmlformats.org/officeDocument/2006/relationships/slide" Target="slides/slide435.xml"/><Relationship Id="rId487" Type="http://schemas.openxmlformats.org/officeDocument/2006/relationships/slide" Target="slides/slide436.xml"/><Relationship Id="rId488" Type="http://schemas.openxmlformats.org/officeDocument/2006/relationships/slide" Target="slides/slide437.xml"/><Relationship Id="rId489" Type="http://schemas.openxmlformats.org/officeDocument/2006/relationships/slide" Target="slides/slide438.xml"/><Relationship Id="rId490" Type="http://schemas.openxmlformats.org/officeDocument/2006/relationships/slide" Target="slides/slide439.xml"/><Relationship Id="rId491" Type="http://schemas.openxmlformats.org/officeDocument/2006/relationships/slide" Target="slides/slide440.xml"/><Relationship Id="rId492" Type="http://schemas.openxmlformats.org/officeDocument/2006/relationships/slide" Target="slides/slide441.xml"/><Relationship Id="rId493" Type="http://schemas.openxmlformats.org/officeDocument/2006/relationships/slide" Target="slides/slide442.xml"/><Relationship Id="rId494" Type="http://schemas.openxmlformats.org/officeDocument/2006/relationships/slide" Target="slides/slide443.xml"/><Relationship Id="rId495" Type="http://schemas.openxmlformats.org/officeDocument/2006/relationships/slide" Target="slides/slide444.xml"/><Relationship Id="rId496" Type="http://schemas.openxmlformats.org/officeDocument/2006/relationships/slide" Target="slides/slide445.xml"/><Relationship Id="rId497" Type="http://schemas.openxmlformats.org/officeDocument/2006/relationships/slide" Target="slides/slide446.xml"/><Relationship Id="rId498" Type="http://schemas.openxmlformats.org/officeDocument/2006/relationships/slide" Target="slides/slide447.xml"/><Relationship Id="rId499" Type="http://schemas.openxmlformats.org/officeDocument/2006/relationships/slide" Target="slides/slide448.xml"/><Relationship Id="rId500" Type="http://schemas.openxmlformats.org/officeDocument/2006/relationships/slide" Target="slides/slide449.xml"/><Relationship Id="rId501" Type="http://schemas.openxmlformats.org/officeDocument/2006/relationships/slide" Target="slides/slide450.xml"/><Relationship Id="rId502" Type="http://schemas.openxmlformats.org/officeDocument/2006/relationships/slide" Target="slides/slide451.xml"/><Relationship Id="rId503" Type="http://schemas.openxmlformats.org/officeDocument/2006/relationships/slide" Target="slides/slide452.xml"/><Relationship Id="rId504" Type="http://schemas.openxmlformats.org/officeDocument/2006/relationships/slide" Target="slides/slide453.xml"/><Relationship Id="rId505" Type="http://schemas.openxmlformats.org/officeDocument/2006/relationships/slide" Target="slides/slide454.xml"/><Relationship Id="rId506" Type="http://schemas.openxmlformats.org/officeDocument/2006/relationships/slide" Target="slides/slide455.xml"/><Relationship Id="rId507" Type="http://schemas.openxmlformats.org/officeDocument/2006/relationships/slide" Target="slides/slide456.xml"/><Relationship Id="rId508" Type="http://schemas.openxmlformats.org/officeDocument/2006/relationships/slide" Target="slides/slide457.xml"/><Relationship Id="rId509" Type="http://schemas.openxmlformats.org/officeDocument/2006/relationships/slide" Target="slides/slide458.xml"/><Relationship Id="rId510" Type="http://schemas.openxmlformats.org/officeDocument/2006/relationships/slide" Target="slides/slide459.xml"/><Relationship Id="rId511" Type="http://schemas.openxmlformats.org/officeDocument/2006/relationships/slide" Target="slides/slide460.xml"/><Relationship Id="rId512" Type="http://schemas.openxmlformats.org/officeDocument/2006/relationships/slide" Target="slides/slide461.xml"/><Relationship Id="rId513" Type="http://schemas.openxmlformats.org/officeDocument/2006/relationships/slide" Target="slides/slide462.xml"/><Relationship Id="rId514" Type="http://schemas.openxmlformats.org/officeDocument/2006/relationships/slide" Target="slides/slide463.xml"/><Relationship Id="rId515" Type="http://schemas.openxmlformats.org/officeDocument/2006/relationships/slide" Target="slides/slide464.xml"/><Relationship Id="rId516" Type="http://schemas.openxmlformats.org/officeDocument/2006/relationships/slide" Target="slides/slide465.xml"/><Relationship Id="rId517" Type="http://schemas.openxmlformats.org/officeDocument/2006/relationships/slide" Target="slides/slide466.xml"/><Relationship Id="rId518" Type="http://schemas.openxmlformats.org/officeDocument/2006/relationships/slide" Target="slides/slide467.xml"/><Relationship Id="rId519" Type="http://schemas.openxmlformats.org/officeDocument/2006/relationships/slide" Target="slides/slide468.xml"/><Relationship Id="rId520" Type="http://schemas.openxmlformats.org/officeDocument/2006/relationships/slide" Target="slides/slide469.xml"/><Relationship Id="rId521" Type="http://schemas.openxmlformats.org/officeDocument/2006/relationships/slide" Target="slides/slide470.xml"/><Relationship Id="rId522" Type="http://schemas.openxmlformats.org/officeDocument/2006/relationships/slide" Target="slides/slide471.xml"/><Relationship Id="rId523" Type="http://schemas.openxmlformats.org/officeDocument/2006/relationships/slide" Target="slides/slide472.xml"/><Relationship Id="rId524" Type="http://schemas.openxmlformats.org/officeDocument/2006/relationships/slide" Target="slides/slide473.xml"/><Relationship Id="rId525" Type="http://schemas.openxmlformats.org/officeDocument/2006/relationships/slide" Target="slides/slide474.xml"/><Relationship Id="rId526" Type="http://schemas.openxmlformats.org/officeDocument/2006/relationships/slide" Target="slides/slide475.xml"/><Relationship Id="rId527" Type="http://schemas.openxmlformats.org/officeDocument/2006/relationships/slide" Target="slides/slide476.xml"/><Relationship Id="rId528" Type="http://schemas.openxmlformats.org/officeDocument/2006/relationships/slide" Target="slides/slide477.xml"/><Relationship Id="rId529" Type="http://schemas.openxmlformats.org/officeDocument/2006/relationships/slide" Target="slides/slide478.xml"/><Relationship Id="rId530" Type="http://schemas.openxmlformats.org/officeDocument/2006/relationships/slide" Target="slides/slide479.xml"/><Relationship Id="rId531" Type="http://schemas.openxmlformats.org/officeDocument/2006/relationships/slide" Target="slides/slide480.xml"/><Relationship Id="rId532" Type="http://schemas.openxmlformats.org/officeDocument/2006/relationships/slide" Target="slides/slide481.xml"/><Relationship Id="rId533" Type="http://schemas.openxmlformats.org/officeDocument/2006/relationships/slide" Target="slides/slide482.xml"/><Relationship Id="rId534" Type="http://schemas.openxmlformats.org/officeDocument/2006/relationships/slide" Target="slides/slide483.xml"/><Relationship Id="rId535" Type="http://schemas.openxmlformats.org/officeDocument/2006/relationships/slide" Target="slides/slide484.xml"/><Relationship Id="rId536" Type="http://schemas.openxmlformats.org/officeDocument/2006/relationships/slide" Target="slides/slide485.xml"/><Relationship Id="rId537" Type="http://schemas.openxmlformats.org/officeDocument/2006/relationships/slide" Target="slides/slide486.xml"/><Relationship Id="rId538" Type="http://schemas.openxmlformats.org/officeDocument/2006/relationships/slide" Target="slides/slide487.xml"/><Relationship Id="rId539" Type="http://schemas.openxmlformats.org/officeDocument/2006/relationships/slide" Target="slides/slide488.xml"/><Relationship Id="rId540" Type="http://schemas.openxmlformats.org/officeDocument/2006/relationships/slide" Target="slides/slide489.xml"/><Relationship Id="rId541" Type="http://schemas.openxmlformats.org/officeDocument/2006/relationships/slide" Target="slides/slide490.xml"/><Relationship Id="rId542" Type="http://schemas.openxmlformats.org/officeDocument/2006/relationships/slide" Target="slides/slide491.xml"/><Relationship Id="rId543" Type="http://schemas.openxmlformats.org/officeDocument/2006/relationships/slide" Target="slides/slide492.xml"/><Relationship Id="rId544" Type="http://schemas.openxmlformats.org/officeDocument/2006/relationships/slide" Target="slides/slide493.xml"/><Relationship Id="rId545" Type="http://schemas.openxmlformats.org/officeDocument/2006/relationships/slide" Target="slides/slide494.xml"/><Relationship Id="rId546" Type="http://schemas.openxmlformats.org/officeDocument/2006/relationships/slide" Target="slides/slide495.xml"/><Relationship Id="rId547" Type="http://schemas.openxmlformats.org/officeDocument/2006/relationships/slide" Target="slides/slide496.xml"/><Relationship Id="rId548" Type="http://schemas.openxmlformats.org/officeDocument/2006/relationships/slide" Target="slides/slide497.xml"/><Relationship Id="rId549" Type="http://schemas.openxmlformats.org/officeDocument/2006/relationships/slide" Target="slides/slide498.xml"/><Relationship Id="rId550" Type="http://schemas.openxmlformats.org/officeDocument/2006/relationships/slide" Target="slides/slide499.xml"/><Relationship Id="rId551" Type="http://schemas.openxmlformats.org/officeDocument/2006/relationships/slide" Target="slides/slide500.xml"/><Relationship Id="rId552" Type="http://schemas.openxmlformats.org/officeDocument/2006/relationships/slide" Target="slides/slide501.xml"/><Relationship Id="rId553" Type="http://schemas.openxmlformats.org/officeDocument/2006/relationships/slide" Target="slides/slide502.xml"/><Relationship Id="rId554" Type="http://schemas.openxmlformats.org/officeDocument/2006/relationships/slide" Target="slides/slide503.xml"/><Relationship Id="rId555" Type="http://schemas.openxmlformats.org/officeDocument/2006/relationships/slide" Target="slides/slide504.xml"/><Relationship Id="rId556" Type="http://schemas.openxmlformats.org/officeDocument/2006/relationships/slide" Target="slides/slide505.xml"/><Relationship Id="rId557" Type="http://schemas.openxmlformats.org/officeDocument/2006/relationships/slide" Target="slides/slide506.xml"/><Relationship Id="rId558" Type="http://schemas.openxmlformats.org/officeDocument/2006/relationships/slide" Target="slides/slide507.xml"/><Relationship Id="rId559" Type="http://schemas.openxmlformats.org/officeDocument/2006/relationships/slide" Target="slides/slide508.xml"/><Relationship Id="rId560" Type="http://schemas.openxmlformats.org/officeDocument/2006/relationships/slide" Target="slides/slide509.xml"/><Relationship Id="rId561" Type="http://schemas.openxmlformats.org/officeDocument/2006/relationships/slide" Target="slides/slide510.xml"/><Relationship Id="rId562" Type="http://schemas.openxmlformats.org/officeDocument/2006/relationships/slide" Target="slides/slide511.xml"/><Relationship Id="rId563" Type="http://schemas.openxmlformats.org/officeDocument/2006/relationships/slide" Target="slides/slide512.xml"/><Relationship Id="rId564" Type="http://schemas.openxmlformats.org/officeDocument/2006/relationships/slide" Target="slides/slide513.xml"/><Relationship Id="rId565" Type="http://schemas.openxmlformats.org/officeDocument/2006/relationships/slide" Target="slides/slide514.xml"/><Relationship Id="rId566" Type="http://schemas.openxmlformats.org/officeDocument/2006/relationships/slide" Target="slides/slide515.xml"/><Relationship Id="rId567" Type="http://schemas.openxmlformats.org/officeDocument/2006/relationships/slide" Target="slides/slide516.xml"/><Relationship Id="rId568" Type="http://schemas.openxmlformats.org/officeDocument/2006/relationships/slide" Target="slides/slide517.xml"/><Relationship Id="rId569" Type="http://schemas.openxmlformats.org/officeDocument/2006/relationships/slide" Target="slides/slide518.xml"/><Relationship Id="rId570" Type="http://schemas.openxmlformats.org/officeDocument/2006/relationships/slide" Target="slides/slide519.xml"/><Relationship Id="rId571" Type="http://schemas.openxmlformats.org/officeDocument/2006/relationships/slide" Target="slides/slide520.xml"/><Relationship Id="rId572" Type="http://schemas.openxmlformats.org/officeDocument/2006/relationships/slide" Target="slides/slide521.xml"/><Relationship Id="rId573" Type="http://schemas.openxmlformats.org/officeDocument/2006/relationships/slide" Target="slides/slide522.xml"/><Relationship Id="rId574" Type="http://schemas.openxmlformats.org/officeDocument/2006/relationships/slide" Target="slides/slide523.xml"/><Relationship Id="rId575" Type="http://schemas.openxmlformats.org/officeDocument/2006/relationships/slide" Target="slides/slide524.xml"/><Relationship Id="rId576" Type="http://schemas.openxmlformats.org/officeDocument/2006/relationships/slide" Target="slides/slide525.xml"/><Relationship Id="rId577" Type="http://schemas.openxmlformats.org/officeDocument/2006/relationships/slide" Target="slides/slide526.xml"/><Relationship Id="rId578" Type="http://schemas.openxmlformats.org/officeDocument/2006/relationships/slide" Target="slides/slide527.xml"/><Relationship Id="rId579" Type="http://schemas.openxmlformats.org/officeDocument/2006/relationships/slide" Target="slides/slide528.xml"/><Relationship Id="rId580" Type="http://schemas.openxmlformats.org/officeDocument/2006/relationships/slide" Target="slides/slide529.xml"/><Relationship Id="rId581" Type="http://schemas.openxmlformats.org/officeDocument/2006/relationships/slide" Target="slides/slide530.xml"/><Relationship Id="rId582" Type="http://schemas.openxmlformats.org/officeDocument/2006/relationships/slide" Target="slides/slide531.xml"/><Relationship Id="rId583" Type="http://schemas.openxmlformats.org/officeDocument/2006/relationships/slide" Target="slides/slide532.xml"/><Relationship Id="rId584" Type="http://schemas.openxmlformats.org/officeDocument/2006/relationships/slide" Target="slides/slide533.xml"/><Relationship Id="rId585" Type="http://schemas.openxmlformats.org/officeDocument/2006/relationships/slide" Target="slides/slide534.xml"/><Relationship Id="rId586" Type="http://schemas.openxmlformats.org/officeDocument/2006/relationships/slide" Target="slides/slide535.xml"/><Relationship Id="rId587" Type="http://schemas.openxmlformats.org/officeDocument/2006/relationships/slide" Target="slides/slide536.xml"/><Relationship Id="rId588" Type="http://schemas.openxmlformats.org/officeDocument/2006/relationships/slide" Target="slides/slide537.xml"/><Relationship Id="rId589" Type="http://schemas.openxmlformats.org/officeDocument/2006/relationships/slide" Target="slides/slide538.xml"/><Relationship Id="rId590" Type="http://schemas.openxmlformats.org/officeDocument/2006/relationships/slide" Target="slides/slide539.xml"/><Relationship Id="rId591" Type="http://schemas.openxmlformats.org/officeDocument/2006/relationships/slide" Target="slides/slide540.xml"/><Relationship Id="rId592" Type="http://schemas.openxmlformats.org/officeDocument/2006/relationships/slide" Target="slides/slide541.xml"/><Relationship Id="rId593" Type="http://schemas.openxmlformats.org/officeDocument/2006/relationships/slide" Target="slides/slide542.xml"/><Relationship Id="rId594" Type="http://schemas.openxmlformats.org/officeDocument/2006/relationships/slide" Target="slides/slide543.xml"/><Relationship Id="rId595" Type="http://schemas.openxmlformats.org/officeDocument/2006/relationships/slide" Target="slides/slide544.xml"/><Relationship Id="rId596" Type="http://schemas.openxmlformats.org/officeDocument/2006/relationships/slide" Target="slides/slide545.xml"/><Relationship Id="rId597" Type="http://schemas.openxmlformats.org/officeDocument/2006/relationships/slide" Target="slides/slide546.xml"/><Relationship Id="rId598" Type="http://schemas.openxmlformats.org/officeDocument/2006/relationships/slide" Target="slides/slide547.xml"/><Relationship Id="rId599" Type="http://schemas.openxmlformats.org/officeDocument/2006/relationships/slide" Target="slides/slide548.xml"/><Relationship Id="rId600" Type="http://schemas.openxmlformats.org/officeDocument/2006/relationships/slide" Target="slides/slide549.xml"/><Relationship Id="rId601" Type="http://schemas.openxmlformats.org/officeDocument/2006/relationships/slide" Target="slides/slide550.xml"/><Relationship Id="rId602" Type="http://schemas.openxmlformats.org/officeDocument/2006/relationships/slide" Target="slides/slide551.xml"/><Relationship Id="rId603" Type="http://schemas.openxmlformats.org/officeDocument/2006/relationships/slide" Target="slides/slide552.xml"/><Relationship Id="rId604" Type="http://schemas.openxmlformats.org/officeDocument/2006/relationships/slide" Target="slides/slide553.xml"/><Relationship Id="rId605" Type="http://schemas.openxmlformats.org/officeDocument/2006/relationships/slide" Target="slides/slide554.xml"/><Relationship Id="rId606" Type="http://schemas.openxmlformats.org/officeDocument/2006/relationships/slide" Target="slides/slide555.xml"/><Relationship Id="rId607" Type="http://schemas.openxmlformats.org/officeDocument/2006/relationships/slide" Target="slides/slide556.xml"/><Relationship Id="rId608" Type="http://schemas.openxmlformats.org/officeDocument/2006/relationships/slide" Target="slides/slide557.xml"/><Relationship Id="rId609" Type="http://schemas.openxmlformats.org/officeDocument/2006/relationships/slide" Target="slides/slide558.xml"/><Relationship Id="rId610" Type="http://schemas.openxmlformats.org/officeDocument/2006/relationships/slide" Target="slides/slide559.xml"/><Relationship Id="rId611" Type="http://schemas.openxmlformats.org/officeDocument/2006/relationships/slide" Target="slides/slide560.xml"/><Relationship Id="rId612" Type="http://schemas.openxmlformats.org/officeDocument/2006/relationships/slide" Target="slides/slide561.xml"/><Relationship Id="rId613" Type="http://schemas.openxmlformats.org/officeDocument/2006/relationships/slide" Target="slides/slide562.xml"/><Relationship Id="rId614" Type="http://schemas.openxmlformats.org/officeDocument/2006/relationships/slide" Target="slides/slide563.xml"/><Relationship Id="rId615" Type="http://schemas.openxmlformats.org/officeDocument/2006/relationships/slide" Target="slides/slide564.xml"/><Relationship Id="rId616" Type="http://schemas.openxmlformats.org/officeDocument/2006/relationships/slide" Target="slides/slide565.xml"/><Relationship Id="rId617" Type="http://schemas.openxmlformats.org/officeDocument/2006/relationships/slide" Target="slides/slide566.xml"/><Relationship Id="rId618" Type="http://schemas.openxmlformats.org/officeDocument/2006/relationships/slide" Target="slides/slide567.xml"/><Relationship Id="rId619" Type="http://schemas.openxmlformats.org/officeDocument/2006/relationships/slide" Target="slides/slide568.xml"/><Relationship Id="rId620" Type="http://schemas.openxmlformats.org/officeDocument/2006/relationships/slide" Target="slides/slide569.xml"/><Relationship Id="rId621" Type="http://schemas.openxmlformats.org/officeDocument/2006/relationships/slide" Target="slides/slide570.xml"/><Relationship Id="rId622" Type="http://schemas.openxmlformats.org/officeDocument/2006/relationships/slide" Target="slides/slide571.xml"/><Relationship Id="rId623" Type="http://schemas.openxmlformats.org/officeDocument/2006/relationships/slide" Target="slides/slide572.xml"/><Relationship Id="rId624" Type="http://schemas.openxmlformats.org/officeDocument/2006/relationships/slide" Target="slides/slide573.xml"/><Relationship Id="rId625" Type="http://schemas.openxmlformats.org/officeDocument/2006/relationships/slide" Target="slides/slide574.xml"/><Relationship Id="rId626" Type="http://schemas.openxmlformats.org/officeDocument/2006/relationships/slide" Target="slides/slide575.xml"/><Relationship Id="rId627" Type="http://schemas.openxmlformats.org/officeDocument/2006/relationships/slide" Target="slides/slide576.xml"/><Relationship Id="rId628" Type="http://schemas.openxmlformats.org/officeDocument/2006/relationships/slide" Target="slides/slide577.xml"/><Relationship Id="rId629" Type="http://schemas.openxmlformats.org/officeDocument/2006/relationships/slide" Target="slides/slide578.xml"/><Relationship Id="rId630" Type="http://schemas.openxmlformats.org/officeDocument/2006/relationships/slide" Target="slides/slide579.xml"/><Relationship Id="rId631" Type="http://schemas.openxmlformats.org/officeDocument/2006/relationships/slide" Target="slides/slide580.xml"/><Relationship Id="rId632" Type="http://schemas.openxmlformats.org/officeDocument/2006/relationships/slide" Target="slides/slide581.xml"/><Relationship Id="rId633" Type="http://schemas.openxmlformats.org/officeDocument/2006/relationships/slide" Target="slides/slide582.xml"/><Relationship Id="rId634" Type="http://schemas.openxmlformats.org/officeDocument/2006/relationships/slide" Target="slides/slide583.xml"/><Relationship Id="rId635" Type="http://schemas.openxmlformats.org/officeDocument/2006/relationships/slide" Target="slides/slide584.xml"/><Relationship Id="rId636" Type="http://schemas.openxmlformats.org/officeDocument/2006/relationships/slide" Target="slides/slide585.xml"/><Relationship Id="rId637" Type="http://schemas.openxmlformats.org/officeDocument/2006/relationships/slide" Target="slides/slide586.xml"/><Relationship Id="rId638" Type="http://schemas.openxmlformats.org/officeDocument/2006/relationships/slide" Target="slides/slide587.xml"/><Relationship Id="rId639" Type="http://schemas.openxmlformats.org/officeDocument/2006/relationships/slide" Target="slides/slide588.xml"/><Relationship Id="rId640" Type="http://schemas.openxmlformats.org/officeDocument/2006/relationships/slide" Target="slides/slide589.xml"/><Relationship Id="rId641" Type="http://schemas.openxmlformats.org/officeDocument/2006/relationships/slide" Target="slides/slide590.xml"/><Relationship Id="rId642" Type="http://schemas.openxmlformats.org/officeDocument/2006/relationships/slide" Target="slides/slide591.xml"/><Relationship Id="rId643" Type="http://schemas.openxmlformats.org/officeDocument/2006/relationships/slide" Target="slides/slide592.xml"/><Relationship Id="rId644" Type="http://schemas.openxmlformats.org/officeDocument/2006/relationships/slide" Target="slides/slide593.xml"/><Relationship Id="rId645" Type="http://schemas.openxmlformats.org/officeDocument/2006/relationships/slide" Target="slides/slide594.xml"/><Relationship Id="rId646" Type="http://schemas.openxmlformats.org/officeDocument/2006/relationships/slide" Target="slides/slide595.xml"/><Relationship Id="rId647" Type="http://schemas.openxmlformats.org/officeDocument/2006/relationships/slide" Target="slides/slide596.xml"/><Relationship Id="rId648" Type="http://schemas.openxmlformats.org/officeDocument/2006/relationships/slide" Target="slides/slide597.xml"/><Relationship Id="rId649" Type="http://schemas.openxmlformats.org/officeDocument/2006/relationships/slide" Target="slides/slide598.xml"/><Relationship Id="rId650" Type="http://schemas.openxmlformats.org/officeDocument/2006/relationships/slide" Target="slides/slide599.xml"/><Relationship Id="rId651" Type="http://schemas.openxmlformats.org/officeDocument/2006/relationships/slide" Target="slides/slide600.xml"/><Relationship Id="rId652" Type="http://schemas.openxmlformats.org/officeDocument/2006/relationships/slide" Target="slides/slide601.xml"/><Relationship Id="rId653" Type="http://schemas.openxmlformats.org/officeDocument/2006/relationships/slide" Target="slides/slide602.xml"/><Relationship Id="rId654" Type="http://schemas.openxmlformats.org/officeDocument/2006/relationships/slide" Target="slides/slide603.xml"/><Relationship Id="rId655" Type="http://schemas.openxmlformats.org/officeDocument/2006/relationships/slide" Target="slides/slide604.xml"/><Relationship Id="rId656" Type="http://schemas.openxmlformats.org/officeDocument/2006/relationships/slide" Target="slides/slide605.xml"/><Relationship Id="rId657" Type="http://schemas.openxmlformats.org/officeDocument/2006/relationships/slide" Target="slides/slide606.xml"/><Relationship Id="rId658" Type="http://schemas.openxmlformats.org/officeDocument/2006/relationships/slide" Target="slides/slide607.xml"/><Relationship Id="rId659" Type="http://schemas.openxmlformats.org/officeDocument/2006/relationships/slide" Target="slides/slide608.xml"/><Relationship Id="rId660" Type="http://schemas.openxmlformats.org/officeDocument/2006/relationships/slide" Target="slides/slide609.xml"/><Relationship Id="rId661" Type="http://schemas.openxmlformats.org/officeDocument/2006/relationships/slide" Target="slides/slide610.xml"/><Relationship Id="rId662" Type="http://schemas.openxmlformats.org/officeDocument/2006/relationships/slide" Target="slides/slide611.xml"/><Relationship Id="rId663" Type="http://schemas.openxmlformats.org/officeDocument/2006/relationships/slide" Target="slides/slide612.xml"/><Relationship Id="rId664" Type="http://schemas.openxmlformats.org/officeDocument/2006/relationships/slide" Target="slides/slide613.xml"/><Relationship Id="rId665" Type="http://schemas.openxmlformats.org/officeDocument/2006/relationships/slide" Target="slides/slide614.xml"/><Relationship Id="rId666" Type="http://schemas.openxmlformats.org/officeDocument/2006/relationships/slide" Target="slides/slide615.xml"/><Relationship Id="rId667" Type="http://schemas.openxmlformats.org/officeDocument/2006/relationships/slide" Target="slides/slide616.xml"/><Relationship Id="rId668" Type="http://schemas.openxmlformats.org/officeDocument/2006/relationships/slide" Target="slides/slide617.xml"/><Relationship Id="rId669" Type="http://schemas.openxmlformats.org/officeDocument/2006/relationships/slide" Target="slides/slide618.xml"/><Relationship Id="rId670" Type="http://schemas.openxmlformats.org/officeDocument/2006/relationships/slide" Target="slides/slide619.xml"/><Relationship Id="rId671" Type="http://schemas.openxmlformats.org/officeDocument/2006/relationships/slide" Target="slides/slide620.xml"/><Relationship Id="rId672" Type="http://schemas.openxmlformats.org/officeDocument/2006/relationships/slide" Target="slides/slide621.xml"/><Relationship Id="rId673" Type="http://schemas.openxmlformats.org/officeDocument/2006/relationships/slide" Target="slides/slide622.xml"/><Relationship Id="rId674" Type="http://schemas.openxmlformats.org/officeDocument/2006/relationships/slide" Target="slides/slide623.xml"/><Relationship Id="rId675" Type="http://schemas.openxmlformats.org/officeDocument/2006/relationships/slide" Target="slides/slide624.xml"/><Relationship Id="rId676" Type="http://schemas.openxmlformats.org/officeDocument/2006/relationships/slide" Target="slides/slide625.xml"/><Relationship Id="rId677" Type="http://schemas.openxmlformats.org/officeDocument/2006/relationships/slide" Target="slides/slide626.xml"/><Relationship Id="rId678" Type="http://schemas.openxmlformats.org/officeDocument/2006/relationships/slide" Target="slides/slide627.xml"/><Relationship Id="rId679" Type="http://schemas.openxmlformats.org/officeDocument/2006/relationships/slide" Target="slides/slide628.xml"/><Relationship Id="rId680" Type="http://schemas.openxmlformats.org/officeDocument/2006/relationships/slide" Target="slides/slide629.xml"/><Relationship Id="rId681" Type="http://schemas.openxmlformats.org/officeDocument/2006/relationships/slide" Target="slides/slide630.xml"/><Relationship Id="rId682" Type="http://schemas.openxmlformats.org/officeDocument/2006/relationships/slide" Target="slides/slide631.xml"/><Relationship Id="rId683" Type="http://schemas.openxmlformats.org/officeDocument/2006/relationships/slide" Target="slides/slide632.xml"/><Relationship Id="rId684" Type="http://schemas.openxmlformats.org/officeDocument/2006/relationships/slide" Target="slides/slide633.xml"/><Relationship Id="rId685" Type="http://schemas.openxmlformats.org/officeDocument/2006/relationships/slide" Target="slides/slide634.xml"/><Relationship Id="rId686" Type="http://schemas.openxmlformats.org/officeDocument/2006/relationships/slide" Target="slides/slide635.xml"/><Relationship Id="rId687" Type="http://schemas.openxmlformats.org/officeDocument/2006/relationships/slide" Target="slides/slide636.xml"/><Relationship Id="rId688" Type="http://schemas.openxmlformats.org/officeDocument/2006/relationships/slide" Target="slides/slide637.xml"/><Relationship Id="rId689" Type="http://schemas.openxmlformats.org/officeDocument/2006/relationships/slide" Target="slides/slide638.xml"/><Relationship Id="rId690" Type="http://schemas.openxmlformats.org/officeDocument/2006/relationships/slide" Target="slides/slide639.xml"/><Relationship Id="rId691" Type="http://schemas.openxmlformats.org/officeDocument/2006/relationships/slide" Target="slides/slide640.xml"/><Relationship Id="rId692" Type="http://schemas.openxmlformats.org/officeDocument/2006/relationships/slide" Target="slides/slide641.xml"/><Relationship Id="rId693" Type="http://schemas.openxmlformats.org/officeDocument/2006/relationships/slide" Target="slides/slide642.xml"/><Relationship Id="rId694" Type="http://schemas.openxmlformats.org/officeDocument/2006/relationships/slide" Target="slides/slide643.xml"/><Relationship Id="rId695" Type="http://schemas.openxmlformats.org/officeDocument/2006/relationships/slide" Target="slides/slide644.xml"/><Relationship Id="rId696" Type="http://schemas.openxmlformats.org/officeDocument/2006/relationships/slide" Target="slides/slide645.xml"/><Relationship Id="rId697" Type="http://schemas.openxmlformats.org/officeDocument/2006/relationships/slide" Target="slides/slide646.xml"/><Relationship Id="rId698" Type="http://schemas.openxmlformats.org/officeDocument/2006/relationships/slide" Target="slides/slide647.xml"/><Relationship Id="rId699" Type="http://schemas.openxmlformats.org/officeDocument/2006/relationships/slide" Target="slides/slide648.xml"/><Relationship Id="rId700" Type="http://schemas.openxmlformats.org/officeDocument/2006/relationships/slide" Target="slides/slide649.xml"/><Relationship Id="rId701" Type="http://schemas.openxmlformats.org/officeDocument/2006/relationships/slide" Target="slides/slide650.xml"/><Relationship Id="rId702" Type="http://schemas.openxmlformats.org/officeDocument/2006/relationships/slide" Target="slides/slide651.xml"/><Relationship Id="rId703" Type="http://schemas.openxmlformats.org/officeDocument/2006/relationships/slide" Target="slides/slide652.xml"/><Relationship Id="rId704" Type="http://schemas.openxmlformats.org/officeDocument/2006/relationships/slide" Target="slides/slide653.xml"/><Relationship Id="rId705" Type="http://schemas.openxmlformats.org/officeDocument/2006/relationships/slide" Target="slides/slide654.xml"/><Relationship Id="rId706" Type="http://schemas.openxmlformats.org/officeDocument/2006/relationships/slide" Target="slides/slide655.xml"/><Relationship Id="rId707" Type="http://schemas.openxmlformats.org/officeDocument/2006/relationships/slide" Target="slides/slide656.xml"/><Relationship Id="rId708" Type="http://schemas.openxmlformats.org/officeDocument/2006/relationships/slide" Target="slides/slide657.xml"/><Relationship Id="rId709" Type="http://schemas.openxmlformats.org/officeDocument/2006/relationships/slide" Target="slides/slide658.xml"/><Relationship Id="rId710" Type="http://schemas.openxmlformats.org/officeDocument/2006/relationships/slide" Target="slides/slide659.xml"/><Relationship Id="rId711" Type="http://schemas.openxmlformats.org/officeDocument/2006/relationships/slide" Target="slides/slide660.xml"/><Relationship Id="rId712" Type="http://schemas.openxmlformats.org/officeDocument/2006/relationships/slide" Target="slides/slide661.xml"/><Relationship Id="rId713" Type="http://schemas.openxmlformats.org/officeDocument/2006/relationships/slide" Target="slides/slide662.xml"/><Relationship Id="rId714" Type="http://schemas.openxmlformats.org/officeDocument/2006/relationships/slide" Target="slides/slide663.xml"/><Relationship Id="rId715" Type="http://schemas.openxmlformats.org/officeDocument/2006/relationships/slide" Target="slides/slide664.xml"/><Relationship Id="rId716" Type="http://schemas.openxmlformats.org/officeDocument/2006/relationships/slide" Target="slides/slide665.xml"/><Relationship Id="rId717" Type="http://schemas.openxmlformats.org/officeDocument/2006/relationships/slide" Target="slides/slide666.xml"/><Relationship Id="rId718" Type="http://schemas.openxmlformats.org/officeDocument/2006/relationships/slide" Target="slides/slide667.xml"/><Relationship Id="rId719" Type="http://schemas.openxmlformats.org/officeDocument/2006/relationships/slide" Target="slides/slide668.xml"/><Relationship Id="rId720" Type="http://schemas.openxmlformats.org/officeDocument/2006/relationships/slide" Target="slides/slide669.xml"/><Relationship Id="rId721" Type="http://schemas.openxmlformats.org/officeDocument/2006/relationships/slide" Target="slides/slide670.xml"/><Relationship Id="rId722" Type="http://schemas.openxmlformats.org/officeDocument/2006/relationships/slide" Target="slides/slide671.xml"/><Relationship Id="rId723" Type="http://schemas.openxmlformats.org/officeDocument/2006/relationships/slide" Target="slides/slide672.xml"/><Relationship Id="rId724" Type="http://schemas.openxmlformats.org/officeDocument/2006/relationships/slide" Target="slides/slide673.xml"/><Relationship Id="rId725" Type="http://schemas.openxmlformats.org/officeDocument/2006/relationships/slide" Target="slides/slide674.xml"/><Relationship Id="rId726" Type="http://schemas.openxmlformats.org/officeDocument/2006/relationships/slide" Target="slides/slide675.xml"/><Relationship Id="rId727" Type="http://schemas.openxmlformats.org/officeDocument/2006/relationships/slide" Target="slides/slide676.xml"/><Relationship Id="rId728" Type="http://schemas.openxmlformats.org/officeDocument/2006/relationships/slide" Target="slides/slide677.xml"/><Relationship Id="rId729" Type="http://schemas.openxmlformats.org/officeDocument/2006/relationships/slide" Target="slides/slide678.xml"/><Relationship Id="rId730" Type="http://schemas.openxmlformats.org/officeDocument/2006/relationships/slide" Target="slides/slide679.xml"/><Relationship Id="rId731" Type="http://schemas.openxmlformats.org/officeDocument/2006/relationships/slide" Target="slides/slide680.xml"/><Relationship Id="rId732" Type="http://schemas.openxmlformats.org/officeDocument/2006/relationships/slide" Target="slides/slide681.xml"/><Relationship Id="rId733" Type="http://schemas.openxmlformats.org/officeDocument/2006/relationships/slide" Target="slides/slide682.xml"/><Relationship Id="rId734" Type="http://schemas.openxmlformats.org/officeDocument/2006/relationships/slide" Target="slides/slide683.xml"/><Relationship Id="rId735" Type="http://schemas.openxmlformats.org/officeDocument/2006/relationships/slide" Target="slides/slide684.xml"/><Relationship Id="rId736" Type="http://schemas.openxmlformats.org/officeDocument/2006/relationships/slide" Target="slides/slide685.xml"/><Relationship Id="rId737" Type="http://schemas.openxmlformats.org/officeDocument/2006/relationships/slide" Target="slides/slide686.xml"/><Relationship Id="rId738" Type="http://schemas.openxmlformats.org/officeDocument/2006/relationships/slide" Target="slides/slide687.xml"/><Relationship Id="rId739" Type="http://schemas.openxmlformats.org/officeDocument/2006/relationships/slide" Target="slides/slide688.xml"/><Relationship Id="rId740" Type="http://schemas.openxmlformats.org/officeDocument/2006/relationships/slide" Target="slides/slide689.xml"/><Relationship Id="rId741" Type="http://schemas.openxmlformats.org/officeDocument/2006/relationships/slide" Target="slides/slide690.xml"/><Relationship Id="rId742" Type="http://schemas.openxmlformats.org/officeDocument/2006/relationships/slide" Target="slides/slide691.xml"/><Relationship Id="rId743" Type="http://schemas.openxmlformats.org/officeDocument/2006/relationships/slide" Target="slides/slide692.xml"/><Relationship Id="rId744" Type="http://schemas.openxmlformats.org/officeDocument/2006/relationships/slide" Target="slides/slide693.xml"/><Relationship Id="rId745" Type="http://schemas.openxmlformats.org/officeDocument/2006/relationships/slide" Target="slides/slide694.xml"/><Relationship Id="rId746" Type="http://schemas.openxmlformats.org/officeDocument/2006/relationships/slide" Target="slides/slide695.xml"/><Relationship Id="rId747" Type="http://schemas.openxmlformats.org/officeDocument/2006/relationships/slide" Target="slides/slide696.xml"/><Relationship Id="rId748" Type="http://schemas.openxmlformats.org/officeDocument/2006/relationships/slide" Target="slides/slide697.xml"/><Relationship Id="rId749" Type="http://schemas.openxmlformats.org/officeDocument/2006/relationships/slide" Target="slides/slide698.xml"/><Relationship Id="rId750" Type="http://schemas.openxmlformats.org/officeDocument/2006/relationships/slide" Target="slides/slide699.xml"/><Relationship Id="rId751" Type="http://schemas.openxmlformats.org/officeDocument/2006/relationships/slide" Target="slides/slide700.xml"/><Relationship Id="rId752" Type="http://schemas.openxmlformats.org/officeDocument/2006/relationships/slide" Target="slides/slide701.xml"/><Relationship Id="rId753" Type="http://schemas.openxmlformats.org/officeDocument/2006/relationships/slide" Target="slides/slide702.xml"/><Relationship Id="rId754" Type="http://schemas.openxmlformats.org/officeDocument/2006/relationships/slide" Target="slides/slide703.xml"/><Relationship Id="rId755" Type="http://schemas.openxmlformats.org/officeDocument/2006/relationships/slide" Target="slides/slide704.xml"/><Relationship Id="rId756" Type="http://schemas.openxmlformats.org/officeDocument/2006/relationships/slide" Target="slides/slide705.xml"/><Relationship Id="rId757" Type="http://schemas.openxmlformats.org/officeDocument/2006/relationships/slide" Target="slides/slide706.xml"/><Relationship Id="rId758" Type="http://schemas.openxmlformats.org/officeDocument/2006/relationships/slide" Target="slides/slide707.xml"/><Relationship Id="rId759" Type="http://schemas.openxmlformats.org/officeDocument/2006/relationships/slide" Target="slides/slide708.xml"/><Relationship Id="rId760" Type="http://schemas.openxmlformats.org/officeDocument/2006/relationships/slide" Target="slides/slide709.xml"/><Relationship Id="rId761" Type="http://schemas.openxmlformats.org/officeDocument/2006/relationships/slide" Target="slides/slide710.xml"/><Relationship Id="rId762" Type="http://schemas.openxmlformats.org/officeDocument/2006/relationships/slide" Target="slides/slide711.xml"/><Relationship Id="rId763" Type="http://schemas.openxmlformats.org/officeDocument/2006/relationships/slide" Target="slides/slide712.xml"/><Relationship Id="rId764" Type="http://schemas.openxmlformats.org/officeDocument/2006/relationships/slide" Target="slides/slide713.xml"/><Relationship Id="rId765" Type="http://schemas.openxmlformats.org/officeDocument/2006/relationships/slide" Target="slides/slide714.xml"/><Relationship Id="rId766" Type="http://schemas.openxmlformats.org/officeDocument/2006/relationships/slide" Target="slides/slide715.xml"/><Relationship Id="rId767" Type="http://schemas.openxmlformats.org/officeDocument/2006/relationships/slide" Target="slides/slide716.xml"/><Relationship Id="rId768" Type="http://schemas.openxmlformats.org/officeDocument/2006/relationships/slide" Target="slides/slide717.xml"/><Relationship Id="rId769" Type="http://schemas.openxmlformats.org/officeDocument/2006/relationships/slide" Target="slides/slide718.xml"/><Relationship Id="rId770" Type="http://schemas.openxmlformats.org/officeDocument/2006/relationships/slide" Target="slides/slide719.xml"/><Relationship Id="rId771" Type="http://schemas.openxmlformats.org/officeDocument/2006/relationships/slide" Target="slides/slide720.xml"/><Relationship Id="rId772" Type="http://schemas.openxmlformats.org/officeDocument/2006/relationships/slide" Target="slides/slide721.xml"/><Relationship Id="rId773" Type="http://schemas.openxmlformats.org/officeDocument/2006/relationships/slide" Target="slides/slide722.xml"/><Relationship Id="rId774" Type="http://schemas.openxmlformats.org/officeDocument/2006/relationships/slide" Target="slides/slide723.xml"/><Relationship Id="rId775" Type="http://schemas.openxmlformats.org/officeDocument/2006/relationships/slide" Target="slides/slide724.xml"/><Relationship Id="rId776" Type="http://schemas.openxmlformats.org/officeDocument/2006/relationships/slide" Target="slides/slide725.xml"/><Relationship Id="rId777" Type="http://schemas.openxmlformats.org/officeDocument/2006/relationships/slide" Target="slides/slide726.xml"/><Relationship Id="rId778" Type="http://schemas.openxmlformats.org/officeDocument/2006/relationships/slide" Target="slides/slide727.xml"/><Relationship Id="rId779" Type="http://schemas.openxmlformats.org/officeDocument/2006/relationships/slide" Target="slides/slide728.xml"/><Relationship Id="rId780" Type="http://schemas.openxmlformats.org/officeDocument/2006/relationships/slide" Target="slides/slide729.xml"/><Relationship Id="rId781" Type="http://schemas.openxmlformats.org/officeDocument/2006/relationships/slide" Target="slides/slide730.xml"/><Relationship Id="rId782" Type="http://schemas.openxmlformats.org/officeDocument/2006/relationships/slide" Target="slides/slide731.xml"/><Relationship Id="rId783" Type="http://schemas.openxmlformats.org/officeDocument/2006/relationships/slide" Target="slides/slide732.xml"/><Relationship Id="rId784" Type="http://schemas.openxmlformats.org/officeDocument/2006/relationships/slide" Target="slides/slide733.xml"/><Relationship Id="rId785" Type="http://schemas.openxmlformats.org/officeDocument/2006/relationships/slide" Target="slides/slide734.xml"/><Relationship Id="rId786" Type="http://schemas.openxmlformats.org/officeDocument/2006/relationships/slide" Target="slides/slide735.xml"/><Relationship Id="rId787" Type="http://schemas.openxmlformats.org/officeDocument/2006/relationships/slide" Target="slides/slide736.xml"/><Relationship Id="rId788" Type="http://schemas.openxmlformats.org/officeDocument/2006/relationships/slide" Target="slides/slide737.xml"/><Relationship Id="rId789" Type="http://schemas.openxmlformats.org/officeDocument/2006/relationships/slide" Target="slides/slide738.xml"/><Relationship Id="rId790" Type="http://schemas.openxmlformats.org/officeDocument/2006/relationships/slide" Target="slides/slide739.xml"/><Relationship Id="rId791" Type="http://schemas.openxmlformats.org/officeDocument/2006/relationships/slide" Target="slides/slide740.xml"/><Relationship Id="rId792" Type="http://schemas.openxmlformats.org/officeDocument/2006/relationships/slide" Target="slides/slide741.xml"/><Relationship Id="rId793" Type="http://schemas.openxmlformats.org/officeDocument/2006/relationships/slide" Target="slides/slide742.xml"/><Relationship Id="rId794" Type="http://schemas.openxmlformats.org/officeDocument/2006/relationships/slide" Target="slides/slide743.xml"/><Relationship Id="rId795" Type="http://schemas.openxmlformats.org/officeDocument/2006/relationships/slide" Target="slides/slide744.xml"/><Relationship Id="rId796" Type="http://schemas.openxmlformats.org/officeDocument/2006/relationships/slide" Target="slides/slide745.xml"/><Relationship Id="rId797" Type="http://schemas.openxmlformats.org/officeDocument/2006/relationships/slide" Target="slides/slide746.xml"/><Relationship Id="rId798" Type="http://schemas.openxmlformats.org/officeDocument/2006/relationships/slide" Target="slides/slide747.xml"/><Relationship Id="rId799" Type="http://schemas.openxmlformats.org/officeDocument/2006/relationships/slide" Target="slides/slide748.xml"/><Relationship Id="rId800" Type="http://schemas.openxmlformats.org/officeDocument/2006/relationships/slide" Target="slides/slide749.xml"/><Relationship Id="rId801" Type="http://schemas.openxmlformats.org/officeDocument/2006/relationships/slide" Target="slides/slide750.xml"/><Relationship Id="rId802" Type="http://schemas.openxmlformats.org/officeDocument/2006/relationships/slide" Target="slides/slide751.xml"/><Relationship Id="rId803" Type="http://schemas.openxmlformats.org/officeDocument/2006/relationships/slide" Target="slides/slide752.xml"/><Relationship Id="rId804" Type="http://schemas.openxmlformats.org/officeDocument/2006/relationships/slide" Target="slides/slide753.xml"/><Relationship Id="rId805" Type="http://schemas.openxmlformats.org/officeDocument/2006/relationships/slide" Target="slides/slide754.xml"/><Relationship Id="rId806" Type="http://schemas.openxmlformats.org/officeDocument/2006/relationships/slide" Target="slides/slide755.xml"/><Relationship Id="rId807" Type="http://schemas.openxmlformats.org/officeDocument/2006/relationships/slide" Target="slides/slide756.xml"/><Relationship Id="rId808" Type="http://schemas.openxmlformats.org/officeDocument/2006/relationships/slide" Target="slides/slide757.xml"/><Relationship Id="rId809" Type="http://schemas.openxmlformats.org/officeDocument/2006/relationships/slide" Target="slides/slide758.xml"/><Relationship Id="rId810" Type="http://schemas.openxmlformats.org/officeDocument/2006/relationships/slide" Target="slides/slide759.xml"/><Relationship Id="rId811" Type="http://schemas.openxmlformats.org/officeDocument/2006/relationships/slide" Target="slides/slide760.xml"/><Relationship Id="rId812" Type="http://schemas.openxmlformats.org/officeDocument/2006/relationships/slide" Target="slides/slide761.xml"/><Relationship Id="rId813" Type="http://schemas.openxmlformats.org/officeDocument/2006/relationships/slide" Target="slides/slide762.xml"/><Relationship Id="rId814" Type="http://schemas.openxmlformats.org/officeDocument/2006/relationships/slide" Target="slides/slide763.xml"/><Relationship Id="rId815" Type="http://schemas.openxmlformats.org/officeDocument/2006/relationships/slide" Target="slides/slide764.xml"/><Relationship Id="rId816" Type="http://schemas.openxmlformats.org/officeDocument/2006/relationships/slide" Target="slides/slide765.xml"/><Relationship Id="rId817" Type="http://schemas.openxmlformats.org/officeDocument/2006/relationships/slide" Target="slides/slide766.xml"/><Relationship Id="rId818" Type="http://schemas.openxmlformats.org/officeDocument/2006/relationships/slide" Target="slides/slide767.xml"/><Relationship Id="rId819" Type="http://schemas.openxmlformats.org/officeDocument/2006/relationships/slide" Target="slides/slide768.xml"/><Relationship Id="rId820" Type="http://schemas.openxmlformats.org/officeDocument/2006/relationships/slide" Target="slides/slide769.xml"/><Relationship Id="rId821" Type="http://schemas.openxmlformats.org/officeDocument/2006/relationships/slide" Target="slides/slide770.xml"/><Relationship Id="rId822" Type="http://schemas.openxmlformats.org/officeDocument/2006/relationships/slide" Target="slides/slide771.xml"/><Relationship Id="rId823" Type="http://schemas.openxmlformats.org/officeDocument/2006/relationships/slide" Target="slides/slide772.xml"/><Relationship Id="rId824" Type="http://schemas.openxmlformats.org/officeDocument/2006/relationships/slide" Target="slides/slide773.xml"/><Relationship Id="rId825" Type="http://schemas.openxmlformats.org/officeDocument/2006/relationships/slide" Target="slides/slide774.xml"/><Relationship Id="rId826" Type="http://schemas.openxmlformats.org/officeDocument/2006/relationships/slide" Target="slides/slide775.xml"/><Relationship Id="rId827" Type="http://schemas.openxmlformats.org/officeDocument/2006/relationships/slide" Target="slides/slide776.xml"/><Relationship Id="rId828" Type="http://schemas.openxmlformats.org/officeDocument/2006/relationships/slide" Target="slides/slide777.xml"/><Relationship Id="rId829" Type="http://schemas.openxmlformats.org/officeDocument/2006/relationships/slide" Target="slides/slide778.xml"/><Relationship Id="rId830" Type="http://schemas.openxmlformats.org/officeDocument/2006/relationships/slide" Target="slides/slide779.xml"/><Relationship Id="rId831" Type="http://schemas.openxmlformats.org/officeDocument/2006/relationships/slide" Target="slides/slide780.xml"/><Relationship Id="rId832" Type="http://schemas.openxmlformats.org/officeDocument/2006/relationships/slide" Target="slides/slide781.xml"/><Relationship Id="rId833" Type="http://schemas.openxmlformats.org/officeDocument/2006/relationships/slide" Target="slides/slide782.xml"/><Relationship Id="rId834" Type="http://schemas.openxmlformats.org/officeDocument/2006/relationships/slide" Target="slides/slide783.xml"/><Relationship Id="rId835" Type="http://schemas.openxmlformats.org/officeDocument/2006/relationships/slide" Target="slides/slide784.xml"/><Relationship Id="rId836" Type="http://schemas.openxmlformats.org/officeDocument/2006/relationships/slide" Target="slides/slide785.xml"/><Relationship Id="rId837" Type="http://schemas.openxmlformats.org/officeDocument/2006/relationships/slide" Target="slides/slide786.xml"/><Relationship Id="rId838" Type="http://schemas.openxmlformats.org/officeDocument/2006/relationships/slide" Target="slides/slide787.xml"/><Relationship Id="rId839" Type="http://schemas.openxmlformats.org/officeDocument/2006/relationships/slide" Target="slides/slide788.xml"/><Relationship Id="rId840" Type="http://schemas.openxmlformats.org/officeDocument/2006/relationships/slide" Target="slides/slide789.xml"/><Relationship Id="rId841" Type="http://schemas.openxmlformats.org/officeDocument/2006/relationships/slide" Target="slides/slide790.xml"/><Relationship Id="rId842" Type="http://schemas.openxmlformats.org/officeDocument/2006/relationships/slide" Target="slides/slide791.xml"/><Relationship Id="rId843" Type="http://schemas.openxmlformats.org/officeDocument/2006/relationships/slide" Target="slides/slide792.xml"/><Relationship Id="rId844" Type="http://schemas.openxmlformats.org/officeDocument/2006/relationships/slide" Target="slides/slide793.xml"/><Relationship Id="rId845" Type="http://schemas.openxmlformats.org/officeDocument/2006/relationships/slide" Target="slides/slide794.xml"/><Relationship Id="rId846" Type="http://schemas.openxmlformats.org/officeDocument/2006/relationships/slide" Target="slides/slide795.xml"/><Relationship Id="rId847" Type="http://schemas.openxmlformats.org/officeDocument/2006/relationships/slide" Target="slides/slide796.xml"/><Relationship Id="rId848" Type="http://schemas.openxmlformats.org/officeDocument/2006/relationships/slide" Target="slides/slide797.xml"/><Relationship Id="rId849" Type="http://schemas.openxmlformats.org/officeDocument/2006/relationships/slide" Target="slides/slide798.xml"/><Relationship Id="rId850" Type="http://schemas.openxmlformats.org/officeDocument/2006/relationships/slide" Target="slides/slide799.xml"/><Relationship Id="rId851" Type="http://schemas.openxmlformats.org/officeDocument/2006/relationships/slide" Target="slides/slide800.xml"/><Relationship Id="rId852" Type="http://schemas.openxmlformats.org/officeDocument/2006/relationships/slide" Target="slides/slide801.xml"/><Relationship Id="rId853" Type="http://schemas.openxmlformats.org/officeDocument/2006/relationships/slide" Target="slides/slide802.xml"/><Relationship Id="rId854" Type="http://schemas.openxmlformats.org/officeDocument/2006/relationships/slide" Target="slides/slide803.xml"/><Relationship Id="rId855" Type="http://schemas.openxmlformats.org/officeDocument/2006/relationships/slide" Target="slides/slide804.xml"/><Relationship Id="rId856" Type="http://schemas.openxmlformats.org/officeDocument/2006/relationships/slide" Target="slides/slide805.xml"/><Relationship Id="rId857" Type="http://schemas.openxmlformats.org/officeDocument/2006/relationships/slide" Target="slides/slide806.xml"/><Relationship Id="rId858" Type="http://schemas.openxmlformats.org/officeDocument/2006/relationships/slide" Target="slides/slide807.xml"/><Relationship Id="rId859" Type="http://schemas.openxmlformats.org/officeDocument/2006/relationships/slide" Target="slides/slide808.xml"/><Relationship Id="rId860" Type="http://schemas.openxmlformats.org/officeDocument/2006/relationships/slide" Target="slides/slide809.xml"/><Relationship Id="rId861" Type="http://schemas.openxmlformats.org/officeDocument/2006/relationships/slide" Target="slides/slide810.xml"/><Relationship Id="rId862" Type="http://schemas.openxmlformats.org/officeDocument/2006/relationships/slide" Target="slides/slide811.xml"/><Relationship Id="rId863" Type="http://schemas.openxmlformats.org/officeDocument/2006/relationships/slide" Target="slides/slide812.xml"/><Relationship Id="rId864" Type="http://schemas.openxmlformats.org/officeDocument/2006/relationships/slide" Target="slides/slide813.xml"/><Relationship Id="rId865" Type="http://schemas.openxmlformats.org/officeDocument/2006/relationships/slide" Target="slides/slide814.xml"/><Relationship Id="rId866" Type="http://schemas.openxmlformats.org/officeDocument/2006/relationships/slide" Target="slides/slide815.xml"/><Relationship Id="rId867" Type="http://schemas.openxmlformats.org/officeDocument/2006/relationships/slide" Target="slides/slide816.xml"/><Relationship Id="rId868" Type="http://schemas.openxmlformats.org/officeDocument/2006/relationships/slide" Target="slides/slide817.xml"/><Relationship Id="rId869" Type="http://schemas.openxmlformats.org/officeDocument/2006/relationships/slide" Target="slides/slide818.xml"/><Relationship Id="rId870" Type="http://schemas.openxmlformats.org/officeDocument/2006/relationships/slide" Target="slides/slide819.xml"/><Relationship Id="rId871" Type="http://schemas.openxmlformats.org/officeDocument/2006/relationships/slide" Target="slides/slide820.xml"/><Relationship Id="rId872" Type="http://schemas.openxmlformats.org/officeDocument/2006/relationships/slide" Target="slides/slide821.xml"/><Relationship Id="rId873" Type="http://schemas.openxmlformats.org/officeDocument/2006/relationships/slide" Target="slides/slide822.xml"/><Relationship Id="rId874" Type="http://schemas.openxmlformats.org/officeDocument/2006/relationships/slide" Target="slides/slide823.xml"/><Relationship Id="rId875" Type="http://schemas.openxmlformats.org/officeDocument/2006/relationships/slide" Target="slides/slide824.xml"/><Relationship Id="rId876" Type="http://schemas.openxmlformats.org/officeDocument/2006/relationships/slide" Target="slides/slide825.xml"/><Relationship Id="rId877" Type="http://schemas.openxmlformats.org/officeDocument/2006/relationships/slide" Target="slides/slide826.xml"/><Relationship Id="rId878" Type="http://schemas.openxmlformats.org/officeDocument/2006/relationships/slide" Target="slides/slide827.xml"/><Relationship Id="rId879" Type="http://schemas.openxmlformats.org/officeDocument/2006/relationships/slide" Target="slides/slide828.xml"/><Relationship Id="rId880" Type="http://schemas.openxmlformats.org/officeDocument/2006/relationships/slide" Target="slides/slide829.xml"/><Relationship Id="rId881" Type="http://schemas.openxmlformats.org/officeDocument/2006/relationships/slide" Target="slides/slide830.xml"/><Relationship Id="rId882" Type="http://schemas.openxmlformats.org/officeDocument/2006/relationships/slide" Target="slides/slide831.xml"/><Relationship Id="rId883" Type="http://schemas.openxmlformats.org/officeDocument/2006/relationships/slide" Target="slides/slide832.xml"/><Relationship Id="rId884" Type="http://schemas.openxmlformats.org/officeDocument/2006/relationships/slide" Target="slides/slide833.xml"/><Relationship Id="rId885" Type="http://schemas.openxmlformats.org/officeDocument/2006/relationships/slide" Target="slides/slide834.xml"/><Relationship Id="rId886" Type="http://schemas.openxmlformats.org/officeDocument/2006/relationships/slide" Target="slides/slide835.xml"/><Relationship Id="rId887" Type="http://schemas.openxmlformats.org/officeDocument/2006/relationships/slide" Target="slides/slide836.xml"/><Relationship Id="rId888" Type="http://schemas.openxmlformats.org/officeDocument/2006/relationships/slide" Target="slides/slide837.xml"/><Relationship Id="rId889" Type="http://schemas.openxmlformats.org/officeDocument/2006/relationships/slide" Target="slides/slide838.xml"/><Relationship Id="rId890" Type="http://schemas.openxmlformats.org/officeDocument/2006/relationships/slide" Target="slides/slide839.xml"/><Relationship Id="rId891" Type="http://schemas.openxmlformats.org/officeDocument/2006/relationships/slide" Target="slides/slide840.xml"/><Relationship Id="rId892" Type="http://schemas.openxmlformats.org/officeDocument/2006/relationships/slide" Target="slides/slide841.xml"/><Relationship Id="rId893" Type="http://schemas.openxmlformats.org/officeDocument/2006/relationships/slide" Target="slides/slide842.xml"/><Relationship Id="rId894" Type="http://schemas.openxmlformats.org/officeDocument/2006/relationships/slide" Target="slides/slide843.xml"/><Relationship Id="rId895" Type="http://schemas.openxmlformats.org/officeDocument/2006/relationships/slide" Target="slides/slide844.xml"/><Relationship Id="rId896" Type="http://schemas.openxmlformats.org/officeDocument/2006/relationships/slide" Target="slides/slide845.xml"/><Relationship Id="rId897" Type="http://schemas.openxmlformats.org/officeDocument/2006/relationships/slide" Target="slides/slide846.xml"/><Relationship Id="rId898" Type="http://schemas.openxmlformats.org/officeDocument/2006/relationships/slide" Target="slides/slide847.xml"/><Relationship Id="rId899" Type="http://schemas.openxmlformats.org/officeDocument/2006/relationships/slide" Target="slides/slide848.xml"/><Relationship Id="rId900" Type="http://schemas.openxmlformats.org/officeDocument/2006/relationships/slide" Target="slides/slide849.xml"/><Relationship Id="rId901" Type="http://schemas.openxmlformats.org/officeDocument/2006/relationships/slide" Target="slides/slide850.xml"/><Relationship Id="rId902" Type="http://schemas.openxmlformats.org/officeDocument/2006/relationships/slide" Target="slides/slide851.xml"/><Relationship Id="rId903" Type="http://schemas.openxmlformats.org/officeDocument/2006/relationships/slide" Target="slides/slide852.xml"/><Relationship Id="rId904" Type="http://schemas.openxmlformats.org/officeDocument/2006/relationships/slide" Target="slides/slide853.xml"/><Relationship Id="rId905" Type="http://schemas.openxmlformats.org/officeDocument/2006/relationships/slide" Target="slides/slide854.xml"/><Relationship Id="rId906" Type="http://schemas.openxmlformats.org/officeDocument/2006/relationships/slide" Target="slides/slide855.xml"/><Relationship Id="rId907" Type="http://schemas.openxmlformats.org/officeDocument/2006/relationships/slide" Target="slides/slide856.xml"/><Relationship Id="rId908" Type="http://schemas.openxmlformats.org/officeDocument/2006/relationships/slide" Target="slides/slide857.xml"/><Relationship Id="rId909" Type="http://schemas.openxmlformats.org/officeDocument/2006/relationships/slide" Target="slides/slide858.xml"/><Relationship Id="rId910" Type="http://schemas.openxmlformats.org/officeDocument/2006/relationships/slide" Target="slides/slide859.xml"/><Relationship Id="rId911" Type="http://schemas.openxmlformats.org/officeDocument/2006/relationships/slide" Target="slides/slide860.xml"/><Relationship Id="rId912" Type="http://schemas.openxmlformats.org/officeDocument/2006/relationships/slide" Target="slides/slide861.xml"/><Relationship Id="rId913" Type="http://schemas.openxmlformats.org/officeDocument/2006/relationships/slide" Target="slides/slide862.xml"/><Relationship Id="rId914" Type="http://schemas.openxmlformats.org/officeDocument/2006/relationships/slide" Target="slides/slide863.xml"/><Relationship Id="rId915" Type="http://schemas.openxmlformats.org/officeDocument/2006/relationships/slide" Target="slides/slide864.xml"/><Relationship Id="rId916" Type="http://schemas.openxmlformats.org/officeDocument/2006/relationships/slide" Target="slides/slide865.xml"/><Relationship Id="rId917" Type="http://schemas.openxmlformats.org/officeDocument/2006/relationships/slide" Target="slides/slide866.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9.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6.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5.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2.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7.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4.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5.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6.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7.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8.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9.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0.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5.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3.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7.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1.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4.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9.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0.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1.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2.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3.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4.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5.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1.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5.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9.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3.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1.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6.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7.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8.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9.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1.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4.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6.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0.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1.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2.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3.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4.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5.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6.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7.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3.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7.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1.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3.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6.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7.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8.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9.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0.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1.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2.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7.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2.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6.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1.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5.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8.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2.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3.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4.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5.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6.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7.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8.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5.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9.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4.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8.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2.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5.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„TypeScript – Einordnung“.</a:t>
            </a:r>
          </a:p>
          <a:p/>
          <a:p>
            <a:r>
              <a:t>Das Bild zeigt eine Rechnung aus Kreisen. Der erste Kreis steht für „ECMAScript 5“, eine ältere Version von JavaScript. Der zweite Kreis steht für „ECMAScript 6“, die neuere Version mit zusätzlichen Möglichkeiten wie Klassen und „let“. Der dritte Kreis heißt „Additional Features“, auf Deutsch zusätzliche Eigenschaften. Das Ergebnis der Rechnung ist TypeScript.</a:t>
            </a:r>
          </a:p>
          <a:p/>
          <a:p>
            <a:r>
              <a:t>„ECMAScript“ ist der offizielle Name des Standards, nach dem JavaScript funktioniert. Die Aussage der Folie: TypeScript enthält alles von JavaScript und fügt vor allem Typen hinzu. Der Browser versteht TypeScript nicht direkt. Deshalb wird der Code vorher in normales JavaScript übersetzt.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Die Folie nennt vier Gründe in vier Feldern. Erstens „OO Concepts“: TypeScript unterstützt die Ideen der objektorientierten Programmierung, also Klassen, Vererbung und Schnittstellen. Zweitens „Supports Type Definitions“: Man kann für Variablen, Funktionen und Objekte festlegen, welche Art von Werten erlaubt ist. Drittens „Strong static Type“: Die Typen werden streng geprüft, und zwar schon beim Schreiben und Übersetzen des Codes, nicht erst, wenn das Programm läuft. Viertens „Compilation“: Der Code wird vor der Ausführung vom Compiler geprüft und in JavaScript übersetzt.</a:t>
            </a:r>
          </a:p>
          <a:p/>
          <a:p>
            <a:r>
              <a:t>Im Alltag bedeutet das: Der Editor findet Fehler früh und macht Vorschläge beim Schreiben, und größere Projekte bleiben besser wartbar. Das hilft bei der Kunden-App im Kurs, denn auch Angular selbst ist in TypeScript geschrieben.</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Wer eine Übung nicht geschafft hat oder an einem Tag gefehlt hat, hat keinen Nachteil. Jeder Ordner enthält den fertigen Stand der Übung. Die nächste Übung kann deshalb immer im Ordner der vorigen Übung sauber beginnen. Jede Aufgabe nennt außerdem einen Zeitrichtwert, damit man die Zeit besser einteilen kann.</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Zuerst prüft ein „@if“-Block, ob eine bearbeitbare Kopie des Kunden vorhanden ist, und gibt ihr den Namen „c“. Das „form“-Tag bekommt eine Template-Referenz „#customerForm="ngForm"“. Damit kann man auf den Zustand des ganzen Formulars zugreifen, zum Beispiel ob es gültig ist.</a:t>
            </a:r>
          </a:p>
          <a:p/>
          <a:p>
            <a:r>
              <a:t>Jedes Feld hat ein „name“-Attribut und eine zweiseitige Bindung mit „[(ngModel)]“. Zweiseitig heißt: Der Wert der Kopie erscheint im Feld, und was der Benutzer tippt, wird sofort in die Kopie geschrieben. Das Original des Kunden bleibt dabei unverändert. Wie die Kopie entsteht,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geladene Original nicht verändert werden, während der Benutzer tippt. Deshalb arbeitet das Formular mit einer Kopie. Diese heißt hier „draft“, auf Deutsch Entwurf.</a:t>
            </a:r>
          </a:p>
          <a:p/>
          <a:p>
            <a:r>
              <a:t>„customer“ ist ein berechneter Wert. Er holt den Kunden zur aktuellen Kennung vom Service. „linkedSignal“ ist ein abgeleiteter Wert, der trotzdem beschrieben werden kann. Am Anfang und immer dann, wenn sich das Original „customer“ ändert, wird „draft“ neu als Kopie des Originals berechnet. Dabei steht „{ ...customer }“ für eine flache Kopie mit allen Feldern. Wechselt der Benutzer zu einem anderen Kunden, ist der Entwurf also automatisch wieder frisch.</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 nur aus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Formularzustand“.</a:t>
            </a:r>
          </a:p>
          <a:p/>
          <a:p>
            <a:r>
              <a:t>Das Beispiel erweitert das Formular um Prüfregeln. Das erste Feld hat das Attribut „required“, es ist also ein Pflichtfeld.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„[0-9]*“. Das bedeutet: Es sind nur Ziffern erlaubt. Auch hier gibt es eine Fehlermeldung unter denselben Bedingungen.</a:t>
            </a:r>
          </a:p>
          <a:p/>
          <a:p>
            <a:r>
              <a:t>Zum Schluss gibt eine Zeile den Zustand des ganzen Formulars aus, „gültig“ oder „ungültig“. In Übung 23 kommt der Speichern-Button dazu. Er wird mit „[disabled]="customerForm.invalid"“ deaktiviert,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mit „ngModel“ an diese Kopie. Jedes Feld braucht ein „name“-Attribut.</a:t>
            </a:r>
          </a:p>
          <a:p/>
          <a:p>
            <a:r>
              <a:t>Danach fügen sie Prüfregeln als HTML-Attribute hinzu: Vor- und Nachname sind Pflichtfelder, die Postleitzahl darf nur aus Ziffern bestehen. Für jedes ungültige Feld erscheint eine Fehlermeldung, aber erst, wenn der Benutzer das Feld verändert hat. Zum Schluss geben sie den Zustand des ganzen Formulars aus, gültig oder ungültig, und prüfen im Browser, dass er sich richtig ändert. Der Speichern-Button und das Speichern über den Service folgen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Angular-Module (NgModule)“ – Hier beginnt das Legacy-Kapitel. „Legacy“ bedeutet: ältere Technik, die man noch kennen muss, die man aber für neuen Code nicht mehr verwendet. Alles in diesem Kapitel ist NICHT mehr der heutige Standard. Es zeigt, wie Angular-Projekte vor der Umstellung auf Standalone-Komponenten organisiert waren. Das ist wichtig für alle, die in bestehenden, älteren Projekten arbeiten. Am Ende des Kapitels steht Übung 30 im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dieses Kapitel?“.</a:t>
            </a:r>
          </a:p>
          <a:p/>
          <a:p>
            <a:r>
              <a:t>Die Teilnehmer schreiben im Kurs ausschließlich Standalone-Komponenten. In der Praxis treffen sie aber oft auf ältere Projekte, die mit sogenannten „NgModules“ aufgebaut sind. Auch ältere Bibliotheken, Anleitungen und Forenbeiträge verwenden diesen Stil.</a:t>
            </a:r>
          </a:p>
          <a:p/>
          <a:p>
            <a:r>
              <a:t>Angular unterstützt NgModules weiterhin, und beide Stile können in einem Projekt gemischt werden. Für neuen Code verwendet man trotzdem immer Standalone. Ziel des Kapitels ist, alten Code lesen, pflegen und Schritt für Schritt umstellen zu können.</a:t>
            </a:r>
          </a:p>
          <a:p/>
          <a:p>
            <a:r>
              <a:t>Das Diagramm zeigt die zeitliche Entwicklung: Bis Angular 13 gab es nur NgModules. Mit Version 14 kamen Standalone-Komponenten als Vorschau, mit Version 15 wurden sie stabil, ab Version 17 erzeugt die Kommandozeile neue Projekte standardmäßig ohne Module, und seit Version 19 ist „standalone“ der automatische Standardwert.</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NgModule?“.</a:t>
            </a:r>
          </a:p>
          <a:p/>
          <a:p>
            <a:r>
              <a:t>Ein „NgModule“ ist eine TypeScript-Klasse, die mit dem Dekorator „@NgModule“ versehen ist. Ein Dekorator ist eine Markierung mit dem @-Zeichen, die einer Klasse zusätzliche Informationen für Angular mitgibt. Das NgModule fasst Komponenten, Direktiven und Pipes zu einer Einheit zusammen und legt fest, welche Bausteine in den Templates dieser Einheit verwendet werden dürfen. Außerdem kann es Services bereitstellen.</a:t>
            </a:r>
          </a:p>
          <a:p/>
          <a:p>
            <a:r>
              <a:t>Wichtig: Ein NgModule ist etwas anderes als ein ES-Modul. Ein ES-Modul ist einfach eine Datei mit „import“ und „export“, das prüft TypeScript. Ein NgModule ist ein Angular-Konzept, das der Angular-Compiler auswertet. In einem NgModule-Projekt braucht man beides gleichzeitig. Das Diagramm stellt die beiden Begriffe gegenüber.</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gab es Module?“.</a:t>
            </a:r>
          </a:p>
          <a:p/>
          <a:p>
            <a:r>
              <a:t>NgModules waren ein Kompromiss zwischen zwei Extremen. Im Vorgänger „AngularJS 1“ war alles global verfügbar, man konnte einfach alles hineinwerfen, verlor aber den Überblick. In frühen Vorabversionen von Angular 2 musste man dagegen an jeder einzelnen Komponente jede Abhängigkeit angeben.</a:t>
            </a:r>
          </a:p>
          <a:p/>
          <a:p>
            <a:r>
              <a:t>Module boten Kapselung: Ein Fachbereich wie „Trainings“ wurde zu einer Einheit. Bibliotheken ließen sich mit einem einzigen Import einbinden, zum Beispiel das „FormsModule“. Und ganze Bereiche konnten später nachgeladen werden, das nennt man „Lazy Loading“.</a:t>
            </a:r>
          </a:p>
          <a:p/>
          <a:p>
            <a:r>
              <a:t>Der Preis dafür war viel zusätzlicher Code ohne eigentliche Funktion, sogenannter „Boilerplate“. Außerdem waren die Abhängigkeiten indirekt: Man sah einer Komponente nicht an, woher ihre Bausteine kamen. Genau das lösen Standalone-Komponenten, weil jede Komponente ihre Abhängigkeiten selbst auflistet.</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„Aufbau von @NgModule“.</a:t>
            </a:r>
          </a:p>
          <a:p/>
          <a:p>
            <a:r>
              <a:t>Der Dekorator „@NgModule“ bekommt ein Objekt mit bis zu fünf wichtigen Feldern. Das Diagramm zeigt sie als Äste unter dem Dekorator.</a:t>
            </a:r>
          </a:p>
          <a:p/>
          <a:p>
            <a:r>
              <a:t>„declarations“ heißt Deklarationen und listet die eigenen Komponenten, Direktiven und Pipes des Moduls. „imports“ listet andere Module, deren exportierte Bausteine man verwenden möchte. „exports“ legt fest, welche Bausteine andere Module verwenden dürfen, wenn sie dieses Modul importieren. „providers“ stellt Services für die Dependency Injection bereit, also für das automatische Übergeben von Abhängigkeiten. „bootstrap“ nennt die Startkomponente der Anwendung und steht nur im Hauptmodul „AppModule“.</a:t>
            </a:r>
          </a:p>
          <a:p/>
          <a:p>
            <a:r>
              <a:t>Alle Felder sind Arrays, also Listen in eckigen Klammern, und alle sind optional. Ein Modul enthält nur die Felder, die es braucht.</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„AppModule im Projekt 30_modules_legacy“.</a:t>
            </a:r>
          </a:p>
          <a:p/>
          <a:p>
            <a:r>
              <a:t>Das ist das Hauptmodul aus dem Übungsprojekt, nur übersichtlicher formatiert. Oben stehen die normalen TypeScript-Imports der Dateien. Darunter folgt die Klasse „AppModule“ mit dem Dekorator „@NgModule“.</a:t>
            </a:r>
          </a:p>
          <a:p/>
          <a:p>
            <a:r>
              <a:t>In „declarations“ steht die eigene Komponente „AppComponent“. In „imports“ stehen drei Module: das „BrowserModule“, das die Grundlagen für den Browser liefert, das eigene Fachmodul „TrainingsModule“ und das Modul mit den Routen „AppRoutingModule“. In „providers“ wird der HTTP-Client bereitgestellt, hier schon mit der modernen Funktion „provideHttpClient“. Das zeigt: Auch in einem Modul-Projekt kann man moderne Bereitstellungsfunktionen verwenden. In „bootstrap“ steht die Komponente, mit der die Anwendung startet.</a:t>
            </a:r>
          </a:p>
          <a:p/>
          <a:p>
            <a:r>
              <a:t>Die Klasse selbst ist leer. Sie dient nur als Träger für die Informationen im Dekorator.</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Felder im Detail“, Teil 1 von 2.</a:t>
            </a:r>
          </a:p>
          <a:p/>
          <a:p>
            <a:r>
              <a:t>In „declarations“ stehen Komponenten, Direktiven und Pipes, die zu diesem Modul gehören. Sie müssen „standalone: false“ haben. Jeder Baustein darf nur in genau einem Modul deklariert werden. Steht er in zwei Modulen, meldet Angular einen Fehler.</a:t>
            </a:r>
          </a:p>
          <a:p/>
          <a:p>
            <a:r>
              <a:t>In „imports“ stehen andere NgModules oder auch Standalone-Komponenten. Alles, was diese exportieren, darf man in den Templates des eigenen Moduls verwenden.</a:t>
            </a:r>
          </a:p>
          <a:p/>
          <a:p>
            <a:r>
              <a:t>In „exports“ steht, was das Modul nach außen weitergibt. Das können eigene Bausteine sein oder auch importierte Module, die man durchreicht. Was nicht exportiert wird, bleibt privat und ist nur innerhalb des Moduls sichtbar.</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Felder im Detail“, Teil 2 von 2.</a:t>
            </a:r>
          </a:p>
          <a:p/>
          <a:p>
            <a:r>
              <a:t>In „providers“ stehen Services, die der Injector bereitstellen soll. Der Injector ist der Teil von Angular, der Objekte erzeugt und an Komponenten übergibt. Bei Modulen, die normal importiert und nicht nachgeladen werden, landen diese Services im Wurzel-Injector. Dann gibt es in der ganzen Anwendung genau eine Instanz.</a:t>
            </a:r>
          </a:p>
          <a:p/>
          <a:p>
            <a:r>
              <a:t>In „bootstrap“ steht die Startkomponente. Das gibt es nur im Hauptmodul. Der Selector dieser Komponente, also ihr HTML-Name, muss in der Datei „index.html“ vorkommen.</a:t>
            </a:r>
          </a:p>
          <a:p/>
          <a:p>
            <a:r>
              <a:t>Das „BrowserModule“ darf nur einmal im Hauptmodul importiert werden. Fachmodule importieren stattdessen das „CommonModule“, das die gemeinsamen Direktiven und Pipes wie „DatePipe“ enthält.</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„Sichtbarkeit zwischen Modulen“.</a:t>
            </a:r>
          </a:p>
          <a:p/>
          <a:p>
            <a:r>
              <a:t>Im Modul-Stil sieht ein Template nur die Bausteine, die sein eigenes Modul kennt. Das sind die eigenen Deklarationen und alles, was die importierten Module exportieren.</a:t>
            </a:r>
          </a:p>
          <a:p/>
          <a:p>
            <a:r>
              <a:t>Das Diagramm zeigt die Kette am Beispiel des Übungsprojekts: Das „TrainingsModule“ deklariert die „TrainingListComponent“ und exportiert sie. Das „AppModule“ importiert das „TrainingsModule“. Erst dadurch darf das Template der „AppComponent“ das Element „training-list“ verwenden.</a:t>
            </a:r>
          </a:p>
          <a:p/>
          <a:p>
            <a:r>
              <a:t>Fehlt ein Glied dieser Kette, erscheint die bekannte Fehlermeldung „is not a known element“, auf Deutsch: kein bekanntes Element. Dann prüft man der Reihe nach: Ist die Komponente deklariert? Wird sie exportiert? Wird ihr Modul importiert?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„Wer sieht wen? AppModule und seine Importe“.</a:t>
            </a:r>
          </a:p>
          <a:p/>
          <a:p>
            <a:r>
              <a:t>Das Diagramm zeigt das „AppModule“ aus dem Projekt 30_modules_legacy als Kasten. Darin stehen links das importierte „TrainingsModule“, in der Mitte die eigene Deklaration „AppComponent“ und rechts das importierte „AppRoutingModule“ sowie das „BrowserModule“.</a:t>
            </a:r>
          </a:p>
          <a:p/>
          <a:p>
            <a:r>
              <a:t>Das „TrainingsModule“ deklariert drei Bausteine. Die beiden Komponenten stehen zusätzlich in „exports“, also gibt das Modul sie nach außen frei. Die Pipe „TakePlaceSoonPipe“ steht nur in „declarations“; sie bleibt privat. Das „AppRoutingModule“ exportiert das „RouterModule“ und damit „router-outlet“ und „routerLink“.</a:t>
            </a:r>
          </a:p>
          <a:p/>
          <a:p>
            <a:r>
              <a:t>Die grünen Pfeile zeigen: Diese Bausteine darf das Template von „AppComponent“ verwenden. Der gestrichelte orange Pfeil mit der Aufschrift „privat“ zeigt: Die Pipe ist im Template von AppComponent nicht bekannt. Wer sie dort benutzt, bekommt einen Fehler beim Bauen. Abhilfe wäre, die Pipe im TrainingsModule zusätzlich zu exportieren.</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„Feature-Modul: TrainingsModule“.</a:t>
            </a:r>
          </a:p>
          <a:p/>
          <a:p>
            <a:r>
              <a:t>Ein Feature-Modul, auf Deutsch Fachmodul, bündelt alles zu einem Fachbereich, hier zu den Trainings. Die TypeScript-Imports oben sind aus Platzgründen weggelassen.</a:t>
            </a:r>
          </a:p>
          <a:p/>
          <a:p>
            <a:r>
              <a:t>In „declarations“ stehen zwei Komponenten und eine eigene Pipe. In „imports“ stehen die Module, deren Bausteine die Templates brauchen: „CommonModule“ für allgemeine Direktiven und Pipes, „FormsModule“ und „ReactiveFormsModule“ für Formulare und „RouterModule“ für Links wie „routerLink“. In „providers“ wird der „TrainingService“ bereitgestellt. In „exports“ stehen die beiden Komponenten, damit das Hauptmodul sie verwenden kann. Die Pipe wird nicht exportiert, sie ist also nur innerhalb dieses Moduls nutzbar.</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„Dateien eines NgModule-Projekts“.</a:t>
            </a:r>
          </a:p>
          <a:p/>
          <a:p>
            <a:r>
              <a:t>Das Diagramm zeigt die Ordnerstruktur des Übungsprojekts. Die Datei „index.html“ ist die Seite, die der Browser lädt; sie enthält das Element „app-root“. Die Datei „main.ts“ startet die Anwendung mit dem Hauptmodul.</a:t>
            </a:r>
          </a:p>
          <a:p/>
          <a:p>
            <a:r>
              <a:t>Dazu kommen die Moduldateien: „app.module.ts“ ist das Hauptmodul, „app-routing.module.ts“ enthält die Routen, und „trainings.module.ts“ ist das Modul für den Fachbereich Trainings. Die Komponenten bestehen wie heute aus TypeScript-Klasse, HTML-Template und CSS-Datei, dazu kommen Testdateien mit der Endung „spec.ts“.</a:t>
            </a:r>
          </a:p>
          <a:p/>
          <a:p>
            <a:r>
              <a:t>Der sichtbare Unterschied zu einem Standalone-Projekt sind also die Dateien mit der Endung „module.ts“ und die Datei „app.config.ts“, die es hier noch nicht gibt.</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im Modul: standalone: false“.</a:t>
            </a:r>
          </a:p>
          <a:p/>
          <a:p>
            <a:r>
              <a:t>Eine Komponente sieht im Modul-Stil fast genauso aus wie heute: Sie hat den Dekorator „@Component“ mit „selector“, also dem HTML-Namen, sowie Template- und Style-Dateien. Das Diagramm zeigt die Startkomponente aus dem Übungsprojekt.</a:t>
            </a:r>
          </a:p>
          <a:p/>
          <a:p>
            <a:r>
              <a:t>Seit Angular 19 sind Komponenten automatisch „standalone“. Eine Komponente, die in einem Modul deklariert werden soll, muss deshalb ausdrücklich „standalone: false“ angeben. Fehlt diese Angabe, meldet Angular beim Deklarieren einen Fehler.</a:t>
            </a:r>
          </a:p>
          <a:p/>
          <a:p>
            <a:r>
              <a:t>Eine Modul-Komponente hat kein eigenes „imports“-Array. Welche anderen Bausteine sie im Template nutzen darf, bestimmt ihr Modul.</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„Klassischer Stil: Konstruktor-Injektion“.</a:t>
            </a:r>
          </a:p>
          <a:p/>
          <a:p>
            <a:r>
              <a:t>In älteren Projekten bekommt eine Komponente ihre Services fast immer über den Konstruktor. Der Konstruktor ist die Funktion, die beim Erzeugen eines Objekts aufgerufen wird. Hier steht dort der Parameter „trainingService“ mit dem Typ „TrainingService“.</a:t>
            </a:r>
          </a:p>
          <a:p/>
          <a:p>
            <a:r>
              <a:t>Im Konstruktor wird die Methode „getNext“ aufgerufen. Sie liefert ein Observable, also einen Datenstrom. Mit „subscribe“ meldet man sich an, und die übergebene Funktion bekommt das nächste Training als Parameter „nextTr“ und speichert es im Feld „nextTraining“.</a:t>
            </a:r>
          </a:p>
          <a:p/>
          <a:p>
            <a:r>
              <a:t>Die letzte Zeile zeigt zum Vergleich den heutigen Stil mit der Funktion „inject“. Beide Wege funktionieren auch in Angular 21.</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„Konstruktor-Injektion erklärt“.</a:t>
            </a:r>
          </a:p>
          <a:p/>
          <a:p>
            <a:r>
              <a:t>Der Parameter „private trainingService: TrainingService“ ist eine TypeScript-Kurzform. Das Wort „private“ vor dem Parameter bewirkt, dass automatisch ein Feld mit diesem Namen angelegt und mit dem übergebenen Wert gefüllt wird.</a:t>
            </a:r>
          </a:p>
          <a:p/>
          <a:p>
            <a:r>
              <a:t>Wer ruft den Konstruktor auf? Nicht der eigene Code, sondern Angular, wenn es die Komponente erzeugt. Angular liest dabei den Typ des Parameters und verwendet ihn als „Token“. Ein Token ist der Schlüssel, unter dem der Injector nach einem passenden Provider sucht. Der Provider ist das Rezept, wie das Objekt erzeugt wird. Das Ergebnis, die Instanz, übergibt Angular als Argument an den Konstruktor. Das Diagramm zeigt diesen Ablauf.</a:t>
            </a:r>
          </a:p>
          <a:p/>
          <a:p>
            <a:r>
              <a:t>Heute schreibt man stattdessen „inject“ direkt bei der Felddeklaration. Das Ergebnis ist dasselbe.</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„Bootstrapping mit Modul: main.ts“.</a:t>
            </a:r>
          </a:p>
          <a:p/>
          <a:p>
            <a:r>
              <a:t>„Bootstrapping“ bedeutet: die Anwendung starten. Das Diagramm zeigt die Datei „main.ts“ aus dem Übungsprojekt. Die Funktion „platformBrowserDynamic“ erzeugt eine Plattform, also die Laufzeitumgebung von Angular im Browser.</a:t>
            </a:r>
          </a:p>
          <a:p/>
          <a:p>
            <a:r>
              <a:t>Auf dieser Plattform wird „bootstrapModule“ aufgerufen. Übergeben wird die Klasse „AppModule“, also nicht ein Objekt, sondern die Klasse selbst. Der Aufruf liefert ein „Promise“. Ein Promise ist ein Versprechen auf ein späteres Ergebnis. Geht beim Start etwas schief, wird die Funktion in „catch“ mit dem Fehler als Parameter „err“ aufgerufen und gibt ihn in der Konsole aus.</a:t>
            </a:r>
          </a:p>
          <a:p/>
          <a:p>
            <a:r>
              <a:t>Der Block mit „enableProdMode“ stammt aus älteren Versionen. Heute steuert die Build-Konfiguration den Produktionsmodus.</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des Startvorgangs“.</a:t>
            </a:r>
          </a:p>
          <a:p/>
          <a:p>
            <a:r>
              <a:t>Das Diagramm zeigt den gesamten Startvorgang im Modul-Stil. Der Browser lädt die Seite „index.html“ und das gebaute JavaScript. Darin läuft „main.ts“ und ruft „bootstrapModule“ mit dem Hauptmodul auf.</a:t>
            </a:r>
          </a:p>
          <a:p/>
          <a:p>
            <a:r>
              <a:t>Angular liest den Dekorator des Hauptmoduls. Im Feld „bootstrap“ steht die Klasse „AppComponent“. Daher weiß Angular, mit welcher Komponente die Anwendung startet. Angular liest dann den „selector“ dieser Komponente, hier „app-root“, und sucht ein Element mit diesem Namen in der Seite.</a:t>
            </a:r>
          </a:p>
          <a:p/>
          <a:p>
            <a:r>
              <a:t>Wird das Element gefunden, erzeugt Angular die Komponente und zeigt ihr Template an dieser Stelle an. Fehlt das Element, bricht der Start mit einer Fehlermeldung ab.</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„Startvorgang mit Modul: wer ruft wen auf?“.</a:t>
            </a:r>
          </a:p>
          <a:p/>
          <a:p>
            <a:r>
              <a:t>Das Diagramm zeigt den Startvorgang einer Modul-Anwendung mit allen Beteiligten: Browser, die Datei „main.ts“, die Plattform, das „AppModule“ und die „AppComponent“.</a:t>
            </a:r>
          </a:p>
          <a:p/>
          <a:p>
            <a:r>
              <a:t>In Schritt 1 lädt der Browser die index.html; das Element „app-root“ ist noch leer. In Schritt 2 führt er das gebaute Skript aus, das aus „main.ts“ entstanden ist. „main.ts“ erzeugt in Schritt 3 die Plattform für den Browser und ruft in Schritt 4 „bootstrapModule“ mit der Klasse „AppModule“ auf.</a:t>
            </a:r>
          </a:p>
          <a:p/>
          <a:p>
            <a:r>
              <a:t>In Schritt 5 legt Angular das Modul an. Dabei wertet es die importierten Module und die Provider aus. Das Feld „bootstrap“ nennt in Schritt 6 die Startkomponente. In Schritt 7 erzeugt Angular die „AppComponent“ und sucht ihr Element „app-root“ in der Seite. In Schritt 8 erscheint das Template dort. Zum Schluss, in Schritt 9, wird das Promise aus „bootstrapModule“ erfüllt. Ging etwas schief, greift stattdessen das „catch“ in main.ts.</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„index.html: der Einstiegspunkt“.</a:t>
            </a:r>
          </a:p>
          <a:p/>
          <a:p>
            <a:r>
              <a:t>Die Datei „index.html“ ist im Modul-Projekt praktisch dieselbe wie im Standalone-Projekt. Das Diagramm zeigt den wichtigen Teil. Im Körper der Seite steht nur ein leeres Element „app-root“. Es ist der Platzhalter, an dem Angular die Startkomponente anzeigt.</a:t>
            </a:r>
          </a:p>
          <a:p/>
          <a:p>
            <a:r>
              <a:t>Die Skriptdateien muss man nicht selbst eintragen, das macht der Build automatisch. Das Element „base href“ im Kopf der Seite braucht der Router, um Adressen richtig aufzulösen.</a:t>
            </a:r>
          </a:p>
          <a:p/>
          <a:p>
            <a:r>
              <a:t>Fehlt das Element „app-root“ oder ist es falsch geschrieben, findet Angular keinen Platz für die Startkomponente. Dann erscheint die Fehlermeldung, dass der Selector zu keinem Element passt.</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„Start: bootstrapModule und bootstrapApplication“.</a:t>
            </a:r>
          </a:p>
          <a:p/>
          <a:p>
            <a:r>
              <a:t>Das Diagramm stellt den alten und den neuen Start gegenüber. Im alten Stil startet man ein Modul mit „bootstrapModule“. Das Modul nennt im Feld „bootstrap“ die Startkomponente, und die globalen Provider stehen im Modul.</a:t>
            </a:r>
          </a:p>
          <a:p/>
          <a:p>
            <a:r>
              <a:t>Im neuen Stil startet man direkt eine Komponente mit „bootstrapApplication“. Als zweites Argument übergibt man ein Konfigurationsobjekt, meist aus der Datei „app.config.ts“. Dort stehen die globalen Provider, zum Beispiel für Router und HTTP-Client.</a:t>
            </a:r>
          </a:p>
          <a:p/>
          <a:p>
            <a:r>
              <a:t>Ab dem Erzeugen der Startkomponente ist der Ablauf gleich: Selector suchen, Komponente erzeugen, Template anzeigen. Die automatische Migration, die später gezeigt wird, stellt die Datei „main.ts“ selbst um.</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und Komponenten generieren“.</a:t>
            </a:r>
          </a:p>
          <a:p/>
          <a:p>
            <a:r>
              <a:t>Die Angular-Kommandozeile kann Module erzeugen. Der Befehl „ng generate module“ mit einem Namen legt eine Moduldatei an, die bereits das „CommonModule“ importiert. Wichtiger Stolperstein: Das neue Modul wird nicht automatisch im übergeordneten Modul eingetragen. Das muss man selbst im „imports“-Array erledigen oder beim Erzeugen die Option „--module“ mit dem Zielmodul angeben.</a:t>
            </a:r>
          </a:p>
          <a:p/>
          <a:p>
            <a:r>
              <a:t>Für eine Modul-Komponente verwendet man „ng generate component“ mit der Option „--standalone=false“. Dann erzeugt die Kommandozeile eine Komponente mit „standalone: false“ und trägt sie in die Deklarationen des nächstgelegenen Moduls ein. Ohne diese Option entsteht in Angular 21 eine Standalone-Komponente. Genau das üben die Teilnehmer in Übung 30.</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und Direktiven im Modul“.</a:t>
            </a:r>
          </a:p>
          <a:p/>
          <a:p>
            <a:r>
              <a:t>Pipes und Direktiven werden im Modul-Stil genauso behandelt wie Komponenten. Das Diagramm zeigt die Pipe „HasLikesPipe“: Sie steht in „declarations“, damit sie zum Modul gehört, und in „exports“, damit andere Module sie verwenden können.</a:t>
            </a:r>
          </a:p>
          <a:p/>
          <a:p>
            <a:r>
              <a:t>Eine Pipe, die nicht exportiert wird, ist nur in den Templates des eigenen Moduls verwendbar. Die eingebauten Pipes wie „DatePipe“ für Datumsformate kommen gesammelt über das „CommonModule“.</a:t>
            </a:r>
          </a:p>
          <a:p/>
          <a:p>
            <a:r>
              <a:t>Heute importiert man eine Pipe direkt im „imports“-Array der Komponente, die sie benutzt. Dadurch sieht man sofort, woher sie kommt.</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„Legacy-DI: providers am Modul“.</a:t>
            </a:r>
          </a:p>
          <a:p/>
          <a:p>
            <a:r>
              <a:t>Dependency Injection, kurz DI, bedeutet: Eine Komponente bekommt ihre Abhängigkeiten von Angular geliefert, statt sie selbst zu erzeugen. Angular muss dafür wissen, wie ein Objekt erzeugt wird. Diese Information heißt „Provider“.</a:t>
            </a:r>
          </a:p>
          <a:p/>
          <a:p>
            <a:r>
              <a:t>Im alten Stil trägt man den Service im „providers“-Array eines Moduls ein. Der Service selbst hat dann nur „@Injectable“ ohne die Angabe „providedIn“, so wie der „TrainingService“ im Übungsprojekt. Das Diagramm zeigt die Kette: Injector, Provider, Instanz.</a:t>
            </a:r>
          </a:p>
          <a:p/>
          <a:p>
            <a:r>
              <a:t>Wird das Modul normal importiert, gibt es eine einzige Instanz für die ganze Anwendung. Wird das Modul dagegen später nachgeladen, bekommt es einen eigenen Injector und damit eine eigene Instanz. Das war in alten Projekten eine häufige Fehlerquelle.</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„Provider-Objekte: provide und Rezept“.</a:t>
            </a:r>
          </a:p>
          <a:p/>
          <a:p>
            <a:r>
              <a:t>Steht in „providers“ nur ein Klassenname, ist das eine Kurzform. Ausgeschrieben ist es ein Objekt mit zwei Teilen. Der erste Teil, „provide“, ist das Token, also der Schlüssel, unter dem der Injector sucht. Der zweite Teil ist das Rezept, wie das Objekt entsteht.</a:t>
            </a:r>
          </a:p>
          <a:p/>
          <a:p>
            <a:r>
              <a:t>Es gibt vier Rezepte. „useClass“ erzeugt ein neues Objekt der angegebenen Klasse. „useValue“ verwendet einen fertigen Wert, zum Beispiel ein Konfigurationsobjekt. „useFactory“ ruft eine Funktion auf, deren Rückgabewert das Objekt ist. „useExisting“ verweist auf ein anderes Token, sodass beide Tokens dasselbe Objekt liefern.</a:t>
            </a:r>
          </a:p>
          <a:p/>
          <a:p>
            <a:r>
              <a:t>Im Diagramm bekommt man unter dem Token „Logger“ dieselbe Instanz wie unter „ConsoleLogger“. Diese Provider-Objekte gelten unverändert auch heute, nur stehen sie meist in „app.config.ts“ oder an der Komponente.</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heute: providedIn und provide-Funktionen“.</a:t>
            </a:r>
          </a:p>
          <a:p/>
          <a:p>
            <a:r>
              <a:t>Das Diagramm stellt alten und neuen Stil gegenüber. Heute schreibt man an den Service meist „@Injectable“ mit „providedIn: 'root'“. Dann stellt Angular ihn automatisch für die ganze Anwendung bereit. Ein Eintrag in einem Modul ist nicht nötig. Zusätzlicher Vorteil: Wird der Service nirgends verwendet, entfernt ihn der Build aus dem fertigen Programm. Das nennt man „Tree-Shaking“.</a:t>
            </a:r>
          </a:p>
          <a:p/>
          <a:p>
            <a:r>
              <a:t>Globale Einstellungen wie Router oder HTTP-Client stehen als „provide“-Funktionen in „app.config.ts“. Soll eine Komponente eine eigene Instanz bekommen, trägt man den Service in ihr eigenes „providers“-Array ein. Die Provider-Objekte mit „useClass“ und den anderen Rezepten funktionieren unverändert.</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„Legacy-Routing: RouterModule.forRoot“.</a:t>
            </a:r>
          </a:p>
          <a:p/>
          <a:p>
            <a:r>
              <a:t>Im alten Stil stehen die Routen meist in einem eigenen Modul namens „AppRoutingModule“. Dort wird „RouterModule.forRoot“ mit der Liste der Routen aufgerufen. Diese Methode liefert das Router-Modul zusammen mit den Providern für den Router-Service. Sie darf deshalb nur ein einziges Mal in der Anwendung verwendet werden, sonst entstehen zwei Router.</a:t>
            </a:r>
          </a:p>
          <a:p/>
          <a:p>
            <a:r>
              <a:t>Das Routing-Modul exportiert das „RouterModule“ wieder. Dadurch kann das Hauptmodul, das das Routing-Modul importiert, im Template „router-outlet“ und „routerLink“ verwenden. Das Diagramm zeigt diese Kette.</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„AppRoutingModule im Projekt“.</a:t>
            </a:r>
          </a:p>
          <a:p/>
          <a:p>
            <a:r>
              <a:t>Das ist das Routing-Modul aus dem Übungsprojekt. Die Liste „routes“ ist genauso aufgebaut wie heute. Die erste Route zeigt unter der Adresse „trainings“ die Liste an. Die zweite Route hat den Parameter „id“, erkennbar am Doppelpunkt, und zeigt die Details eines Trainings. Die dritte Route mit zwei Sternchen fängt alle anderen Adressen ab und leitet auf die Liste um.</a:t>
            </a:r>
          </a:p>
          <a:p/>
          <a:p>
            <a:r>
              <a:t>Neu gegenüber heute ist nur die Verpackung: Die Routen werden mit „RouterModule.forRoot“ im „imports“-Array registriert, und das „RouterModule“ wird exportiert. Heute ersetzt der Aufruf „provideRouter“ in „app.config.ts“ dieses ganze Modul.</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„Routing: von /trainings nach /trainings/3“.</a:t>
            </a:r>
          </a:p>
          <a:p/>
          <a:p>
            <a:r>
              <a:t>Das Diagramm zeigt, wo die Routen hängen und was sich bei einem Klick ändert. Links steht das „AppRoutingModule“ mit den drei Routen aus dem Projekt. Rechts steht die „AppComponent“ mit ihrem Template: eine Überschrift und darunter „router-outlet“, der Platzhalter für die aktuelle Seite.</a:t>
            </a:r>
          </a:p>
          <a:p/>
          <a:p>
            <a:r>
              <a:t>Der Platzhalter im Kasten „AppComponent“ ist zweimal dargestellt: einmal vorher, einmal nachher. Vorher lautet die Adresse „/trainings“. Der Router hat dazu die Route „trainings“ gefunden und zeigt im Outlet die „TrainingListComponent“. Jeder Eintrag der Liste hat einen Link mit „routerLink“ und der Nummer des Trainings.</a:t>
            </a:r>
          </a:p>
          <a:p/>
          <a:p>
            <a:r>
              <a:t>Klickt der Nutzer auf das Training 3, ändert sich die Adresse zu „/trainings/3“. Der Router findet die Route „trainings/:id“, entfernt die Liste aus dem Outlet und erzeugt dort die „TrainingDetailsComponent“. Der Teil „:id“ ist ein Platzhalter; der Wert 3 steht der Komponente über „ActivatedRoute“ zur Verfügung. Die Überschrift außerhalb des Outlets bleibt unverändert.</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„forRoot und forChild“.</a:t>
            </a:r>
          </a:p>
          <a:p/>
          <a:p>
            <a:r>
              <a:t>„forRoot“ und „forChild“ sind statische Methoden. Das heißt, man ruft sie direkt an der Klasse „RouterModule“ auf, ohne ein Objekt zu erzeugen. Beide liefern das Router-Modul zusammen mit Providern zurück.</a:t>
            </a:r>
          </a:p>
          <a:p/>
          <a:p>
            <a:r>
              <a:t>„forRoot“ liefert den Router-Service und die Wurzelrouten. Es wird genau einmal verwendet, im Hauptmodul oder im zugehörigen Routing-Modul. „forChild“ liefert nur zusätzliche Routen ohne neuen Router-Service. Es wird in Feature-Modulen verwendet, besonders wenn diese erst später nachgeladen werden.</a:t>
            </a:r>
          </a:p>
          <a:p/>
          <a:p>
            <a:r>
              <a:t>Verwendet man aus Versehen „forRoot“ in einem Feature-Modul, entsteht ein zweiter Router, und das Routing funktioniert nicht mehr richtig. Heute lädt man mit „loadChildren“ einfach eine Datei mit Routen nach, ganz ohne Modul. Das Diagramm stellt beide Methoden gegenüber.</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„Location-Strategie im Modul“.</a:t>
            </a:r>
          </a:p>
          <a:p/>
          <a:p>
            <a:r>
              <a:t>Die Location-Strategie legt fest, wie die Adresse im Browser aussieht. Standard ist die „PathLocationStrategy“. Dann sieht die Adresse aus wie ein normaler Pfad, etwa „/trainings/7“. Das ist lesbar und gut für Suchmaschinen. Dafür braucht die Seite das Element „base href“, und der Webserver muss alle unbekannten Pfade auf die Datei „index.html“ umleiten.</a:t>
            </a:r>
          </a:p>
          <a:p/>
          <a:p>
            <a:r>
              <a:t>Die „HashLocationStrategy“ setzt ein Rautezeichen vor den Pfad. Der Teil nach der Raute wird nie an den Server geschickt, daher ist das Hosting einfacher. Diese Variante war der Standard im alten AngularJS.</a:t>
            </a:r>
          </a:p>
          <a:p/>
          <a:p>
            <a:r>
              <a:t>Im Modul-Stil schaltet man sie über ein zweites Argument von „forRoot“ ein, ein Objekt mit „useHash: true“. Heute übergibt man „withHashLocation“ an „provideRouter“.</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Routenparameter mit ActivatedRoute“.</a:t>
            </a:r>
          </a:p>
          <a:p/>
          <a:p>
            <a:r>
              <a:t>So liest eine Komponente im alten Stil einen Parameter aus der Adresse, hier die Nummer eines Trainings. Über den Konstruktor bekommt sie „ActivatedRoute“, das ist ein Objekt mit Informationen über die aktuell angezeigte Route, und den „TrainingService“.</a:t>
            </a:r>
          </a:p>
          <a:p/>
          <a:p>
            <a:r>
              <a:t>In „ngOnInit“, also nach dem Erzeugen der Komponente, meldet sie sich mit „subscribe“ an „route.params“ an. Die übergebene Funktion wird bei jedem neuen Parameterwert aufgerufen. Sie liest die „id“, wandelt sie in eine Zahl um und lädt das passende Training.</a:t>
            </a:r>
          </a:p>
          <a:p/>
          <a:p>
            <a:r>
              <a:t>Das Ergebnis von „subscribe“ ist ein „Subscription“-Objekt, also eine Anmeldung. In „ngOnDestroy“, wenn die Komponente entfernt wird, meldet die Komponente sich mit „unsubscribe“ wieder ab.</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„params.subscribe erklärt“.</a:t>
            </a:r>
          </a:p>
          <a:p/>
          <a:p>
            <a:r>
              <a:t>„route.params“ ist ein Observable, also ein Datenstrom, der Objekte vom Typ „Params“ liefert. Die Funktion, die man an „subscribe“ übergibt, ruft Angular mit diesem Objekt als Parameter auf. Es enthält alle Routenparameter, zum Beispiel „id“ mit dem Wert „7“. Die Werte sind immer Zeichenketten, deshalb wandelt man sie bei Bedarf in Zahlen um.</a:t>
            </a:r>
          </a:p>
          <a:p/>
          <a:p>
            <a:r>
              <a:t>Das Diagramm zeigt den Ablauf. Warum ein Datenstrom und nicht ein einfacher Wert? Wechselt die Adresse von Training 7 auf Training 8, verwendet Angular dieselbe Komponente weiter und erzeugt keine neue. Nur der Datenstrom liefert dann den neuen Wert.</a:t>
            </a:r>
          </a:p>
          <a:p/>
          <a:p>
            <a:r>
              <a:t>Bei „ActivatedRoute“ räumt der Router seine Datenströme selbst auf. Trotzdem war das Abmelden in „ngOnDestroy“ eine wichtige Gewohnheit, denn bei anderen Datenströmen entstehen sonst Speicherlecks.</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„ActivatedRoute: Parameterwechsel im Ablauf“.</a:t>
            </a:r>
          </a:p>
          <a:p/>
          <a:p>
            <a:r>
              <a:t>Das Diagramm zeigt, warum man die Parameter mit „subscribe“ abonniert. Beteiligt sind die Liste, der Router, die Detailkomponente, „ActivatedRoute“ als Information über die aktuelle Route und der „TrainingService“.</a:t>
            </a:r>
          </a:p>
          <a:p/>
          <a:p>
            <a:r>
              <a:t>In Schritt 1 klickt der Nutzer in der Liste auf Training 7. Der Router erzeugt in Schritt 2 die Detailkomponente und übergibt ihr über den Konstruktor die ActivatedRoute. In Schritt 3 abonniert die Komponente in „ngOnInit“ die Parameter und bekommt in Schritt 4 sofort das Objekt mit der id 7, als Text. In den Schritten 5 und 6 lädt sie das Training über den Service.</a:t>
            </a:r>
          </a:p>
          <a:p/>
          <a:p>
            <a:r>
              <a:t>Wechselt die Adresse danach auf Training 8, zum Beispiel über einen Weiter-Link, erzeugt der Router keine neue Komponente. Er schickt in Schritt 7 nur neue Parameter an die ActivatedRoute. Der Callback läuft in Schritt 8 erneut und lädt in Schritt 9 das Training 8. Hätte man den Parameter nur einmal gelesen, bliebe Training 7 stehen. In Schritt 10 beendet die Komponente beim Entfernen das Abonnement.</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„Heute: Input Binding statt subscribe“.</a:t>
            </a:r>
          </a:p>
          <a:p/>
          <a:p>
            <a:r>
              <a:t>Das Diagramm vergleicht den alten und den heutigen Weg. Heute kann der Router Routenparameter direkt als Eingabe an die Komponente übergeben. Die Komponente deklariert dafür ein Signal-Input mit dem Namen des Parameters, also „id“. Eingeschaltet wird das mit „withComponentInputBinding“ beim Aufruf von „provideRouter“.</a:t>
            </a:r>
          </a:p>
          <a:p/>
          <a:p>
            <a:r>
              <a:t>Wechselt der Parameter, ändert sich das Signal. Darauf reagiert man mit „computed“, „effect“ oder einer „resource“, die automatisch neu lädt. Eine Anmeldung mit „subscribe“ und das Abmelden in „ngOnDestroy“ entfallen.</a:t>
            </a:r>
          </a:p>
          <a:p/>
          <a:p>
            <a:r>
              <a:t>Das Übungsprojekt 30 verwendet noch den alten Weg mit „subscribe“. Die Teilnehmer erkennen ihn dort in der Detail-Komponente wieder.</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HttpClientModule“.</a:t>
            </a:r>
          </a:p>
          <a:p/>
          <a:p>
            <a:r>
              <a:t>In den ersten Angular-Versionen hieß das Modul für HTTP-Anfragen „HttpModule“. Ab Version 4.3 kam der heutige „HttpClient“. Dafür musste man das „HttpClientModule“ im Hauptmodul importieren. Dieses Modul ist seit Angular 18 als veraltet markiert.</a:t>
            </a:r>
          </a:p>
          <a:p/>
          <a:p>
            <a:r>
              <a:t>Heute stellt man den HTTP-Client mit der Funktion „provideHttpClient“ bereit. Das funktioniert auch im „providers“-Array eines Moduls, so wie im Übungsprojekt. Die Zusatzfunktion „withInterceptorsFromDi“ sorgt dafür, dass ältere Interceptors in Klassenform weiter funktionieren. Ein Interceptor ist ein Baustein, der jede Anfrage abfangen und verändern kann.</a:t>
            </a:r>
          </a:p>
          <a:p/>
          <a:p>
            <a:r>
              <a:t>Der „HttpClient“ selbst hat dieselben Methoden wie heute. Das Diagramm zeigt beide Wege.</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„HttpClient im Service (klassisch)“.</a:t>
            </a:r>
          </a:p>
          <a:p/>
          <a:p>
            <a:r>
              <a:t>Das Diagramm zeigt die Methode „getById“ aus dem „TrainingService“ des Übungsprojekts. Der „HttpClient“ kommt über den Konstruktor. Die Methode „get“ bekommt die Adresse und als Typangabe die erwartete Form der Antwort. Sie liefert ein Observable. Wichtig: Die Anfrage wird erst abgeschickt, wenn sich jemand mit „subscribe“ anmeldet.</a:t>
            </a:r>
          </a:p>
          <a:p/>
          <a:p>
            <a:r>
              <a:t>Mit „pipe“ und dem Operator „map“ formt man die Antwort um. Die Funktion in „map“ bekommt die bereits in ein Objekt umgewandelte JSON-Antwort als Parameter „res“. Sie gibt nur den Teil „data“ zurück. Das Ergebnis ist ein Observable, das ein Training liefert.</a:t>
            </a:r>
          </a:p>
          <a:p/>
          <a:p>
            <a:r>
              <a:t>In modernen Komponenten verwendet man für das Laden oft „httpResource“ oder „rxResource“, die das Anmelden und Abmelden selbst übernehmen.</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„Mischbetrieb: Standalone und NgModule“.</a:t>
            </a:r>
          </a:p>
          <a:p/>
          <a:p>
            <a:r>
              <a:t>Standalone-Komponenten und Module lassen sich in beide Richtungen kombinieren. Eine Standalone-Komponente kann in einem Modul verwendet werden. Sie wird dann im „imports“-Array des Moduls eingetragen und nicht in „declarations“, denn sie gehört zu keinem Modul. Das Diagramm zeigt das.</a:t>
            </a:r>
          </a:p>
          <a:p/>
          <a:p>
            <a:r>
              <a:t>Umgekehrt kann eine Standalone-Komponente ein altes Modul in ihr eigenes „imports“-Array aufnehmen. Dann darf sie alles verwenden, was dieses Modul exportiert.</a:t>
            </a:r>
          </a:p>
          <a:p/>
          <a:p>
            <a:r>
              <a:t>Das ist bewusst so gestaltet. So kann man ein großes Projekt in kleinen Schritten umstellen, statt alles auf einmal ändern zu müssen. Genau diesen Mischbetrieb üben die Teilnehmer in Übung 30.</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„Migration: ng generate @angular/core:standalone“.</a:t>
            </a:r>
          </a:p>
          <a:p/>
          <a:p>
            <a:r>
              <a:t>Angular bietet eine automatische Migration an. Man startet sie mit dem Befehl „ng generate @angular/core:standalone“. Sie läuft in drei Durchgängen. Bei jedem Aufruf wählt man aus, welcher Durchgang ausgeführt werden soll.</a:t>
            </a:r>
          </a:p>
          <a:p/>
          <a:p>
            <a:r>
              <a:t>Im ersten Durchgang werden alle Komponenten, Direktiven und Pipes auf Standalone umgestellt. Sie bekommen ihr eigenes „imports“-Array. Im zweiten Durchgang werden Module entfernt, die danach nicht mehr gebraucht werden. Im dritten Durchgang wird der Start in „main.ts“ auf „bootstrapApplication“ umgestellt.</a:t>
            </a:r>
          </a:p>
          <a:p/>
          <a:p>
            <a:r>
              <a:t>Nach jedem Durchgang sollte man die Anwendung bauen, die Tests laufen lassen und den Stand in der Versionsverwaltung sichern. Manche Stellen muss man danach von Hand nacharbeiten.</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 der Migration: weitere Modernisierung“.</a:t>
            </a:r>
          </a:p>
          <a:p/>
          <a:p>
            <a:r>
              <a:t>Die Standalone-Migration entfernt die Module, aber der Code ist danach noch nicht modern. Für weitere Schritte gibt es eigene automatische Migrationen. Die Migration „control-flow“ ersetzt die alten Strukturdirektiven wie „ngIf“ und „ngFor“ durch die neuen Blöcke „@if“ und „@for“. Die Migration „inject“ wandelt die Konstruktor-Injektion in Aufrufe der Funktion „inject“ um.</a:t>
            </a:r>
          </a:p>
          <a:p/>
          <a:p>
            <a:r>
              <a:t>Andere Schritte macht man von Hand: zum Beispiel die Provider-Funktionen für Router und HTTP-Client, das Input Binding für Routenparameter sowie Signals und Ressourcen für das Laden von Daten.</a:t>
            </a:r>
          </a:p>
          <a:p/>
          <a:p>
            <a:r>
              <a:t>Auch hier gilt: lieber viele kleine Schritte, jeweils mit laufenden Tests, als eine große Umstellung auf einmal.</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„Gegenüberstellung: alt und neu“.</a:t>
            </a:r>
          </a:p>
          <a:p/>
          <a:p>
            <a:r>
              <a:t>Diese Folie fasst das Kapitel zusammen. In jeder Zeile steht links der alte Stil und rechts nach dem Pfeil der heutige Stil.</a:t>
            </a:r>
          </a:p>
          <a:p/>
          <a:p>
            <a:r>
              <a:t>Statt Modulen listet jede Komponente ihre Abhängigkeiten selbst auf. Statt ein Modul zu starten, startet man direkt die Startkomponente mit einer Konfiguration. Komponenten sind heute automatisch standalone. Services stellt man mit „providedIn“ bereit und holt sie mit „inject“. Das Routing wird mit „provideRouter“ eingerichtet, und Bereiche werden mit „loadChildren“ nachgeladen. Routenparameter kommen als Eingabe in die Komponente. Den HTTP-Client stellt „provideHttpClient“ bereit. Und im Template ersetzen „@if“ und „@for“ die alten Strukturdirektiven.</a:t>
            </a:r>
          </a:p>
          <a:p/>
          <a:p>
            <a:r>
              <a:t>Wer diese Paare kennt, findet sich in alten und neuen Projekten zurecht.</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in Legacy-Projekten“.</a:t>
            </a:r>
          </a:p>
          <a:p/>
          <a:p>
            <a:r>
              <a:t>Diese typischen Fehler begegnen einem in älteren Projekten immer wieder. Die Meldung „is not a known element“ heißt: Eine Komponente wird im Template verwendet, aber Deklaration, Export oder Import fehlt. Ein Baustein, der in zwei Modulen deklariert ist, führt zu einem Fehler beim Kompilieren. Fehlt bei einer Modul-Komponente die Angabe „standalone: false“, kann sie nicht deklariert werden.</a:t>
            </a:r>
          </a:p>
          <a:p/>
          <a:p>
            <a:r>
              <a:t>Das „BrowserModule“ gehört nur ins Hauptmodul; in einem nachgeladenen Fachmodul führt es zu einem Fehler. Fachmodule nehmen das „CommonModule“. „forRoot“ in einem Fachmodul erzeugt einen zweiten Router. Ein Service im „providers“-Array eines nachgeladenen Moduls bekommt eine zweite Instanz, und dadurch sind Daten plötzlich nicht mehr gemeinsam.</a:t>
            </a:r>
          </a:p>
          <a:p/>
          <a:p>
            <a:r>
              <a:t>Und schließlich: Ein neu erzeugtes Modul muss man selbst im übergeordneten Modul importieren.</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30: Legacy – Angular Module“, Teil 1 von 2.</a:t>
            </a:r>
          </a:p>
          <a:p/>
          <a:p>
            <a:r>
              <a:t>Erklärung für die Dolmetscherin:</a:t>
            </a:r>
          </a:p>
          <a:p>
            <a:r>
              <a:t>Dies ist die Aufgabenstellung für Übung 30 im Ordner 30_modules_legacy. Das Projekt ist ein eigenständiges, älteres Projekt im Modul-Stil und baut nicht auf den vorherigen Übungen auf.</a:t>
            </a:r>
          </a:p>
          <a:p/>
          <a:p>
            <a:r>
              <a:t>Zuerst starten die Teilnehmer das Backend im Ordner „server“ des Kursverzeichnisses und danach die Anwendung mit der Proxy-Konfiguration. Dann lesen sie den Code und finden die Teile wieder, die in diesem Kapitel erklärt wurden: den Start in „main.ts“, die Felder des Hauptmoduls, das Fachmodul für die Trainings und das Routing-Modul mit „forRoot“.</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30: Legacy – Angular Module“, Teil 2 von 2.</a:t>
            </a:r>
          </a:p>
          <a:p/>
          <a:p>
            <a:r>
              <a:t>Erklärung für die Dolmetscherin:</a:t>
            </a:r>
          </a:p>
          <a:p>
            <a:r>
              <a:t>Im zweiten Teil erweitern die Teilnehmer das Projekt. Zuerst erzeugen sie mit der Kommandozeile eine klassische Komponente mit der Option „standalone=false“. Sie prüfen, in welchem Modul die Kommandozeile sie eingetragen hat und ob sie exportiert werden muss, damit sie dort verwendbar ist, wo sie gebraucht wird.</a:t>
            </a:r>
          </a:p>
          <a:p/>
          <a:p>
            <a:r>
              <a:t>Dann probieren sie den Mischbetrieb aus: Eine Standalone-Komponente wird im „imports“-Array eines Moduls eingetragen und im Template einer Modul-Komponente verwendet.</a:t>
            </a:r>
          </a:p>
          <a:p/>
          <a:p>
            <a:r>
              <a:t>Optional führen sie die automatische Migration aus, Durchgang für Durchgang, und vergleichen das Ergebnis mit dem Standalone-Projekt aus Übung 23.</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Forms: die Idee“.</a:t>
            </a:r>
          </a:p>
          <a:p/>
          <a:p>
            <a:r>
              <a:t>Bei Reactive Forms baut man das Formular als Objektmodell in der TypeScript-Klasse auf. Das Template verbindet dann nur noch die Eingabefelder mit diesem Modell. Das Diagramm stellt das dem Template-Driven Form aus dem Hauptpfad gegenüber, bei dem Angular das Modell aus den Angaben im Template selbst erzeugt.</a:t>
            </a:r>
          </a:p>
          <a:p/>
          <a:p>
            <a:r>
              <a:t>Vorteile: Man kann Werte und Zustand des Formulars jederzeit direkt in der Klasse lesen. Prüfregeln sind normale Funktionen in TypeScript. Felder lassen sich zur Laufzeit hinzufügen oder entfernen. Und die Logik lässt sich testen, ohne das Template zu rendern.</a:t>
            </a:r>
          </a:p>
          <a:p/>
          <a:p>
            <a:r>
              <a:t>Der Preis ist etwas mehr Code. Für einfache Formulare reicht oft die Template-Variante.</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Formular-Baum“.</a:t>
            </a:r>
          </a:p>
          <a:p/>
          <a:p>
            <a:r>
              <a:t>Ein Reactive Form ist ein Baum aus drei Arten von Bausteinen. Ein „FormControl“ steht für ein einzelnes Eingabefeld, zum Beispiel den Vornamen. Es ist ein Blatt des Baums. Eine „FormGroup“ fasst mehrere benannte Controls zu einem Objekt zusammen, zum Beispiel alle Felder einer Adresse. Ein „FormArray“ ist eine Liste gleichartiger Controls, zum Beispiel beliebig viele Telefonnummern.</a:t>
            </a:r>
          </a:p>
          <a:p/>
          <a:p>
            <a:r>
              <a:t>Das ganze Formular ist selbst wieder eine FormGroup, die Wurzel des Baums. Das Diagramm zeigt den Kundenbaum. Der Wert einer Gruppe ist ein Objekt aus den Werten ihrer Kinder. Ihr Zustand ergibt sich ebenfalls aus den Kindern: Ist ein einziges Kind ungültig, ist die ganze Gruppe ungültig.</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„Gemeinsame Basis: AbstractControl“.</a:t>
            </a:r>
          </a:p>
          <a:p/>
          <a:p>
            <a:r>
              <a:t>„FormControl“, „FormGroup“ und „FormArray“ erben von einer gemeinsamen Basisklasse namens „AbstractControl“. Deshalb haben alle drei dieselben Eigenschaften und Methoden.</a:t>
            </a:r>
          </a:p>
          <a:p/>
          <a:p>
            <a:r>
              <a:t>„value“ ist der aktuelle Wert. „status“ ist der Prüfstatus: gültig, ungültig, wartend, wenn eine Prüfung noch läuft, oder deaktiviert. „valid“ und „invalid“ sind die passenden Wahrheitswerte, und „errors“ enthält die Fehler. „touched“ bedeutet, dass der Benutzer das Feld schon einmal verlassen hat. „dirty“ bedeutet, dass er den Wert verändert hat.</a:t>
            </a:r>
          </a:p>
          <a:p/>
          <a:p>
            <a:r>
              <a:t>Mit Methoden wie „setValue“, „patchValue“ und „reset“ ändert man Werte aus dem Code heraus. Über „valueChanges“ und „statusChanges“ kann man auf Änderungen reagieren. Diese Begriffe werden auf den folgenden Folien genauer erklärt.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„FormGroup und FormControl anlegen“.</a:t>
            </a:r>
          </a:p>
          <a:p/>
          <a:p>
            <a:r>
              <a:t>Zuerst wird das „ReactiveFormsModule“ im „imports“-Array der Komponente eingetragen. Es liefert die Direktiven, mit denen das Template die Felder verbindet.</a:t>
            </a:r>
          </a:p>
          <a:p/>
          <a:p>
            <a:r>
              <a:t>In der Klasse entsteht das Feld „customerForm“. Es ist eine neue „FormGroup“. Ihr wird ein Objekt übergeben: Die Schlüssel sind die Feldnamen, die Werte sind die einzelnen Controls. Jedes „FormControl“ bekommt als ersten Parameter den Startwert, hier eine leere Zeichenkette. Der zweite Parameter ist ein Optionsobjekt. „nonNullable: true“ bedeutet, dass das Feld nie den Wert „null“ annimmt. Das Datumsfeld bekommt dagegen ausdrücklich den Typ „Zeichenkette oder null“ mit dem Startwert „null“.</a:t>
            </a:r>
          </a:p>
          <a:p/>
          <a:p>
            <a:r>
              <a:t>TypeScript leitet aus diesem Aufbau den genauen Typ des Formulars ab.</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Formulare und nonNullable“.</a:t>
            </a:r>
          </a:p>
          <a:p/>
          <a:p>
            <a:r>
              <a:t>Seit Angular 14 kennt TypeScript den genauen Aufbau eines Reactive Forms. Schreibt man einen falschen Feldnamen, meldet der Editor sofort einen Fehler.</a:t>
            </a:r>
          </a:p>
          <a:p/>
          <a:p>
            <a:r>
              <a:t>Ohne weitere Angabe hat ein „FormControl“ mit dem Startwert leere Zeichenkette den Typ „Zeichenkette oder null“. Der Grund: Die Methode „reset“ setzt das Feld standardmäßig auf „null“. Mit der Option „nonNullable: true“ setzt „reset“ dagegen auf den Startwert zurück, und der Typ ist nur noch „Zeichenkette“. Das Diagramm zeigt beide Fälle.</a:t>
            </a:r>
          </a:p>
          <a:p/>
          <a:p>
            <a:r>
              <a:t>Auch beim Lesen gibt es einen Unterschied. „value“ hat einen Typ, bei dem alle Felder optional sind, weil deaktivierte Felder darin fehlen. „getRawValue“ liefert immer das vollständige Objekt mit allen Feldern.</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„FormBuilder: kürzer schreiben“.</a:t>
            </a:r>
          </a:p>
          <a:p/>
          <a:p>
            <a:r>
              <a:t>Der „FormBuilder“ ist ein Service, der das Anlegen von Formularen abkürzt. Man holt ihn mit „inject“. Seine Methode „group“ erzeugt eine FormGroup, „control“ ein einzelnes Feld und „array“ ein FormArray.</a:t>
            </a:r>
          </a:p>
          <a:p/>
          <a:p>
            <a:r>
              <a:t>Über die Eigenschaft „nonNullable“ bekommt man eine Variante, bei der alle Felder automatisch „nonNullable“ sind. Ein Feld schreibt man als kleines Array: An erster Stelle steht der Startwert, an zweiter Stelle optional die Prüfregeln. Das Ergebnis ist dieselbe typisierte FormGroup wie auf der vorigen Codefolie. Das Diagramm zeigt das Beispiel.</a:t>
            </a:r>
          </a:p>
          <a:p/>
          <a:p>
            <a:r>
              <a:t>Im Projekt der Wahlübung Z1 wird der FormBuilder bereits verwendet, dort noch ohne „nonNullable“.</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 formGroup und formControlName“.</a:t>
            </a:r>
          </a:p>
          <a:p/>
          <a:p>
            <a:r>
              <a:t>Am Element „form“ verbindet „[formGroup]“ das ganze Formular mit dem Objekt „customerForm“ aus der Klasse. Das Ereignis „ngSubmit“ wird ausgelöst, wenn das Formular abgeschickt wird, und ruft dann die Methode „save“ auf.</a:t>
            </a:r>
          </a:p>
          <a:p/>
          <a:p>
            <a:r>
              <a:t>Die Eingabefelder für Vorname, Nachname und Datum werden mit „formControlName“ verbunden. Der Wert ist der Name des Feldes in der Gruppe als Zeichenkette. Beim Feld für die Postleitzahl ist die zweite Schreibweise gezeigt: „[formControl]“ bekommt direkt das Control-Objekt aus der Gruppe.</a:t>
            </a:r>
          </a:p>
          <a:p/>
          <a:p>
            <a:r>
              <a:t>Der Button hat den Typ „submit“ und schickt damit das Formular ab. Solange das Formular ungültig ist, ist er deaktiviert.</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„Template-Bindung erklärt“.</a:t>
            </a:r>
          </a:p>
          <a:p/>
          <a:p>
            <a:r>
              <a:t>Die Direktive „formGroup“ bekommt das FormGroup-Objekt aus der Klasse. „formControlName“ bekommt nur einen Namen als Zeichenkette. Angular sucht dann in der umgebenden Gruppe das Control mit diesem Namen. Ist der Name falsch geschrieben, erscheint der Fehler „Cannot find control with name“. Ein typischer Fehler ist auch, „formGroupName“ statt „formControlName“ zu schreiben. „formControl“ in eckigen Klammern bekommt dagegen direkt ein Control-Objekt.</a:t>
            </a:r>
          </a:p>
          <a:p/>
          <a:p>
            <a:r>
              <a:t>Das Diagramm zeigt den Ablauf: Tippt der Benutzer, schreibt Angular den Wert in das Control. Ändert der Code den Wert, zeigt das Eingabefeld ihn an.</a:t>
            </a:r>
          </a:p>
          <a:p/>
          <a:p>
            <a:r>
              <a:t>„ngSubmit“ verhindert, dass der Browser die Seite beim Absenden neu lädt. „ngModel“ aus den Template-Driven Forms sollte man nicht zusätzlich an dasselbe Feld hängen.</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„Formular-Modell und Template“.</a:t>
            </a:r>
          </a:p>
          <a:p/>
          <a:p>
            <a:r>
              <a:t>Das Diagramm zeigt die „CustomerDetailsComponent“ als Kasten mit zwei Teilen. Links steht die Klasse mit dem Formular-Modell „customerForm“, einer „FormGroup“, also einer Gruppe von Feldern. Darin liegen die Felder „firstname“, „lastname“ und „zip“, jeweils ein „FormControl“.</a:t>
            </a:r>
          </a:p>
          <a:p/>
          <a:p>
            <a:r>
              <a:t>Rechts steht das Template. Das Element „form“ ist mit „[formGroup]“ an die Gruppe gebunden. Jedes Eingabefeld ist mit genau einem FormControl verbunden: die ersten beiden über „formControlName“, also über den Namen in der Gruppe, das PLZ-Feld über „[formControl]“ direkt mit dem Objekt.</a:t>
            </a:r>
          </a:p>
          <a:p/>
          <a:p>
            <a:r>
              <a:t>Die Pfeile zeigen diese Verbindungen. Die Werte fließen in beide Richtungen: Tippt der Nutzer, ändert sich das FormControl. Setzt die Klasse einen Wert, zum Beispiel mit „patchValue“, erscheint er im Feld. Prüfregeln und Zustand hängen am FormControl in der Klasse, nicht am Eingabefeld.</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„Werte setzen: setValue und patchValue“.</a:t>
            </a:r>
          </a:p>
          <a:p/>
          <a:p>
            <a:r>
              <a:t>Um Werte aus dem Code ins Formular zu schreiben, gibt es zwei Methoden. „setValue“ erwartet ein Objekt mit allen Feldern der Gruppe. Fehlt eines, gibt es einen Fehler. „patchValue“ übernimmt nur die Felder, die im Objekt vorkommen, und ignoriert den Rest.</a:t>
            </a:r>
          </a:p>
          <a:p/>
          <a:p>
            <a:r>
              <a:t>Typisch ist, die Daten eines Kunden vom Service mit „patchValue“ einzutragen, wie im Diagramm. Ein Datumsfeld vom Typ „date“ erwartet aber keinen Datumswert, sondern einen Text in der Form Jahr, Monat, Tag. Deshalb wird das Datum mit „toISOString“ in Text umgewandelt, und davon werden die ersten zehn Zeichen genommen.</a:t>
            </a:r>
          </a:p>
          <a:p/>
          <a:p>
            <a:r>
              <a:t>„reset“ setzt die Felder auf ihre Startwerte zurück und markiert sie wieder als unverändert und unberührt.</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„Werte übernehmen beim Speichern“.</a:t>
            </a:r>
          </a:p>
          <a:p/>
          <a:p>
            <a:r>
              <a:t>Das Diagramm zeigt die Methode „save“, die das Formular beim Absenden aufruft. Zuerst prüft sie, ob das Formular ungültig ist. Wenn ja, markiert „markAllAsTouched“ alle Felder als berührt. Dadurch erscheinen alle Fehlermeldungen, und die Methode bricht ab.</a:t>
            </a:r>
          </a:p>
          <a:p/>
          <a:p>
            <a:r>
              <a:t>Ist das Formular gültig, holt „getRawValue“ alle Werte als ein Objekt. Das Datum ist dort noch ein Text und wird mit „new Date“ wieder in ein Datum umgewandelt. „Object.assign“ kopiert die Werte in das vorhandene Kundenobjekt. Danach kann man den Service aufrufen, der die Daten speichert.</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„Validators: eingebaute Prüfregeln“.</a:t>
            </a:r>
          </a:p>
          <a:p/>
          <a:p>
            <a:r>
              <a:t>Die Klasse „Validators“ enthält fertige Prüfregeln. „required“ macht ein Feld zur Pflicht. „minLength“ und „maxLength“ prüfen die Länge eines Textes, „min“ und „max“ den Bereich einer Zahl. „email“ prüft das Format einer E-Mail-Adresse. „pattern“ prüft gegen einen regulären Ausdruck, also ein Textmuster.</a:t>
            </a:r>
          </a:p>
          <a:p/>
          <a:p>
            <a:r>
              <a:t>Manche Regeln stehen ohne Klammern da, zum Beispiel „Validators.required“. Das ist die Prüffunktion selbst. Andere werden mit einem Wert aufgerufen, zum Beispiel „minLength(3)“. Dieser Aufruf liefert erst die eigentliche Prüffunktion zurück.</a:t>
            </a:r>
          </a:p>
          <a:p/>
          <a:p>
            <a:r>
              <a:t>Mehrere Regeln für ein Feld übergibt man als Array. In älterem Code sieht man dafür noch „Validators.compose“.</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„Validatoren im Formular“.</a:t>
            </a:r>
          </a:p>
          <a:p/>
          <a:p>
            <a:r>
              <a:t>Mit dem FormBuilder stehen die Prüfregeln an zweiter Stelle im Array eines Feldes. Der Vorname ist ein Pflichtfeld. Der Nachname ist Pflicht und muss mindestens zwei Zeichen haben, deshalb stehen hier zwei Regeln in einem Array. Die Stadt darf höchstens 30 Zeichen lang sein. Die Postleitzahl muss aus genau fünf Ziffern bestehen. Die E-Mail-Adresse ist Pflicht und muss ein gültiges Format haben.</a:t>
            </a:r>
          </a:p>
          <a:p/>
          <a:p>
            <a:r>
              <a:t>Unten ist gezeigt, wie man ohne FormBuilder Prüfregeln angibt: im Optionsobjekt eines FormControl unter dem Schlüssel „validators“.</a:t>
            </a:r>
          </a:p>
          <a:p/>
          <a:p>
            <a:r>
              <a:t>Bei „pattern“ mit einer Zeichenkette ergänzt Angular selbst Anfang und Ende, das Muster muss also auf den ganzen Wert passen.</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und CSS-Klassen“.</a:t>
            </a:r>
          </a:p>
          <a:p/>
          <a:p>
            <a:r>
              <a:t>Jedes Feld hat mehrere voneinander unabhängige Zustände. Am Anfang ist es „pristine“, also unverändert, und „untouched“, also unberührt. Sobald der Benutzer den Wert ändert, wird es „dirty“, also verändert. Sobald er das Feld verlässt, wird es „touched“, also berührt. Unabhängig davon ist das Ergebnis der Prüfung: gültig, ungültig oder wartend, wenn eine Prüfung im Hintergrund läuft. Das Diagramm zeigt diese Reihenfolge.</a:t>
            </a:r>
          </a:p>
          <a:p/>
          <a:p>
            <a:r>
              <a:t>Diese Zustände gibt es auch für Gruppen und das ganze Formular. Zusätzlich setzt Angular passende CSS-Klassen an die Elemente, zum Beispiel „ng-invalid“ und „ng-touched“. Damit kann man ungültige Felder per CSS rot umranden, ohne eine Zeile TypeScript.</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„Das errors-Objekt“.</a:t>
            </a:r>
          </a:p>
          <a:p/>
          <a:p>
            <a:r>
              <a:t>Die Eigenschaft „errors“ eines Controls ist entweder „null“, dann gibt es keinen Fehler, oder ein Objekt vom Typ „ValidationErrors“. In diesem Objekt gibt es für jede verletzte Prüfregel einen Schlüssel.</a:t>
            </a:r>
          </a:p>
          <a:p/>
          <a:p>
            <a:r>
              <a:t>Der Schlüssel heißt wie die Regel, in Kleinbuchstaben. Bei „required“ ist der Wert einfach „true“. Bei „minlength“ ist der Wert ein Objekt mit der verlangten und der tatsächlichen Länge. Bei „pattern“ enthält es das Muster und den geprüften Wert. Diese Zusatzinformationen kann man in Fehlermeldungen einsetzen, wie das Diagramm zeigt.</a:t>
            </a:r>
          </a:p>
          <a:p/>
          <a:p>
            <a:r>
              <a:t>Am einfachsten fragt man einen bestimmten Fehler mit der Methode „hasError“ und dem Namen des Schlüssels ab.</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„Fehlermeldungen mit @if“.</a:t>
            </a:r>
          </a:p>
          <a:p/>
          <a:p>
            <a:r>
              <a:t>Die letzte Zeile zeigt eine Vorbereitung in der Klasse: Das Feld „lastname“ verweist direkt auf das Control des Nachnamens. Das hält das Template kurz. Für die Postleitzahl gibt es entsprechend ein Feld „zip“.</a:t>
            </a:r>
          </a:p>
          <a:p/>
          <a:p>
            <a:r>
              <a:t>Oben bekommt das Eingabefeld die CSS-Klasse „has-error“, sobald es ungültig ist und der Benutzer es schon verlassen hat. Darunter stehen drei Blöcke mit „@if“. Der erste zeigt die Pflichtfeld-Meldung, wenn das Feld berührt und leer ist. Der zweite zeigt die Mindestlänge an. Mit „getError“ liest er die verlangte Länge aus dem Fehlerobjekt. Der dritte zeigt eine Meldung zur Postleitzahl, sobald der Benutzer dort etwas geändert hat und das Muster nicht passt.</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„Fehlerzustand im Template erklärt“.</a:t>
            </a:r>
          </a:p>
          <a:p/>
          <a:p>
            <a:r>
              <a:t>Ein leeres Pflichtfeld ist schon beim ersten Anzeigen ungültig. Würde man die Meldung sofort zeigen, wäre das Formular voller Fehler, bevor der Benutzer etwas getan hat. Deshalb kombiniert man die Fehlerprüfung mit „touched“ oder „dirty“.</a:t>
            </a:r>
          </a:p>
          <a:p/>
          <a:p>
            <a:r>
              <a:t>„hasError“ bekommt den Namen einer Regel und liefert „true“, wenn genau diese Regel verletzt ist. „getError“ liefert die Zusatzdaten dieser Regel.</a:t>
            </a:r>
          </a:p>
          <a:p/>
          <a:p>
            <a:r>
              <a:t>Um das Absenden zu verhindern, gibt es zwei Wege: Den Button deaktivieren, solange das Formular ungültig ist, oder beim Absenden alle Felder als berührt markieren und abbrechen. In älterem Code findet man statt „@if“ noch das Attribut „hidden“ oder die Direktive „ngIf“.</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„Von der Eingabe zur Fehlermeldung“.</a:t>
            </a:r>
          </a:p>
          <a:p/>
          <a:p>
            <a:r>
              <a:t>Das Diagramm zeigt, was bei einer Eingabe im Feld „Nachname“ passiert. Beteiligt sind der Nutzer, das Eingabefeld, das „FormControl“ „lastname“ in der Klasse, die eingebauten Prüfregeln „Validators“ und das Template mit dem „@if“-Block für die Meldung.</a:t>
            </a:r>
          </a:p>
          <a:p/>
          <a:p>
            <a:r>
              <a:t>In Schritt 1 tippt der Nutzer den Buchstaben M. Das Eingabefeld gibt den Wert in Schritt 2 an das FormControl weiter; das Feld gilt jetzt als „dirty“, also verändert. Das FormControl ruft in Schritt 3 die Regel „required“ auf. Sie ist erfüllt und liefert in Schritt 4 „null“. In Schritt 5 ruft es die Regel „minLength“ auf. Sie meldet in Schritt 6 einen Fehler, weil nur ein Zeichen da ist.</a:t>
            </a:r>
          </a:p>
          <a:p/>
          <a:p>
            <a:r>
              <a:t>In Schritt 7 sammelt das FormControl die Fehler im Objekt „errors“ und wird ungültig. Beim nächsten Darstellen fragt das Template in Schritt 8 mit „hasError“ nach diesem Fehler, bekommt in Schritt 9 „true“ und zeigt die Meldung an. Gleichzeitig setzt Angular in Schritt 10 passende CSS-Klassen am Eingabefeld.</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Validatorfunktion: Konzept“.</a:t>
            </a:r>
          </a:p>
          <a:p/>
          <a:p>
            <a:r>
              <a:t>Reichen die eingebauten Regeln nicht, schreibt man eine eigene Prüffunktion. Sie hat den Typ „ValidatorFn“. Das ist eine Funktion mit genau einem Parameter, üblicherweise „control“ genannt, und einem Rückgabewert.</a:t>
            </a:r>
          </a:p>
          <a:p/>
          <a:p>
            <a:r>
              <a:t>Den Parameter übergibt nicht der eigene Code, sondern Angular. Jedes Mal, wenn sich der Wert eines Feldes ändert, ruft Angular alle Prüffunktionen dieses Feldes auf und übergibt das Feld selbst, also das Control-Objekt. Über „control.value“ liest die Funktion den aktuellen Wert.</a:t>
            </a:r>
          </a:p>
          <a:p/>
          <a:p>
            <a:r>
              <a:t>Gibt die Funktion „null“ zurück, ist der Wert gültig. Gibt sie ein Objekt zurück, ist er ungültig. Angular trägt dieses Objekt dann in „errors“ ein.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„Eigener Validator: nur Ziffern“.</a:t>
            </a:r>
          </a:p>
          <a:p/>
          <a:p>
            <a:r>
              <a:t>Der erste Teil zeigt eine Prüffunktion namens „digitsOnly“. Sie bekommt das Control, liest dessen Wert und gibt bei leerem Feld „null“ zurück. Ob ein Feld leer sein darf, entscheidet nämlich eine eigene Regel, „required“. Sonst prüft ein regulärer Ausdruck, ob der Wert nur aus Ziffern besteht. Wenn ja, kommt „null“ zurück, sonst ein Fehlerobjekt mit dem Schlüssel „digitsOnly“.</a:t>
            </a:r>
          </a:p>
          <a:p/>
          <a:p>
            <a:r>
              <a:t>Der zweite Teil zeigt eine Regel mit Parameter. „exactLength“ ist eine sogenannte Fabrikfunktion: Man ruft sie mit der gewünschten Länge auf, und sie gibt die eigentliche Prüffunktion zurück. So funktionieren auch die eingebauten Regeln wie „minLength“.</a:t>
            </a:r>
          </a:p>
          <a:p/>
          <a:p>
            <a:r>
              <a:t>Die letzte Zeile zeigt die Verwendung: Die erste Funktion wird ohne Klammern übergeben, die zweite mit Klammern aufgerufen.</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„Eigener Validator erklärt“.</a:t>
            </a:r>
          </a:p>
          <a:p/>
          <a:p>
            <a:r>
              <a:t>Der Parameter „control“ hat den Typ „AbstractControl“. Bei einer Regel für ein einzelnes Feld ist es das FormControl dieses Feldes. Hängt man eine Regel an eine ganze FormGroup, bekommt sie die Gruppe und kann mehrere Felder vergleichen, zum Beispiel Passwort und Passwort-Wiederholung.</a:t>
            </a:r>
          </a:p>
          <a:p/>
          <a:p>
            <a:r>
              <a:t>Wichtig ist der Unterschied zwischen Übergeben und Aufrufen. „digitsOnly“ wird ohne Klammern übergeben, denn Angular soll die Funktion später selbst aufrufen. „exactLength(5)“ wird sofort aufgerufen, denn erst das Ergebnis dieses Aufrufs ist die Prüffunktion.</a:t>
            </a:r>
          </a:p>
          <a:p/>
          <a:p>
            <a:r>
              <a:t>Den Schlüssel im Fehlerobjekt wählt man selbst. Unter genau diesem Namen fragt man den Fehler im Template mit „hasError“ ab. Es gibt außerdem asynchrone Prüffunktionen, die zum Beispiel beim Server nachfragen. Solange sie laufen, ist der Status „PENDING“, also wartend.</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„Eigener Validator: wann ruft Angular ihn auf?“.</a:t>
            </a:r>
          </a:p>
          <a:p/>
          <a:p>
            <a:r>
              <a:t>Das Diagramm zeigt, wer die eigene Prüffunktion „digitsOnly“ aufruft. Beteiligt sind die Komponente, der „FormBuilder“, das FormControl für die Postleitzahl, die Funktion „digitsOnly“ und das Template.</a:t>
            </a:r>
          </a:p>
          <a:p/>
          <a:p>
            <a:r>
              <a:t>In Schritt 1 legt die Komponente das Formular an und übergibt die Funktion ohne Klammern, also ohne sie aufzurufen. Der FormBuilder erzeugt in Schritt 2 das FormControl und hängt die Funktion als Prüfregel an. Schon beim Anlegen prüft das FormControl in Schritt 3 den Startwert. Der leere Wert ist für „digitsOnly“ in Ordnung, deshalb kommt in Schritt 4 „null“ zurück.</a:t>
            </a:r>
          </a:p>
          <a:p/>
          <a:p>
            <a:r>
              <a:t>In Schritt 5 tippt der Nutzer „12a“. Das FormControl ruft die Funktion in Schritt 6 erneut auf und übergibt sich selbst als Parameter „control“. Die Funktion prüft in Schritt 7 mit einem regulären Ausdruck, ob nur Ziffern enthalten sind. Das stimmt nicht, also liefert sie in Schritt 8 ein Fehlerobjekt mit dem frei gewählten Schlüssel „digitsOnly“. In Schritt 9 wird das Feld ungültig, und das Template kann in Schritt 10 mit „hasError“ eine Meldung anzeigen.</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 Änderungen reagieren: valueChanges“.</a:t>
            </a:r>
          </a:p>
          <a:p/>
          <a:p>
            <a:r>
              <a:t>Jedes Control hat die Eigenschaft „valueChanges“. Das ist ein Observable, also ein Datenstrom, der bei jeder Änderung den neuen Wert liefert. Die Funktion, die man an „subscribe“ übergibt, bekommt diesen neuen Wert als Parameter. Entsprechend liefert „statusChanges“ jeden neuen Prüfstatus.</a:t>
            </a:r>
          </a:p>
          <a:p/>
          <a:p>
            <a:r>
              <a:t>Das Diagramm zeigt ein Beispiel: Ändert sich die Postleitzahl, wird der neue Wert ausgegeben. Der Operator „takeUntilDestroyed“ beendet die Anmeldung automatisch, wenn die Komponente entfernt wird. Ohne Argument muss er im Konstruktor oder bei der Felddeklaration stehen, weil er dort den Zusammenhang der Komponente kennt.</a:t>
            </a:r>
          </a:p>
          <a:p/>
          <a:p>
            <a:r>
              <a:t>Wer lieber mit Signals arbeitet, wandelt den Datenstrom mit „toSignal“ in ein Signal um. Ein typischer Einsatz: Zur eingegebenen Postleitzahl automatisch die Stadt nachschlagen.</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„FormArray: Listen von Feldern“.</a:t>
            </a:r>
          </a:p>
          <a:p/>
          <a:p>
            <a:r>
              <a:t>Manchmal steht die Zahl der Felder erst zur Laufzeit fest, zum Beispiel bei beliebig vielen Telefonnummern. Dafür gibt es das „FormArray“. Mit dem FormBuilder legt man es über „array“ an und setzt es wie ein normales Feld in die FormGroup, hier unter dem Namen „phones“. Eine kleine Getter-Methode „phones“ macht es im Template bequem erreichbar.</a:t>
            </a:r>
          </a:p>
          <a:p/>
          <a:p>
            <a:r>
              <a:t>Mit „push“ fügt man ein neues Control hinzu, mit „removeAt“ und einer Position entfernt man eines. Die Eigenschaft „controls“ ist das Array der einzelnen Controls.</a:t>
            </a:r>
          </a:p>
          <a:p/>
          <a:p>
            <a:r>
              <a:t>Im Template verbindet „formArrayName“ den umgebenden Bereich mit dem Array. Darin erzeugt eine „@for“-Schleife für jedes Control ein Eingabefeld. Da die Controls im Array keinen Namen haben, sondern eine Position, bindet man „formControlName“ an die Schleifenvariable „$index“. Das Diagramm zeigt Klasse und Template.</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Practices für Reactive Forms“.</a:t>
            </a:r>
          </a:p>
          <a:p/>
          <a:p>
            <a:r>
              <a:t>Die Folie fasst die wichtigsten Empfehlungen zusammen. Man verwendet „nonNullable“ und liest Werte mit „getRawValue“. Fehlermeldungen erscheinen erst, wenn der Benutzer das Feld berührt oder verändert hat. Eigene Prüfregeln schreibt man als kleine Funktionen, die sich einzeln testen lassen. Anmeldungen an Datenströme beendet man mit „takeUntilDestroyed“. Und man mischt nicht beide Formulararten am selben Feld.</a:t>
            </a:r>
          </a:p>
          <a:p/>
          <a:p>
            <a:r>
              <a:t>Die Prüfung im Browser verbessert nur die Bedienung. Aus Sicherheitsgründen muss der Server die Daten immer noch einmal prüfen.</a:t>
            </a:r>
          </a:p>
          <a:p/>
          <a:p>
            <a:r>
              <a:t>Als Ausblick: Angular 21 enthält eine experimentelle neue Formular-Variante namens „Signal Forms“, die auf Signals aufbaut. Experimentell bedeutet, dass sich die Schnittstelle noch ändern kann. Für Projekte im Betrieb nimmt man deshalb weiterhin Reactive oder Template-Driven Forms.</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Die Teilnehmer binden das „ReactiveFormsModule“ ein und bauen in „CustomerDetailsComponent“ ein typisiertes Formular mit dem FormBuilder auf. Sie füllen es mit den Daten des Kunden; das Datum muss dafür in Text umgewandelt werden. Im Template verbinden sie das Formular und jedes Eingabefeld. Zum Schluss übernehmen sie beim Absenden die Werte zurück in das Kundenobjekt. Der Ordner enthält bereits den Aufbau des Formulars, das Speichern ist der Teil zum Selbermachen.</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wer möchte, schreibt dafür eine eigene Prüffunktion.</a:t>
            </a:r>
          </a:p>
          <a:p/>
          <a:p>
            <a:r>
              <a:t>Für jedes ungültige Feld erscheint mit „@if“ eine Fehlermeldung, aber erst, wenn der Benutzer das Feld verändert hat. Das Absenden eines ungültigen Formulars wird verhindert, indem der Button deaktiviert ist. Zum Schluss testen die Teilnehmer im Browser mit leeren Feldern und mit Buchstaben in der Postleitzahl. Der Ordner enthält diese Validierung absichtlich nicht.</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 Wozu?“.</a:t>
            </a:r>
          </a:p>
          <a:p/>
          <a:p>
            <a:r>
              <a:t>Eine „Direktive“ ist eine TypeScript-Klasse, die einem bereits vorhandenen HTML-Element zusätzliches Verhalten gibt. Eine Komponente ist eigentlich auch eine Direktive, sie hat aber zusätzlich ein eigenes Template, also eigenes HTML. Eine Direktive hat kein eigenes Template, sie arbeitet mit dem Element, auf dem sie sitzt.</a:t>
            </a:r>
          </a:p>
          <a:p/>
          <a:p>
            <a:r>
              <a:t>Man unterscheidet zwei Arten. Eine „Attribut-Direktive“ ändert das Aussehen oder das Verhalten eines Elements, zum Beispiel eine Hervorhebung, einen Hinweistext beim Darüberfahren oder einen automatischen Fokus. Eine „strukturelle Direktive“ fügt Elemente hinzu oder entfernt sie. Dafür nimmt man heute meist die eingebaute Ablaufsteuerung „@if“ und „@for“.</a:t>
            </a:r>
          </a:p>
          <a:p/>
          <a:p>
            <a:r>
              <a:t>Der Vorteil: Man schreibt das Verhalten einmal und kann es überall als Attribut verwenden.</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 erzeugen und einbinden“.</a:t>
            </a:r>
          </a:p>
          <a:p/>
          <a:p>
            <a:r>
              <a:t>Mit dem Befehl „ng generate directive highlight“ erzeugt die Angular-Kommandozeile eine neue Direktive. Die Klasse bekommt den Dekorator „@Directive“. Darin steht der „selector“. Die eckigen Klammern um „appHighlight“ bedeuten: Die Direktive wird auf jedes Element angewendet, das ein Attribut mit diesem Namen hat. Das ist dieselbe Schreibweise wie bei CSS-Selektoren.</a:t>
            </a:r>
          </a:p>
          <a:p/>
          <a:p>
            <a:r>
              <a:t>Damit eine Komponente die Direktive verwenden kann, trägt man die Klasse in das „imports“-Array der Komponente ein. Beim Übersetzen des Templates erkennt Angular jedes passende Element und erzeugt dafür eine eigene Instanz der Direktive. Über „inject(ElementRef)“ bekommt die Instanz Zugriff auf genau das Element, auf dem sie sitzt.</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„Direktive: einfaches Beispiel“.</a:t>
            </a:r>
          </a:p>
          <a:p/>
          <a:p>
            <a:r>
              <a:t>Die Klasse „HighlightDirective“ hat den Selector „appHighlight“ in eckigen Klammern, wird also als Attribut verwendet. Mit „inject(ElementRef)“ holt sie sich eine Referenz auf das Element. „ElementRef“ ist eine kleine Hülle um das echte Element im Browser. Das echte Element steckt in der Eigenschaft „nativeElement“.</a:t>
            </a:r>
          </a:p>
          <a:p/>
          <a:p>
            <a:r>
              <a:t>Im Konstruktor setzt die Direktive die Hintergrundfarbe des Elements auf Gelb. Unten steht, wie man sie verwendet: Man schreibt einfach das Attribut „appHighlight“ auf ein Element. Ein vollständiges Beispiel steht in der offiziellen Dokumentation unter angular.dev, Bereich „attribute directives“.</a:t>
            </a:r>
          </a:p>
          <a:p/>
          <a:p>
            <a:r>
              <a:t>Dieser direkte Zugriff auf das Element funktioniert, ist aber nicht der beste Weg. Die nächsten Folien zeigen die bessere Variante mit Host-Bindings.</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„Lebenszyklus einer Direktive“.</a:t>
            </a:r>
          </a:p>
          <a:p/>
          <a:p>
            <a:r>
              <a:t>Eine Direktive durchläuft dieselben Lebensphasen wie eine Komponente. Zuerst ruft Angular den Konstruktor auf. Dort kann man mit „inject()“ Dienste holen. Die Eingabewerte, also die „Inputs“, sind dort aber noch nicht gesetzt.</a:t>
            </a:r>
          </a:p>
          <a:p/>
          <a:p>
            <a:r>
              <a:t>Danach ruft Angular „ngOnInit“ auf. Jetzt haben die Inputs ihren ersten Wert. „ngOnChanges“ wird aufgerufen, wenn sich ein Input ändert. Wenn das Element aus der Seite verschwindet, zum Beispiel weil ein „@if“ falsch wird, ruft Angular „ngOnDestroy“ auf. Alternativ meldet man sich mit „DestroyRef“ für das Aufräumen an.</a:t>
            </a:r>
          </a:p>
          <a:p/>
          <a:p>
            <a:r>
              <a:t>Wenn man Inputs mit der Funktion „input()“ anlegt, sind sie Signals. Dann braucht man die meisten dieser Methoden nicht mehr: Man liest das Signal in einem „computed“ oder „effect“, und Angular reagiert automatisch auf Änderungen.</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„Direktive mit input() und Host-Bindings“.</a:t>
            </a:r>
          </a:p>
          <a:p/>
          <a:p>
            <a:r>
              <a:t>Das ist die moderne Form der Hervorhebungs-Direktive. Statt das Element direkt anzufassen, beschreibt die Direktive im Feld „host“, was am Element passieren soll. Das „Host-Element“ ist das Element, auf dem die Direktive sitzt.</a:t>
            </a:r>
          </a:p>
          <a:p/>
          <a:p>
            <a:r>
              <a:t>Die erste Zeile im „host“-Objekt bindet die Hintergrundfarbe: Ist das Signal „active“ wahr, wird die Farbe aus dem Input gesetzt, sonst keine. Die zweite und dritte Zeile reagieren auf Ereignisse des Elements: Fährt die Maus darauf, wird „active“ auf wahr gesetzt, verlässt sie es, auf falsch.</a:t>
            </a:r>
          </a:p>
          <a:p/>
          <a:p>
            <a:r>
              <a:t>Die Farbe kommt über „input“ von außen, mit Gelb als Standardwert. Unten sieht man zwei Verwendungen: einmal ohne Farbangabe, einmal mit hellblauer Farbe.</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„Host-Bindings erklärt“.</a:t>
            </a:r>
          </a:p>
          <a:p/>
          <a:p>
            <a:r>
              <a:t>Das Feld „host“ im Dekorator beschreibt Bindungen am Element, auf dem die Direktive sitzt. Die Schreibweise ist dieselbe wie im Template. Ein Schlüssel in eckigen Klammern bindet eine Eigenschaft, zum Beispiel eine CSS-Klasse, ein Attribut für Barrierefreiheit oder eine Stilangabe. Rechts steht der Ausdruck, der den Wert liefert.</a:t>
            </a:r>
          </a:p>
          <a:p/>
          <a:p>
            <a:r>
              <a:t>Ein Schlüssel in runden Klammern reagiert auf ein Ereignis, zum Beispiel einen Klick, die Eingabetaste oder eine Größenänderung des Fensters. Rechts steht die Anweisung, die dann ausgeführt wird.</a:t>
            </a:r>
          </a:p>
          <a:p/>
          <a:p>
            <a:r>
              <a:t>Der Vorteil gegenüber dem direkten Zugriff über „ElementRef“: Angular kümmert sich selbst um das Element. Das ist sicherer und funktioniert auch beim Rendern auf dem Server. Ältere Projekte nutzen dafür die Dekoratoren „@HostBinding“ und „@HostListener“. Sie funktionieren weiter, empfohlen ist heute aber das Feld „host“.</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„Zusammenspiel: Template, Direktive, Element“.</a:t>
            </a:r>
          </a:p>
          <a:p/>
          <a:p>
            <a:r>
              <a:t>Das Sequenzdiagramm zeigt, wer bei der Direktive „HighlightDirective“ mit wem spricht. Es gibt vier Beteiligte: das Template der Elternkomponente, Angular selbst, die Direktive und das Absatz-Element im DOM, also in der Seite des Browsers. Im Template steht ein Absatz mit dem Attribut „appHighlight“. Angular erkennt, dass der Selector der Direktive passt, und erzeugt für genau diesen Absatz eine eigene Instanz.</a:t>
            </a:r>
          </a:p>
          <a:p/>
          <a:p>
            <a:r>
              <a:t>Dann setzt Angular den Input „highlightColor“ auf den Wert aus dem Template, hier „lightblue“. Fährt der Benutzer mit der Maus über den Absatz, meldet das Element das Ereignis „mouseenter“. Die Direktive setzt daraufhin ihr Signal „active“ auf wahr. Durch die Host-Bindung schreibt Angular die Hintergrundfarbe an das Element. Verlässt die Maus den Absatz, läuft dasselbe rückwärts, und die Farbe wird entfernt.</a:t>
            </a:r>
          </a:p>
          <a:p/>
          <a:p>
            <a:r>
              <a:t>Wichtig ist: Die Direktive fasst das Element nie selbst an. Sie beschreibt im „host“-Objekt nur, was verbunden werden soll, und Angular erledigt den Rest.</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 Guards: Wozu?“.</a:t>
            </a:r>
          </a:p>
          <a:p/>
          <a:p>
            <a:r>
              <a:t>Ein „Route Guard“, auf Deutsch etwa „Wächter für eine Route“, ist eine Funktion, die der Router vor einer Navigation fragt: Darf diese Navigation stattfinden? Typische Fragen sind: Ist der Nutzer angemeldet? Hat er die nötige Rolle?</a:t>
            </a:r>
          </a:p>
          <a:p/>
          <a:p>
            <a:r>
              <a:t>Es gibt mehrere Arten. „canActivate“ entscheidet, ob eine Route betreten werden darf. „canDeactivate“ entscheidet, ob man eine Seite verlassen darf, zum Beispiel wenn ein Formular noch nicht gespeichert ist. „canMatch“ entscheidet, ob eine Route überhaupt zur Adresse passen darf.</a:t>
            </a:r>
          </a:p>
          <a:p/>
          <a:p>
            <a:r>
              <a:t>Wichtig: Ein Guard im Browser ist nur Bedienkomfort. Ein Angreifer kann den Code im Browser verändern. Der Server muss deshalb jeden Zugriff auf Daten selbst prüfen.</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„Guard-Ablauf und Rückgabewerte“.</a:t>
            </a:r>
          </a:p>
          <a:p/>
          <a:p>
            <a:r>
              <a:t>Der Router ruft den Guard auf und wartet auf sein Ergebnis. Gibt der Guard „true“ zurück, also wahr, geht die Navigation weiter und die Komponente wird angezeigt. Gibt er „false“ zurück, also falsch, wird die Navigation abgebrochen und der Nutzer bleibt auf der aktuellen Seite.</a:t>
            </a:r>
          </a:p>
          <a:p/>
          <a:p>
            <a:r>
              <a:t>Gibt der Guard einen „UrlTree“ zurück, bricht der Router die Navigation ab und leitet stattdessen auf eine andere Adresse um. Ein „UrlTree“ ist eine vom Router erzeugte Beschreibung einer Adresse.</a:t>
            </a:r>
          </a:p>
          <a:p/>
          <a:p>
            <a:r>
              <a:t>Der Guard darf auch asynchron antworten, also später: mit einem „Observable“ oder einem „Promise“, das einen dieser Werte liefert. Stehen mehrere Guards im Array, müssen alle zustimmen.</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„Funktionaler Guard: authGuard“.</a:t>
            </a:r>
          </a:p>
          <a:p/>
          <a:p>
            <a:r>
              <a:t>Der Guard ist eine einfache Funktion, die in einer Konstante gespeichert wird. Der Typ „CanActivateFn“ legt fest, welche Parameter sie bekommt und was sie zurückgeben darf. Früher brauchte man dafür eine ganze Klasse mit einem Interface, heute reicht diese Funktion.</a:t>
            </a:r>
          </a:p>
          <a:p/>
          <a:p>
            <a:r>
              <a:t>Mit „inject()“ holt sich der Guard den „AuthService“ und den „Router“. Ist der Nutzer angemeldet, gibt er „true“ zurück. Sonst erzeugt er mit „createUrlTree“ eine Umleitung zur Login-Seite. Die ursprünglich gewünschte Adresse hängt er als Parameter „returnUrl“ an, damit die Login-Seite danach dorthin zurückspringen kann.</a:t>
            </a:r>
          </a:p>
          <a:p/>
          <a:p>
            <a:r>
              <a:t>In den Routen trägt man den Guard im Array „canActivate“ ein, und zwar ohne runde Klammern. Man übergibt also die Funktion selbst, der Router ruft sie später auf.</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Guard leitet zum Login um“.</a:t>
            </a:r>
          </a:p>
          <a:p/>
          <a:p>
            <a:r>
              <a:t>Das Diagramm zeigt den Weg einer Navigation, wenn der Benutzer noch nicht angemeldet ist. Ausgangspunkt: Der Benutzer ruft im Browser die Adresse „/customer“ auf. Der Router sucht die passende Route und findet „customer“. Diese Route hat in „canActivate“ den „authGuard“ eingetragen. Deshalb ruft der Router zuerst diese Funktion auf und übergibt ihr das Ziel.</a:t>
            </a:r>
          </a:p>
          <a:p/>
          <a:p>
            <a:r>
              <a:t>Der Guard fragt den „AuthService“ mit „isLoggedIn()“, ob jemand angemeldet ist. Die Antwort ist „false“. Der Guard gibt deshalb einen „UrlTree“ zurück, also eine fertige Zieladresse, hier „/login“. Der Router bricht die erste Navigation ab und startet eine neue zur Login-Seite. Im „RouterOutlet“, dem Platzhalter für die aktuelle Seite, erscheint jetzt die „LoginComponent“, und die Adressleiste zeigt „/login“.</a:t>
            </a:r>
          </a:p>
          <a:p/>
          <a:p>
            <a:r>
              <a:t>Die Kundenliste wird in diesem Fall gar nicht erst erzeugt. Die Musterlösung ruft statt des „UrlTree“ „router.navigate“ auf und gibt „false“ zurück; das Ergebnis für den Benutzer ist dasselbe.</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Nach dem Login zur Kundenliste“.</a:t>
            </a:r>
          </a:p>
          <a:p/>
          <a:p>
            <a:r>
              <a:t>Dieses Diagramm setzt das vorige fort. Ausgangspunkt ist jetzt die Login-Seite: Die Adresse lautet „/login“, und im „RouterOutlet“ steht die „LoginComponent“. Der Benutzer klickt auf „Anmelden“. Die Komponente ruft „login()“ im „AuthService“ auf, und der Dienst setzt sein Signal „loggedIn“ auf wahr.</a:t>
            </a:r>
          </a:p>
          <a:p/>
          <a:p>
            <a:r>
              <a:t>Danach ruft die Komponente „router.navigate“ mit dem Ziel „/customer“ auf. Der Router ruft wieder den „authGuard“ auf, und der Guard fragt erneut „isLoggedIn()“. Diesmal ist die Antwort „true“, und der Guard gibt ebenfalls „true“ zurück. Die Navigation darf weiterlaufen.</a:t>
            </a:r>
          </a:p>
          <a:p/>
          <a:p>
            <a:r>
              <a:t>Der Router entfernt die „LoginComponent“ aus dem Outlet und zeigt dort die „CustomerListComponent“. Das funktioniert nur, weil Guard und Login-Komponente denselben „AuthService“ verwenden: Er ist mit „providedIn: 'root'“ einmal für die ganze Anwendung vorhanden.</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„Parameter route und state erklärt“.</a:t>
            </a:r>
          </a:p>
          <a:p/>
          <a:p>
            <a:r>
              <a:t>Der Router ruft die Guard-Funktion bei jeder Navigation zu dieser Route auf und übergibt zwei Werte. Der erste Parameter „route“ ist ein Schnappschuss der Zielroute. Ein Schnappschuss ist ein fester Zustand zu diesem Zeitpunkt. Darin stehen zum Beispiel die Parameter aus der Adresse, etwa die Kunden-Nummer, die Abfrage-Parameter und zusätzliche Daten aus der Routen-Konfiguration im Feld „data“, etwa eine benötigte Rolle.</a:t>
            </a:r>
          </a:p>
          <a:p/>
          <a:p>
            <a:r>
              <a:t>Der zweite Parameter „state“ beschreibt das gesamte Navigationsziel. Besonders nützlich ist „state.url“, die komplette Zieladresse als Text. Braucht man die Parameter nicht, darf man sie in der Funktion einfach weglassen, so wie in der Musterlösung.</a:t>
            </a:r>
          </a:p>
          <a:p/>
          <a:p>
            <a:r>
              <a:t>„inject()“ funktioniert in dieser Funktion, weil der Router sie in einem sogenannten „Injection Context“ aufruft. Das ist ein Moment, in dem Angular weiß, woher es Dienste holen kann.</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„UrlTree statt router.navigate“.</a:t>
            </a:r>
          </a:p>
          <a:p/>
          <a:p>
            <a:r>
              <a:t>Für die Umleitung gibt es zwei Wege. Der erste: Der Guard ruft selbst „router.navigate“ auf und gibt danach „false“ zurück. Dabei startet er eine zweite Navigation, während der Router mit der ersten noch beschäftigt ist.</a:t>
            </a:r>
          </a:p>
          <a:p/>
          <a:p>
            <a:r>
              <a:t>Der zweite und empfohlene Weg: Der Guard gibt einen „UrlTree“ zurück, erzeugt mit „createUrlTree“. Dann bricht der Router die aktuelle Navigation ab und leitet in einem einzigen Schritt um. Bei mehreren Guards kann der Router so sauber entscheiden, welche Umleitung gilt. Außerdem ist der Guard leichter zu testen, weil man nur den Rückgabewert prüfen muss.</a:t>
            </a:r>
          </a:p>
          <a:p/>
          <a:p>
            <a:r>
              <a:t>Die Musterlösung von Übung 25 verwendet den ersten Weg. Er funktioniert auch. Wer möchte, kann ihn in der Übung auf den „UrlTree“ umstellen.</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„HTTP-Interceptors: Wozu?“.</a:t>
            </a:r>
          </a:p>
          <a:p/>
          <a:p>
            <a:r>
              <a:t>Ein „Interceptor“, auf Deutsch etwa „Abfänger“, ist eine Funktion, durch die jede Anfrage des „HttpClient“ läuft. Der „HttpClient“ ist der Angular-Dienst für Anfragen an einen Server. Man kann sich den Interceptor wie eine Kontrollstelle vorstellen, die jede ausgehende Anfrage und jede eingehende Antwort sieht.</a:t>
            </a:r>
          </a:p>
          <a:p/>
          <a:p>
            <a:r>
              <a:t>Damit löst man Aufgaben, die alle Anfragen betreffen, an einer einzigen Stelle. Beispiele sind: ein Anmelde-Token in jede Anfrage schreiben, Anfragen mit ihrer Dauer protokollieren, Fehler zentral behandeln, etwa bei Fehlercode 401 zur Login-Seite leiten, oder eine Ladeanzeige steuern.</a:t>
            </a:r>
          </a:p>
          <a:p/>
          <a:p>
            <a:r>
              <a:t>Die Komponenten und Services müssen sich dann um diese Dinge nicht mehr kümmern.</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Interceptor-Kette“.</a:t>
            </a:r>
          </a:p>
          <a:p/>
          <a:p>
            <a:r>
              <a:t>Mehrere Interceptors bilden eine Kette. Die Reihenfolge ist die Reihenfolge im Array bei der Registrierung. Die Anfrage läuft vorwärts durch die Kette: zuerst durch den ersten Interceptor, dann durch den zweiten, dann zum Server. Die Antwort läuft rückwärts: vom Server zuerst durch den zweiten, dann durch den ersten Interceptor und schließlich zum Aufrufer.</a:t>
            </a:r>
          </a:p>
          <a:p/>
          <a:p>
            <a:r>
              <a:t>Jeder Interceptor entscheidet selbst, was er tut. Er kann die Anfrage unverändert weitergeben. Er kann eine veränderte Kopie weitergeben, zum Beispiel mit einem zusätzlichen Kopfeintrag. Oder er kann die Antwort beobachten oder umbauen, indem er Operatoren aus der Bibliothek „RxJS“ anhängt.</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„Funktionaler Interceptor: Logging“.</a:t>
            </a:r>
          </a:p>
          <a:p/>
          <a:p>
            <a:r>
              <a:t>Der Interceptor ist eine Funktion vom Typ „HttpInterceptorFn“. Zu Beginn merkt er sich die Startzeit und schreibt eine Meldung in die Konsole: Methode und Adresse der Anfrage.</a:t>
            </a:r>
          </a:p>
          <a:p/>
          <a:p>
            <a:r>
              <a:t>Dann ruft er „next(req)“ auf. Damit reicht er die Anfrage an das nächste Glied der Kette weiter. Das Ergebnis ist ein „Observable“, also ein Datenstrom, der später die Antwort liefert. Mit „pipe“ und dem Operator „tap“ beobachtet er diesen Strom, ohne ihn zu verändern.</a:t>
            </a:r>
          </a:p>
          <a:p/>
          <a:p>
            <a:r>
              <a:t>Der Strom liefert nicht nur die Antwort, sondern auch Zwischenereignisse, zum Beispiel „Anfrage wurde gesendet“. Deshalb prüft der Code den Ereignistyp und meldet nur bei der fertigen Antwort den Erfolg mit der Dauer. Bei einem Fehler wird der Fehler protokolliert. Die Musterlösung der Übung ist etwas kürzer und prüft den Typ nicht.</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„Parameter req und next erklärt“.</a:t>
            </a:r>
          </a:p>
          <a:p/>
          <a:p>
            <a:r>
              <a:t>Wer ruft den Interceptor auf? Der „HttpClient“, und zwar bei jeder Anfrage, zum Beispiel bei „http.get“. Er übergibt zwei Werte. Der erste Parameter „req“ ist die Anfrage mit Methode, Adresse, Kopfeinträgen, Inhalt und Parametern. Die Anfrage ist unveränderlich: Man kann sie nicht direkt ändern, sondern nur eine veränderte Kopie erzeugen.</a:t>
            </a:r>
          </a:p>
          <a:p/>
          <a:p>
            <a:r>
              <a:t>Der zweite Parameter „next“ ist eine Funktion. Sie steht für das nächste Glied der Kette: den nächsten Interceptor oder am Ende das eigentliche Senden an den Server. Ruft man „next(req)“ auf, bekommt man ein „Observable“, das die Ereignisse der Antwort liefert.</a:t>
            </a:r>
          </a:p>
          <a:p/>
          <a:p>
            <a:r>
              <a:t>Der Interceptor muss dieses „Observable“ zurückgeben, gern mit angehängten Operatoren. Registriert wird er in der Datei „main.ts“ oder „app.config.ts“ mit „provideHttpClient“ und „withInterceptors“.</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 ergänzen mit req.clone“.</a:t>
            </a:r>
          </a:p>
          <a:p/>
          <a:p>
            <a:r>
              <a:t>Dieses Beispiel schreibt ein Anmelde-Token in jede Anfrage an die eigene Schnittstelle. Wir nehmen an, dass der „AuthService“ das Token als Signal bereitstellt. Der „AuthService“ aus der Übung hat kein Token, er merkt sich nur, ob jemand angemeldet ist. Das Beispiel zeigt also eine typische Erweiterung.</a:t>
            </a:r>
          </a:p>
          <a:p/>
          <a:p>
            <a:r>
              <a:t>Gibt es kein Token oder geht die Anfrage an einen fremden Server, wird sie unverändert weitergereicht. Sonst erzeugt „req.clone“ eine Kopie der Anfrage. Die Option „setHeaders“ ergänzt dabei einen Kopfeintrag „Authorization“ mit dem Token. Diese Kopie wird mit „next“ weitergereicht.</a:t>
            </a:r>
          </a:p>
          <a:p/>
          <a:p>
            <a:r>
              <a:t>Wichtig ist die Prüfung der Adresse. Sonst würde das Token auch an fremde Server geschickt.</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Anfrage durch die Interceptors“.</a:t>
            </a:r>
          </a:p>
          <a:p/>
          <a:p>
            <a:r>
              <a:t>Das Sequenzdiagramm zeigt eine einzelne Anfrage mit zwei Interceptors. Der „CustomerService“ ruft „get“ beim „HttpClient“ auf und abonniert das Ergebnis. Erst durch das Abonnieren startet die Anfrage. Der „HttpClient“ ruft zuerst den „loggingInterceptor“ auf, weil er im Array von „withInterceptors“ an erster Stelle steht. Dieser schreibt „gestartet“ in die Konsole und reicht die Anfrage mit „next(req)“ an das nächste Glied weiter.</a:t>
            </a:r>
          </a:p>
          <a:p/>
          <a:p>
            <a:r>
              <a:t>Der „authInterceptor“ erzeugt mit „req.clone“ eine Kopie der Anfrage mit dem Kopfeintrag „Authorization“, also dem Token. Diese Kopie gibt er mit „next“ weiter, und erst jetzt geht die Anfrage an den Server.</a:t>
            </a:r>
          </a:p>
          <a:p/>
          <a:p>
            <a:r>
              <a:t>Die Antwort läuft in umgekehrter Reihenfolge zurück: zuerst durch den „authInterceptor“, dann durch den „loggingInterceptor“. Der Logging-Interceptor sieht die Antwort im Operator „tap“ und schreibt die Dauer in die Konsole. Zum Schluss kommt die Antwort beim „CustomerService“ an.</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„Interceptors: Stolperfallen“.</a:t>
            </a:r>
          </a:p>
          <a:p/>
          <a:p>
            <a:r>
              <a:t>Ein Interceptor muss immer „next“ aufrufen und das Ergebnis zurückgeben. Vergisst man das, kommt die Anfrage nie beim Server an. Die Anfrage darf man nicht direkt ändern, sondern man erzeugt mit „req.clone“ eine Kopie.</a:t>
            </a:r>
          </a:p>
          <a:p/>
          <a:p>
            <a:r>
              <a:t>Die Reihenfolge im Array ist wichtig. Soll das Protokoll zum Beispiel den fertigen Kopfeintrag sehen, muss der Logging-Interceptor nach dem Auth-Interceptor stehen. Interceptors gelten nur für den „HttpClient“. Das schließt „httpResource“ ein, weil es intern den „HttpClient“ nutzt. Ein direkter Aufruf der Browser-Funktion „fetch“ läuft nicht durch die Kette.</a:t>
            </a:r>
          </a:p>
          <a:p/>
          <a:p>
            <a:r>
              <a:t>Fehler behandelt man zentral mit dem Operator „catchError“ und wirft sie danach weiter, damit der Aufrufer sie auch bemerkt. Ältere Interceptors als Klasse funktionieren nur noch, wenn man zusätzlich „withInterceptorsFromDi“ einträgt.</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 Sie baut auf Übung 23 mit der Anbindung an den Server auf und dauert etwa 30 Minuten.</a:t>
            </a:r>
          </a:p>
          <a:p/>
          <a:p>
            <a:r>
              <a:t>Die Teilnehmer schreiben zuerst einen „AuthService“, der sich in einem Signal merkt, ob jemand angemeldet ist. Dann schreiben sie den Guard „authGuard“, der die Kundenseiten schützt und nicht angemeldete Nutzer zur Login-Seite schickt. Dazu kommt eine einfache Login-Seite mit einem Knopf.</a:t>
            </a:r>
          </a:p>
          <a:p/>
          <a:p>
            <a:r>
              <a:t>Zum Schluss schreiben sie einen Interceptor, der jede Anfrage mit Dauer in der Konsole protokolliert, und registrieren ihn in „main.ts“. Die Anmeldung ist nur eine Simulation im Browser, der Server prüft nichts.</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Daten laden mit Signals“.</a:t>
            </a:r>
          </a:p>
          <a:p/>
          <a:p>
            <a:r>
              <a:t>Bisher sah das Laden von Daten so aus: Ein Service liefert ein „Observable“, also einen Datenstrom. Die Komponente abonniert ihn mit „subscribe“ oder wandelt ihn mit „toSignal“ in ein Signal um. Den Ladezustand und mögliche Fehler muss man in eigenen Variablen pflegen. Ändert sich die Kunden-Nummer, braucht man einen „effect“, der neu lädt.</a:t>
            </a:r>
          </a:p>
          <a:p/>
          <a:p>
            <a:r>
              <a:t>Die „Resource API“ dreht das um. Man beschreibt nur noch, was geladen werden soll und wovon das abhängt. Eine „Resource“ ist ein Objekt, das asynchron geladene Daten verwaltet. Angular startet das Laden, lädt bei Änderungen neu und bricht veraltete Anfragen ab. Das Ergebnis, der Ladezustand und der Fehler stehen als Signals bereit. Die Resource API gibt es seit Angular 19, sie wird seitdem schrittweise ausgebaut.</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„Zustände einer Resource“.</a:t>
            </a:r>
          </a:p>
          <a:p/>
          <a:p>
            <a:r>
              <a:t>Eine Resource ist immer in genau einem Zustand. Das Signal „status“ liefert ihn als Text. „idle“ bedeutet „untätig“: Es gibt keine Parameter, deshalb wird nichts geladen. „loading“ bedeutet: Der erste Ladevorgang läuft. „resolved“ bedeutet: Die Daten sind erfolgreich angekommen. „error“ bedeutet: Das Laden ist fehlgeschlagen.</a:t>
            </a:r>
          </a:p>
          <a:p/>
          <a:p>
            <a:r>
              <a:t>„reloading“ bedeutet: Es wird erneut geladen, zum Beispiel nach einem Aufruf von „reload“. Der alte Wert bleibt währenddessen sichtbar. „local“ bedeutet: Jemand hat den Wert im Programm selbst mit „set“ oder „update“ geändert.</a:t>
            </a:r>
          </a:p>
          <a:p/>
          <a:p>
            <a:r>
              <a:t>Meist braucht man den Status nicht direkt, sondern die bequemeren Signals „isLoading“, „hasValue“ und „error“ auf der nächsten Folie.</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eine Resource bereitstellt“.</a:t>
            </a:r>
          </a:p>
          <a:p/>
          <a:p>
            <a:r>
              <a:t>Eine Resource stellt mehrere Signals und Methoden bereit. „value“ enthält die geladenen Daten. Solange noch nichts geladen ist, ist der Wert „undefined“, also nicht vorhanden. „hasValue“ ist wahr, wenn ein Wert vorliegt. Diese Prüfung sollte man vor dem Lesen von „value“ machen, denn im Fehlerzustand wirft „value“ selbst einen Fehler.</a:t>
            </a:r>
          </a:p>
          <a:p/>
          <a:p>
            <a:r>
              <a:t>„isLoading“ ist wahr, solange geladen wird, also beim ersten Laden und beim erneuten Laden. „error“ enthält den Fehler, falls einer aufgetreten ist.</a:t>
            </a:r>
          </a:p>
          <a:p/>
          <a:p>
            <a:r>
              <a:t>Mit „reload“ wiederholt man das Laden mit denselben Parametern, zum Beispiel nach dem Speichern. Mit „set“ und „update“ überschreibt man den Wert lokal, ohne den Server zu fragen.</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Varianten der Resource API“.</a:t>
            </a:r>
          </a:p>
          <a:p/>
          <a:p>
            <a:r>
              <a:t>Es gibt drei Varianten. „resource“ ist die Grundform. Sie bekommt eine Funktion „loader“, die ein „Promise“ liefert. Ein „Promise“ ist ein Versprechen auf einen Wert, der später kommt, zum Beispiel aus der Browser-Funktion „fetch“.</a:t>
            </a:r>
          </a:p>
          <a:p/>
          <a:p>
            <a:r>
              <a:t>„rxResource“ arbeitet mit „Observables“ aus der Bibliothek „RxJS“. Statt „loader“ heißt die Funktion hier „stream“. Diese Variante passt gut, wenn es schon Services gibt, die Observables liefern, so wie unser „CustomerService“.</a:t>
            </a:r>
          </a:p>
          <a:p/>
          <a:p>
            <a:r>
              <a:t>„httpResource“ ist die bequemste Variante für Server-Anfragen. Man gibt nur eine Funktion an, die die Adresse liefert. Intern nutzt sie den „HttpClient“, deshalb laufen auch alle Interceptors.</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params, loader und stream“.</a:t>
            </a:r>
          </a:p>
          <a:p/>
          <a:p>
            <a:r>
              <a:t>Die Funktion „params“ liest Signals, zum Beispiel die Kunden-Nummer, und liefert daraus die Parameter für das Laden. Sie läuft reaktiv wie ein „computed“: Ändert sich ein gelesenes Signal, wird sie neu ausgewertet. Liefert sie „undefined“, geht die Resource in den Zustand „idle“ und lädt nichts.</a:t>
            </a:r>
          </a:p>
          <a:p/>
          <a:p>
            <a:r>
              <a:t>Die Funktion „loader“ bzw. „stream“ schreibt man selbst, aufgerufen wird sie aber von Angular. Das passiert jedes Mal, wenn sich die Parameter ändern. Angular übergibt dabei ein Objekt mit den aktuellen Parametern und einem „abortSignal“, einem Abbruchsignal.</a:t>
            </a:r>
          </a:p>
          <a:p/>
          <a:p>
            <a:r>
              <a:t>Läuft noch ein alter Ladevorgang, bricht Angular ihn ab. So kann eine langsame alte Antwort nie eine neuere überschreiben.</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„resource() mit loader und abortSignal“.</a:t>
            </a:r>
          </a:p>
          <a:p/>
          <a:p>
            <a:r>
              <a:t>Die Komponente bekommt die Kunden-Nummer als Input. Die Resource hat zwei Teile. Die Funktion „params“ liefert ein Objekt mit der Nummer. Gibt es keine Nummer, liefert sie „undefined“, und es wird nichts geladen.</a:t>
            </a:r>
          </a:p>
          <a:p/>
          <a:p>
            <a:r>
              <a:t>Die Funktion „loader“ ist mit „async“ gekennzeichnet, sie arbeitet also asynchron und liefert ein „Promise“. Angular ruft sie bei jeder Änderung der Parameter auf und übergibt die Parameter und das Abbruchsignal. Der Loader holt die Daten mit „fetch“ und gibt das Abbruchsignal an „fetch“ weiter. Ist die Antwort nicht in Ordnung, wirft er einen Fehler, dann geht die Resource in den Zustand „error“. Sonst gibt er den Kunden zurück, und die Resource geht in den Zustand „resolved“.</a:t>
            </a:r>
          </a:p>
          <a:p/>
          <a:p>
            <a:r>
              <a:t>Weil hier „fetch“ statt „HttpClient“ verwendet wird, laufen keine Interceptors. Das Beispiel zeigt nur das Prinzip.</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„abortSignal erklärt“.</a:t>
            </a:r>
          </a:p>
          <a:p/>
          <a:p>
            <a:r>
              <a:t>„AbortSignal“ ist kein Angular-Signal, sondern ein Standard-Objekt des Browsers. Es dient dazu, eine laufende Aufgabe abzubrechen. Angular erzeugt für jeden Ladevorgang ein neues Abbruchsignal und übergibt es an den Loader.</a:t>
            </a:r>
          </a:p>
          <a:p/>
          <a:p>
            <a:r>
              <a:t>Angular löst das Abbruchsignal aus, wenn sich die Parameter ändern, bevor die alte Anfrage fertig ist, oder wenn die Komponente zerstört wird. Gibt man das Signal an „fetch“ weiter, bricht der Browser die Netzwerkanfrage dann wirklich ab.</a:t>
            </a:r>
          </a:p>
          <a:p/>
          <a:p>
            <a:r>
              <a:t>Bei „rxResource“ und „httpResource“ muss man sich darum nicht kümmern. Dort beendet Angular einfach das Abonnement des Observables, und die Anfrage wird abgebrochen. Das verhindert eine sogenannte „Race Condition“, also ein Wettrennen, bei dem eine langsame alte Antwort eine neuere überschreibt.</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„Resources im Kursprojekt“.</a:t>
            </a:r>
          </a:p>
          <a:p/>
          <a:p>
            <a:r>
              <a:t>Oben steht die Kundenliste. „httpResource“ bekommt eine Funktion, die die Adresse „api/customer“ liefert. Der Server antwortet mit einem Objekt, in dem die Liste im Feld „data“ steckt. Deshalb holt „customers“ die Liste aus dem Wert heraus und liefert eine leere Liste, solange nichts geladen ist. Ladezustand und Fehler werden direkt aus der Resource übernommen.</a:t>
            </a:r>
          </a:p>
          <a:p/>
          <a:p>
            <a:r>
              <a:t>Unten steht die Detailansicht. Hier wird „rxResource“ verwendet, weil der „CustomerService“ schon eine Methode „getById“ hat, die ein Observable liefert. „params“ liest den Input „id“. Die Funktion „stream“ bekommt die Nummer und ruft den Service auf. Fehlt die Nummer, wirft sie einen Fehler. Ändert sich die Nummer, lädt Angular automatisch den neuen Kunden. Den früheren „effect“ mit „subscribe“ braucht man nicht mehr.</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rxResource und neue Kunden-ID“.</a:t>
            </a:r>
          </a:p>
          <a:p/>
          <a:p>
            <a:r>
              <a:t>Das Diagramm zeigt, wie die Detailseite einen Kunden lädt. Der Benutzer öffnet die Adresse „/customer/5“. Weil im Projekt „withComponentInputBinding“ eingeschaltet ist, schreibt der Router den Wert aus der Adresse direkt in den Input „id“ der „CustomerDetailsComponent“. Die Funktion „params“ der Resource liest dieses Signal und liefert „5“. Die Resource meldet sofort „isLoading“, und das Template zeigt den Ladehinweis.</a:t>
            </a:r>
          </a:p>
          <a:p/>
          <a:p>
            <a:r>
              <a:t>Dann ruft die Resource ihre Funktion „stream“ auf. Diese fragt den „CustomerService“ mit „getById“. Der Service lädt über den „HttpClient“ und liefert Kunde 5 zurück. Die Resource legt ihn in „value()“ ab, und das Template zeigt die Daten.</a:t>
            </a:r>
          </a:p>
          <a:p/>
          <a:p>
            <a:r>
              <a:t>Wechselt der Benutzer auf „/customer/7“, bleibt dieselbe Komponente bestehen, nur der Input „id“ bekommt einen neuen Wert. Die Resource beendet die alte Anfrage, wechselt in den Zustand „reloading“ und ruft „getById“ mit 7 auf. Danach steht Kunde 7 in „value()“. Niemand muss dafür selbst abonnieren.</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„httpResource im Detail“.</a:t>
            </a:r>
          </a:p>
          <a:p/>
          <a:p>
            <a:r>
              <a:t>„httpResource“ bekommt eine Funktion, nicht einfach eine feste Adresse. Diese Funktion läuft reaktiv. Liest sie Signals, zum Beispiel die Kunden-Nummer, dann lädt die Resource neu, sobald sich die Nummer ändert. Liefert die Funktion „undefined“, wird nicht geladen.</a:t>
            </a:r>
          </a:p>
          <a:p/>
          <a:p>
            <a:r>
              <a:t>Statt einer Adresse kann die Funktion auch ein Objekt liefern, mit Methode, Abfrage-Parametern, Kopfeinträgen und Inhalt. Als Optionen gibt es zum Beispiel „defaultValue“, einen Startwert statt „undefined“, und „parse“, eine Funktion, die die Antwort prüft und umwandelt, etwa mit einer Prüfbibliothek wie „Zod“.</a:t>
            </a:r>
          </a:p>
          <a:p/>
          <a:p>
            <a:r>
              <a:t>Standardmäßig wird die Antwort als JSON gelesen. Für Text oder Binärdaten gibt es eigene Varianten.</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Grenzen und Best Practices“.</a:t>
            </a:r>
          </a:p>
          <a:p/>
          <a:p>
            <a:r>
              <a:t>Die Resource API ist für das Lesen von Daten gedacht. Zum Speichern, also für Anfragen mit „PUT“ oder „POST“, verwendet man weiter den Service mit dem „HttpClient“. Danach kann man mit „reload“ die Daten neu laden.</a:t>
            </a:r>
          </a:p>
          <a:p/>
          <a:p>
            <a:r>
              <a:t>Soll der Nutzer die geladenen Daten in einem Formular bearbeiten, leitet man mit „linkedSignal“ eine bearbeitbare Kopie ab. „linkedSignal“ ist ein Signal, das aus einem anderen Wert entsteht, aber zusätzlich überschrieben werden kann. So wird der geladene Wert selbst nie direkt verändert.</a:t>
            </a:r>
          </a:p>
          <a:p/>
          <a:p>
            <a:r>
              <a:t>Vor dem Lesen von „value“ prüft man mit „hasValue“. In „params“ liest man nur die Signals, die das Laden wirklich steuern, sonst wird unnötig neu geladen. Teile der API sind noch als experimentell markiert, Details können sich also noch ändern.</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 Sie dauert etwa 25 Minuten.</a:t>
            </a:r>
          </a:p>
          <a:p/>
          <a:p>
            <a:r>
              <a:t>In der Kundenliste ersetzen die Teilnehmer das bisherige Laden mit „toSignal“ durch „httpResource“ und zeigen einen Ladehinweis und eine Fehlermeldung an. In der Detailansicht ersetzen sie den „effect“ mit dem manuellen Abonnement durch „rxResource“, das bei jeder neuen Kunden-Nummer automatisch neu lädt.</a:t>
            </a:r>
          </a:p>
          <a:p/>
          <a:p>
            <a:r>
              <a:t>Das Formular arbeitet weiter mit der bearbeitbaren Kopie „draft“. Das Speichern bleibt ein normaler Aufruf über den Service, weil die Resource API für das Lesen gedacht ist.</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„Bilder und Web-Performance: LCP und CLS“.</a:t>
            </a:r>
          </a:p>
          <a:p/>
          <a:p>
            <a:r>
              <a:t>Google misst das Nutzererlebnis einer Webseite mit Kennzahlen, den „Core Web Vitals“. Zwei davon betreffen Bilder besonders.</a:t>
            </a:r>
          </a:p>
          <a:p/>
          <a:p>
            <a:r>
              <a:t>„LCP“ steht für „Largest Contentful Paint“. Das ist die Zeit, bis das größte sichtbare Element der Seite gezeichnet ist. Oft ist das ein großes Bild. Gut ist ein Wert unter 2,5 Sekunden.</a:t>
            </a:r>
          </a:p>
          <a:p/>
          <a:p>
            <a:r>
              <a:t>„CLS“ steht für „Cumulative Layout Shift“, also die Summe aller Layout-Verschiebungen. Ein Layout-Sprung entsteht, wenn ein Bild ohne Größenangabe nachgeladen wird: Der Browser kennt die Größe vorher nicht, und der Text darunter springt plötzlich nach unten. Dann klickt man leicht daneben. Gut ist ein Wert unter 0,1.</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„NgOptimizedImage: Was die Direktive tut“.</a:t>
            </a:r>
          </a:p>
          <a:p/>
          <a:p>
            <a:r>
              <a:t>„NgOptimizedImage“ ist eine eingebaute Direktive aus dem Paket „@angular/common“. Sie wird aktiv, wenn man im Bild-Element „ngSrc“ statt „src“ schreibt.</a:t>
            </a:r>
          </a:p>
          <a:p/>
          <a:p>
            <a:r>
              <a:t>Die Direktive verlangt eine Breite und eine Höhe oder alternativ den Modus „fill“. So kann der Browser den Platz reservieren, bevor das Bild geladen ist, und nichts springt. Standardmäßig lädt sie Bilder „lazy“, also erst, wenn sie in die Nähe des sichtbaren Bereichs kommen. Mit „priority“ lädt ein wichtiges Bild sofort.</a:t>
            </a:r>
          </a:p>
          <a:p/>
          <a:p>
            <a:r>
              <a:t>Ist ein Bild-Loader eingerichtet, zum Beispiel für einen Bilddienst im Internet, erzeugt die Direktive automatisch verschiedene Bildgrößen für verschiedene Bildschirme. Im Entwicklungsmodus warnt sie in der Konsole, wenn etwa das Seitenverhältnis nicht stimmt.</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„NgOptimizedImage im Kursprojekt“.</a:t>
            </a:r>
          </a:p>
          <a:p/>
          <a:p>
            <a:r>
              <a:t>Zuerst importiert man „NgOptimizedImage“ aus „@angular/common“ und trägt es in das „imports“-Array der Komponente ein. Sonst kennt das Template die Direktive nicht.</a:t>
            </a:r>
          </a:p>
          <a:p/>
          <a:p>
            <a:r>
              <a:t>Im Template steht das Bild in einem „@if“. Das ist nötig, weil „ngSrc“ einen Text erwartet und nicht leer sein darf. Die Variable „c“ ist die bearbeitbare Kopie des Kunden. Statt „src“ steht „ngSrc“ mit der Bildadresse. Breite und Höhe sind 200 Pixel. Das Attribut „priority“ sagt: Dieses Bild ist wichtig und soll sofort geladen werden.</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„ngSrc, width/height, fill und priority“.</a:t>
            </a:r>
          </a:p>
          <a:p/>
          <a:p>
            <a:r>
              <a:t>„width“ und „height“ geben die Größe in Pixeln an. Daraus kennt der Browser das Seitenverhältnis und reserviert den Platz. Wie groß das Bild am Ende angezeigt wird, kann man trotzdem mit CSS festlegen.</a:t>
            </a:r>
          </a:p>
          <a:p/>
          <a:p>
            <a:r>
              <a:t>Kennt man die Größe nicht, verwendet man „fill“. Dann füllt das Bild sein Elternelement aus. Das Elternelement braucht dafür eine CSS-Positionierung, zum Beispiel „position: relative“, und eine eigene Größe.</a:t>
            </a:r>
          </a:p>
          <a:p/>
          <a:p>
            <a:r>
              <a:t>„priority“ setzt man nur für das wichtigste Bild der Seite, meist das große Bild im sofort sichtbaren Bereich. Setzt man es überall, verliert es seine Wirkung. Fehlen sowohl Größe als auch „fill“, meldet Angular einen Fehler. Das ist Absicht, damit Layout-Sprünge gar nicht erst entstehen.</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NgOptimizedImage im Browser“.</a:t>
            </a:r>
          </a:p>
          <a:p/>
          <a:p>
            <a:r>
              <a:t>Das Diagramm zeigt, was mit dem Kundenlogo auf der Detailseite passiert. Im Template steht ein Bild mit „ngSrc“, einer Breite und Höhe von 200 Pixeln und dem Attribut „priority“. Die Direktive „NgOptimizedImage“ prüft zuerst, ob eine Größe oder „fill“ angegeben ist. Fehlt beides, meldet sie einen Fehler.</a:t>
            </a:r>
          </a:p>
          <a:p/>
          <a:p>
            <a:r>
              <a:t>Dann schreibt die Direktive die Attribute für den Browser: Breite und Höhe, damit der Platz schon vor dem Laden reserviert ist. Wegen „priority“ setzt sie außerdem „loading=eager“ und „fetchpriority=high“. Das bedeutet: sofort und mit hoher Wichtigkeit laden. Zum Schluss setzt sie die eigentliche Bildadresse; mit einem Bild-Loader für ein CDN, also einen Bildserver, entsteht auch ein „srcset“ mit mehreren Größen.</a:t>
            </a:r>
          </a:p>
          <a:p/>
          <a:p>
            <a:r>
              <a:t>Der Browser lädt das Bild, und weil der Platz reserviert war, springt der Text nicht. Im Entwicklungsmodus prüft die Direktive nach dem Laden noch, ob das Seitenverhältnis stimmt, und warnt sonst in der Konsole. Ohne „priority“ würde sie „loading=lazy“ setzen, das Bild lädt dann erst kurz bevor es sichtbar wird.</a:t>
            </a:r>
          </a:p>
        </p:txBody>
      </p:sp>
      <p:sp>
        <p:nvSpPr>
          <p:cNvPr id="4" name="Slide Number Placeholder 3"/>
          <p:cNvSpPr>
            <a:spLocks noGrp="1"/>
          </p:cNvSpPr>
          <p:nvPr>
            <p:ph type="sldNum" idx="66"/>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 Sie dauert etwa 15 Minuten.</a:t>
            </a:r>
          </a:p>
          <a:p/>
          <a:p>
            <a:r>
              <a:t>Die Teilnehmer stellen das Kundenbild in der Detailansicht auf die Direktive „NgOptimizedImage“ um. Sie importieren die Direktive, schreiben „ngSrc“ statt „src“ und setzen das Bild in ein „@if“, weil „ngSrc“ einen Text braucht. Dann ergänzen sie Breite und Höhe. Zum Schluss prüfen sie im Browser, ob alles angezeigt wird. Wer möchte, setzt noch „priority“ für das sofort sichtbare Bild.</a:t>
            </a:r>
          </a:p>
        </p:txBody>
      </p:sp>
      <p:sp>
        <p:nvSpPr>
          <p:cNvPr id="4" name="Slide Number Placeholder 3"/>
          <p:cNvSpPr>
            <a:spLocks noGrp="1"/>
          </p:cNvSpPr>
          <p:nvPr>
            <p:ph type="sldNum" idx="66"/>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Meist arbeitet man in Angular nur mit Bindungen im Template. Manchmal braucht die Klasse aber direkten Zugriff auf ein Element oder eine Kind-Komponente. Beispiele sind: den Tastatur-Fokus in ein Eingabefeld setzen, die Größe eines Elements messen, eine fremde Bibliothek für Diagramme an ein Element hängen oder eine Methode einer Kind-Komponente aufrufen.</a:t>
            </a:r>
          </a:p>
          <a:p/>
          <a:p>
            <a:r>
              <a:t>Dafür gibt es „Queries“, also Abfragen. „viewChild“ sucht ein Element im eigenen Template, „viewChildren“ sucht alle passenden. „contentChild“ und „contentChildren“ suchen im Inhalt, den eine Elternkomponente hineinreicht.</a:t>
            </a:r>
          </a:p>
          <a:p/>
          <a:p>
            <a:r>
              <a:t>Das Ergebnis ist jeweils ein Signal. Früher gab es dafür Dekoratoren wie „@ViewChild“, und man musste auf die Methode „ngAfterViewInit“ warten.</a:t>
            </a:r>
          </a:p>
        </p:txBody>
      </p:sp>
      <p:sp>
        <p:nvSpPr>
          <p:cNvPr id="4" name="Slide Number Placeholder 3"/>
          <p:cNvSpPr>
            <a:spLocks noGrp="1"/>
          </p:cNvSpPr>
          <p:nvPr>
            <p:ph type="sldNum" idx="66"/>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„View oder Content? Der Unterschied“.</a:t>
            </a:r>
          </a:p>
          <a:p/>
          <a:p>
            <a:r>
              <a:t>Aus Sicht einer Komponente gibt es zwei Bereiche. Die „View“ ist ihr eigenes Template, also das HTML, das in „templateUrl“ oder „template“ steht. Elemente daraus fragt man mit „viewChild“ ab.</a:t>
            </a:r>
          </a:p>
          <a:p/>
          <a:p>
            <a:r>
              <a:t>Der „Content“ ist das, was die Elternkomponente beim Verwenden zwischen das öffnende und das schließende Tag schreibt. Die Komponente zeigt diesen Inhalt an einer Stelle mit „ng-content“ an. Elemente daraus fragt man mit „contentChild“ ab.</a:t>
            </a:r>
          </a:p>
          <a:p/>
          <a:p>
            <a:r>
              <a:t>Rechts sieht man das Beispiel einer Karte: Der Rahmen gehört zur View der Karte. Die Überschrift, die die Elternkomponente hineinschreibt, ist Content.</a:t>
            </a:r>
          </a:p>
        </p:txBody>
      </p:sp>
      <p:sp>
        <p:nvSpPr>
          <p:cNvPr id="4" name="Slide Number Placeholder 3"/>
          <p:cNvSpPr>
            <a:spLocks noGrp="1"/>
          </p:cNvSpPr>
          <p:nvPr>
            <p:ph type="sldNum" idx="66"/>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Was ist View, was ist Content?“.</a:t>
            </a:r>
          </a:p>
          <a:p/>
          <a:p>
            <a:r>
              <a:t>Das Diagramm zeigt verschachtelte Kästen. Der äußere Kasten ist die Karte „app-card“, also die „CardComponent“, so wie sie im Template der Elternkomponente „CustomerDetailsComponent“ steht.</a:t>
            </a:r>
          </a:p>
          <a:p/>
          <a:p>
            <a:r>
              <a:t>Im linken Kasten steht die View der Karte. Das ist das eigene Template der Karte aus „card.component.html“: das umschließende „div“ mit der Template-Variable „frame“ und darin der Platzhalter „ng-content“. Diese Elemente findet die Karte mit „viewChild“.</a:t>
            </a:r>
          </a:p>
          <a:p/>
          <a:p>
            <a:r>
              <a:t>Im rechten Kasten steht der Content. Die Überschrift „h3“ mit der Variable „title“ wurde nicht von der Karte geschrieben, sondern von der Elternkomponente zwischen die Tags von „app-card“. Diese Elemente findet die Karte mit „contentChild“. Der orange Pfeil zeigt: Angezeigt wird die Überschrift an der Stelle von „ng-content“, sie gehört aber weiterhin zum Eltern-Template.</a:t>
            </a:r>
          </a:p>
        </p:txBody>
      </p:sp>
      <p:sp>
        <p:nvSpPr>
          <p:cNvPr id="4" name="Slide Number Placeholder 3"/>
          <p:cNvSpPr>
            <a:spLocks noGrp="1"/>
          </p:cNvSpPr>
          <p:nvPr>
            <p:ph type="sldNum" idx="66"/>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„Locator, required und read“.</a:t>
            </a:r>
          </a:p>
          <a:p/>
          <a:p>
            <a:r>
              <a:t>Der erste Parameter heißt „Locator“, also „Sucher“. Er sagt, wonach gesucht wird. Das kann der Name einer Template-Variable sein. Eine Template-Variable schreibt man im HTML mit einer Raute, zum Beispiel „#searchInput“. Oder man gibt eine Klasse an, zum Beispiel eine Kind-Komponente.</a:t>
            </a:r>
          </a:p>
          <a:p/>
          <a:p>
            <a:r>
              <a:t>Das Ergebnis ist ein Signal, das auch leer sein kann, also „undefined“. Ist man sicher, dass das Element immer da ist, verwendet man „viewChild.required“. Dann ist das Signal nie leer. Fehlt das Element doch, oder liest man das Signal zu früh, meldet Angular einen Fehler.</a:t>
            </a:r>
          </a:p>
          <a:p/>
          <a:p>
            <a:r>
              <a:t>Mit der Option „read“ bestimmt man, welches Objekt man erhält. Sitzt die Template-Variable auf einer Komponente, bekommt man normalerweise die Komponente. Mit „read: ElementRef“ bekommt man stattdessen das HTML-Element.</a:t>
            </a:r>
          </a:p>
        </p:txBody>
      </p:sp>
      <p:sp>
        <p:nvSpPr>
          <p:cNvPr id="4" name="Slide Number Placeholder 3"/>
          <p:cNvSpPr>
            <a:spLocks noGrp="1"/>
          </p:cNvSpPr>
          <p:nvPr>
            <p:ph type="sldNum" idx="66"/>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ist der Wert verfügbar?“.</a:t>
            </a:r>
          </a:p>
          <a:p/>
          <a:p>
            <a:r>
              <a:t>Im Konstruktor ist das Signal noch leer, denn das Template ist zu diesem Zeitpunkt noch nicht gerendert, also noch nicht gezeichnet. Nach dem ersten Rendern setzt Angular den Wert. Weil es ein Signal ist, merken „computed“ und „effect“ das automatisch. Man muss nicht mehr auf eine bestimmte Lebenszyklus-Methode warten.</a:t>
            </a:r>
          </a:p>
          <a:p/>
          <a:p>
            <a:r>
              <a:t>Steht das Element in einem „@if“ und verschwindet, wird das Signal wieder leer. Es passt sich also immer dem aktuellen Zustand an.</a:t>
            </a:r>
          </a:p>
          <a:p/>
          <a:p>
            <a:r>
              <a:t>Will man einmalig etwas mit dem Element tun, sobald es gerendert ist, verwendet man „afterNextRender“. In Ereignis-Methoden, zum Beispiel nach einem Klick, ist das Template längst gerendert, dort ist der Wert also da.</a:t>
            </a:r>
          </a:p>
        </p:txBody>
      </p:sp>
      <p:sp>
        <p:nvSpPr>
          <p:cNvPr id="4" name="Slide Number Placeholder 3"/>
          <p:cNvSpPr>
            <a:spLocks noGrp="1"/>
          </p:cNvSpPr>
          <p:nvPr>
            <p:ph type="sldNum" idx="66"/>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Suchfeld mit viewChild()“.</a:t>
            </a:r>
          </a:p>
          <a:p/>
          <a:p>
            <a:r>
              <a:t>Oben steht das Template. Das Eingabefeld hat die Template-Variable „#searchInput“. Sein Wert ist an das Signal „filterText“ gebunden, und bei jeder Eingabe wird „onFilterInput“ aufgerufen. Daneben steht ein Knopf zum Leeren des Filters.</a:t>
            </a:r>
          </a:p>
          <a:p/>
          <a:p>
            <a:r>
              <a:t>Unten steht die Klasse. „viewChild“ sucht das Element mit dem Namen „searchInput“. Der Typ in spitzen Klammern sagt: Das Ergebnis ist eine „ElementRef“ um ein Eingabefeld. „onFilterInput“ liest den eingegebenen Text aus dem Ereignis und setzt das Signal.</a:t>
            </a:r>
          </a:p>
          <a:p/>
          <a:p>
            <a:r>
              <a:t>„clearFilter“ setzt den Filtertext zurück. Dann liest es das Signal „searchInput“, holt mit „nativeElement“ das echte Eingabefeld und setzt mit „focus“ den Tastatur-Fokus hinein. Das Fragezeichen schützt vor einem Fehler, falls das Element nicht vorhanden ist.</a:t>
            </a:r>
          </a:p>
        </p:txBody>
      </p:sp>
      <p:sp>
        <p:nvSpPr>
          <p:cNvPr id="4" name="Slide Number Placeholder 3"/>
          <p:cNvSpPr>
            <a:spLocks noGrp="1"/>
          </p:cNvSpPr>
          <p:nvPr>
            <p:ph type="sldNum" idx="66"/>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Best Practices“.</a:t>
            </a:r>
          </a:p>
          <a:p/>
          <a:p>
            <a:r>
              <a:t>Bevor man ein Element direkt anfasst, sollte man fragen: Geht das auch mit einer Bindung im Template? Den Text im Suchfeld setzt man zum Beispiel über das Signal „filterText“ und nicht direkt über das Element. So bleibt der Zustand an einer Stelle.</a:t>
            </a:r>
          </a:p>
          <a:p/>
          <a:p>
            <a:r>
              <a:t>Direkten Zugriff braucht man nur in wenigen Fällen, zum Beispiel für den Fokus, zum Scrollen, zum Messen oder für fremde Bibliotheken. Der Name im Locator muss genau so geschrieben sein wie die Template-Variable, sonst bleibt das Signal leer. Und weil das Ergebnis ein Signal ist, liest man es immer mit runden Klammern.</a:t>
            </a:r>
          </a:p>
        </p:txBody>
      </p:sp>
      <p:sp>
        <p:nvSpPr>
          <p:cNvPr id="4" name="Slide Number Placeholder 3"/>
          <p:cNvSpPr>
            <a:spLocks noGrp="1"/>
          </p:cNvSpPr>
          <p:nvPr>
            <p:ph type="sldNum" idx="66"/>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 Sie dauert etwa 15 Minuten.</a:t>
            </a:r>
          </a:p>
          <a:p/>
          <a:p>
            <a:r>
              <a:t>Die Teilnehmer bauen ein Filterfeld in die Kundenliste ein und fragen es mit „viewChild“ ab. Eine Methode filtert die Liste nach dem eingegebenen Text. Eine zweite Methode leert den Filter und setzt danach den Tastatur-Fokus wieder in das Feld. Zum Schluss zeigt die Schleife im Template die gefilterte Liste an.</a:t>
            </a:r>
          </a:p>
        </p:txBody>
      </p:sp>
      <p:sp>
        <p:nvSpPr>
          <p:cNvPr id="4" name="Slide Number Placeholder 3"/>
          <p:cNvSpPr>
            <a:spLocks noGrp="1"/>
          </p:cNvSpPr>
          <p:nvPr>
            <p:ph type="sldNum" idx="66"/>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Projection: Das Slot-Prinzip“.</a:t>
            </a:r>
          </a:p>
          <a:p/>
          <a:p>
            <a:r>
              <a:t>„Content Projection“ bedeutet: Eine Elternkomponente steckt eigenen HTML-Inhalt in eine Kindkomponente hinein. Man kann es mit einem Bilderrahmen vergleichen: Die Kindkomponente ist der Rahmen, die Elternkomponente liefert das Bild.</a:t>
            </a:r>
          </a:p>
          <a:p/>
          <a:p>
            <a:r>
              <a:t>Die Kindkomponente markiert mit dem Element „ng-content“ die Stelle, an der der Inhalt erscheinen soll. Eine solche Stelle nennt man auch „Slot“, auf Deutsch „Fach“ oder „Steckplatz“. Mit dem Attribut „select“ kann man mehrere Slots unterscheiden, zum Beispiel Kopf, Hauptteil und Fuß.</a:t>
            </a:r>
          </a:p>
          <a:p/>
          <a:p>
            <a:r>
              <a:t>Typische Beispiele sind Karten, Dialogfenster, Reiter und aufklappbare Bereiche. So trennt man den Aufbau und die Gestaltung vom fachlichen Inhalt.</a:t>
            </a:r>
          </a:p>
        </p:txBody>
      </p:sp>
      <p:sp>
        <p:nvSpPr>
          <p:cNvPr id="4" name="Slide Number Placeholder 3"/>
          <p:cNvSpPr>
            <a:spLocks noGrp="1"/>
          </p:cNvSpPr>
          <p:nvPr>
            <p:ph type="sldNum" idx="66"/>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„Card-Komponente mit drei Slots“.</a:t>
            </a:r>
          </a:p>
          <a:p/>
          <a:p>
            <a:r>
              <a:t>Die Klasse der Karte ist leer. Sie braucht keine eigene Logik, sie liefert nur den Rahmen. Im Template stehen drei Bereiche: Kopf, Hauptteil und Fuß.</a:t>
            </a:r>
          </a:p>
          <a:p/>
          <a:p>
            <a:r>
              <a:t>Im Kopf steht ein „ng-content“ mit „select“ auf das Attribut „card-header“. Dort erscheint jedes Element, das die Elternkomponente mit diesem Attribut versieht. Im Fuß ist es genauso mit „card-footer“. Im Hauptteil steht ein „ng-content“ ohne „select“. Das ist der Standard-Slot. Dort erscheint aller Inhalt, der zu keinem anderen Slot passt.</a:t>
            </a:r>
          </a:p>
        </p:txBody>
      </p:sp>
      <p:sp>
        <p:nvSpPr>
          <p:cNvPr id="4" name="Slide Number Placeholder 3"/>
          <p:cNvSpPr>
            <a:spLocks noGrp="1"/>
          </p:cNvSpPr>
          <p:nvPr>
            <p:ph type="sldNum" idx="66"/>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„Card verwenden: Inhalt in die Slots“.</a:t>
            </a:r>
          </a:p>
          <a:p/>
          <a:p>
            <a:r>
              <a:t>Die Detailansicht verwendet die Karte. Zwischen dem öffnenden und dem schließenden Tag von „app-card“ steht der Inhalt. Das Element mit dem Attribut „card-header“ landet im Kopf der Karte. Das Formular hat kein solches Attribut und landet deshalb im Standard-Slot. Das Element mit „card-footer“ landet im Fuß.</a:t>
            </a:r>
          </a:p>
          <a:p/>
          <a:p>
            <a:r>
              <a:t>Eine Besonderheit: Der Speichern-Knopf steht im Fuß und damit außerhalb des Formulars. Damit er das Formular trotzdem abschickt, bekommt das Formular eine „id“ und der Knopf das Attribut „form“ mit dieser „id“. Die Template-Variable „customerForm“ ist auch im Fuß sichtbar, weil alles im selben Template der Elternkomponente steht. Damit wird der Knopf gesperrt,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Inhalt und Slots der Card“.</a:t>
            </a:r>
          </a:p>
          <a:p/>
          <a:p>
            <a:r>
              <a:t>Das Diagramm zeigt die Detailseite, die über die Route „/customer/:id“ im „router-outlet“ angezeigt wird. Links steht der Inhalt, den die Detailseite zwischen das öffnende und das schließende Tag von „app-card“ schreibt. Rechts steht das Template der „CardComponent“ mit ihren drei Slots, also Steckplätzen.</a:t>
            </a:r>
          </a:p>
          <a:p/>
          <a:p>
            <a:r>
              <a:t>Die orangen Pfeile zeigen die Zuordnung. Das „span“ mit dem Attribut „card-header“ passt zum Selector des ersten Slots und erscheint im Kopfbereich der Karte. Das „div“ mit „card-footer“ passt zum dritten Slot und erscheint unten. Das Formular hat kein passendes Attribut. Es landet deshalb im Default-Slot, dem „ng-content“ ohne „select“, also im Hauptbereich der Karte.</a:t>
            </a:r>
          </a:p>
          <a:p/>
          <a:p>
            <a:r>
              <a:t>Die Karte bestimmt also nur den Rahmen und das Aussehen. Der Inhalt mit seinen Bindungen, zum Beispiel das Formular mit „customerForm“, gehört weiterhin zur Detailseite.</a:t>
            </a:r>
          </a:p>
        </p:txBody>
      </p:sp>
      <p:sp>
        <p:nvSpPr>
          <p:cNvPr id="4" name="Slide Number Placeholder 3"/>
          <p:cNvSpPr>
            <a:spLocks noGrp="1"/>
          </p:cNvSpPr>
          <p:nvPr>
            <p:ph type="sldNum" idx="66"/>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„select, Default-Slot und ngProjectAs“.</a:t>
            </a:r>
          </a:p>
          <a:p/>
          <a:p>
            <a:r>
              <a:t>Das Attribut „select“ nimmt einen CSS-Selector. Das kann ein Attribut in eckigen Klammern sein, ein Elementname oder eine Klasse mit Punkt. Inhalt, der zu keinem Slot passt, landet im Standard-Slot ohne „select“. Gibt es keinen Standard-Slot, wird dieser Inhalt gar nicht angezeigt.</a:t>
            </a:r>
          </a:p>
          <a:p/>
          <a:p>
            <a:r>
              <a:t>Manchmal will man mehrere Elemente gemeinsam in einen Slot geben, ohne ein zusätzliches Element im HTML zu erzeugen. Dafür nimmt man „ng-container“, ein unsichtbares Hilfselement, und gibt ihm „ngProjectAs“. Dann behandelt Angular es so, als hätte es das passende Attribut.</a:t>
            </a:r>
          </a:p>
          <a:p/>
          <a:p>
            <a:r>
              <a:t>Seit Angular 18 kann „ng-content“ außerdem einen Standardinhalt enthalten. Er erscheint, wenn die Elternkomponente für diesen Slot nichts liefert.</a:t>
            </a:r>
          </a:p>
        </p:txBody>
      </p:sp>
      <p:sp>
        <p:nvSpPr>
          <p:cNvPr id="4" name="Slide Number Placeholder 3"/>
          <p:cNvSpPr>
            <a:spLocks noGrp="1"/>
          </p:cNvSpPr>
          <p:nvPr>
            <p:ph type="sldNum" idx="66"/>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„Wichtig: Projizierter Inhalt wird immer erzeugt“.</a:t>
            </a:r>
          </a:p>
          <a:p/>
          <a:p>
            <a:r>
              <a:t>Der hineingereichte Inhalt gehört zur Elternkomponente. Deshalb kann er die Variablen und Bindungen aus dem Eltern-Template verwenden, zum Beispiel die Template-Variable des Formulars.</a:t>
            </a:r>
          </a:p>
          <a:p/>
          <a:p>
            <a:r>
              <a:t>Daraus folgt eine wichtige Regel: Der Inhalt wird immer von der Elternkomponente erzeugt, auch wenn die Karte ihn gar nicht anzeigt. Steht „ng-content“ in der Karte innerhalb eines „@if“, das falsch ist, sieht man den Inhalt nicht. Komponenten darin werden aber trotzdem erzeugt und laufen, sie laden zum Beispiel auch Daten. Deshalb setzt man „ng-content“ nicht in ein „@if“.</a:t>
            </a:r>
          </a:p>
          <a:p/>
          <a:p>
            <a:r>
              <a:t>Außerdem erscheint jeder Inhalt höchstens einmal. Will man Inhalt nur bei Bedarf oder mehrfach anzeigen, gibt die Elternkomponente eine Vorlage mit „ng-template“ hinein. Die Kindkomponente zeigt sie dann gezielt mit „ngTemplateOutlet“ an.</a:t>
            </a:r>
          </a:p>
        </p:txBody>
      </p:sp>
      <p:sp>
        <p:nvSpPr>
          <p:cNvPr id="4" name="Slide Number Placeholder 3"/>
          <p:cNvSpPr>
            <a:spLocks noGrp="1"/>
          </p:cNvSpPr>
          <p:nvPr>
            <p:ph type="sldNum" idx="66"/>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„contentChild in der Card“.</a:t>
            </a:r>
          </a:p>
          <a:p/>
          <a:p>
            <a:r>
              <a:t>Dieses Beispiel verbindet Content Projection mit einer Signal Query. Die Karte soll den Kopfbereich mit Rahmen und Hintergrund nur zeigen, wenn die Elternkomponente auch eine Überschrift mitliefert.</a:t>
            </a:r>
          </a:p>
          <a:p/>
          <a:p>
            <a:r>
              <a:t>Dafür sucht „contentChild“ im hineingereichten Inhalt ein Element mit der Template-Variable „#header“. Das „computed“ „hasHeader“ ist wahr, wenn eins gefunden wurde. Im Template wird der Kopfbereich mit „hidden“ ausgeblendet, solange dieses Signal falsch ist. Das „ng-content“ selbst steht bewusst nicht in einem „@if“, wie die vorige Folie erklärt.</a:t>
            </a:r>
          </a:p>
          <a:p/>
          <a:p>
            <a:r>
              <a:t>Unten sieht man die Verwendung: Die Überschrift trägt sowohl die Template-Variable „#header“ als auch das Attribut „card-header“ für den Slot. Die Musterlösung der Übung 29 braucht diese Abfrage nicht, sie ist eine mögliche Erweiterung.</a:t>
            </a:r>
          </a:p>
        </p:txBody>
      </p:sp>
      <p:sp>
        <p:nvSpPr>
          <p:cNvPr id="4" name="Slide Number Placeholder 3"/>
          <p:cNvSpPr>
            <a:spLocks noGrp="1"/>
          </p:cNvSpPr>
          <p:nvPr>
            <p:ph type="sldNum" idx="66"/>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 Sie dauert etwa 20 Minuten.</a:t>
            </a:r>
          </a:p>
          <a:p/>
          <a:p>
            <a:r>
              <a:t>Die Teilnehmer erstellen eine wiederverwendbare Karten-Komponente mit drei Slots: Kopf, Hauptteil und Fuß. Sie gestalten die Karte mit Rahmen und Schatten. Dann setzen sie die Detailansicht in die Karte: den Kundennamen in den Kopf, das Formular in den Hauptteil und die beiden Knöpfe in den Fuß.</a:t>
            </a:r>
          </a:p>
          <a:p/>
          <a:p>
            <a:r>
              <a:t>Weil der Speichern-Knopf dann außerhalb des Formulars steht, verbindet man ihn über eine „id“ und das Attribut „form“ mit dem Formular.</a:t>
            </a:r>
          </a:p>
        </p:txBody>
      </p:sp>
      <p:sp>
        <p:nvSpPr>
          <p:cNvPr id="4" name="Slide Number Placeholder 3"/>
          <p:cNvSpPr>
            <a:spLocks noGrp="1"/>
          </p:cNvSpPr>
          <p:nvPr>
            <p:ph type="sldNum" idx="66"/>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„SSR: Warum Server-Side Rendering?“.</a:t>
            </a:r>
          </a:p>
          <a:p/>
          <a:p>
            <a:r>
              <a:t>Eine normale Angular-Anwendung wird im Browser gerendert. Das nennt man „Client-Side Rendering“, abgekürzt CSR. Der Server schickt eine fast leere HTML-Seite. Erst wenn das JavaScript geladen und gestartet ist, sieht man Inhalt. Auf langsamen Geräten dauert das. Suchmaschinen und Link-Vorschauen sehen zunächst nur eine leere Seite.</a:t>
            </a:r>
          </a:p>
          <a:p/>
          <a:p>
            <a:r>
              <a:t>Beim „Server-Side Rendering“, abgekürzt SSR, führt der Server die Angular-Anwendung bei jeder Anfrage aus und schickt fertiges HTML. Der Inhalt ist sofort sichtbar. Beim „Prerendering“ wird das HTML sogar schon beim Bauen der Anwendung erzeugt, das passt für Seiten, die sich selten ändern.</a:t>
            </a:r>
          </a:p>
          <a:p/>
          <a:p>
            <a:r>
              <a:t>Eingerichtet wird SSR beim Anlegen eines Projekts mit der Option „--ssr“ oder später mit „ng add @angular/ssr“.</a:t>
            </a:r>
          </a:p>
        </p:txBody>
      </p:sp>
      <p:sp>
        <p:nvSpPr>
          <p:cNvPr id="4" name="Slide Number Placeholder 3"/>
          <p:cNvSpPr>
            <a:spLocks noGrp="1"/>
          </p:cNvSpPr>
          <p:nvPr>
            <p:ph type="sldNum" idx="66"/>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Vom Server-HTML zur lebendigen App“.</a:t>
            </a:r>
          </a:p>
          <a:p/>
          <a:p>
            <a:r>
              <a:t>Der Ablauf hat fünf Schritte. Zuerst fordert der Browser eine Adresse an. Dann führt der Server die Angular-Anwendung aus und rendert daraus HTML. Der Browser zeigt dieses HTML sofort an. Die Seite sieht fertig aus, reagiert aber noch nicht auf Klicks.</a:t>
            </a:r>
          </a:p>
          <a:p/>
          <a:p>
            <a:r>
              <a:t>Währenddessen lädt der Browser das JavaScript der Anwendung. Dann folgt die „Hydration“, auf Deutsch etwa „Bewässerung“: Angular startet im Browser, erkennt das vorhandene HTML wieder und hängt die Ereignisse und Bindungen daran. Das HTML wird dabei nicht neu gezeichnet, es flackert also nichts.</a:t>
            </a:r>
          </a:p>
          <a:p/>
          <a:p>
            <a:r>
              <a:t>Danach verhält sich die Seite wie jede normale Angular-Anwendung. Weitere Navigationen laufen im Browser.</a:t>
            </a:r>
          </a:p>
        </p:txBody>
      </p:sp>
      <p:sp>
        <p:nvSpPr>
          <p:cNvPr id="4" name="Slide Number Placeholder 3"/>
          <p:cNvSpPr>
            <a:spLocks noGrp="1"/>
          </p:cNvSpPr>
          <p:nvPr>
            <p:ph type="sldNum" idx="66"/>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SSR und Hydration im Detail“.</a:t>
            </a:r>
          </a:p>
          <a:p/>
          <a:p>
            <a:r>
              <a:t>Das Sequenzdiagramm zeigt vier Beteiligte: den Browser, die Angular-Anwendung, sobald sie im Browser gestartet ist, den Node-Server, auf dem Angular ebenfalls läuft, und den Backend-Server mit den Daten. Der Browser fragt die Adresse „/customer“ an. Der Server führt Angular aus und rendert die Kundenliste. Dabei lädt der „HttpClient“ auf dem Server die Kundendaten vom Backend.</a:t>
            </a:r>
          </a:p>
          <a:p/>
          <a:p>
            <a:r>
              <a:t>Der Server schickt fertiges HTML an den Browser und legt die geladenen Daten mit hinein; das nennt man „Transfer Cache“. Der Browser zeigt die Seite sofort an. Sie ist sichtbar, aber noch nicht bedienbar. Klicks in dieser Zeit werden gemerkt.</a:t>
            </a:r>
          </a:p>
          <a:p/>
          <a:p>
            <a:r>
              <a:t>Dann ist das JavaScript geladen, und Angular startet im Browser. Die Daten nimmt der „HttpClient“ aus dem Transfer Cache, er fragt das Backend also nicht ein zweites Mal. Bei der Hydration übernimmt Angular das vorhandene HTML, statt es neu aufzubauen, und hängt die Ereignisse an. Zum Schluss spielt „Event Replay“ die gemerkten Klicks nach.</a:t>
            </a:r>
          </a:p>
        </p:txBody>
      </p:sp>
      <p:sp>
        <p:nvSpPr>
          <p:cNvPr id="4" name="Slide Number Placeholder 3"/>
          <p:cNvSpPr>
            <a:spLocks noGrp="1"/>
          </p:cNvSpPr>
          <p:nvPr>
            <p:ph type="sldNum" idx="66"/>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„Hydration und Event Replay“.</a:t>
            </a:r>
          </a:p>
          <a:p/>
          <a:p>
            <a:r>
              <a:t>Hydration wird in der Datei „app.config.ts“ mit „provideClientHydration“ eingeschaltet. Bei neuen Projekten mit SSR steht das schon dort. Angular verwendet dann das HTML vom Server weiter, statt alles neu zu bauen.</a:t>
            </a:r>
          </a:p>
          <a:p/>
          <a:p>
            <a:r>
              <a:t>Mit „withEventReplay“ merkt sich Angular Klicks und Eingaben, die der Nutzer macht, bevor die Hydration fertig ist. Danach spielt Angular sie automatisch nach. So geht kein Klick verloren.</a:t>
            </a:r>
          </a:p>
          <a:p/>
          <a:p>
            <a:r>
              <a:t>Anfragen, die der „HttpClient“ schon auf dem Server gemacht hat, werden mit der Seite mitgeschickt. Der Browser muss sie nicht noch einmal stellen. Wichtig: Das HTML vom Server und das, was Angular im Browser erwartet, müssen gleich sein. Verändert Code das HTML direkt, meldet Angular einen Fehler, zum Beispiel mit der Nummer NG0500.</a:t>
            </a:r>
          </a:p>
        </p:txBody>
      </p:sp>
      <p:sp>
        <p:nvSpPr>
          <p:cNvPr id="4" name="Slide Number Placeholder 3"/>
          <p:cNvSpPr>
            <a:spLocks noGrp="1"/>
          </p:cNvSpPr>
          <p:nvPr>
            <p:ph type="sldNum" idx="66"/>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„Incremental Hydration mit @defer“.</a:t>
            </a:r>
          </a:p>
          <a:p/>
          <a:p>
            <a:r>
              <a:t>Bei der normalen Hydration lädt der Browser das JavaScript für die ganze Seite auf einmal. Bei großen Seiten ist das viel. „Incremental Hydration“, also schrittweise Hydration, löst das: Einzelne Bereiche werden erst hydriert, wenn sie gebraucht werden.</a:t>
            </a:r>
          </a:p>
          <a:p/>
          <a:p>
            <a:r>
              <a:t>Man kennzeichnet einen Bereich mit „@defer“ und einem „hydrate“-Auslöser. Der Server rendert den Bereich trotzdem sofort als HTML, man sieht ihn also. Sein JavaScript lädt aber erst, wenn der Auslöser eintritt: zum Beispiel wenn der Bereich in den sichtbaren Teil scrollt, bei einer Interaktion, wenn der Browser nichts zu tun hat, beim Darüberfahren mit der Maus oder nach einer Zeit. Mit „hydrate never“ bleibt der Bereich reines HTML.</a:t>
            </a:r>
          </a:p>
          <a:p/>
          <a:p>
            <a:r>
              <a:t>Eingeschaltet wird das in „app.config.ts“ mit „withIncrementalHydration“. Damit ist auch das Nachspielen von Klicks aktiv.</a:t>
            </a:r>
          </a:p>
        </p:txBody>
      </p:sp>
      <p:sp>
        <p:nvSpPr>
          <p:cNvPr id="4" name="Slide Number Placeholder 3"/>
          <p:cNvSpPr>
            <a:spLocks noGrp="1"/>
          </p:cNvSpPr>
          <p:nvPr>
            <p:ph type="sldNum" idx="66"/>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Code läuft auch auf dem Server“.</a:t>
            </a:r>
          </a:p>
          <a:p/>
          <a:p>
            <a:r>
              <a:t>Mit SSR läuft derselbe Code zuerst auf dem Server, in Node.js. Das betrifft Komponenten, Services und Konstruktoren. Auf dem Server gibt es aber keinen Browser. Objekte wie „window“ für das Fenster, „localStorage“ für den Speicher im Browser oder „navigator“ für Geräteinformationen fehlen. Greift Code darauf zu, gibt es einen Fehler, und die Seite wird nicht gerendert.</a:t>
            </a:r>
          </a:p>
          <a:p/>
          <a:p>
            <a:r>
              <a:t>Deshalb sollte man Elemente nicht direkt anfassen, sondern Bindungen, das „host“-Feld oder den Dienst „Renderer2“ verwenden. Wiederholte Zeitgeber oder Datenströme, die nie enden, halten den Server auf, weil Angular wartet, bis die Anwendung zur Ruhe kommt.</a:t>
            </a:r>
          </a:p>
          <a:p/>
          <a:p>
            <a:r>
              <a:t>Code, der nur im Browser laufen darf, steht in „afterNextRender“ oder hinter einer Prüfung mit „isPlatformBrowser“. Das zeigt die nächste Folie.</a:t>
            </a:r>
          </a:p>
        </p:txBody>
      </p:sp>
      <p:sp>
        <p:nvSpPr>
          <p:cNvPr id="4" name="Slide Number Placeholder 3"/>
          <p:cNvSpPr>
            <a:spLocks noGrp="1"/>
          </p:cNvSpPr>
          <p:nvPr>
            <p:ph type="sldNum" idx="66"/>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„afterNextRender: nur im Browser“.</a:t>
            </a:r>
          </a:p>
          <a:p/>
          <a:p>
            <a:r>
              <a:t>Die Komponente soll den letzten Filtertext im Speicher des Browsers merken. Den gibt es auf dem Server nicht.</a:t>
            </a:r>
          </a:p>
          <a:p/>
          <a:p>
            <a:r>
              <a:t>Im Konstruktor wird eine Funktion an „afterNextRender“ übergeben. Angular ruft sie einmal auf, nachdem die Komponente im Browser zum ersten Mal gerendert wurde. Auf dem Server ruft Angular sie nie auf. Deshalb darf sie „localStorage“ verwenden. Sie liest den gespeicherten Text und setzt das Signal.</a:t>
            </a:r>
          </a:p>
          <a:p/>
          <a:p>
            <a:r>
              <a:t>Die Methode „saveFilter“ kann zu jeder Zeit aufgerufen werden. Deshalb prüft sie vorher mit „isPlatformBrowser“, ob der Code gerade im Browser läuft. „PLATFORM_ID“ ist ein von Angular bereitgestellter Wert, der sagt, ob man auf dem Server oder im Browser ist. Es gibt auch „afterEveryRender“ für Code, der nach jedem Rendern laufen soll.</a:t>
            </a:r>
          </a:p>
        </p:txBody>
      </p:sp>
      <p:sp>
        <p:nvSpPr>
          <p:cNvPr id="4" name="Slide Number Placeholder 3"/>
          <p:cNvSpPr>
            <a:spLocks noGrp="1"/>
          </p:cNvSpPr>
          <p:nvPr>
            <p:ph type="sldNum" idx="66"/>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„SSR: Render-Modi und Einordnung“.</a:t>
            </a:r>
          </a:p>
          <a:p/>
          <a:p>
            <a:r>
              <a:t>Seit Angular 19 kann man für jede Route einzeln festlegen, wie sie gerendert wird. Das steht in der Datei „app.routes.server.ts“. „Server“ bedeutet: bei jeder Anfrage auf dem Server rendern. „Prerender“ bedeutet: einmal beim Bauen rendern und als fertige Datei ausliefern. „Client“ bedeutet: nur im Browser rendern, wie ohne SSR.</a:t>
            </a:r>
          </a:p>
          <a:p/>
          <a:p>
            <a:r>
              <a:t>SSR lohnt sich vor allem für öffentliche Seiten, die Suchmaschinen finden sollen, und für Nutzer mit langsamen Geräten. Für interne Anwendungen hinter einem Login, wie unsere Kundenverwaltung, bringt es oft wenig und macht den Betrieb aufwendiger, weil ein Node-Server nötig ist.</a:t>
            </a:r>
          </a:p>
          <a:p/>
          <a:p>
            <a:r>
              <a:t>Ein einfacher Test: Die Seite mit abgeschaltetem JavaScript aufrufen. Was man dann sieht, kommt vom Server.</a:t>
            </a:r>
          </a:p>
        </p:txBody>
      </p:sp>
      <p:sp>
        <p:nvSpPr>
          <p:cNvPr id="4" name="Slide Number Placeholder 3"/>
          <p:cNvSpPr>
            <a:spLocks noGrp="1"/>
          </p:cNvSpPr>
          <p:nvPr>
            <p:ph type="sldNum" idx="66"/>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Behandelt werden Container- und Darstellungskomponenten, der Datenfluss zwischen ihnen, Komposition statt Vererbung und Host-Direktiven. Der Abschnitt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Komponenten aufteilen?“.</a:t>
            </a:r>
          </a:p>
          <a:p/>
          <a:p>
            <a:r>
              <a:t>Komponenten wachsen mit der Zeit. Am Anfang zeigt eine Komponente nur eine Liste. Später kommen Laden, Filtern, Auswählen und Hervorheben dazu, und alles steht in einer einzigen Datei. Ein Beispiel ist die „CustomerListComponent“ aus den bisherigen Übungen.</a:t>
            </a:r>
          </a:p>
          <a:p/>
          <a:p>
            <a:r>
              <a:t>Eine zu große Komponente hat drei Nachteile. Sie ist schwer zu lesen und zu ändern. Tests brauchen viel Vorbereitung, weil man den Server, den Router und das Seitenelement nachbauen muss. Und einzelne Teile, zum Beispiel das Suchfeld, lassen sich nicht an anderer Stelle wiederverwenden.</a:t>
            </a:r>
          </a:p>
          <a:p/>
          <a:p>
            <a:r>
              <a:t>Das Ziel sind kleine Bausteine. Jeder hat eine klare Aufgabe und eine klare Schnittstelle. Rechts sieht man, wie die Kundenliste in Übung 31 zerlegt wird.</a:t>
            </a:r>
          </a:p>
        </p:txBody>
      </p:sp>
      <p:sp>
        <p:nvSpPr>
          <p:cNvPr id="4" name="Slide Number Placeholder 3"/>
          <p:cNvSpPr>
            <a:spLocks noGrp="1"/>
          </p:cNvSpPr>
          <p:nvPr>
            <p:ph type="sldNum" idx="66"/>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„Kriterien für das Aufteilen“.</a:t>
            </a:r>
          </a:p>
          <a:p/>
          <a:p>
            <a:r>
              <a:t>Es gibt einige einfache Prüffragen. Die erste ist der „Satz ohne und“: Kann man die Aufgabe der Komponente in einem Satz ohne das Wort „und“ beschreiben? Wenn man sagen muss „sie lädt Kunden und filtert und markiert“, macht sie zu viel.</a:t>
            </a:r>
          </a:p>
          <a:p/>
          <a:p>
            <a:r>
              <a:t>Weitere Fragen sind: Wird ein Teil an mehreren Stellen gebraucht? Ändern sich Teile aus verschiedenen Gründen, zum Beispiel das Aussehen einer Zeile und die Art, wie Daten geladen werden? Ein langes Template, viele Felder und viele Aufrufe von „inject“ sind Warnsignale. Und: Kann man den Teil allein testen?</a:t>
            </a:r>
          </a:p>
          <a:p/>
          <a:p>
            <a:r>
              <a:t>Man soll aber nicht übertreiben. Jede neue Komponente braucht eine eigene Schnittstelle mit Eingaben und Ausgaben. Zu viele winzige Komponenten machen den Code ebenfalls schwer lesbar.</a:t>
            </a:r>
          </a:p>
        </p:txBody>
      </p:sp>
      <p:sp>
        <p:nvSpPr>
          <p:cNvPr id="4" name="Slide Number Placeholder 3"/>
          <p:cNvSpPr>
            <a:spLocks noGrp="1"/>
          </p:cNvSpPr>
          <p:nvPr>
            <p:ph type="sldNum" idx="66"/>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und Darstellungskomponenten“.</a:t>
            </a:r>
          </a:p>
          <a:p/>
          <a:p>
            <a:r>
              <a:t>Eine bewährte Aufteilung unterscheidet zwei Arten von Komponenten. Eine „Container-Komponente“, auf Englisch auch „smart“ genannt, lädt Daten, hält den Zustand und spricht mit Services. In Übung 31 ist das die „CustomerListComponent“.</a:t>
            </a:r>
          </a:p>
          <a:p/>
          <a:p>
            <a:r>
              <a:t>Eine „Darstellungskomponente“, auf Englisch „presentational“, zeigt nur an und meldet Ereignisse. Sie kennt keine Services. Sie bekommt alles über Eingaben, also „input“, und meldet alles über Ausgaben, also „output“. Beispiele sind das Suchfeld „CustomerFilter“ und die Zeile „CustomerListItem“.</a:t>
            </a:r>
          </a:p>
          <a:p/>
          <a:p>
            <a:r>
              <a:t>Weil Darstellungskomponenten nichts von ihrer Umgebung wissen, kann man sie leicht an anderer Stelle einsetzen und leicht testen. Rechts sind die beiden Arten gegenübergestellt.</a:t>
            </a:r>
          </a:p>
        </p:txBody>
      </p:sp>
      <p:sp>
        <p:nvSpPr>
          <p:cNvPr id="4" name="Slide Number Placeholder 3"/>
          <p:cNvSpPr>
            <a:spLocks noGrp="1"/>
          </p:cNvSpPr>
          <p:nvPr>
            <p:ph type="sldNum" idx="66"/>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„Datenfluss: Daten runter, Ereignisse hoch“.</a:t>
            </a:r>
          </a:p>
          <a:p/>
          <a:p>
            <a:r>
              <a:t>Zwischen Container und Darstellungskomponente fließen die Daten in einem festen Kreislauf. Der Container besitzt den Zustand, hier den Filtertext als Signal. Über eine Eigenschaftsbindung mit eckigen Klammern gibt er den Wert nach unten an das Kind. Das Kind liest ihn über „input“.</a:t>
            </a:r>
          </a:p>
          <a:p/>
          <a:p>
            <a:r>
              <a:t>Wenn der Benutzer tippt, ändert das Kind den Wert nicht selbst. Es meldet das Ereignis mit „emit“ nach oben. Der Container hört mit einer Ereignisbindung in runden Klammern zu und setzt sein Signal neu. Danach fließt der neue Wert wieder nach unten.</a:t>
            </a:r>
          </a:p>
          <a:p/>
          <a:p>
            <a:r>
              <a:t>Die Regel lautet: Daten fließen nach unten, Ereignisse nach oben. Jeder Zustand hat genau einen Besitzer. Das Diagramm rechts zeigt diesen Kreislauf.</a:t>
            </a:r>
          </a:p>
        </p:txBody>
      </p:sp>
      <p:sp>
        <p:nvSpPr>
          <p:cNvPr id="4" name="Slide Number Placeholder 3"/>
          <p:cNvSpPr>
            <a:spLocks noGrp="1"/>
          </p:cNvSpPr>
          <p:nvPr>
            <p:ph type="sldNum" idx="66"/>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„Darstellungskomponente: CustomerFilter“.</a:t>
            </a:r>
          </a:p>
          <a:p/>
          <a:p>
            <a:r>
              <a:t>Das ist das Suchfeld aus der Musterlösung von Übung 31. Die Komponente kennt weder Kundendaten noch Services. Sie hat eine Eingabe „value“ für den aktuellen Text und zwei Ausgaben: „changed“ meldet einen neuen Text, „cleared“ meldet, dass der Filter geleert werden soll.</a:t>
            </a:r>
          </a:p>
          <a:p/>
          <a:p>
            <a:r>
              <a:t>„viewChild“ liefert ein Signal auf das Eingabefeld im eigenen Template. Es ist mit dem Eingabefeld aus der Kundenliste hierher umgezogen. Die Methode „onInput“ liest den Text aus dem Ereignis und meldet ihn nach oben. Die Methode „clear“ meldet das Leeren und setzt danach den Fokus in das Eingabefeld.</a:t>
            </a:r>
          </a:p>
          <a:p/>
          <a:p>
            <a:r>
              <a:t>Wichtig: Die Komponente ändert ihren Eingabewert nicht selbst. Sie meldet nur. Ob der Text wirklich übernommen wird, entscheidet der Container.</a:t>
            </a:r>
          </a:p>
        </p:txBody>
      </p:sp>
      <p:sp>
        <p:nvSpPr>
          <p:cNvPr id="4" name="Slide Number Placeholder 3"/>
          <p:cNvSpPr>
            <a:spLocks noGrp="1"/>
          </p:cNvSpPr>
          <p:nvPr>
            <p:ph type="sldNum" idx="66"/>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und output() im Detail“.</a:t>
            </a:r>
          </a:p>
          <a:p/>
          <a:p>
            <a:r>
              <a:t>Die Funktion „input“ erzeugt eine Eingabe. Angular liefert dafür ein Signal, das die Komponente nur lesen, aber nicht setzen kann. Der Typ heißt „InputSignal“. Der Wert in den Klammern ist der Startwert. Er gilt, solange die Eltern-Komponente nichts bindet. „input.required“ ist eine Pflichteingabe: Fehlt die Bindung im Eltern-Template, meldet schon der Compiler einen Fehler.</a:t>
            </a:r>
          </a:p>
          <a:p/>
          <a:p>
            <a:r>
              <a:t>Die Funktion „output“ erzeugt eine Ausgabe. Man bekommt ein Objekt mit der Methode „emit“. Mit „emit“ schickt das Kind einen Wert nach oben. Bei „output“ mit dem Typ „void“, also „kein Wert“, ruft man „emit“ ohne Argument auf.</a:t>
            </a:r>
          </a:p>
          <a:p/>
          <a:p>
            <a:r>
              <a:t>Im Template der Eltern-Komponente heißt der gesendete Wert „$event“. Das ist genau der Wert, den das Kind an „emit“ übergeben hat. Rechts sieht man, wie der Container die Ausgaben verbindet.</a:t>
            </a:r>
          </a:p>
        </p:txBody>
      </p:sp>
      <p:sp>
        <p:nvSpPr>
          <p:cNvPr id="4" name="Slide Number Placeholder 3"/>
          <p:cNvSpPr>
            <a:spLocks noGrp="1"/>
          </p:cNvSpPr>
          <p:nvPr>
            <p:ph type="sldNum" idx="66"/>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Container und Darstellung“.</a:t>
            </a:r>
          </a:p>
          <a:p/>
          <a:p>
            <a:r>
              <a:t>Das Diagramm zeigt die aufgeteilte Kundenliste. Der äußere Kasten ist die „CustomerListComponent“. Sie steht im „router-outlet“ der App, wenn die Adresse „/customer“ lautet. In ihrem Template verwendet sie zwei Kind-Komponenten: links den Filter „customer-filter“ und rechts die Zeilenkomponente „customer-list-item“, die es für jeden Kunden einmal gibt. In der Mitte steht die Klasse der Liste. Sie ist der Container und besitzt den Zustand: den Filtertext und den ausgewählten Kunden.</a:t>
            </a:r>
          </a:p>
          <a:p/>
          <a:p>
            <a:r>
              <a:t>Die grünen Pfeile zeigen den Datenfluss nach unten, also von der Elternkomponente zu den Kindern. Mit „[value]“ bekommt der Filter den aktuellen Text, mit „[customer]“ und „[selected]“ bekommt jede Zeile ihren Kunden und die Information, ob sie ausgewählt ist. Die orangen Pfeile zeigen Ereignisse nach oben, also vom Kind zurück zur Elternkomponente. Der Filter meldet mit „changed“ einen neuen Text, die Zeile meldet mit „chosen“ einen Klick.</a:t>
            </a:r>
          </a:p>
          <a:p/>
          <a:p>
            <a:r>
              <a:t>Die Methoden der Liste, „onFilterChanged“ und „listItemClicked“, ändern daraufhin den Zustand. Nur der Container ändert also Daten, die Kinder zeigen sie an und melden Ereignisse.</a:t>
            </a:r>
          </a:p>
        </p:txBody>
      </p:sp>
      <p:sp>
        <p:nvSpPr>
          <p:cNvPr id="4" name="Slide Number Placeholder 3"/>
          <p:cNvSpPr>
            <a:spLocks noGrp="1"/>
          </p:cNvSpPr>
          <p:nvPr>
            <p:ph type="sldNum" idx="66"/>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„Zeilenkomponente: Attribut-Selektor und host“.</a:t>
            </a:r>
          </a:p>
          <a:p/>
          <a:p>
            <a:r>
              <a:t>Das ist die Komponente für eine Zeile der Kundenliste. Der Selektor ist ein „Attribut-Selektor“: Die Komponente hängt sich an ein normales „li“-Element mit dem Attribut „customer-list-item“. So bleibt im Container eine gültige Liste aus „ul“ und „li“ erhalten. Ein eigenes Element zwischen „ul“ und „li“ wäre kein gültiges HTML.</a:t>
            </a:r>
          </a:p>
          <a:p/>
          <a:p>
            <a:r>
              <a:t>Mit „host“ im Dekorator setzt man Bindungen direkt am Host-Element, also am „li“ selbst. Die Klasse „discontinued“ wird gesetzt, wenn der Kunde nicht mehr aktiv ist. Die Klasse „selected“ folgt der Eingabe „selected“. Ein Klick auf die Zeile sendet den Kunden über „chosen“ nach oben.</a:t>
            </a:r>
          </a:p>
          <a:p/>
          <a:p>
            <a:r>
              <a:t>Die Komponente hat eine Pflichteingabe „customer“, eine optionale Eingabe „selected“ mit dem Startwert „false“ und eine Ausgabe „chosen“. Unten steht als Kommentar, wie der Container die Zeile verwendet.</a:t>
            </a:r>
          </a:p>
        </p:txBody>
      </p:sp>
      <p:sp>
        <p:nvSpPr>
          <p:cNvPr id="4" name="Slide Number Placeholder 3"/>
          <p:cNvSpPr>
            <a:spLocks noGrp="1"/>
          </p:cNvSpPr>
          <p:nvPr>
            <p:ph type="sldNum" idx="66"/>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Mit „ng-content“ setzt die Eltern-Komponente Inhalt in eine andere Komponente ein. Auch Kind-Komponenten, Direktiven und Services sind Formen der Komposition.</a:t>
            </a:r>
          </a:p>
          <a:p/>
          <a:p>
            <a:r>
              <a:t>Bei „Vererbung“ erweitert eine Komponenten-Klasse mit „extends“ eine Basisklasse. Das klingt praktisch, hat aber Nachteile. Jede Änderung an der Basisklasse wirkt auf alle abgeleiteten Klassen, auch dort, wo man es nicht erwartet. Eine Klasse kann nur eine Basisklasse haben. Und das Template und die Stile werden nicht geerbt.</a:t>
            </a:r>
          </a:p>
          <a:p/>
          <a:p>
            <a:r>
              <a:t>Die Faustregel lautet deshalb: Gemeinsames Verhalten holt man in die Komponente hinein, statt es zu erben. Die nächsten Folien zeigen beide Wege im Code.</a:t>
            </a:r>
          </a:p>
        </p:txBody>
      </p:sp>
      <p:sp>
        <p:nvSpPr>
          <p:cNvPr id="4" name="Slide Number Placeholder 3"/>
          <p:cNvSpPr>
            <a:spLocks noGrp="1"/>
          </p:cNvSpPr>
          <p:nvPr>
            <p:ph type="sldNum" idx="66"/>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„Vererbung: so sieht es aus“.</a:t>
            </a:r>
          </a:p>
          <a:p/>
          <a:p>
            <a:r>
              <a:t>Hier wird gemeinsames Auswahlverhalten in eine Basisklasse gelegt. Die Basisklasse hält die Auswahl als Signal und bietet zwei Methoden an. Weil sie Angular-Funktionen nutzt, braucht sie einen eigenen leeren Dekorator „@Directive“. Ohne ihn meldet Angular einen Fehler. Die Kundenliste erweitert diese Basisklasse mit „extends“ und erbt alles.</a:t>
            </a:r>
          </a:p>
          <a:p/>
          <a:p>
            <a:r>
              <a:t>Unten stehen die Probleme. Template und Stile werden nicht geerbt, nur die Logik der Klasse. Wenn die Basisklasse einen Konstruktor mit Parametern hat, muss jede Unterklasse ihn mit „super“ aufrufen. Jede Änderung an der Basisklasse wirkt auf alle Listen der Anwendung. Und eine zweite Basisklasse, etwa für Sortierung, ist in TypeScript nicht möglich.</a:t>
            </a:r>
          </a:p>
        </p:txBody>
      </p:sp>
      <p:sp>
        <p:nvSpPr>
          <p:cNvPr id="4" name="Slide Number Placeholder 3"/>
          <p:cNvSpPr>
            <a:spLocks noGrp="1"/>
          </p:cNvSpPr>
          <p:nvPr>
            <p:ph type="sldNum" idx="66"/>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„Komposition: Verhalten als Service“.</a:t>
            </a:r>
          </a:p>
          <a:p/>
          <a:p>
            <a:r>
              <a:t>Dasselbe Auswahlverhalten steckt jetzt in einer eigenen Klasse „Selection“. Sie ist ein Service ohne „providedIn“. Das bedeutet: Sie gilt nicht für die ganze Anwendung, sondern wird gezielt bereitgestellt.</a:t>
            </a:r>
          </a:p>
          <a:p/>
          <a:p>
            <a:r>
              <a:t>Die Kundenliste trägt „Selection“ in ihre „providers“ ein. Dadurch bekommt jede Liste ihre eigene Instanz, und zwei Listen auf einer Seite stören sich nicht. Mit „inject“ holt sich die Komponente diese Instanz. Im Template ruft sie dann zum Beispiel „selection.isSelected“ auf.</a:t>
            </a:r>
          </a:p>
          <a:p/>
          <a:p>
            <a:r>
              <a:t>Der Vorteil: Man kann beliebig viele solcher Bausteine kombinieren, etwa zusätzlich Sortierung und Blättern. Jeder Baustein ist für sich testbar, und es gibt keine starre Klassenhierarchie.</a:t>
            </a:r>
          </a:p>
        </p:txBody>
      </p:sp>
      <p:sp>
        <p:nvSpPr>
          <p:cNvPr id="4" name="Slide Number Placeholder 3"/>
          <p:cNvSpPr>
            <a:spLocks noGrp="1"/>
          </p:cNvSpPr>
          <p:nvPr>
            <p:ph type="sldNum" idx="66"/>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„hostDirectives: Direktiven mitbringen“.</a:t>
            </a:r>
          </a:p>
          <a:p/>
          <a:p>
            <a:r>
              <a:t>Eine „Direktive“ fügt einem Element Verhalten hinzu, zum Beispiel ein Hervorheben, wenn die Maus darüber ist. Normalerweise schreibt der Nutzer einer Komponente die Direktive selbst ins Template, als Attribut am Element.</a:t>
            </a:r>
          </a:p>
          <a:p/>
          <a:p>
            <a:r>
              <a:t>Mit „hostDirectives“ bringt die Komponente die Direktive selbst mit. Angular erzeugt die Direktive dann automatisch an dem Element, an dem die Komponente sitzt. Das nennt man das „Host-Element“. Der Nutzer muss nichts mehr dazuschreiben.</a:t>
            </a:r>
          </a:p>
          <a:p/>
          <a:p>
            <a:r>
              <a:t>Eingaben und Ausgaben der Direktive sind dabei zunächst nicht von außen erreichbar. Man muss sie ausdrücklich freigeben und kann sie dabei umbenennen. Die Komponente kann die Direktive außerdem mit „inject“ holen und ihre Werte lesen. Rechts ist der Aufbau skizziert.</a:t>
            </a:r>
          </a:p>
        </p:txBody>
      </p:sp>
      <p:sp>
        <p:nvSpPr>
          <p:cNvPr id="4" name="Slide Number Placeholder 3"/>
          <p:cNvSpPr>
            <a:spLocks noGrp="1"/>
          </p:cNvSpPr>
          <p:nvPr>
            <p:ph type="sldNum" idx="66"/>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„hostDirectives im Code“.</a:t>
            </a:r>
          </a:p>
          <a:p/>
          <a:p>
            <a:r>
              <a:t>Oben steht eine kleine Direktive „Highlight“. Sie färbt das Element ein, solange die Maus darüber ist. Die Farbe kommt aus der Eingabe „color“. Ob die Maus gerade darüber ist, merkt sie sich im Signal „active“. Über „host“ reagiert sie auf das Hineinfahren und Hinausfahren der Maus.</a:t>
            </a:r>
          </a:p>
          <a:p/>
          <a:p>
            <a:r>
              <a:t>Die Zeilenkomponente trägt die Direktive unter „hostDirectives“ ein. Jede Zeile wird dadurch automatisch hervorgehoben. Mit „inputs“ wird die Eingabe „color“ freigegeben und gleichzeitig umbenannt: Von außen heißt sie „highlightColor“. Ohne diesen Eintrag könnte man die Farbe von außen nicht setzen.</a:t>
            </a:r>
          </a:p>
          <a:p/>
          <a:p>
            <a:r>
              <a:t>Unten sieht man die Nutzung im Container: Die Farbe wird als Attribut an der Zeile angegeben, ohne dass „appHighlight“ dort stehen muss.</a:t>
            </a:r>
          </a:p>
        </p:txBody>
      </p:sp>
      <p:sp>
        <p:nvSpPr>
          <p:cNvPr id="4" name="Slide Number Placeholder 3"/>
          <p:cNvSpPr>
            <a:spLocks noGrp="1"/>
          </p:cNvSpPr>
          <p:nvPr>
            <p:ph type="sldNum" idx="66"/>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Host-Direktive am &lt;li&gt;“.</a:t>
            </a:r>
          </a:p>
          <a:p/>
          <a:p>
            <a:r>
              <a:t>Das Diagramm zeigt ein einzelnes Listenelement „li“ aus dem Template der Kundenliste. Auf diesem einen Element sitzen zwei Klassen: links die Direktive „Highlight“ und rechts die Komponente „CustomerListItemComponent“. Die Direktive steht nicht im Template, die Komponente bringt sie über „hostDirectives“ selbst mit.</a:t>
            </a:r>
          </a:p>
          <a:p/>
          <a:p>
            <a:r>
              <a:t>Angular erzeugt zuerst die Host-Direktive und danach die Komponente. Das Attribut „highlightColor“ im Template landet im Input „color“ der Direktive, weil die Komponente diesen Input unter dem Alias „highlightColor“ freigegeben hat. Die Bindung „[customer]“ landet im Input der Komponente.</a:t>
            </a:r>
          </a:p>
          <a:p/>
          <a:p>
            <a:r>
              <a:t>Beide Klassen haben eigene Host-Bindungen am selben Element: Die Direktive färbt den Hintergrund, wenn die Maus darüber ist. Die Komponente setzt die Klasse „selected“ und meldet Klicks mit „chosen“. Der gestrichelte Pfeil zeigt: Die Komponente kann sich die Direktive bei Bedarf mit „inject(Highlight)“ holen.</a:t>
            </a:r>
          </a:p>
        </p:txBody>
      </p:sp>
      <p:sp>
        <p:nvSpPr>
          <p:cNvPr id="4" name="Slide Number Placeholder 3"/>
          <p:cNvSpPr>
            <a:spLocks noGrp="1"/>
          </p:cNvSpPr>
          <p:nvPr>
            <p:ph type="sldNum" idx="66"/>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„hostDirectives: Regeln“.</a:t>
            </a:r>
          </a:p>
          <a:p/>
          <a:p>
            <a:r>
              <a:t>Für Host-Direktiven gelten einige Regeln. Es dürfen nur eigenständige Direktiven sein, sogenannte „Standalone“-Direktiven. In Angular 21 ist das der Standard. Der Selektor der Direktive wird dabei nicht verwendet, denn Angular erzeugt sie ohnehin.</a:t>
            </a:r>
          </a:p>
          <a:p/>
          <a:p>
            <a:r>
              <a:t>Eingaben und Ausgaben gibt man mit „inputs“ und „outputs“ frei. Man schreibt entweder nur den Namen oder den Namen, einen Doppelpunkt und einen neuen Namen für außen. Angular erzeugt zuerst die Host-Direktiven und danach die Komponente. Deshalb kann die Komponente die Direktive mit „inject“ holen.</a:t>
            </a:r>
          </a:p>
          <a:p/>
          <a:p>
            <a:r>
              <a:t>Der Nutzen: Gemeinsames Verhalten lässt sich ohne Basisklasse wiederverwenden, und eine Komponente kann mehrere solcher Direktiven gleichzeitig mitbringen.</a:t>
            </a:r>
          </a:p>
        </p:txBody>
      </p:sp>
      <p:sp>
        <p:nvSpPr>
          <p:cNvPr id="4" name="Slide Number Placeholder 3"/>
          <p:cNvSpPr>
            <a:spLocks noGrp="1"/>
          </p:cNvSpPr>
          <p:nvPr>
            <p:ph type="sldNum" idx="66"/>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Die Komponente kennt den Service, der Service kennt den Client. Der Service weiß nichts von der Komponente. Reine Berechnungen schreibt man als „pure Funktion“, also als Funktion, die nur aus ihren Parametern ein Ergebnis berechnet.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stabiler Codebasen“.</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 TypeScript läuft im strengen Modus „strict“, und der Typ „any“, der jede Prüfung abschaltet, wird nur mit Begründung verwendet.</a:t>
            </a:r>
          </a:p>
          <a:p/>
          <a:p>
            <a:r>
              <a:t>Funktionen und Komponenten bleiben klein. Werkzeuge wie „ESLint“ und „Prettier“ prüfen und formatieren den Code automatisch, und Tests laufen bei jeder Änderung. Wichtige Entscheidungen hält man in einer kurzen Notiz fest. Diese Notiz heißt „ADR“, das steht für „Architecture Decision Record“, also Aufzeichnung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Eine kleine Darstellungskomponente mit klaren Eingaben und Ausgaben lässt sich in wenigen Zeilen testen. Rechts steht ein Beispiel für die Zeilenkomponente. Mit „setInput“ setzt der Test die Pflichteingabe „customer“, bevor die Komponente zum ersten Mal gezeichnet wird. Sonst meldet Angular einen Fehler, weil die Pflichteingabe fehlt. Danach abonniert der Test die Ausgabe „chosen“, klickt auf die Zeile und prüft den gemeldeten Wert.</a:t>
            </a:r>
          </a:p>
          <a:p/>
          <a:p>
            <a:r>
              <a:t>Hat eine Komponente dagegen viele versteckte Abhängigkeiten, etwa viele Services oder globalen Zustand, muss der Test viel nachbauen. Das nennt man „Mocking“. Die Faustregel lautet: Wenn ein Test schwer zu schreiben ist, liegt das Problem oft in der Struktur. Vertieft wird das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beim Aufteilen“.</a:t>
            </a:r>
          </a:p>
          <a:p/>
          <a:p>
            <a:r>
              <a:t>Erste Stolperfalle: Das Kind will die Daten ändern, die es über eine Eingabe bekommen hat. Das geht mit „input“ nicht, denn das Signal ist schreibgeschützt. Das ist Absicht: Der Besitzer der Daten ist der Container. Das Kind meldet stattdessen ein Ereignis mit „output“.</a:t>
            </a:r>
          </a:p>
          <a:p/>
          <a:p>
            <a:r>
              <a:t>Zweite Stolperfalle: Ein Wert wird durch viele Ebenen nach unten durchgereicht, obwohl die mittleren Ebenen ihn gar nicht brauchen. Dann ist ein gemeinsamer Service oder Store besser.</a:t>
            </a:r>
          </a:p>
          <a:p/>
          <a:p>
            <a:r>
              <a:t>Dritte Stolperfalle: Ein eigenes Element wie „customer-list-item“ direkt in einer Liste „ul“ oder in einer Tabelle ist kein gültiges HTML. Die Lösung ist ein Attribut-Selektor, wie in Übung 31. Und schließlich: Wer zu fein zerlegt, bekommt Komponenten ohne eigene Aufgabe. Diese legt man wieder zusammen.</a:t>
            </a:r>
          </a:p>
        </p:txBody>
      </p:sp>
      <p:sp>
        <p:nvSpPr>
          <p:cNvPr id="4" name="Slide Number Placeholder 3"/>
          <p:cNvSpPr>
            <a:spLocks noGrp="1"/>
          </p:cNvSpPr>
          <p:nvPr>
            <p:ph type="sldNum" idx="66"/>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In dieser Übung wird die große Kundenliste in drei Komponenten zerlegt. Zuerst entsteht das Suchfeld als eigene Komponente mit einer Eingabe für den Text und zwei Ausgaben für „Text geändert“ und „Filter geleert“. Der Fokus-Mechanismus mit „viewChild“ zieht mit um. Danach entsteht eine Komponente für eine einzelne Zeile mit einer Pflichteingabe für den Kunden, einer Eingabe für „ausgewählt“ und einer Ausgabe für den Klick.</a:t>
            </a:r>
          </a:p>
          <a:p/>
          <a:p>
            <a:r>
              <a:t>Die Kundenliste behält nur das Laden der Daten, den Filterzustand und den Auswahlzustand. Das Verhalten der App darf sich nicht ändern. Das prüft man im Browser und mit Build und Tests. Am Ende überlegt man, welche Komponente jetzt leicht zu testen ist. Hilfreich sind der Attribut-Selektor auf „li“ und „host“ im Dekorator, wie auf den Folien gezeigt.</a:t>
            </a:r>
          </a:p>
        </p:txBody>
      </p:sp>
      <p:sp>
        <p:nvSpPr>
          <p:cNvPr id="4" name="Slide Number Placeholder 3"/>
          <p:cNvSpPr>
            <a:spLocks noGrp="1"/>
          </p:cNvSpPr>
          <p:nvPr>
            <p:ph type="sldNum" idx="66"/>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eingeschleustem Schadcode schützt und wo dieser Schutz umgangen werden kann. Danach folgen Anmeldedaten, Angriffe über fremde Webseiten, Sicherheitsregeln des Servers für den Browser und Abhängigkeiten.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Frontend ist nicht vertrauenswürdig“.</a:t>
            </a:r>
          </a:p>
          <a:p/>
          <a:p>
            <a:r>
              <a:t>Das „Frontend“ ist der Teil der Anwendung, der im Browser des Nutzers läuft. Der Nutzer hat darüber volle Kontrolle. Mit den Entwicklertools des Browsers kann er den Code lesen, Werte verändern und Anfragen direkt an den Server schicken, ohne die Oberfläche zu benutzen.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a:p/>
          <a:p>
            <a:r>
              <a:t>Das Diagramm stellt beides gegenüber: links, was im Browser passiert und nur Komfort bringt, rechts, was im Server passieren muss.</a:t>
            </a:r>
          </a:p>
        </p:txBody>
      </p:sp>
      <p:sp>
        <p:nvSpPr>
          <p:cNvPr id="4" name="Slide Number Placeholder 3"/>
          <p:cNvSpPr>
            <a:spLocks noGrp="1"/>
          </p:cNvSpPr>
          <p:nvPr>
            <p:ph type="sldNum" idx="66"/>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ist eine Stelle, an der Daten von einem Bereich in einen anderen wechseln. Das Diagramm zeigt die vier Bereiche einer typischen Webanwendung: den Benutzer mit seinem Browser, das Angular-Frontend, die API auf dem Server und die Datenbank. „API“ ist die Schnittstelle des Servers, über die das Frontend Daten lädt und speichert.</a:t>
            </a:r>
          </a:p>
          <a:p/>
          <a:p>
            <a:r>
              <a:t>Der Benutzer und der Browser sind vollständig manipulierbar. Das Frontend muss Daten so ausgeben, dass sie nicht als Code ausgeführt werden. Die API ist die eigentliche Schutzschicht: Sie prüft, wer angemeldet ist, was er darf und ob die Eingaben gültig sind. Die Datenbank ist nie direkt aus dem Browser erreichbar.</a:t>
            </a:r>
          </a:p>
          <a:p/>
          <a:p>
            <a:r>
              <a:t>Merksatz: An jeder Grenze werden ankommende Daten als Eingabe behandelt und geprüft.</a:t>
            </a:r>
          </a:p>
        </p:txBody>
      </p:sp>
      <p:sp>
        <p:nvSpPr>
          <p:cNvPr id="4" name="Slide Number Placeholder 3"/>
          <p:cNvSpPr>
            <a:spLocks noGrp="1"/>
          </p:cNvSpPr>
          <p:nvPr>
            <p:ph type="sldNum" idx="66"/>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alles ‚Eingabe‘ ist“.</a:t>
            </a:r>
          </a:p>
          <a:p/>
          <a:p>
            <a:r>
              <a:t>Als „Eingabe“ gilt alles, was nicht fest im eigenen Quelltext steht. Dazu gehören natürlich Formularfelder und hochgeladene Dateien. Dazu gehört aber auch die Adresse im Browser: der Pfad, die Query-Parameter nach dem Fragezeichen und das Fragment nach dem Rautezeichen. Ein Angreifer kann einen präparierten Link verschicken.</a:t>
            </a:r>
          </a:p>
          <a:p/>
          <a:p>
            <a:r>
              <a:t>Auch Antworten vom eigenen Backend sind Eingabe. Dort steht oft, was andere Nutzer eingegeben haben, zum Beispiel eine Notiz zu einem Kunden. Ebenso der Speicher im Browser, also „localStorage“, „sessionStorage“ und Cookies, und Nachrichten aus anderen Fenstern über „postMessage“.</a:t>
            </a:r>
          </a:p>
          <a:p/>
          <a:p>
            <a:r>
              <a:t>Vertrauenswürdig ist nur der eigene Quelltext mit seinen festen Werten. Alles andere muss beim Anzeigen passend zum Kontext geschützt werden. Das Diagramm fasst die Quellen zusammen.</a:t>
            </a:r>
          </a:p>
        </p:txBody>
      </p:sp>
      <p:sp>
        <p:nvSpPr>
          <p:cNvPr id="4" name="Slide Number Placeholder 3"/>
          <p:cNvSpPr>
            <a:spLocks noGrp="1"/>
          </p:cNvSpPr>
          <p:nvPr>
            <p:ph type="sldNum" idx="66"/>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„Cross-Site Scripting“, abgekürzt „XSS“, bedeutet: Ein Angreifer bringt eigenen Script-Code in eine fremde Webseite. Dieser Code läuft dann im Browser eines anderen Nutzers und hat dieselben Rechte wie dieser Nutzer.</a:t>
            </a:r>
          </a:p>
          <a:p/>
          <a:p>
            <a:r>
              <a:t>Es gibt drei Arten. Beim gespeicherten XSS steht der Schadcode in der Datenbank, zum Beispiel in einer Kunden-Notiz, und trifft jeden, der die Notiz ansieht. Beim reflektierten XSS steht der Code in einem Link, den das Opfer anklickt. Beim DOM-basierten XSS setzt der eigene JavaScript-Code im Browser eine Eingabe als HTML in die Seite ein.</a:t>
            </a:r>
          </a:p>
          <a:p/>
          <a:p>
            <a:r>
              <a:t>Die Ursache ist immer dieselbe: Daten werden so in die Seite eingesetzt, dass der Browser sie als Code ausführt. Rechts steht ein typisches Beispiel: ein Bild mit ungültiger Adresse und einem Fehler-Ereignis „onerror“. Weil das Bild nicht geladen werden kann, führt der Browser den Code im Ereignis aus.</a:t>
            </a:r>
          </a:p>
        </p:txBody>
      </p:sp>
      <p:sp>
        <p:nvSpPr>
          <p:cNvPr id="4" name="Slide Number Placeholder 3"/>
          <p:cNvSpPr>
            <a:spLocks noGrp="1"/>
          </p:cNvSpPr>
          <p:nvPr>
            <p:ph type="sldNum" idx="66"/>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XSS-Angriff Schritt für Schritt“.</a:t>
            </a:r>
          </a:p>
          <a:p/>
          <a:p>
            <a:r>
              <a:t>Das Diagramm zeigt den Ablauf eines gespeicherten XSS-Angriffs. Im ersten Schritt gibt der Angreifer als Notiz einen Text ein, der ein Bild-Element mit einem Fehler-Ereignis enthält. Im zweiten Schritt speichert der Server diesen Text so, wie er ist. Im dritten Schritt öffnet ein anderer Nutzer, zum Beispiel eine Sachbearbeiterin, die Kundenseite.</a:t>
            </a:r>
          </a:p>
          <a:p/>
          <a:p>
            <a:r>
              <a:t>Im vierten Schritt setzt die Seite die Notiz als HTML in die Seite ein, ohne sie zu prüfen. Im fünften Schritt führt der Browser den Code aus, und zwar mit den Rechten der Sachbearbeiterin.</a:t>
            </a:r>
          </a:p>
          <a:p/>
          <a:p>
            <a:r>
              <a:t>Der Schadcode kann dann zum Beispiel Anmeldedaten aus dem Speicher lesen, im Namen des Opfers Anfragen an den Server schicken oder ein gefälschtes Anmeldeformular einblenden. In der Übung zeigt der Code nur harmlos ein Meldungsfenster mit „alert“.</a:t>
            </a:r>
          </a:p>
        </p:txBody>
      </p:sp>
      <p:sp>
        <p:nvSpPr>
          <p:cNvPr id="4" name="Slide Number Placeholder 3"/>
          <p:cNvSpPr>
            <a:spLocks noGrp="1"/>
          </p:cNvSpPr>
          <p:nvPr>
            <p:ph type="sldNum" idx="66"/>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im Ablauf: wer gibt die Notiz weiter?“.</a:t>
            </a:r>
          </a:p>
          <a:p/>
          <a:p>
            <a:r>
              <a:t>Das Diagramm zeigt denselben Angriff wie die vorige Folie, aber mit allen Beteiligten. Oben stehen die Beteiligten nebeneinander: der Angreifer, die API im Backend, die Datenbank, die Angular-App im Browser des Opfers, der „Sanitizer“, also Angulars Reinigungsfunktion für HTML, und ganz rechts das „DOM“, die Seite im Browser.</a:t>
            </a:r>
          </a:p>
          <a:p/>
          <a:p>
            <a:r>
              <a:t>In Schritt 1 schickt der Angreifer eine Kundennotiz mit einem Bild-Element, dessen Attribut „onerror“ Script-Code enthält. In Schritt 2 speichert das Backend den Text, ohne ihn zu prüfen. Später öffnet das Opfer die Kundenseite: Die App fragt in Schritt 3 die API, die API liest in Schritt 4 aus der Datenbank und liefert in Schritt 5 die Notiz mit dem gefährlichen HTML zurück.</a:t>
            </a:r>
          </a:p>
          <a:p/>
          <a:p>
            <a:r>
              <a:t>In Schritt 6 bindet das Template die Notiz mit „[innerHTML]“. Bevor der Wert in die Seite kommt, entfernt der Sanitizer in Schritt 7 das „onerror“-Attribut. In Schritt 8 landet nur noch ein harmloses Bild im DOM. Wichtig: API und Datenbank haben den Angriff nicht bemerkt. Das Backend sollte Eingaben trotzdem selbst prüfen, denn andere Programme zeigen die Notiz vielleicht ohne Schutz an.</a:t>
            </a:r>
          </a:p>
        </p:txBody>
      </p:sp>
      <p:sp>
        <p:nvSpPr>
          <p:cNvPr id="4" name="Slide Number Placeholder 3"/>
          <p:cNvSpPr>
            <a:spLocks noGrp="1"/>
          </p:cNvSpPr>
          <p:nvPr>
            <p:ph type="sldNum" idx="66"/>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an drei Stellen. Bei der „Interpolation“ mit den doppelten geschweiften Klammern wird ein Wert immer als Text ausgegeben. Man sagt „escaped“: Zeichen wie spitze Klammern werden so umgewandelt, dass sie sichtbar auf der Seite stehen und nicht als HTML wirken.</a:t>
            </a:r>
          </a:p>
          <a:p/>
          <a:p>
            <a:r>
              <a:t>Bei einer Bindung an „innerHTML“ wird der Wert als HTML eingesetzt. Vorher entfernt Angular gefährliche Teile, zum Beispiel „script“-Elemente und Ereignis-Attribute wie „onerror“. Das nennt man „Sanitizing“, also Bereinigen. Bei Adressen in „href“ oder „src“ setzt Angular vor gefährliche Adressen wie „javascript:“ das Wort „unsafe:“, damit sie wirkungslos sind.</a:t>
            </a:r>
          </a:p>
          <a:p/>
          <a:p>
            <a:r>
              <a:t>Außerdem übersetzt Angular die Templates schon beim Bauen der Anwendung. Ein Text, den ein Nutzer eingibt, wird deshalb nie als Template ausgewertet. Das Diagramm zeigt rechts, wo man selbst aufpassen muss.</a:t>
            </a:r>
          </a:p>
        </p:txBody>
      </p:sp>
      <p:sp>
        <p:nvSpPr>
          <p:cNvPr id="4" name="Slide Number Placeholder 3"/>
          <p:cNvSpPr>
            <a:spLocks noGrp="1"/>
          </p:cNvSpPr>
          <p:nvPr>
            <p:ph type="sldNum" idx="66"/>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Die Komponente hat eine Notiz, die gewollte Formatierung und einen Angriff enthält: ein fettes Wort und ein Bild mit Fehler-Ereignis.</a:t>
            </a:r>
          </a:p>
          <a:p/>
          <a:p>
            <a:r>
              <a:t>Im ersten Fall wird die Notiz per Interpolation ausgegeben. Die Seite zeigt dann den gesamten Text mit allen spitzen Klammern an. Nichts wird ausgeführt, aber auch das fette Wort erscheint nicht fett.</a:t>
            </a:r>
          </a:p>
          <a:p/>
          <a:p>
            <a:r>
              <a:t>Im zweiten Fall wird die Notiz an „innerHTML“ gebunden. Angular bereinigt sie vorher. Im Ergebnis bleibt das fette Wort erhalten, das Bild-Element auch, aber das Attribut „onerror“ ist entfernt. Es erscheint kein Meldungsfenster. Im Entwicklungsmodus schreibt Angular eine Warnung in die Konsole, dass Inhalt entfernt wurde. Diese Warnung ist ein Hinweis, die Datenquelle zu prüfen.</a:t>
            </a:r>
          </a:p>
        </p:txBody>
      </p:sp>
      <p:sp>
        <p:nvSpPr>
          <p:cNvPr id="4" name="Slide Number Placeholder 3"/>
          <p:cNvSpPr>
            <a:spLocks noGrp="1"/>
          </p:cNvSpPr>
          <p:nvPr>
            <p:ph type="sldNum" idx="66"/>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„So arbeitet Angulars Sanitizer“.</a:t>
            </a:r>
          </a:p>
          <a:p/>
          <a:p>
            <a:r>
              <a:t>Ein „Sanitizer“ ist ein Baustein, der Werte bereinigt. Angular weiß bei jeder Bindung im Template, in welchem „Sicherheitskontext“ der Wert landet. Der Kontext ergibt sich aus dem Element und dem Attribut. Eine Bindung an „innerHTML“ ist zum Beispiel HTML-Kontext, eine Bindung an „href“ eines Links ist URL-Kontext.</a:t>
            </a:r>
          </a:p>
          <a:p/>
          <a:p>
            <a:r>
              <a:t>Das Diagramm zeigt den Ablauf. Zuerst kommt der Wert aus der Komponente. Dann bestimmt Angular den Kontext. Dann prüft der Sanitizer den Wert nach den Regeln dieses Kontexts. Ungefährliche Teile bleiben erhalten, gefährliche werden entfernt oder entschärft. In manchen Kontexten lehnt Angular den Wert auch ganz ab und meldet einen Fehler. Erst danach wird der Wert in die Seite geschrieben.</a:t>
            </a:r>
          </a:p>
          <a:p/>
          <a:p>
            <a:r>
              <a:t>Ausnahme: Ein Wert, den der Entwickler ausdrücklich als vertrauenswürdig markiert hat, wird nicht geprüft. Das ist das Thema der nächsten Folien.</a:t>
            </a:r>
          </a:p>
        </p:txBody>
      </p:sp>
      <p:sp>
        <p:nvSpPr>
          <p:cNvPr id="4" name="Slide Number Placeholder 3"/>
          <p:cNvSpPr>
            <a:spLocks noGrp="1"/>
          </p:cNvSpPr>
          <p:nvPr>
            <p:ph type="sldNum" idx="66"/>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„Bindung, Sanitizer und DOM“.</a:t>
            </a:r>
          </a:p>
          <a:p/>
          <a:p>
            <a:r>
              <a:t>Das Diagramm zeigt, wer bei einer Bindung mit „[innerHTML]“ wen aufruft. Beteiligt sind die Komponente „NoteDemoComponent“ aus Übung 36, Angular mit der Template-Bindung, der Dienst „DomSanitizer“ und das DOM.</a:t>
            </a:r>
          </a:p>
          <a:p/>
          <a:p>
            <a:r>
              <a:t>In Schritt 1 liefert das Signal „note“ einen neuen Text mit HTML. In Schritt 2 erkennt Angular am Element und am Attribut, dass es sich um HTML handelt; das ist der Sicherheitskontext. In Schritt 3 ruft Angular die Methode „sanitize“ auf. Der Sanitizer behält in Schritt 4 harmlose Elemente wie „b“ für fett und entfernt gefährliche Teile wie „onerror“. Den bereinigten Text gibt er in Schritt 5 zurück, und Angular schreibt ihn in Schritt 6 in die Seite.</a:t>
            </a:r>
          </a:p>
          <a:p/>
          <a:p>
            <a:r>
              <a:t>Die Schritte 7 bis 10 zeigen die unsichere Variante. Die Komponente hat den Text vorher mit „bypassSecurityTrustHtml“ als vertrauenswürdig markiert. Der Sanitizer erkennt diese Markierung und gibt den Wert ungeprüft zurück. Dann landet das Script im DOM und wird ausgeführt. Genau deshalb darf man „bypassSecurityTrust…“ nie für Nutzereingaben oder Backend-Daten verwenden.</a:t>
            </a:r>
          </a:p>
        </p:txBody>
      </p:sp>
      <p:sp>
        <p:nvSpPr>
          <p:cNvPr id="4" name="Slide Number Placeholder 3"/>
          <p:cNvSpPr>
            <a:spLocks noGrp="1"/>
          </p:cNvSpPr>
          <p:nvPr>
            <p:ph type="sldNum" idx="66"/>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Sicherheitskontexte“.</a:t>
            </a:r>
          </a:p>
          <a:p/>
          <a:p>
            <a:r>
              <a:t>Angular unterscheidet mehrere Sicherheitskontexte. Im HTML-Kontext, also bei „innerHTML“, lässt der Sanitizer nur eine Liste harmloser Elemente und Attribute durch. Diese Liste heißt „Allowlist“. Alles andere wird entfernt.</a:t>
            </a:r>
          </a:p>
          <a:p/>
          <a:p>
            <a:r>
              <a:t>Im Style-Kontext, also bei Bindungen an „style“, verändert Angular den Wert heute nicht mehr, weil aktuelle Browser aus CSS heraus keinen Script-Code ausführen. Im URL-Kontext, also bei Links und Bildadressen, wird eine Adresse mit „javascript:“ entschärft.</a:t>
            </a:r>
          </a:p>
          <a:p/>
          <a:p>
            <a:r>
              <a:t>Der Kontext „Resource-URL“ betrifft Adressen, von denen Code geladen wird, zum Beispiel die Adresse eines „iframe“, also eines eingebetteten Fensters, oder eines Script-Elements. Diese Adressen kann Angular nicht bereinigen. Angular lehnt einen solchen Wert ab und meldet einen Fehler, außer er wurde ausdrücklich als vertrauenswürdig markiert. Script-Inhalte lassen sich nie binden.</a:t>
            </a:r>
          </a:p>
        </p:txBody>
      </p:sp>
      <p:sp>
        <p:nvSpPr>
          <p:cNvPr id="4" name="Slide Number Placeholder 3"/>
          <p:cNvSpPr>
            <a:spLocks noGrp="1"/>
          </p:cNvSpPr>
          <p:nvPr>
            <p:ph type="sldNum" idx="66"/>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„URL und Resource-URL im Template“.</a:t>
            </a:r>
          </a:p>
          <a:p/>
          <a:p>
            <a:r>
              <a:t>Die Komponente hat zwei Adressen. Die erste ist eine Webseiten-Adresse, die aus Kundendaten stammen könnte. Ein Angreifer hat dort eine „javascript:“-Adresse eingetragen. Die zweite ist die Adresse eines eingebetteten Videos.</a:t>
            </a:r>
          </a:p>
          <a:p/>
          <a:p>
            <a:r>
              <a:t>Bindet man die erste Adresse an das „href“ eines Links, setzt Angular „unsafe:“ davor. Ein Klick auf den Link bewirkt dann nichts.</a:t>
            </a:r>
          </a:p>
          <a:p/>
          <a:p>
            <a:r>
              <a:t>Bindet man die zweite Adresse an das „src“ eines „iframe“, lehnt Angular den Wert ab und meldet einen Fehler mit der Nummer NG0904. Denn über diese Adresse würde fremder Code in die Seite geladen. Will man das wirklich, muss man die Adresse vorher gegen eine Liste erlaubter Adressen prüfen und dann ausdrücklich als vertrauenswürdig markieren. Wie das geht, zeigen die nächsten Folien.</a:t>
            </a:r>
          </a:p>
        </p:txBody>
      </p:sp>
      <p:sp>
        <p:nvSpPr>
          <p:cNvPr id="4" name="Slide Number Placeholder 3"/>
          <p:cNvSpPr>
            <a:spLocks noGrp="1"/>
          </p:cNvSpPr>
          <p:nvPr>
            <p:ph type="sldNum" idx="66"/>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„DomSanitizer und bypassSecurityTrust…“.</a:t>
            </a:r>
          </a:p>
          <a:p/>
          <a:p>
            <a:r>
              <a:t>„DomSanitizer“ ist der Dienst, mit dem Angular Werte bereinigt. Man holt ihn wie jeden Dienst mit „inject“. Er hat zwei Arten von Methoden.</a:t>
            </a:r>
          </a:p>
          <a:p/>
          <a:p>
            <a:r>
              <a:t>Die Methode „sanitize“ bekommt einen Kontext und einen Wert. Sie bereinigt den Wert genauso, wie Angular es im Template tun würde, und gibt einen String zurück. Das ist sicher.</a:t>
            </a:r>
          </a:p>
          <a:p/>
          <a:p>
            <a:r>
              <a:t>Die Methoden, die mit „bypassSecurityTrust“ beginnen, bedeuten wörtlich „Sicherheitsprüfung umgehen, vertrauen“. Es gibt sie für HTML, Style, URL, Resource-URL und Script. Sie bekommen einen String und geben ein Objekt vom Typ „SafeValue“ zurück, zum Beispiel „SafeHtml“. Dieses Objekt ist nur eine Markierung. Bindet man es im Template, prüft Angular nichts mehr. Ab diesem Moment trägt der Entwickler die volle Verantwortung. Das Diagramm rechts zeigt die Signaturen.</a:t>
            </a:r>
          </a:p>
        </p:txBody>
      </p:sp>
      <p:sp>
        <p:nvSpPr>
          <p:cNvPr id="4" name="Slide Number Placeholder 3"/>
          <p:cNvSpPr>
            <a:spLocks noGrp="1"/>
          </p:cNvSpPr>
          <p:nvPr>
            <p:ph type="sldNum" idx="66"/>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„bypassSecurityTrust… im Code“.</a:t>
            </a:r>
          </a:p>
          <a:p/>
          <a:p>
            <a:r>
              <a:t>Das Beispiel entspricht der Demo-Komponente aus Übung 36. Die Komponente bekommt die Notiz über ein „input“. Die Notiz stammt aus dem Backend und ist damit Eingabe von außen. Mit „inject“ holt sich die Komponente den „DomSanitizer“.</a:t>
            </a:r>
          </a:p>
          <a:p/>
          <a:p>
            <a:r>
              <a:t>Das „computed“ ruft „bypassSecurityTrustHtml“ mit der Notiz auf. Der Rückgabewert ist ein „SafeHtml“, also ein als sicher markierter Wert. Das Template bindet diesen Wert an „innerHTML“. Weil der Wert markiert ist, bereinigt Angular ihn nicht. Das Fehler-Ereignis bleibt im HTML, und das Meldungsfenster erscheint.</a:t>
            </a:r>
          </a:p>
          <a:p/>
          <a:p>
            <a:r>
              <a:t>Der Kommentar „REVIEW-ALARM“ zeigt, wie man so eine Stelle kennzeichnet. Die sichere Alternative ist einfach: die Notiz direkt an „innerHTML“ binden und Angular die Bereinigung überlassen.</a:t>
            </a:r>
          </a:p>
        </p:txBody>
      </p:sp>
      <p:sp>
        <p:nvSpPr>
          <p:cNvPr id="4" name="Slide Number Placeholder 3"/>
          <p:cNvSpPr>
            <a:spLocks noGrp="1"/>
          </p:cNvSpPr>
          <p:nvPr>
            <p:ph type="sldNum" idx="66"/>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„bypassSecurityTrust…: Risiko einschätzen“.</a:t>
            </a:r>
          </a:p>
          <a:p/>
          <a:p>
            <a:r>
              <a:t>Wann ist es vertretbar, Angulars Prüfung abzuschalten? Nur dann, wenn der Inhalt vollständig unter eigener Kontrolle steht. Das ist zum Beispiel eine Konstante im eigenen Code oder eine Datei, die beim Bauen der Anwendung entsteht. Ein weiterer Fall ist eine Adresse für ein eingebettetes Video, die vorher gegen eine feste Liste erlaubter Anbieter geprüft wurde.</a:t>
            </a:r>
          </a:p>
          <a:p/>
          <a:p>
            <a:r>
              <a:t>Niemals vertretbar ist es bei Nutzereingaben, bei Daten aus der API und bei Werten aus der Adresszeile. Dort kann ein Angreifer den Inhalt bestimmen.</a:t>
            </a:r>
          </a:p>
          <a:p/>
          <a:p>
            <a:r>
              <a:t>Deshalb bekommt jeder Einsatz einen Kommentar, der die Begründung nennt. Im Code-Review sucht man gezielt nach dem Wort „bypassSecurityTrust“. Das Diagramm stellt die beiden Fälle gegenüber.</a:t>
            </a:r>
          </a:p>
        </p:txBody>
      </p:sp>
      <p:sp>
        <p:nvSpPr>
          <p:cNvPr id="4" name="Slide Number Placeholder 3"/>
          <p:cNvSpPr>
            <a:spLocks noGrp="1"/>
          </p:cNvSpPr>
          <p:nvPr>
            <p:ph type="sldNum" idx="66"/>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Wege am Schutz vorbei“.</a:t>
            </a:r>
          </a:p>
          <a:p/>
          <a:p>
            <a:r>
              <a:t>Angulars Schutz wirkt nur bei Bindungen im Template. Wer am Template vorbei direkt in die Seite schreibt, verliert ihn. Das passiert zum Beispiel, wenn man über „ElementRef“ und „nativeElement“ direkt die Eigenschaft „innerHTML“ eines Elements setzt, oder mit „document.write“ und „insertAdjacentHTML“.</a:t>
            </a:r>
          </a:p>
          <a:p/>
          <a:p>
            <a:r>
              <a:t>Gefährlich ist auch alles, was Text als Code ausführt: „eval“, „new Function“ und „setTimeout“ mit einem String statt einer Funktion. Ebenso gefährlich ist es, Templates zur Laufzeit aus Text zu erzeugen, der Nutzereingaben enthält.</a:t>
            </a:r>
          </a:p>
          <a:p/>
          <a:p>
            <a:r>
              <a:t>Bibliotheken, die HTML erzeugen, zum Beispiel für Markdown oder Texteditoren, bereinigen oft nicht selbst. Ihre Ausgabe sollte man trotzdem über „innerHTML“ oder über die Methode „sanitize“ des „DomSanitizer“ einsetzen, damit Angular sie prüft.</a:t>
            </a:r>
          </a:p>
        </p:txBody>
      </p:sp>
      <p:sp>
        <p:nvSpPr>
          <p:cNvPr id="4" name="Slide Number Placeholder 3"/>
          <p:cNvSpPr>
            <a:spLocks noGrp="1"/>
          </p:cNvSpPr>
          <p:nvPr>
            <p:ph type="sldNum" idx="66"/>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speichere ich das Token?“.</a:t>
            </a:r>
          </a:p>
          <a:p/>
          <a:p>
            <a:r>
              <a:t>Nach der Anmeldung braucht der Browser einen Nachweis, den er bei jeder Anfrage mitschickt. Dieser Nachweis heißt „Token“. Die Frage ist, wo er gespeichert wird.</a:t>
            </a:r>
          </a:p>
          <a:p/>
          <a:p>
            <a:r>
              <a:t>Die erste Möglichkeit ist „localStorage“, ein Speicher im Browser, der auch nach dem Neuladen der Seite erhalten bleibt. Der Nachteil: Jeder Script-Code auf der Seite kann ihn lesen. Gelingt ein XSS-Angriff, kann der Angreifer das Token stehlen und sich damit selbst anmelden.</a:t>
            </a:r>
          </a:p>
          <a:p/>
          <a:p>
            <a:r>
              <a:t>Die zweite Möglichkeit ist ein Cookie mit der Eigenschaft „HttpOnly“. Dieses Cookie setzt das Backend. Script-Code kann es nicht lesen, der Browser schickt es aber automatisch mit. Das schützt das Token vor Diebstahl, öffnet aber eine andere Angriffsmöglichkeit, die „CSRF“ heißt. Das Diagramm vergleicht beide Wege.</a:t>
            </a:r>
          </a:p>
        </p:txBody>
      </p:sp>
      <p:sp>
        <p:nvSpPr>
          <p:cNvPr id="4" name="Slide Number Placeholder 3"/>
          <p:cNvSpPr>
            <a:spLocks noGrp="1"/>
          </p:cNvSpPr>
          <p:nvPr>
            <p:ph type="sldNum" idx="66"/>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„Token-Speicherung: Empfehlung“.</a:t>
            </a:r>
          </a:p>
          <a:p/>
          <a:p>
            <a:r>
              <a:t>Empfohlen ist eine Sitzung über ein Cookie, das das Backend mit drei Eigenschaften setzt. „HttpOnly“ heißt: Script-Code kann es nicht lesen. „Secure“ heißt: Der Browser schickt es nur über verschlüsselte Verbindungen. „SameSite“ heißt: Der Browser schickt es nicht mit, wenn eine fremde Seite die Anfrage auslöst.</a:t>
            </a:r>
          </a:p>
          <a:p/>
          <a:p>
            <a:r>
              <a:t>Ein Cookie ohne „HttpOnly“ ist genauso angreifbar wie „localStorage“. Ein Token nur in einer Variablen im Arbeitsspeicher ist schwerer zu stehlen, geht aber beim Neuladen verloren.</a:t>
            </a:r>
          </a:p>
          <a:p/>
          <a:p>
            <a:r>
              <a:t>Tokens sollten nur kurz gültig sein und über das Backend erneuert werden. Die Anmeldung baut man am besten nicht selbst, sondern nutzt eine erprobte Bibliothek oder einen „Identity Provider“, also einen spezialisierten Anmeldedienst. Der „AuthService“ aus Übung 25 mit dem Signal „isLoggedIn“ ist nur eine Demo und keine echte Anmeldung.</a:t>
            </a:r>
          </a:p>
        </p:txBody>
      </p:sp>
      <p:sp>
        <p:nvSpPr>
          <p:cNvPr id="4" name="Slide Number Placeholder 3"/>
          <p:cNvSpPr>
            <a:spLocks noGrp="1"/>
          </p:cNvSpPr>
          <p:nvPr>
            <p:ph type="sldNum" idx="66"/>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„Kurzlebiges Token: Erneuerung im Interceptor“.</a:t>
            </a:r>
          </a:p>
          <a:p/>
          <a:p>
            <a:r>
              <a:t>Die vorige Folie empfiehlt Tokens mit kurzer Laufzeit, die über das Backend erneuert werden. Das Diagramm zeigt, wie das im Frontend aussehen kann. Beteiligt sind der „CustomerService“, der „HttpClient“, ein „Interceptor“, also eine Funktion, die jede Anfrage abfangen kann, hier „authInterceptor“ genannt, und das Backend.</a:t>
            </a:r>
          </a:p>
          <a:p/>
          <a:p>
            <a:r>
              <a:t>In Schritt 1 fordert der Service die Kundenliste an. Der HttpClient gibt die Anfrage in Schritt 2 an den Interceptor. Dieser reicht sie in Schritt 3 mit „next“ weiter; der Browser hängt das Sitzungs-Cookie automatisch an. In Schritt 4 antwortet das Backend mit dem Status 401: Das Token ist abgelaufen.</a:t>
            </a:r>
          </a:p>
          <a:p/>
          <a:p>
            <a:r>
              <a:t>Der Interceptor fängt diesen Fehler ab. In Schritt 5 bittet er das Backend um ein neues Token. Das Backend setzt es in Schritt 6 als neues HttpOnly-Cookie, also unlesbar für JavaScript. In Schritt 7 wiederholt der Interceptor die ursprüngliche Anfrage, und diesmal kommen in Schritt 8 die Daten. Der Service merkt von der Erneuerung nichts. Die Adresse „api/auth/refresh“ ist ein Beispiel; der Name hängt vom Backend ab. In echten Projekten übernimmt das oft eine erprobte Login-Bibliothek.</a:t>
            </a:r>
          </a:p>
        </p:txBody>
      </p:sp>
      <p:sp>
        <p:nvSpPr>
          <p:cNvPr id="4" name="Slide Number Placeholder 3"/>
          <p:cNvSpPr>
            <a:spLocks noGrp="1"/>
          </p:cNvSpPr>
          <p:nvPr>
            <p:ph type="sldNum" idx="66"/>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Angriff über eine fremde Seite“.</a:t>
            </a:r>
          </a:p>
          <a:p/>
          <a:p>
            <a:r>
              <a:t>„CSRF“ steht für „Cross-Site Request Forgery“, auf Deutsch etwa „seitenübergreifend gefälschte Anfrage“. Das Diagramm zeigt den Ablauf.</a:t>
            </a:r>
          </a:p>
          <a:p/>
          <a:p>
            <a:r>
              <a:t>Zuerst ist der Nutzer in der Anwendung angemeldet, sein Browser hat also ein Sitzungs-Cookie. Dann besucht er in einem anderen Tab eine präparierte Seite des Angreifers. Diese Seite enthält ein verstecktes Formular, das sich selbst abschickt, zum Beispiel an die Adresse „Kunde löschen“ der Anwendung.</a:t>
            </a:r>
          </a:p>
          <a:p/>
          <a:p>
            <a:r>
              <a:t>Der Browser schickt das Cookie automatisch mit, weil die Anfrage an die Anwendung geht. Der Server sieht ein gültiges Cookie und führt die Aktion aus. Der Angreifer kann die Antwort zwar nicht lesen, aber die Aktion ist passiert.</a:t>
            </a:r>
          </a:p>
        </p:txBody>
      </p:sp>
      <p:sp>
        <p:nvSpPr>
          <p:cNvPr id="4" name="Slide Number Placeholder 3"/>
          <p:cNvSpPr>
            <a:spLocks noGrp="1"/>
          </p:cNvSpPr>
          <p:nvPr>
            <p:ph type="sldNum" idx="66"/>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im Ablauf: Browser, Cookie, fremde Seite“.</a:t>
            </a:r>
          </a:p>
          <a:p/>
          <a:p>
            <a:r>
              <a:t>Das Diagramm zeigt den CSRF-Angriff mit drei Beteiligten: dem Browser des Nutzers, dem Server unserer App und einer fremden Seite des Angreifers. „CSRF“ bedeutet: Eine fremde Seite schickt im Namen des Nutzers eine Anfrage.</a:t>
            </a:r>
          </a:p>
          <a:p/>
          <a:p>
            <a:r>
              <a:t>In Schritt 1 meldet sich der Nutzer an. In Schritt 2 setzt der Server ein Sitzungs-Cookie. Später öffnet der Nutzer in Schritt 3 die Seite des Angreifers. Diese liefert in Schritt 4 ein verstecktes Formular, das sich sofort selbst absendet.</a:t>
            </a:r>
          </a:p>
          <a:p/>
          <a:p>
            <a:r>
              <a:t>In Schritt 5 schickt der Browser die Anfrage an unseren Server und hängt das Cookie automatisch an, weil es zu dieser Adresse gehört. Der Server sieht in Schritt 6 ein gültiges Cookie und führt die Aktion aus. Die fremde Seite musste das Cookie nie lesen. Moderne Browser senden Cookies mit der Einstellung „SameSite“ bei solchen Anfragen nicht mit; der sichere Schutz ist das CSRF-Token auf den nächsten Folien.</a:t>
            </a:r>
          </a:p>
        </p:txBody>
      </p:sp>
      <p:sp>
        <p:nvSpPr>
          <p:cNvPr id="4" name="Slide Number Placeholder 3"/>
          <p:cNvSpPr>
            <a:spLocks noGrp="1"/>
          </p:cNvSpPr>
          <p:nvPr>
            <p:ph type="sldNum" idx="66"/>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„Schutz: CSRF-Token (Double Submit)“.</a:t>
            </a:r>
          </a:p>
          <a:p/>
          <a:p>
            <a:r>
              <a:t>Gegen CSRF hilft ein zusätzlicher geheimer Wert, das „CSRF-Token“. Das Verfahren heißt „Double Submit“, also doppeltes Senden. Das Diagramm zeigt die vier Schritte.</a:t>
            </a:r>
          </a:p>
          <a:p/>
          <a:p>
            <a:r>
              <a:t>Erstens setzt das Backend ein Cookie mit dem Namen „XSRF-TOKEN“ und einem zufälligen Wert. Dieses Cookie ist absichtlich nicht „HttpOnly“. Zweitens liest Angulars „HttpClient“ dieses Cookie. Drittens schickt er den Wert zusätzlich als Header mit dem Namen „X-XSRF-TOKEN“ mit. Viertens vergleicht das Backend den Wert im Cookie mit dem Wert im Header und lehnt die Anfrage ab, wenn sie nicht übereinstimmen.</a:t>
            </a:r>
          </a:p>
          <a:p/>
          <a:p>
            <a:r>
              <a:t>Warum hilft das? Eine fremde Seite darf wegen der „Same-Origin-Policy“ des Browsers keine Cookies einer anderen Seite lesen. Sie kennt den Wert also nicht und kann den Header nicht setzen. Zusätzlich schützen „SameSite“-Cookies.</a:t>
            </a:r>
          </a:p>
        </p:txBody>
      </p:sp>
      <p:sp>
        <p:nvSpPr>
          <p:cNvPr id="4" name="Slide Number Placeholder 3"/>
          <p:cNvSpPr>
            <a:spLocks noGrp="1"/>
          </p:cNvSpPr>
          <p:nvPr>
            <p:ph type="sldNum" idx="66"/>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„withXsrfConfiguration“.</a:t>
            </a:r>
          </a:p>
          <a:p/>
          <a:p>
            <a:r>
              <a:t>Der CSRF-Schutz des „HttpClient“ ist standardmäßig eingeschaltet. Man muss nichts tun, wenn das Backend das Cookie „XSRF-TOKEN“ setzt und den Header „X-XSRF-TOKEN“ erwartet.</a:t>
            </a:r>
          </a:p>
          <a:p/>
          <a:p>
            <a:r>
              <a:t>Verwendet das Backend andere Namen, passt man sie mit „withXsrfConfiguration“ an. Diese Funktion gibt man an „provideHttpClient“ in der Datei „app.config.ts“, neben anderen Einstellungen wie den Interceptoren. Sie bekommt ein Objekt mit zwei Feldern: „cookieName“ ist der Name des Cookies, das gelesen wird. „headerName“ ist der Name des Headers, der gesendet wird.</a:t>
            </a:r>
          </a:p>
          <a:p/>
          <a:p>
            <a:r>
              <a:t>Mit „withNoXsrfProtection“ schaltet man den Mechanismus ganz ab. Das macht man nur, wenn das Backend auf andere Weise geschützt ist.</a:t>
            </a:r>
          </a:p>
        </p:txBody>
      </p:sp>
      <p:sp>
        <p:nvSpPr>
          <p:cNvPr id="4" name="Slide Number Placeholder 3"/>
          <p:cNvSpPr>
            <a:spLocks noGrp="1"/>
          </p:cNvSpPr>
          <p:nvPr>
            <p:ph type="sldNum" idx="66"/>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der HttpClient genau tut“.</a:t>
            </a:r>
          </a:p>
          <a:p/>
          <a:p>
            <a:r>
              <a:t>Der „HttpClient“ hängt den Header nicht an jede Anfrage. Er tut es nur bei Anfragen, die etwas verändern: „POST“, „PUT“, „PATCH“ und „DELETE“. Bei „GET“ und „HEAD“, die nur lesen, sendet er ihn nicht.</a:t>
            </a:r>
          </a:p>
          <a:p/>
          <a:p>
            <a:r>
              <a:t>Außerdem sendet er ihn nur bei relativen Adressen, also bei Adressen ohne eigenen Servernamen, zum Beispiel „/api/customer“. So gelangt der geheime Wert nie an einen fremden Server. Findet der „HttpClient“ kein Cookie, schickt er keinen Header.</a:t>
            </a:r>
          </a:p>
          <a:p/>
          <a:p>
            <a:r>
              <a:t>Angular hilft also nur beim Senden. Prüfen muss immer das Backend. Und weil „GET“-Anfragen nicht geschützt werden, dürfen sie im Backend nie etwas verändern, zum Beispiel keinen Kunden löschen.</a:t>
            </a:r>
          </a:p>
        </p:txBody>
      </p:sp>
      <p:sp>
        <p:nvSpPr>
          <p:cNvPr id="4" name="Slide Number Placeholder 3"/>
          <p:cNvSpPr>
            <a:spLocks noGrp="1"/>
          </p:cNvSpPr>
          <p:nvPr>
            <p:ph type="sldNum" idx="66"/>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„Double Submit: wer liest und vergleicht was?“.</a:t>
            </a:r>
          </a:p>
          <a:p/>
          <a:p>
            <a:r>
              <a:t>Das Diagramm zeigt den Schutz mit dem CSRF-Token im Zusammenspiel. Beteiligt sind der „CustomerService“, der „HttpClient“, der Cookie-Speicher des Browsers und das Backend.</a:t>
            </a:r>
          </a:p>
          <a:p/>
          <a:p>
            <a:r>
              <a:t>In Schritt 1 hat das Backend bei einer früheren Antwort ein Cookie „XSRF-TOKEN“ mit einem Zufallswert gesetzt. Dieses Cookie ist absichtlich nicht HttpOnly, damit Angular es lesen kann. In Schritt 2 ruft der Service „post“ auf. Weil es eine verändernde Anfrage an eine relative Adresse ist, liest der HttpClient in den Schritten 3 und 4 den Wert aus dem Cookie.</a:t>
            </a:r>
          </a:p>
          <a:p/>
          <a:p>
            <a:r>
              <a:t>In Schritt 5 schickt der HttpClient die Anfrage mit dem Wert im Header „X-XSRF-TOKEN“. Zusätzlich hängt der Browser in Schritt 6 das Cookie selbst an. Das Backend vergleicht beide Werte. Nur wenn sie gleich sind, gilt die Anfrage als echt, und in Schritt 7 kommt die Antwort „201 Created“. Eine fremde Seite kann zwar das Cookie mitschicken lassen, aber nicht den Header setzen, weil sie den Wert nicht kennt.</a:t>
            </a:r>
          </a:p>
        </p:txBody>
      </p:sp>
      <p:sp>
        <p:nvSpPr>
          <p:cNvPr id="4" name="Slide Number Placeholder 3"/>
          <p:cNvSpPr>
            <a:spLocks noGrp="1"/>
          </p:cNvSpPr>
          <p:nvPr>
            <p:ph type="sldNum" idx="66"/>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„CORS, HTTPS und URLs“.</a:t>
            </a:r>
          </a:p>
          <a:p/>
          <a:p>
            <a:r>
              <a:t>„CORS“ steht für „Cross-Origin Resource Sharing“. Mit CORS legt der Server fest, welche fremden Webseiten die Antworten auf ihre Anfragen lesen dürfen. CORS ist aber kein Schutz für den Server: Die Anfrage kommt trotzdem an und wird ausgeführt. CORS verhindert nur das Lesen der Antwort im Browser.</a:t>
            </a:r>
          </a:p>
          <a:p/>
          <a:p>
            <a:r>
              <a:t>Verbindungen laufen immer über „HTTPS“, also verschlüsselt, auch in internen Netzen. Sensible Daten wie Tokens oder Kundennummern gehören nicht in die Adresse. Adressen landen in Server-Protokollen, im Browserverlauf und im „Referrer“-Header, mit dem der Browser der nächsten Seite mitteilt, woher man kam.</a:t>
            </a:r>
          </a:p>
          <a:p/>
          <a:p>
            <a:r>
              <a:t>Setzt man einen Wert aus der Adresszeile in eine Request-URL ein, kodiert man ihn mit „encodeURIComponent“. Dann können Zeichen wie Schrägstrich oder zwei Punkte den Pfad nicht verändern. Das ist Schritt 7 in Übung 36.</a:t>
            </a:r>
          </a:p>
        </p:txBody>
      </p:sp>
      <p:sp>
        <p:nvSpPr>
          <p:cNvPr id="4" name="Slide Number Placeholder 3"/>
          <p:cNvSpPr>
            <a:spLocks noGrp="1"/>
          </p:cNvSpPr>
          <p:nvPr>
            <p:ph type="sldNum" idx="66"/>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(CSP)“.</a:t>
            </a:r>
          </a:p>
          <a:p/>
          <a:p>
            <a:r>
              <a:t>Die „Content Security Policy“, abgekürzt „CSP“, ist eine Regel, die der Server als HTTP-Header zusammen mit der Seite schickt. Darin steht, von welchen Adressen der Browser Skripte, Styles, Bilder und andere Inhalte laden oder ausführen darf.</a:t>
            </a:r>
          </a:p>
          <a:p/>
          <a:p>
            <a:r>
              <a:t>Der Browser blockiert alles, was nicht erlaubt ist. Hat ein Angreifer trotzdem ein Script eingeschleust, wird es im besten Fall nicht ausgeführt, weil es nicht aus einer erlaubten Quelle stammt.</a:t>
            </a:r>
          </a:p>
          <a:p/>
          <a:p>
            <a:r>
              <a:t>CSP ist eine zusätzliche Verteidigungsschicht. Man nennt das „Defense in Depth“, also Verteidigung in mehreren Schichten. Das Diagramm zeigt die Schichten. Die Grundlage bleibt die saubere Prüfung im eigenen Code und das Escaping durch Angular.</a:t>
            </a:r>
          </a:p>
        </p:txBody>
      </p:sp>
      <p:sp>
        <p:nvSpPr>
          <p:cNvPr id="4" name="Slide Number Placeholder 3"/>
          <p:cNvSpPr>
            <a:spLocks noGrp="1"/>
          </p:cNvSpPr>
          <p:nvPr>
            <p:ph type="sldNum" idx="66"/>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CSP-Header“.</a:t>
            </a:r>
          </a:p>
          <a:p/>
          <a:p>
            <a:r>
              <a:t>Die Folie zeigt einen beispielhaften CSP-Header, zur besseren Lesbarkeit auf mehrere Zeilen verteilt. Jede Zeile ist eine „Direktive“, also eine Regel für eine Art von Inhalt. „self“ bedeutet die eigene Herkunft der Seite, also gleicher Servername, gleiches Protokoll und gleicher Port.</a:t>
            </a:r>
          </a:p>
          <a:p/>
          <a:p>
            <a:r>
              <a:t>„default-src“ ist die Standardregel. „script-src“ erlaubt Skripte aus eigenen Dateien und solche mit dem passenden Zufallswert, der „Nonce“ heißt. „style-src“ gilt für Styles. Das ist für Angular wichtig, weil Angular die Styles der Komponenten als Style-Elemente in die Seite schreibt. „connect-src“ legt fest, welche Server der „HttpClient“ erreichen darf.</a:t>
            </a:r>
          </a:p>
          <a:p/>
          <a:p>
            <a:r>
              <a:t>„object-src none“ verbietet alte Plugins. „base-uri“ verhindert, dass ein Angreifer die Basisadresse der Seite verändert. „frame-ancestors none“ verbietet, die Seite in einem fremden „iframe“ einzubetten. Die Nonce muss der Server bei jeder Auslieferung neu und zufällig erzeugen.</a:t>
            </a:r>
          </a:p>
        </p:txBody>
      </p:sp>
      <p:sp>
        <p:nvSpPr>
          <p:cNvPr id="4" name="Slide Number Placeholder 3"/>
          <p:cNvSpPr>
            <a:spLocks noGrp="1"/>
          </p:cNvSpPr>
          <p:nvPr>
            <p:ph type="sldNum" idx="66"/>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„CSP mit Angular nutzen“.</a:t>
            </a:r>
          </a:p>
          <a:p/>
          <a:p>
            <a:r>
              <a:t>Angular schreibt die Styles der Komponenten zur Laufzeit als Style-Elemente in die Seite. Eine strenge CSP würde diese Styles blockieren. Deshalb muss Angular den Zufallswert, die „Nonce“, kennen und an jedes Style-Element anhängen.</a:t>
            </a:r>
          </a:p>
          <a:p/>
          <a:p>
            <a:r>
              <a:t>Dafür gibt es zwei Wege. Man setzt das Attribut „ngCspNonce“ an das Root-Element der Anwendung in der Datei „index.html“. Oder man stellt den Wert über das Injection-Token „CSP_NONCE“ bereit. In beiden Fällen setzt der Server bei jeder Auslieferung einen neuen Wert ein.</a:t>
            </a:r>
          </a:p>
          <a:p/>
          <a:p>
            <a:r>
              <a:t>In der Datei „angular.json“ gibt es außerdem die Einstellung „autoCsp“. Dann erzeugt der Build eine CSP auf Basis von Prüfsummen, sogenannten „Hashes“, für die Skripte in der „index.html“. Eine neue CSP testet man zuerst mit dem Header „Content-Security-Policy-Report-Only“. Dann meldet der Browser Verstöße nur, statt etwas zu blockieren.</a:t>
            </a:r>
          </a:p>
        </p:txBody>
      </p:sp>
      <p:sp>
        <p:nvSpPr>
          <p:cNvPr id="4" name="Slide Number Placeholder 3"/>
          <p:cNvSpPr>
            <a:spLocks noGrp="1"/>
          </p:cNvSpPr>
          <p:nvPr>
            <p:ph type="sldNum" idx="66"/>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„Nonce in index.html und app.config.ts“.</a:t>
            </a:r>
          </a:p>
          <a:p/>
          <a:p>
            <a:r>
              <a:t>Der erste Teil zeigt die Datei „index.html“. Das Root-Element „app-root“ bekommt das Attribut „ngCspNonce“ mit einem Platzhalter. Der Server ersetzt diesen Platzhalter bei jeder Auslieferung durch einen neuen Zufallswert und schreibt denselben Wert in den CSP-Header. Angular liest das Attribut und hängt den Wert an alle Style-Elemente, die es erzeugt.</a:t>
            </a:r>
          </a:p>
          <a:p/>
          <a:p>
            <a:r>
              <a:t>Der zweite Teil zeigt die Alternative in „app.config.ts“. Der Wert wird hier aus einem Meta-Tag gelesen, das der Server in die Seite schreibt. Dann wird er über einen Provider für das Token „CSP_NONCE“ bereitgestellt. Ein „Provider“ sagt Angular, welcher Wert für ein Token geliefert werden soll.</a:t>
            </a:r>
          </a:p>
          <a:p/>
          <a:p>
            <a:r>
              <a:t>Wichtig ist nur: Im Header und in der Seite steht derselbe Wert, und er ist bei jedem Aufruf neu.</a:t>
            </a:r>
          </a:p>
        </p:txBody>
      </p:sp>
      <p:sp>
        <p:nvSpPr>
          <p:cNvPr id="4" name="Slide Number Placeholder 3"/>
          <p:cNvSpPr>
            <a:spLocks noGrp="1"/>
          </p:cNvSpPr>
          <p:nvPr>
            <p:ph type="sldNum" idx="66"/>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„CSP im Ablauf: Nonce und Blockade“.</a:t>
            </a:r>
          </a:p>
          <a:p/>
          <a:p>
            <a:r>
              <a:t>Das Diagramm zeigt, wie Server, Browser und Angular bei der „Content Security Policy“ zusammenarbeiten. Die CSP ist eine Liste von Regeln, woher die Seite Skripte und Styles laden darf.</a:t>
            </a:r>
          </a:p>
          <a:p/>
          <a:p>
            <a:r>
              <a:t>In Schritt 1 fordert der Browser die Seite an. In Schritt 2 erzeugt der Server einen Zufallswert, die „Nonce“. In Schritt 3 schickt er die index.html, in der dieser Wert im Attribut „ngCspNonce“ steht, und dazu den CSP-Header mit demselben Wert. In Schritt 4 lädt der Browser „main.js“; das ist erlaubt, weil die Datei von der eigenen Adresse kommt.</a:t>
            </a:r>
          </a:p>
          <a:p/>
          <a:p>
            <a:r>
              <a:t>In Schritt 5 startet Angular. Angular fügt in Schritt 6 die Styles der Komponenten als „style“-Elemente ein und gibt ihnen die Nonce mit. In Schritt 7 prüft der Browser: Die Nonce passt, also wird der Style angewendet. Gelingt einem Angreifer trotzdem, ein Script-Element einzuschleusen, fehlt ihm die passende Nonce. Der Browser blockiert es in Schritt 8.</a:t>
            </a:r>
          </a:p>
        </p:txBody>
      </p:sp>
      <p:sp>
        <p:nvSpPr>
          <p:cNvPr id="4" name="Slide Number Placeholder 3"/>
          <p:cNvSpPr>
            <a:spLocks noGrp="1"/>
          </p:cNvSpPr>
          <p:nvPr>
            <p:ph type="sldNum" idx="66"/>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„Trusted Types“.</a:t>
            </a:r>
          </a:p>
          <a:p/>
          <a:p>
            <a:r>
              <a:t>„Trusted Types“ heißt „vertrauenswürdige Typen“. Das ist eine Browser-Funktion, die man über die CSP einschaltet. Danach nehmen gefährliche Stellen im DOM keine normalen Strings mehr an. Gemeint sind zum Beispiel „innerHTML“, die Adresse eines Script-Elements oder „eval“. Ein Versuch, dort einen String einzusetzen, wird vom Browser blockiert.</a:t>
            </a:r>
          </a:p>
          <a:p/>
          <a:p>
            <a:r>
              <a:t>Erlaubt sind nur Werte, die eine sogenannte „Policy“ erzeugt hat. Eine Policy ist eine benannte Funktion, die Werte prüft. Der Header legt fest, welche Policies erlaubt sind.</a:t>
            </a:r>
          </a:p>
          <a:p/>
          <a:p>
            <a:r>
              <a:t>Angular bringt eigene Policies mit. „angular“ ist die normale Policy für bereinigte Werte. „angular#unsafe-bypass“ ist die Policy für Werte aus den „bypassSecurityTrust“-Methoden. Lässt man sie im Header weg, funktioniert kein „bypassSecurityTrust“ mehr. Das ist eine strenge, aber wirksame Regel. Rechts steht der passende Header.</a:t>
            </a:r>
          </a:p>
        </p:txBody>
      </p:sp>
      <p:sp>
        <p:nvSpPr>
          <p:cNvPr id="4" name="Slide Number Placeholder 3"/>
          <p:cNvSpPr>
            <a:spLocks noGrp="1"/>
          </p:cNvSpPr>
          <p:nvPr>
            <p:ph type="sldNum" idx="66"/>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die Lieferkette“.</a:t>
            </a:r>
          </a:p>
          <a:p/>
          <a:p>
            <a:r>
              <a:t>Eine Angular-Anwendung besteht zum größten Teil aus fremden Paketen aus „npm“, dem Paketverzeichnis für JavaScript. Jedes dieser Pakete läuft mit denselben Rechten wie der eigene Code. Eine Lücke in einem Paket ist also eine Lücke in der Anwendung. Man spricht von der „Lieferkette“.</a:t>
            </a:r>
          </a:p>
          <a:p/>
          <a:p>
            <a:r>
              <a:t>Der Befehl „npm audit“ vergleicht die installierten Versionen aus der Datei „package-lock.json“ mit einer Datenbank bekannter Sicherheitslücken. „npm audit fix“ hebt betroffene Pakete auf sichere Versionen an, soweit das ohne größere Versionssprünge geht. Angular selbst aktualisiert man mit „ng update“.</a:t>
            </a:r>
          </a:p>
          <a:p/>
          <a:p>
            <a:r>
              <a:t>Die Datei „package-lock.json“, das „Lockfile“, legt die genauen Versionen fest. Man legt sie im Repository ab und baut auf dem Build-Server mit „npm ci“, damit überall dieselben Versionen verwendet werden. Bei neuen Paketen prüft man, ob sie gepflegt sind und ob der Name wirklich stimmt.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audit in der Praxis“.</a:t>
            </a:r>
          </a:p>
          <a:p/>
          <a:p>
            <a:r>
              <a:t>Die Folie zeigt die wichtigsten Befehle. „npm audit“ prüft alle Pakete und zeigt einen Bericht, sortiert nach Schweregrad. Mit der Option „omit dev“ werden nur Pakete geprüft, die wirklich in die ausgelieferte Anwendung gelangen, nicht die Werkzeuge für die Entwicklung. Mit „audit-level high“ meldet der Befehl erst ab dem Schweregrad „hoch“ einen Fehler. Das ist praktisch für den Build-Server.</a:t>
            </a:r>
          </a:p>
          <a:p/>
          <a:p>
            <a:r>
              <a:t>„npm audit fix“ installiert sichere Versionen, solange keine neue Hauptversion nötig ist. „ng update“ zeigt verfügbare Angular-Updates. Mit Paketnamen aktualisiert es diese Pakete und passt den eigenen Code mit sogenannten „Migrationen“ automatisch an.</a:t>
            </a:r>
          </a:p>
          <a:p/>
          <a:p>
            <a:r>
              <a:t>„npm ci“ installiert genau die Versionen aus dem Lockfile. Unten steht ein gekürztes Beispiel für einen Bericht: Paketname, betroffene Versionen, Schweregrad, Art der Lücke und der Hinweis, dass eine Korrektur verfügbar ist.</a:t>
            </a:r>
          </a:p>
        </p:txBody>
      </p:sp>
      <p:sp>
        <p:nvSpPr>
          <p:cNvPr id="4" name="Slide Number Placeholder 3"/>
          <p:cNvSpPr>
            <a:spLocks noGrp="1"/>
          </p:cNvSpPr>
          <p:nvPr>
            <p:ph type="sldNum" idx="66"/>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„Secrets im Frontend“.</a:t>
            </a:r>
          </a:p>
          <a:p/>
          <a:p>
            <a:r>
              <a:t>Ein „Secret“ ist ein Geheimnis, zum Beispiel ein Passwort oder ein API-Schlüssel. Viele Projekte legen Einstellungen in der Datei „environment.ts“ ab. Diese Datei wird beim Bauen in das JavaScript-„Bundle“ übersetzt, also in die Dateien, die der Browser herunterlädt. Das Diagramm zeigt den Weg: von der Datei über den Build in das Bundle bis zu jedem Besucher.</a:t>
            </a:r>
          </a:p>
          <a:p/>
          <a:p>
            <a:r>
              <a:t>Jeder Besucher kann das Bundle in den Entwicklertools lesen oder im Netzwerk-Tab die Anfragen mit dem Schlüssel sehen. Deshalb gehören Schlüssel mit Rechten und Passwörter nie in den Client.</a:t>
            </a:r>
          </a:p>
          <a:p/>
          <a:p>
            <a:r>
              <a:t>Die Lösung ist, dass das eigene Backend den fremden Dienst aufruft und den Schlüssel geheim hält. Manche Dienste geben bewusst öffentliche Schlüssel aus, zum Beispiel für Karten. Diese Schlüssel sollten beim Anbieter auf die eigene Domain beschränkt sein.</a:t>
            </a:r>
          </a:p>
        </p:txBody>
      </p:sp>
      <p:sp>
        <p:nvSpPr>
          <p:cNvPr id="4" name="Slide Number Placeholder 3"/>
          <p:cNvSpPr>
            <a:spLocks noGrp="1"/>
          </p:cNvSpPr>
          <p:nvPr>
            <p:ph type="sldNum" idx="66"/>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„Offene Weiterleitung: returnUrl“.</a:t>
            </a:r>
          </a:p>
          <a:p/>
          <a:p>
            <a:r>
              <a:t>Eine „offene Weiterleitung“ entsteht, wenn eine Anwendung auf ein Ziel weiterleitet, das in der Adresse steht. In unserer App hängt der Guard die angeforderte Seite als Query-Parameter „returnUrl“ an die Login-Seite an. Nach dem Login navigiert die App zu diesem Ziel. Das ist bequem.</a:t>
            </a:r>
          </a:p>
          <a:p/>
          <a:p>
            <a:r>
              <a:t>Ein Angreifer kann aber einen Link verschicken, bei dem „returnUrl“ auf seine eigene Seite zeigt. Das Opfer sieht die echte Login-Seite, meldet sich an und wird dann auf die Seite des Angreifers geleitet. Dort sieht zum Beispiel eine gefälschte Seite „Sitzung abgelaufen, bitte Passwort erneut eingeben“. Das Diagramm zeigt den Ablauf.</a:t>
            </a:r>
          </a:p>
          <a:p/>
          <a:p>
            <a:r>
              <a:t>Die Gegenmaßnahme ist eine „Allowlist“, also eine Liste erlaubter Ziele. Nur Adressen auf der eigenen Origin und mit erlaubtem Pfad werden angenommen. Alles andere führt zum Standardziel.</a:t>
            </a:r>
          </a:p>
        </p:txBody>
      </p:sp>
      <p:sp>
        <p:nvSpPr>
          <p:cNvPr id="4" name="Slide Number Placeholder 3"/>
          <p:cNvSpPr>
            <a:spLocks noGrp="1"/>
          </p:cNvSpPr>
          <p:nvPr>
            <p:ph type="sldNum" idx="66"/>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„safeReturnUrl: Prüfung gegen eine Allowlist“.</a:t>
            </a:r>
          </a:p>
          <a:p/>
          <a:p>
            <a:r>
              <a:t>Die Funktion stammt aus der Musterlösung von Übung 36. Sie bekommt den Wert aus der Adresse und die eigene „Origin“, also Protokoll, Servername und Port der App. Zurück gibt sie einen sicheren Pfad oder „undefined“, wenn der Wert nicht erlaubt ist.</a:t>
            </a:r>
          </a:p>
          <a:p/>
          <a:p>
            <a:r>
              <a:t>Zuerst wird der Wert mit „new URL“ ausgewertet. Ein relativer Pfad wird dabei gegen die eigene Origin aufgelöst. Eine absolute Adresse wie „//evil.example“ behält ihren fremden Server. Ist der Wert ungültig, wirft „new URL“ einen Fehler, und die Funktion gibt „undefined“ zurück.</a:t>
            </a:r>
          </a:p>
          <a:p/>
          <a:p>
            <a:r>
              <a:t>Dann wird verglichen: Stimmt die Origin nicht, wird abgelehnt. Das trifft fremde Server und auch „javascript:“-Adressen. Zuletzt muss der Pfad genau „/customer“ sein oder damit beginnen. Weil „new URL“ den Pfad normalisiert, wird auch ein Trick wie „/customer/../admin“ erkannt. Die Login-Seite navigiert zum Ergebnis oder zum Standardziel „/customer“.</a:t>
            </a:r>
          </a:p>
        </p:txBody>
      </p:sp>
      <p:sp>
        <p:nvSpPr>
          <p:cNvPr id="4" name="Slide Number Placeholder 3"/>
          <p:cNvSpPr>
            <a:spLocks noGrp="1"/>
          </p:cNvSpPr>
          <p:nvPr>
            <p:ph type="sldNum" idx="66"/>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„returnUrl im Ablauf: über /login zurück“.</a:t>
            </a:r>
          </a:p>
          <a:p/>
          <a:p>
            <a:r>
              <a:t>Das Diagramm zeigt den Weg aus Übung 36 von einer geschützten Seite über die Anmeldung zurück. Beteiligt sind die Adresse im Browser, der „Router“, der Guard „authGuard“, die „LoginComponent“ und die Prüffunktion „safeReturnUrl“.</a:t>
            </a:r>
          </a:p>
          <a:p/>
          <a:p>
            <a:r>
              <a:t>Der Nutzer öffnet in Schritt 1 die Kundenseite 7. Der Router fragt in Schritt 2 den Guard. Der Nutzer ist nicht angemeldet, deshalb leitet der Guard in Schritt 3 zur Login-Seite um und hängt die ursprüngliche Adresse als Parameter „returnUrl“ an. In Schritt 4 zeigt der Router die Login-Seite; die Komponente bekommt den Parameter als Input.</a:t>
            </a:r>
          </a:p>
          <a:p/>
          <a:p>
            <a:r>
              <a:t>Nach dem Anmelden in Schritt 5, die Methode „login“ ruft den „AuthService“ auf, prüft die Komponente in Schritt 6 das Ziel mit „safeReturnUrl“. Das Ziel ist ein erlaubter interner Pfad, also kommt es in Schritt 7 zurück. In Schritt 8 navigiert die App dorthin, der Guard lässt den Nutzer jetzt durch. Stünde in der returnUrl eine fremde Adresse, käme in Schritt 7 „undefined“ zurück, und die App ginge sicher zur Kundenliste.</a:t>
            </a:r>
          </a:p>
        </p:txBody>
      </p:sp>
      <p:sp>
        <p:nvSpPr>
          <p:cNvPr id="4" name="Slide Number Placeholder 3"/>
          <p:cNvSpPr>
            <a:spLocks noGrp="1"/>
          </p:cNvSpPr>
          <p:nvPr>
            <p:ph type="sldNum" idx="66"/>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a:t>
            </a:r>
          </a:p>
          <a:p/>
          <a:p>
            <a:r>
              <a:t>Liefert das Backend mehr Daten als nötig, sind sie im Netzwerk-Tab für jeden sichtbar, auch wenn die Oberfläche sie nicht anzeigt. Das Backend soll nur erlaubte Felder liefern.</a:t>
            </a:r>
          </a:p>
          <a:p/>
          <a:p>
            <a:r>
              <a:t>Protokolle sind eine häufige Quelle für Datenlecks. Der „loggingInterceptor“ aus Übung 25 gibt deshalb nur Methode, Adresse, Status und Dauer aus, aber nie Header wie „Authorization“ oder den Inhalt von Anfragen.</a:t>
            </a:r>
          </a:p>
          <a:p/>
          <a:p>
            <a:r>
              <a:t>Beim „Clickjacking“ bettet eine fremde Seite die Anwendung unsichtbar in einen „iframe“ ein und bringt den Nutzer dazu, darauf zu klicken. Dagegen hilft die CSP-Regel „frame-ancestors“ oder der Header „X-Frame-Options“. Fremde Skripte, zum Beispiel für Statistik, laufen mit vollen Rechten. Man prüft, ob sie nötig sind. Mit „Subresource Integrity“ prüft der Browser über eine Prüfsumme, ob die geladene Datei unverändert ist.</a:t>
            </a:r>
          </a:p>
        </p:txBody>
      </p:sp>
      <p:sp>
        <p:nvSpPr>
          <p:cNvPr id="4" name="Slide Number Placeholder 3"/>
          <p:cNvSpPr>
            <a:spLocks noGrp="1"/>
          </p:cNvSpPr>
          <p:nvPr>
            <p:ph type="sldNum" idx="66"/>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ist ein Grundsatz der Datenschutz-Grundverordnung, kurz „DSGVO“. Man zeigt und speichert nur die Daten, die man wirklich braucht.</a:t>
            </a:r>
          </a:p>
          <a:p/>
          <a:p>
            <a:r>
              <a:t>Daten werden passend zum Kontext ausgegeben: Text über die Interpolation, HTML nur bereinigt, Adressen nach einer Prüfung. Jede Prüfung im Browser wird im Backend wiederholt. Bei hochgeladenen Dateien prüft man Typ und Größe und führt den Inhalt nie aus.</a:t>
            </a:r>
          </a:p>
          <a:p/>
          <a:p>
            <a:r>
              <a:t>Fehlermeldungen für Nutzer enthalten keine technischen Details wie einen „Stacktrace“, also die Liste der aufgerufenen Funktionen. Solche Details helfen Angreifern. Nach dem Abmelden setzt man den Zustand im Speicher zurück, zum Beispiel die Daten in Stores und Signals. Sonst sieht der nächste Nutzer am selben Gerät eventuell noch fremde Daten.</a:t>
            </a:r>
          </a:p>
        </p:txBody>
      </p:sp>
      <p:sp>
        <p:nvSpPr>
          <p:cNvPr id="4" name="Slide Number Placeholder 3"/>
          <p:cNvSpPr>
            <a:spLocks noGrp="1"/>
          </p:cNvSpPr>
          <p:nvPr>
            <p:ph type="sldNum" idx="66"/>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Jede Änderung wird mit einer Checkliste geprüft. Dazu laufen automatische Prüfungen im „CI“, also auf dem Build-Server, der bei jeder Änderung baut und testet: Lint, Tests und „npm audit“.</a:t>
            </a:r>
          </a:p>
          <a:p/>
          <a:p>
            <a:r>
              <a:t>Updates spielt man zeitnah mit „ng update“ ein. Sicherheitskorrekturen erscheinen auch in kleinen Versionen, den sogenannten „Minor“- und „Patch“-Versionen.</a:t>
            </a:r>
          </a:p>
          <a:p/>
          <a:p>
            <a:r>
              <a:t>Ausnahmen werden dokumentiert: Wo im Code wird „bypassSecurityTrust“ oder „innerHTML“ verwendet, und warum ist das in Ordnung? Wenn doch etwas passiert, bespricht das Team den Vorfall offen. Ziel ist, daraus zu lernen, nicht einen Schuldigen zu finden.</a:t>
            </a:r>
          </a:p>
        </p:txBody>
      </p:sp>
      <p:sp>
        <p:nvSpPr>
          <p:cNvPr id="4" name="Slide Number Placeholder 3"/>
          <p:cNvSpPr>
            <a:spLocks noGrp="1"/>
          </p:cNvSpPr>
          <p:nvPr>
            <p:ph type="sldNum" idx="66"/>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zusammen. Sie ist für das Code-Review gedacht, also für die Prüfung einer Änderung durch eine andere Person. Sie liegt auch der Übung 36 bei, in der Datei „review-checkliste.md“ im Ordner „material“.</a:t>
            </a:r>
          </a:p>
          <a:p/>
          <a:p>
            <a:r>
              <a:t>Die Fragen lauten: Wird die Sicherheitsprüfung von Angular abgeschaltet, und gibt es dafür einen Grund? Wird HTML direkt in die Seite geschrieben oder Text als Code ausgeführt? Werden Werte aus der Adresszeile ungeprüft verwendet? Werden Tokens oder persönliche Daten protokolliert oder im Browser gespeichert? Stehen Geheimnisse im Code? Schützt nur ein Guard statt das Backend? Und wurden neue Pakete geprüft?</a:t>
            </a:r>
          </a:p>
        </p:txBody>
      </p:sp>
      <p:sp>
        <p:nvSpPr>
          <p:cNvPr id="4" name="Slide Number Placeholder 3"/>
          <p:cNvSpPr>
            <a:spLocks noGrp="1"/>
          </p:cNvSpPr>
          <p:nvPr>
            <p:ph type="sldNum" idx="66"/>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 (1/2)“.</a:t>
            </a:r>
          </a:p>
          <a:p/>
          <a:p>
            <a:r>
              <a:t>Erklärung für die Dolmetscherin:</a:t>
            </a:r>
          </a:p>
          <a:p>
            <a:r>
              <a:t>Die Teilnehmer öffnen das Projekt „36_sicherheit“ und schalten zuerst den Lastgenerator aus Übung 35 ab. Dann bekommt jeder Kunde ein optionales Feld „note“ für eine Notiz. Der Service setzt für Kunde 1 eine Notiz, die ein fettes Wort und ein Bild mit Fehler-Ereignis enthält.</a:t>
            </a:r>
          </a:p>
          <a:p/>
          <a:p>
            <a:r>
              <a:t>Danach zeigen sie die Notiz auf drei Arten an: per Interpolation, dann ist alles sichtbarer Text; per „innerHTML“, dann bereinigt Angular sie; und als Gegenbeispiel mit „bypassSecurityTrustHtml“, dann erscheint das Meldungsfenster. Diese unsichere Variante gehört nur in eine getrennte Demo-Komponente mit Schalter. Zum Schluss diskutieren sie, wann so etwas überhaupt akzeptabel wäre.</a:t>
            </a:r>
          </a:p>
        </p:txBody>
      </p:sp>
      <p:sp>
        <p:nvSpPr>
          <p:cNvPr id="4" name="Slide Number Placeholder 3"/>
          <p:cNvSpPr>
            <a:spLocks noGrp="1"/>
          </p:cNvSpPr>
          <p:nvPr>
            <p:ph type="sldNum" idx="66"/>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 (2/2)“.</a:t>
            </a:r>
          </a:p>
          <a:p/>
          <a:p>
            <a:r>
              <a:t>Erklärung für die Dolmetscherin:</a:t>
            </a:r>
          </a:p>
          <a:p>
            <a:r>
              <a:t>Im zweiten Teil sichern die Teilnehmer die Weiterleitung nach dem Login ab. Der Parameter „returnUrl“ wird gegen eine Liste erlaubter Pfade geprüft. Nur Pfade, die mit „/customer“ beginnen, sind erlaubt. Adressen zu fremden Servern werden verworfen, dann geht es zum Standardziel.</a:t>
            </a:r>
          </a:p>
          <a:p/>
          <a:p>
            <a:r>
              <a:t>Danach prüfen sie, dass der Logging-Interceptor keine Header wie „Authorization“ ausgibt, am besten mit einem Test. Sie suchen Stellen, an denen ein Wert aus der Adresse in eine Request-Adresse eingesetzt wird, und kodieren ihn mit „encodeURIComponent“. Zum Schluss gehen sie die Checkliste aus dem Ordner „material“ für die ganze App durch und tragen ihre Funde in die Tabelle ein.</a:t>
            </a:r>
          </a:p>
        </p:txBody>
      </p:sp>
      <p:sp>
        <p:nvSpPr>
          <p:cNvPr id="4" name="Slide Number Placeholder 3"/>
          <p:cNvSpPr>
            <a:spLocks noGrp="1"/>
          </p:cNvSpPr>
          <p:nvPr>
            <p:ph type="sldNum" idx="66"/>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Hier endet der eigentliche Angular-Teil des Kurses. Im Anhang folgt Hintergrundwissen zu „node.js“ und zum Paketmanager „npm“. Beides haben wir im Kurs ständig benutzt, zum Beispiel bei „npm install“ und „ng serve“. Der Anhang erklärt, was dabei im Hintergrund passiert.</a:t>
            </a:r>
          </a:p>
        </p:txBody>
      </p:sp>
      <p:sp>
        <p:nvSpPr>
          <p:cNvPr id="4" name="Slide Number Placeholder 3"/>
          <p:cNvSpPr>
            <a:spLocks noGrp="1"/>
          </p:cNvSpPr>
          <p:nvPr>
            <p:ph type="sldNum" idx="66"/>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Der erste Teil des Anhangs behandelt „node.js“. Das ist die Laufzeitumgebung, also das Programm, das JavaScript außerhalb des Browsers ausführt. Das gesamte Werkzeug von Angular, also die Angular CLI, der Build und die Tests, läuft auf node.js.</a:t>
            </a:r>
          </a:p>
        </p:txBody>
      </p:sp>
      <p:sp>
        <p:nvSpPr>
          <p:cNvPr id="4" name="Slide Number Placeholder 3"/>
          <p:cNvSpPr>
            <a:spLocks noGrp="1"/>
          </p:cNvSpPr>
          <p:nvPr>
            <p:ph type="sldNum" idx="66"/>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eine Laufzeitumgebung für JavaScript. Das heißt: Es ist ein Programm, das JavaScript-Code direkt auf dem Rechner ausführt, ohne Browser. Im Kern steckt „V8“. Das ist die JavaScript-Engine von Google, die auch im Browser Chrome den Code ausführt.</a:t>
            </a:r>
          </a:p>
          <a:p/>
          <a:p>
            <a:r>
              <a:t>Darunter liegt eine Bibliothek namens „libuv“. Sie kümmert sich um die „Event Loop“, also die Warteschleife für Ereignisse, und um Zugriffe auf Dateien und das Netzwerk. Darüber stellt node.js eigene Module bereit, zum Beispiel „fs“ für das Dateisystem und „http“ für Webserver.</a:t>
            </a:r>
          </a:p>
          <a:p/>
          <a:p>
            <a:r>
              <a:t>Das Diagramm zeigt die Schichten von oben nach unten: unser Code, die node-Module, libuv, V8 und ganz unten das Betriebssystem.</a:t>
            </a:r>
          </a:p>
        </p:txBody>
      </p:sp>
      <p:sp>
        <p:nvSpPr>
          <p:cNvPr id="4" name="Slide Number Placeholder 3"/>
          <p:cNvSpPr>
            <a:spLocks noGrp="1"/>
          </p:cNvSpPr>
          <p:nvPr>
            <p:ph type="sldNum" idx="66"/>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„node.js und Browser im Vergleich“.</a:t>
            </a:r>
          </a:p>
          <a:p/>
          <a:p>
            <a:r>
              <a:t>In node.js und im Browser schreibt man dieselbe Sprache, nämlich JavaScript. Die Umgebung ist aber verschieden. node.js hat keine Oberfläche, kein HTML-Dokument und damit auch kein „DOM“. Das DOM ist die Baumstruktur der Webseite, die Angular im Browser verändert. Objekte wie „window“ oder „document“ gibt es in node.js deshalb nicht.</a:t>
            </a:r>
          </a:p>
          <a:p/>
          <a:p>
            <a:r>
              <a:t>Dafür darf node.js Dinge, die der Browser aus Sicherheitsgründen verbietet: Dateien lesen und schreiben, andere Programme starten und einen Netzwerk-Port öffnen. Manche Funktionen gibt es in beiden Welten, zum Beispiel „console.log“, „setTimeout“, „Promise“ und in aktuellen Versionen auch „fetch“.</a:t>
            </a:r>
          </a:p>
        </p:txBody>
      </p:sp>
      <p:sp>
        <p:nvSpPr>
          <p:cNvPr id="4" name="Slide Number Placeholder 3"/>
          <p:cNvSpPr>
            <a:spLocks noGrp="1"/>
          </p:cNvSpPr>
          <p:nvPr>
            <p:ph type="sldNum" idx="66"/>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„Nicht blockierendes I/O“.</a:t>
            </a:r>
          </a:p>
          <a:p/>
          <a:p>
            <a:r>
              <a:t>„I/O“ steht für „Input/Output“, also Ein- und Ausgabe. Gemeint sind Zugriffe, bei denen man auf etwas warten muss, zum Beispiel auf eine Datei, auf das Netzwerk oder auf eine Datenbank.</a:t>
            </a:r>
          </a:p>
          <a:p/>
          <a:p>
            <a:r>
              <a:t>Blockierend heißt: Das Programm bleibt stehen, bis die Daten da sind. Nicht blockierend heißt: node.js gibt den Auftrag ab und arbeitet sofort weiter. Wenn die Daten da sind, ruft node.js eine Funktion auf, die man vorher übergeben hat. Diese Funktion heißt „Callback“, also Rückruf-Funktion. Alternativ bekommt man ein „Promise“, ein Versprechen auf ein späteres Ergebnis.</a:t>
            </a:r>
          </a:p>
          <a:p/>
          <a:p>
            <a:r>
              <a:t>So kann ein einziger JavaScript-Thread sehr viele Anfragen gleichzeitig bedienen. Langes Rechnen im JavaScript-Code blockiert aber alle anderen Anfragen, weil es nur diesen einen Thread gibt.</a:t>
            </a:r>
          </a:p>
        </p:txBody>
      </p:sp>
      <p:sp>
        <p:nvSpPr>
          <p:cNvPr id="4" name="Slide Number Placeholder 3"/>
          <p:cNvSpPr>
            <a:spLocks noGrp="1"/>
          </p:cNvSpPr>
          <p:nvPr>
            <p:ph type="sldNum" idx="66"/>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Event Loop: Ablauf“.</a:t>
            </a:r>
          </a:p>
          <a:p/>
          <a:p>
            <a:r>
              <a:t>Die „Event Loop“ ist die Ereignis-Schleife von node.js. Zuerst läuft der eigene Code einmal von oben nach unten durch. Asynchrone Aufträge, zum Beispiel „Datei lesen“, gibt node.js an libuv oder das Betriebssystem weiter.</a:t>
            </a:r>
          </a:p>
          <a:p/>
          <a:p>
            <a:r>
              <a:t>Ist ein Auftrag fertig, kommt sein Callback in eine Warteschlange. Sobald gerade kein anderer JavaScript-Code läuft, nimmt die Event Loop den nächsten Callback aus der Warteschlange und führt ihn vollständig aus. Danach kommt der nächste dran. Das Diagramm zeigt diesen Kreislauf.</a:t>
            </a:r>
          </a:p>
          <a:p/>
          <a:p>
            <a:r>
              <a:t>Ein node-Programm endet erst, wenn keine Aufträge mehr ausstehen. Ein Webserver endet deshalb nicht von selbst, weil er dauerhaft auf neue Anfragen wartet. Den gleichen Mechanismus gibt es übrigens auch im Browser.</a:t>
            </a:r>
          </a:p>
        </p:txBody>
      </p:sp>
      <p:sp>
        <p:nvSpPr>
          <p:cNvPr id="4" name="Slide Number Placeholder 3"/>
          <p:cNvSpPr>
            <a:spLocks noGrp="1"/>
          </p:cNvSpPr>
          <p:nvPr>
            <p:ph type="sldNum" idx="66"/>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Datei asynchron lesen“.</a:t>
            </a:r>
          </a:p>
          <a:p/>
          <a:p>
            <a:r>
              <a:t>Das Programm lädt zuerst das eingebaute Modul „fs“, das ist das Dateisystem-Modul. Dann gibt es Text 1 aus. Danach wird „fs.readFile“ aufgerufen. Diese Funktion bekommt den Dateinamen, die Zeichenkodierung „utf8“ und als letzten Parameter eine Callback-Funktion.</a:t>
            </a:r>
          </a:p>
          <a:p/>
          <a:p>
            <a:r>
              <a:t>„readFile“ wartet nicht, sondern kehrt sofort zurück. Deshalb erscheint als Nächstes Text 2. Erst wenn die Datei gelesen ist, ruft node.js den Callback auf, und Text 3 erscheint. Die Reihenfolge der Ausgabe ist also 1, 2, 3, obwohl der Code anders angeordnet ist.</a:t>
            </a:r>
          </a:p>
        </p:txBody>
      </p:sp>
      <p:sp>
        <p:nvSpPr>
          <p:cNvPr id="4" name="Slide Number Placeholder 3"/>
          <p:cNvSpPr>
            <a:spLocks noGrp="1"/>
          </p:cNvSpPr>
          <p:nvPr>
            <p:ph type="sldNum" idx="66"/>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Callback: wer ruft wann was auf?“.</a:t>
            </a:r>
          </a:p>
          <a:p/>
          <a:p>
            <a:r>
              <a:t>Den Callback schreiben wir selbst, aber wir rufen ihn nicht selbst auf. Wir übergeben ihn an „readFile“, und node.js ruft ihn später auf, nämlich dann, wenn die Datei gelesen ist.</a:t>
            </a:r>
          </a:p>
          <a:p/>
          <a:p>
            <a:r>
              <a:t>node.js übergibt dabei zwei Werte. Der erste Parameter, hier „err“ genannt, ist ein Fehlerobjekt. Er ist „null“, wenn alles geklappt hat. Der zweite Parameter enthält den Dateiinhalt. Diese Reihenfolge, zuerst der Fehler, dann das Ergebnis, heißt „error first“ und gilt für fast alle klassischen node-Funktionen. Man prüft deshalb immer zuerst den Fehler.</a:t>
            </a:r>
          </a:p>
          <a:p/>
          <a:p>
            <a:r>
              <a:t>Was der Callback zurückgibt, wertet node.js nicht aus. Das Diagramm zeigt die Reihenfolge der Aufrufe.</a:t>
            </a:r>
          </a:p>
        </p:txBody>
      </p:sp>
      <p:sp>
        <p:nvSpPr>
          <p:cNvPr id="4" name="Slide Number Placeholder 3"/>
          <p:cNvSpPr>
            <a:spLocks noGrp="1"/>
          </p:cNvSpPr>
          <p:nvPr>
            <p:ph type="sldNum" idx="66"/>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„readFile im Ablauf mit Event Loop“.</a:t>
            </a:r>
          </a:p>
          <a:p/>
          <a:p>
            <a:r>
              <a:t>Das Diagramm zeigt das Beispiel „lesen.js“ mit allen Beteiligten: unser Programm, das eingebaute Modul „fs“ für das Dateisystem, das Betriebssystem und die „Event Loop“, also die Schleife, in der node.js wartende Aufgaben nacheinander abarbeitet.</a:t>
            </a:r>
          </a:p>
          <a:p/>
          <a:p>
            <a:r>
              <a:t>In Schritt 1 gibt das Programm Text 1 aus. In Schritt 2 ruft es „readFile“ auf und übergibt den Callback. Das Modul gibt den Leseauftrag in Schritt 3 an das Betriebssystem weiter und kehrt in Schritt 4 sofort zurück, ohne Ergebnis. Deshalb kommt in Schritt 5 schon Text 2.</a:t>
            </a:r>
          </a:p>
          <a:p/>
          <a:p>
            <a:r>
              <a:t>Wenn die Datei gelesen ist, meldet das Betriebssystem das in Schritt 6. Das Ereignis kommt in eine Warteschlange. Sobald das Programm nichts anderes mehr zu tun hat, ruft die Event Loop in Schritt 7 den Callback auf. Der erste Parameter ist „null“, also kein Fehler. In Schritt 8 erscheint Text 3.</a:t>
            </a:r>
          </a:p>
        </p:txBody>
      </p:sp>
      <p:sp>
        <p:nvSpPr>
          <p:cNvPr id="4" name="Slide Number Placeholder 3"/>
          <p:cNvSpPr>
            <a:spLocks noGrp="1"/>
          </p:cNvSpPr>
          <p:nvPr>
            <p:ph type="sldNum" idx="66"/>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„Dasselbe mit Promise und await“.</a:t>
            </a:r>
          </a:p>
          <a:p/>
          <a:p>
            <a:r>
              <a:t>Für die meisten Funktionen gibt es heute eine Variante mit „Promise“. Das Modul „node:fs/promises“ bietet ein „readFile“, das keinen Callback erwartet, sondern ein Promise zurückgibt.</a:t>
            </a:r>
          </a:p>
          <a:p/>
          <a:p>
            <a:r>
              <a:t>Mit „await“ wartet der Code auf das Ergebnis. Das blockiert node.js nicht: Während gewartet wird, kann die Event Loop andere Callbacks ausführen. Ein Fehler kommt hier nicht als Parameter, sondern als Ausnahme und wird im „catch“-Block behandelt.</a:t>
            </a:r>
          </a:p>
          <a:p/>
          <a:p>
            <a:r>
              <a:t>Die Datei endet auf „.mjs“. Damit weiß node.js, dass es ein ES-Modul mit „import“ ist. Das wird später im Anhang genauer erklärt.</a:t>
            </a:r>
          </a:p>
        </p:txBody>
      </p:sp>
      <p:sp>
        <p:nvSpPr>
          <p:cNvPr id="4" name="Slide Number Placeholder 3"/>
          <p:cNvSpPr>
            <a:spLocks noGrp="1"/>
          </p:cNvSpPr>
          <p:nvPr>
            <p:ph type="sldNum" idx="66"/>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kompletter HTTP-Server“.</a:t>
            </a:r>
          </a:p>
          <a:p/>
          <a:p>
            <a:r>
              <a:t>Dieses kleine Programm ist ein vollständiger Webserver, ganz ohne zusätzliche Bibliothek. Es nutzt nur das eingebaute Modul „http“.</a:t>
            </a:r>
          </a:p>
          <a:p/>
          <a:p>
            <a:r>
              <a:t>„createServer“ bekommt eine Funktion, die bei jeder eingehenden Anfrage aufgerufen wird. Fragt jemand mit der Methode „GET“ die Adresse „/api/hallo“ ab, antwortet der Server mit dem Status 200 und einem JSON-Text. Für alle anderen Adressen antwortet er mit dem Status 404, also „nicht gefunden“.</a:t>
            </a:r>
          </a:p>
          <a:p/>
          <a:p>
            <a:r>
              <a:t>„listen“ startet den Server auf Port 6061 auf dem eigenen Rechner. Sobald er bereit ist, gibt er eine Meldung in der Konsole aus. Im Browser kann man dann „http://127.0.0.1:6061/api/hallo“ aufrufen.</a:t>
            </a:r>
          </a:p>
        </p:txBody>
      </p:sp>
      <p:sp>
        <p:nvSpPr>
          <p:cNvPr id="4" name="Slide Number Placeholder 3"/>
          <p:cNvSpPr>
            <a:spLocks noGrp="1"/>
          </p:cNvSpPr>
          <p:nvPr>
            <p:ph type="sldNum" idx="66"/>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„HTTP-Server: was bei einer Anfrage passiert“.</a:t>
            </a:r>
          </a:p>
          <a:p/>
          <a:p>
            <a:r>
              <a:t>„createServer“ merkt sich nur die übergebene Funktion, den sogenannten „Handler“. Er wird noch nicht ausgeführt. Erst „listen“ öffnet den Netzwerk-Port. Ab dann wartet das Programm dauerhaft auf Anfragen.</a:t>
            </a:r>
          </a:p>
          <a:p/>
          <a:p>
            <a:r>
              <a:t>Kommt eine Anfrage vom Browser, ruft node.js den Handler auf und übergibt zwei Objekte: „req“ für die Anfrage und „res“ für die Antwort. Der Handler liest aus „req“, was gewünscht ist, und schreibt die Antwort in „res“. Mit „res.end“ wird die Antwort abgeschickt. Fehlt dieser Aufruf, wartet der Browser vergeblich.</a:t>
            </a:r>
          </a:p>
          <a:p/>
          <a:p>
            <a:r>
              <a:t>Der Callback, der an „listen“ übergeben wird, läuft dagegen nur einmal, nämlich wenn der Server bereit ist.</a:t>
            </a:r>
          </a:p>
        </p:txBody>
      </p:sp>
      <p:sp>
        <p:nvSpPr>
          <p:cNvPr id="4" name="Slide Number Placeholder 3"/>
          <p:cNvSpPr>
            <a:spLocks noGrp="1"/>
          </p:cNvSpPr>
          <p:nvPr>
            <p:ph type="sldNum" idx="66"/>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Parameter req und res“.</a:t>
            </a:r>
          </a:p>
          <a:p/>
          <a:p>
            <a:r>
              <a:t>„req“ ist die Abkürzung für „request“, also Anfrage. Das Objekt enthält die Methode, zum Beispiel „GET“ oder „POST“, die angefragte Adresse in „req.url“ und die Kopfzeilen, die „Header“. Den Inhalt einer POST-Anfrage, den „Body“, liest man stückweise als Datenstrom, als sogenannten „Stream“.</a:t>
            </a:r>
          </a:p>
          <a:p/>
          <a:p>
            <a:r>
              <a:t>„res“ ist die Abkürzung für „response“, also Antwort. Mit „writeHead“ setzt man den Statuscode und die Header. Mit „write“ sendet man Daten, auch in mehreren Teilen. Mit „end“ schließt man die Antwort ab. Das darf nur einmal pro Anfrage passieren.</a:t>
            </a:r>
          </a:p>
          <a:p/>
          <a:p>
            <a:r>
              <a:t>Für jede neue Anfrage erzeugt node.js ein neues Paar aus „req“ und „res“.</a:t>
            </a:r>
          </a:p>
        </p:txBody>
      </p:sp>
      <p:sp>
        <p:nvSpPr>
          <p:cNvPr id="4" name="Slide Number Placeholder 3"/>
          <p:cNvSpPr>
            <a:spLocks noGrp="1"/>
          </p:cNvSpPr>
          <p:nvPr>
            <p:ph type="sldNum" idx="66"/>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Statische Dateien ausliefern“.</a:t>
            </a:r>
          </a:p>
          <a:p/>
          <a:p>
            <a:r>
              <a:t>Dieser Server liefert Dateien aus dem Ordner „static-content“ aus, zum Beispiel HTML-, CSS- und JavaScript-Dateien. Aus der angefragten Adresse wird mit „path.basename“ nur der Dateiname genommen. So kann niemand mit „../“ aus dem Ordner ausbrechen und fremde Dateien lesen.</a:t>
            </a:r>
          </a:p>
          <a:p/>
          <a:p>
            <a:r>
              <a:t>Anhand der Dateiendung wird der passende „Content-Type“ gewählt. Dann öffnet „createReadStream“ die Datei als Datenstrom. Wenn die Datei geöffnet werden konnte, wird der Status 200 gesendet. Wenn sie fehlt, kommt der Status 404 mit leerer Antwort.</a:t>
            </a:r>
          </a:p>
          <a:p/>
          <a:p>
            <a:r>
              <a:t>„pipe“ verbindet den Datenstrom der Datei direkt mit der Antwort. Die Datei wird also stückweise zum Browser geschickt und nie komplett in den Speicher geladen.</a:t>
            </a:r>
          </a:p>
        </p:txBody>
      </p:sp>
      <p:sp>
        <p:nvSpPr>
          <p:cNvPr id="4" name="Slide Number Placeholder 3"/>
          <p:cNvSpPr>
            <a:spLocks noGrp="1"/>
          </p:cNvSpPr>
          <p:nvPr>
            <p:ph type="sldNum" idx="66"/>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„Streams, pipe und Frameworks“.</a:t>
            </a:r>
          </a:p>
          <a:p/>
          <a:p>
            <a:r>
              <a:t>Ein „Stream“ ist ein Datenstrom. Die Daten kommen in Stücken an und werden auch in Stücken weitergegeben. „pipe“ heißt übersetzt „Rohr“. Die Methode verbindet einen Lese-Strom mit einem Schreib-Strom. Hier fließt die Datei direkt in die Antwort „res“. Das spart Speicher, auch bei sehr großen Dateien.</a:t>
            </a:r>
          </a:p>
          <a:p/>
          <a:p>
            <a:r>
              <a:t>Wichtig für die Sicherheit: Teile der Adresse dürfen nie ungeprüft als Dateipfad verwendet werden.</a:t>
            </a:r>
          </a:p>
          <a:p/>
          <a:p>
            <a:r>
              <a:t>In echten Projekten schreibt man selten alles mit dem reinen „http“-Modul. Man nutzt ein Framework wie „Express“. Auch das Backend unseres Kurses im Ordner „server“ ist mit Express gebaut. Das Diagramm zeigt den Unterschied.</a:t>
            </a:r>
          </a:p>
        </p:txBody>
      </p:sp>
      <p:sp>
        <p:nvSpPr>
          <p:cNvPr id="4" name="Slide Number Placeholder 3"/>
          <p:cNvSpPr>
            <a:spLocks noGrp="1"/>
          </p:cNvSpPr>
          <p:nvPr>
            <p:ph type="sldNum" idx="66"/>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„Das Kurs-Backend im Zusammenspiel“.</a:t>
            </a:r>
          </a:p>
          <a:p/>
          <a:p>
            <a:r>
              <a:t>In den Übungen laufen zwei node.js-Programme gleichzeitig. Im ersten Terminal startet man das Backend mit „node server.js“. Das ist ein Express-Server auf Port 3000, der die Daten unter „/api“ bereitstellt.</a:t>
            </a:r>
          </a:p>
          <a:p/>
          <a:p>
            <a:r>
              <a:t>Im zweiten Terminal startet man „ng serve“. Das ist der Entwicklungs-Server von Angular auf Port 4200. Der Browser spricht nur mit Port 4200. Die Datei „dev.proxy.json“ sorgt dafür, dass alle Anfragen an „/api“ an Port 3000 weitergeleitet werden. Ein „Proxy“ ist ein Vermittler, der Anfragen weiterreicht.</a:t>
            </a:r>
          </a:p>
          <a:p/>
          <a:p>
            <a:r>
              <a:t>Das Diagramm zeigt den Weg einer Anfrage vom Browser über den Proxy zum Backend.</a:t>
            </a:r>
          </a:p>
        </p:txBody>
      </p:sp>
      <p:sp>
        <p:nvSpPr>
          <p:cNvPr id="4" name="Slide Number Placeholder 3"/>
          <p:cNvSpPr>
            <a:spLocks noGrp="1"/>
          </p:cNvSpPr>
          <p:nvPr>
            <p:ph type="sldNum" idx="66"/>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„Eine API-Anfrage über den Proxy im Ablauf“.</a:t>
            </a:r>
          </a:p>
          <a:p/>
          <a:p>
            <a:r>
              <a:t>Das Diagramm zeigt eine Anfrage an das Kurs-Backend Schritt für Schritt. Beteiligt sind der „CustomerService“ in der Angular-App, der Browser, der Dev-Server von „ng serve“ auf Port 4200 und der Express-Server „server.js“ auf Port 3000.</a:t>
            </a:r>
          </a:p>
          <a:p/>
          <a:p>
            <a:r>
              <a:t>In den Schritten 1 und 2 lädt der Browser die Angular-App vom Dev-Server. In Schritt 3 ruft der Service mit dem HttpClient die relative Adresse „api/customer“ auf. Der Browser schickt die Anfrage in Schritt 4 deshalb an dieselbe Adresse wie die Seite, also an Port 4200.</a:t>
            </a:r>
          </a:p>
          <a:p/>
          <a:p>
            <a:r>
              <a:t>Der Dev-Server erkennt in Schritt 5 am Anfang „/api“, dass die Proxy-Regel aus „dev.proxy.json“ gilt, und leitet die Anfrage in Schritt 6 an Port 3000 weiter. Dort ruft Express die passende Funktion auf, die in Schritt 7 die Kundendaten zurückgibt. Der Dev-Server reicht die Antwort in Schritt 8 an den Browser weiter, und in Schritt 9 liefert das Observable die Kunden an den Service. Für den Browser kommt alles von Port 4200; deshalb gibt es kein CORS-Problem, also keine Sperre für fremde Adressen.</a:t>
            </a:r>
          </a:p>
        </p:txBody>
      </p:sp>
      <p:sp>
        <p:nvSpPr>
          <p:cNvPr id="4" name="Slide Number Placeholder 3"/>
          <p:cNvSpPr>
            <a:spLocks noGrp="1"/>
          </p:cNvSpPr>
          <p:nvPr>
            <p:ph type="sldNum" idx="66"/>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von node.js“.</a:t>
            </a:r>
          </a:p>
          <a:p/>
          <a:p>
            <a:r>
              <a:t>node.js lädt man von der Seite „nodejs.org“ herunter. Dort gibt es zwei Arten von Versionen. „LTS“ bedeutet „Long Term Support“, also lange Unterstützung. Das sind die Versionen mit gerader Nummer, zum Beispiel 22 und 24. Sie bekommen etwa zweieinhalb Jahre lang Fehlerkorrekturen und Sicherheitsupdates. Versionen mit ungerader Nummer werden nur kurz unterstützt und sind für Projekte nicht geeignet.</a:t>
            </a:r>
          </a:p>
          <a:p/>
          <a:p>
            <a:r>
              <a:t>Angular 21 funktioniert mit node.js ab 20.19, ab 22.12 oder mit Version 24. Version 20 bekommt seit April 2026 keine Updates mehr. Für neue Installationen nimmt man deshalb eine aktuelle LTS-Version, die Angular unterstützt, zum Beispiel 24. Welche Versionen genau unterstützt werden, steht in der Versionstabelle auf „angular.dev“.</a:t>
            </a:r>
          </a:p>
          <a:p/>
          <a:p>
            <a:r>
              <a:t>Der Paketmanager „npm“ wird bei der Installation automatisch mitinstalliert.</a:t>
            </a:r>
          </a:p>
        </p:txBody>
      </p:sp>
      <p:sp>
        <p:nvSpPr>
          <p:cNvPr id="4" name="Slide Number Placeholder 3"/>
          <p:cNvSpPr>
            <a:spLocks noGrp="1"/>
          </p:cNvSpPr>
          <p:nvPr>
            <p:ph type="sldNum" idx="66"/>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Versionen mit nvm“.</a:t>
            </a:r>
          </a:p>
          <a:p/>
          <a:p>
            <a:r>
              <a:t>Oft arbeitet man an mehreren Projekten, die unterschiedliche node-Versionen brauchen. Dafür gibt es Versionsverwalter. „nvm“ steht für „Node Version Manager“ und läuft unter macOS und Linux. Unter Windows nutzt man „nvm-windows“ oder „fnm“. Das sind eigene Programme mit ähnlichen Befehlen.</a:t>
            </a:r>
          </a:p>
          <a:p/>
          <a:p>
            <a:r>
              <a:t>Der Kasten zeigt die wichtigsten Befehle: eine Version installieren, zu ihr wechseln und sie als Standard festlegen. In einer Datei „.nvmrc“ im Projekt kann man die passende Version eintragen. „nvm use“ liest diese Datei dann automatisch.</a:t>
            </a:r>
          </a:p>
          <a:p/>
          <a:p>
            <a:r>
              <a:t>Achtung: Global installierte Pakete, zum Beispiel die Angular CLI, gehören zu einer bestimmten node-Version. Nach einem Wechsel muss man sie eventuell neu installieren.</a:t>
            </a:r>
          </a:p>
        </p:txBody>
      </p:sp>
      <p:sp>
        <p:nvSpPr>
          <p:cNvPr id="4" name="Slide Number Placeholder 3"/>
          <p:cNvSpPr>
            <a:spLocks noGrp="1"/>
          </p:cNvSpPr>
          <p:nvPr>
            <p:ph type="sldNum" idx="66"/>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„Testen der Installation“.</a:t>
            </a:r>
          </a:p>
          <a:p/>
          <a:p>
            <a:r>
              <a:t>Nach der Installation prüft man im Terminal, ob alles funktioniert. „node -v“ zeigt die installierte node-Version, „npm -v“ die Version von npm. Die Zahlen auf der Folie sind nur Beispiele.</a:t>
            </a:r>
          </a:p>
          <a:p/>
          <a:p>
            <a:r>
              <a:t>Mit „node -e“ kann man ein kurzes Stück JavaScript direkt ausführen. Gibt man nur „node“ ein, startet die interaktive Konsole. Sie heißt „REPL“, das steht für „Read, Eval, Print, Loop“: Sie liest eine Eingabe, führt sie aus, gibt das Ergebnis aus und wartet auf die nächste Eingabe. Mit „.exit“ verlässt man sie.</a:t>
            </a:r>
          </a:p>
          <a:p/>
          <a:p>
            <a:r>
              <a:t>In einem Angular-Projekt zeigt „ng version“ zusätzlich die Versionen der Angular-Pakete und warnt, wenn die node-Version nicht passt.</a:t>
            </a:r>
          </a:p>
        </p:txBody>
      </p:sp>
      <p:sp>
        <p:nvSpPr>
          <p:cNvPr id="4" name="Slide Number Placeholder 3"/>
          <p:cNvSpPr>
            <a:spLocks noGrp="1"/>
          </p:cNvSpPr>
          <p:nvPr>
            <p:ph type="sldNum" idx="66"/>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Angular node.js braucht“.</a:t>
            </a:r>
          </a:p>
          <a:p/>
          <a:p>
            <a:r>
              <a:t>Eine Angular-Anwendung läuft im Browser. node.js braucht man trotzdem, aber nur bei der Entwicklung und beim Bauen. Die Angular CLI, also das Kommandozeilen-Werkzeug „ng“, ist ein node-Programm.</a:t>
            </a:r>
          </a:p>
          <a:p/>
          <a:p>
            <a:r>
              <a:t>Beim Bauen übersetzt das Werkzeug „esbuild“ den TypeScript-Code und die Templates in JavaScript. Bei „ng serve“ liefert ein Entwicklungs-Server auf Basis von „Vite“ die App an den Browser und lädt sie bei Änderungen automatisch neu. Auch die Tests mit „Vitest“ laufen in node.js.</a:t>
            </a:r>
          </a:p>
          <a:p/>
          <a:p>
            <a:r>
              <a:t>Im Browser kommt am Ende nur das Ergebnis an: JavaScript, HTML und CSS. Das Diagramm stellt Entwicklung und Laufzeit gegenüber.</a:t>
            </a:r>
          </a:p>
        </p:txBody>
      </p:sp>
      <p:sp>
        <p:nvSpPr>
          <p:cNvPr id="4" name="Slide Number Placeholder 3"/>
          <p:cNvSpPr>
            <a:spLocks noGrp="1"/>
          </p:cNvSpPr>
          <p:nvPr>
            <p:ph type="sldNum" idx="66"/>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von ng serve“.</a:t>
            </a:r>
          </a:p>
          <a:p/>
          <a:p>
            <a:r>
              <a:t>Gibt man „ng serve“ ein, startet die Angular CLI als node-Prozess. Sie übersetzt mit „esbuild“ alle TypeScript-Dateien und Templates in JavaScript. Die Ergebnisse liegen nur im Arbeitsspeicher, nicht als Dateien auf der Festplatte.</a:t>
            </a:r>
          </a:p>
          <a:p/>
          <a:p>
            <a:r>
              <a:t>Ein Entwicklungs-Server auf Basis von „Vite“ liefert diese Dateien auf Port 4200 an den Browser aus.</a:t>
            </a:r>
          </a:p>
          <a:p/>
          <a:p>
            <a:r>
              <a:t>Ändert man eine Datei, baut die CLI nur die betroffenen Teile neu. Der Browser lädt dann neu oder tauscht bei Styles und Templates nur das geänderte Stück aus. Das nennt man „HMR“, „Hot Module Replacement“, also Austausch im laufenden Betrieb. Früher brauchte man dafür eigene Werkzeuge wie „Browsersync“.</a:t>
            </a:r>
          </a:p>
        </p:txBody>
      </p:sp>
      <p:sp>
        <p:nvSpPr>
          <p:cNvPr id="4" name="Slide Number Placeholder 3"/>
          <p:cNvSpPr>
            <a:spLocks noGrp="1"/>
          </p:cNvSpPr>
          <p:nvPr>
            <p:ph type="sldNum" idx="66"/>
          </p:nvPr>
        </p:nvSpPr>
        <p:spPr/>
      </p:sp>
    </p:spTree>
  </p:cSld>
  <p:clrMapOvr>
    <a:masterClrMapping/>
  </p:clrMapOvr>
</p:notes>
</file>

<file path=ppt/notesSlides/notesSlide5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 serve im Ablauf“.</a:t>
            </a:r>
          </a:p>
          <a:p/>
          <a:p>
            <a:r>
              <a:t>Das Diagramm zeigt, was nach dem Befehl „ng serve“ passiert. Beteiligt sind der Entwickler, die Angular CLI als node-Prozess, das Bauwerkzeug „esbuild“, der Dev-Server „Vite“ und der Browser.</a:t>
            </a:r>
          </a:p>
          <a:p/>
          <a:p>
            <a:r>
              <a:t>In Schritt 1 startet der Entwickler „ng serve“. Die CLI liest in Schritt 2 die Einstellungen aus „angular.json“, zum Beispiel die Proxy-Datei. In Schritt 3 übersetzt esbuild den TypeScript-Code und die Templates. Das Ergebnis liegt in Schritt 4 im Arbeitsspeicher, nicht auf der Festplatte. In Schritt 5 startet der Dev-Server auf Port 4200.</a:t>
            </a:r>
          </a:p>
          <a:p/>
          <a:p>
            <a:r>
              <a:t>In den Schritten 6 und 7 lädt der Browser die Seite und die Skripte. Speichert der Entwickler danach eine Datei, bemerkt die CLI das in Schritt 8. In Schritt 9 baut esbuild nur die geänderten Teile neu. In Schritt 10 lädt der Browser die Seite neu oder tauscht nur die geänderten Teile aus; das heißt „HMR“, Hot Module Replacement.</a:t>
            </a:r>
          </a:p>
        </p:txBody>
      </p:sp>
      <p:sp>
        <p:nvSpPr>
          <p:cNvPr id="4" name="Slide Number Placeholder 3"/>
          <p:cNvSpPr>
            <a:spLocks noGrp="1"/>
          </p:cNvSpPr>
          <p:nvPr>
            <p:ph type="sldNum" idx="66"/>
          </p:nvPr>
        </p:nvSpPr>
        <p:spPr/>
      </p:sp>
    </p:spTree>
  </p:cSld>
  <p:clrMapOvr>
    <a:masterClrMapping/>
  </p:clrMapOvr>
</p:notes>
</file>

<file path=ppt/notesSlides/notesSlide5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 build und der Betrieb“.</a:t>
            </a:r>
          </a:p>
          <a:p/>
          <a:p>
            <a:r>
              <a:t>„ng build“ baut die Anwendung für den Betrieb. Das Ergebnis liegt im Ordner „dist“, dort im Unterordner des Projekts und darin im Ordner „browser“. Er enthält die Datei „index.html“, die JavaScript- und CSS-Dateien und die Bilder.</a:t>
            </a:r>
          </a:p>
          <a:p/>
          <a:p>
            <a:r>
              <a:t>Diese Dateien sind statisch. Das heißt, sie werden nur ausgeliefert und nicht auf dem Server ausgeführt. Jeder normale Webserver kann das, zum Beispiel „nginx“ oder „Apache“. Auf dem Produktiv-Server braucht man dafür kein node.js.</a:t>
            </a:r>
          </a:p>
          <a:p/>
          <a:p>
            <a:r>
              <a:t>Eine Ausnahme ist das „Server-Side Rendering“, abgekürzt „SSR“. Dabei erzeugt ein Server die HTML-Seite vorab. Dieser Server ist ein node-Programm.</a:t>
            </a:r>
          </a:p>
        </p:txBody>
      </p:sp>
      <p:sp>
        <p:nvSpPr>
          <p:cNvPr id="4" name="Slide Number Placeholder 3"/>
          <p:cNvSpPr>
            <a:spLocks noGrp="1"/>
          </p:cNvSpPr>
          <p:nvPr>
            <p:ph type="sldNum" idx="66"/>
          </p:nvPr>
        </p:nvSpPr>
        <p:spPr/>
      </p:sp>
    </p:spTree>
  </p:cSld>
  <p:clrMapOvr>
    <a:masterClrMapping/>
  </p:clrMapOvr>
</p:notes>
</file>

<file path=ppt/notesSlides/notesSlide5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Der nächste Teil des Anhangs behandelt „npm“. Das ist der Paketmanager von node.js. Ein Paketmanager lädt fremde Bibliotheken herunter und verwaltet ihre Versionen. Wir haben npm im Kurs von Anfang an benutzt, zum Beispiel mit „npm install“.</a:t>
            </a:r>
          </a:p>
        </p:txBody>
      </p:sp>
      <p:sp>
        <p:nvSpPr>
          <p:cNvPr id="4" name="Slide Number Placeholder 3"/>
          <p:cNvSpPr>
            <a:spLocks noGrp="1"/>
          </p:cNvSpPr>
          <p:nvPr>
            <p:ph type="sldNum" idx="66"/>
          </p:nvPr>
        </p:nvSpPr>
        <p:spPr/>
      </p:sp>
    </p:spTree>
  </p:cSld>
  <p:clrMapOvr>
    <a:masterClrMapping/>
  </p:clrMapOvr>
</p:notes>
</file>

<file path=ppt/notesSlides/notesSlide5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ein Paketmanager. Ein „Paket“ ist eine Bibliothek oder ein Werkzeug, das jemand veröffentlicht hat, zum Beispiel „@angular/core“ oder „rxjs“. npm wird mit node.js zusammen installiert. Mit „npm -v“ prüft man die Version.</a:t>
            </a:r>
          </a:p>
          <a:p/>
          <a:p>
            <a:r>
              <a:t>Die Pakete liegen in einer „Registry“, also einem zentralen Verzeichnis im Internet. Die öffentliche Registry ist die größte Sammlung von Software-Paketen. Viele Firmen betreiben eine eigene Registry, zum Beispiel mit „Nexus“ oder „Artifactory“. Die Adresse trägt man in die Konfigurationsdatei „.npmrc“ ein.</a:t>
            </a:r>
          </a:p>
          <a:p/>
          <a:p>
            <a:r>
              <a:t>Das Diagramm zeigt den Weg eines Pakets von der Registry in das Projekt. Andere Paketmanager wie „pnpm“ und „Yarn“ funktionieren nach dem gleichen Prinzip.</a:t>
            </a:r>
          </a:p>
        </p:txBody>
      </p:sp>
      <p:sp>
        <p:nvSpPr>
          <p:cNvPr id="4" name="Slide Number Placeholder 3"/>
          <p:cNvSpPr>
            <a:spLocks noGrp="1"/>
          </p:cNvSpPr>
          <p:nvPr>
            <p:ph type="sldNum" idx="66"/>
          </p:nvPr>
        </p:nvSpPr>
        <p:spPr/>
      </p:sp>
    </p:spTree>
  </p:cSld>
  <p:clrMapOvr>
    <a:masterClrMapping/>
  </p:clrMapOvr>
</p:notes>
</file>

<file path=ppt/notesSlides/notesSlide5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„npm-Befehle im Überblick“.</a:t>
            </a:r>
          </a:p>
          <a:p/>
          <a:p>
            <a:r>
              <a:t>npm bedient man über die Kommandozeile. Die Folie zeigt die wichtigsten Befehle, die auf den nächsten Folien einzeln erklärt werden.</a:t>
            </a:r>
          </a:p>
          <a:p/>
          <a:p>
            <a:r>
              <a:t>„npm install“ installiert Abhängigkeiten. „npm ci“ installiert exakt den festgehaltenen Stand und ist für automatische Builds gedacht. „npm run“ startet ein Script aus der Datei „package.json“. „npm outdated“ zeigt veraltete Pakete, „npm update“ aktualisiert sie. „npm audit“ sucht nach bekannten Sicherheitslücken. Mit „npx“ startet man ein Werkzeug, ohne es fest zu installieren.</a:t>
            </a:r>
          </a:p>
          <a:p/>
          <a:p>
            <a:r>
              <a:t>Zu jedem Befehl gibt es eine Hilfe, zum Beispiel mit „npm help install“, und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5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install: Varianten“.</a:t>
            </a:r>
          </a:p>
          <a:p/>
          <a:p>
            <a:r>
              <a:t>Ohne weiteren Namen installiert „npm install“ alle Abhängigkeiten, die in der Datei „package.json“ stehen. Das macht man nach dem Klonen eines Projekts. „npm i“ ist die Kurzform.</a:t>
            </a:r>
          </a:p>
          <a:p/>
          <a:p>
            <a:r>
              <a:t>Mit einem Paketnamen fügt man ein neues Paket hinzu. npm trägt es automatisch in „package.json“ ein. Mit „-D“ landet es bei den Abhängigkeiten, die man nur zum Entwickeln braucht. Hinter dem „@“ kann man eine Version angeben. „npm uninstall“ entfernt ein Paket wieder.</a:t>
            </a:r>
          </a:p>
          <a:p/>
          <a:p>
            <a:r>
              <a:t>Mit „-g“ wird ein Paket global installiert, also für den ganzen Rechner. Das nutzt man für Werkzeuge wie die Angular CLI.</a:t>
            </a:r>
          </a:p>
        </p:txBody>
      </p:sp>
      <p:sp>
        <p:nvSpPr>
          <p:cNvPr id="4" name="Slide Number Placeholder 3"/>
          <p:cNvSpPr>
            <a:spLocks noGrp="1"/>
          </p:cNvSpPr>
          <p:nvPr>
            <p:ph type="sldNum" idx="66"/>
          </p:nvPr>
        </p:nvSpPr>
        <p:spPr/>
      </p:sp>
    </p:spTree>
  </p:cSld>
  <p:clrMapOvr>
    <a:masterClrMapping/>
  </p:clrMapOvr>
</p:notes>
</file>

<file path=ppt/notesSlides/notesSlide5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npm install im Detail macht“.</a:t>
            </a:r>
          </a:p>
          <a:p/>
          <a:p>
            <a:r>
              <a:t>Zuerst liest npm die Datei „package.json“. Dort steht, welche Pakete in welchen Versionsbereichen gebraucht werden. Dann schaut npm in die Datei „package-lock.json“. Steht dort schon eine passende, genaue Version, wird diese genommen. Sonst sucht npm die neueste Version, die zum Bereich passt.</a:t>
            </a:r>
          </a:p>
          <a:p/>
          <a:p>
            <a:r>
              <a:t>Danach lädt npm die Pakete aus der Registry oder nimmt sie aus dem lokalen Zwischenspeicher, dem „Cache“. Die Pakete werden in den Ordner „node_modules“ entpackt. Auch die Abhängigkeiten dieser Pakete werden mit installiert.</a:t>
            </a:r>
          </a:p>
          <a:p/>
          <a:p>
            <a:r>
              <a:t>Zum Schluss schreibt npm die genauen Versionen in „package-lock.json“. Ab jetzt liegen alle Pakete auf dem Rechner, und man kann ohne Internet weiterarbeiten.</a:t>
            </a:r>
          </a:p>
        </p:txBody>
      </p:sp>
      <p:sp>
        <p:nvSpPr>
          <p:cNvPr id="4" name="Slide Number Placeholder 3"/>
          <p:cNvSpPr>
            <a:spLocks noGrp="1"/>
          </p:cNvSpPr>
          <p:nvPr>
            <p:ph type="sldNum" idx="66"/>
          </p:nvPr>
        </p:nvSpPr>
        <p:spPr/>
      </p:sp>
    </p:spTree>
  </p:cSld>
  <p:clrMapOvr>
    <a:masterClrMapping/>
  </p:clrMapOvr>
</p:notes>
</file>

<file path=ppt/notesSlides/notesSlide5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install im Ablauf“.</a:t>
            </a:r>
          </a:p>
          <a:p/>
          <a:p>
            <a:r>
              <a:t>Das Diagramm zeigt „npm install“ am Beispiel des Pakets „rxjs“. Beteiligt sind npm, die beiden Dateien „package.json“ und „package-lock.json“, der Zwischenspeicher auf dem Rechner, die Registry im Internet und der Ordner „node_modules“.</a:t>
            </a:r>
          </a:p>
          <a:p/>
          <a:p>
            <a:r>
              <a:t>In Schritt 1 liest npm in der package.json, dass rxjs in einem Versionsbereich gebraucht wird. In den Schritten 2 und 3 schaut npm in der Lock-Datei nach und findet dort die genaue Version, die Download-Adresse und eine Prüfsumme. In den Schritten 4 und 5 sucht npm das Paket im Zwischenspeicher, findet es aber nicht.</a:t>
            </a:r>
          </a:p>
          <a:p/>
          <a:p>
            <a:r>
              <a:t>Deshalb lädt npm das Paket in den Schritten 6 und 7 aus der Registry und vergleicht die Prüfsumme. In Schritt 8 legt es eine Kopie im Zwischenspeicher ab; beim nächsten Projekt geht es dann ohne Internet. In Schritt 9 entpackt npm das Paket in „node_modules“, zusammen mit den Paketen, die rxjs selbst braucht. In Schritt 10 schreibt npm die Lock-Datei nur, wenn sich etwas geändert hat.</a:t>
            </a:r>
          </a:p>
        </p:txBody>
      </p:sp>
      <p:sp>
        <p:nvSpPr>
          <p:cNvPr id="4" name="Slide Number Placeholder 3"/>
          <p:cNvSpPr>
            <a:spLocks noGrp="1"/>
          </p:cNvSpPr>
          <p:nvPr>
            <p:ph type="sldNum" idx="66"/>
          </p:nvPr>
        </p:nvSpPr>
        <p:spPr/>
      </p:sp>
    </p:spTree>
  </p:cSld>
  <p:clrMapOvr>
    <a:masterClrMapping/>
  </p:clrMapOvr>
</p:notes>
</file>

<file path=ppt/notesSlides/notesSlide5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 oder global installieren?“.</a:t>
            </a:r>
          </a:p>
          <a:p/>
          <a:p>
            <a:r>
              <a:t>Der Normalfall ist die lokale Installation. Die Pakete landen im Ordner „node_modules“ des Projekts, und die Version steht in „package.json“. So arbeiten alle im Team mit denselben Versionen.</a:t>
            </a:r>
          </a:p>
          <a:p/>
          <a:p>
            <a:r>
              <a:t>Global installiert man nur allgemeine Werkzeuge, die man überall als Befehl aufrufen möchte, zum Beispiel die Angular CLI. Ruft man „ng“ in einem Angular-Projekt auf, verwendet die globale CLI aber automatisch die lokale CLI-Version des Projekts. So passt die Version immer zum Projekt.</a:t>
            </a:r>
          </a:p>
          <a:p/>
          <a:p>
            <a:r>
              <a:t>Wer gar nichts global installieren möchte, nutzt „npx“. Das kommt gleich noch.</a:t>
            </a:r>
          </a:p>
        </p:txBody>
      </p:sp>
      <p:sp>
        <p:nvSpPr>
          <p:cNvPr id="4" name="Slide Number Placeholder 3"/>
          <p:cNvSpPr>
            <a:spLocks noGrp="1"/>
          </p:cNvSpPr>
          <p:nvPr>
            <p:ph type="sldNum" idx="66"/>
          </p:nvPr>
        </p:nvSpPr>
        <p:spPr/>
      </p:sp>
    </p:spTree>
  </p:cSld>
  <p:clrMapOvr>
    <a:masterClrMapping/>
  </p:clrMapOvr>
</p:notes>
</file>

<file path=ppt/notesSlides/notesSlide5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ci oder npm install?“.</a:t>
            </a:r>
          </a:p>
          <a:p/>
          <a:p>
            <a:r>
              <a:t>Beide Befehle installieren Abhängigkeiten, aber mit unterschiedlichem Ziel. „npm install“ ist für die Entwicklung gedacht. Es behält den vorhandenen Ordner „node_modules“ und darf die Lock-Datei anpassen.</a:t>
            </a:r>
          </a:p>
          <a:p/>
          <a:p>
            <a:r>
              <a:t>„npm ci“ steht für „clean install“, also saubere Installation. Es löscht zuerst den Ordner „node_modules“ und installiert dann genau die Versionen aus „package-lock.json“. Es ändert keine Dateien. Passen „package.json“ und Lock-Datei nicht zusammen, bricht es mit einem Fehler ab.</a:t>
            </a:r>
          </a:p>
          <a:p/>
          <a:p>
            <a:r>
              <a:t>Deshalb nimmt man „npm ci“ auf Build-Servern und in der Pipeline. So wird immer genau der Stand gebaut, der im Repository liegt.</a:t>
            </a:r>
          </a:p>
        </p:txBody>
      </p:sp>
      <p:sp>
        <p:nvSpPr>
          <p:cNvPr id="4" name="Slide Number Placeholder 3"/>
          <p:cNvSpPr>
            <a:spLocks noGrp="1"/>
          </p:cNvSpPr>
          <p:nvPr>
            <p:ph type="sldNum" idx="66"/>
          </p:nvPr>
        </p:nvSpPr>
        <p:spPr/>
      </p:sp>
    </p:spTree>
  </p:cSld>
  <p:clrMapOvr>
    <a:masterClrMapping/>
  </p:clrMapOvr>
</p:notes>
</file>

<file path=ppt/notesSlides/notesSlide5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run: Scripts ausführen“.</a:t>
            </a:r>
          </a:p>
          <a:p/>
          <a:p>
            <a:r>
              <a:t>Oben steht der Block „scripts“ aus der Datei „package.json“ eines Übungsprojekts. Jedes Script hat einen Namen und einen Befehl. Mit „npm run“ und dem Namen wird der Befehl ausgeführt. Für „start“ und „test“ gibt es Kurzformen ohne „run“.</a:t>
            </a:r>
          </a:p>
          <a:p/>
          <a:p>
            <a:r>
              <a:t>Möchte man dem Befehl zusätzliche Argumente mitgeben, schreibt man sie hinter zwei Bindestriche. Alles danach reicht npm unverändert an den Befehl weiter.</a:t>
            </a:r>
          </a:p>
          <a:p/>
          <a:p>
            <a:r>
              <a:t>„npm run“ ohne Namen listet alle Scripts des Projekts auf.</a:t>
            </a:r>
          </a:p>
        </p:txBody>
      </p:sp>
      <p:sp>
        <p:nvSpPr>
          <p:cNvPr id="4" name="Slide Number Placeholder 3"/>
          <p:cNvSpPr>
            <a:spLocks noGrp="1"/>
          </p:cNvSpPr>
          <p:nvPr>
            <p:ph type="sldNum" idx="66"/>
          </p:nvPr>
        </p:nvSpPr>
        <p:spPr/>
      </p:sp>
    </p:spTree>
  </p:cSld>
  <p:clrMapOvr>
    <a:masterClrMapping/>
  </p:clrMapOvr>
</p:notes>
</file>

<file path=ppt/notesSlides/notesSlide5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Scripts den lokalen ng finden“.</a:t>
            </a:r>
          </a:p>
          <a:p/>
          <a:p>
            <a:r>
              <a:t>Viele Pakete bringen Befehle mit, zum Beispiel bringt „@angular/cli“ den Befehl „ng“ mit und „vitest“ den Befehl „vitest“. npm legt diese Befehle in den Ordner „node_modules/.bin“.</a:t>
            </a:r>
          </a:p>
          <a:p/>
          <a:p>
            <a:r>
              <a:t>Wenn „npm run“ ein Script startet, sucht es Befehle zuerst in diesem Ordner. Deshalb funktioniert „npm start“ auch dann, wenn die Angular CLI nicht global installiert ist. Und es läuft immer genau die Version, die zum Projekt gehört.</a:t>
            </a:r>
          </a:p>
          <a:p/>
          <a:p>
            <a:r>
              <a:t>Scripts sind außerdem eine gute Vereinbarung im Team: Jeder startet und testet mit denselben Befehlen, und die Pipeline auch.</a:t>
            </a:r>
          </a:p>
        </p:txBody>
      </p:sp>
      <p:sp>
        <p:nvSpPr>
          <p:cNvPr id="4" name="Slide Number Placeholder 3"/>
          <p:cNvSpPr>
            <a:spLocks noGrp="1"/>
          </p:cNvSpPr>
          <p:nvPr>
            <p:ph type="sldNum" idx="66"/>
          </p:nvPr>
        </p:nvSpPr>
        <p:spPr/>
      </p:sp>
    </p:spTree>
  </p:cSld>
  <p:clrMapOvr>
    <a:masterClrMapping/>
  </p:clrMapOvr>
</p:notes>
</file>

<file path=ppt/notesSlides/notesSlide5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outdated und npm update“.</a:t>
            </a:r>
          </a:p>
          <a:p/>
          <a:p>
            <a:r>
              <a:t>„npm outdated“ zeigt eine Tabelle der veralteten Pakete. Die Zahlen auf der Folie sind nur Beispiele. Die Spalte „Current“ zeigt die installierte Version. „Wanted“ ist die höchste Version, die der Versionsbereich in „package.json“ erlaubt. „Latest“ ist die neueste veröffentlichte Version.</a:t>
            </a:r>
          </a:p>
          <a:p/>
          <a:p>
            <a:r>
              <a:t>„npm update“ aktualisiert alle Pakete bis zur Spalte „Wanted“. Einen Sprung auf eine neue Hauptversion macht npm dabei nicht. Den muss man bewusst mit „npm install“ und der neuen Version durchführen.</a:t>
            </a:r>
          </a:p>
          <a:p/>
          <a:p>
            <a:r>
              <a:t>Für Angular selbst nimmt man „ng update“. Dieser Befehl aktualisiert alle Angular-Pakete gemeinsam und passt bei Bedarf auch den Code an.</a:t>
            </a:r>
          </a:p>
        </p:txBody>
      </p:sp>
      <p:sp>
        <p:nvSpPr>
          <p:cNvPr id="4" name="Slide Number Placeholder 3"/>
          <p:cNvSpPr>
            <a:spLocks noGrp="1"/>
          </p:cNvSpPr>
          <p:nvPr>
            <p:ph type="sldNum" idx="66"/>
          </p:nvPr>
        </p:nvSpPr>
        <p:spPr/>
      </p:sp>
    </p:spTree>
  </p:cSld>
  <p:clrMapOvr>
    <a:masterClrMapping/>
  </p:clrMapOvr>
</p:notes>
</file>

<file path=ppt/notesSlides/notesSlide5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audit: Sicherheitslücken finden“.</a:t>
            </a:r>
          </a:p>
          <a:p/>
          <a:p>
            <a:r>
              <a:t>„npm audit“ vergleicht die installierten Paketversionen mit einer Datenbank bekannter Sicherheitslücken. Für jede gefundene Lücke zeigt es das Paket, den Schweregrad von „low“, also niedrig, bis „critical“, also kritisch, und einen Vorschlag zur Behebung.</a:t>
            </a:r>
          </a:p>
          <a:p/>
          <a:p>
            <a:r>
              <a:t>„npm audit fix“ aktualisiert betroffene Pakete, solange das im erlaubten Versionsbereich möglich ist. Mit der Option „--force“ springt es auch auf neue Hauptversionen. Das kann die Anwendung kaputt machen. Diese Option sollte man deshalb nicht blind verwenden.</a:t>
            </a:r>
          </a:p>
          <a:p/>
          <a:p>
            <a:r>
              <a:t>Lücken in Paketen, die nur zum Entwickeln dienen, erreichen den Browser meist nicht. Man sollte sie trotzdem beheben. Am besten prüft man regelmäßig, zum Beispiel automatisch in der Pipeline.</a:t>
            </a:r>
          </a:p>
        </p:txBody>
      </p:sp>
      <p:sp>
        <p:nvSpPr>
          <p:cNvPr id="4" name="Slide Number Placeholder 3"/>
          <p:cNvSpPr>
            <a:spLocks noGrp="1"/>
          </p:cNvSpPr>
          <p:nvPr>
            <p:ph type="sldNum" idx="66"/>
          </p:nvPr>
        </p:nvSpPr>
        <p:spPr/>
      </p:sp>
    </p:spTree>
  </p:cSld>
  <p:clrMapOvr>
    <a:masterClrMapping/>
  </p:clrMapOvr>
</p:notes>
</file>

<file path=ppt/notesSlides/notesSlide5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„npx: Werkzeuge ohne Installation“.</a:t>
            </a:r>
          </a:p>
          <a:p/>
          <a:p>
            <a:r>
              <a:t>„npx“ wird zusammen mit npm installiert. Es führt den Befehl eines Pakets aus. Zuerst sucht es im Projekt im Ordner „node_modules/.bin“. Findet es den Befehl dort nicht, lädt es das Paket in einen Zwischenspeicher und führt es von dort aus.</a:t>
            </a:r>
          </a:p>
          <a:p/>
          <a:p>
            <a:r>
              <a:t>Der Kasten zeigt Beispiele. Mit „npx @angular/cli@21 new“ legt man ein neues Angular-Projekt an, ohne die CLI global zu installieren. Dabei wird genau die gewünschte Version verwendet. „npx ng version“ nutzt die CLI des aktuellen Projekts.</a:t>
            </a:r>
          </a:p>
          <a:p/>
          <a:p>
            <a:r>
              <a:t>Bevor npx ein unbekanntes Paket herunterlädt, fragt es nach. Man sollte dort nur Pakete bestätigen, die man kennt.</a:t>
            </a:r>
          </a:p>
        </p:txBody>
      </p:sp>
      <p:sp>
        <p:nvSpPr>
          <p:cNvPr id="4" name="Slide Number Placeholder 3"/>
          <p:cNvSpPr>
            <a:spLocks noGrp="1"/>
          </p:cNvSpPr>
          <p:nvPr>
            <p:ph type="sldNum" idx="66"/>
          </p:nvPr>
        </p:nvSpPr>
        <p:spPr/>
      </p:sp>
    </p:spTree>
  </p:cSld>
  <p:clrMapOvr>
    <a:masterClrMapping/>
  </p:clrMapOvr>
</p:notes>
</file>

<file path=ppt/notesSlides/notesSlide5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und package.json“ – Der letzte Teil des Anhangs zeigt, wie ein Paket aufgebaut ist. Im Mittelpunkt steht die Datei „package.json“, die jedes Projekt und jedes Paket beschreibt. Danach geht es um den Ordner „node_modules“ und um die zwei Modulsysteme von JavaScript.</a:t>
            </a:r>
          </a:p>
        </p:txBody>
      </p:sp>
      <p:sp>
        <p:nvSpPr>
          <p:cNvPr id="4" name="Slide Number Placeholder 3"/>
          <p:cNvSpPr>
            <a:spLocks noGrp="1"/>
          </p:cNvSpPr>
          <p:nvPr>
            <p:ph type="sldNum" idx="66"/>
          </p:nvPr>
        </p:nvSpPr>
        <p:spPr/>
      </p:sp>
    </p:spTree>
  </p:cSld>
  <p:clrMapOvr>
    <a:masterClrMapping/>
  </p:clrMapOvr>
</p:notes>
</file>

<file path=ppt/notesSlides/notesSlide5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 Datei „package.json“ ist die zentrale Beschreibung eines Projekts. Sie ist im JSON-Format geschrieben. „name“ und „version“ geben Namen und Version an. „private: true“ bedeutet, dass das Projekt nicht in der öffentlichen Registry veröffentlicht werden darf. Das schützt vor Versehen.</a:t>
            </a:r>
          </a:p>
          <a:p/>
          <a:p>
            <a:r>
              <a:t>Unter „scripts“ stehen die Kurzbefehle für „npm run“. Unter „dependencies“ und „devDependencies“ stehen die benötigten Pakete mit ihren Versionsbereichen.</a:t>
            </a:r>
          </a:p>
          <a:p/>
          <a:p>
            <a:r>
              <a:t>Daneben gibt es weitere Felder, zum Beispiel für Beschreibung, Autor und Lizenz. „main“ nennt die Einstiegsdatei eines Pakets, „type“ das Modulsystem und „engines“ die benötigte node-Version.</a:t>
            </a:r>
          </a:p>
        </p:txBody>
      </p:sp>
      <p:sp>
        <p:nvSpPr>
          <p:cNvPr id="4" name="Slide Number Placeholder 3"/>
          <p:cNvSpPr>
            <a:spLocks noGrp="1"/>
          </p:cNvSpPr>
          <p:nvPr>
            <p:ph type="sldNum" idx="66"/>
          </p:nvPr>
        </p:nvSpPr>
        <p:spPr/>
      </p:sp>
    </p:spTree>
  </p:cSld>
  <p:clrMapOvr>
    <a:masterClrMapping/>
  </p:clrMapOvr>
</p:notes>
</file>

<file path=ppt/notesSlides/notesSlide5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„package.json eines Übungsprojekts“.</a:t>
            </a:r>
          </a:p>
          <a:p/>
          <a:p>
            <a:r>
              <a:t>Das ist eine gekürzte Fassung der Datei „package.json“ aus dem Übungsprojekt „26_resourceApi“. Das Projekt heißt „invoice-app“ und ist als privat markiert. Die Scripts starten, bauen und testen die Anwendung.</a:t>
            </a:r>
          </a:p>
          <a:p/>
          <a:p>
            <a:r>
              <a:t>Unter „dependencies“ stehen die Pakete, die im Browser gebraucht werden: Angular selbst, „rxjs“ und „tslib“, eine kleine Hilfsbibliothek für übersetzten TypeScript-Code. Unter „devDependencies“ stehen die Werkzeuge: das Build-System, die CLI, TypeScript und Vitest für die Tests.</a:t>
            </a:r>
          </a:p>
          <a:p/>
          <a:p>
            <a:r>
              <a:t>Vor den Versionsnummern stehen die Zeichen Dach und Tilde. Was sie bedeuten, erklären die nächsten Folien.</a:t>
            </a:r>
          </a:p>
        </p:txBody>
      </p:sp>
      <p:sp>
        <p:nvSpPr>
          <p:cNvPr id="4" name="Slide Number Placeholder 3"/>
          <p:cNvSpPr>
            <a:spLocks noGrp="1"/>
          </p:cNvSpPr>
          <p:nvPr>
            <p:ph type="sldNum" idx="66"/>
          </p:nvPr>
        </p:nvSpPr>
        <p:spPr/>
      </p:sp>
    </p:spTree>
  </p:cSld>
  <p:clrMapOvr>
    <a:masterClrMapping/>
  </p:clrMapOvr>
</p:notes>
</file>

<file path=ppt/notesSlides/notesSlide5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„dependencies oder devDependencies?“.</a:t>
            </a:r>
          </a:p>
          <a:p/>
          <a:p>
            <a:r>
              <a:t>Unter „dependencies“ stehen Pakete, deren Code später in der Anwendung im Browser läuft, zum Beispiel Angular selbst und „rxjs“. Unter „devDependencies“ stehen Werkzeuge, die man nur zum Bauen, Testen und Prüfen braucht, zum Beispiel die CLI, TypeScript und Vitest.</a:t>
            </a:r>
          </a:p>
          <a:p/>
          <a:p>
            <a:r>
              <a:t>Ein normales „npm install“ installiert beide Gruppen. Mit der Option „--omit=dev“ lässt npm die Entwicklungs-Pakete weg. Das ist bei Server-Programmen wichtig, die direkt aus „node_modules“ laufen.</a:t>
            </a:r>
          </a:p>
          <a:p/>
          <a:p>
            <a:r>
              <a:t>Bei Angular ist die Trennung vor allem eine Ordnungshilfe. Was am Ende im Browser landet, bestimmt der Build: Er nimmt nur den Code, der wirklich importiert wird. Das Diagramm zeigt die beiden Gruppen.</a:t>
            </a:r>
          </a:p>
        </p:txBody>
      </p:sp>
      <p:sp>
        <p:nvSpPr>
          <p:cNvPr id="4" name="Slide Number Placeholder 3"/>
          <p:cNvSpPr>
            <a:spLocks noGrp="1"/>
          </p:cNvSpPr>
          <p:nvPr>
            <p:ph type="sldNum" idx="66"/>
          </p:nvPr>
        </p:nvSpPr>
        <p:spPr/>
      </p:sp>
    </p:spTree>
  </p:cSld>
  <p:clrMapOvr>
    <a:masterClrMapping/>
  </p:clrMapOvr>
</p:notes>
</file>

<file path=ppt/notesSlides/notesSlide5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„Versionsnummern: Semantic Versioning“.</a:t>
            </a:r>
          </a:p>
          <a:p/>
          <a:p>
            <a:r>
              <a:t>Fast alle npm-Pakete nutzen „Semantic Versioning“, abgekürzt „SemVer“. Das bedeutet „Versionsnummern mit Bedeutung“. Eine Version besteht aus drei Zahlen, getrennt durch Punkte.</a:t>
            </a:r>
          </a:p>
          <a:p/>
          <a:p>
            <a:r>
              <a:t>Die erste Zahl ist die Hauptversion, englisch „major“. Sie steigt, wenn sich etwas inkompatibel ändert und man eventuell seinen Code anpassen muss. Die zweite Zahl, „minor“, steigt bei neuen Funktionen, die alten Code nicht stören. Die dritte Zahl, „patch“, steigt bei reinen Fehlerkorrekturen.</a:t>
            </a:r>
          </a:p>
          <a:p/>
          <a:p>
            <a:r>
              <a:t>Vorabversionen haben einen Zusatz wie „next“ oder „rc“, das steht für „Release Candidate“, also Kandidat für die fertige Version. Angular bringt etwa alle sechs Monate eine neue Hauptversion heraus.</a:t>
            </a:r>
          </a:p>
        </p:txBody>
      </p:sp>
      <p:sp>
        <p:nvSpPr>
          <p:cNvPr id="4" name="Slide Number Placeholder 3"/>
          <p:cNvSpPr>
            <a:spLocks noGrp="1"/>
          </p:cNvSpPr>
          <p:nvPr>
            <p:ph type="sldNum" idx="66"/>
          </p:nvPr>
        </p:nvSpPr>
        <p:spPr/>
      </p:sp>
    </p:spTree>
  </p:cSld>
  <p:clrMapOvr>
    <a:masterClrMapping/>
  </p:clrMapOvr>
</p:notes>
</file>

<file path=ppt/notesSlides/notesSlide5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„Versionsbereiche: ^ und ~“.</a:t>
            </a:r>
          </a:p>
          <a:p/>
          <a:p>
            <a:r>
              <a:t>In der Datei „package.json“ steht meist keine genaue Version, sondern ein Bereich. Das Dach-Zeichen „^“ erlaubt alle Versionen mit derselben Hauptversion. „^21.0.0“ erlaubt also 21.0.6 oder 21.1.0, aber nicht 22.0.0.</a:t>
            </a:r>
          </a:p>
          <a:p/>
          <a:p>
            <a:r>
              <a:t>Die Tilde „~“ ist strenger. Sie erlaubt nur neue Patch-Versionen. „~5.9.0“ erlaubt 5.9.3, aber nicht 5.10.0. Steht kein Zeichen davor, ist genau diese eine Version gemeint.</a:t>
            </a:r>
          </a:p>
          <a:p/>
          <a:p>
            <a:r>
              <a:t>Bei Hauptversion 0 gilt eine Sonderregel: Dort gilt schon die zweite Zahl als inkompatibel. TypeScript wird in Angular-Projekten mit Tilde eingetragen, weil jede Angular-Version nur bestimmte TypeScript-Versionen unterstützt.</a:t>
            </a:r>
          </a:p>
        </p:txBody>
      </p:sp>
      <p:sp>
        <p:nvSpPr>
          <p:cNvPr id="4" name="Slide Number Placeholder 3"/>
          <p:cNvSpPr>
            <a:spLocks noGrp="1"/>
          </p:cNvSpPr>
          <p:nvPr>
            <p:ph type="sldNum" idx="66"/>
          </p:nvPr>
        </p:nvSpPr>
        <p:spPr/>
      </p:sp>
    </p:spTree>
  </p:cSld>
  <p:clrMapOvr>
    <a:masterClrMapping/>
  </p:clrMapOvr>
</p:notes>
</file>

<file path=ppt/notesSlides/notesSlide5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„package-lock.json“.</a:t>
            </a:r>
          </a:p>
          <a:p/>
          <a:p>
            <a:r>
              <a:t>Die Datei „package.json“ enthält nur Versionsbereiche. Die Datei „package-lock.json“ enthält dagegen den genauen Stand: Für jedes installierte Paket die exakte Version, die Download-Adresse und eine Prüfsumme. Mit der Prüfsumme erkennt npm, ob ein Paket verändert wurde. Auch alle indirekten Abhängigkeiten stehen darin, also die Pakete, die von anderen Paketen gebraucht werden.</a:t>
            </a:r>
          </a:p>
          <a:p/>
          <a:p>
            <a:r>
              <a:t>Die Datei wird von npm geschrieben und nicht von Hand bearbeitet. Sie gehört unbedingt mit ins Versionsverwaltungssystem, zum Beispiel Git. Nur so bauen alle Entwickler und der Build-Server mit denselben Versionen. „npm ci“ funktioniert ohne sie gar nicht.</a:t>
            </a:r>
          </a:p>
          <a:p/>
          <a:p>
            <a:r>
              <a:t>Gibt es beim Zusammenführen von Branches einen Konflikt in dieser Datei, übernimmt man die Fassung des Ziel-Branches und führt „npm install“ aus. npm ergänzt dann die fehlenden Einträge.</a:t>
            </a:r>
          </a:p>
        </p:txBody>
      </p:sp>
      <p:sp>
        <p:nvSpPr>
          <p:cNvPr id="4" name="Slide Number Placeholder 3"/>
          <p:cNvSpPr>
            <a:spLocks noGrp="1"/>
          </p:cNvSpPr>
          <p:nvPr>
            <p:ph type="sldNum" idx="66"/>
          </p:nvPr>
        </p:nvSpPr>
        <p:spPr/>
      </p:sp>
    </p:spTree>
  </p:cSld>
  <p:clrMapOvr>
    <a:masterClrMapping/>
  </p:clrMapOvr>
</p:notes>
</file>

<file path=ppt/notesSlides/notesSlide5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eigenes Projekt anlegen: npm init“.</a:t>
            </a:r>
          </a:p>
          <a:p/>
          <a:p>
            <a:r>
              <a:t>Jedes Projekt, das npm verwendet, ist selbst ein Paket. Man legt es mit „npm init“ an. Der Befehl fragt nacheinander den Namen, die Version, die Beschreibung und weitere Angaben ab und schreibt daraus eine neue Datei „package.json“. Mit „npm init -y“ werden alle Fragen mit den Vorgabewerten beantwortet.</a:t>
            </a:r>
          </a:p>
          <a:p/>
          <a:p>
            <a:r>
              <a:t>Danach installiert man die benötigten Pakete, zum Beispiel „express“. Der Kasten zeigt diese Schritte.</a:t>
            </a:r>
          </a:p>
          <a:p/>
          <a:p>
            <a:r>
              <a:t>Bei Angular-Projekten macht man das nicht von Hand. „ng new“ erzeugt die Datei „package.json“ mit allen Abhängigkeiten und Scripts und führt „npm install“ automatisch aus.</a:t>
            </a:r>
          </a:p>
        </p:txBody>
      </p:sp>
      <p:sp>
        <p:nvSpPr>
          <p:cNvPr id="4" name="Slide Number Placeholder 3"/>
          <p:cNvSpPr>
            <a:spLocks noGrp="1"/>
          </p:cNvSpPr>
          <p:nvPr>
            <p:ph type="sldNum" idx="66"/>
          </p:nvPr>
        </p:nvSpPr>
        <p:spPr/>
      </p:sp>
    </p:spTree>
  </p:cSld>
  <p:clrMapOvr>
    <a:masterClrMapping/>
  </p:clrMapOvr>
</p:notes>
</file>

<file path=ppt/notesSlides/notesSlide5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package.json nach npm init“.</a:t>
            </a:r>
          </a:p>
          <a:p/>
          <a:p>
            <a:r>
              <a:t>Diese Datei entsteht ungefähr so durch „npm init“. Sie enthält Name, Version und Beschreibung des Projekts. „main“ nennt die Einstiegsdatei „index.js“. Diese Datei wird geladen, wenn jemand das Paket benutzt.</a:t>
            </a:r>
          </a:p>
          <a:p/>
          <a:p>
            <a:r>
              <a:t>„type“ gibt das Modulsystem an. Der Wert „commonjs“ bedeutet: Dateien mit der Endung „.js“ nutzen „require“. Ein „start“-Script wurde ergänzt. Das „test“-Script ist nur ein Platzhalter, der eine Fehlermeldung ausgibt.</a:t>
            </a:r>
          </a:p>
          <a:p/>
          <a:p>
            <a:r>
              <a:t>„engines“ wurde hier zusätzlich eingetragen. Es dokumentiert, welche node-Version das Projekt braucht.</a:t>
            </a:r>
          </a:p>
        </p:txBody>
      </p:sp>
      <p:sp>
        <p:nvSpPr>
          <p:cNvPr id="4" name="Slide Number Placeholder 3"/>
          <p:cNvSpPr>
            <a:spLocks noGrp="1"/>
          </p:cNvSpPr>
          <p:nvPr>
            <p:ph type="sldNum" idx="66"/>
          </p:nvPr>
        </p:nvSpPr>
        <p:spPr/>
      </p:sp>
    </p:spTree>
  </p:cSld>
  <p:clrMapOvr>
    <a:masterClrMapping/>
  </p:clrMapOvr>
</p:notes>
</file>

<file path=ppt/notesSlides/notesSlide5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Ordner node_modules“.</a:t>
            </a:r>
          </a:p>
          <a:p/>
          <a:p>
            <a:r>
              <a:t>Im Ordner „node_modules“ liegen alle installierten Pakete. Jedes Paket hat dort einen eigenen Unterordner mit einer eigenen „package.json“. Pakete mit einem „@“ am Anfang, wie „@angular/core“, liegen in einem gemeinsamen Ordner, hier „@angular“.</a:t>
            </a:r>
          </a:p>
          <a:p/>
          <a:p>
            <a:r>
              <a:t>npm legt die Pakete möglichst flach ab. Auch die Abhängigkeiten von Abhängigkeiten liegen meist direkt in „node_modules“. Nur wenn zwei Pakete verschiedene Versionen desselben Pakets brauchen, entsteht ein verschachtelter Ordner. Der Ordner „.bin“ enthält die Befehle der Pakete.</a:t>
            </a:r>
          </a:p>
          <a:p/>
          <a:p>
            <a:r>
              <a:t>Der Ordner ist sehr groß und wird nie eingecheckt, sondern in „.gitignore“ eingetragen. Man kann ihn jederzeit löschen und mit „npm install“ oder „npm ci“ neu erzeugen. Das hilft oft bei merkwürdigen Fehlern.</a:t>
            </a:r>
          </a:p>
        </p:txBody>
      </p:sp>
      <p:sp>
        <p:nvSpPr>
          <p:cNvPr id="4" name="Slide Number Placeholder 3"/>
          <p:cNvSpPr>
            <a:spLocks noGrp="1"/>
          </p:cNvSpPr>
          <p:nvPr>
            <p:ph type="sldNum" idx="66"/>
          </p:nvPr>
        </p:nvSpPr>
        <p:spPr/>
      </p:sp>
    </p:spTree>
  </p:cSld>
  <p:clrMapOvr>
    <a:masterClrMapping/>
  </p:clrMapOvr>
</p:notes>
</file>

<file path=ppt/notesSlides/notesSlide5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„Aufbau eines Pakets“.</a:t>
            </a:r>
          </a:p>
          <a:p/>
          <a:p>
            <a:r>
              <a:t>Jedes Paket in „node_modules“ ist selbst ein Node-Module mit eigener „package.json“. Darin stehen Name, Version und die Pakete, die es selbst braucht. npm installiert diese automatisch mit.</a:t>
            </a:r>
          </a:p>
          <a:p/>
          <a:p>
            <a:r>
              <a:t>Wichtig ist der Einstiegspunkt. Das Feld „main“ oder das neuere Feld „exports“ legt fest, welche Datei geladen wird, wenn man das Paket über seinen Namen importiert. Mit „exports“ kann ein Paket außerdem steuern, welche Teile von außen sichtbar sind.</a:t>
            </a:r>
          </a:p>
          <a:p/>
          <a:p>
            <a:r>
              <a:t>Das Feld „types“ zeigt auf die TypeScript-Typbeschreibungen, die Dateien mit der Endung „.d.ts“. Daher kennt der Editor die Funktionen und Parameter eines Pakets.</a:t>
            </a:r>
          </a:p>
        </p:txBody>
      </p:sp>
      <p:sp>
        <p:nvSpPr>
          <p:cNvPr id="4" name="Slide Number Placeholder 3"/>
          <p:cNvSpPr>
            <a:spLocks noGrp="1"/>
          </p:cNvSpPr>
          <p:nvPr>
            <p:ph type="sldNum" idx="66"/>
          </p:nvPr>
        </p:nvSpPr>
        <p:spPr/>
      </p:sp>
    </p:spTree>
  </p:cSld>
  <p:clrMapOvr>
    <a:masterClrMapping/>
  </p:clrMapOvr>
</p:notes>
</file>

<file path=ppt/notesSlides/notesSlide5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„CommonJS und ES-Module“.</a:t>
            </a:r>
          </a:p>
          <a:p/>
          <a:p>
            <a:r>
              <a:t>Ein „Modul“ ist eine Datei, die bestimmte Dinge nach außen freigibt, und andere Dateien können diese Dinge laden. In JavaScript gibt es dafür zwei Systeme.</a:t>
            </a:r>
          </a:p>
          <a:p/>
          <a:p>
            <a:r>
              <a:t>„CommonJS“ ist das ältere, klassische System von node.js. Man lädt mit „require“ und gibt mit „module.exports“ frei. Das Laden passiert sofort beim Aufruf.</a:t>
            </a:r>
          </a:p>
          <a:p/>
          <a:p>
            <a:r>
              <a:t>„ES-Module“ sind der offizielle Standard der Sprache seit 2015. Man schreibt „import“ und „export“. Diese Schreibweise kennen wir aus TypeScript und aus jeder Angular-Datei. Browser verstehen ES-Module direkt, und auch neue node-Projekte verwenden sie immer häufiger. Das Diagramm stellt die beiden Schreibweisen gegenüber.</a:t>
            </a:r>
          </a:p>
        </p:txBody>
      </p:sp>
      <p:sp>
        <p:nvSpPr>
          <p:cNvPr id="4" name="Slide Number Placeholder 3"/>
          <p:cNvSpPr>
            <a:spLocks noGrp="1"/>
          </p:cNvSpPr>
          <p:nvPr>
            <p:ph type="sldNum" idx="66"/>
          </p:nvPr>
        </p:nvSpPr>
        <p:spPr/>
      </p:sp>
    </p:spTree>
  </p:cSld>
  <p:clrMapOvr>
    <a:masterClrMapping/>
  </p:clrMapOvr>
</p:notes>
</file>

<file path=ppt/notesSlides/notesSlide5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„Woran node.js das Modulsystem erkennt“.</a:t>
            </a:r>
          </a:p>
          <a:p/>
          <a:p>
            <a:r>
              <a:t>node.js muss wissen, ob eine Datei CommonJS oder ein ES-Modul ist. Die Endung „.mjs“ bedeutet immer ES-Modul, die Endung „.cjs“ immer CommonJS.</a:t>
            </a:r>
          </a:p>
          <a:p/>
          <a:p>
            <a:r>
              <a:t>Bei der normalen Endung „.js“ schaut node.js in die nächstgelegene Datei „package.json“. Steht dort „type“ mit dem Wert „module“, gilt die Datei als ES-Modul. Sonst gilt sie als CommonJS.</a:t>
            </a:r>
          </a:p>
          <a:p/>
          <a:p>
            <a:r>
              <a:t>Bei ES-Modulen verlangt node.js beim Import eigener Dateien die vollständige Dateiendung, also zum Beispiel „./gruss.js“. In Angular-Projekten lässt man die Endung weg, weil dort das Build-Werkzeug die Dateien auflöst. Neuere node-Versionen, zum Beispiel ab 20.19 und 22.12, können ES-Module auch mit „require“ laden.</a:t>
            </a:r>
          </a:p>
        </p:txBody>
      </p:sp>
      <p:sp>
        <p:nvSpPr>
          <p:cNvPr id="4" name="Slide Number Placeholder 3"/>
          <p:cNvSpPr>
            <a:spLocks noGrp="1"/>
          </p:cNvSpPr>
          <p:nvPr>
            <p:ph type="sldNum" idx="66"/>
          </p:nvPr>
        </p:nvSpPr>
        <p:spPr/>
      </p:sp>
    </p:spTree>
  </p:cSld>
  <p:clrMapOvr>
    <a:masterClrMapping/>
  </p:clrMapOvr>
</p:notes>
</file>

<file path=ppt/notesSlides/notesSlide5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„Eigenes Modul mit CommonJS“.</a:t>
            </a:r>
          </a:p>
          <a:p/>
          <a:p>
            <a:r>
              <a:t>Die Datei „gruss.js“ ist ein Modul. Sie enthält eine Konstante „anrede“ und eine Funktion „gruesse“. Am Ende wird „module.exports“ ein Objekt zugewiesen. Nur was in diesem Objekt steht, ist von außen sichtbar. Die Konstante „anrede“ bleibt privat.</a:t>
            </a:r>
          </a:p>
          <a:p/>
          <a:p>
            <a:r>
              <a:t>Die Datei „app.js“ lädt das Modul mit „require“. Der Pfad beginnt mit „./“, das heißt: eine eigene Datei im selben Ordner. „require“ gibt genau das Objekt zurück, das das Modul in „module.exports“ geschrieben hat. Darüber ruft man dann die Funktion auf.</a:t>
            </a:r>
          </a:p>
          <a:p/>
          <a:p>
            <a:r>
              <a:t>In der letzten Zeile wird mit geschweiften Klammern nur die Funktion herausgeholt. Das nennt man „Destrukturierung“.</a:t>
            </a:r>
          </a:p>
        </p:txBody>
      </p:sp>
      <p:sp>
        <p:nvSpPr>
          <p:cNvPr id="4" name="Slide Number Placeholder 3"/>
          <p:cNvSpPr>
            <a:spLocks noGrp="1"/>
          </p:cNvSpPr>
          <p:nvPr>
            <p:ph type="sldNum" idx="66"/>
          </p:nvPr>
        </p:nvSpPr>
        <p:spPr/>
      </p:sp>
    </p:spTree>
  </p:cSld>
  <p:clrMapOvr>
    <a:masterClrMapping/>
  </p:clrMapOvr>
</p:notes>
</file>

<file path=ppt/notesSlides/notesSlide5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„Dasselbe Modul als ES-Modul“.</a:t>
            </a:r>
          </a:p>
          <a:p/>
          <a:p>
            <a:r>
              <a:t>Hier ist dasselbe Modul in der Schreibweise der ES-Module. Statt alles am Ende in „module.exports“ zu sammeln, steht „export“ direkt vor der Funktion und vor der Konstante „version“. Das nennt man „benannte Exporte“.</a:t>
            </a:r>
          </a:p>
          <a:p/>
          <a:p>
            <a:r>
              <a:t>Die Datei „app.mjs“ holt mit „import“ und geschweiften Klammern genau diese Namen. In node.js muss man dabei die Dateiendung angeben. Durch die Endung „.mjs“ weiß node.js, dass es ES-Module sind.</a:t>
            </a:r>
          </a:p>
          <a:p/>
          <a:p>
            <a:r>
              <a:t>Unten sieht man, dass man auch eingebaute Module mit „node:“ am Anfang und installierte Pakete wie „rxjs“ so importiert. Diese Schreibweise entspricht dem, was wir in jeder Angular-Datei verwenden.</a:t>
            </a:r>
          </a:p>
        </p:txBody>
      </p:sp>
      <p:sp>
        <p:nvSpPr>
          <p:cNvPr id="4" name="Slide Number Placeholder 3"/>
          <p:cNvSpPr>
            <a:spLocks noGrp="1"/>
          </p:cNvSpPr>
          <p:nvPr>
            <p:ph type="sldNum" idx="66"/>
          </p:nvPr>
        </p:nvSpPr>
        <p:spPr/>
      </p:sp>
    </p:spTree>
  </p:cSld>
  <p:clrMapOvr>
    <a:masterClrMapping/>
  </p:clrMapOvr>
</p:notes>
</file>

<file path=ppt/notesSlides/notesSlide5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beim Laden eines Moduls passiert“.</a:t>
            </a:r>
          </a:p>
          <a:p/>
          <a:p>
            <a:r>
              <a:t>Wird ein Modul zum ersten Mal geladen, führt node.js seinen Code genau einmal aus. Das Ergebnis, also die Exporte, wird zwischengespeichert. Lädt eine andere Datei dasselbe Modul noch einmal, bekommt sie dasselbe Objekt und der Code läuft nicht erneut.</a:t>
            </a:r>
          </a:p>
          <a:p/>
          <a:p>
            <a:r>
              <a:t>Jedes Modul hat seinen eigenen Gültigkeitsbereich. Variablen, die man nicht exportiert, sind von außen nicht erreichbar. So kommen sich verschiedene Dateien nicht in die Quere.</a:t>
            </a:r>
          </a:p>
          <a:p/>
          <a:p>
            <a:r>
              <a:t>Das gilt genauso für TypeScript-Dateien in Angular: Jede Datei ist ein Modul, und nur was mit „export“ markiert ist, können andere Dateien importieren.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5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„require im Ablauf“.</a:t>
            </a:r>
          </a:p>
          <a:p/>
          <a:p>
            <a:r>
              <a:t>Das Diagramm zeigt, was bei „require“ im Beispiel mit „app.js“ und „gruss.js“ passiert. Beteiligt sind das Programm, die Funktion „require“ von node.js, der Zwischenspeicher für Module, das Dateisystem und das Modul „gruss.js“.</a:t>
            </a:r>
          </a:p>
          <a:p/>
          <a:p>
            <a:r>
              <a:t>In Schritt 1 fordert das Programm das Modul an. Weil der Pfad mit „./“ beginnt, sucht node.js die Datei in Schritt 2 im Ordner von app.js. In den Schritten 3 und 4 prüft node.js, ob das Modul schon geladen wurde. Das ist nicht der Fall, also führt node.js in Schritt 5 den Code von gruss.js einmal aus. Das Modul gibt in Schritt 6 seine Exporte zurück, und node.js speichert sie in Schritt 7. In Schritt 8 bekommt das Programm das Objekt.</a:t>
            </a:r>
          </a:p>
          <a:p/>
          <a:p>
            <a:r>
              <a:t>Ruft irgendein Teil des Programms in Schritt 9 erneut „require“ für dieselbe Datei auf, kommt in Schritt 10 direkt das gespeicherte Objekt zurück. Der Code des Moduls läuft nicht noch einmal. Bei ES-Modulen mit „import“ ist das genauso.</a:t>
            </a:r>
          </a:p>
        </p:txBody>
      </p:sp>
      <p:sp>
        <p:nvSpPr>
          <p:cNvPr id="4" name="Slide Number Placeholder 3"/>
          <p:cNvSpPr>
            <a:spLocks noGrp="1"/>
          </p:cNvSpPr>
          <p:nvPr>
            <p:ph type="sldNum" idx="66"/>
          </p:nvPr>
        </p:nvSpPr>
        <p:spPr/>
      </p:sp>
    </p:spTree>
  </p:cSld>
  <p:clrMapOvr>
    <a:masterClrMapping/>
  </p:clrMapOvr>
</p:notes>
</file>

<file path=ppt/notesSlides/notesSlide5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node.js ein Modul findet“.</a:t>
            </a:r>
          </a:p>
          <a:p/>
          <a:p>
            <a:r>
              <a:t>Beginnt der Pfad mit einem Punkt und Schrägstrich, also „./“ oder „../“, sucht node.js eine eigene Datei relativ zur aktuellen Datei.</a:t>
            </a:r>
          </a:p>
          <a:p/>
          <a:p>
            <a:r>
              <a:t>Beginnt der Name mit „node:“, ist ein eingebautes Modul gemeint, zum Beispiel „node:fs“. Steht nur ein Name wie „rxjs“ oder „express“ da, sucht node.js ein Paket im Ordner „node_modules“. Zuerst im Ordner der aktuellen Datei, dann Ordner für Ordner nach oben. Im gefundenen Paket legen die Felder „exports“ oder „main“ der „package.json“ fest, welche Datei geladen wird.</a:t>
            </a:r>
          </a:p>
          <a:p/>
          <a:p>
            <a:r>
              <a:t>Findet node.js nichts, kommt der Fehler „Cannot find module“. Meist fehlt dann ein „npm install“. Das Diagramm zeigt die Suche.</a:t>
            </a:r>
          </a:p>
        </p:txBody>
      </p:sp>
      <p:sp>
        <p:nvSpPr>
          <p:cNvPr id="4" name="Slide Number Placeholder 3"/>
          <p:cNvSpPr>
            <a:spLocks noGrp="1"/>
          </p:cNvSpPr>
          <p:nvPr>
            <p:ph type="sldNum" idx="66"/>
          </p:nvPr>
        </p:nvSpPr>
        <p:spPr/>
      </p:sp>
    </p:spTree>
  </p:cSld>
  <p:clrMapOvr>
    <a:masterClrMapping/>
  </p:clrMapOvr>
</p:notes>
</file>

<file path=ppt/notesSlides/notesSlide5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„Zusammenfassung Anhang“.</a:t>
            </a:r>
          </a:p>
          <a:p/>
          <a:p>
            <a:r>
              <a:t>node.js führt JavaScript außerhalb des Browsers aus. Es nutzt die V8-Engine und eine Event Loop für nicht blockierende Ein- und Ausgabe. Für Angular ist node.js das Fundament der Werkzeuge: CLI, Build, Entwicklungs-Server und Tests. Im Browser läuft am Ende nur das gebaute Ergebnis.</a:t>
            </a:r>
          </a:p>
          <a:p/>
          <a:p>
            <a:r>
              <a:t>npm lädt Pakete aus einer Registry. Die wichtigsten Befehle sind „install“, „ci“, „run“, „update“, „audit“ und „npx“. Die Datei „package.json“ beschreibt das Projekt mit Versionsbereichen, Scripts und den beiden Gruppen von Abhängigkeiten. Die Datei „package-lock.json“ hält den genauen Stand fest und wird immer eingecheckt. Der Ordner „node_modules“ wird nie eingecheckt.</a:t>
            </a:r>
          </a:p>
          <a:p/>
          <a:p>
            <a:r>
              <a:t>Schließlich gibt es zwei Modulsysteme: das klassische CommonJS mit „require“ und die ES-Module mit „import“ und „export“, die wir aus Angular kennen.</a:t>
            </a:r>
          </a:p>
        </p:txBody>
      </p:sp>
      <p:sp>
        <p:nvSpPr>
          <p:cNvPr id="4" name="Slide Number Placeholder 3"/>
          <p:cNvSpPr>
            <a:spLocks noGrp="1"/>
          </p:cNvSpPr>
          <p:nvPr>
            <p:ph type="sldNum" idx="66"/>
          </p:nvPr>
        </p:nvSpPr>
        <p:spPr/>
      </p:sp>
    </p:spTree>
  </p:cSld>
  <p:clrMapOvr>
    <a:masterClrMapping/>
  </p:clrMapOvr>
</p:notes>
</file>

<file path=ppt/notesSlides/notesSlide5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„Vom Quelltext zum Browser“.</a:t>
            </a:r>
          </a:p>
          <a:p/>
          <a:p>
            <a:r>
              <a:t>Erklärung für die Dolmetscherin:</a:t>
            </a:r>
          </a:p>
          <a:p>
            <a:r>
              <a:t>TypeScript ist eine Programmiersprache, die auf JavaScript aufbaut. Wir schreiben Dateien mit der Endung „.ts“. Ein Browser kann diese Dateien aber nicht lesen, denn er versteht nur JavaScript. Deshalb gibt es den „Compiler“. Das ist ein Übersetzungsprogramm. Es heißt „tsc“ und macht aus einer TypeScript-Datei eine JavaScript-Datei mit der Endung „.js“.</a:t>
            </a:r>
          </a:p>
          <a:p/>
          <a:p>
            <a:r>
              <a:t>Beim Übersetzen werden alle Typen entfernt. Ein „Typ“ ist die Angabe, welche Art von Wert eine Variable hat, zum Beispiel Text oder Zahl. Die Typen helfen nur uns beim Schreiben, im fertigen Programm sind sie nicht mehr vorhanden. Im Angular-Projekt führt die Angular CLI, das Kommandozeilenwerkzeug von Angular, dieses Übersetzen automatisch aus.</a:t>
            </a:r>
          </a:p>
          <a:p/>
          <a:p>
            <a:r>
              <a:t>Wichtig ist der Unterschied: Das Prüfen der Typen sucht nur nach Fehlern. Das Ausführen des Programms ist ein eigener Schritt.</a:t>
            </a:r>
          </a:p>
        </p:txBody>
      </p:sp>
      <p:sp>
        <p:nvSpPr>
          <p:cNvPr id="4" name="Slide Number Placeholder 3"/>
          <p:cNvSpPr>
            <a:spLocks noGrp="1"/>
          </p:cNvSpPr>
          <p:nvPr>
            <p:ph type="sldNum" idx="66"/>
          </p:nvPr>
        </p:nvSpPr>
        <p:spPr/>
      </p:sp>
    </p:spTree>
  </p:cSld>
  <p:clrMapOvr>
    <a:masterClrMapping/>
  </p:clrMapOvr>
</p:notes>
</file>

<file path=ppt/notesSlides/notesSlide5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Kursordner und die Befehle“.</a:t>
            </a:r>
          </a:p>
          <a:p/>
          <a:p>
            <a:r>
              <a:t>Erklärung für die Dolmetscherin:</a:t>
            </a:r>
          </a:p>
          <a:p>
            <a:r>
              <a:t>Für die kleinen Übungen im TypeScript-Teil gibt es einen eigenen Ordner mit dem Namen „01_typescript_primer“. Dort führen wir einmal den Befehl „npm install“ aus. „npm“ ist das Programm, das Zusatzpakete für JavaScript-Projekte installiert.</a:t>
            </a:r>
          </a:p>
          <a:p/>
          <a:p>
            <a:r>
              <a:t>Mit „npm run check“ prüfen wir alle Typen. Es wird dabei nichts ausgeführt, wir bekommen nur eine Liste der Fehler. „npm run watch“ macht dasselbe und wiederholt die Prüfung automatisch, sobald wir eine Datei speichern. Mit „npm start“ und dem Dateinamen führen wir eine Datei aus.</a:t>
            </a:r>
          </a:p>
          <a:p/>
          <a:p>
            <a:r>
              <a:t>Sehr wichtig: „npm start“ führt das Programm aus, ohne die Typen zu prüfen. Typfehler sehen wir also nur im Editor an den roten Wellenlinien und bei „npm run check“. Beides gehört zur Arbeit dazu. Die Aufgaben stehen im Unterordner „src“, die Musterlösungen im Unterordner „loesung“.</a:t>
            </a:r>
          </a:p>
        </p:txBody>
      </p:sp>
      <p:sp>
        <p:nvSpPr>
          <p:cNvPr id="4" name="Slide Number Placeholder 3"/>
          <p:cNvSpPr>
            <a:spLocks noGrp="1"/>
          </p:cNvSpPr>
          <p:nvPr>
            <p:ph type="sldNum" idx="66"/>
          </p:nvPr>
        </p:nvSpPr>
        <p:spPr/>
      </p:sp>
    </p:spTree>
  </p:cSld>
  <p:clrMapOvr>
    <a:masterClrMapping/>
  </p:clrMapOvr>
</p:notes>
</file>

<file path=ppt/notesSlides/notesSlide5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„tsconfig.json der Invoice-App“.</a:t>
            </a:r>
          </a:p>
          <a:p/>
          <a:p>
            <a:r>
              <a:t>Die Datei „tsconfig.json“ ist die Einstellungsdatei für den TypeScript-Compiler. Hier sehen wir die wichtigsten Optionen aus der Invoice-App, dem Beispielprojekt dieses Kurses.</a:t>
            </a:r>
          </a:p>
          <a:p/>
          <a:p>
            <a:r>
              <a:t>„strict“ bedeutet: Der Compiler prüft besonders streng. Zum Beispiel muss ausdrücklich erlaubt sein, dass ein Wert fehlen darf, und Parameter ohne Typ sind verboten. „noImplicitReturns“ meldet einen Fehler, wenn eine Funktion nicht in jedem Fall einen Wert zurückgibt. „noFallthroughCasesInSwitch“ verhindert vergessene Abbrüche in einer Mehrfachauswahl.</a:t>
            </a:r>
          </a:p>
          <a:p/>
          <a:p>
            <a:r>
              <a:t>„target“ mit dem Wert „ES2022“ legt fest, welche JavaScript-Version erzeugt wird. „experimentalDecorators“ erlaubt Dekoratoren, das sind die Markierungen mit einem At-Zeichen wie „@Component“. Die Option „strictTemplates“ gehört zu Angular und prüft auch die Typen in den HTML-Vorlagen.</a:t>
            </a:r>
          </a:p>
        </p:txBody>
      </p:sp>
      <p:sp>
        <p:nvSpPr>
          <p:cNvPr id="4" name="Slide Number Placeholder 3"/>
          <p:cNvSpPr>
            <a:spLocks noGrp="1"/>
          </p:cNvSpPr>
          <p:nvPr>
            <p:ph type="sldNum" idx="66"/>
          </p:nvPr>
        </p:nvSpPr>
        <p:spPr/>
      </p:sp>
    </p:spTree>
  </p:cSld>
  <p:clrMapOvr>
    <a:masterClrMapping/>
  </p:clrMapOvr>
</p:notes>
</file>

<file path=ppt/notesSlides/notesSlide5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„Ein erster Typfehler“.</a:t>
            </a:r>
          </a:p>
          <a:p/>
          <a:p>
            <a:r>
              <a:t>Die Funktion „greet“ begrüßt einen Kunden. Sie hat zwei Parameter, also Eingabewerte: den Vornamen und den Nachnamen. Beide sind mit dem Typ „string“ angegeben. Ein „string“ ist ein Text. Auch der Rückgabewert der Funktion ist ein Text.</a:t>
            </a:r>
          </a:p>
          <a:p/>
          <a:p>
            <a:r>
              <a:t>Der erste Aufruf mit „Lisa“ und „Simpson“ ist richtig. Beim zweiten Aufruf übergeben wir als Nachnamen die Zahl 42. Der Compiler meldet sofort den Fehler mit der Nummer „TS2345“: Eine Zahl passt nicht zu einem Parameter vom Typ Text. Dieser Fehler erscheint schon beim Schreiben im Editor, nicht erst, wenn das Programm läuft. Genau dafür benutzen wir TypeScript.</a:t>
            </a:r>
          </a:p>
        </p:txBody>
      </p:sp>
      <p:sp>
        <p:nvSpPr>
          <p:cNvPr id="4" name="Slide Number Placeholder 3"/>
          <p:cNvSpPr>
            <a:spLocks noGrp="1"/>
          </p:cNvSpPr>
          <p:nvPr>
            <p:ph type="sldNum" idx="66"/>
          </p:nvPr>
        </p:nvSpPr>
        <p:spPr/>
      </p:sp>
    </p:spTree>
  </p:cSld>
  <p:clrMapOvr>
    <a:masterClrMapping/>
  </p:clrMapOvr>
</p:notes>
</file>

<file path=ppt/notesSlides/notesSlide5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Nach dem Aufteilen der Komponenten geht es jetzt darum, wie Daten in einer Angular-Anwendung fließen und wie Änderungen automatisch an der richtigen Stelle ankommen. Im Mittelpunkt stehen die Signals: „signal“, „computed“, „linkedSignal“ und „effect“, dazu die Brücke zu RxJS. Der Abschnitt zeigt auch typische Fehler und endet mit Übung 32.</a:t>
            </a:r>
          </a:p>
        </p:txBody>
      </p:sp>
      <p:sp>
        <p:nvSpPr>
          <p:cNvPr id="4" name="Slide Number Placeholder 3"/>
          <p:cNvSpPr>
            <a:spLocks noGrp="1"/>
          </p:cNvSpPr>
          <p:nvPr>
            <p:ph type="sldNum" idx="66"/>
          </p:nvPr>
        </p:nvSpPr>
        <p:spPr/>
      </p:sp>
    </p:spTree>
  </p:cSld>
  <p:clrMapOvr>
    <a:masterClrMapping/>
  </p:clrMapOvr>
</p:notes>
</file>

<file path=ppt/notesSlides/notesSlide5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Reaktivität mit Signals folgt einem einfachen Modell aus drei Teilen. Eine „Quelle“ ist ein Signal, das einen Wert hält und gesetzt werden kann, zum Beispiel der Filtertext. Eine „Ableitung“ ist ein „computed“. Es berechnet aus Quellen einen neuen Wert, zum Beispiel die gefilterte Kundenliste. Eine „Wirkung“ greift nach außen. Das ist das Template, das die Oberfläche zeichnet, oder ein „effect“, der zum Beispiel etwas im Browser speichert.</a:t>
            </a:r>
          </a:p>
          <a:p/>
          <a:p>
            <a:r>
              <a:t>Das Diagramm rechts zeigt diesen Graphen. Angular merkt sich selbst, wer welches Signal liest. Ändert sich eine Quelle, werden alle betroffenen Ableitungen und Wirkungen aktualisiert. Man muss nichts von Hand abonnieren und nichts abmelden.</a:t>
            </a:r>
          </a:p>
        </p:txBody>
      </p:sp>
      <p:sp>
        <p:nvSpPr>
          <p:cNvPr id="4" name="Slide Number Placeholder 3"/>
          <p:cNvSpPr>
            <a:spLocks noGrp="1"/>
          </p:cNvSpPr>
          <p:nvPr>
            <p:ph type="sldNum" idx="66"/>
          </p:nvPr>
        </p:nvSpPr>
        <p:spPr/>
      </p:sp>
    </p:spTree>
  </p:cSld>
  <p:clrMapOvr>
    <a:masterClrMapping/>
  </p:clrMapOvr>
</p:notes>
</file>

<file path=ppt/notesSlides/notesSlide5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„Grundmodell im Code“.</a:t>
            </a:r>
          </a:p>
          <a:p/>
          <a:p>
            <a:r>
              <a:t>Hier sieht man die drei Teile in einer Komponente. Die Quellen sind die Signals „customers“ und „filter“. Sie halten die Kundenliste und den Filtertext. Die Ableitung „visible“ ist ein „computed“. Es liest beide Quellen und liefert nur die Kunden, deren Nachname den Filtertext enthält.</a:t>
            </a:r>
          </a:p>
          <a:p/>
          <a:p>
            <a:r>
              <a:t>Im Konstruktor steht ein „effect“. Er liest „visible“ und schreibt die Anzahl der Treffer in die Konsole des Browsers. Auch das Template ist eine Wirkung: Es liest „visible“ und zeichnet die Liste.</a:t>
            </a:r>
          </a:p>
          <a:p/>
          <a:p>
            <a:r>
              <a:t>Ändert sich der Filter, berechnet Angular „visible“ neu, zeichnet die Liste neu und führt den „effect“ erneut aus. Nirgends steht ein Abonnement oder ein Aufruf zur Aktualisierung.</a:t>
            </a:r>
          </a:p>
        </p:txBody>
      </p:sp>
      <p:sp>
        <p:nvSpPr>
          <p:cNvPr id="4" name="Slide Number Placeholder 3"/>
          <p:cNvSpPr>
            <a:spLocks noGrp="1"/>
          </p:cNvSpPr>
          <p:nvPr>
            <p:ph type="sldNum" idx="66"/>
          </p:nvPr>
        </p:nvSpPr>
        <p:spPr/>
      </p:sp>
    </p:spTree>
  </p:cSld>
  <p:clrMapOvr>
    <a:masterClrMapping/>
  </p:clrMapOvr>
</p:notes>
</file>

<file path=ppt/notesSlides/notesSlide5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Abhängigkeiten erkennt“.</a:t>
            </a:r>
          </a:p>
          <a:p/>
          <a:p>
            <a:r>
              <a:t>Ein Signal liest man, indem man es wie eine Funktion aufruft, zum Beispiel „filter“ mit runden Klammern. Wird dieses Lesen in einem „reaktiven Kontext“ ausgeführt, entsteht eine Abhängigkeit. Reaktive Kontexte sind die Funktion eines „computed“, die Funktion eines „effect“, das Template und die Berechnung eines „linkedSignal“.</a:t>
            </a:r>
          </a:p>
          <a:p/>
          <a:p>
            <a:r>
              <a:t>Der Ablauf ist im Diagramm rechts dargestellt. Bevor Angular zum Beispiel ein „computed“ ausführt, merkt es sich dieses „computed“ als aktuellen Leser. Jedes Signal, das während der Ausführung gelesen wird, trägt sich bei diesem Leser ein. Danach weiß Angular genau, wovon das „computed“ abhängt.</a:t>
            </a:r>
          </a:p>
          <a:p/>
          <a:p>
            <a:r>
              <a:t>Im Konstruktor, in einem Klick-Handler oder in einem Zeitgeber gibt es keinen reaktiven Kontext. Dort bekommt man nur den aktuellen Wert, aber es entsteht keine Abhängigkeit, und nichts läuft später automatisch erneut.</a:t>
            </a:r>
          </a:p>
        </p:txBody>
      </p:sp>
      <p:sp>
        <p:nvSpPr>
          <p:cNvPr id="4" name="Slide Number Placeholder 3"/>
          <p:cNvSpPr>
            <a:spLocks noGrp="1"/>
          </p:cNvSpPr>
          <p:nvPr>
            <p:ph type="sldNum" idx="66"/>
          </p:nvPr>
        </p:nvSpPr>
        <p:spPr/>
      </p:sp>
    </p:spTree>
  </p:cSld>
  <p:clrMapOvr>
    <a:masterClrMapping/>
  </p:clrMapOvr>
</p:notes>
</file>

<file path=ppt/notesSlides/notesSlide6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„Push und Pull: wie Änderungen ankommen“.</a:t>
            </a:r>
          </a:p>
          <a:p/>
          <a:p>
            <a:r>
              <a:t>Angular verbindet zwei Verfahren. Wenn eine Quelle mit „set“ einen neuen Wert bekommt, schickt Angular eine Nachricht an alle Leser: „Dein Wert ist vielleicht veraltet“. Das nennt man „Push“, also Schieben. Dabei wird noch nichts berechnet, es wird nur markiert. Templates und Effects, die betroffen sind, werden zur Ausführung eingeplant.</a:t>
            </a:r>
          </a:p>
          <a:p/>
          <a:p>
            <a:r>
              <a:t>Berechnet wird erst, wenn jemand den Wert wirklich braucht. Liest das Template ein „computed“, prüft das „computed“, ob sich seine Quellen geändert haben, und rechnet nur dann neu. Das nennt man „Pull“, also Ziehen.</a:t>
            </a:r>
          </a:p>
          <a:p/>
          <a:p>
            <a:r>
              <a:t>Kommt bei der Neuberechnung derselbe Wert heraus wie vorher, gilt das „computed“ als unverändert. Dann müssen die Leser dahinter nichts tun. Das spart unnötige Arbeit.</a:t>
            </a:r>
          </a:p>
        </p:txBody>
      </p:sp>
      <p:sp>
        <p:nvSpPr>
          <p:cNvPr id="4" name="Slide Number Placeholder 3"/>
          <p:cNvSpPr>
            <a:spLocks noGrp="1"/>
          </p:cNvSpPr>
          <p:nvPr>
            <p:ph type="sldNum" idx="66"/>
          </p:nvPr>
        </p:nvSpPr>
        <p:spPr/>
      </p:sp>
    </p:spTree>
  </p:cSld>
  <p:clrMapOvr>
    <a:masterClrMapping/>
  </p:clrMapOvr>
</p:notes>
</file>

<file path=ppt/notesSlides/notesSlide6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Push und Pull im Signal-Graphen“.</a:t>
            </a:r>
          </a:p>
          <a:p/>
          <a:p>
            <a:r>
              <a:t>Das Diagramm nutzt das Beispiel aus dem Grundmodell: Das Signal „filter“ ist die Quelle, „visible“ ist ein „computed“, das die gefilterte Liste berechnet, und sowohl das Template als auch ein „effect“ lesen „visible“. Ein Event-Handler, zum Beispiel eine Eingabe des Benutzers, ruft „filter.set“ mit dem Text „M“ auf.</a:t>
            </a:r>
          </a:p>
          <a:p/>
          <a:p>
            <a:r>
              <a:t>Zuerst kommt die Push-Phase: Das Signal benachrichtigt „visible“, dass es veraltet ist. „visible“ gibt diese Nachricht an das Template und an den „effect“ weiter. Beide werden zur Ausführung eingeplant. In dieser Phase wird noch nichts berechnet.</a:t>
            </a:r>
          </a:p>
          <a:p/>
          <a:p>
            <a:r>
              <a:t>Dann kommt die Pull-Phase: Das Template wird aktualisiert und liest „visible“. Erst jetzt rechnet „visible“ neu. Es liest dazu „filter“, filtert die Liste und merkt sich das Ergebnis. Wenn danach der „effect“ läuft und „visible“ liest, bekommt er das gemerkte Ergebnis, ohne dass noch einmal gerechnet wird.</a:t>
            </a:r>
          </a:p>
        </p:txBody>
      </p:sp>
      <p:sp>
        <p:nvSpPr>
          <p:cNvPr id="4" name="Slide Number Placeholder 3"/>
          <p:cNvSpPr>
            <a:spLocks noGrp="1"/>
          </p:cNvSpPr>
          <p:nvPr>
            <p:ph type="sldNum" idx="66"/>
          </p:nvPr>
        </p:nvSpPr>
        <p:spPr/>
      </p:sp>
    </p:spTree>
  </p:cSld>
  <p:clrMapOvr>
    <a:masterClrMapping/>
  </p:clrMapOvr>
</p:notes>
</file>

<file path=ppt/notesSlides/notesSlide6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„Glitch-Freiheit: keine Zwischenzustände“.</a:t>
            </a:r>
          </a:p>
          <a:p/>
          <a:p>
            <a:r>
              <a:t>Ein „Glitch“ ist ein kurzer, falscher Zwischenwert. Er entsteht, wenn ein Wert schon den neuen Stand einer Quelle sieht, aber noch den alten Stand einer anderen.</a:t>
            </a:r>
          </a:p>
          <a:p/>
          <a:p>
            <a:r>
              <a:t>Im Beispiel rechts hängt „c“ auf zwei Wegen von „a“ ab: direkt und über „b“, das doppelt so groß ist wie „a“. Am Anfang ist „a“ gleich 1, „b“ gleich 2 und „c“ gleich 3. Dann wird „a“ auf 2 gesetzt. Richtig ist danach 2 plus 4, also 6. Ein Glitch wäre der Mischwert 2 plus 2, also 4.</a:t>
            </a:r>
          </a:p>
          <a:p/>
          <a:p>
            <a:r>
              <a:t>Bei Signals passiert das nicht. Weil Werte erst beim Lesen geholt werden, sieht „c“ immer einen gemeinsamen, aktuellen Stand. Der „effect“ gibt nur 3 und danach 6 aus. Das nennt man „glitch-frei“.</a:t>
            </a:r>
          </a:p>
        </p:txBody>
      </p:sp>
      <p:sp>
        <p:nvSpPr>
          <p:cNvPr id="4" name="Slide Number Placeholder 3"/>
          <p:cNvSpPr>
            <a:spLocks noGrp="1"/>
          </p:cNvSpPr>
          <p:nvPr>
            <p:ph type="sldNum" idx="66"/>
          </p:nvPr>
        </p:nvSpPr>
        <p:spPr/>
      </p:sp>
    </p:spTree>
  </p:cSld>
  <p:clrMapOvr>
    <a:masterClrMapping/>
  </p:clrMapOvr>
</p:notes>
</file>

<file path=ppt/notesSlides/notesSlide6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Diese Folie gibt einen Überblick über alle Bausteine, die in diesem Abschnitt vorkommen. „signal“ hält einen Zustand, den man ändern kann, zum Beispiel den Filtertext. „computed“ leitet einen Wert ab und ist nur lesbar. „linkedSignal“ ist ebenfalls abgeleitet, kann aber zusätzlich von Hand überschrieben werden.</a:t>
            </a:r>
          </a:p>
          <a:p/>
          <a:p>
            <a:r>
              <a:t>„effect“ ist für Nebenwirkungen, also für Dinge außerhalb von Angular, wie den Browser-Speicher. „resource“ und „httpResource“ laden Daten asynchron, das heißt mit Wartezeit, zum Beispiel vom Server. Sie wurden in einem früheren Kapitel behandelt. „toSignal“ und „toObservable“ verbinden Signals mit RxJS.</a:t>
            </a:r>
          </a:p>
          <a:p/>
          <a:p>
            <a:r>
              <a:t>Das Diagramm zeigt die Ebenen: Unten liegen die Quellen, in der Mitte die Ableitungen, oben die Wirkungen.</a:t>
            </a:r>
          </a:p>
        </p:txBody>
      </p:sp>
      <p:sp>
        <p:nvSpPr>
          <p:cNvPr id="4" name="Slide Number Placeholder 3"/>
          <p:cNvSpPr>
            <a:spLocks noGrp="1"/>
          </p:cNvSpPr>
          <p:nvPr>
            <p:ph type="sldNum" idx="66"/>
          </p:nvPr>
        </p:nvSpPr>
        <p:spPr/>
      </p:sp>
    </p:spTree>
  </p:cSld>
  <p:clrMapOvr>
    <a:masterClrMapping/>
  </p:clrMapOvr>
</p:notes>
</file>

<file path=ppt/notesSlides/notesSlide6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 die vollständige API“.</a:t>
            </a:r>
          </a:p>
          <a:p/>
          <a:p>
            <a:r>
              <a:t>Die Funktion „signal“ erzeugt ein schreibbares Signal. Der Typ heißt „WritableSignal“. Der Wert in den Klammern ist der Startwert. Den Typ leitet TypeScript daraus ab. Wenn der Startwert „undefined“ ist, gibt man den Typ in spitzen Klammern ausdrücklich an.</a:t>
            </a:r>
          </a:p>
          <a:p/>
          <a:p>
            <a:r>
              <a:t>Gelesen wird durch Aufrufen mit leeren Klammern. „set“ setzt einen neuen Wert. „update“ berechnet den neuen Wert aus dem alten. „asReadonly“ liefert eine Sicht auf dasselbe Signal, die man nur lesen kann. „isSignal“ prüft, ob ein Wert ein Signal ist.</a:t>
            </a:r>
          </a:p>
          <a:p/>
          <a:p>
            <a:r>
              <a:t>Als zweiten Parameter kann man Optionen angeben. Die wichtigste ist „equal“, eine eigene Vergleichsfunktion. Sie kommt auf einer der nächsten Folien.</a:t>
            </a:r>
          </a:p>
        </p:txBody>
      </p:sp>
      <p:sp>
        <p:nvSpPr>
          <p:cNvPr id="4" name="Slide Number Placeholder 3"/>
          <p:cNvSpPr>
            <a:spLocks noGrp="1"/>
          </p:cNvSpPr>
          <p:nvPr>
            <p:ph type="sldNum" idx="66"/>
          </p:nvPr>
        </p:nvSpPr>
        <p:spPr/>
      </p:sp>
    </p:spTree>
  </p:cSld>
  <p:clrMapOvr>
    <a:masterClrMapping/>
  </p:clrMapOvr>
</p:notes>
</file>

<file path=ppt/notesSlides/notesSlide6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„set, update und asReadonly erklärt“.</a:t>
            </a:r>
          </a:p>
          <a:p/>
          <a:p>
            <a:r>
              <a:t>„set“ bekommt den neuen Wert direkt und ersetzt den alten. „update“ bekommt dagegen eine Funktion. Angular ruft diese Funktion auf und übergibt ihr den aktuellen Wert. Was die Funktion zurückgibt, wird der neue Wert. Das ist praktisch, wenn der neue Wert vom alten abhängt, zum Beispiel beim Hochzählen oder beim Anhängen an eine Liste.</a:t>
            </a:r>
          </a:p>
          <a:p/>
          <a:p>
            <a:r>
              <a:t>Ist der neue Wert gleich dem alten, benachrichtigt Angular niemanden. Dann wird auch nichts neu gezeichnet.</a:t>
            </a:r>
          </a:p>
          <a:p/>
          <a:p>
            <a:r>
              <a:t>„asReadonly“ wird oft in Services verwendet. Rechts sieht man das Muster: Das schreibbare Signal ist privat. Nach außen gibt der Service nur eine lesbare Sicht heraus. Ändern kann man den Zustand nur über eine Methode wie „add“. So bleibt klar, wer den Zustand besitzt.</a:t>
            </a:r>
          </a:p>
        </p:txBody>
      </p:sp>
      <p:sp>
        <p:nvSpPr>
          <p:cNvPr id="4" name="Slide Number Placeholder 3"/>
          <p:cNvSpPr>
            <a:spLocks noGrp="1"/>
          </p:cNvSpPr>
          <p:nvPr>
            <p:ph type="sldNum" idx="66"/>
          </p:nvPr>
        </p:nvSpPr>
        <p:spPr/>
      </p:sp>
    </p:spTree>
  </p:cSld>
  <p:clrMapOvr>
    <a:masterClrMapping/>
  </p:clrMapOvr>
</p:notes>
</file>

<file path=ppt/notesSlides/notesSlide6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Option equal: wann gilt ein Wert als neu?“.</a:t>
            </a:r>
          </a:p>
          <a:p/>
          <a:p>
            <a:r>
              <a:t>Wenn ein Signal einen Wert bekommt, prüft Angular, ob er sich vom alten unterscheidet. Standardmäßig nimmt Angular dafür „Object.is“. Das verhält sich fast wie der Vergleich mit drei Gleichheitszeichen. Bei Objekten und Arrays bedeutet das: Nur eine neue Referenz, also ein neues Objekt, zählt als Änderung.</a:t>
            </a:r>
          </a:p>
          <a:p/>
          <a:p>
            <a:r>
              <a:t>Mit der Option „equal“ gibt man eine eigene Vergleichsfunktion an. Angular ruft sie mit dem alten und dem neuen Wert auf. Gibt sie „true“ zurück, gelten die Werte als gleich, und niemand wird benachrichtigt. Im Beispiel rechts gelten zwei Kunden mit derselben Kennung als gleich.</a:t>
            </a:r>
          </a:p>
          <a:p/>
          <a:p>
            <a:r>
              <a:t>Die Option gibt es bei „signal“, „computed“ und „linkedSignal“. Vorsicht: Ist die Funktion zu großzügig, gehen echte Änderungen verloren, zum Beispiel ein geänderter Name bei gleicher Kennung.</a:t>
            </a:r>
          </a:p>
        </p:txBody>
      </p:sp>
      <p:sp>
        <p:nvSpPr>
          <p:cNvPr id="4" name="Slide Number Placeholder 3"/>
          <p:cNvSpPr>
            <a:spLocks noGrp="1"/>
          </p:cNvSpPr>
          <p:nvPr>
            <p:ph type="sldNum" idx="66"/>
          </p:nvPr>
        </p:nvSpPr>
        <p:spPr/>
      </p:sp>
    </p:spTree>
  </p:cSld>
  <p:clrMapOvr>
    <a:masterClrMapping/>
  </p:clrMapOvr>
</p:notes>
</file>

<file path=ppt/notesSlides/notesSlide6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Er wird direkt vom Benutzer oder von einem Ereignis geändert, zum Beispiel der Filtertext oder der ausgewählte Kunde. Dafür nimmt man „signal“.</a:t>
            </a:r>
          </a:p>
          <a:p/>
          <a:p>
            <a:r>
              <a:t>„Abgeleiteter Zustand“ folgt zwingend aus anderem Zustand, zum Beispiel die gefilterte Liste oder die Anzahl der Treffer. Diesen Zustand speichert man nicht, sondern berechnet ihn mit „computed“.</a:t>
            </a:r>
          </a:p>
          <a:p/>
          <a:p>
            <a:r>
              <a:t>Dahinter steht die Regel „Single Source of Truth“, auf Deutsch: eine einzige Quelle der Wahrheit. Jeder Fakt wird nur an einer Stelle gespeichert. Alles andere wird daraus berechnet. So können zwei Kopien nie auseinanderlaufen.</a:t>
            </a:r>
          </a:p>
        </p:txBody>
      </p:sp>
      <p:sp>
        <p:nvSpPr>
          <p:cNvPr id="4" name="Slide Number Placeholder 3"/>
          <p:cNvSpPr>
            <a:spLocks noGrp="1"/>
          </p:cNvSpPr>
          <p:nvPr>
            <p:ph type="sldNum" idx="66"/>
          </p:nvPr>
        </p:nvSpPr>
        <p:spPr/>
      </p:sp>
    </p:spTree>
  </p:cSld>
  <p:clrMapOvr>
    <a:masterClrMapping/>
  </p:clrMapOvr>
</p:notes>
</file>

<file path=ppt/notesSlides/notesSlide6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Variante. Die gefilterte Liste ist ein eigenes Signal. Jedes Mal, wenn sich der Filter oder die Kundenliste ändert, muss jemand daran denken, auch die gefilterte Liste neu zu setzen. Vergisst man das an einer Stelle, zeigt die Oberfläche alte Daten. Dieser Fehler ist schwer zu finden.</a:t>
            </a:r>
          </a:p>
          <a:p/>
          <a:p>
            <a:r>
              <a:t>Unten steht die richtige Variante. Die gefilterte Liste ist ein „computed“. Es liest den Filtertext und die Kundenliste und berechnet daraus das Ergebnis. Ändert sich einer der beiden Werte, rechnet Angular automatisch neu. Die beiden Listen können nicht mehr auseinanderlaufen.</a:t>
            </a:r>
          </a:p>
        </p:txBody>
      </p:sp>
      <p:sp>
        <p:nvSpPr>
          <p:cNvPr id="4" name="Slide Number Placeholder 3"/>
          <p:cNvSpPr>
            <a:spLocks noGrp="1"/>
          </p:cNvSpPr>
          <p:nvPr>
            <p:ph type="sldNum" idx="66"/>
          </p:nvPr>
        </p:nvSpPr>
        <p:spPr/>
      </p:sp>
    </p:spTree>
  </p:cSld>
  <p:clrMapOvr>
    <a:masterClrMapping/>
  </p:clrMapOvr>
</p:notes>
</file>

<file path=ppt/notesSlides/notesSlide6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32“.</a:t>
            </a:r>
          </a:p>
          <a:p/>
          <a:p>
            <a:r>
              <a:t>So sieht die Kundenliste nach Übung 31 aus. Die Kundenliste „customers“ ist eine einfache Pfeilfunktion, und die gefilterte Liste „filteredCustomers“ ist eine normale Methode.</a:t>
            </a:r>
          </a:p>
          <a:p/>
          <a:p>
            <a:r>
              <a:t>Das funktioniert, weil beide innen Signals lesen und das Template sie aufruft. Aber es gibt keinen Zwischenspeicher. Bei jeder Prüfung der Oberfläche durch Angular, der sogenannten „Change Detection“, wird die Liste neu gefiltert, auch wenn sich nichts geändert hat. Außerdem sind die Abhängigkeiten nicht als eigene Knoten im Signal-Graphen sichtbar.</a:t>
            </a:r>
          </a:p>
          <a:p/>
          <a:p>
            <a:r>
              <a:t>In Teil A der Übung 32 werden beide zu „computed“ umgebaut.</a:t>
            </a:r>
          </a:p>
        </p:txBody>
      </p:sp>
      <p:sp>
        <p:nvSpPr>
          <p:cNvPr id="4" name="Slide Number Placeholder 3"/>
          <p:cNvSpPr>
            <a:spLocks noGrp="1"/>
          </p:cNvSpPr>
          <p:nvPr>
            <p:ph type="sldNum" idx="66"/>
          </p:nvPr>
        </p:nvSpPr>
        <p:spPr/>
      </p:sp>
    </p:spTree>
  </p:cSld>
  <p:clrMapOvr>
    <a:masterClrMapping/>
  </p:clrMapOvr>
</p:notes>
</file>

<file path=ppt/notesSlides/notesSlide6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drei wichtige Eigenschaften. Es ist „lazy“, auf Deutsch faul: Es rechnet erst, wenn jemand den Wert zum ersten Mal liest. Es ist „memoized“, auf Deutsch zwischengespeichert: Solange sich keine Abhängigkeit ändert, liefert es den gespeicherten Wert ohne neue Berechnung. Und es soll „rein“ sein: Es berechnet nur einen Wert, hat keine Nebenwirkungen und schreibt keine Signals. Versucht man es trotzdem, meldet Angular den Fehler „NG0600“.</a:t>
            </a:r>
          </a:p>
          <a:p/>
          <a:p>
            <a:r>
              <a:t>Im Beispiel rechts erscheint die Ausgabe „rechne“ nur beim ersten Lesen und nach der Änderung von „count“. Das zweite Lesen kommt aus dem Speicher. Das Ergebnis eines „computed“ kann man nur lesen. Wie bei „signal“ kann man eine eigene Vergleichsfunktion „equal“ angeben.</a:t>
            </a:r>
          </a:p>
        </p:txBody>
      </p:sp>
      <p:sp>
        <p:nvSpPr>
          <p:cNvPr id="4" name="Slide Number Placeholder 3"/>
          <p:cNvSpPr>
            <a:spLocks noGrp="1"/>
          </p:cNvSpPr>
          <p:nvPr>
            <p:ph type="sldNum" idx="66"/>
          </p:nvPr>
        </p:nvSpPr>
        <p:spPr/>
      </p:sp>
    </p:spTree>
  </p:cSld>
  <p:clrMapOvr>
    <a:masterClrMapping/>
  </p:clrMapOvr>
</p:notes>
</file>

<file path=ppt/notesSlides/notesSlide6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dynamische Abhängigkeiten“.</a:t>
            </a:r>
          </a:p>
          <a:p/>
          <a:p>
            <a:r>
              <a:t>Ein „computed“ ermittelt seine Abhängigkeiten bei jedem Lauf neu. Es zählen nur die Signals, die beim letzten Lauf wirklich gelesen wurden. Im Beispiel rechts ist „showDetails“ zuerst „false“. Dann wird „name“ gar nicht gelesen. Ändert sich „name“, rechnet das „computed“ nicht neu, weil es davon gerade nicht abhängt. Erst wenn „showDetails“ auf „true“ wechselt, wird „name“ gelesen und damit zur Abhängigkeit.</a:t>
            </a:r>
          </a:p>
          <a:p/>
          <a:p>
            <a:r>
              <a:t>Tritt in der Funktion ein Fehler auf, merkt sich das „computed“ diesen Fehler und wirft ihn beim Lesen erneut.</a:t>
            </a:r>
          </a:p>
          <a:p/>
          <a:p>
            <a:r>
              <a:t>Ein „computed“ darf nicht asynchron sein. Nach einem „await“ ist der reaktive Kontext vorbei, und gelesene Signals werden nicht mehr erfasst. Für asynchrones Laden gibt es „resource“ und „httpResource“.</a:t>
            </a:r>
          </a:p>
        </p:txBody>
      </p:sp>
      <p:sp>
        <p:nvSpPr>
          <p:cNvPr id="4" name="Slide Number Placeholder 3"/>
          <p:cNvSpPr>
            <a:spLocks noGrp="1"/>
          </p:cNvSpPr>
          <p:nvPr>
            <p:ph type="sldNum" idx="66"/>
          </p:nvPr>
        </p:nvSpPr>
        <p:spPr/>
      </p:sp>
    </p:spTree>
  </p:cSld>
  <p:clrMapOvr>
    <a:masterClrMapping/>
  </p:clrMapOvr>
</p:notes>
</file>

<file path=ppt/notesSlides/notesSlide6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„linkedSignal: abgeleitet, aber änderbar“.</a:t>
            </a:r>
          </a:p>
          <a:p/>
          <a:p>
            <a:r>
              <a:t>Manchmal braucht man einen Wert, der aus einem anderen folgt, den der Benutzer aber trotzdem ändern darf. Ein Beispiel ist die Auswahl in einer Liste. Wenn eine neue Liste kommt, soll die Auswahl auf das erste Element zurückspringen. Der Benutzer soll aber jederzeit ein anderes Element wählen können.</a:t>
            </a:r>
          </a:p>
          <a:p/>
          <a:p>
            <a:r>
              <a:t>Ein „computed“ passt nicht, denn man kann es nicht setzen. Ein normales „signal“ passt auch nicht, denn es folgt der Liste nicht von selbst. „linkedSignal“ verbindet beides. Es wird aus der Quelle berechnet und kann zusätzlich mit „set“ oder „update“ geändert werden.</a:t>
            </a:r>
          </a:p>
          <a:p/>
          <a:p>
            <a:r>
              <a:t>Das Diagramm zeigt den Ablauf: Ein gesetzter Wert gilt so lange, bis sich die Quelle wieder ändert. Dann wird neu berechnet.</a:t>
            </a:r>
          </a:p>
        </p:txBody>
      </p:sp>
      <p:sp>
        <p:nvSpPr>
          <p:cNvPr id="4" name="Slide Number Placeholder 3"/>
          <p:cNvSpPr>
            <a:spLocks noGrp="1"/>
          </p:cNvSpPr>
          <p:nvPr>
            <p:ph type="sldNum" idx="66"/>
          </p:nvPr>
        </p:nvSpPr>
        <p:spPr/>
      </p:sp>
    </p:spTree>
  </p:cSld>
  <p:clrMapOvr>
    <a:masterClrMapping/>
  </p:clrMapOvr>
</p:notes>
</file>

<file path=ppt/notesSlides/notesSlide6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Kurzform“.</a:t>
            </a:r>
          </a:p>
          <a:p/>
          <a:p>
            <a:r>
              <a:t>Die Kurzform von „linkedSignal“ bekommt nur eine Berechnungsfunktion, ähnlich wie „computed“. Hier liest sie die Kundenliste aus einer Eingabe und liefert das erste Element. Jedes Mal, wenn eine neue Liste kommt, springt die Auswahl auf den ersten Kunden.</a:t>
            </a:r>
          </a:p>
          <a:p/>
          <a:p>
            <a:r>
              <a:t>Wählt der Benutzer einen anderen Kunden, ruft die Methode „onPick“ einfach „set“ auf. Das Ergebnis ist also ein schreibbares Signal.</a:t>
            </a:r>
          </a:p>
          <a:p/>
          <a:p>
            <a:r>
              <a:t>Unten steht, was „linkedSignal“ ersetzt: ein normales Signal plus einen „effect“, der es bei jeder neuen Liste zurücksetzt. Diese Lösung ist umständlicher und läuft einen Schritt verzögert.</a:t>
            </a:r>
          </a:p>
        </p:txBody>
      </p:sp>
      <p:sp>
        <p:nvSpPr>
          <p:cNvPr id="4" name="Slide Number Placeholder 3"/>
          <p:cNvSpPr>
            <a:spLocks noGrp="1"/>
          </p:cNvSpPr>
          <p:nvPr>
            <p:ph type="sldNum" idx="66"/>
          </p:nvPr>
        </p:nvSpPr>
        <p:spPr/>
      </p:sp>
    </p:spTree>
  </p:cSld>
  <p:clrMapOvr>
    <a:masterClrMapping/>
  </p:clrMapOvr>
</p:notes>
</file>

<file path=ppt/notesSlides/notesSlide6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Langform“.</a:t>
            </a:r>
          </a:p>
          <a:p/>
          <a:p>
            <a:r>
              <a:t>Die Langform bekommt ein Objekt mit zwei Teilen. „source“ ist die Quelle, die beobachtet wird, hier die Kundenliste. „computation“ ist die Berechnungsfunktion. Die spitzen Klammern am Anfang nennen zwei Typen: den Typ der Quelle und den Typ des Ergebnisses.</a:t>
            </a:r>
          </a:p>
          <a:p/>
          <a:p>
            <a:r>
              <a:t>Angular ruft „computation“ auf, wenn sich die Quelle ändert, und übergibt zwei Werte. Der erste ist der neue Wert der Quelle, hier die neue Liste. Der zweite heißt hier „previous“ und beschreibt den vorherigen Stand.</a:t>
            </a:r>
          </a:p>
          <a:p/>
          <a:p>
            <a:r>
              <a:t>Im Beispiel wird damit die bisherige Auswahl behalten, wenn derselbe Kunde auch in der neuen Liste vorkommt. Nur wenn er fehlt, springt die Auswahl auf das erste Element. Das kann die Kurzform nicht, denn sie kennt den alten Wert nicht.</a:t>
            </a:r>
          </a:p>
        </p:txBody>
      </p:sp>
      <p:sp>
        <p:nvSpPr>
          <p:cNvPr id="4" name="Slide Number Placeholder 3"/>
          <p:cNvSpPr>
            <a:spLocks noGrp="1"/>
          </p:cNvSpPr>
          <p:nvPr>
            <p:ph type="sldNum" idx="66"/>
          </p:nvPr>
        </p:nvSpPr>
        <p:spPr/>
      </p:sp>
    </p:spTree>
  </p:cSld>
  <p:clrMapOvr>
    <a:masterClrMapping/>
  </p:clrMapOvr>
</p:notes>
</file>

<file path=ppt/notesSlides/notesSlide6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Parameter von computation“.</a:t>
            </a:r>
          </a:p>
          <a:p/>
          <a:p>
            <a:r>
              <a:t>Die Funktion „computation“ ruft man nicht selbst auf. Angular ruft sie auf: beim ersten Lesen des Signals und danach jedes Mal, wenn sich die Quelle „source“ geändert hat.</a:t>
            </a:r>
          </a:p>
          <a:p/>
          <a:p>
            <a:r>
              <a:t>Der erste Parameter ist der aktuelle Wert der Quelle. Der zweite Parameter beschreibt den vorherigen Stand. Beim allerersten Aufruf gibt es noch keinen vorherigen Stand, dann ist er „undefined“. Danach ist er ein Objekt mit zwei Feldern: „source“ ist der alte Wert der Quelle, „value“ ist der letzte Wert des linkedSignal. Das kann auch ein Wert sein, den der Benutzer mit „set“ gesetzt hat.</a:t>
            </a:r>
          </a:p>
          <a:p/>
          <a:p>
            <a:r>
              <a:t>Was die Funktion zurückgibt, wird der neue Wert. Die Namen der Parameter darf man frei wählen. Die Reihenfolge ist aber fest: zuerst die Quelle, dann der vorherige Stand.</a:t>
            </a:r>
          </a:p>
        </p:txBody>
      </p:sp>
      <p:sp>
        <p:nvSpPr>
          <p:cNvPr id="4" name="Slide Number Placeholder 3"/>
          <p:cNvSpPr>
            <a:spLocks noGrp="1"/>
          </p:cNvSpPr>
          <p:nvPr>
            <p:ph type="sldNum" idx="66"/>
          </p:nvPr>
        </p:nvSpPr>
        <p:spPr/>
      </p:sp>
    </p:spTree>
  </p:cSld>
  <p:clrMapOvr>
    <a:masterClrMapping/>
  </p:clrMapOvr>
</p:notes>
</file>

<file path=ppt/notesSlides/notesSlide6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Wirkung außerhalb des Signal-Graphen. Sie verändert etwas, das Angular nicht selbst verwaltet. Dafür gibt es „effect“. Ein „effect“ ist eine Funktion, die Angular automatisch erneut ausführt, wenn sich ein Signal ändert, das sie liest.</a:t>
            </a:r>
          </a:p>
          <a:p/>
          <a:p>
            <a:r>
              <a:t>Gute Gründe für einen „effect“ sind: einen Wert im Speicher des Browsers sichern, zum Beispiel in „localStorage“, Protokollieren und Auswerten von Nutzung, eine fremde Bibliothek für Diagramme oder Karten mit Daten versorgen, oder direkte Arbeit am Seitenelement, die mit einer Bindung im Template nicht möglich ist.</a:t>
            </a:r>
          </a:p>
          <a:p/>
          <a:p>
            <a:r>
              <a:t>Kein guter Grund ist es, damit ein anderes Signal zu setzen. Dafür gibt es bessere Werkzeuge, die später gezeigt werden.</a:t>
            </a:r>
          </a:p>
        </p:txBody>
      </p:sp>
      <p:sp>
        <p:nvSpPr>
          <p:cNvPr id="4" name="Slide Number Placeholder 3"/>
          <p:cNvSpPr>
            <a:spLocks noGrp="1"/>
          </p:cNvSpPr>
          <p:nvPr>
            <p:ph type="sldNum" idx="66"/>
          </p:nvPr>
        </p:nvSpPr>
        <p:spPr/>
      </p:sp>
    </p:spTree>
  </p:cSld>
  <p:clrMapOvr>
    <a:masterClrMapping/>
  </p:clrMapOvr>
</p:notes>
</file>

<file path=ppt/notesSlides/notesSlide6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Grundbeispiel aus Übung 32“.</a:t>
            </a:r>
          </a:p>
          <a:p/>
          <a:p>
            <a:r>
              <a:t>Das ist der „effect“ aus der Musterlösung von Übung 32. Die Hilfsfunktion „saveFilter“ schreibt den Filtertext in den Speicher des Browsers. Weil dieser Speicher fehlen oder gesperrt sein kann, zum Beispiel im privaten Modus, steht der Zugriff in einem „try“ und „catch“. Ein Fehler wird dann einfach ignoriert.</a:t>
            </a:r>
          </a:p>
          <a:p/>
          <a:p>
            <a:r>
              <a:t>Das Signal „filterText“ bekommt seinen Startwert aus dem Speicher. Im Konstruktor steht der „effect“. Er liest den Filtertext und übergibt ihn an „saveFilter“. Weil er „filterText“ liest, ist das Signal seine Abhängigkeit.</a:t>
            </a:r>
          </a:p>
          <a:p/>
          <a:p>
            <a:r>
              <a:t>Angular führt die Funktion einmal am Anfang aus und danach jedes Mal, wenn sich der Filtertext ändert. Der „effect“ schreibt nur nach außen und setzt kein Signal. Deshalb ist er ein legitimer „effect“.</a:t>
            </a:r>
          </a:p>
        </p:txBody>
      </p:sp>
      <p:sp>
        <p:nvSpPr>
          <p:cNvPr id="4" name="Slide Number Placeholder 3"/>
          <p:cNvSpPr>
            <a:spLocks noGrp="1"/>
          </p:cNvSpPr>
          <p:nvPr>
            <p:ph type="sldNum" idx="66"/>
          </p:nvPr>
        </p:nvSpPr>
        <p:spPr/>
      </p:sp>
    </p:spTree>
  </p:cSld>
  <p:clrMapOvr>
    <a:masterClrMapping/>
  </p:clrMapOvr>
</p:notes>
</file>

<file path=ppt/notesSlides/notesSlide6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„effect(): Signatur und Rückgabewert“.</a:t>
            </a:r>
          </a:p>
          <a:p/>
          <a:p>
            <a:r>
              <a:t>Rechts steht die Signatur, also die Beschreibung der Parameter und des Rückgabewerts. Der erste Parameter ist die Effekt-Funktion. Man ruft sie nicht selbst auf, das macht Angular. Angular übergibt ihr dabei einen Wert, der hier „onCleanup“ heißt. Was das ist, erklärt die nächste Folie.</a:t>
            </a:r>
          </a:p>
          <a:p/>
          <a:p>
            <a:r>
              <a:t>Der zweite Parameter ist optional. Er enthält Optionen wie „injector“ und „manualCleanup“. Zurück bekommt man ein Objekt vom Typ „EffectRef“. Es hat die Methode „destroy“, mit der man den „effect“ beenden kann.</a:t>
            </a:r>
          </a:p>
          <a:p/>
          <a:p>
            <a:r>
              <a:t>Den ersten Lauf führt Angular nicht sofort beim Erzeugen aus, sondern kurz danach, gesteuert von Angular selbst. Weitere Läufe folgen, wenn sich ein Signal ändert, das beim letzten Lauf gelesen wurde.</a:t>
            </a:r>
          </a:p>
        </p:txBody>
      </p:sp>
      <p:sp>
        <p:nvSpPr>
          <p:cNvPr id="4" name="Slide Number Placeholder 3"/>
          <p:cNvSpPr>
            <a:spLocks noGrp="1"/>
          </p:cNvSpPr>
          <p:nvPr>
            <p:ph type="sldNum" idx="66"/>
          </p:nvPr>
        </p:nvSpPr>
        <p:spPr/>
      </p:sp>
    </p:spTree>
  </p:cSld>
  <p:clrMapOvr>
    <a:masterClrMapping/>
  </p:clrMapOvr>
</p:notes>
</file>

<file path=ppt/notesSlides/notesSlide6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onCleanup?“.</a:t>
            </a:r>
          </a:p>
          <a:p/>
          <a:p>
            <a:r>
              <a:t>Wenn Angular die Effekt-Funktion aufruft, übergibt es ihr genau einen Wert. Dieser Wert ist selbst eine Funktion. Ihr Typ heißt „EffectCleanupRegisterFn“, auf Deutsch etwa „Funktion zum Anmelden einer Aufräumfunktion“. Im Code nennt man den Parameter meist „onCleanup“.</a:t>
            </a:r>
          </a:p>
          <a:p/>
          <a:p>
            <a:r>
              <a:t>Ruft man „onCleanup“ auf und übergibt eine eigene Funktion, meldet man damit eine Aufräumfunktion an. Angular führt sie nicht sofort aus. Angular ruft sie erst später auf, und zwar in zwei Fällen: kurz bevor der „effect“ das nächste Mal läuft, und wenn der „effect“ zerstört wird. Zerstört wird er, wenn die Komponente verschwindet oder wenn man „destroy“ aufruft.</a:t>
            </a:r>
          </a:p>
          <a:p/>
          <a:p>
            <a:r>
              <a:t>Der Name „onCleanup“ ist frei gewählt. Braucht ein „effect“ nichts aufzuräumen, lässt man den Parameter einfach weg, wie im Beispiel davor.</a:t>
            </a:r>
          </a:p>
        </p:txBody>
      </p:sp>
      <p:sp>
        <p:nvSpPr>
          <p:cNvPr id="4" name="Slide Number Placeholder 3"/>
          <p:cNvSpPr>
            <a:spLocks noGrp="1"/>
          </p:cNvSpPr>
          <p:nvPr>
            <p:ph type="sldNum" idx="66"/>
          </p:nvPr>
        </p:nvSpPr>
        <p:spPr/>
      </p:sp>
    </p:spTree>
  </p:cSld>
  <p:clrMapOvr>
    <a:masterClrMapping/>
  </p:clrMapOvr>
</p:notes>
</file>

<file path=ppt/notesSlides/notesSlide6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„onCleanup im Einsatz: Polling“.</a:t>
            </a:r>
          </a:p>
          <a:p/>
          <a:p>
            <a:r>
              <a:t>„Polling“ bedeutet: in festen Abständen immer wieder nachfragen, ob es neue Daten gibt. Das Intervall steht im Signal „pollMs“, hier 5000 Millisekunden, also 5 Sekunden.</a:t>
            </a:r>
          </a:p>
          <a:p/>
          <a:p>
            <a:r>
              <a:t>Der „effect“ liest „pollMs“ und startet mit „setInterval“ einen Zeitgeber, der regelmäßig „refresh“ aufruft. Danach meldet er mit „onCleanup“ eine Aufräumfunktion an. Diese stoppt genau diesen Zeitgeber mit „clearInterval“.</a:t>
            </a:r>
          </a:p>
          <a:p/>
          <a:p>
            <a:r>
              <a:t>Ohne Aufräumen gäbe es ein Problem: Bei jeder Änderung des Intervalls würde ein zusätzlicher Zeitgeber starten, und die alten liefen weiter. Auch nach dem Schließen der Komponente würden sie weiterlaufen. Mit „onCleanup“ läuft immer genau ein Zeitgeber.</a:t>
            </a:r>
          </a:p>
        </p:txBody>
      </p:sp>
      <p:sp>
        <p:nvSpPr>
          <p:cNvPr id="4" name="Slide Number Placeholder 3"/>
          <p:cNvSpPr>
            <a:spLocks noGrp="1"/>
          </p:cNvSpPr>
          <p:nvPr>
            <p:ph type="sldNum" idx="66"/>
          </p:nvPr>
        </p:nvSpPr>
        <p:spPr/>
      </p:sp>
    </p:spTree>
  </p:cSld>
  <p:clrMapOvr>
    <a:masterClrMapping/>
  </p:clrMapOvr>
</p:notes>
</file>

<file path=ppt/notesSlides/notesSlide6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Läufe und Aufräumen“.</a:t>
            </a:r>
          </a:p>
          <a:p/>
          <a:p>
            <a:r>
              <a:t>Das Diagramm zeigt den zeitlichen Ablauf für das Polling-Beispiel. Im ersten Lauf startet der „effect“ den Zeitgeber A und meldet die Aufräumfunktion A an.</a:t>
            </a:r>
          </a:p>
          <a:p/>
          <a:p>
            <a:r>
              <a:t>Dann setzt jemand das Intervall auf 1000 Millisekunden. Der „effect“ ist dadurch veraltet und wird neu eingeplant. Bevor Angular ihn erneut ausführt, ruft es die Aufräumfunktion A auf. Zeitgeber A stoppt. Im zweiten Lauf startet Zeitgeber B, und die Aufräumfunktion B wird angemeldet.</a:t>
            </a:r>
          </a:p>
          <a:p/>
          <a:p>
            <a:r>
              <a:t>Wird die Komponente später zerstört, zum Beispiel weil der Benutzer die Seite wechselt, ruft Angular die Aufräumfunktion B auf. Es laufen also nie zwei Zeitgeber gleichzeitig, und es bleibt nichts im Speicher zurück. Man nennt so einen Rest ein „Speicherleck“.</a:t>
            </a:r>
          </a:p>
        </p:txBody>
      </p:sp>
      <p:sp>
        <p:nvSpPr>
          <p:cNvPr id="4" name="Slide Number Placeholder 3"/>
          <p:cNvSpPr>
            <a:spLocks noGrp="1"/>
          </p:cNvSpPr>
          <p:nvPr>
            <p:ph type="sldNum" idx="66"/>
          </p:nvPr>
        </p:nvSpPr>
        <p:spPr/>
      </p:sp>
    </p:spTree>
  </p:cSld>
  <p:clrMapOvr>
    <a:masterClrMapping/>
  </p:clrMapOvr>
</p:notes>
</file>

<file path=ppt/notesSlides/notesSlide6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Wer ruft effect und onCleanup auf?“.</a:t>
            </a:r>
          </a:p>
          <a:p/>
          <a:p>
            <a:r>
              <a:t>Das Diagramm zeigt das Polling-Beispiel mit vier Beteiligten: das Signal „pollMs“ mit dem Intervall, Angular, die Effekt-Funktion, die wir geschrieben haben, und den Timer des Browsers. Angular ruft die Effekt-Funktion zum ersten Mal auf und übergibt ihr „onCleanup“. Die Funktion liest „pollMs“ und bekommt 5000. Damit ist „pollMs“ eine Abhängigkeit. Sie startet Timer A und meldet mit „onCleanup“ eine Aufräumfunktion bei Angular an.</a:t>
            </a:r>
          </a:p>
          <a:p/>
          <a:p>
            <a:r>
              <a:t>Später wird „pollMs“ auf 1000 gesetzt. Der „effect“ ist damit veraltet. Bevor Angular ihn erneut ausführt, ruft Angular die angemeldete Aufräumfunktion A auf, und diese stoppt Timer A. Dann folgt Lauf 2 mit Timer B und einer neuen Aufräumfunktion B.</a:t>
            </a:r>
          </a:p>
          <a:p/>
          <a:p>
            <a:r>
              <a:t>Wird die Komponente zerstört, ruft Angular Aufräumfunktion B auf, und auch Timer B stoppt. Wichtig: Wir rufen die Aufräumfunktionen nie selbst auf, das macht immer Angular.</a:t>
            </a:r>
          </a:p>
        </p:txBody>
      </p:sp>
      <p:sp>
        <p:nvSpPr>
          <p:cNvPr id="4" name="Slide Number Placeholder 3"/>
          <p:cNvSpPr>
            <a:spLocks noGrp="1"/>
          </p:cNvSpPr>
          <p:nvPr>
            <p:ph type="sldNum" idx="66"/>
          </p:nvPr>
        </p:nvSpPr>
        <p:spPr/>
      </p:sp>
    </p:spTree>
  </p:cSld>
  <p:clrMapOvr>
    <a:masterClrMapping/>
  </p:clrMapOvr>
</p:notes>
</file>

<file path=ppt/notesSlides/notesSlide6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immer dann, wenn sich eines der Signals ändert, die er beim letzten Lauf gelesen hat.</a:t>
            </a:r>
          </a:p>
          <a:p/>
          <a:p>
            <a:r>
              <a:t>Er läuft nicht sofort nach „set“. Angular merkt sich nur, dass der „effect“ veraltet ist, und führt ihn im nächsten Durchlauf der Aktualisierung aus. Setzt man ein Signal dreimal hintereinander, läuft der „effect“ deshalb nur einmal, mit dem letzten Wert. Das Diagramm rechts zeigt das.</a:t>
            </a:r>
          </a:p>
          <a:p/>
          <a:p>
            <a:r>
              <a:t>Wie lange ein „effect“ lebt, hängt davon ab, wo er erzeugt wurde. Ein „effect“ in einer Komponente wird zusammen mit der Komponente zerstört. Ein „effect“ in einem Service, der für die ganze Anwendung gilt, lebt so lange wie die Anwendung.</a:t>
            </a:r>
          </a:p>
        </p:txBody>
      </p:sp>
      <p:sp>
        <p:nvSpPr>
          <p:cNvPr id="4" name="Slide Number Placeholder 3"/>
          <p:cNvSpPr>
            <a:spLocks noGrp="1"/>
          </p:cNvSpPr>
          <p:nvPr>
            <p:ph type="sldNum" idx="66"/>
          </p:nvPr>
        </p:nvSpPr>
        <p:spPr/>
      </p:sp>
    </p:spTree>
  </p:cSld>
  <p:clrMapOvr>
    <a:masterClrMapping/>
  </p:clrMapOvr>
</p:notes>
</file>

<file path=ppt/notesSlides/notesSlide6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„Injection Context: wo effect() erlaubt ist“.</a:t>
            </a:r>
          </a:p>
          <a:p/>
          <a:p>
            <a:r>
              <a:t>Der „Injection Context“ ist die Phase, in der Angular gerade ein Objekt erzeugt und „inject“ deshalb funktioniert. Ein „effect“ braucht diesen Kontext. Er holt sich darüber den „Injector“, also die Stelle, die Abhängigkeiten bereitstellt. Daraus erfährt er, wann er aufräumen muss, und wie er eingeplant wird.</a:t>
            </a:r>
          </a:p>
          <a:p/>
          <a:p>
            <a:r>
              <a:t>Erlaubt ist das im Konstruktor, in Feldinitialisierern, also bei Klassenfeldern mit Gleichheitszeichen, und in Factory-Funktionen von Providern. Nicht erlaubt ist es zum Beispiel in „ngOnInit“, in einem Klick-Handler, in „setTimeout“ oder in „subscribe“. Dort meldet Angular den Fehler „NG0203“.</a:t>
            </a:r>
          </a:p>
          <a:p/>
          <a:p>
            <a:r>
              <a:t>Braucht man trotzdem später einen „effect“, übergibt man den Injector über die Option „injector“ oder nutzt „runInInjectionContext“.</a:t>
            </a:r>
          </a:p>
        </p:txBody>
      </p:sp>
      <p:sp>
        <p:nvSpPr>
          <p:cNvPr id="4" name="Slide Number Placeholder 3"/>
          <p:cNvSpPr>
            <a:spLocks noGrp="1"/>
          </p:cNvSpPr>
          <p:nvPr>
            <p:ph type="sldNum" idx="66"/>
          </p:nvPr>
        </p:nvSpPr>
        <p:spPr/>
      </p:sp>
    </p:spTree>
  </p:cSld>
  <p:clrMapOvr>
    <a:masterClrMapping/>
  </p:clrMapOvr>
</p:notes>
</file>

<file path=ppt/notesSlides/notesSlide6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Optionen und destroy()“.</a:t>
            </a:r>
          </a:p>
          <a:p/>
          <a:p>
            <a:r>
              <a:t>Hier wird ein „effect“ erst in der Methode „start“ erzeugt, also außerhalb des Injection Context. Damit das funktioniert, merkt sich die Klasse im Feldinitialisierer den „Injector“ und übergibt ihn als Option „injector“. Die Option „debugName“ gibt dem „effect“ einen Namen, der in den Angular DevTools erscheint.</a:t>
            </a:r>
          </a:p>
          <a:p/>
          <a:p>
            <a:r>
              <a:t>„effect“ gibt ein Objekt vom Typ „EffectRef“ zurück. Die Klasse speichert es. In der Methode „stop“ ruft sie „destroy“ auf. Damit endet der „effect“ sofort, und eine angemeldete Aufräumfunktion läuft ein letztes Mal.</a:t>
            </a:r>
          </a:p>
          <a:p/>
          <a:p>
            <a:r>
              <a:t>Unten steht die Option „manualCleanup“. Mit „true“ wird der „effect“ nicht mehr automatisch mit der Komponente beendet, sondern nur noch durch „destroy“. Das braucht man selten. Vergisst man „destroy“, bleibt der „effect“ für immer aktiv.</a:t>
            </a:r>
          </a:p>
        </p:txBody>
      </p:sp>
      <p:sp>
        <p:nvSpPr>
          <p:cNvPr id="4" name="Slide Number Placeholder 3"/>
          <p:cNvSpPr>
            <a:spLocks noGrp="1"/>
          </p:cNvSpPr>
          <p:nvPr>
            <p:ph type="sldNum" idx="66"/>
          </p:nvPr>
        </p:nvSpPr>
        <p:spPr/>
      </p:sp>
    </p:spTree>
  </p:cSld>
  <p:clrMapOvr>
    <a:masterClrMapping/>
  </p:clrMapOvr>
</p:notes>
</file>

<file path=ppt/notesSlides/notesSlide6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„untracked(): lesen ohne Abhängigkeit“.</a:t>
            </a:r>
          </a:p>
          <a:p/>
          <a:p>
            <a:r>
              <a:t>Manchmal soll ein „effect“ nur auf ein bestimmtes Signal reagieren, obwohl er noch andere Signals liest. Hier soll er nur laufen, wenn ein neuer Benutzer kommt. Die Einstellungen in „settings“ werden zwar gelesen, aber eine Änderung daran soll keinen neuen Lauf auslösen.</a:t>
            </a:r>
          </a:p>
          <a:p/>
          <a:p>
            <a:r>
              <a:t>Dafür gibt es „untracked“. Es bekommt eine Funktion, ruft sie sofort auf und gibt ihr Ergebnis zurück. Alles, was innerhalb dieser Funktion gelesen wird, wird nicht als Abhängigkeit erfasst.</a:t>
            </a:r>
          </a:p>
          <a:p/>
          <a:p>
            <a:r>
              <a:t>Das ist auch beim Aufruf fremder Methoden wichtig, hier beim „logger“. Liest dieser Service intern selbst Signals, würden diese sonst unbemerkt zu Abhängigkeiten des „effect“. Unten steht die Kurzform: Man übergibt ein Signal direkt und bekommt seinen Wert ohne Abhängigkeit.</a:t>
            </a:r>
          </a:p>
        </p:txBody>
      </p:sp>
      <p:sp>
        <p:nvSpPr>
          <p:cNvPr id="4" name="Slide Number Placeholder 3"/>
          <p:cNvSpPr>
            <a:spLocks noGrp="1"/>
          </p:cNvSpPr>
          <p:nvPr>
            <p:ph type="sldNum" idx="66"/>
          </p:nvPr>
        </p:nvSpPr>
        <p:spPr/>
      </p:sp>
    </p:spTree>
  </p:cSld>
  <p:clrMapOvr>
    <a:masterClrMapping/>
  </p:clrMapOvr>
</p:notes>
</file>

<file path=ppt/notesSlides/notesSlide6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„afterRenderEffect: nach dem Zeichnen“.</a:t>
            </a:r>
          </a:p>
          <a:p/>
          <a:p>
            <a:r>
              <a:t>„afterRenderEffect“ ist eine besondere Form von „effect“. Er ist für Arbeit am Seitenelement gedacht, die das fertig gezeichnete Element braucht. Beispiele sind das Messen von Größen, das Zeichnen auf einer Zeichenfläche „Canvas“ oder eine fremde Diagramm-Bibliothek.</a:t>
            </a:r>
          </a:p>
          <a:p/>
          <a:p>
            <a:r>
              <a:t>Angular führt ihn aus, nachdem die Oberfläche gezeichnet wurde. Wie ein „effect“ läuft er nur erneut, wenn sich ein gelesenes Signal geändert hat. Er läuft nur im Browser und nicht, wenn die Seite auf dem Server vorbereitet wird.</a:t>
            </a:r>
          </a:p>
          <a:p/>
          <a:p>
            <a:r>
              <a:t>Für einmalige Arbeit nach dem ersten Zeichnen gibt es „afterNextRender“. Für normale Nebenwirkungen ohne Seitenelement bleibt man beim normalen „effect“.</a:t>
            </a:r>
          </a:p>
        </p:txBody>
      </p:sp>
      <p:sp>
        <p:nvSpPr>
          <p:cNvPr id="4" name="Slide Number Placeholder 3"/>
          <p:cNvSpPr>
            <a:spLocks noGrp="1"/>
          </p:cNvSpPr>
          <p:nvPr>
            <p:ph type="sldNum" idx="66"/>
          </p:nvPr>
        </p:nvSpPr>
        <p:spPr/>
      </p:sp>
    </p:spTree>
  </p:cSld>
  <p:clrMapOvr>
    <a:masterClrMapping/>
  </p:clrMapOvr>
</p:notes>
</file>

<file path=ppt/notesSlides/notesSlide6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eingesetzt, wo es bessere Werkzeuge gibt. Soll ein Wert aus anderen Signals berechnet werden, nimmt man „computed“. Soll ein Signal bei einer Änderung zurückspringen, nimmt man „linkedSignal“. Auf einen Klick oder eine Eingabe reagiert man direkt im Event-Handler. Daten, die von einer Kennung abhängen, lädt man mit „resource“ oder „httpResource“. Und was nur einmal beim Start passieren soll, gehört in den Konstruktor oder in „afterNextRender“.</a:t>
            </a:r>
          </a:p>
          <a:p/>
          <a:p>
            <a:r>
              <a:t>Die Faustregel lautet: Wenn ein „effect“ ein Signal schreibt, gibt es fast immer eine bessere Lösung. Seit Version 19 ist das technisch erlaubt, früher brauchte man dafür eine Sonderoption. Es bleibt aber ein Warnsignal, weil dabei Ketten und zusätzliche Durchläufe entstehen.</a:t>
            </a:r>
          </a:p>
        </p:txBody>
      </p:sp>
      <p:sp>
        <p:nvSpPr>
          <p:cNvPr id="4" name="Slide Number Placeholder 3"/>
          <p:cNvSpPr>
            <a:spLocks noGrp="1"/>
          </p:cNvSpPr>
          <p:nvPr>
            <p:ph type="sldNum" idx="66"/>
          </p:nvPr>
        </p:nvSpPr>
        <p:spPr/>
      </p:sp>
    </p:spTree>
  </p:cSld>
  <p:clrMapOvr>
    <a:masterClrMapping/>
  </p:clrMapOvr>
</p:notes>
</file>

<file path=ppt/notesSlides/notesSlide6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ersetzen: vorher und nachher“.</a:t>
            </a:r>
          </a:p>
          <a:p/>
          <a:p>
            <a:r>
              <a:t>Im ersten Beispiel setzt ein „effect“ den vollständigen Namen aus Vorname und Nachname. Das ist abgeleiteter Zustand, der nur wie ein „effect“ aussieht. Mit „computed“ ist es kürzer. Es gibt keinen zusätzlichen Durchlauf, keinen Moment mit veraltetem Wert und nichts aufzuräumen.</a:t>
            </a:r>
          </a:p>
          <a:p/>
          <a:p>
            <a:r>
              <a:t>Im zweiten Beispiel soll die Seitennummer auf 1 zurückspringen, wenn ein neuer Suchbegriff kommt. Der „effect“ liest dafür den Suchbegriff nur, um davon abzuhängen, und setzt dann die Seite. Mit „linkedSignal“ ist das klarer: Die Quelle ist der Suchbegriff, und die Berechnung liefert immer 1. Der Benutzer kann trotzdem mit „set“ auf eine andere Seite blättern.</a:t>
            </a:r>
          </a:p>
        </p:txBody>
      </p:sp>
      <p:sp>
        <p:nvSpPr>
          <p:cNvPr id="4" name="Slide Number Placeholder 3"/>
          <p:cNvSpPr>
            <a:spLocks noGrp="1"/>
          </p:cNvSpPr>
          <p:nvPr>
            <p:ph type="sldNum" idx="66"/>
          </p:nvPr>
        </p:nvSpPr>
        <p:spPr/>
      </p:sp>
    </p:spTree>
  </p:cSld>
  <p:clrMapOvr>
    <a:masterClrMapping/>
  </p:clrMapOvr>
</p:notes>
</file>

<file path=ppt/notesSlides/notesSlide6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„toSignal(): Observable wird Signal“.</a:t>
            </a:r>
          </a:p>
          <a:p/>
          <a:p>
            <a:r>
              <a:t>Ein „Observable“ ist ein Datenstrom aus der Bibliothek RxJS. Er liefert über die Zeit mehrere Werte. Viele Teile von Angular liefern solche Ströme, zum Beispiel der Router, die Formulare und der „HttpClient“.</a:t>
            </a:r>
          </a:p>
          <a:p/>
          <a:p>
            <a:r>
              <a:t>„toSignal“ macht aus einem solchen Strom ein Signal. Es meldet sich sofort beim Aufruf an. Das nennt man „abonnieren“. Jeder neue Wert des Stroms wird dann der Wert des Signals. Wenn die Komponente zerstört wird, meldet „toSignal“ sich automatisch wieder ab. Dafür braucht es den Injection Context, genau wie „effect“.</a:t>
            </a:r>
          </a:p>
          <a:p/>
          <a:p>
            <a:r>
              <a:t>Solange der Strom noch keinen Wert geliefert hat, ist das Signal „undefined“. Deshalb ist der Typ ohne Startwert „T oder undefined“.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6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„toSignal(): die Optionen im Code“.</a:t>
            </a:r>
          </a:p>
          <a:p/>
          <a:p>
            <a:r>
              <a:t>Das erste Beispiel nutzt keine Option. Das Signal ist am Anfang „undefined“, deshalb enthält sein Typ auch „undefined“.</a:t>
            </a:r>
          </a:p>
          <a:p/>
          <a:p>
            <a:r>
              <a:t>Im zweiten Beispiel gibt „initialValue“ einen Startwert an, hier eine leere Liste. Er gilt, bis die Antwort des Servers da ist. Der Typ enthält dann kein „undefined“ mehr.</a:t>
            </a:r>
          </a:p>
          <a:p/>
          <a:p>
            <a:r>
              <a:t>Im dritten Beispiel steht „requireSync“. Das bedeutet: Der Strom liefert garantiert sofort beim Abonnieren einen Wert. Ein „BehaviorSubject“ tut das, denn es hat immer einen aktuellen Wert. Auch hier entfällt „undefined“.</a:t>
            </a:r>
          </a:p>
          <a:p/>
          <a:p>
            <a:r>
              <a:t>Das vierte Beispiel ruft „toSignal“ in einer normalen Methode auf. Dort gibt es keinen Injection Context. Deshalb übergibt man den Injector als Option.</a:t>
            </a:r>
          </a:p>
        </p:txBody>
      </p:sp>
      <p:sp>
        <p:nvSpPr>
          <p:cNvPr id="4" name="Slide Number Placeholder 3"/>
          <p:cNvSpPr>
            <a:spLocks noGrp="1"/>
          </p:cNvSpPr>
          <p:nvPr>
            <p:ph type="sldNum" idx="66"/>
          </p:nvPr>
        </p:nvSpPr>
        <p:spPr/>
      </p:sp>
    </p:spTree>
  </p:cSld>
  <p:clrMapOvr>
    <a:masterClrMapping/>
  </p:clrMapOvr>
</p:notes>
</file>

<file path=ppt/notesSlides/notesSlide6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„toSignal()-Optionen erklärt“.</a:t>
            </a:r>
          </a:p>
          <a:p/>
          <a:p>
            <a:r>
              <a:t>„initialValue“ ist der Startwert. Er gilt, bis der Strom seinen ersten Wert liefert. „requireSync“ verspricht, dass der Strom sofort und ohne Wartezeit liefert. Hält der Strom das Versprechen nicht, meldet Angular den Fehler „NG0601“. Man nimmt also entweder „initialValue“ oder „requireSync“, nicht beides.</a:t>
            </a:r>
          </a:p>
          <a:p/>
          <a:p>
            <a:r>
              <a:t>„injector“ braucht man außerhalb des Injection Context. Mit „manualCleanup“ meldet sich „toSignal“ nicht mehr automatisch mit der Komponente ab. Das Abo endet dann erst, wenn der Strom selbst endet. „equal“ ist eine eigene Vergleichsfunktion, wie bei „signal“.</a:t>
            </a:r>
          </a:p>
          <a:p/>
          <a:p>
            <a:r>
              <a:t>Wichtig ist der Umgang mit Fehlern: Endet der Strom mit einem Fehler, wirft das Signal diesen Fehler beim nächsten Lesen. Im Template bricht dann die Anzeige ab. Deshalb fängt man Fehler vorher im Strom ab.</a:t>
            </a:r>
          </a:p>
        </p:txBody>
      </p:sp>
      <p:sp>
        <p:nvSpPr>
          <p:cNvPr id="4" name="Slide Number Placeholder 3"/>
          <p:cNvSpPr>
            <a:spLocks noGrp="1"/>
          </p:cNvSpPr>
          <p:nvPr>
            <p:ph type="sldNum" idx="66"/>
          </p:nvPr>
        </p:nvSpPr>
        <p:spPr/>
      </p:sp>
    </p:spTree>
  </p:cSld>
  <p:clrMapOvr>
    <a:masterClrMapping/>
  </p:clrMapOvr>
</p:notes>
</file>

<file path=ppt/notesSlides/notesSlide6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„toObservable(): Signal wird Observable“.</a:t>
            </a:r>
          </a:p>
          <a:p/>
          <a:p>
            <a:r>
              <a:t>„toObservable“ ist die Gegenrichtung. Es macht aus einem Signal einen Datenstrom. Das braucht man, wenn man Werkzeuge aus RxJS nutzen will, zum Beispiel um auf eine Pause beim Tippen zu warten oder eine laufende Anfrage abzubrechen.</a:t>
            </a:r>
          </a:p>
          <a:p/>
          <a:p>
            <a:r>
              <a:t>Innen arbeitet „toObservable“ mit einem „effect“. Deshalb braucht es ebenfalls den Injection Context oder die Option „injector“. Der erste Wert des Stroms ist der aktuelle Wert des Signals. Neue Werte kommen nicht sofort nach „set“, sondern wie bei einem „effect“ etwas später. Wird das Signal mehrmals hintereinander gesetzt, liefert der Strom nur den letzten Wert.</a:t>
            </a:r>
          </a:p>
          <a:p/>
          <a:p>
            <a:r>
              <a:t>Rechts sieht man das: Das Signal wird zweimal gesetzt, der Strom meldet nur den Wert 2.</a:t>
            </a:r>
          </a:p>
        </p:txBody>
      </p:sp>
      <p:sp>
        <p:nvSpPr>
          <p:cNvPr id="4" name="Slide Number Placeholder 3"/>
          <p:cNvSpPr>
            <a:spLocks noGrp="1"/>
          </p:cNvSpPr>
          <p:nvPr>
            <p:ph type="sldNum" idx="66"/>
          </p:nvPr>
        </p:nvSpPr>
        <p:spPr/>
      </p:sp>
    </p:spTree>
  </p:cSld>
  <p:clrMapOvr>
    <a:masterClrMapping/>
  </p:clrMapOvr>
</p:notes>
</file>

<file path=ppt/notesSlides/notesSlide6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Dieses Beispiel nutzt beide Richtungen. Der Filtertext ist ein Signal. Mit „toObservable“ wird daraus ein Datenstrom. Darauf wirken zwei Werkzeuge aus RxJS. „debounceTime“ mit 300 reicht einen Wert erst weiter, wenn 300 Millisekunden lang keine neue Eingabe kam. „distinctUntilChanged“ ignoriert einen Wert, wenn er gleich dem vorherigen ist.</a:t>
            </a:r>
          </a:p>
          <a:p/>
          <a:p>
            <a:r>
              <a:t>Mit „toSignal“ wird der Strom wieder zu einem Signal. Der Startwert ist ein leerer Text. Das „computed“ für die Trefferliste liest dieses verzögerte Signal. Es rechnet also erst neu, wenn der Benutzer eine kurze Pause beim Tippen macht. So wird nicht bei jedem einzelnen Buchstaben gefiltert.</a:t>
            </a:r>
          </a:p>
        </p:txBody>
      </p:sp>
      <p:sp>
        <p:nvSpPr>
          <p:cNvPr id="4" name="Slide Number Placeholder 3"/>
          <p:cNvSpPr>
            <a:spLocks noGrp="1"/>
          </p:cNvSpPr>
          <p:nvPr>
            <p:ph type="sldNum" idx="66"/>
          </p:nvPr>
        </p:nvSpPr>
        <p:spPr/>
      </p:sp>
    </p:spTree>
  </p:cSld>
  <p:clrMapOvr>
    <a:masterClrMapping/>
  </p:clrMapOvr>
</p:notes>
</file>

<file path=ppt/notesSlides/notesSlide6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Signal → Observable → Signal“.</a:t>
            </a:r>
          </a:p>
          <a:p/>
          <a:p>
            <a:r>
              <a:t>Das Diagramm zeigt den Weg eines Filtertextes durch die Brücke zwischen Signals und RxJS. Der Benutzer tippt. Jeder Tastendruck setzt das Signal „filterText“ neu. „toObservable“ enthält intern einen „effect“: Er liest das Signal und gibt jeden neuen Wert mit „next“ in einen Datenstrom, also ein Observable.</a:t>
            </a:r>
          </a:p>
          <a:p/>
          <a:p>
            <a:r>
              <a:t>Der Operator „debounceTime“ hält die Werte zurück und wartet, bis 300 Millisekunden lang nichts Neues kommt. Erst wenn der Benutzer nach „Müller“ eine Pause macht, reicht er genau diesen letzten Wert weiter. „toSignal“ hat den Strom abonniert und legt den Wert in das Signal „debounced“.</a:t>
            </a:r>
          </a:p>
          <a:p/>
          <a:p>
            <a:r>
              <a:t>Ab hier gilt wieder das bekannte Signal-Verhalten: „visible“ wird als veraltet markiert, liest beim nächsten Zugriff „debounced“ und filtert die Liste ein einziges Mal. Die Zwischenwerte „M“ und „Mü“ lösen also keine Filterung aus.</a:t>
            </a:r>
          </a:p>
        </p:txBody>
      </p:sp>
      <p:sp>
        <p:nvSpPr>
          <p:cNvPr id="4" name="Slide Number Placeholder 3"/>
          <p:cNvSpPr>
            <a:spLocks noGrp="1"/>
          </p:cNvSpPr>
          <p:nvPr>
            <p:ph type="sldNum" idx="66"/>
          </p:nvPr>
        </p:nvSpPr>
        <p:spPr/>
      </p:sp>
    </p:spTree>
  </p:cSld>
  <p:clrMapOvr>
    <a:masterClrMapping/>
  </p:clrMapOvr>
</p:notes>
</file>

<file path=ppt/notesSlides/notesSlide6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der Brücke zu RxJS“.</a:t>
            </a:r>
          </a:p>
          <a:p/>
          <a:p>
            <a:r>
              <a:t>Erste Stolperfalle: Ohne Startwert kann das Signal „undefined“ sein. Das muss man im Template berücksichtigen, zum Beispiel mit „@if“. Zweite Stolperfalle: Ruft man „toSignal“ in „ngOnInit“ oder in einer normalen Methode auf, fehlt der Injection Context, und Angular meldet den Fehler „NG0203“. Grund: „toSignal“ muss wissen, wann es sich wieder abmelden soll.</a:t>
            </a:r>
          </a:p>
          <a:p/>
          <a:p>
            <a:r>
              <a:t>Dritte Stolperfalle: Ein Fehler im Strom wird beim Lesen des Signals erneut ausgelöst. Deshalb fängt man ihn vorher mit „catchError“ ab. Vierte Stolperfalle: „toSignal“ meldet sich sofort an. Eine HTTP-Anfrage startet also schon beim Erzeugen des Signals, nicht erst beim ersten Lesen.</a:t>
            </a:r>
          </a:p>
          <a:p/>
          <a:p>
            <a:r>
              <a:t>Als Richtschnur gilt: 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6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Kopie“.</a:t>
            </a:r>
          </a:p>
          <a:p/>
          <a:p>
            <a:r>
              <a:t>Die erste Stolperfalle ist das Verändern eines Wertes an Ort und Stelle, auf Englisch „Mutation“. Im Beispiel wird mit „push“ ein Kunde an die bestehende Liste angehängt. Das Signal merkt davon nichts, denn es ist immer noch dasselbe Array.</a:t>
            </a:r>
          </a:p>
          <a:p/>
          <a:p>
            <a:r>
              <a:t>Der Grund: Signals vergleichen alten und neuen Wert mit „Object.is“. Bei Arrays und Objekten zählt dabei nur die Referenz, also die Frage, ob es dasselbe Objekt ist. „push“ ändert den Inhalt, aber nicht die Referenz. Deshalb gibt es keine Benachrichtigung, und „computed“ und Template bleiben beim alten Stand.</a:t>
            </a:r>
          </a:p>
          <a:p/>
          <a:p>
            <a:r>
              <a:t>Richtig ist, mit „update“ eine neue Liste zu erzeugen, zum Beispiel mit dem Spread-Operator, den drei Punkten. Auch beim Ändern oder Entfernen eines Eintrags entsteht mit „map“ oder „filter“ eine neue Liste.</a:t>
            </a:r>
          </a:p>
        </p:txBody>
      </p:sp>
      <p:sp>
        <p:nvSpPr>
          <p:cNvPr id="4" name="Slide Number Placeholder 3"/>
          <p:cNvSpPr>
            <a:spLocks noGrp="1"/>
          </p:cNvSpPr>
          <p:nvPr>
            <p:ph type="sldNum" idx="66"/>
          </p:nvPr>
        </p:nvSpPr>
        <p:spPr/>
      </p:sp>
    </p:spTree>
  </p:cSld>
  <p:clrMapOvr>
    <a:masterClrMapping/>
  </p:clrMapOvr>
</p:notes>
</file>

<file path=ppt/notesSlides/notesSlide6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Kreise. Im Beispiel schreibt der erste „effect“ in das Signal „b“. Der zweite „effect“ liest „b“ und schreibt wieder in „a“. Weil „a“ sich ändert, wird der erste „effect“ wieder veraltet und läuft erneut. So stoßen sich die beiden gegenseitig immer wieder an. Das ist eine Endlosschleife und sehr schwer zu untersuchen.</a:t>
            </a:r>
          </a:p>
          <a:p/>
          <a:p>
            <a:r>
              <a:t>Besser ist es, nur eine Quelle zu haben und alles andere mit „computed“ daraus abzuleiten. Im Beispiel ist „b“ dann einfach „a“ mal zwei.</a:t>
            </a:r>
          </a:p>
          <a:p/>
          <a:p>
            <a:r>
              <a:t>Unten steht noch eine Regel: Innerhalb eines „computed“ darf man kein Signal schreiben. Angular meldet dann den Fehler mit dem Code „NG0600“. So verhindert Angular, dass ein Berechnen selbst neue Änderungen auslöst.</a:t>
            </a:r>
          </a:p>
        </p:txBody>
      </p:sp>
      <p:sp>
        <p:nvSpPr>
          <p:cNvPr id="4" name="Slide Number Placeholder 3"/>
          <p:cNvSpPr>
            <a:spLocks noGrp="1"/>
          </p:cNvSpPr>
          <p:nvPr>
            <p:ph type="sldNum" idx="66"/>
          </p:nvPr>
        </p:nvSpPr>
        <p:spPr/>
      </p:sp>
    </p:spTree>
  </p:cSld>
  <p:clrMapOvr>
    <a:masterClrMapping/>
  </p:clrMapOvr>
</p:notes>
</file>

<file path=ppt/notesSlides/notesSlide6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Beide Varianten zeigen dieselbe Summe an. Die Methode „expensiveSum“ wird aber bei jeder Prüfung der Oberfläche neu aufgerufen, auch wenn sich nichts geändert hat.</a:t>
            </a:r>
          </a:p>
          <a:p/>
          <a:p>
            <a:r>
              <a:t>Der Grund: Angular weiß nicht, ob eine normale Methode ein anderes Ergebnis liefern würde. Also ruft es sie sicherheitshalber jedes Mal auf. Ein „computed“ wie „total“ kennt dagegen seine Abhängigkeiten und hat einen Speicher. Es rechnet nur dann neu, wenn sich die Liste „items“ geändert hat.</a:t>
            </a:r>
          </a:p>
          <a:p/>
          <a:p>
            <a:r>
              <a:t>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6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4: zu grobe Signals“.</a:t>
            </a:r>
          </a:p>
          <a:p/>
          <a:p>
            <a:r>
              <a:t>Die vierte Stolperfalle ist ein einziges großes Signal für den ganzen Zustand. Im Beispiel enthält „state“ die Kundenliste, den Filter, die Auswahl und einen Ladezustand.</a:t>
            </a:r>
          </a:p>
          <a:p/>
          <a:p>
            <a:r>
              <a:t>Ändert man nur den Ladezustand, entsteht trotzdem ein neues Gesamtobjekt. Alle, die „state“ lesen, gelten als veraltet, auch die Liste und die Auswahl. Der Grund: Angular verfolgt Abhängigkeiten pro Signal, nicht pro Feld in einem Objekt.</a:t>
            </a:r>
          </a:p>
          <a:p/>
          <a:p>
            <a:r>
              <a:t>Besser sind mehrere kleine Signals, eines pro Fakt. Was man aus mehreren braucht, setzt man mit „computed“ zusammen, hier den ausgewählten Kunden aus Liste und Kennung.</a:t>
            </a:r>
          </a:p>
        </p:txBody>
      </p:sp>
      <p:sp>
        <p:nvSpPr>
          <p:cNvPr id="4" name="Slide Number Placeholder 3"/>
          <p:cNvSpPr>
            <a:spLocks noGrp="1"/>
          </p:cNvSpPr>
          <p:nvPr>
            <p:ph type="sldNum" idx="66"/>
          </p:nvPr>
        </p:nvSpPr>
        <p:spPr/>
      </p:sp>
    </p:spTree>
  </p:cSld>
  <p:clrMapOvr>
    <a:masterClrMapping/>
  </p:clrMapOvr>
</p:notes>
</file>

<file path=ppt/notesSlides/notesSlide6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5: kleine Fehler, große Wirkung“.</a:t>
            </a:r>
          </a:p>
          <a:p/>
          <a:p>
            <a:r>
              <a:t>Vergisst man die Klammern beim Lesen, prüft man nicht den Wert, sondern das Signal selbst. Ein Signal ist eine Funktion, und eine Funktion gilt in einer Bedingung immer als wahr. Die Bedingung ist dann immer erfüllt.</a:t>
            </a:r>
          </a:p>
          <a:p/>
          <a:p>
            <a:r>
              <a:t>In einem asynchronen „effect“ endet der reaktive Kontext beim ersten „await“. Signals, die danach gelesen werden, sind keine Abhängigkeiten. Man liest sie deshalb vorher und speichert die Werte in Variablen.</a:t>
            </a:r>
          </a:p>
          <a:p/>
          <a:p>
            <a:r>
              <a:t>Ein „input“ kann die Komponente nicht selbst setzen, denn es ist schreibgeschützt. Braucht man einen änderbaren Wert, der von einer Eingabe ausgeht, nimmt man „linkedSignal“ mit dem „input“ als Quelle. Und ein „effect“ in „ngOnInit“ führt zum Fehler „NG0203“, weil dort der Injection Context fehlt.</a:t>
            </a:r>
          </a:p>
        </p:txBody>
      </p:sp>
      <p:sp>
        <p:nvSpPr>
          <p:cNvPr id="4" name="Slide Number Placeholder 3"/>
          <p:cNvSpPr>
            <a:spLocks noGrp="1"/>
          </p:cNvSpPr>
          <p:nvPr>
            <p:ph type="sldNum" idx="66"/>
          </p:nvPr>
        </p:nvSpPr>
        <p:spPr/>
      </p:sp>
    </p:spTree>
  </p:cSld>
  <p:clrMapOvr>
    <a:masterClrMapping/>
  </p:clrMapOvr>
</p:notes>
</file>

<file path=ppt/notesSlides/notesSlide6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Diese Folie fasst die Regeln für den Datenfluss zusammen. Von der Eltern-Komponente zum Kind fließen Daten über „input“ nach unten. Vom Kind zur Eltern-Komponente fließen Ereignisse über „output“ nach oben. Zustand, den mehrere Komponenten brauchen, liegt in einem Service oder Store mit Signals. Wer ihn liest, wird automatisch aktualisiert.</a:t>
            </a:r>
          </a:p>
          <a:p/>
          <a:p>
            <a:r>
              <a:t>Jeder Zustand hat genau einen Besitzer, und Daten fließen in eine Richtung. Geändert wird der Zustand nur über Methoden mit klaren Namen, sogenannte „Aktionen“, zum Beispiel „addToCart“.</a:t>
            </a:r>
          </a:p>
          <a:p/>
          <a:p>
            <a:r>
              <a:t>Zur Fehlersuche zeigen die Angular DevTools, eine Erweiterung für den Browser, den Signal-Graphen und die aktuellen Werte. Im Zweifel hilft auch kurzzeitig ein „effect“, der einen Wert in die Konsole schreibt.</a:t>
            </a:r>
          </a:p>
        </p:txBody>
      </p:sp>
      <p:sp>
        <p:nvSpPr>
          <p:cNvPr id="4" name="Slide Number Placeholder 3"/>
          <p:cNvSpPr>
            <a:spLocks noGrp="1"/>
          </p:cNvSpPr>
          <p:nvPr>
            <p:ph type="sldNum" idx="66"/>
          </p:nvPr>
        </p:nvSpPr>
        <p:spPr/>
      </p:sp>
    </p:spTree>
  </p:cSld>
  <p:clrMapOvr>
    <a:masterClrMapping/>
  </p:clrMapOvr>
</p:notes>
</file>

<file path=ppt/notesSlides/notesSlide6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Diese Folie hilft bei der Wahl des passenden Bausteins. Man stellt die Fragen der Reihe nach. Kommt ein Wert direkt vom Benutzer oder von einem Ereignis, nimmt man „signal“. Folgt er aus anderen Werten, nimmt man „computed“. Soll er trotzdem von Hand überschreibbar sein, nimmt man „linkedSignal“.</a:t>
            </a:r>
          </a:p>
          <a:p/>
          <a:p>
            <a:r>
              <a:t>Kommt ein Wert asynchron vom Server, nimmt man „resource“ oder „httpResource“. Muss etwas außerhalb von Angular passieren, nimmt man „effect“. Braucht diese Arbeit das fertig gezeichnete Seitenelement, nimmt man „afterRenderEffect“.</a:t>
            </a:r>
          </a:p>
          <a:p/>
          <a:p>
            <a:r>
              <a:t>Geht es um Zeit und Ereignisströme, also Verzögern, Abbrechen oder Wiederholen, bleibt RxJS die beste Wahl. Am Rand der Komponente wandelt man das Ergebnis mit „toSignal“ in ein Signal um.</a:t>
            </a:r>
          </a:p>
        </p:txBody>
      </p:sp>
      <p:sp>
        <p:nvSpPr>
          <p:cNvPr id="4" name="Slide Number Placeholder 3"/>
          <p:cNvSpPr>
            <a:spLocks noGrp="1"/>
          </p:cNvSpPr>
          <p:nvPr>
            <p:ph type="sldNum" idx="66"/>
          </p:nvPr>
        </p:nvSpPr>
        <p:spPr/>
      </p:sp>
    </p:spTree>
  </p:cSld>
  <p:clrMapOvr>
    <a:masterClrMapping/>
  </p:clrMapOvr>
</p:notes>
</file>

<file path=ppt/notesSlides/notesSlide6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 Übung hat drei Teile. In Teil A werden die Kundenliste und die gefilterte Liste zu „computed“ umgebaut. Mit einer Ausgabe in der Konsole prüft man, dass nur noch gerechnet wird, wenn sich wirklich etwas geändert hat, und nicht bei jedem Mausklick.</a:t>
            </a:r>
          </a:p>
          <a:p/>
          <a:p>
            <a:r>
              <a:t>In Teil B sichert ein „effect“ den Filtertext im Speicher des Browsers. Beim Neuladen der Seite wird er als Startwert wiederhergestellt. Weil der Speicher gesperrt sein kann, steht der Zugriff in „try“ und „catch“.</a:t>
            </a:r>
          </a:p>
          <a:p/>
          <a:p>
            <a:r>
              <a:t>In Teil C fügt man Code mit drei absichtlichen Fehlern ein, sucht sie, benennt die verletzte Regel und behebt sie. Zum Schluss überlegt man,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6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Das ist der Code, den die Teilnehmer in Teil C in die Kundenliste einfügen. Er enthält drei absichtliche Fehler, die mit den Nummern 1 bis 3 markiert sind. Der erste Block gehört in die Klasse, der zweite ans Ende des Templates nach der Liste.</a:t>
            </a:r>
          </a:p>
          <a:p/>
          <a:p>
            <a:r>
              <a:t>Fehler 1 und Fehler 3 sind jeweils ein „effect“, der nur ein anderes Signal setzt, also abgeleiteter Zustand in Verkleidung. Fehler 2 hängt mit „push“ einen Kunden an ein Array an, ohne eine neue Referenz zu erzeugen. Beim Klick auf den Button passiert deshalb in der Liste nichts.</a:t>
            </a:r>
          </a:p>
          <a:p/>
          <a:p>
            <a:r>
              <a:t>Die Teilnehmer sollen die Fehler zuerst selbst finden und benennen. Die Lösungen stehen in den Lösungshinweisen der Aufgabe und im Ordner der Musterlösung.</a:t>
            </a:r>
          </a:p>
        </p:txBody>
      </p:sp>
      <p:sp>
        <p:nvSpPr>
          <p:cNvPr id="4" name="Slide Number Placeholder 3"/>
          <p:cNvSpPr>
            <a:spLocks noGrp="1"/>
          </p:cNvSpPr>
          <p:nvPr>
            <p:ph type="sldNum" idx="66"/>
          </p:nvPr>
        </p:nvSpPr>
        <p:spPr/>
      </p:sp>
    </p:spTree>
  </p:cSld>
  <p:clrMapOvr>
    <a:masterClrMapping/>
  </p:clrMapOvr>
</p:notes>
</file>

<file path=ppt/notesSlides/notesSlide6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den Einsatz von künstlicher Intelligenz beim Programmieren. Es geht darum, wofür KI-Werkzeuge gut geeignet sind, wie man ihnen den richtigen Kontext gibt, wie man ihre Vorschläge prüft und welche typischen Fehler sie bei Angular machen. Am Ende stehen Übung 37 und das Abschlussprojekt in Übung 38.</a:t>
            </a:r>
          </a:p>
        </p:txBody>
      </p:sp>
      <p:sp>
        <p:nvSpPr>
          <p:cNvPr id="4" name="Slide Number Placeholder 3"/>
          <p:cNvSpPr>
            <a:spLocks noGrp="1"/>
          </p:cNvSpPr>
          <p:nvPr>
            <p:ph type="sldNum" idx="66"/>
          </p:nvPr>
        </p:nvSpPr>
        <p:spPr/>
      </p:sp>
    </p:spTree>
  </p:cSld>
  <p:clrMapOvr>
    <a:masterClrMapping/>
  </p:clrMapOvr>
</p:notes>
</file>

<file path=ppt/notesSlides/notesSlide6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Die Folie ordnet Aufgaben danach, wie gut KI-Werkzeuge sie erledigen. Sehr gut geeignet sind sich wiederholende Aufgaben: ein Grundgerüst erzeugen, Standardcode schreiben oder Namen im ganzen Projekt ändern. Gut geeignet ist es auch, sich fremden Code oder eine Fehlermeldung erklären zu lassen.</a:t>
            </a:r>
          </a:p>
          <a:p/>
          <a:p>
            <a:r>
              <a:t>Tests und Randfälle kann die KI vorschlagen, aber man muss sie prüfen. Umbauten macht man in kleinen Schritten und sichert sie mit Tests ab. Bei Architektur, Fachlogik und Sicherheit ist die KI nur ein Gesprächspartner, die Entscheidung trifft der Mensch.</a:t>
            </a:r>
          </a:p>
          <a:p/>
          <a:p>
            <a:r>
              <a:t>Riskant ist es, große Änderungen ungeprüft zu übernehmen. Die KI ist ein schneller Assistent, aber sie trägt keine Verantwortung. Verantwortlich bleibt der Entwickler, der den Code übernimmt.</a:t>
            </a:r>
          </a:p>
        </p:txBody>
      </p:sp>
      <p:sp>
        <p:nvSpPr>
          <p:cNvPr id="4" name="Slide Number Placeholder 3"/>
          <p:cNvSpPr>
            <a:spLocks noGrp="1"/>
          </p:cNvSpPr>
          <p:nvPr>
            <p:ph type="sldNum" idx="66"/>
          </p:nvPr>
        </p:nvSpPr>
        <p:spPr/>
      </p:sp>
    </p:spTree>
  </p:cSld>
  <p:clrMapOvr>
    <a:masterClrMapping/>
  </p:clrMapOvr>
</p:notes>
</file>

<file path=ppt/notesSlides/notesSlide6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Im Chat stellt man Fragen und lässt sich Code erklären. Die Antwort kopiert man selbst. Im Editor macht das Werkzeug während des Tippens Vorschläge für die nächsten Zeilen.</a:t>
            </a:r>
          </a:p>
          <a:p/>
          <a:p>
            <a:r>
              <a:t>Ein „Agent“ ist ein Werkzeug, das selbstständig arbeitet. Es liest Dateien im Projekt, ändert mehrere Dateien und führt Befehle aus, zum Beispiel den Build oder die Tests.</a:t>
            </a:r>
          </a:p>
          <a:p/>
          <a:p>
            <a:r>
              <a:t>Das Diagramm zeigt die Stufen von unten nach oben. Je selbstständiger das Werkzeug arbeitet, desto mehr muss man prüfen, und desto größer kann der Schaden sein, wenn etwas schiefgeht.</a:t>
            </a:r>
          </a:p>
        </p:txBody>
      </p:sp>
      <p:sp>
        <p:nvSpPr>
          <p:cNvPr id="4" name="Slide Number Placeholder 3"/>
          <p:cNvSpPr>
            <a:spLocks noGrp="1"/>
          </p:cNvSpPr>
          <p:nvPr>
            <p:ph type="sldNum" idx="66"/>
          </p:nvPr>
        </p:nvSpPr>
        <p:spPr/>
      </p:sp>
    </p:spTree>
  </p:cSld>
  <p:clrMapOvr>
    <a:masterClrMapping/>
  </p:clrMapOvr>
</p:notes>
</file>

<file path=ppt/notesSlides/notesSlide6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„Arbeitsablauf mit KI: ein Kreislauf“.</a:t>
            </a:r>
          </a:p>
          <a:p/>
          <a:p>
            <a:r>
              <a:t>Die Arbeit mit einer KI ist ein Kreislauf aus vier Schritten. Das Diagramm zeigt ihn. Im ersten Schritt gibt man „Kontext“: das Ziel, die betroffenen Dateien, die Regeln des Projekts und Beispiele. Im zweiten Schritt macht die KI einen Vorschlag, entweder einen Plan oder Code.</a:t>
            </a:r>
          </a:p>
          <a:p/>
          <a:p>
            <a:r>
              <a:t>Im dritten Schritt prüft der Mensch den Vorschlag: Er liest ihn und vergleicht ihn mit der Checkliste. Im vierten Schritt wird getestet: Build, Lint, automatische Tests und Ausprobieren im Browser.</a:t>
            </a:r>
          </a:p>
          <a:p/>
          <a:p>
            <a:r>
              <a:t>Was dabei auffällt, gibt man der KI als neuen Kontext zurück, und der Kreislauf beginnt erneut. Erst wenn Prüfung und Tests in Ordnung sind, wird die Änderung mit einem „Commit“ gespeichert.</a:t>
            </a:r>
          </a:p>
        </p:txBody>
      </p:sp>
      <p:sp>
        <p:nvSpPr>
          <p:cNvPr id="4" name="Slide Number Placeholder 3"/>
          <p:cNvSpPr>
            <a:spLocks noGrp="1"/>
          </p:cNvSpPr>
          <p:nvPr>
            <p:ph type="sldNum" idx="66"/>
          </p:nvPr>
        </p:nvSpPr>
        <p:spPr/>
      </p:sp>
    </p:spTree>
  </p:cSld>
  <p:clrMapOvr>
    <a:masterClrMapping/>
  </p:clrMapOvr>
</p:notes>
</file>

<file path=ppt/notesSlides/notesSlide6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 ist alles“.</a:t>
            </a:r>
          </a:p>
          <a:p/>
          <a:p>
            <a:r>
              <a:t>Eine KI weiß nur das, was in ihrem „Kontext“ steht. Der Kontext ist alles, was sie bei einer Anfrage sieht: die Nachricht, angehängte Dateien und Regeldateien.</a:t>
            </a:r>
          </a:p>
          <a:p/>
          <a:p>
            <a:r>
              <a:t>Die Aufgabe sollte klar und klein sein, zum Beispiel: „Erstelle eine Komponente CustomerFilter mit input und output“. Eine Aufgabe wie „Baue die App um“ ist zu groß und zu ungenau. Man nennt die betroffenen Dateien und zeigt ein Beispiel aus dem Projekt, an dem sich die KI orientieren soll.</a:t>
            </a:r>
          </a:p>
          <a:p/>
          <a:p>
            <a:r>
              <a:t>Dazu kommen die Regeln des Projekts und die genaue Version, also zum Beispiel „Angular 21, ohne zone.js, Tests mit Vitest“. Ohne diese Angabe schreibt die KI oft Code im Stil älterer Versionen, weil sie davon mehr Beispiele gelernt hat.</a:t>
            </a:r>
          </a:p>
        </p:txBody>
      </p:sp>
      <p:sp>
        <p:nvSpPr>
          <p:cNvPr id="4" name="Slide Number Placeholder 3"/>
          <p:cNvSpPr>
            <a:spLocks noGrp="1"/>
          </p:cNvSpPr>
          <p:nvPr>
            <p:ph type="sldNum" idx="66"/>
          </p:nvPr>
        </p:nvSpPr>
        <p:spPr/>
      </p:sp>
    </p:spTree>
  </p:cSld>
  <p:clrMapOvr>
    <a:masterClrMapping/>
  </p:clrMapOvr>
</p:notes>
</file>

<file path=ppt/notesSlides/notesSlide6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„Projektregeln als Datei: AGENTS.md, CLAUDE.md“.</a:t>
            </a:r>
          </a:p>
          <a:p/>
          <a:p>
            <a:r>
              <a:t>Damit man die Regeln nicht jedes Mal neu schreiben muss, legt man sie als Textdatei im Repository ab. Das KI-Werkzeug liest diese Datei automatisch zu Beginn jeder Sitzung. Der Name hängt vom Werkzeug ab. „AGENTS.md“ ist ein Name, den mehrere Werkzeuge verstehen. „CLAUDE.md“ liest das Werkzeug „Claude Code“. Für „GitHub Copilot“ gibt es die Datei „copilot-instructions.md“ im Ordner „.github“.</a:t>
            </a:r>
          </a:p>
          <a:p/>
          <a:p>
            <a:r>
              <a:t>In die Datei gehören die Angular-Version, die Stilregeln, Verbote und die Befehle für Build und Test. Sie sollte kurz und konkret sein und zusammen mit dem Code gepflegt werden.</a:t>
            </a:r>
          </a:p>
          <a:p/>
          <a:p>
            <a:r>
              <a:t>Man kann sie sich wie die Einarbeitung eines neuen Kollegen vorstellen, nur dass sie bei jeder neuen Sitzung wiederholt wird. Das Diagramm zeigt die typischen Abschnitte.</a:t>
            </a:r>
          </a:p>
        </p:txBody>
      </p:sp>
      <p:sp>
        <p:nvSpPr>
          <p:cNvPr id="4" name="Slide Number Placeholder 3"/>
          <p:cNvSpPr>
            <a:spLocks noGrp="1"/>
          </p:cNvSpPr>
          <p:nvPr>
            <p:ph type="sldNum" idx="66"/>
          </p:nvPr>
        </p:nvSpPr>
        <p:spPr/>
      </p:sp>
    </p:spTree>
  </p:cSld>
  <p:clrMapOvr>
    <a:masterClrMapping/>
  </p:clrMapOvr>
</p:notes>
</file>

<file path=ppt/notesSlides/notesSlide6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Die Folie zeigt eine mögliche Regeldatei für ein Angular-21-Projekt. Sie ist in Abschnitte gegliedert.</a:t>
            </a:r>
          </a:p>
          <a:p/>
          <a:p>
            <a:r>
              <a:t>Unter „Technik“ stehen die Version und die modernen Schreibweisen: eigenständige Komponenten ohne „NgModule“, „inject“ statt Übergabe im Konstruktor, die neue Ablaufsteuerung mit „@if“ und „@for“, Signal-Eingaben mit „input“ und „output“, und Signals für den Zustand.</a:t>
            </a:r>
          </a:p>
          <a:p/>
          <a:p>
            <a:r>
              <a:t>Unter „Verbote“ stehen Dinge, die die KI nicht ohne Rückfrage tun darf: den Typ „any“ verwenden, HTML zusammenbauen, die Sicherheitsprüfung abschalten oder neue Pakete installieren. Unter „Befehle“ steht, wie man baut, testet und prüft. So kann ein Agent seine eigenen Änderungen selbst überprüfen.</a:t>
            </a:r>
          </a:p>
        </p:txBody>
      </p:sp>
      <p:sp>
        <p:nvSpPr>
          <p:cNvPr id="4" name="Slide Number Placeholder 3"/>
          <p:cNvSpPr>
            <a:spLocks noGrp="1"/>
          </p:cNvSpPr>
          <p:nvPr>
            <p:ph type="sldNum" idx="66"/>
          </p:nvPr>
        </p:nvSpPr>
        <p:spPr/>
      </p:sp>
    </p:spTree>
  </p:cSld>
  <p:clrMapOvr>
    <a:masterClrMapping/>
  </p:clrMapOvr>
</p:notes>
</file>

<file path=ppt/notesSlides/notesSlide6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„Angular-Hilfen für KI-Werkzeuge“.</a:t>
            </a:r>
          </a:p>
          <a:p/>
          <a:p>
            <a:r>
              <a:t>Das Angular-Team unterstützt die Arbeit mit KI-Werkzeugen. Auf der Seite „angular.dev/ai“ gibt es eine Sammlung von Best-Practice-Regeln, die man in die eigene Regeldatei übernehmen kann. Sie beschreiben die modernen Schreibweisen, die auch im Kurs verwendet werden.</a:t>
            </a:r>
          </a:p>
          <a:p/>
          <a:p>
            <a:r>
              <a:t>Beim Anlegen eines neuen Projekts mit „ng new“ fragt die Angular CLI, für welches KI-Werkzeug eine Regeldatei erzeugt werden soll. Mit der Option „ai-config“ kann man das auch direkt angeben.</a:t>
            </a:r>
          </a:p>
          <a:p/>
          <a:p>
            <a:r>
              <a:t>Die Datei „llms.txt“ auf angular.dev ist eine Übersicht der Dokumentation, die für Sprachmodelle aufbereitet ist. Ein Sprachmodell ist die Technik hinter den KI-Werkzeugen. Außerdem bringt die Angular CLI einen eigenen „MCP-Server“ mit. Das erklärt die nächste Folie. Die genauen Optionen ändern sich schnell, deshalb immer in der aktuellen Dokumentation nachsehen.</a:t>
            </a:r>
          </a:p>
        </p:txBody>
      </p:sp>
      <p:sp>
        <p:nvSpPr>
          <p:cNvPr id="4" name="Slide Number Placeholder 3"/>
          <p:cNvSpPr>
            <a:spLocks noGrp="1"/>
          </p:cNvSpPr>
          <p:nvPr>
            <p:ph type="sldNum" idx="66"/>
          </p:nvPr>
        </p:nvSpPr>
        <p:spPr/>
      </p:sp>
    </p:spTree>
  </p:cSld>
  <p:clrMapOvr>
    <a:masterClrMapping/>
  </p:clrMapOvr>
</p:notes>
</file>

<file path=ppt/notesSlides/notesSlide6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Angular CLI MCP-Server“.</a:t>
            </a:r>
          </a:p>
          <a:p/>
          <a:p>
            <a:r>
              <a:t>„MCP“ steht für „Model Context Protocol“. Das ist ein Standard, über den ein KI-Werkzeug zusätzliche Funktionen aufrufen kann, die ein sogenannter „MCP-Server“ anbietet. So bekommt die KI Informationen, die nicht in ihrem Training standen.</a:t>
            </a:r>
          </a:p>
          <a:p/>
          <a:p>
            <a:r>
              <a:t>Die Angular CLI enthält einen solchen Server. Man startet ihn mit dem Befehl „ng mcp“. Er bietet zum Beispiel die aktuellen Best Practices von Angular, eine Suche in der offiziellen Dokumentation und eine Übersicht der Projekte im eigenen Workspace. Damit greift die KI auf aktuelles Wissen zu, statt auf veraltete Beispiele.</a:t>
            </a:r>
          </a:p>
          <a:p/>
          <a:p>
            <a:r>
              <a:t>Rechts steht ein Beispiel für die Einstellung im KI-Werkzeug. Das Werkzeug startet den Server dann selbst über „npx“. Die genaue Datei hängt vom Werkzeug ab. Auch mit MCP gilt: Die Ergebnisse werden geprüft.</a:t>
            </a:r>
          </a:p>
        </p:txBody>
      </p:sp>
      <p:sp>
        <p:nvSpPr>
          <p:cNvPr id="4" name="Slide Number Placeholder 3"/>
          <p:cNvSpPr>
            <a:spLocks noGrp="1"/>
          </p:cNvSpPr>
          <p:nvPr>
            <p:ph type="sldNum" idx="66"/>
          </p:nvPr>
        </p:nvSpPr>
        <p:spPr/>
      </p:sp>
    </p:spTree>
  </p:cSld>
  <p:clrMapOvr>
    <a:masterClrMapping/>
  </p:clrMapOvr>
</p:notes>
</file>

<file path=ppt/notesSlides/notesSlide6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„KI-Werkzeuge: wer ist beteiligt?“.</a:t>
            </a:r>
          </a:p>
          <a:p/>
          <a:p>
            <a:r>
              <a:t>Das Diagramm zeigt, wo die Bausteine der KI-Unterstützung liegen. Verschachtelte Kästen bedeuten: Der innere Kasten gehört zum äußeren.</a:t>
            </a:r>
          </a:p>
          <a:p/>
          <a:p>
            <a:r>
              <a:t>Auf dem Rechner des Entwicklers läuft der Editor mit dem KI-Werkzeug. Darin arbeitet der „KI-Agent“; das ist der Teil, der Dateien liest, Befehle ausführt und Änderungen vorschlägt. Im Repository liegen die Regeldatei „AGENTS.md“ und der Code. Ebenfalls auf dem Rechner läuft der MCP-Server der Angular CLI, gestartet mit „ng mcp“. „MCP“ ist ein Standard, über den ein KI-Werkzeug fremde Funktionen aufrufen kann.</a:t>
            </a:r>
          </a:p>
          <a:p/>
          <a:p>
            <a:r>
              <a:t>Die Pfeile zeigen die Wege: Der Agent liest die Regeldatei, ruft den MCP-Server auf und schickt den Auftrag mit dem Kontext an das Sprachmodell. Das Modell läuft meist beim Anbieter im Internet. Es sieht nur das, was der Agent ihm schickt. Deshalb ist der Kontext so wichtig, und deshalb gehören keine Geheimnisse in Dateien, die der Agent mitschickt. Wie die Teile nacheinander zusammenarbeiten, zeigt die nächste Folie.</a:t>
            </a:r>
          </a:p>
        </p:txBody>
      </p:sp>
      <p:sp>
        <p:nvSpPr>
          <p:cNvPr id="4" name="Slide Number Placeholder 3"/>
          <p:cNvSpPr>
            <a:spLocks noGrp="1"/>
          </p:cNvSpPr>
          <p:nvPr>
            <p:ph type="sldNum" idx="66"/>
          </p:nvPr>
        </p:nvSpPr>
        <p:spPr/>
      </p:sp>
    </p:spTree>
  </p:cSld>
  <p:clrMapOvr>
    <a:masterClrMapping/>
  </p:clrMapOvr>
</p:notes>
</file>

<file path=ppt/notesSlides/notesSlide6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„Eine Anfrage an den KI-Agenten im Ablauf“.</a:t>
            </a:r>
          </a:p>
          <a:p/>
          <a:p>
            <a:r>
              <a:t>Das Diagramm zeigt eine typische Anfrage an einen KI-Agenten Schritt für Schritt. Beteiligt sind der Entwickler, der Agent im Editor, das Repository, das Sprachmodell und der MCP-Server der Angular CLI.</a:t>
            </a:r>
          </a:p>
          <a:p/>
          <a:p>
            <a:r>
              <a:t>In Schritt 1 gibt der Entwickler einen kleinen, klaren Auftrag. Der Agent liest in Schritt 2 die Regeldatei „AGENTS.md“ und die betroffenen Dateien. In Schritt 3 schickt er alles zusammen an das Sprachmodell. Das Modell antwortet in Schritt 4 noch nicht mit Code, sondern bittet darum, ein Werkzeug aufzurufen. Der Agent ruft in Schritt 5 beim MCP-Server die Funktion „get_best_practices“ auf und bekommt in Schritt 6 die aktuellen Regeln für Angular.</a:t>
            </a:r>
          </a:p>
          <a:p/>
          <a:p>
            <a:r>
              <a:t>In Schritt 7 gibt der Agent dieses Ergebnis an das Modell weiter, und in Schritt 8 kommt der Codevorschlag. Der Agent ändert in Schritt 9 die Dateien und kann zum Beispiel die Tests starten. In Schritt 10 zeigt er dem Entwickler die Änderungen. Diese Änderungen prüft der Entwickler wie einen Code-Review eines Kollegen.</a:t>
            </a:r>
          </a:p>
        </p:txBody>
      </p:sp>
      <p:sp>
        <p:nvSpPr>
          <p:cNvPr id="4" name="Slide Number Placeholder 3"/>
          <p:cNvSpPr>
            <a:spLocks noGrp="1"/>
          </p:cNvSpPr>
          <p:nvPr>
            <p:ph type="sldNum" idx="66"/>
          </p:nvPr>
        </p:nvSpPr>
        <p:spPr/>
      </p:sp>
    </p:spTree>
  </p:cSld>
  <p:clrMapOvr>
    <a:masterClrMapping/>
  </p:clrMapOvr>
</p:notes>
</file>

<file path=ppt/notesSlides/notesSlide6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an die KI. Ein guter Prompt hat fünf Teile. Der „Kontext“ beschreibt das Projekt und nennt die betroffene Datei. Die „Aufgabe“ sagt genau, was gemacht werden soll, hier: die Filter-Oberfläche in eine eigene Darstellungskomponente auslagern.</a:t>
            </a:r>
          </a:p>
          <a:p/>
          <a:p>
            <a:r>
              <a:t>Die „Vorgaben“ legen fest, welche Technik verwendet wird und was verboten ist. Die „Abnahme“ beschreibt, woran man erkennt, dass die Aufgabe erfüllt ist: Das Verhalten ändert sich nicht, es gibt einen Test, und der Build läuft durch.</a:t>
            </a:r>
          </a:p>
          <a:p/>
          <a:p>
            <a:r>
              <a:t>Das „Format“ sagt, wie die Antwort aussehen soll. Hier soll die KI zuerst einen Plan zeigen und erst danach die Änderungen. So kann man den Plan prüfen, bevor Code entsteht.</a:t>
            </a:r>
          </a:p>
        </p:txBody>
      </p:sp>
      <p:sp>
        <p:nvSpPr>
          <p:cNvPr id="4" name="Slide Number Placeholder 3"/>
          <p:cNvSpPr>
            <a:spLocks noGrp="1"/>
          </p:cNvSpPr>
          <p:nvPr>
            <p:ph type="sldNum" idx="66"/>
          </p:nvPr>
        </p:nvSpPr>
        <p:spPr/>
      </p:sp>
    </p:spTree>
  </p:cSld>
  <p:clrMapOvr>
    <a:masterClrMapping/>
  </p:clrMapOvr>
</p:notes>
</file>

<file path=ppt/notesSlides/notesSlide6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„Weitere Prompt-Beispiele“.</a:t>
            </a:r>
          </a:p>
          <a:p/>
          <a:p>
            <a:r>
              <a:t>Die Folie zeigt vier typische Prompts. Der erste lässt eine Fehlermeldung erklären und sagt ausdrücklich: Noch nichts ändern. So bleibt die Kontrolle beim Entwickler.</a:t>
            </a:r>
          </a:p>
          <a:p/>
          <a:p>
            <a:r>
              <a:t>Der zweite bittet um Vorschläge für Testfälle zur Funktion „safeReturnUrl“ aus Übung 36. Er nennt selbst schon die wichtigen Randfälle und will nur eine Liste, keinen Code. Der dritte bittet die KI, eine Änderung mit der Checkliste aus der Regeldatei zu prüfen und die Befunde genau zu benennen.</a:t>
            </a:r>
          </a:p>
          <a:p/>
          <a:p>
            <a:r>
              <a:t>Der vierte zeigt die zweite Runde: Die Befunde aus dem Review werden konkret zurückgegeben, mit Stelle und gewünschter Korrektur. Je genauer die Rückmeldung, desto besser das Ergebnis. So wird es auch in Übung 37 gemacht.</a:t>
            </a:r>
          </a:p>
        </p:txBody>
      </p:sp>
      <p:sp>
        <p:nvSpPr>
          <p:cNvPr id="4" name="Slide Number Placeholder 3"/>
          <p:cNvSpPr>
            <a:spLocks noGrp="1"/>
          </p:cNvSpPr>
          <p:nvPr>
            <p:ph type="sldNum" idx="66"/>
          </p:nvPr>
        </p:nvSpPr>
        <p:spPr/>
      </p:sp>
    </p:spTree>
  </p:cSld>
  <p:clrMapOvr>
    <a:masterClrMapping/>
  </p:clrMapOvr>
</p:notes>
</file>

<file path=ppt/notesSlides/notesSlide6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Ergebnisse entstehen selten in einer einzigen Runde. Das Diagramm zeigt den Ablauf. Zuerst nennt man das Ziel. Dann lässt man einen Plan erstellen und prüft ihn, bevor Dateien geändert werden. Danach setzt die KI einen kleinen Schritt um. Dieser wird geprüft und getestet und mit einem eigenen „Commit“ gespeichert. Ein Commit ist ein gespeicherter Zwischenstand in der Versionsverwaltung.</a:t>
            </a:r>
          </a:p>
          <a:p/>
          <a:p>
            <a:r>
              <a:t>Fehlermeldungen und Testausgaben gibt man genau so zurück, wie sie erscheinen. Bei langen Sitzungen vergisst die KI frühere Anweisungen leichter. Dann hilft es, die Regeln zu wiederholen oder neu zu beginnen und eine kurze Zusammenfassung mitzugeben.</a:t>
            </a:r>
          </a:p>
          <a:p/>
          <a:p>
            <a:r>
              <a:t>Weicht die KI vom Plan ab, stoppt man sofort und korrigiert, statt sie weiterlaufen zu lassen.</a:t>
            </a:r>
          </a:p>
        </p:txBody>
      </p:sp>
      <p:sp>
        <p:nvSpPr>
          <p:cNvPr id="4" name="Slide Number Placeholder 3"/>
          <p:cNvSpPr>
            <a:spLocks noGrp="1"/>
          </p:cNvSpPr>
          <p:nvPr>
            <p:ph type="sldNum" idx="66"/>
          </p:nvPr>
        </p:nvSpPr>
        <p:spPr/>
      </p:sp>
    </p:spTree>
  </p:cSld>
  <p:clrMapOvr>
    <a:masterClrMapping/>
  </p:clrMapOvr>
</p:notes>
</file>

<file path=ppt/notesSlides/notesSlide6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KI-Werkzeuge machen bei Angular immer wieder dieselben Fehler. Am häufigsten sind veraltete Schreibweisen, weil die KI mit viel älterem Code trainiert wurde: „*ngFor“, der Dekorator „@Input“, Übergabe im Konstruktor und „NgModule“. Manchmal erfindet sie Methoden oder Optionen, die es gar nicht gibt.</a:t>
            </a:r>
          </a:p>
          <a:p/>
          <a:p>
            <a:r>
              <a:t>Oft nutzt sie „effect“, um Werte abzugleichen, obwohl ein „computed“ richtig wäre. Sie setzt den Typ „any“ ein, damit Fehlermeldungen verschwinden, statt das Problem zu lösen. Sie baut unnötige Zwischenschichten ein.</a:t>
            </a:r>
          </a:p>
          <a:p/>
          <a:p>
            <a:r>
              <a:t>Dazu kommen Sicherheitsfehler wie „innerHTML“ oder Tokens im „localStorage“, Tests, die nichts Echtes prüfen, und ein anderer Stil als im übrigen Projekt. Die nächsten Folien zeigen ein konkretes Beispiel.</a:t>
            </a:r>
          </a:p>
        </p:txBody>
      </p:sp>
      <p:sp>
        <p:nvSpPr>
          <p:cNvPr id="4" name="Slide Number Placeholder 3"/>
          <p:cNvSpPr>
            <a:spLocks noGrp="1"/>
          </p:cNvSpPr>
          <p:nvPr>
            <p:ph type="sldNum" idx="66"/>
          </p:nvPr>
        </p:nvSpPr>
        <p:spPr/>
      </p:sp>
    </p:spTree>
  </p:cSld>
  <p:clrMapOvr>
    <a:masterClrMapping/>
  </p:clrMapOvr>
</p:notes>
</file>

<file path=ppt/notesSlides/notesSlide6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„Fehlerbeispiel: veralteter KI-Vorschlag“.</a:t>
            </a:r>
          </a:p>
          <a:p/>
          <a:p>
            <a:r>
              <a:t>Die Folie zeigt einen erfundenen, aber typischen Vorschlag einer KI für eine kleine Komponente, die einen Kunden als Etikett anzeigt. Der Code würde funktionieren, entspricht aber nicht Angular 21. Die Fehler sind mit Nummern markiert.</a:t>
            </a:r>
          </a:p>
          <a:p/>
          <a:p>
            <a:r>
              <a:t>Erstens wird ein „NgModule“ angelegt, das in Angular 21 nicht nötig ist. Zweitens steht im Template „*ngIf“ statt „@if“. Drittens wird die Eingabe mit dem Dekorator „@Input“ und dem Typ „any“ deklariert. Viertens wird der Store über den Konstruktor übergeben.</a:t>
            </a:r>
          </a:p>
          <a:p/>
          <a:p>
            <a:r>
              <a:t>Fünftens wird der Text „label“ nur einmal in „ngOnInit“ berechnet. Ändert sich später der Kunde oder die Gesamtzahl im Store, bleibt die Anzeige veraltet. Das ist ein echter Fehler, kein reines Stilproblem.</a:t>
            </a:r>
          </a:p>
        </p:txBody>
      </p:sp>
      <p:sp>
        <p:nvSpPr>
          <p:cNvPr id="4" name="Slide Number Placeholder 3"/>
          <p:cNvSpPr>
            <a:spLocks noGrp="1"/>
          </p:cNvSpPr>
          <p:nvPr>
            <p:ph type="sldNum" idx="66"/>
          </p:nvPr>
        </p:nvSpPr>
        <p:spPr/>
      </p:sp>
    </p:spTree>
  </p:cSld>
  <p:clrMapOvr>
    <a:masterClrMapping/>
  </p:clrMapOvr>
</p:notes>
</file>

<file path=ppt/notesSlides/notesSlide6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„Korrektur: dasselbe in Angular 21“.</a:t>
            </a:r>
          </a:p>
          <a:p/>
          <a:p>
            <a:r>
              <a:t>Die Folie zeigt dieselbe Komponente in der Schreibweise von Angular 21. Die Nummern entsprechen den Fehlern der vorigen Folie.</a:t>
            </a:r>
          </a:p>
          <a:p/>
          <a:p>
            <a:r>
              <a:t>Erstens gibt es kein Modul mehr, die Komponente ist eigenständig, also „standalone“. Das ist seit Angular 19 der Standard und muss nicht mehr angegeben werden. Zweitens wird im Template „@if“ verwendet. Drittens ist die Eingabe ein Signal-Input mit dem echten Typ „Customer“. Viertens wird der Store mit „inject“ geholt.</a:t>
            </a:r>
          </a:p>
          <a:p/>
          <a:p>
            <a:r>
              <a:t>Fünftens ist „label“ ein „computed“. Es liest das Signal „customer“ und die Anzahl aus dem Store. Ändert sich einer dieser Werte, berechnet Angular den Text automatisch neu. Dadurch ist auch „ngOnInit“ nicht mehr nötig. Dazu kommt die Strategie „OnPush“ wie in allen Komponenten des Projekts.</a:t>
            </a:r>
          </a:p>
        </p:txBody>
      </p:sp>
      <p:sp>
        <p:nvSpPr>
          <p:cNvPr id="4" name="Slide Number Placeholder 3"/>
          <p:cNvSpPr>
            <a:spLocks noGrp="1"/>
          </p:cNvSpPr>
          <p:nvPr>
            <p:ph type="sldNum" idx="66"/>
          </p:nvPr>
        </p:nvSpPr>
        <p:spPr/>
      </p:sp>
    </p:spTree>
  </p:cSld>
  <p:clrMapOvr>
    <a:masterClrMapping/>
  </p:clrMapOvr>
</p:notes>
</file>

<file path=ppt/notesSlides/notesSlide6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„Fehlerbeispiel: effect statt computed, any“.</a:t>
            </a:r>
          </a:p>
          <a:p/>
          <a:p>
            <a:r>
              <a:t>Der obere Teil stammt aus dem vorbereiteten KI-Ergebnis von Übung 37. Die Eingabe hat den Typ „any“ und ist ein Dekorator-Input. Ein „effect“ schreibt die Anzahl in ein Signal. Weil „customers“ aber kein Signal ist, merkt Angular keine Änderung, und der „effect“ läuft nie wieder. Ein zweiter „effect“ baut daraus einen HTML-Text, und das Template setzt ihn mit „innerHTML“ ein. Das ist genau das Muster, aus dem XSS entsteht.</a:t>
            </a:r>
          </a:p>
          <a:p/>
          <a:p>
            <a:r>
              <a:t>Der untere Teil zeigt die Korrektur. Die Eingabe ist ein Pflicht-Signal-Input mit dem Typ „readonly Customer[]“, also einer unveränderlichen Liste von Kunden. Die Anzahl ist ein „computed“, das sich automatisch anpasst. Die Meldung braucht kein eigenes Signal. Sie steht direkt im Template, mit „@if“ und Interpolation statt „innerHTML“.</a:t>
            </a:r>
          </a:p>
        </p:txBody>
      </p:sp>
      <p:sp>
        <p:nvSpPr>
          <p:cNvPr id="4" name="Slide Number Placeholder 3"/>
          <p:cNvSpPr>
            <a:spLocks noGrp="1"/>
          </p:cNvSpPr>
          <p:nvPr>
            <p:ph type="sldNum" idx="66"/>
          </p:nvPr>
        </p:nvSpPr>
        <p:spPr/>
      </p:sp>
    </p:spTree>
  </p:cSld>
  <p:clrMapOvr>
    <a:masterClrMapping/>
  </p:clrMapOvr>
</p:notes>
</file>

<file path=ppt/notesSlides/notesSlide6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Diese Checkliste verwendet man für jeden Vorschlag einer KI, genauso wie für eine Änderung eines Kollegen. Sie wird in Übung 37 gebraucht.</a:t>
            </a:r>
          </a:p>
          <a:p/>
          <a:p>
            <a:r>
              <a:t>Die sieben Fragen sind: Läuft der Code, also Build, Lint und Tests? Passt er zur Architektur des Projekts, oder entsteht eine zweite, parallele Lösung? Ist er modern, ohne veraltete Schreibweisen und ohne erfundene Methoden? Ist er sicher? Ist er reaktiv korrekt, also werden Signals richtig verwendet und Listen neu gesetzt statt verändert?</a:t>
            </a:r>
          </a:p>
          <a:p/>
          <a:p>
            <a:r>
              <a:t>Ist er sinnvoll getestet? Und die wichtigste Frage zum Schluss: Verstehe ich den Code?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6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„KI-Tests prüfen: aussagelos oder aussagekräftig?“.</a:t>
            </a:r>
          </a:p>
          <a:p/>
          <a:p>
            <a:r>
              <a:t>Der erste Test stammt aus dem KI-Vorschlag in Übung 37. Er prüft nur mit „toBeTruthy“, dass irgendein Text herauskommt. Dieser Test besteht auch dann, wenn die CSV-Datei völlig falsch ist. Er gibt also keine Sicherheit.</a:t>
            </a:r>
          </a:p>
          <a:p/>
          <a:p>
            <a:r>
              <a:t>Die beiden unteren Tests prüfen konkretes Verhalten. Der erste prüft einen Randfall: Ein Nachname enthält ein Komma. Dann muss der Wert in Anführungszeichen stehen, sonst verrutschen die Spalten. Der zweite prüft einen Sicherheitsfall: Ein Wert, der mit einem Gleichheitszeichen beginnt, könnte in Excel als Formel ausgeführt werden. Das nennt man „CSV-Injection“. Die Funktion setzt deshalb ein Hochkomma davor.</a:t>
            </a:r>
          </a:p>
          <a:p/>
          <a:p>
            <a:r>
              <a:t>Die Funktionen „toCsv“ und „escapeCsvField“ stammen aus der Musterlösung von Übung 37.</a:t>
            </a:r>
          </a:p>
        </p:txBody>
      </p:sp>
      <p:sp>
        <p:nvSpPr>
          <p:cNvPr id="4" name="Slide Number Placeholder 3"/>
          <p:cNvSpPr>
            <a:spLocks noGrp="1"/>
          </p:cNvSpPr>
          <p:nvPr>
            <p:ph type="sldNum" idx="66"/>
          </p:nvPr>
        </p:nvSpPr>
        <p:spPr/>
      </p:sp>
    </p:spTree>
  </p:cSld>
  <p:clrMapOvr>
    <a:masterClrMapping/>
  </p:clrMapOvr>
</p:notes>
</file>

<file path=ppt/notesSlides/notesSlide6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Die Folie stellt drei verbreitete Annahmen der Wirklichkeit gegenüber. Erste Annahme: Die KI kennt das Projekt. In Wirklichkeit kennt sie nur das, was in ihrem Kontext steht, also was man ihr gezeigt hat oder was sie selbst gelesen hat.</a:t>
            </a:r>
          </a:p>
          <a:p/>
          <a:p>
            <a:r>
              <a:t>Zweite Annahme: Wenn die Antwort selbstsicher klingt, ist sie richtig. In Wirklichkeit klingt die KI immer überzeugend, auch wenn sie etwas Falsches erfindet. Das nennt man „Halluzination“.</a:t>
            </a:r>
          </a:p>
          <a:p/>
          <a:p>
            <a:r>
              <a:t>Dritte Annahme: Wenn der Code ohne Fehler übersetzt wird, ist er richtig. In Wirklichkeit kann er trotzdem falsch rechnen, Sicherheitslücken enthalten oder langsam sein.</a:t>
            </a:r>
          </a:p>
        </p:txBody>
      </p:sp>
      <p:sp>
        <p:nvSpPr>
          <p:cNvPr id="4" name="Slide Number Placeholder 3"/>
          <p:cNvSpPr>
            <a:spLocks noGrp="1"/>
          </p:cNvSpPr>
          <p:nvPr>
            <p:ph type="sldNum" idx="66"/>
          </p:nvPr>
        </p:nvSpPr>
        <p:spPr/>
      </p:sp>
    </p:spTree>
  </p:cSld>
  <p:clrMapOvr>
    <a:masterClrMapping/>
  </p:clrMapOvr>
</p:notes>
</file>

<file path=ppt/notesSlides/notesSlide6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Vierte Annahme: Tests, die die KI geschrieben hat, beweisen Qualität. In Wirklichkeit gilt das nur, wenn die Tests echtes Verhalten prüfen. Die vorige Codefolie hat ein Gegenbeispiel gezeigt.</a:t>
            </a:r>
          </a:p>
          <a:p/>
          <a:p>
            <a:r>
              <a:t>Fünfte Annahme: Die KI kennt die aktuelle Angular-Version. In Wirklichkeit endet ihr Wissen zu einem bestimmten Zeitpunkt, und alte Beispiele überwiegen. Deshalb prüft man in der offiziellen Dokumentation nach oder gibt ihr über den MCP-Server Zugriff auf aktuelles Wissen.</a:t>
            </a:r>
          </a:p>
          <a:p/>
          <a:p>
            <a:r>
              <a:t>Sechste Annahme: Mit KI muss man nicht mehr lernen. In Wirklichkeit braucht man das Wissen gerade, um die Ergebnisse beurteilen zu können.</a:t>
            </a:r>
          </a:p>
        </p:txBody>
      </p:sp>
      <p:sp>
        <p:nvSpPr>
          <p:cNvPr id="4" name="Slide Number Placeholder 3"/>
          <p:cNvSpPr>
            <a:spLocks noGrp="1"/>
          </p:cNvSpPr>
          <p:nvPr>
            <p:ph type="sldNum" idx="66"/>
          </p:nvPr>
        </p:nvSpPr>
        <p:spPr/>
      </p:sp>
    </p:spTree>
  </p:cSld>
  <p:clrMapOvr>
    <a:masterClrMapping/>
  </p:clrMapOvr>
</p:notes>
</file>

<file path=ppt/notesSlides/notesSlide6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Was man in einen Prompt schreibt, verlässt meist das eigene Netz. Deshalb gehören keine Passwörter, Zugangsdaten oder Kundendaten in Prompts oder Regeldateien. Man hält sich an die Regeln der Firma: welche Werkzeuge erlaubt sind, wo Daten verarbeitet werden und was dokumentiert werden muss.</a:t>
            </a:r>
          </a:p>
          <a:p/>
          <a:p>
            <a:r>
              <a:t>Agenten, die Befehle ausführen, bekommt man nur die nötigen Rechte. Wichtige Befehle bestätigt man vorher selbst. Bei der Lizenz ist nicht immer klar, woher generierter Code stammt. Bei längeren Übernahmen prüft man das.</a:t>
            </a:r>
          </a:p>
          <a:p/>
          <a:p>
            <a:r>
              <a:t>Schlägt die KI ein Paket vor, prüft man, ob es existiert, gepflegt wird und sicher ist. KI-Werkzeuge erfinden manchmal Paketnamen, und Angreifer veröffentlichen dann Schadpakete unter genau diesen Namen. Verantwortlich für den Code ist immer der Mensch, der ihn übernimmt.</a:t>
            </a:r>
          </a:p>
        </p:txBody>
      </p:sp>
      <p:sp>
        <p:nvSpPr>
          <p:cNvPr id="4" name="Slide Number Placeholder 3"/>
          <p:cNvSpPr>
            <a:spLocks noGrp="1"/>
          </p:cNvSpPr>
          <p:nvPr>
            <p:ph type="sldNum" idx="66"/>
          </p:nvPr>
        </p:nvSpPr>
        <p:spPr/>
      </p:sp>
    </p:spTree>
  </p:cSld>
  <p:clrMapOvr>
    <a:masterClrMapping/>
  </p:clrMapOvr>
</p:notes>
</file>

<file path=ppt/notesSlides/notesSlide6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Auch mit KI bleiben wichtige Aufgaben beim Menschen. Er muss verstehen, was die Nutzer wirklich brauchen, und die Anforderungen genau formulieren. Er trifft Entscheidungen über die Architektur, zum Beispiel wie die Anwendung aufgeteilt wird und wie der Zustand verwaltet wird.</a:t>
            </a:r>
          </a:p>
          <a:p/>
          <a:p>
            <a:r>
              <a:t>Er muss Code lesen und beurteilen können, auch Code, den er nicht selbst geschrieben hat. Er sorgt durch Tests, Messungen und Sicherheitsprüfungen für Qualität. Und er trägt die Verantwortung im Team und gegenüber den Nutzern der Anwendung.</a:t>
            </a:r>
          </a:p>
        </p:txBody>
      </p:sp>
      <p:sp>
        <p:nvSpPr>
          <p:cNvPr id="4" name="Slide Number Placeholder 3"/>
          <p:cNvSpPr>
            <a:spLocks noGrp="1"/>
          </p:cNvSpPr>
          <p:nvPr>
            <p:ph type="sldNum" idx="66"/>
          </p:nvPr>
        </p:nvSpPr>
        <p:spPr/>
      </p:sp>
    </p:spTree>
  </p:cSld>
  <p:clrMapOvr>
    <a:masterClrMapping/>
  </p:clrMapOvr>
</p:notes>
</file>

<file path=ppt/notesSlides/notesSlide6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 Teilnehmer prüfen einen Vorschlag einer KI für einen CSV-Export der Kunden mit einer Button-Komponente. Wer kein KI-Werkzeug nutzen darf, verwendet das vorbereitete Ergebnis in der Datei „ki-vorschlag.md“. Darin sind absichtlich Fehler versteckt, zum Beispiel „*ngIf“, „any“, ein „effect“, der ein Signal schreibt, „innerHTML“ und ein Test mit „toBeTruthy“. Es gibt aber noch weitere Fehler, etwa in der CSV-Erzeugung selbst.</a:t>
            </a:r>
          </a:p>
          <a:p/>
          <a:p>
            <a:r>
              <a:t>Die Teilnehmer schreiben mindestens fünf Befunde auf, geben sie in einer zweiten Runde an die KI zurück und prüfen erneut. Dann bauen sie das korrigierte Feature mit Tests in die Kundenliste ein und testen den Download im Browser. Zum Schluss besprechen alle gemeinsam, welche Fehler die KI selbst nicht gefunden hat.</a:t>
            </a:r>
          </a:p>
        </p:txBody>
      </p:sp>
      <p:sp>
        <p:nvSpPr>
          <p:cNvPr id="4" name="Slide Number Placeholder 3"/>
          <p:cNvSpPr>
            <a:spLocks noGrp="1"/>
          </p:cNvSpPr>
          <p:nvPr>
            <p:ph type="sldNum" idx="66"/>
          </p:nvPr>
        </p:nvSpPr>
        <p:spPr/>
      </p:sp>
    </p:spTree>
  </p:cSld>
  <p:clrMapOvr>
    <a:masterClrMapping/>
  </p:clrMapOvr>
</p:notes>
</file>

<file path=ppt/notesSlides/notesSlide6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Dashboard (1/2)“.</a:t>
            </a:r>
          </a:p>
          <a:p/>
          <a:p>
            <a:r>
              <a:t>Erklärung für die Dolmetscherin:</a:t>
            </a:r>
          </a:p>
          <a:p>
            <a:r>
              <a:t>Das Abschlussprojekt wird in kleinen Gruppen bearbeitet, und jede Gruppe darf ein KI-Werkzeug nach Wahl verwenden. Ziel ist eine neue Seite unter der Adresse „/dashboard“, also eine Übersichtsseite mit Kennzahlen: die Anzahl der Kunden, die Anzahl der Kunden mit einer Bestellung in den letzten sieben Tagen und die Anzahl der Kunden pro Stadt.</a:t>
            </a:r>
          </a:p>
          <a:p/>
          <a:p>
            <a:r>
              <a:t>Zuerst schreibt jede Gruppe einen Plan mit fünf Schritten und stimmt ihn ab. Erst dann entsteht Code, und zwar in kleinen Schritten mit je einem Commit. Bewertet werden Architektur, richtige Verwendung von Signals, Tests, Sicherheit und ob das Vorgehen nachvollziehbar ist.</a:t>
            </a:r>
          </a:p>
        </p:txBody>
      </p:sp>
      <p:sp>
        <p:nvSpPr>
          <p:cNvPr id="4" name="Slide Number Placeholder 3"/>
          <p:cNvSpPr>
            <a:spLocks noGrp="1"/>
          </p:cNvSpPr>
          <p:nvPr>
            <p:ph type="sldNum" idx="66"/>
          </p:nvPr>
        </p:nvSpPr>
        <p:spPr/>
      </p:sp>
    </p:spTree>
  </p:cSld>
  <p:clrMapOvr>
    <a:masterClrMapping/>
  </p:clrMapOvr>
</p:notes>
</file>

<file path=ppt/notesSlides/notesSlide6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Dashboard (2/2)“.</a:t>
            </a:r>
          </a:p>
          <a:p/>
          <a:p>
            <a:r>
              <a:t>Erklärung für die Dolmetscherin:</a:t>
            </a:r>
          </a:p>
          <a:p>
            <a:r>
              <a:t>Die Kennzahlen werden als „computed“ berechnet. Die Daten kommen aus dem vorhandenen „CustomerStore“, die Komponente ruft den Server nicht selbst auf. Die neue Route wird erst bei Bedarf geladen und durch den „authGuard“ geschützt. Damit man nach dem Login wieder auf dem Dashboard landet, muss „/dashboard“ in die Liste erlaubter Ziele aus Übung 36 aufgenommen werden. Für „aktiv“ wird die vorhandene Pipe wiederverwendet.</a:t>
            </a:r>
          </a:p>
          <a:p/>
          <a:p>
            <a:r>
              <a:t>Es gibt kein „innerHTML“ und keine ungeprüften Parameter, dafür mindestens drei sinnvolle Tests. Danach prüft jede Gruppe ihr Ergebnis mit den Checklisten. Zum Schluss stellt jede Gruppe in fünf Minuten vor, wo die KI geholfen hat und wo sie korrigiert werden musste.</a:t>
            </a:r>
          </a:p>
        </p:txBody>
      </p:sp>
      <p:sp>
        <p:nvSpPr>
          <p:cNvPr id="4" name="Slide Number Placeholder 3"/>
          <p:cNvSpPr>
            <a:spLocks noGrp="1"/>
          </p:cNvSpPr>
          <p:nvPr>
            <p:ph type="sldNum" idx="66"/>
          </p:nvPr>
        </p:nvSpPr>
        <p:spPr/>
      </p:sp>
    </p:spTree>
  </p:cSld>
  <p:clrMapOvr>
    <a:masterClrMapping/>
  </p:clrMapOvr>
</p:notes>
</file>

<file path=ppt/notesSlides/notesSlide6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 Jetzt lernen wir die wichtigsten Typen kennen: Text, Zahl, Ja-Nein-Wert und Datum. Danach sehen wir, wie TypeScript mit fehlenden Werten umgeht.</a:t>
            </a:r>
          </a:p>
        </p:txBody>
      </p:sp>
      <p:sp>
        <p:nvSpPr>
          <p:cNvPr id="4" name="Slide Number Placeholder 3"/>
          <p:cNvSpPr>
            <a:spLocks noGrp="1"/>
          </p:cNvSpPr>
          <p:nvPr>
            <p:ph type="sldNum" idx="66"/>
          </p:nvPr>
        </p:nvSpPr>
        <p:spPr/>
      </p:sp>
    </p:spTree>
  </p:cSld>
  <p:clrMapOvr>
    <a:masterClrMapping/>
  </p:clrMapOvr>
</p:notes>
</file>

<file path=ppt/notesSlides/notesSlide6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„Typen und Typableitung“.</a:t>
            </a:r>
          </a:p>
          <a:p/>
          <a:p>
            <a:r>
              <a:t>Die Grundtypen sind „string“ für Text, „number“ für Zahlen, „boolean“ für Ja-Nein-Werte und „Date“ für ein Datum. Mit eckigen Klammern hinter dem Typ beschreiben wir eine Liste. „string[]“ heißt zum Beispiel: eine Liste von Texten. Den Typ schreiben wir mit einem Doppelpunkt hinter den Namen der Variablen.</a:t>
            </a:r>
          </a:p>
          <a:p/>
          <a:p>
            <a:r>
              <a:t>Im unteren Teil sehen wir die „Typableitung“, auf Englisch „Inference“. Das heißt: Der Compiler erkennt den Typ selbst aus dem Wert, der gleich zugewiesen wird. Bei „city“ ist es ein Text, bei „count“ eine Zahl und bei „ids“ eine Liste von Zahlen. Die Faustregel lautet: Den Typ weglassen, wenn der Wert ihn klar macht. Den Typ schreiben wir bei Parametern von Funktionen und überall, wo der Compiler ihn nicht erraten kann.</a:t>
            </a:r>
          </a:p>
        </p:txBody>
      </p:sp>
      <p:sp>
        <p:nvSpPr>
          <p:cNvPr id="4" name="Slide Number Placeholder 3"/>
          <p:cNvSpPr>
            <a:spLocks noGrp="1"/>
          </p:cNvSpPr>
          <p:nvPr>
            <p:ph type="sldNum" idx="66"/>
          </p:nvPr>
        </p:nvSpPr>
        <p:spPr/>
      </p:sp>
    </p:spTree>
  </p:cSld>
  <p:clrMapOvr>
    <a:masterClrMapping/>
  </p:clrMapOvr>
</p:notes>
</file>

<file path=ppt/notesSlides/notesSlide6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„const und let“.</a:t>
            </a:r>
          </a:p>
          <a:p/>
          <a:p>
            <a:r>
              <a:t>Es gibt zwei Arten, eine Variable anzulegen. „const“ steht für eine Konstante: Der Variablen kann später kein neuer Wert zugewiesen werden. „let“ benutzen wir nur, wenn sich der Wert wirklich ändern soll, zum Beispiel bei einem Zähler. Im Kurs gilt: Wir schreiben immer „const“, außer es geht nicht anders.</a:t>
            </a:r>
          </a:p>
          <a:p/>
          <a:p>
            <a:r>
              <a:t>Wichtig bei Listen und Objekten: „const“ schützt nur die Variable, nicht den Inhalt. Wir können mit „push“ ein Element an die Liste anhängen, das ist erlaubt. Wir können der Variablen aber keine ganz neue Liste zuweisen. Die beiden Zeilen mit den zwei Schrägstrichen davor sind Kommentare und zeigen Fehler, die der Compiler melden würde.</a:t>
            </a:r>
          </a:p>
        </p:txBody>
      </p:sp>
      <p:sp>
        <p:nvSpPr>
          <p:cNvPr id="4" name="Slide Number Placeholder 3"/>
          <p:cNvSpPr>
            <a:spLocks noGrp="1"/>
          </p:cNvSpPr>
          <p:nvPr>
            <p:ph type="sldNum" idx="66"/>
          </p:nvPr>
        </p:nvSpPr>
        <p:spPr/>
      </p:sp>
    </p:spTree>
  </p:cSld>
  <p:clrMapOvr>
    <a:masterClrMapping/>
  </p:clrMapOvr>
</p:notes>
</file>

<file path=ppt/notesSlides/notesSlide6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„Warum nicht mehr var“.</a:t>
            </a:r>
          </a:p>
          <a:p/>
          <a:p>
            <a:r>
              <a:t>Früher wurde in JavaScript das Schlüsselwort „var“ benutzt. Heute verwenden wir es nicht mehr, und diese Folie zeigt den Grund. Die Funktion „setTimeout“ führt eine andere Funktion etwas später aus. Hier läuft die Schleife schon zu Ende, bevor die Ausgaben passieren.</a:t>
            </a:r>
          </a:p>
          <a:p/>
          <a:p>
            <a:r>
              <a:t>Bei „var“ gibt es nur eine einzige Variable „i“ für die ganze Schleife. Wenn die Ausgaben später kommen, hat „i“ schon den Endwert 10. Deshalb steht zehnmal die 10 auf dem Bildschirm. Bei „let“ bekommt jeder Durchlauf der Schleife seine eigene Variable. Deshalb erscheinen die Zahlen 0 bis 9. Wegen solcher überraschenden Fehler benutzen wir „const“ und „let“ und nie „var“.</a:t>
            </a:r>
          </a:p>
        </p:txBody>
      </p:sp>
      <p:sp>
        <p:nvSpPr>
          <p:cNvPr id="4" name="Slide Number Placeholder 3"/>
          <p:cNvSpPr>
            <a:spLocks noGrp="1"/>
          </p:cNvSpPr>
          <p:nvPr>
            <p:ph type="sldNum" idx="66"/>
          </p:nvPr>
        </p:nvSpPr>
        <p:spPr/>
      </p:sp>
    </p:spTree>
  </p:cSld>
  <p:clrMapOvr>
    <a:masterClrMapping/>
  </p:clrMapOvr>
</p:notes>
</file>

<file path=ppt/notesSlides/notesSlide6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„any, unknown und never“.</a:t>
            </a:r>
          </a:p>
          <a:p/>
          <a:p>
            <a:r>
              <a:t>Mit dem Typ „any“ schalten wir die Typprüfung für diese Variable ab. Der Compiler erlaubt dann alles, auch Fehler, die erst beim Ausführen auffallen. Deshalb vermeiden wir „any“.</a:t>
            </a:r>
          </a:p>
          <a:p/>
          <a:p>
            <a:r>
              <a:t>Der Typ „unknown“ bedeutet: Der Typ ist nicht bekannt. Der Unterschied zu „any“ ist, dass wir den Wert erst benutzen dürfen, wenn wir ihn geprüft haben. In der Funktion „show“ fragen wir mit „typeof“, ob der Wert ein Text ist. Nur innerhalb dieser Bedingung darf die Funktion „toUpperCase“ für Großbuchstaben aufgerufen werden.</a:t>
            </a:r>
          </a:p>
          <a:p/>
          <a:p>
            <a:r>
              <a:t>Der Typ „never“ bedeutet „niemals“. Er steht bei Funktionen, die nie normal zu Ende kommen. Die Funktion „fail“ wirft immer einen Fehler, also kehrt sie nie mit einem Ergebnis zurück.</a:t>
            </a:r>
          </a:p>
        </p:txBody>
      </p:sp>
      <p:sp>
        <p:nvSpPr>
          <p:cNvPr id="4" name="Slide Number Placeholder 3"/>
          <p:cNvSpPr>
            <a:spLocks noGrp="1"/>
          </p:cNvSpPr>
          <p:nvPr>
            <p:ph type="sldNum" idx="66"/>
          </p:nvPr>
        </p:nvSpPr>
        <p:spPr/>
      </p:sp>
    </p:spTree>
  </p:cSld>
  <p:clrMapOvr>
    <a:masterClrMapping/>
  </p:clrMapOvr>
</p:notes>
</file>

<file path=ppt/notesSlides/notesSlide6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„null und undefined im strikten Modus“.</a:t>
            </a:r>
          </a:p>
          <a:p/>
          <a:p>
            <a:r>
              <a:t>„undefined“ bedeutet: Es gibt keinen Wert. Im strikten Modus „strict“ darf eine Variable vom Typ Text nicht einfach keinen Wert haben. Wenn ein Wert fehlen darf, schreiben wir das ausdrücklich in den Typ. Das senkrechte Zeichen bedeutet „oder“. „string | undefined“ heißt: ein Text oder kein Wert.</a:t>
            </a:r>
          </a:p>
          <a:p/>
          <a:p>
            <a:r>
              <a:t>In der ersten Funktion rufen wir „toUpperCase“ auf, ohne zu prüfen. Der Compiler meldet den Fehler „TS18048“: Der Wert könnte fehlen. Das schützt uns vor Abstürzen im laufenden Programm.</a:t>
            </a:r>
          </a:p>
          <a:p/>
          <a:p>
            <a:r>
              <a:t>In der zweiten Funktion prüfen wir mit „if“, ob der Wert fehlt. Danach weiß der Compiler, dass es ein Text sein muss, und lässt den Aufruf zu. Man nennt das „Narrowing“, auf Deutsch Eingrenzen des Typs.</a:t>
            </a:r>
          </a:p>
        </p:txBody>
      </p:sp>
      <p:sp>
        <p:nvSpPr>
          <p:cNvPr id="4" name="Slide Number Placeholder 3"/>
          <p:cNvSpPr>
            <a:spLocks noGrp="1"/>
          </p:cNvSpPr>
          <p:nvPr>
            <p:ph type="sldNum" idx="66"/>
          </p:nvPr>
        </p:nvSpPr>
        <p:spPr/>
      </p:sp>
    </p:spTree>
  </p:cSld>
  <p:clrMapOvr>
    <a:masterClrMapping/>
  </p:clrMapOvr>
</p:notes>
</file>

<file path=ppt/notesSlides/notesSlide6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„Sicher mit fehlenden Werten“.</a:t>
            </a:r>
          </a:p>
          <a:p/>
          <a:p>
            <a:r>
              <a:t>Hier sehen wir drei Werkzeuge. Zuerst die Methode „find“. Sie sucht in der Liste einen Kunden und liefert entweder den Kunden oder „undefined“, wenn keiner passt.</a:t>
            </a:r>
          </a:p>
          <a:p/>
          <a:p>
            <a:r>
              <a:t>Das Zeichen „?.“ heißt „optional chaining“. Es greift nur dann auf eine Eigenschaft zu, wenn der Wert davor existiert. Fehlt er, ist das Ergebnis einfach „undefined“, und es gibt keinen Absturz. Das Zeichen „??“ heißt „nullish coalescing“. Es liefert einen Ersatzwert, wenn links nichts steht. Hier ist das der Text „unbekannt“.</a:t>
            </a:r>
          </a:p>
          <a:p/>
          <a:p>
            <a:r>
              <a:t>Das Ausrufezeichen am Ende heißt „Non-null-Assertion“. Wir versprechen damit dem Compiler: Dieser Wert fehlt ganz sicher nicht. Der Compiler prüft das Versprechen nicht. Deshalb benutzen wir es nur, wenn wir uns wirklich sicher sind. Im Kurs begegnen uns später „customer()?.firstname“ und „customer()!.imageUrl!“ in den Angular-Vorlagen.</a:t>
            </a:r>
          </a:p>
        </p:txBody>
      </p:sp>
      <p:sp>
        <p:nvSpPr>
          <p:cNvPr id="4" name="Slide Number Placeholder 3"/>
          <p:cNvSpPr>
            <a:spLocks noGrp="1"/>
          </p:cNvSpPr>
          <p:nvPr>
            <p:ph type="sldNum" idx="66"/>
          </p:nvPr>
        </p:nvSpPr>
        <p:spPr/>
      </p:sp>
    </p:spTree>
  </p:cSld>
  <p:clrMapOvr>
    <a:masterClrMapping/>
  </p:clrMapOvr>
</p:notes>
</file>

<file path=ppt/notesSlides/notesSlide6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1: Typfehler beheben“.</a:t>
            </a:r>
          </a:p>
          <a:p/>
          <a:p>
            <a:r>
              <a:t>Erklärung für die Dolmetscherin:</a:t>
            </a:r>
          </a:p>
          <a:p>
            <a:r>
              <a:t>In dieser Übung öffnen die Teilnehmenden die Datei „uebung-1-typfehler.ts“ im Ordner „01_typescript_primer“. Das Programm enthält absichtlich sechs Fehler. Mit dem Befehl „npm run check“ werden die Fehlermeldungen angezeigt, und die Teilnehmenden lernen, sie zu lesen.</a:t>
            </a:r>
          </a:p>
          <a:p/>
          <a:p>
            <a:r>
              <a:t>Die Aufgabe ist, alle Fehler zu beheben, ohne den Typ „any“ zu benutzen. Manchmal ist der Code falsch, zum Beispiel bei einer „const“-Variablen, die neu belegt wird. Manchmal muss der Typ angepasst werden, damit auch „kein Wert“ erlaubt ist. Am Ende wird das Programm mit „npm start“ ausgeführt. Die Übung dauert etwa zehn Minuten,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6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„Zustand“ bedeutet alle Daten, die sich während der Laufzeit ändern können, zum Beispiel geladene Kunden, ein Filtertext oder die aktuelle Auswahl.</a:t>
            </a:r>
          </a:p>
          <a:p/>
          <a:p>
            <a:r>
              <a:t>Gezeigt werden ein selbst geschriebener Store als Service mit Signals, das Laden mit „resource“, die Modellierung von Ladezuständen, die Normalisierung, der „Signal Store“ von NgRx und das klassische NgRx-Muster. Am Ende stehen Entscheidungskriterien, typische Stolperfallen und Übung 33. Eine Vertiefung zu NgRx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6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In Phase 1 hat eine Komponente nur wenige Felder. Dafür genügt ein „signal“ direkt in der Komponente. In Phase 2 brauchen mehrere Komponenten dieselben Daten. Dann legt man die Signals in einen Service, den alle Komponenten mit „inject“ holen.</a:t>
            </a:r>
          </a:p>
          <a:p/>
          <a:p>
            <a:r>
              <a:t>In Phase 3 hängen Daten, Filter, Auswahl, Ladezustand und Fehler zusammen. Dann lohnt sich ein „Store“. Ein Store ist ein Speicher, der den Zustand und die Befehle zum Ändern an einer Stelle bündelt. In Phase 4 arbeiten viele Teams zusammen und jede Änderung soll nachvollziehbar sein. Dafür gibt es das „Redux-Muster“ mit der Bibliothek „NgRx“.</a:t>
            </a:r>
          </a:p>
          <a:p/>
          <a:p>
            <a:r>
              <a:t>Das Diagramm zeigt diese vier Stufen von oben nach unten. Man geht nur so weit, wie es nötig ist.</a:t>
            </a:r>
          </a:p>
        </p:txBody>
      </p:sp>
      <p:sp>
        <p:nvSpPr>
          <p:cNvPr id="4" name="Slide Number Placeholder 3"/>
          <p:cNvSpPr>
            <a:spLocks noGrp="1"/>
          </p:cNvSpPr>
          <p:nvPr>
            <p:ph type="sldNum" idx="66"/>
          </p:nvPr>
        </p:nvSpPr>
        <p:spPr/>
      </p:sp>
    </p:spTree>
  </p:cSld>
  <p:clrMapOvr>
    <a:masterClrMapping/>
  </p:clrMapOvr>
</p:notes>
</file>

<file path=ppt/notesSlides/notesSlide6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früh oder zu spät strukturieren“.</a:t>
            </a:r>
          </a:p>
          <a:p/>
          <a:p>
            <a:r>
              <a:t>Beide Richtungen haben Kosten. Wer zu früh eine schwere Struktur einführt, schreibt viel „Boilerplate“. Das ist Code, der nur für die Struktur nötig ist und keine Fachlogik enthält, zum Beispiel Actions, Reducer und Selektoren für nur drei Felder.</a:t>
            </a:r>
          </a:p>
          <a:p/>
          <a:p>
            <a:r>
              <a:t>Wer zu spät strukturiert, hat den Zustand verstreut in vielen Komponenten. Dann gibt es Kopien derselben Daten, die sich widersprechen, und der Umbau wird teuer.</a:t>
            </a:r>
          </a:p>
          <a:p/>
          <a:p>
            <a:r>
              <a:t>Typische Warnzeichen für den nächsten Schritt sind: dieselben Daten werden in mehrere Komponenten kopiert, oder es gibt Fehler wie „die Liste zeigt noch den alten Stand“. Das Diagramm stellt die beiden Fehler gegenüber.</a:t>
            </a:r>
          </a:p>
        </p:txBody>
      </p:sp>
      <p:sp>
        <p:nvSpPr>
          <p:cNvPr id="4" name="Slide Number Placeholder 3"/>
          <p:cNvSpPr>
            <a:spLocks noGrp="1"/>
          </p:cNvSpPr>
          <p:nvPr>
            <p:ph type="sldNum" idx="66"/>
          </p:nvPr>
        </p:nvSpPr>
        <p:spPr/>
      </p:sp>
    </p:spTree>
  </p:cSld>
  <p:clrMapOvr>
    <a:masterClrMapping/>
  </p:clrMapOvr>
</p:notes>
</file>

<file path=ppt/notesSlides/notesSlide6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Arten von Zustand gibt es?“.</a:t>
            </a:r>
          </a:p>
          <a:p/>
          <a:p>
            <a:r>
              <a:t>Nicht jeder Zustand ist gleich. Der „Server-Zustand“ sind Daten, die vom Backend kommen, zum Beispiel die Kundenliste. Diese Daten haben ein Alter, sie können veralten, und das Laden kann fehlschlagen.</a:t>
            </a:r>
          </a:p>
          <a:p/>
          <a:p>
            <a:r>
              <a:t>Der „UI-Zustand“ beschreibt die Oberfläche, zum Beispiel ob ein Dialog offen ist oder welcher Reiter aktiv ist. Der „URL-Zustand“ steht in der Adresse, also in der Route und ihren Parametern. Der „Formular-Zustand“ sind die Eingaben und ob sie gültig sind.</a:t>
            </a:r>
          </a:p>
          <a:p/>
          <a:p>
            <a:r>
              <a:t>Jede Art hat einen natürlichen Ort. UI-Details bleiben in der Komponente, URL-Zustand im Router, Formulare im Formular-Modell. In den Store gehören vor allem geteilte Fachdaten. Das Diagramm zeigt die vier Arten als Zweige.</a:t>
            </a:r>
          </a:p>
        </p:txBody>
      </p:sp>
      <p:sp>
        <p:nvSpPr>
          <p:cNvPr id="4" name="Slide Number Placeholder 3"/>
          <p:cNvSpPr>
            <a:spLocks noGrp="1"/>
          </p:cNvSpPr>
          <p:nvPr>
            <p:ph type="sldNum" idx="66"/>
          </p:nvPr>
        </p:nvSpPr>
        <p:spPr/>
      </p:sp>
    </p:spTree>
  </p:cSld>
  <p:clrMapOvr>
    <a:masterClrMapping/>
  </p:clrMapOvr>
</p:notes>
</file>

<file path=ppt/notesSlides/notesSlide6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„Feature-Ordnerstruktur“.</a:t>
            </a:r>
          </a:p>
          <a:p/>
          <a:p>
            <a:r>
              <a:t>Die Folie zeigt eine Ordnerstruktur nach Fachbereichen. Ein Fachbereich heißt „Feature“, hier „customer“ für Kunden und „auth“ für die Anmeldung. Alles, was zu einem Feature gehört, liegt in seinem Ordner.</a:t>
            </a:r>
          </a:p>
          <a:p/>
          <a:p>
            <a:r>
              <a:t>Im Feature „customer“ liegen die Container-Komponenten für Liste und Details. Container-Komponenten holen Daten und reagieren auf Ereignisse. Im Unterordner „ui“ liegen Darstellungskomponenten. Sie bekommen Daten nur über „input“ und melden Ereignisse nur über „output“. Dazu kommen der Store mit dem Zustand, der Service für den Zugriff auf den Server, das Datenmodell und die Routen des Features, die man verzögert laden kann.</a:t>
            </a:r>
          </a:p>
          <a:p/>
          <a:p>
            <a:r>
              <a:t>Der Ordner „shared“ enthält nur wirklich Allgemeines, zum Beispiel die Card-Komponente oder Pipes.</a:t>
            </a:r>
          </a:p>
        </p:txBody>
      </p:sp>
      <p:sp>
        <p:nvSpPr>
          <p:cNvPr id="4" name="Slide Number Placeholder 3"/>
          <p:cNvSpPr>
            <a:spLocks noGrp="1"/>
          </p:cNvSpPr>
          <p:nvPr>
            <p:ph type="sldNum" idx="66"/>
          </p:nvPr>
        </p:nvSpPr>
        <p:spPr/>
      </p:sp>
    </p:spTree>
  </p:cSld>
  <p:clrMapOvr>
    <a:masterClrMapping/>
  </p:clrMapOvr>
</p:notes>
</file>

<file path=ppt/notesSlides/notesSlide6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„Regeln für die Ordnerstruktur“.</a:t>
            </a:r>
          </a:p>
          <a:p/>
          <a:p>
            <a:r>
              <a:t>Man gliedert nach Fachlichkeit und nicht nach Technik. Ordner wie „components“, „services“ und „models“ für die ganze Anwendung werden schnell unübersichtlich, weil zusammengehörige Dateien weit auseinander liegen.</a:t>
            </a:r>
          </a:p>
          <a:p/>
          <a:p>
            <a:r>
              <a:t>Die Abhängigkeiten zeigen in eine Richtung: Features dürfen „shared“ benutzen, aber „shared“ kennt kein Feature. Ein Feature kennt ein anderes nur über eine klare Schnittstelle, zum Beispiel eine Route oder einen öffentlichen Store.</a:t>
            </a:r>
          </a:p>
          <a:p/>
          <a:p>
            <a:r>
              <a:t>Jedes Feature hat seinen eigenen Store statt eines großen Stores für alles. Und jedes Feature kann über seine Routen verzögert geladen werden, das heißt „Lazy Loading“. Das Diagramm zeigt die Anwendung mit ihren Features und dem gemeinsamen Ordner „shared“.</a:t>
            </a:r>
          </a:p>
        </p:txBody>
      </p:sp>
      <p:sp>
        <p:nvSpPr>
          <p:cNvPr id="4" name="Slide Number Placeholder 3"/>
          <p:cNvSpPr>
            <a:spLocks noGrp="1"/>
          </p:cNvSpPr>
          <p:nvPr>
            <p:ph type="sldNum" idx="66"/>
          </p:nvPr>
        </p:nvSpPr>
        <p:spPr/>
      </p:sp>
    </p:spTree>
  </p:cSld>
  <p:clrMapOvr>
    <a:masterClrMapping/>
  </p:clrMapOvr>
</p:notes>
</file>

<file path=ppt/notesSlides/notesSlide6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Darstellung, Logik, Zustand“.</a:t>
            </a:r>
          </a:p>
          <a:p/>
          <a:p>
            <a:r>
              <a:t>Eine Anwendung lässt sich in drei Schichten teilen. Die oberste Schicht ist die „Darstellung“. Das sind Komponenten und Templates. Sie zeigen Daten an und geben Eingaben weiter.</a:t>
            </a:r>
          </a:p>
          <a:p/>
          <a:p>
            <a:r>
              <a:t>Die mittlere Schicht ist die „Logik“. Das sind Methoden im Store. Sie enthalten Regeln und Befehle und laden Daten über den Service, der mit dem Server spricht. Die unterste Schicht ist der „Zustand“. Das sind Signals im Store. Sie halten Daten, und „computed“-Werte leiten daraus neue Werte ab.</a:t>
            </a:r>
          </a:p>
          <a:p/>
          <a:p>
            <a:r>
              <a:t>Die Abhängigkeiten zeigen nur nach unten. Die Komponente kennt den Store, aber der Store kennt keine Komponente. Das Diagramm zeigt die drei Schichten übereinander.</a:t>
            </a:r>
          </a:p>
        </p:txBody>
      </p:sp>
      <p:sp>
        <p:nvSpPr>
          <p:cNvPr id="4" name="Slide Number Placeholder 3"/>
          <p:cNvSpPr>
            <a:spLocks noGrp="1"/>
          </p:cNvSpPr>
          <p:nvPr>
            <p:ph type="sldNum" idx="66"/>
          </p:nvPr>
        </p:nvSpPr>
        <p:spPr/>
      </p:sp>
    </p:spTree>
  </p:cSld>
  <p:clrMapOvr>
    <a:masterClrMapping/>
  </p:clrMapOvr>
</p:notes>
</file>

<file path=ppt/notesSlides/notesSlide6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„Einseitiger Datenfluss“.</a:t>
            </a:r>
          </a:p>
          <a:p/>
          <a:p>
            <a:r>
              <a:t>Ein Store sorgt für einen einseitigen Datenfluss. Die Daten fließen vom Store zum Template. Das Template liest dazu Signals, zum Beispiel die gefilterte Liste.</a:t>
            </a:r>
          </a:p>
          <a:p/>
          <a:p>
            <a:r>
              <a:t>Ereignisse fließen in die andere Richtung. Ein Klick oder eine Eingabe ruft eine Methode im Store auf. Die Methode ändert ein Signal, und das Template zeigt den neuen Wert automatisch an. So entsteht ein Kreislauf, den das Diagramm zeigt.</a:t>
            </a:r>
          </a:p>
          <a:p/>
          <a:p>
            <a:r>
              <a:t>Die Komponente ändert den Zustand nie selbst. Dadurch gibt es genau eine „Quelle der Wahrheit“. Das bedeutet: Jeder Wert liegt an genau einer Stelle, und alle lesen dieselbe Stelle.</a:t>
            </a:r>
          </a:p>
        </p:txBody>
      </p:sp>
      <p:sp>
        <p:nvSpPr>
          <p:cNvPr id="4" name="Slide Number Placeholder 3"/>
          <p:cNvSpPr>
            <a:spLocks noGrp="1"/>
          </p:cNvSpPr>
          <p:nvPr>
            <p:ph type="sldNum" idx="66"/>
          </p:nvPr>
        </p:nvSpPr>
        <p:spPr/>
      </p:sp>
    </p:spTree>
  </p:cSld>
  <p:clrMapOvr>
    <a:masterClrMapping/>
  </p:clrMapOvr>
</p:notes>
</file>

<file path=ppt/notesSlides/notesSlide6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„Problem: Zustand in Komponenten verteilt“.</a:t>
            </a:r>
          </a:p>
          <a:p/>
          <a:p>
            <a:r>
              <a:t>Ohne Store lädt und filtert oft jede Komponente die Daten selbst. Die Auswahl liegt zum Beispiel in der Listen-Komponente, obwohl auch die Detail-Komponente sie braucht. Dieselbe Logik steht mehrfach im Code, und die Kopien können sich widersprechen.</a:t>
            </a:r>
          </a:p>
          <a:p/>
          <a:p>
            <a:r>
              <a:t>Die Lösung ist ein Store als Service. Er hält den Zustand an einer Stelle und bietet Aktionen als Methoden an. Jede Komponente holt sich denselben Store mit „inject“. Weil der Service mit „providedIn: root“ registriert ist, gibt es in der ganzen Anwendung genau eine Instanz.</a:t>
            </a:r>
          </a:p>
          <a:p/>
          <a:p>
            <a:r>
              <a:t>Das Diagramm zeigt links den verteilten Zustand und rechts den gemeinsamen Store.</a:t>
            </a:r>
          </a:p>
        </p:txBody>
      </p:sp>
      <p:sp>
        <p:nvSpPr>
          <p:cNvPr id="4" name="Slide Number Placeholder 3"/>
          <p:cNvSpPr>
            <a:spLocks noGrp="1"/>
          </p:cNvSpPr>
          <p:nvPr>
            <p:ph type="sldNum" idx="66"/>
          </p:nvPr>
        </p:nvSpPr>
        <p:spPr/>
      </p:sp>
    </p:spTree>
  </p:cSld>
  <p:clrMapOvr>
    <a:masterClrMapping/>
  </p:clrMapOvr>
</p:notes>
</file>

<file path=ppt/notesSlides/notesSlide6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„Store als Service (1/2): Zustand“.</a:t>
            </a:r>
          </a:p>
          <a:p/>
          <a:p>
            <a:r>
              <a:t>Die Folie zeigt den ersten Teil des „CustomerStore“ aus Übung 33. Der Store ist ein normaler Service mit „Injectable“ und „providedIn: root“. Er holt sich mit „inject“ den „CustomerService“, der nur noch für den Zugriff auf den Server zuständig ist.</a:t>
            </a:r>
          </a:p>
          <a:p/>
          <a:p>
            <a:r>
              <a:t>Der Zustand besteht aus fünf Signals: die Kundenliste, der Filtertext, die Kennung des ausgewählten Kunden, ein Merker für „lädt gerade“ und eine Fehlermeldung. Diese Signals sind „private“ und haben einen Unterstrich im Namen. Nur der Store selbst kann sie ändern.</a:t>
            </a:r>
          </a:p>
          <a:p/>
          <a:p>
            <a:r>
              <a:t>Darunter gibt der Store für jedes Signal eine öffentliche, nur lesbare Version heraus. Sie entsteht mit „asReadonly“. Komponenten können diese Werte lesen, aber nicht ändern.</a:t>
            </a:r>
          </a:p>
        </p:txBody>
      </p:sp>
      <p:sp>
        <p:nvSpPr>
          <p:cNvPr id="4" name="Slide Number Placeholder 3"/>
          <p:cNvSpPr>
            <a:spLocks noGrp="1"/>
          </p:cNvSpPr>
          <p:nvPr>
            <p:ph type="sldNum" idx="66"/>
          </p:nvPr>
        </p:nvSpPr>
        <p:spPr/>
      </p:sp>
    </p:spTree>
  </p:cSld>
  <p:clrMapOvr>
    <a:masterClrMapping/>
  </p:clrMapOvr>
</p:notes>
</file>

<file path=ppt/notesSlides/notesSlide6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„Store als Service (2/2): Aktionen“.</a:t>
            </a:r>
          </a:p>
          <a:p/>
          <a:p>
            <a:r>
              <a:t>Der zweite Teil enthält die abgeleiteten Werte. „filtered“ ist die gefilterte Liste, „selected“ ist der ausgewählte Kunde und „total“ ist die Anzahl der Treffer. Alle drei sind „computed“. Ein „computed“ rechnet sich automatisch neu, wenn sich ein Signal ändert, das es liest. Gespeichert wird nur die Kennung der Auswahl, der Kunde selbst wird daraus berechnet.</a:t>
            </a:r>
          </a:p>
          <a:p/>
          <a:p>
            <a:r>
              <a:t>Danach kommen die Aktionen. „load“ setzt zuerst den Merker für „lädt gerade“ und löscht alte Fehler. Dann wartet die Methode auf die Antwort des Servers. „firstValueFrom“ wandelt dafür das Observable in ein Promise um, also in ein Versprechen auf einen späteren Wert. Bei einem Fehler wird die Fehlermeldung gesetzt, und am Ende wird der Merker in jedem Fall wieder zurückgesetzt.</a:t>
            </a:r>
          </a:p>
          <a:p/>
          <a:p>
            <a:r>
              <a:t>„setFilter“ und „select“ setzen einfach das passende Signal. Sie bekommen den neuen Filtertext beziehungsweise die Kennung als Parameter.</a:t>
            </a:r>
          </a:p>
        </p:txBody>
      </p:sp>
      <p:sp>
        <p:nvSpPr>
          <p:cNvPr id="4" name="Slide Number Placeholder 3"/>
          <p:cNvSpPr>
            <a:spLocks noGrp="1"/>
          </p:cNvSpPr>
          <p:nvPr>
            <p:ph type="sldNum" idx="66"/>
          </p:nvPr>
        </p:nvSpPr>
        <p:spPr/>
      </p:sp>
    </p:spTree>
  </p:cSld>
  <p:clrMapOvr>
    <a:masterClrMapping/>
  </p:clrMapOvr>
</p:notes>
</file>

<file path=ppt/notesSlides/notesSlide6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„Wer stellt den CustomerStore bereit?“.</a:t>
            </a:r>
          </a:p>
          <a:p/>
          <a:p>
            <a:r>
              <a:t>Das Diagramm zeigt links den Komponentenbaum und rechts den „Root-Injector“. Der Root-Injector ist der oberste Behälter für Services in der Anwendung. Weil der Store „providedIn: root“ hat, legt Angular dort genau eine Instanz an, sobald sie zum ersten Mal gebraucht wird.</a:t>
            </a:r>
          </a:p>
          <a:p/>
          <a:p>
            <a:r>
              <a:t>Links steht die „AppComponent“ mit dem „router-outlet“, also dem Platzhalter für die aktuelle Seite. Bei der Adresse „/customer“ zeigt der Router dort die „CustomerListComponent“. Sie holt sich mit „inject“ den Store, das zeigt der orange Pfeil.</a:t>
            </a:r>
          </a:p>
          <a:p/>
          <a:p>
            <a:r>
              <a:t>Der Store holt sich wiederum den „CustomerService“, und der Service benutzt den „HttpClient“, um die Kunden vom Server zu laden. Die Abhängigkeiten zeigen also nur in eine Richtung: von der Komponente zum Store, vom Store zum Service. Die Kind-Komponenten der Liste, also Filter und Listeneinträge, kennen den Store nicht. Sie bekommen ihre Daten über Inputs.</a:t>
            </a:r>
          </a:p>
        </p:txBody>
      </p:sp>
      <p:sp>
        <p:nvSpPr>
          <p:cNvPr id="4" name="Slide Number Placeholder 3"/>
          <p:cNvSpPr>
            <a:spLocks noGrp="1"/>
          </p:cNvSpPr>
          <p:nvPr>
            <p:ph type="sldNum" idx="66"/>
          </p:nvPr>
        </p:nvSpPr>
        <p:spPr/>
      </p:sp>
    </p:spTree>
  </p:cSld>
  <p:clrMapOvr>
    <a:masterClrMapping/>
  </p:clrMapOvr>
</p:notes>
</file>

<file path=ppt/notesSlides/notesSlide6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„Privat schreibbar, öffentlich lesbar“.</a:t>
            </a:r>
          </a:p>
          <a:p/>
          <a:p>
            <a:r>
              <a:t>Die Funktion „signal“ liefert ein „WritableSignal“, also ein schreibbares Signal. Es hat die Methoden „set“, um einen neuen Wert zu setzen, und „update“, um einen Wert aus dem alten Wert zu berechnen.</a:t>
            </a:r>
          </a:p>
          <a:p/>
          <a:p>
            <a:r>
              <a:t>Die Methode „asReadonly“ wird auf diesem schreibbaren Signal aufgerufen und hat keine Parameter. Sie gibt ein normales „Signal“ zurück, das man nur lesen kann. Dabei wird nichts kopiert: Das lesbare Signal zeigt immer denselben Wert wie das private Signal.</a:t>
            </a:r>
          </a:p>
          <a:p/>
          <a:p>
            <a:r>
              <a:t>Versucht eine Komponente trotzdem „set“ aufzurufen, meldet TypeScript schon beim Übersetzen einen Fehler. Das Codebeispiel rechts zeigt das.</a:t>
            </a:r>
          </a:p>
        </p:txBody>
      </p:sp>
      <p:sp>
        <p:nvSpPr>
          <p:cNvPr id="4" name="Slide Number Placeholder 3"/>
          <p:cNvSpPr>
            <a:spLocks noGrp="1"/>
          </p:cNvSpPr>
          <p:nvPr>
            <p:ph type="sldNum" idx="66"/>
          </p:nvPr>
        </p:nvSpPr>
        <p:spPr/>
      </p:sp>
    </p:spTree>
  </p:cSld>
  <p:clrMapOvr>
    <a:masterClrMapping/>
  </p:clrMapOvr>
</p:notes>
</file>

<file path=ppt/notesSlides/notesSlide6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„Aktionen als Methoden“.</a:t>
            </a:r>
          </a:p>
          <a:p/>
          <a:p>
            <a:r>
              <a:t>Jede Änderung am Zustand läuft über eine Methode mit fachlichem Namen. Solche Methoden heißen „Aktionen“. Statt an vielen Stellen „set“ aufzurufen, schreibt man zum Beispiel „setFilter“, „select“ oder „load“.</a:t>
            </a:r>
          </a:p>
          <a:p/>
          <a:p>
            <a:r>
              <a:t>Eine Aktion bekommt nur die Parameter, die sie braucht, zum Beispiel den Filtertext. Meistens gibt sie nichts zurück, also „void“. Die Methode „load“ ist asynchron und gibt ein Promise zurück. Der Aufrufer kann deshalb mit „await“ warten, bis das Laden fertig ist, zum Beispiel in einem Test.</a:t>
            </a:r>
          </a:p>
          <a:p/>
          <a:p>
            <a:r>
              <a:t>Fachliche Regeln stehen nur in der Aktion, zum Beispiel das Entfernen von Leerzeichen am Anfang und Ende des Filters. Das Codebeispiel rechts zeigt so eine Regel.</a:t>
            </a:r>
          </a:p>
        </p:txBody>
      </p:sp>
      <p:sp>
        <p:nvSpPr>
          <p:cNvPr id="4" name="Slide Number Placeholder 3"/>
          <p:cNvSpPr>
            <a:spLocks noGrp="1"/>
          </p:cNvSpPr>
          <p:nvPr>
            <p:ph type="sldNum" idx="66"/>
          </p:nvPr>
        </p:nvSpPr>
        <p:spPr/>
      </p:sp>
    </p:spTree>
  </p:cSld>
  <p:clrMapOvr>
    <a:masterClrMapping/>
  </p:clrMapOvr>
</p:notes>
</file>

<file path=ppt/notesSlides/notesSlide6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vom Tippen bis zur Anzeige“.</a:t>
            </a:r>
          </a:p>
          <a:p/>
          <a:p>
            <a:r>
              <a:t>Die Folie zeigt, wer wen wann aufruft. Erstens: Die Filter-Komponente meldet den eingegebenen Text über ihr „output“ an die Listen-Komponente. Zweitens: Die Listen-Komponente ruft im Store die Methode „setFilter“ mit diesem Text auf.</a:t>
            </a:r>
          </a:p>
          <a:p/>
          <a:p>
            <a:r>
              <a:t>Drittens: „setFilter“ setzt das private Signal „_filter“ auf den neuen Wert. Viertens: Angular merkt, dass die „computed“-Werte „filtered“ und „total“ von diesem Signal abhängen, und markiert sie als veraltet. Fünftens: Beim nächsten Durchlauf der Änderungserkennung liest das Template „filtered“. Erst jetzt rechnet das „computed“ die Liste neu. Das nennt man „lazy“, also verzögert.</a:t>
            </a:r>
          </a:p>
          <a:p/>
          <a:p>
            <a:r>
              <a:t>Man muss nichts abonnieren und nichts von Hand neu zeichnen. Das Diagramm zeigt den Ablauf von oben nach unten.</a:t>
            </a:r>
          </a:p>
        </p:txBody>
      </p:sp>
      <p:sp>
        <p:nvSpPr>
          <p:cNvPr id="4" name="Slide Number Placeholder 3"/>
          <p:cNvSpPr>
            <a:spLocks noGrp="1"/>
          </p:cNvSpPr>
          <p:nvPr>
            <p:ph type="sldNum" idx="66"/>
          </p:nvPr>
        </p:nvSpPr>
        <p:spPr/>
      </p:sp>
    </p:spTree>
  </p:cSld>
  <p:clrMapOvr>
    <a:masterClrMapping/>
  </p:clrMapOvr>
</p:notes>
</file>

<file path=ppt/notesSlides/notesSlide6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Filter tippen bis zur neuen Liste“.</a:t>
            </a:r>
          </a:p>
          <a:p/>
          <a:p>
            <a:r>
              <a:t>Das Diagramm ist ein Sequenzdiagramm. Oben stehen die Beteiligten, die Pfeile darunter zeigen von oben nach unten, wer wen aufruft. Erstens: Der Benutzer tippt „li“ in das Eingabefeld, und die „CustomerFilterComponent“ bekommt das Ereignis in „onInput“. Zweitens: Sie sendet den Text über ihr Output „changed“ an die Elternkomponente, die „CustomerListComponent“. Drittens: Die Liste ruft im Store „setFilter“ auf.</a:t>
            </a:r>
          </a:p>
          <a:p/>
          <a:p>
            <a:r>
              <a:t>Viertens: Der Store setzt sein privates Signal „_filter“. Fünftens: Angular erfährt davon, markiert das Template der Liste, weil es dieses Signal liest, und plant einen Durchlauf der Änderungserkennung. Sechstens: Beim Durchlauf prüft Angular das Template der Liste. Siebtens: Das Template liest „filtered“ und „total“ aus dem Store.</a:t>
            </a:r>
          </a:p>
          <a:p/>
          <a:p>
            <a:r>
              <a:t>Achtens: Erst jetzt rechnen die „computed“-Werte neu. Neuntens: Die gefilterte Liste und die Zahl der Treffer kommen zurück. Zehntens: Die Schleife „@for“ zeigt die passenden Listeneinträge an. Keine Komponente hat dabei etwas abonniert oder von Hand neu gezeichnet.</a:t>
            </a:r>
          </a:p>
        </p:txBody>
      </p:sp>
      <p:sp>
        <p:nvSpPr>
          <p:cNvPr id="4" name="Slide Number Placeholder 3"/>
          <p:cNvSpPr>
            <a:spLocks noGrp="1"/>
          </p:cNvSpPr>
          <p:nvPr>
            <p:ph type="sldNum" idx="66"/>
          </p:nvPr>
        </p:nvSpPr>
        <p:spPr/>
      </p:sp>
    </p:spTree>
  </p:cSld>
  <p:clrMapOvr>
    <a:masterClrMapping/>
  </p:clrMapOvr>
</p:notes>
</file>

<file path=ppt/notesSlides/notesSlide6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 nutzt nur den Store“.</a:t>
            </a:r>
          </a:p>
          <a:p/>
          <a:p>
            <a:r>
              <a:t>Die Listen-Komponente hat jetzt keine eigene Zustandslogik mehr. Sie holt sich den Store mit „inject“ und speichert ihn in einem Feld „store“. Das Feld ist „protected“, damit das Template darauf zugreifen kann, andere Klassen aber nicht.</a:t>
            </a:r>
          </a:p>
          <a:p/>
          <a:p>
            <a:r>
              <a:t>In „ngOnInit“, also beim Erzeugen der Komponente, ruft sie „load“ auf. So ist die Liste nach dem Zurückkehren von den Details immer aktuell. Eingaben im Filter gibt sie an „setFilter“ weiter. Bei einem Klick auf einen Kunden ruft sie „select“ auf und meldet den Kunden zusätzlich über ihr „output“ an die Eltern-Komponente.</a:t>
            </a:r>
          </a:p>
          <a:p/>
          <a:p>
            <a:r>
              <a:t>Das Template liest nur Signals aus dem Store: den Ladezustand, die gefilterte Liste und die Anzahl der Treffer.</a:t>
            </a:r>
          </a:p>
        </p:txBody>
      </p:sp>
      <p:sp>
        <p:nvSpPr>
          <p:cNvPr id="4" name="Slide Number Placeholder 3"/>
          <p:cNvSpPr>
            <a:spLocks noGrp="1"/>
          </p:cNvSpPr>
          <p:nvPr>
            <p:ph type="sldNum" idx="66"/>
          </p:nvPr>
        </p:nvSpPr>
        <p:spPr/>
      </p:sp>
    </p:spTree>
  </p:cSld>
  <p:clrMapOvr>
    <a:masterClrMapping/>
  </p:clrMapOvr>
</p:notes>
</file>

<file path=ppt/notesSlides/notesSlide6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Kunden laden mit store.load()“.</a:t>
            </a:r>
          </a:p>
          <a:p/>
          <a:p>
            <a:r>
              <a:t>Dieses Sequenzdiagramm zeigt das Laden der Kunden. Erstens: Der Router erkennt die Adresse „/customer“ und erzeugt die „CustomerListComponent“. Zweitens: Angular ruft ihre Methode „ngOnInit“ auf, und darin ruft die Komponente „store.load“ auf. Drittens: Der Store setzt den Merker „lädt gerade“ auf „true“. Die Liste zeigt jetzt „Lade Kunden“.</a:t>
            </a:r>
          </a:p>
          <a:p/>
          <a:p>
            <a:r>
              <a:t>Viertens: Der Store ruft „getAll“ im „CustomerService“ auf. Fünftens: Der Service schickt mit dem „HttpClient“ eine Anfrage an die Adresse „api/customer“. Sechstens: Die Antwort des Servers kommt zurück. Siebtens: Der Service wandelt sie in eine Liste von Kunden um, und der Store bekommt sie über „firstValueFrom“ als Ergebnis seines „await“.</a:t>
            </a:r>
          </a:p>
          <a:p/>
          <a:p>
            <a:r>
              <a:t>Achtens: Der Store setzt die Kundenliste. Neuntens: Er schaltet den Merker „lädt gerade“ wieder aus. Zehntens: Das Template der Liste liest die neuen Werte und zeigt die Kunden an. Die gestrichelten Pfeile sind Antworten.</a:t>
            </a:r>
          </a:p>
        </p:txBody>
      </p:sp>
      <p:sp>
        <p:nvSpPr>
          <p:cNvPr id="4" name="Slide Number Placeholder 3"/>
          <p:cNvSpPr>
            <a:spLocks noGrp="1"/>
          </p:cNvSpPr>
          <p:nvPr>
            <p:ph type="sldNum" idx="66"/>
          </p:nvPr>
        </p:nvSpPr>
        <p:spPr/>
      </p:sp>
    </p:spTree>
  </p:cSld>
  <p:clrMapOvr>
    <a:masterClrMapping/>
  </p:clrMapOvr>
</p:notes>
</file>

<file path=ppt/notesSlides/notesSlide6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 im Store: effect“.</a:t>
            </a:r>
          </a:p>
          <a:p/>
          <a:p>
            <a:r>
              <a:t>In Übung 32 wurde der Filtertext mit einem „effect“ im Browser-Speicher „localStorage“ gespeichert. Ein „effect“ ist eine Funktion, die automatisch erneut läuft, wenn sich ein Signal ändert, das sie liest. Sie wird einmal sofort ausgeführt und danach bei jeder Änderung.</a:t>
            </a:r>
          </a:p>
          <a:p/>
          <a:p>
            <a:r>
              <a:t>Im Store steht dieser „effect“ im Konstruktor. Der Konstruktor eines Services ist ein „Injection Context“. Das ist ein Bereich, in dem Angular weiß, zu welchem Injektor der Code gehört. Nur dort darf man „effect“ ohne weitere Angaben erzeugen.</a:t>
            </a:r>
          </a:p>
          <a:p/>
          <a:p>
            <a:r>
              <a:t>Die Nebenwirkung gehört in den Store, weil sie zum Zustand gehört. So speichert jede Komponente den Filter mit, ohne daran denken zu müssen. Der Startwert wird beim Erzeugen des Signals aus dem Speicher gelesen, wie das Codebeispiel rechts zeigt.</a:t>
            </a:r>
          </a:p>
        </p:txBody>
      </p:sp>
      <p:sp>
        <p:nvSpPr>
          <p:cNvPr id="4" name="Slide Number Placeholder 3"/>
          <p:cNvSpPr>
            <a:spLocks noGrp="1"/>
          </p:cNvSpPr>
          <p:nvPr>
            <p:ph type="sldNum" idx="66"/>
          </p:nvPr>
        </p:nvSpPr>
        <p:spPr/>
      </p:sp>
    </p:spTree>
  </p:cSld>
  <p:clrMapOvr>
    <a:masterClrMapping/>
  </p:clrMapOvr>
</p:notes>
</file>

<file path=ppt/notesSlides/notesSlide7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„Laden mit resource im Store“.</a:t>
            </a:r>
          </a:p>
          <a:p/>
          <a:p>
            <a:r>
              <a:t>Statt „loading“ und „error“ selbst zu pflegen, kann der Store eine „resource“ verwenden. Eine „resource“ ist ein Baustein, der asynchron Daten lädt und das Ergebnis, den Ladezustand und den Fehler als Signals anbietet. Das kennen die Teilnehmer aus Übung 26.</a:t>
            </a:r>
          </a:p>
          <a:p/>
          <a:p>
            <a:r>
              <a:t>Für die Liste verwendet der Store „rxResource“. Die Funktion bei „stream“ gibt direkt das Observable des Services zurück. Daraus leitet der Store die Kundenliste ab. „hasValue“ prüft vorher, ob überhaupt ein Wert vorhanden ist. „loading“ und „error“ sind direkt die Signals der Resource.</a:t>
            </a:r>
          </a:p>
          <a:p/>
          <a:p>
            <a:r>
              <a:t>Für die Details verwendet der Store „resource“ mit „params“ und „loader“. Sobald sich die Kennung der Auswahl ändert, lädt die Resource den passenden Kunden neu. Die Methode „reload“ lädt die Liste auf Wunsch erneut, zum Beispiel nach dem Speichern.</a:t>
            </a:r>
          </a:p>
        </p:txBody>
      </p:sp>
      <p:sp>
        <p:nvSpPr>
          <p:cNvPr id="4" name="Slide Number Placeholder 3"/>
          <p:cNvSpPr>
            <a:spLocks noGrp="1"/>
          </p:cNvSpPr>
          <p:nvPr>
            <p:ph type="sldNum" idx="66"/>
          </p:nvPr>
        </p:nvSpPr>
        <p:spPr/>
      </p:sp>
    </p:spTree>
  </p:cSld>
  <p:clrMapOvr>
    <a:masterClrMapping/>
  </p:clrMapOvr>
</p:notes>
</file>

<file path=ppt/notesSlides/notesSlide7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Parameter und Rückgabe erklärt“.</a:t>
            </a:r>
          </a:p>
          <a:p/>
          <a:p>
            <a:r>
              <a:t>„resource“ bekommt ein Objekt mit zwei wichtigen Einträgen. „params“ ist eine Funktion, die Signals liest und daraus die Parameter berechnet. Ändert sich eines dieser Signals, startet Angular das Laden neu. Liefert „params“ den Wert „undefined“, lädt Angular nichts, und der Status ist „idle“, also untätig.</a:t>
            </a:r>
          </a:p>
          <a:p/>
          <a:p>
            <a:r>
              <a:t>„loader“ ist die Ladefunktion. Angular ruft sie selbst auf und übergibt ein Objekt. Darin stehen „params“, also der aktuelle Parameterwert, „abortSignal“, ein Signal zum Abbrechen einer veralteten Anfrage, und „previous“, der vorherige Status. Der „loader“ muss ein Promise zurückgeben. Bei „rxResource“ heißt die Funktion „stream“ und gibt ein Observable zurück.</a:t>
            </a:r>
          </a:p>
          <a:p/>
          <a:p>
            <a:r>
              <a:t>Zurück kommt ein Objekt mit Signals: „value“ für das Ergebnis, „isLoading“ für den Ladezustand, „error“ für den Fehler, „status“ für den genauen Zustand und „hasValue“. Mit „reload“ lädt man neu.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7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als Union-Typ“.</a:t>
            </a:r>
          </a:p>
          <a:p/>
          <a:p>
            <a:r>
              <a:t>Beim Laden gibt es mehrere Zustände. Mit getrennten Feldern wie „loading“ und „error“ könnte man aus Versehen beide gleichzeitig setzen. Der Typ „LoadState“ verhindert das. Er ist ein „Union-Typ“, also ein Typ, der genau eine von mehreren Varianten sein kann.</a:t>
            </a:r>
          </a:p>
          <a:p/>
          <a:p>
            <a:r>
              <a:t>Es gibt vier Varianten: „idle“, noch nichts passiert, „loading“, es wird geladen, „error“ mit einer Fehlermeldung und „loaded“ mit den Daten. Nur die Variante „error“ hat eine Fehlermeldung, nur „loaded“ hat Daten. Das Feld „status“ unterscheidet die Varianten.</a:t>
            </a:r>
          </a:p>
          <a:p/>
          <a:p>
            <a:r>
              <a:t>Im Store liegt der ganze Ladezustand in einem einzigen Signal. Die Methode „load“ setzt nacheinander den Status „loading“ und dann „loaded“ mit den Daten oder „error“ mit der Meldung.</a:t>
            </a:r>
          </a:p>
        </p:txBody>
      </p:sp>
      <p:sp>
        <p:nvSpPr>
          <p:cNvPr id="4" name="Slide Number Placeholder 3"/>
          <p:cNvSpPr>
            <a:spLocks noGrp="1"/>
          </p:cNvSpPr>
          <p:nvPr>
            <p:ph type="sldNum" idx="66"/>
          </p:nvPr>
        </p:nvSpPr>
        <p:spPr/>
      </p:sp>
    </p:spTree>
  </p:cSld>
  <p:clrMapOvr>
    <a:masterClrMapping/>
  </p:clrMapOvr>
</p:notes>
</file>

<file path=ppt/notesSlides/notesSlide7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der Union-Typ funktioniert“.</a:t>
            </a:r>
          </a:p>
          <a:p/>
          <a:p>
            <a:r>
              <a:t>Das Feld „status“ ist das Unterscheidungsmerkmal. Man nennt so einen Typ auch „diskriminierte Union“. Prüft man im Code, ob „status“ gleich „loaded“ ist, weiß TypeScript danach, dass es sich um die Variante mit Daten handelt. Erst dann darf man auf „data“ zugreifen. Dieses Eingrenzen heißt „Narrowing“.</a:t>
            </a:r>
          </a:p>
          <a:p/>
          <a:p>
            <a:r>
              <a:t>Dadurch sind unmögliche Kombinationen gar nicht darstellbar. Es gibt keinen Zustand, der gleichzeitig „lädt“ und „Fehler“ ist.</a:t>
            </a:r>
          </a:p>
          <a:p/>
          <a:p>
            <a:r>
              <a:t>Mit dem Typ „never“ kann man prüfen lassen, ob alle Fälle behandelt sind. Kommt später ein fünfter Status dazu, meldet TypeScript dann überall einen Fehler, wo er fehlt. Das Codebeispiel rechts zeigt das Eingrenzen.</a:t>
            </a:r>
          </a:p>
        </p:txBody>
      </p:sp>
      <p:sp>
        <p:nvSpPr>
          <p:cNvPr id="4" name="Slide Number Placeholder 3"/>
          <p:cNvSpPr>
            <a:spLocks noGrp="1"/>
          </p:cNvSpPr>
          <p:nvPr>
            <p:ph type="sldNum" idx="66"/>
          </p:nvPr>
        </p:nvSpPr>
        <p:spPr/>
      </p:sp>
    </p:spTree>
  </p:cSld>
  <p:clrMapOvr>
    <a:masterClrMapping/>
  </p:clrMapOvr>
</p:notes>
</file>

<file path=ppt/notesSlides/notesSlide7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„Union-Typ im Template mit @switch“.</a:t>
            </a:r>
          </a:p>
          <a:p/>
          <a:p>
            <a:r>
              <a:t>Im Template wertet man den Union-Typ mit „@switch“ aus. Zuerst speichert „@let“ den aktuellen Zustand in der Template-Variable „s“. So wird das Signal nur einmal gelesen, und alle Fälle beziehen sich auf denselben Wert.</a:t>
            </a:r>
          </a:p>
          <a:p/>
          <a:p>
            <a:r>
              <a:t>„@switch“ prüft das Feld „status“. Für jede Variante gibt es einen „@case“-Block. Bei „idle“ erscheint ein Knopf zum Laden, bei „loading“ ein Hinweis. Bei „error“ zeigt das Template die Fehlermeldung und einen Knopf für einen neuen Versuch.</a:t>
            </a:r>
          </a:p>
          <a:p/>
          <a:p>
            <a:r>
              <a:t>Bei „loaded“ läuft „@for“ über die Daten. Mit strenger Typprüfung der Templates grenzt Angular den Typ im „@case“ genauso ein wie TypeScript. Deshalb sind „s.message“ und „s.data“ nur im passenden Fall erlaubt.</a:t>
            </a:r>
          </a:p>
        </p:txBody>
      </p:sp>
      <p:sp>
        <p:nvSpPr>
          <p:cNvPr id="4" name="Slide Number Placeholder 3"/>
          <p:cNvSpPr>
            <a:spLocks noGrp="1"/>
          </p:cNvSpPr>
          <p:nvPr>
            <p:ph type="sldNum" idx="66"/>
          </p:nvPr>
        </p:nvSpPr>
        <p:spPr/>
      </p:sp>
    </p:spTree>
  </p:cSld>
  <p:clrMapOvr>
    <a:masterClrMapping/>
  </p:clrMapOvr>
</p:notes>
</file>

<file path=ppt/notesSlides/notesSlide7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„Server-Daten und UI-Zustand trennen“.</a:t>
            </a:r>
          </a:p>
          <a:p/>
          <a:p>
            <a:r>
              <a:t>Daten vom Server und Zustand der Oberfläche haben unterschiedliche Eigenschaften. Server-Daten werden geladen, man kann sie zwischenspeichern, und sie können veralten. Dafür eignen sich eine „resource“ oder ein „LoadState“ im Store.</a:t>
            </a:r>
          </a:p>
          <a:p/>
          <a:p>
            <a:r>
              <a:t>UI-Zustand, zum Beispiel ob ein Dialog offen ist, betrifft meist nur eine Komponente. Er bleibt als „signal“ in dieser Komponente. Werte, die mehrere Komponenten brauchen, wie die Auswahl oder der Filter, gehören in den Store des Features.</a:t>
            </a:r>
          </a:p>
          <a:p/>
          <a:p>
            <a:r>
              <a:t>Die Faustregel lautet: Man fragt, wer den Wert außer der Komponente noch braucht. Lautet die Antwort „niemand“, bleibt er in der Komponente. Das Diagramm zeigt die beiden Seiten.</a:t>
            </a:r>
          </a:p>
        </p:txBody>
      </p:sp>
      <p:sp>
        <p:nvSpPr>
          <p:cNvPr id="4" name="Slide Number Placeholder 3"/>
          <p:cNvSpPr>
            <a:spLocks noGrp="1"/>
          </p:cNvSpPr>
          <p:nvPr>
            <p:ph type="sldNum" idx="66"/>
          </p:nvPr>
        </p:nvSpPr>
        <p:spPr/>
      </p:sp>
    </p:spTree>
  </p:cSld>
  <p:clrMapOvr>
    <a:masterClrMapping/>
  </p:clrMapOvr>
</p:notes>
</file>

<file path=ppt/notesSlides/notesSlide7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„Normalisierung: das Problem“.</a:t>
            </a:r>
          </a:p>
          <a:p/>
          <a:p>
            <a:r>
              <a:t>Eine „Entität“ ist ein fachliches Objekt mit eigener Kennung, zum Beispiel ein Kunde. Oft liegt derselbe Kunde in mehreren Listen: in der Liste aller Kunden, bei den Favoriten und bei den zuletzt aufgerufenen Kunden.</a:t>
            </a:r>
          </a:p>
          <a:p/>
          <a:p>
            <a:r>
              <a:t>Ändert man den Namen, muss man jede Kopie ändern. Vergisst man eine Stelle, zeigt die Anwendung dort den alten Namen.</a:t>
            </a:r>
          </a:p>
          <a:p/>
          <a:p>
            <a:r>
              <a:t>Die Lösung heißt „Normalisierung“. Jede Entität wird genau einmal gespeichert, in einer Tabelle, in der man sie über ihre Kennung findet. Die Listen enthalten nur noch Kennungen. Das Diagramm vergleicht beide Ansätze.</a:t>
            </a:r>
          </a:p>
        </p:txBody>
      </p:sp>
      <p:sp>
        <p:nvSpPr>
          <p:cNvPr id="4" name="Slide Number Placeholder 3"/>
          <p:cNvSpPr>
            <a:spLocks noGrp="1"/>
          </p:cNvSpPr>
          <p:nvPr>
            <p:ph type="sldNum" idx="66"/>
          </p:nvPr>
        </p:nvSpPr>
        <p:spPr/>
      </p:sp>
    </p:spTree>
  </p:cSld>
  <p:clrMapOvr>
    <a:masterClrMapping/>
  </p:clrMapOvr>
</p:notes>
</file>

<file path=ppt/notesSlides/notesSlide7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„Normalisierter Zustand im Store“.</a:t>
            </a:r>
          </a:p>
          <a:p/>
          <a:p>
            <a:r>
              <a:t>Der Zustand hat hier drei Teile. „entities“ ist ein Objekt, das jeder Kennung genau einen Kunden zuordnet. Der Typ „Record“ beschreibt so ein Nachschlage-Objekt. „ids“ enthält die Reihenfolge der Liste, und „favoriteIds“ enthält die Kennungen der Favoriten.</a:t>
            </a:r>
          </a:p>
          <a:p/>
          <a:p>
            <a:r>
              <a:t>Die Listen „all“ und „favorites“ sind „computed“. Sie setzen die Kunden aus den Kennungen zusammen.</a:t>
            </a:r>
          </a:p>
          <a:p/>
          <a:p>
            <a:r>
              <a:t>Die Methode „rename“ ändert den Vornamen nur an einer Stelle, nämlich in „entities“. Sie erzeugt dabei mit dem Spread-Operator, den drei Punkten, neue Objekte statt die alten zu verändern. Danach zeigen beide Listen automatisch den neuen Namen. NgRx bietet dafür fertige Hilfen mit „withEntities“.</a:t>
            </a:r>
          </a:p>
        </p:txBody>
      </p:sp>
      <p:sp>
        <p:nvSpPr>
          <p:cNvPr id="4" name="Slide Number Placeholder 3"/>
          <p:cNvSpPr>
            <a:spLocks noGrp="1"/>
          </p:cNvSpPr>
          <p:nvPr>
            <p:ph type="sldNum" idx="66"/>
          </p:nvPr>
        </p:nvSpPr>
        <p:spPr/>
      </p:sp>
    </p:spTree>
  </p:cSld>
  <p:clrMapOvr>
    <a:masterClrMapping/>
  </p:clrMapOvr>
</p:notes>
</file>

<file path=ppt/notesSlides/notesSlide7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Regeln für wachsenden Zustand“.</a:t>
            </a:r>
          </a:p>
          <a:p/>
          <a:p>
            <a:r>
              <a:t>Erstens: Ableiten statt kopieren. Der ausgewählte Kunde wird nicht gespeichert, sondern als „computed“ aus der Kennung der Auswahl berechnet. So kann er nie veraltet sein.</a:t>
            </a:r>
          </a:p>
          <a:p/>
          <a:p>
            <a:r>
              <a:t>Zweitens: Unveränderlich aktualisieren. Man erzeugt eine neue Liste oder ein neues Objekt, statt das alte zu verändern. Signals erkennen eine Änderung nämlich nur an einer neuen Referenz. Drittens: Den Zustand klein halten und nur speichern, was man nicht berechnen kann. Viertens: Jedes Feature bekommt seinen eigenen Store.</a:t>
            </a:r>
          </a:p>
          <a:p/>
          <a:p>
            <a:r>
              <a:t>Das Codebeispiel rechts zeigt den Unterschied zwischen Verändern und neuer Liste.</a:t>
            </a:r>
          </a:p>
        </p:txBody>
      </p:sp>
      <p:sp>
        <p:nvSpPr>
          <p:cNvPr id="4" name="Slide Number Placeholder 3"/>
          <p:cNvSpPr>
            <a:spLocks noGrp="1"/>
          </p:cNvSpPr>
          <p:nvPr>
            <p:ph type="sldNum" idx="66"/>
          </p:nvPr>
        </p:nvSpPr>
        <p:spPr/>
      </p:sp>
    </p:spTree>
  </p:cSld>
  <p:clrMapOvr>
    <a:masterClrMapping/>
  </p:clrMapOvr>
</p:notes>
</file>

<file path=ppt/notesSlides/notesSlide7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„NgRx Signal Store: Überblick“.</a:t>
            </a:r>
          </a:p>
          <a:p/>
          <a:p>
            <a:r>
              <a:t>Der „Signal Store“ kommt aus dem Paket „@ngrx/signals“ und wird mit npm installiert. Er folgt demselben Muster wie der selbst geschriebene Store: Zustand, Ableitungen und Methoden. Der Unterschied ist, dass alle Stores gleich aufgebaut sind und man sie mit fertigen Bausteinen erweitern kann.</a:t>
            </a:r>
          </a:p>
          <a:p/>
          <a:p>
            <a:r>
              <a:t>Die Funktion „signalStore“ setzt den Store aus Bausteinen zusammen, die man „Features“ nennt. „withState“ legt den Zustand fest, „withComputed“ die Ableitungen und „withMethods“ die Aktionen. Die Funktion „patchState“ ändert den Zustand. Das Ergebnis ist eine Klasse, die man wie einen Service mit „inject“ holt.</a:t>
            </a:r>
          </a:p>
          <a:p/>
          <a:p>
            <a:r>
              <a:t>Das Diagramm zeigt, wie die Bausteine nacheinander den Store aufbauen. Jeder Baustein sieht alles, was die Bausteine davor hinzugefügt haben.</a:t>
            </a:r>
          </a:p>
        </p:txBody>
      </p:sp>
      <p:sp>
        <p:nvSpPr>
          <p:cNvPr id="4" name="Slide Number Placeholder 3"/>
          <p:cNvSpPr>
            <a:spLocks noGrp="1"/>
          </p:cNvSpPr>
          <p:nvPr>
            <p:ph type="sldNum" idx="66"/>
          </p:nvPr>
        </p:nvSpPr>
        <p:spPr/>
      </p:sp>
    </p:spTree>
  </p:cSld>
  <p:clrMapOvr>
    <a:masterClrMapping/>
  </p:clrMapOvr>
</p:notes>
</file>

<file path=ppt/notesSlides/notesSlide7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 Store: CustomerSignalStore“.</a:t>
            </a:r>
          </a:p>
          <a:p/>
          <a:p>
            <a:r>
              <a:t>Die Folie zeigt denselben Kunden-Store wie vorher, diesmal mit dem Signal Store. Das Beispiel stammt aus den Lösungshinweisen von Übung 33. Alle Funktionen werden aus dem Paket „@ngrx/signals“ importiert. Der erste Parameter von „signalStore“ ist eine Einstellung: „providedIn: root“ bedeutet, dass es eine einzige Instanz für die ganze Anwendung gibt.</a:t>
            </a:r>
          </a:p>
          <a:p/>
          <a:p>
            <a:r>
              <a:t>Danach folgen drei Bausteine. „withState“ legt den Anfangszustand fest: Kunden, Filter und die Kennung der Auswahl. „withComputed“ definiert die gefilterte Liste und den ausgewählten Kunden. „withMethods“ definiert die Aktionen „setFilter“, „select“ und „load“.</a:t>
            </a:r>
          </a:p>
          <a:p/>
          <a:p>
            <a:r>
              <a:t>Der Aufbau entspricht genau dem selbst geschriebenen Store, nur ohne private Signals und ohne „asReadonly“. Die folgenden Folien erklären jeden Baustein.</a:t>
            </a:r>
          </a:p>
        </p:txBody>
      </p:sp>
      <p:sp>
        <p:nvSpPr>
          <p:cNvPr id="4" name="Slide Number Placeholder 3"/>
          <p:cNvSpPr>
            <a:spLocks noGrp="1"/>
          </p:cNvSpPr>
          <p:nvPr>
            <p:ph type="sldNum" idx="66"/>
          </p:nvPr>
        </p:nvSpPr>
        <p:spPr/>
      </p:sp>
    </p:spTree>
  </p:cSld>
  <p:clrMapOvr>
    <a:masterClrMapping/>
  </p:clrMapOvr>
</p:notes>
</file>

<file path=ppt/notesSlides/notesSlide7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„Bausteine erklärt (1/2)“.</a:t>
            </a:r>
          </a:p>
          <a:p/>
          <a:p>
            <a:r>
              <a:t>„signalStore“ bekommt optional eine Einstellung und danach beliebig viele Bausteine. Es liefert eine Klasse zurück, kein fertiges Objekt. Angular erzeugt die Instanz, sobald jemand sie mit „inject“ anfordert.</a:t>
            </a:r>
          </a:p>
          <a:p/>
          <a:p>
            <a:r>
              <a:t>„withState“ bekommt den Anfangszustand als Objekt. Aus jeder Eigenschaft macht der Signal Store ein Signal, das man nur lesen kann. Die Komponente liest den Filter also mit „store.filter()“.</a:t>
            </a:r>
          </a:p>
          <a:p/>
          <a:p>
            <a:r>
              <a:t>„withComputed“ bekommt eine Funktion. Der Signal Store ruft sie beim Erzeugen auf und übergibt ihr den bisherigen Store, also alle Signals aus „withState“. Im Beispiel werden sie gleich mit geschweiften Klammern ausgepackt. Die Funktion gibt ein Objekt mit „computed“-Werten zurück. Diese werden ebenfalls Teil des Stores.</a:t>
            </a:r>
          </a:p>
        </p:txBody>
      </p:sp>
      <p:sp>
        <p:nvSpPr>
          <p:cNvPr id="4" name="Slide Number Placeholder 3"/>
          <p:cNvSpPr>
            <a:spLocks noGrp="1"/>
          </p:cNvSpPr>
          <p:nvPr>
            <p:ph type="sldNum" idx="66"/>
          </p:nvPr>
        </p:nvSpPr>
        <p:spPr/>
      </p:sp>
    </p:spTree>
  </p:cSld>
  <p:clrMapOvr>
    <a:masterClrMapping/>
  </p:clrMapOvr>
</p:notes>
</file>

<file path=ppt/notesSlides/notesSlide7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„Bausteine erklärt (2/2)“.</a:t>
            </a:r>
          </a:p>
          <a:p/>
          <a:p>
            <a:r>
              <a:t>„withMethods“ bekommt ebenfalls eine Funktion. Ihr erster Parameter ist der bisherige Store mit allen Signals und „computed“-Werten. Die Funktion läuft in einem „Injection Context“. Deshalb darf man „inject“ verwenden, zum Beispiel als Standardwert eines zweiten Parameters, wie bei „service = inject(CustomerService)“. Die Funktion gibt ein Objekt mit Methoden zurück, die dann am Store hängen.</a:t>
            </a:r>
          </a:p>
          <a:p/>
          <a:p>
            <a:r>
              <a:t>„patchState“ ändert den Zustand. Der erste Parameter ist der Store, der zweite ein Teilobjekt. Nur die genannten Eigenschaften werden ersetzt, der Rest bleibt gleich. Statt eines Objekts kann man auch eine Funktion übergeben, die den alten Zustand bekommt und die Änderung berechnet.</a:t>
            </a:r>
          </a:p>
          <a:p/>
          <a:p>
            <a:r>
              <a:t>Standardmäßig ist der Zustand geschützt. Das heißt, nur Methoden des Stores können „patchState“ aufrufen, eine Komponente nicht. Das entspricht dem „asReadonly“ im eigenen Store.</a:t>
            </a:r>
          </a:p>
        </p:txBody>
      </p:sp>
      <p:sp>
        <p:nvSpPr>
          <p:cNvPr id="4" name="Slide Number Placeholder 3"/>
          <p:cNvSpPr>
            <a:spLocks noGrp="1"/>
          </p:cNvSpPr>
          <p:nvPr>
            <p:ph type="sldNum" idx="66"/>
          </p:nvPr>
        </p:nvSpPr>
        <p:spPr/>
      </p:sp>
    </p:spTree>
  </p:cSld>
  <p:clrMapOvr>
    <a:masterClrMapping/>
  </p:clrMapOvr>
</p:notes>
</file>

<file path=ppt/notesSlides/notesSlide7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Store verwenden und erweitern“.</a:t>
            </a:r>
          </a:p>
          <a:p/>
          <a:p>
            <a:r>
              <a:t>Eine Komponente holt den Signal Store mit „inject“, genau wie einen Service. Sie liest Signals wie „store.filtered()“ und ruft Methoden wie „store.setFilter“ auf.</a:t>
            </a:r>
          </a:p>
          <a:p/>
          <a:p>
            <a:r>
              <a:t>Lässt man „providedIn: root“ weg, trägt man den Store in die „providers“ einer Komponente ein. Dann bekommt jede Komponente ihre eigene Instanz, und der Store verschwindet mit der Komponente.</a:t>
            </a:r>
          </a:p>
          <a:p/>
          <a:p>
            <a:r>
              <a:t>Es gibt weitere Bausteine. „withHooks“ führt Code beim Erzeugen oder Zerstören des Stores aus, zum Beispiel das Laden beim Start. „withEntities“ bietet eine fertige Normalisierung. „rxMethod“ erlaubt Methoden, die mit RxJS-Operatoren arbeiten, zum Beispiel mit Verzögerung bei Eingaben. Das Codebeispiel rechts zeigt „withHooks“.</a:t>
            </a:r>
          </a:p>
        </p:txBody>
      </p:sp>
      <p:sp>
        <p:nvSpPr>
          <p:cNvPr id="4" name="Slide Number Placeholder 3"/>
          <p:cNvSpPr>
            <a:spLocks noGrp="1"/>
          </p:cNvSpPr>
          <p:nvPr>
            <p:ph type="sldNum" idx="66"/>
          </p:nvPr>
        </p:nvSpPr>
        <p:spPr/>
      </p:sp>
    </p:spTree>
  </p:cSld>
  <p:clrMapOvr>
    <a:masterClrMapping/>
  </p:clrMapOvr>
</p:notes>
</file>

<file path=ppt/notesSlides/notesSlide7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setFilter im NgRx Signal Store“.</a:t>
            </a:r>
          </a:p>
          <a:p/>
          <a:p>
            <a:r>
              <a:t>Das Diagramm zeigt denselben Ablauf wie beim eigenen Store, diesmal mit dem „CustomerSignalStore“. Die Spalten sind die Bausteine des Stores. Erstens: Die „CustomerListComponent“ ruft „store.setFilter“ auf. Diese Methode stammt aus „withMethods“.</a:t>
            </a:r>
          </a:p>
          <a:p/>
          <a:p>
            <a:r>
              <a:t>Zweitens: Die Methode ruft „patchState“ auf und ändert nur die Eigenschaft „filter“. Drittens: Das Signal „filter“, das aus „withState“ entstanden ist, hat jetzt den neuen Wert. Viertens: Der berechnete Wert „filtered“ aus „withComputed“ hängt davon ab und gilt als veraltet. Fünftens: Angular markiert das Template, weil es diese Werte liest.</a:t>
            </a:r>
          </a:p>
          <a:p/>
          <a:p>
            <a:r>
              <a:t>Sechstens: Beim nächsten Durchlauf liest das Template „store.filtered()“. Siebtens: „filtered“ liest dafür die Signals „customers“ und „filter“. Achtens: Die neue, gefilterte Liste geht an das Template zurück. Die Komponente ruft also nie „patchState“ selbst auf, das macht nur die Methode im Store.</a:t>
            </a:r>
          </a:p>
        </p:txBody>
      </p:sp>
      <p:sp>
        <p:nvSpPr>
          <p:cNvPr id="4" name="Slide Number Placeholder 3"/>
          <p:cNvSpPr>
            <a:spLocks noGrp="1"/>
          </p:cNvSpPr>
          <p:nvPr>
            <p:ph type="sldNum" idx="66"/>
          </p:nvPr>
        </p:nvSpPr>
        <p:spPr/>
      </p:sp>
    </p:spTree>
  </p:cSld>
  <p:clrMapOvr>
    <a:masterClrMapping/>
  </p:clrMapOvr>
</p:notes>
</file>

<file path=ppt/notesSlides/notesSlide7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Redux-Muster“.</a:t>
            </a:r>
          </a:p>
          <a:p/>
          <a:p>
            <a:r>
              <a:t>Das klassische NgRx folgt dem „Redux-Muster“. Eine „Action“ ist eine kleine Nachricht, die beschreibt, was passiert ist, zum Beispiel „Kunden laden angefordert“. Ein „Reducer“ ist eine reine Funktion. Sie bekommt den alten Zustand und die Action und gibt einen neuen Zustand zurück.</a:t>
            </a:r>
          </a:p>
          <a:p/>
          <a:p>
            <a:r>
              <a:t>Der „Store“ hält den gesamten Zustand als unveränderlichen Baum. Ein „Selector“ liest Teile daraus und leitet Werte ab. Ein „Effect“ erledigt asynchrone Arbeit, zum Beispiel einen Aufruf beim Server, und meldet das Ergebnis wieder als Action.</a:t>
            </a:r>
          </a:p>
          <a:p/>
          <a:p>
            <a:r>
              <a:t>Die Komponente ändert nichts direkt. Sie sendet nur Actions mit „dispatch“ und liest Werte über Selektoren. Das Diagramm zeigt diesen Kreislauf.</a:t>
            </a:r>
          </a:p>
        </p:txBody>
      </p:sp>
      <p:sp>
        <p:nvSpPr>
          <p:cNvPr id="4" name="Slide Number Placeholder 3"/>
          <p:cNvSpPr>
            <a:spLocks noGrp="1"/>
          </p:cNvSpPr>
          <p:nvPr>
            <p:ph type="sldNum" idx="66"/>
          </p:nvPr>
        </p:nvSpPr>
        <p:spPr/>
      </p:sp>
    </p:spTree>
  </p:cSld>
  <p:clrMapOvr>
    <a:masterClrMapping/>
  </p:clrMapOvr>
</p:notes>
</file>

<file path=ppt/notesSlides/notesSlide7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„Klassisches NgRx im Code (Auszug)“.</a:t>
            </a:r>
          </a:p>
          <a:p/>
          <a:p>
            <a:r>
              <a:t>Die Folie zeigt einen Ausschnitt aus klassischem NgRx. „createAction“ erzeugt eine Action. Der Text in eckigen Klammern nennt die Quelle, danach folgt das Ereignis. „props“ legt fest, welche Daten die Action mitbringt, hier die geladenen Kunden.</a:t>
            </a:r>
          </a:p>
          <a:p/>
          <a:p>
            <a:r>
              <a:t>„createReducer“ bekommt den Anfangszustand und mehrere „on“-Einträge. Jeder Eintrag sagt: Bei dieser Action wird aus dem alten Zustand dieser neue Zustand. Der Zustand wird dabei immer neu erzeugt und nie verändert.</a:t>
            </a:r>
          </a:p>
          <a:p/>
          <a:p>
            <a:r>
              <a:t>„createSelector“ liest die Kunden aus dem Zustand. Die Komponente holt den „Store“ mit „inject“, liest mit „selectSignal“ ein Signal und sendet beim Start mit „dispatch“ die Action zum Laden. Ein Effect, der hier nicht gezeigt ist, ruft dann den Server auf und sendet bei Erfolg „loadSuccess“.</a:t>
            </a:r>
          </a:p>
        </p:txBody>
      </p:sp>
      <p:sp>
        <p:nvSpPr>
          <p:cNvPr id="4" name="Slide Number Placeholder 3"/>
          <p:cNvSpPr>
            <a:spLocks noGrp="1"/>
          </p:cNvSpPr>
          <p:nvPr>
            <p:ph type="sldNum" idx="66"/>
          </p:nvPr>
        </p:nvSpPr>
        <p:spPr/>
      </p:sp>
    </p:spTree>
  </p:cSld>
  <p:clrMapOvr>
    <a:masterClrMapping/>
  </p:clrMapOvr>
</p:notes>
</file>

<file path=ppt/notesSlides/notesSlide7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klassisches NgRx mit Effect“.</a:t>
            </a:r>
          </a:p>
          <a:p/>
          <a:p>
            <a:r>
              <a:t>Das Diagramm zeigt den Weg einer Action durch klassisches NgRx. Erstens: Die „CustomerListComponent“ sendet mit „dispatch“ die Action „loadCustomers“ an den Store. Zweitens: Der Store gibt den alten Zustand und die Action an den Reducer. Drittens: Der Reducer liefert einen neuen Zustand zurück, in dem „loading“ auf „true“ steht.</a:t>
            </a:r>
          </a:p>
          <a:p/>
          <a:p>
            <a:r>
              <a:t>Viertens: Der Store gibt dieselbe Action auch an die Effects weiter. Ein Effect wartet mit „ofType“ auf bestimmte Actions. Fünftens: Der Effect „loadCustomers$“ ruft „getAll“ im „CustomerService“ auf. Sechstens: Die Kunden kommen zurück. Siebtens: Der Effect sendet eine neue Action „loadSuccess“ mit den Kunden.</a:t>
            </a:r>
          </a:p>
          <a:p/>
          <a:p>
            <a:r>
              <a:t>Achtens: Wieder berechnet der Reducer den neuen Zustand. Neuntens: Jetzt stehen die Kunden im Zustand, und „loading“ ist wieder „false“. Zehntens: Die Komponente bekommt die Liste über den Selector, den sie mit „selectSignal“ als Signal liest. Der Effect ist in dieser Form nicht auf der Codefolie zu sehen, er gehört aber zu jedem Ladevorgang dazu.</a:t>
            </a:r>
          </a:p>
        </p:txBody>
      </p:sp>
      <p:sp>
        <p:nvSpPr>
          <p:cNvPr id="4" name="Slide Number Placeholder 3"/>
          <p:cNvSpPr>
            <a:spLocks noGrp="1"/>
          </p:cNvSpPr>
          <p:nvPr>
            <p:ph type="sldNum" idx="66"/>
          </p:nvPr>
        </p:nvSpPr>
        <p:spPr/>
      </p:sp>
    </p:spTree>
  </p:cSld>
  <p:clrMapOvr>
    <a:masterClrMapping/>
  </p:clrMapOvr>
</p:notes>
</file>

<file path=ppt/notesSlides/notesSlide7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vs. Signal Store“.</a:t>
            </a:r>
          </a:p>
          <a:p/>
          <a:p>
            <a:r>
              <a:t>Die Folie ordnet jedem Baustein des klassischen NgRx das Gegenstück im Signal Store zu. Der „State“ entspricht „withState“. Ein „Selector“ entspricht „withComputed“. Eine „Action“ ist im Signal Store einfach ein Methodenaufruf. Der „Reducer“ entspricht dem „patchState“ in dieser Methode. Ein „Effect“ entspricht einer asynchronen Methode oder einer „rxMethod“.</a:t>
            </a:r>
          </a:p>
          <a:p/>
          <a:p>
            <a:r>
              <a:t>Das klassische NgRx braucht mehr Code. Dafür wird jede Action protokolliert. Mit den „Redux DevTools“, einer Erweiterung für den Browser, sieht man jede Änderung und kann sogar zu früheren Zuständen zurückspringen. Das nennt man „Time-Travel“.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7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 Jeweils steht zuerst der Fall für den Service und dann der Fall für den Store.</a:t>
            </a:r>
          </a:p>
          <a:p/>
          <a:p>
            <a:r>
              <a:t>Erstens die Zahl der Konsumenten: Nutzen eine bis drei Komponenten den Zustand, genügt ein Service. Nutzen viele Komponenten in mehreren Features den Zustand, lohnt sich ein Store. Zweitens die Zustandsarten: Bei ein bis zwei reicht ein Service, bei mehreren zusammenhängenden ein Store. Drittens die Seiteneffekte: Bei wenigen reicht ein Service, bei vielen voneinander abhängigen ein Store. Viertens die Nachvollziehbarkeit: Müssen Änderungen protokolliert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7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Sollen gezielt die Regeln des Zustands getestet werden, hilft ein Store.</a:t>
            </a:r>
          </a:p>
          <a:p/>
          <a:p>
            <a:r>
              <a:t>Das Ergebnis für den Kurs lautet: Man startet einfach mit einem Service und Signals. Man wechselt zu einem strukturierten Store erst, wenn eines der Kriterien wirklich zum Problem wird.</a:t>
            </a:r>
          </a:p>
        </p:txBody>
      </p:sp>
      <p:sp>
        <p:nvSpPr>
          <p:cNvPr id="4" name="Slide Number Placeholder 3"/>
          <p:cNvSpPr>
            <a:spLocks noGrp="1"/>
          </p:cNvSpPr>
          <p:nvPr>
            <p:ph type="sldNum" idx="66"/>
          </p:nvPr>
        </p:nvSpPr>
        <p:spPr/>
      </p:sp>
    </p:spTree>
  </p:cSld>
  <p:clrMapOvr>
    <a:masterClrMapping/>
  </p:clrMapOvr>
</p:notes>
</file>

<file path=ppt/notesSlides/notesSlide7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„Welches Werkzeug wann?“.</a:t>
            </a:r>
          </a:p>
          <a:p/>
          <a:p>
            <a:r>
              <a:t>Die Folie fasst die Entscheidung zusammen. Ein „signal“ in der Komponente reicht für lokalen Zustand der Oberfläche. Ein Service mit Signals passt, wenn mehrere Komponenten Daten teilen und das Team klein ist.</a:t>
            </a:r>
          </a:p>
          <a:p/>
          <a:p>
            <a:r>
              <a:t>Der „NgRx Signal Store“ lohnt sich, wenn es viele Stores gibt, die alle gleich aufgebaut sein sollen, oder wenn man die fertigen Erweiterungen nutzen möchte. Das klassische NgRx passt zu großen Anwendungen mit vielen Teams, in denen jede Änderung protokolliert und im Browser nachvollzogen werden soll.</a:t>
            </a:r>
          </a:p>
          <a:p/>
          <a:p>
            <a:r>
              <a:t>Man darf mischen und für jedes Feature einzeln entscheiden. Das Diagramm zeigt die Werkzeuge nach wachsendem Aufwand von unten nach oben.</a:t>
            </a:r>
          </a:p>
        </p:txBody>
      </p:sp>
      <p:sp>
        <p:nvSpPr>
          <p:cNvPr id="4" name="Slide Number Placeholder 3"/>
          <p:cNvSpPr>
            <a:spLocks noGrp="1"/>
          </p:cNvSpPr>
          <p:nvPr>
            <p:ph type="sldNum" idx="66"/>
          </p:nvPr>
        </p:nvSpPr>
        <p:spPr/>
      </p:sp>
    </p:spTree>
  </p:cSld>
  <p:clrMapOvr>
    <a:masterClrMapping/>
  </p:clrMapOvr>
</p:notes>
</file>

<file path=ppt/notesSlides/notesSlide7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beim Entwurf. Erstens: alles in den Store legen. Kleine Details der Oberfläche, wie ein geöffneter Reiter, gehören in die Komponente. Zweitens: ein „God Store“, also ein einziger, allwissender Store für die ganze Anwendung. Besser ist ein Store pro Feature.</a:t>
            </a:r>
          </a:p>
          <a:p/>
          <a:p>
            <a:r>
              <a:t>Drittens: die „doppelte Wahrheit“. Die Daten liegen im Store und zusätzlich als Kopie in der Komponente, und die Kopie veraltet. Viertens: Daten vom Server wie normalen Zustand der Oberfläche behandeln. Serverdaten veralten und das Laden kann fehlschlagen. Fünftens: erst ein Werkzeug auswählen und dann ein Problem dafür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7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im Code (1/2)“.</a:t>
            </a:r>
          </a:p>
          <a:p/>
          <a:p>
            <a:r>
              <a:t>Erstens: „asReadonly“ vergessen. Dann können Komponenten Werte direkt setzen, und der Store verliert die Kontrolle. Zweitens: eine Liste mit „push“ verändern und dieselbe Liste zurückgeben. Das Signal sieht dieselbe Referenz und meldet keine Änderung, die Anzeige bleibt alt.</a:t>
            </a:r>
          </a:p>
          <a:p/>
          <a:p>
            <a:r>
              <a:t>Drittens: einen „effect“ verwenden, um einen Wert von einem Signal in ein anderes zu kopieren. Dafür ist „computed“ da, oder „linkedSignal“, wenn der Wert zusätzlich überschreibbar sein soll. Viertens: Bei einer „resource“ im Fehlerzustand wirft das Lesen von „value“ einen Fehler. Deshalb prüft man vorher mit „hasValue“, ob ein Wert vorhanden ist. Das Diagramm zeigt jeweils links die falsche und rechts die richtige Lösung.</a:t>
            </a:r>
          </a:p>
        </p:txBody>
      </p:sp>
      <p:sp>
        <p:nvSpPr>
          <p:cNvPr id="4" name="Slide Number Placeholder 3"/>
          <p:cNvSpPr>
            <a:spLocks noGrp="1"/>
          </p:cNvSpPr>
          <p:nvPr>
            <p:ph type="sldNum" idx="66"/>
          </p:nvPr>
        </p:nvSpPr>
        <p:spPr/>
      </p:sp>
    </p:spTree>
  </p:cSld>
  <p:clrMapOvr>
    <a:masterClrMapping/>
  </p:clrMapOvr>
</p:notes>
</file>

<file path=ppt/notesSlides/notesSlide7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im Code (2/2)“.</a:t>
            </a:r>
          </a:p>
          <a:p/>
          <a:p>
            <a:r>
              <a:t>Fünftens: Den Store versehentlich zusätzlich in die „providers“ einer Komponente eintragen. Dann bekommt diese Komponente eine eigene, neue Instanz, und sie sieht andere Daten als der Rest der Anwendung.</a:t>
            </a:r>
          </a:p>
          <a:p/>
          <a:p>
            <a:r>
              <a:t>Sechstens: überholende Antworten. Startet man zwei Ladevorgänge kurz nacheinander, kann die ältere Antwort später ankommen und die neuere überschreiben. Eine „resource“ bricht die alte Anfrage automatisch ab. Siebtens: „load“ ohne „finally“. Bei einem Fehler wird der Merker für „lädt gerade“ dann nie zurückgesetzt.</a:t>
            </a:r>
          </a:p>
          <a:p/>
          <a:p>
            <a:r>
              <a:t>Achtens: Fachlogik schleicht sich wieder in die Komponente, zum Beispiel eine eigene Filterung. Sie gehört in ein „computed“ im Store.</a:t>
            </a:r>
          </a:p>
        </p:txBody>
      </p:sp>
      <p:sp>
        <p:nvSpPr>
          <p:cNvPr id="4" name="Slide Number Placeholder 3"/>
          <p:cNvSpPr>
            <a:spLocks noGrp="1"/>
          </p:cNvSpPr>
          <p:nvPr>
            <p:ph type="sldNum" idx="66"/>
          </p:nvPr>
        </p:nvSpPr>
        <p:spPr/>
      </p:sp>
    </p:spTree>
  </p:cSld>
  <p:clrMapOvr>
    <a:masterClrMapping/>
  </p:clrMapOvr>
</p:notes>
</file>

<file path=ppt/notesSlides/notesSlide7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Stores“.</a:t>
            </a:r>
          </a:p>
          <a:p/>
          <a:p>
            <a:r>
              <a:t>Ein Store lässt sich ohne Oberfläche testen. Man braucht kein „fixture“, das ist die Testhülle für eine Komponente, und kein DOM, also keine echte Seite im Browser.</a:t>
            </a:r>
          </a:p>
          <a:p/>
          <a:p>
            <a:r>
              <a:t>Den „CustomerService“ ersetzt man durch eine Attrappe. Das ist ein Objekt, das statt eines echten Serveraufrufs feste Daten liefert. „TestBed.inject“ liefert dann den Store. Der Test ruft eine Aktion auf und prüft danach den Wert eines Signals. Weil „load“ ein Promise zurückgibt, kann der Test mit „await“ warten, bis das Laden fertig ist.</a:t>
            </a:r>
          </a:p>
          <a:p/>
          <a:p>
            <a:r>
              <a:t>Das Codebeispiel rechts zeigt einen solchen Test mit Vitest.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7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 (1/2)“.</a:t>
            </a:r>
          </a:p>
          <a:p/>
          <a:p>
            <a:r>
              <a:t>Erklärung für die Dolmetscherin:</a:t>
            </a:r>
          </a:p>
          <a:p>
            <a:r>
              <a:t>Dies ist der erste Teil der Aufgabenstellung für Übung 33. Sie baut auf dem Ergebnis von Übung 32 auf und dauert etwa 45 Minuten.</a:t>
            </a:r>
          </a:p>
          <a:p/>
          <a:p>
            <a:r>
              <a:t>Zuerst wird der „CustomerService“ zu einer reinen Schicht für den Zugriff auf den Server. Das „ReplaySubject“ und das automatische Laden im Konstruktor fallen weg. Die Methode „getAll“ gibt direkt das Observable des HTTP-Aufrufs zurück.</a:t>
            </a:r>
          </a:p>
          <a:p/>
          <a:p>
            <a:r>
              <a:t>Dann legen die Teilnehmer die Datei „customer.store.ts“ an. Der Store hat private Signals für Kunden, Filter, Auswahl, Ladezustand und Fehler und gibt sie mit „asReadonly“ nur lesbar heraus. Dazu kommen drei „computed“-Werte und vier Methoden. Schließlich benutzt die Kundenliste nur noch den Store und ruft beim Öffnen „load“ auf.</a:t>
            </a:r>
          </a:p>
        </p:txBody>
      </p:sp>
      <p:sp>
        <p:nvSpPr>
          <p:cNvPr id="4" name="Slide Number Placeholder 3"/>
          <p:cNvSpPr>
            <a:spLocks noGrp="1"/>
          </p:cNvSpPr>
          <p:nvPr>
            <p:ph type="sldNum" idx="66"/>
          </p:nvPr>
        </p:nvSpPr>
        <p:spPr/>
      </p:sp>
    </p:spTree>
  </p:cSld>
  <p:clrMapOvr>
    <a:masterClrMapping/>
  </p:clrMapOvr>
</p:notes>
</file>

<file path=ppt/notesSlides/notesSlide7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 (2/2)“.</a:t>
            </a:r>
          </a:p>
          <a:p/>
          <a:p>
            <a:r>
              <a:t>Erklärung für die Dolmetscherin:</a:t>
            </a:r>
          </a:p>
          <a:p>
            <a:r>
              <a:t>Dies ist der zweite Teil der Übung 33. Der „effect“ aus Übung 32, der den Filtertext im Browser speichert, zieht in den Konstruktor des Stores um. Die Gruppe bespricht, warum diese Nebenwirkung zum Store gehört.</a:t>
            </a:r>
          </a:p>
          <a:p/>
          <a:p>
            <a:r>
              <a:t>Danach prüfen die Teilnehmer im Browser, dass sich nichts am Verhalten geändert hat: Filter, Auswahl, Details, Speichern und Zurückkehren funktionieren wie vorher. In der Reflexion begründen sie in drei Sätzen mit den Kriterien aus diesem Kapitel, ob ein Store hier schon nötig war.</a:t>
            </a:r>
          </a:p>
          <a:p/>
          <a:p>
            <a:r>
              <a:t>Leistungsstarke Gruppen skizzieren zusätzlich denselben Store mit „signalStore“. Sie vergleichen Zeilenzahl und Lesbarkeit. Das Paket wird dafür nicht installiert.</a:t>
            </a:r>
          </a:p>
        </p:txBody>
      </p:sp>
      <p:sp>
        <p:nvSpPr>
          <p:cNvPr id="4" name="Slide Number Placeholder 3"/>
          <p:cNvSpPr>
            <a:spLocks noGrp="1"/>
          </p:cNvSpPr>
          <p:nvPr>
            <p:ph type="sldNum" idx="66"/>
          </p:nvPr>
        </p:nvSpPr>
        <p:spPr/>
      </p:sp>
    </p:spTree>
  </p:cSld>
  <p:clrMapOvr>
    <a:masterClrMapping/>
  </p:clrMapOvr>
</p:notes>
</file>

<file path=ppt/notesSlides/notesSlide7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a:t>
            </a:r>
          </a:p>
          <a:p/>
          <a:p>
            <a:r>
              <a:t>Es gibt keine richtige Antwort. Ziel ist, die Entscheidungskriterien klar auszusprechen. Die nächste Folie gibt dafür Anregungen.</a:t>
            </a:r>
          </a:p>
        </p:txBody>
      </p:sp>
      <p:sp>
        <p:nvSpPr>
          <p:cNvPr id="4" name="Slide Number Placeholder 3"/>
          <p:cNvSpPr>
            <a:spLocks noGrp="1"/>
          </p:cNvSpPr>
          <p:nvPr>
            <p:ph type="sldNum" idx="66"/>
          </p:nvPr>
        </p:nvSpPr>
        <p:spPr/>
      </p:sp>
    </p:spTree>
  </p:cSld>
  <p:clrMapOvr>
    <a:masterClrMapping/>
  </p:clrMapOvr>
</p:notes>
</file>

<file path=ppt/notesSlides/notesSlide7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„Hilfen für die Technologieentscheidung“.</a:t>
            </a:r>
          </a:p>
          <a:p/>
          <a:p>
            <a:r>
              <a:t>Diese Folie gibt Anregungen für die Rückblick-Übung. Bei der Lebensdauer ist wichtig: Angular bringt etwa alle sechs Monate eine neue Hauptversion heraus. Jede Version wird insgesamt etwa achtzehn Monate unterstützt. Bei zehn Jahren Laufzeit muss das Team also regelmäßig aktualisieren.</a:t>
            </a:r>
          </a:p>
          <a:p/>
          <a:p>
            <a:r>
              <a:t>Beim Team fragt man, ob Wissen in TypeScript, RxJS und Signals vorhanden ist. Für viele Personen spricht, dass Angular einheitliche Muster vorgibt. „DI“, also die Abhängigkeitsinjektion, das Routing, die Formulare und die Testwerkzeuge sind schon eingebaut.</a:t>
            </a:r>
          </a:p>
          <a:p/>
          <a:p>
            <a:r>
              <a:t>Risiken sind die Lernkurve und die nötigen Updates. Die Teilnehmer können sich auf Themen aus dem Kurs beziehen, zum Beispiel den Store, die Schichten und die Testbarkeit. Das Diagramm stellt Argumente und Risiken gegenüber.</a:t>
            </a:r>
          </a:p>
        </p:txBody>
      </p:sp>
      <p:sp>
        <p:nvSpPr>
          <p:cNvPr id="4" name="Slide Number Placeholder 3"/>
          <p:cNvSpPr>
            <a:spLocks noGrp="1"/>
          </p:cNvSpPr>
          <p:nvPr>
            <p:ph type="sldNum" idx="66"/>
          </p:nvPr>
        </p:nvSpPr>
        <p:spPr/>
      </p:sp>
    </p:spTree>
  </p:cSld>
  <p:clrMapOvr>
    <a:masterClrMapping/>
  </p:clrMapOvr>
</p:notes>
</file>

<file path=ppt/notesSlides/notesSlide7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„Funktionen“ – Jetzt geht es um Funktionen. Wir sehen, wie man Eingaben und Ergebnisse mit Typen beschreibt, wie Pfeilfunktionen aussehen und wie man Listen von Kunden verarbeitet.</a:t>
            </a:r>
          </a:p>
        </p:txBody>
      </p:sp>
      <p:sp>
        <p:nvSpPr>
          <p:cNvPr id="4" name="Slide Number Placeholder 3"/>
          <p:cNvSpPr>
            <a:spLocks noGrp="1"/>
          </p:cNvSpPr>
          <p:nvPr>
            <p:ph type="sldNum" idx="66"/>
          </p:nvPr>
        </p:nvSpPr>
        <p:spPr/>
      </p:sp>
    </p:spTree>
  </p:cSld>
  <p:clrMapOvr>
    <a:masterClrMapping/>
  </p:clrMapOvr>
</p:notes>
</file>

<file path=ppt/notesSlides/notesSlide7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„Funktionen typisieren“.</a:t>
            </a:r>
          </a:p>
          <a:p/>
          <a:p>
            <a:r>
              <a:t>Bei einer Funktion geben wir jedem Parameter einen Typ und schreiben hinter die Klammern den Typ des Ergebnisses, den „Rückgabetyp“. Bei „cityOf“ bekommt die Funktion einen Kunden und liefert einen Text.</a:t>
            </a:r>
          </a:p>
          <a:p/>
          <a:p>
            <a:r>
              <a:t>Der zweite Parameter „fallback“ hat einen Standardwert, nämlich „unbekannt“. Wenn der Aufrufer ihn weglässt, wird der Standardwert benutzt. Der Typ wird dabei vom Standardwert abgeleitet.</a:t>
            </a:r>
          </a:p>
          <a:p/>
          <a:p>
            <a:r>
              <a:t>Bei der Funktion „greet“ steht hinter dem Parameter ein Fragezeichen. Das bedeutet: Der Parameter ist optional und darf beim Aufruf fehlen. Innerhalb der Funktion kann er dann „undefined“ sein. Die Funktion „logMessage“ gibt nichts zurück. Dafür steht der Typ „void“, das heißt „leer“.</a:t>
            </a:r>
          </a:p>
        </p:txBody>
      </p:sp>
      <p:sp>
        <p:nvSpPr>
          <p:cNvPr id="4" name="Slide Number Placeholder 3"/>
          <p:cNvSpPr>
            <a:spLocks noGrp="1"/>
          </p:cNvSpPr>
          <p:nvPr>
            <p:ph type="sldNum" idx="66"/>
          </p:nvPr>
        </p:nvSpPr>
        <p:spPr/>
      </p:sp>
    </p:spTree>
  </p:cSld>
  <p:clrMapOvr>
    <a:masterClrMapping/>
  </p:clrMapOvr>
</p:notes>
</file>

<file path=ppt/notesSlides/notesSlide7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„Rest-Parameter und Arrow-Funktionen“.</a:t>
            </a:r>
          </a:p>
          <a:p/>
          <a:p>
            <a:r>
              <a:t>Ein „Rest-Parameter“ steht am Ende der Parameterliste und beginnt mit drei Punkten. Er sammelt beliebig viele Argumente in einer Liste. Die Funktion „sum“ kann also mit zwei, drei oder zehn Zahlen aufgerufen werden. Die Methode „reduce“ addiert alle Zahlen der Liste, beginnend bei null.</a:t>
            </a:r>
          </a:p>
          <a:p/>
          <a:p>
            <a:r>
              <a:t>Eine „Arrow-Funktion“, auf Deutsch Pfeilfunktion, ist eine kurze Schreibweise für eine Funktion. Links vom Pfeil stehen die Parameter, rechts steht das Ergebnis. „double“ verdoppelt eine Zahl, „add“ addiert zwei Zahlen.</a:t>
            </a:r>
          </a:p>
          <a:p/>
          <a:p>
            <a:r>
              <a:t>Funktionen können auch als Argument übergeben werden. Man nennt sie dann „Callback“. Bei „applyTwice“ wird die übergebene Funktion zweimal angewendet. Der Typ „(n: number) =&gt; number“ beschreibt eine solche Funktion. Im Angular-Kurs benutzen wir Pfeilfunktionen sehr oft.</a:t>
            </a:r>
          </a:p>
        </p:txBody>
      </p:sp>
      <p:sp>
        <p:nvSpPr>
          <p:cNvPr id="4" name="Slide Number Placeholder 3"/>
          <p:cNvSpPr>
            <a:spLocks noGrp="1"/>
          </p:cNvSpPr>
          <p:nvPr>
            <p:ph type="sldNum" idx="66"/>
          </p:nvPr>
        </p:nvSpPr>
        <p:spPr/>
      </p:sp>
    </p:spTree>
  </p:cSld>
  <p:clrMapOvr>
    <a:masterClrMapping/>
  </p:clrMapOvr>
</p:notes>
</file>

<file path=ppt/notesSlides/notesSlide7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„Listen verarbeiten: filter, map, find“.</a:t>
            </a:r>
          </a:p>
          <a:p/>
          <a:p>
            <a:r>
              <a:t>Für Listen gibt es drei wichtige Methoden. Alle bekommen eine Pfeilfunktion als Argument, die für jedes Element der Liste aufgerufen wird. Die Variable „c“ steht dabei für den jeweiligen Kunden.</a:t>
            </a:r>
          </a:p>
          <a:p/>
          <a:p>
            <a:r>
              <a:t>„filter“ behält nur die Elemente, bei denen die Pfeilfunktion „wahr“ liefert. Hier bleiben die Kunden aus Springfield übrig, das Ergebnis ist eine neue Liste. „map“ wandelt jedes Element in etwas anderes um. Hier entsteht aus jedem Kunden ein Text mit Vorname und Nachname. „find“ liefert das erste passende Element oder „undefined“, wenn keines passt. Darum benutzen wir danach das Fragezeichen und den Ersatzwert.</a:t>
            </a:r>
          </a:p>
          <a:p/>
          <a:p>
            <a:r>
              <a:t>Die Methoden lassen sich hintereinander schreiben. Unten werden zuerst die beendeten Kunden herausgefiltert, dann bleiben die Nachnamen übrig. Die ursprüngliche Liste ändert sich dabei nie.</a:t>
            </a:r>
          </a:p>
        </p:txBody>
      </p:sp>
      <p:sp>
        <p:nvSpPr>
          <p:cNvPr id="4" name="Slide Number Placeholder 3"/>
          <p:cNvSpPr>
            <a:spLocks noGrp="1"/>
          </p:cNvSpPr>
          <p:nvPr>
            <p:ph type="sldNum" idx="66"/>
          </p:nvPr>
        </p:nvSpPr>
        <p:spPr/>
      </p:sp>
    </p:spTree>
  </p:cSld>
  <p:clrMapOvr>
    <a:masterClrMapping/>
  </p:clrMapOvr>
</p:notes>
</file>

<file path=ppt/notesSlides/notesSlide7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2: Funktionen typisieren“.</a:t>
            </a:r>
          </a:p>
          <a:p/>
          <a:p>
            <a:r>
              <a:t>Erklärung für die Dolmetscherin:</a:t>
            </a:r>
          </a:p>
          <a:p>
            <a:r>
              <a:t>In dieser Übung öffnen die Teilnehmenden die Datei „uebung-2-funktionen.ts“. Vier Funktionen sind nur als Gerüst vorgegeben und müssen geschrieben werden. Jeder Parameter und jeder Rückgabewert bekommt einen Typ.</a:t>
            </a:r>
          </a:p>
          <a:p/>
          <a:p>
            <a:r>
              <a:t>Die erste Funktion setzt Vor- und Nachname zusammen. Die zweite filtert die Kunden nach einem Suchtext. Die dritte liefert die Stadt mit einem Standardwert, und die vierte verbindet alle Namen mit einem Trennzeichen und benutzt dafür einen Rest-Parameter. Solange die letzten beiden Funktionen fehlen, meldet der Compiler zwei Fehler. Das ist so gewollt. Die Übung dauert etwa 15 Minuten.</a:t>
            </a:r>
          </a:p>
        </p:txBody>
      </p:sp>
      <p:sp>
        <p:nvSpPr>
          <p:cNvPr id="4" name="Slide Number Placeholder 3"/>
          <p:cNvSpPr>
            <a:spLocks noGrp="1"/>
          </p:cNvSpPr>
          <p:nvPr>
            <p:ph type="sldNum" idx="66"/>
          </p:nvPr>
        </p:nvSpPr>
        <p:spPr/>
      </p:sp>
    </p:spTree>
  </p:cSld>
  <p:clrMapOvr>
    <a:masterClrMapping/>
  </p:clrMapOvr>
</p:notes>
</file>

<file path=ppt/notesSlides/notesSlide7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automatische Tests. Es geht darum, warum man Tests schreibt, wie ein Test mit dem Werkzeug „Vitest“ aufgebaut ist und wie man Services, HTTP-Aufrufe, Komponenten und Signals in Angular testet. Zum Schluss geht es darum, wie man automatisch erzeugte Tests kritisch prüft.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7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„Refactoring“ bedeutet, den Code umzubauen, ohne sein Verhalten zu ändern. Das traut man sich nur mit Tests. 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7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zeigt, wie viele Tests es von welcher Art geben sollte. Unten stehen die „Unit-Tests“. Das sind kleine Tests für einzelne Bausteine wie einen Service, einen Store oder eine Pipe. Sie laufen sehr schnell, deshalb schreibt man viele davon.</a:t>
            </a:r>
          </a:p>
          <a:p/>
          <a:p>
            <a:r>
              <a:t>In der Mitte stehen Komponententests. Sie prüfen eine Komponente zusammen mit ihrem Template, also was angezeigt wird und was bei einem Klick passiert. Dafür nutzt man das „TestBed“, das gleich erklärt wird. Oben stehen die „End-to-End-Tests“. Sie bedienen die ganze Anwendung in einem echten Browser wie ein Benutzer, zum Beispiel mit „Playwright“ oder „Cypress“. Sie sind langsam und aufwendig, deshalb gibt es nur wenige.</a:t>
            </a:r>
          </a:p>
        </p:txBody>
      </p:sp>
      <p:sp>
        <p:nvSpPr>
          <p:cNvPr id="4" name="Slide Number Placeholder 3"/>
          <p:cNvSpPr>
            <a:spLocks noGrp="1"/>
          </p:cNvSpPr>
          <p:nvPr>
            <p:ph type="sldNum" idx="66"/>
          </p:nvPr>
        </p:nvSpPr>
        <p:spPr/>
      </p:sp>
    </p:spTree>
  </p:cSld>
  <p:clrMapOvr>
    <a:masterClrMapping/>
  </p:clrMapOvr>
</p:notes>
</file>

<file path=ppt/notesSlides/notesSlide7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etwas testen lässt, hängt von der Struktur ab. Eine „reine Funktion“ hängt nur von ihren Parametern ab und hat keine Nebenwirkungen. Man gibt einen Wert hinein und prüft das Ergebnis. Das ist am einfachsten.</a:t>
            </a:r>
          </a:p>
          <a:p/>
          <a:p>
            <a:r>
              <a:t>Ein Store mit Signals ist ebenfalls einfach: Man ruft eine Methode auf und liest danach das Signal. Eine Darstellungskomponente bekommt nur Eingaben und sendet Ausgaben, auch das ist gut testbar. Eine Container-Komponente, die viele Services nutzt, braucht viele Ersatzobjekte. Am schwersten sind Komponenten, die direkt auf „window“ oder globale Objekte zugreifen. Das Diagramm zeigt: Je weiter unten die Logik liegt, desto einfacher der Test.</a:t>
            </a:r>
          </a:p>
        </p:txBody>
      </p:sp>
      <p:sp>
        <p:nvSpPr>
          <p:cNvPr id="4" name="Slide Number Placeholder 3"/>
          <p:cNvSpPr>
            <a:spLocks noGrp="1"/>
          </p:cNvSpPr>
          <p:nvPr>
            <p:ph type="sldNum" idx="66"/>
          </p:nvPr>
        </p:nvSpPr>
        <p:spPr/>
      </p:sp>
    </p:spTree>
  </p:cSld>
  <p:clrMapOvr>
    <a:masterClrMapping/>
  </p:clrMapOvr>
</p:notes>
</file>

<file path=ppt/notesSlides/notesSlide7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„Vorher und nachher: Logik im Store“.</a:t>
            </a:r>
          </a:p>
          <a:p/>
          <a:p>
            <a:r>
              <a:t>Diese Folie zeigt den Unterschied an der Übungsanwendung. Vorher hat die Kundenliste die Daten selbst über den „HttpClient“ geladen und selbst gefiltert. Um das Filtern zu testen, musste man den Server-Aufruf ersetzen, die Komponente erzeugen und das HTML prüfen.</a:t>
            </a:r>
          </a:p>
          <a:p/>
          <a:p>
            <a:r>
              <a:t>Nach Übung 33 liegt die Filterlogik im „CustomerStore“, als „computed“. Ein „computed“ ist ein berechneter Wert, der sich automatisch neu berechnet, wenn sich ein gelesener Wert ändert. Der Test holt den Store, setzt den Filter und liest das Ergebnis. Es gibt kein Template und keine Oberfläche. Die Komponente zeigt nur noch an, ihr Test bleibt deshalb klein.</a:t>
            </a:r>
          </a:p>
        </p:txBody>
      </p:sp>
      <p:sp>
        <p:nvSpPr>
          <p:cNvPr id="4" name="Slide Number Placeholder 3"/>
          <p:cNvSpPr>
            <a:spLocks noGrp="1"/>
          </p:cNvSpPr>
          <p:nvPr>
            <p:ph type="sldNum" idx="66"/>
          </p:nvPr>
        </p:nvSpPr>
        <p:spPr/>
      </p:sp>
    </p:spTree>
  </p:cSld>
  <p:clrMapOvr>
    <a:masterClrMapping/>
  </p:clrMapOvr>
</p:notes>
</file>

<file path=ppt/notesSlides/notesSlide7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in Angular 21“.</a:t>
            </a:r>
          </a:p>
          <a:p/>
          <a:p>
            <a:r>
              <a:t>Ein „Test-Runner“ ist ein Programm, das die Tests findet, ausführt und das Ergebnis anzeigt. Ab Angular 21 ist das „Vitest“. Früher waren es „Karma“ und „Jasmine“. Man startet die Tests mit dem Befehl „ng test“. Ohne weitere Angabe beobachtet Vitest die Dateien und startet die Tests bei jeder Änderung neu. Mit „--watch=false“ laufen sie genau einmal, das braucht man in der Pipeline.</a:t>
            </a:r>
          </a:p>
          <a:p/>
          <a:p>
            <a:r>
              <a:t>Die Tests laufen in „jsdom“. Das ist ein Programm, das einen Browser nachbildet, ohne ein Fenster zu öffnen. Testdateien enden auf „.spec.ts“. Die Funktionen „describe“, „it“, „expect“ und „vi“ muss man nicht importieren, weil sie über die Datei „tsconfig.spec.json“ global bekannt sind. Das Diagramm zeigt den Weg vom Befehl bis zum Ergebnis.</a:t>
            </a:r>
          </a:p>
        </p:txBody>
      </p:sp>
      <p:sp>
        <p:nvSpPr>
          <p:cNvPr id="4" name="Slide Number Placeholder 3"/>
          <p:cNvSpPr>
            <a:spLocks noGrp="1"/>
          </p:cNvSpPr>
          <p:nvPr>
            <p:ph type="sldNum" idx="66"/>
          </p:nvPr>
        </p:nvSpPr>
        <p:spPr/>
      </p:sp>
    </p:spTree>
  </p:cSld>
  <p:clrMapOvr>
    <a:masterClrMapping/>
  </p:clrMapOvr>
</p:notes>
</file>

<file path=ppt/notesSlides/notesSlide7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„Aufbau eines Vitest-Tests“.</a:t>
            </a:r>
          </a:p>
          <a:p/>
          <a:p>
            <a:r>
              <a:t>Diese Folie zeigt einen vollständigen Test aus der Übungsanwendung. Ganz außen steht „describe“. Damit bildet man eine „Suite“, also eine Gruppe zusammengehöriger Tests, hier für den „CustomerStore“. Darin wird ein Ersatz für die Methode „getAll“ des Services angelegt.</a:t>
            </a:r>
          </a:p>
          <a:p/>
          <a:p>
            <a:r>
              <a:t>„beforeEach“ läuft vor jedem einzelnen Test. Hier wird der Ersatz zurückgesetzt und die Testumgebung eingerichtet. Der eigentliche Test steht in „it“. Er liefert dem Ersatz zwei Kunden, holt den Store, lädt die Daten, setzt den Filter auf „LISA“ in Großbuchstaben und prüft, dass nur Lisa übrig bleibt. Die Kommentare rechts zeigen die drei Phasen: vorbereiten, ausführen, prüfen. Die nächsten Folien erklären jeden Baustein.</a:t>
            </a:r>
          </a:p>
        </p:txBody>
      </p:sp>
      <p:sp>
        <p:nvSpPr>
          <p:cNvPr id="4" name="Slide Number Placeholder 3"/>
          <p:cNvSpPr>
            <a:spLocks noGrp="1"/>
          </p:cNvSpPr>
          <p:nvPr>
            <p:ph type="sldNum" idx="66"/>
          </p:nvPr>
        </p:nvSpPr>
        <p:spPr/>
      </p:sp>
    </p:spTree>
  </p:cSld>
  <p:clrMapOvr>
    <a:masterClrMapping/>
  </p:clrMapOvr>
</p:notes>
</file>

<file path=ppt/notesSlides/notesSlide7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„describe, it, beforeEach: wer ruft was auf?“.</a:t>
            </a:r>
          </a:p>
          <a:p/>
          <a:p>
            <a:r>
              <a:t>Alle diese Funktionen bekommen eine Funktion als Parameter, und Vitest ruft sie zu einem bestimmten Zeitpunkt auf. „describe“ bekommt einen Namen und eine Funktion. Vitest ruft diese Funktion sofort auf, um alle Tests darin einzusammeln. „it“ bekommt ebenfalls einen Namen und eine Funktion. Diese Funktion ist der eigentliche Test. Vitest ruft sie später auf, jeden Test für sich.</a:t>
            </a:r>
          </a:p>
          <a:p/>
          <a:p>
            <a:r>
              <a:t>Die Funktion darf „async“ sein. Dann wartet Vitest, bis sie fertig ist. „beforeEach“ und „afterEach“ laufen vor und nach jedem einzelnen Test, „beforeAll“ und „afterAll“ nur einmal für die ganze Gruppe. Ein Test gilt als fehlgeschlagen, wenn seine Funktion einen Fehler wirft. Genau das macht „expect“, wenn der Wert nicht stimmt. Das Diagramm zeigt den Ablauf für jeden Test.</a:t>
            </a:r>
          </a:p>
        </p:txBody>
      </p:sp>
      <p:sp>
        <p:nvSpPr>
          <p:cNvPr id="4" name="Slide Number Placeholder 3"/>
          <p:cNvSpPr>
            <a:spLocks noGrp="1"/>
          </p:cNvSpPr>
          <p:nvPr>
            <p:ph type="sldNum" idx="66"/>
          </p:nvPr>
        </p:nvSpPr>
        <p:spPr/>
      </p:sp>
    </p:spTree>
  </p:cSld>
  <p:clrMapOvr>
    <a:masterClrMapping/>
  </p:clrMapOvr>
</p:notes>
</file>

<file path=ppt/notesSlides/notesSlide7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„expect und Matcher“.</a:t>
            </a:r>
          </a:p>
          <a:p/>
          <a:p>
            <a:r>
              <a:t>„expect“ bekommt den tatsächlichen Wert, also das, was der Code wirklich geliefert hat. Daran hängt man einen „Matcher“. Ein Matcher ist eine Prüffunktion, die den Wert mit der Erwartung vergleicht.</a:t>
            </a:r>
          </a:p>
          <a:p/>
          <a:p>
            <a:r>
              <a:t>„toBe“ prüft, ob es genau derselbe Wert ist. Bei Objekten und Listen heißt das: dasselbe Objekt im Speicher. „toEqual“ vergleicht dagegen den Inhalt, auch verschachtelt. Für Listen nimmt man deshalb meist „toEqual“. Weitere Matcher prüfen die Länge, ob ein Element enthalten ist, ob ein Wert fehlt oder ob ein Fehler geworfen wird. Mit „not“ kehrt man die Prüfung um. „toBeTruthy“ prüft nur, ob überhaupt etwas da ist, und sagt deshalb wenig aus.</a:t>
            </a:r>
          </a:p>
        </p:txBody>
      </p:sp>
      <p:sp>
        <p:nvSpPr>
          <p:cNvPr id="4" name="Slide Number Placeholder 3"/>
          <p:cNvSpPr>
            <a:spLocks noGrp="1"/>
          </p:cNvSpPr>
          <p:nvPr>
            <p:ph type="sldNum" idx="66"/>
          </p:nvPr>
        </p:nvSpPr>
        <p:spPr/>
      </p:sp>
    </p:spTree>
  </p:cSld>
  <p:clrMapOvr>
    <a:masterClrMapping/>
  </p:clrMapOvr>
</p:notes>
</file>

<file path=ppt/notesSlides/notesSlide7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„Arrange, Act, Assert“.</a:t>
            </a:r>
          </a:p>
          <a:p/>
          <a:p>
            <a:r>
              <a:t>Ein guter Test hat drei Teile. Im ersten Teil, „Arrange“, stellt man die Ausgangslage her, zum Beispiel Testdaten und Ersatzobjekte. Im zweiten Teil, „Act“, führt man genau eine Aktion aus, hier das Setzen des Filters. Im dritten Teil, „Assert“, prüft man das Ergebnis.</a:t>
            </a:r>
          </a:p>
          <a:p/>
          <a:p>
            <a:r>
              <a:t>Jeder Test prüft nur ein Verhalten. Der Name des Tests beschreibt dieses Verhalten in einem Satz und nicht den Namen einer Methode. Wenn die Vorbereitung in vielen Tests gleich ist, schreibt man eine kleine Hilfsfunktion. Im Beispiel rechts heißt sie „loadedStore“ und liefert einen Store mit geladenen Kunden.</a:t>
            </a:r>
          </a:p>
        </p:txBody>
      </p:sp>
      <p:sp>
        <p:nvSpPr>
          <p:cNvPr id="4" name="Slide Number Placeholder 3"/>
          <p:cNvSpPr>
            <a:spLocks noGrp="1"/>
          </p:cNvSpPr>
          <p:nvPr>
            <p:ph type="sldNum" idx="66"/>
          </p:nvPr>
        </p:nvSpPr>
        <p:spPr/>
      </p:sp>
    </p:spTree>
  </p:cSld>
  <p:clrMapOvr>
    <a:masterClrMapping/>
  </p:clrMapOvr>
</p:notes>
</file>

<file path=ppt/notesSlides/notesSlide7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„TestBed: Angular im Kleinen“.</a:t>
            </a:r>
          </a:p>
          <a:p/>
          <a:p>
            <a:r>
              <a:t>Das „TestBed“ ist das Testwerkzeug von Angular. Es baut für jeden Test eine kleine Angular-Umgebung auf. Dazu gehört ein „Injector“. Der Injector ist der Teil von Angular, der bei „inject“ die passenden Objekte herausgibt, also die Dependency Injection.</a:t>
            </a:r>
          </a:p>
          <a:p/>
          <a:p>
            <a:r>
              <a:t>Mit „configureTestingModule“ legt man fest, was in dieser Umgebung vorhanden ist. Unter „imports“ stehen die Standalone-Komponenten, die man testen will. Unter „providers“ stehen Services oder deren Ersatzobjekte. Danach holt „TestBed.inject“ einen Service aus dem Injector, und „TestBed.createComponent“ erzeugt eine Komponente mit ihrem Template. Nach jedem Test räumt Angular das TestBed automatisch auf, sodass sich Tests nicht gegenseitig beeinflussen.</a:t>
            </a:r>
          </a:p>
        </p:txBody>
      </p:sp>
      <p:sp>
        <p:nvSpPr>
          <p:cNvPr id="4" name="Slide Number Placeholder 3"/>
          <p:cNvSpPr>
            <a:spLocks noGrp="1"/>
          </p:cNvSpPr>
          <p:nvPr>
            <p:ph type="sldNum" idx="66"/>
          </p:nvPr>
        </p:nvSpPr>
        <p:spPr/>
      </p:sp>
    </p:spTree>
  </p:cSld>
  <p:clrMapOvr>
    <a:masterClrMapping/>
  </p:clrMapOvr>
</p:notes>
</file>

<file path=ppt/notesSlides/notesSlide7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„Arten von Ersatzobjekten“.</a:t>
            </a:r>
          </a:p>
          <a:p/>
          <a:p>
            <a:r>
              <a:t>Wenn der getestete Baustein andere Bausteine braucht, ersetzt man diese im Test oft. Dafür gibt es verschiedene Arten von Ersatzobjekten, auf Englisch „Test Doubles“. Ein „Stub“ oder „Fake“ ist ein einfacher Ersatz, der feste Daten liefert.</a:t>
            </a:r>
          </a:p>
          <a:p/>
          <a:p>
            <a:r>
              <a:t>Ein „Mock“ zeichnet zusätzlich auf, ob und womit er aufgerufen wurde. In Vitest erzeugt man ihn mit „vi.fn“. Ein „Spy“ beobachtet eine echte Methode, ohne das Objekt zu ersetzen. Reine Funktionen und einfache Hilfsklassen ersetzt man gar nicht. „Over-Mocking“ heißt, dass man zu viel ersetzt. Dann prüft der Test am Ende nur noch die Ersatzobjekte und nicht den echten Code.</a:t>
            </a:r>
          </a:p>
        </p:txBody>
      </p:sp>
      <p:sp>
        <p:nvSpPr>
          <p:cNvPr id="4" name="Slide Number Placeholder 3"/>
          <p:cNvSpPr>
            <a:spLocks noGrp="1"/>
          </p:cNvSpPr>
          <p:nvPr>
            <p:ph type="sldNum" idx="66"/>
          </p:nvPr>
        </p:nvSpPr>
        <p:spPr/>
      </p:sp>
    </p:spTree>
  </p:cSld>
  <p:clrMapOvr>
    <a:masterClrMapping/>
  </p:clrMapOvr>
</p:notes>
</file>

<file path=ppt/notesSlides/notesSlide7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„vi.fn: eine aufzeichnende Funktion“.</a:t>
            </a:r>
          </a:p>
          <a:p/>
          <a:p>
            <a:r>
              <a:t>„vi“ ist das Hilfsobjekt von Vitest. „vi.fn“ erzeugt eine neue Funktion. Diese Funktion tut zunächst nichts und gibt „undefined“ zurück. Sie merkt sich aber jeden Aufruf und die übergebenen Parameter.</a:t>
            </a:r>
          </a:p>
          <a:p/>
          <a:p>
            <a:r>
              <a:t>Mit „mockReturnValue“ legt man fest, was sie zurückgibt, zum Beispiel ein Observable mit zwei Kunden. Mit „mockImplementation“ gibt man ihr eine eigene Logik. „mockReset“ löscht die gemerkten Aufrufe und die Einstellungen, das macht man in „beforeEach“. Mit den Matchern „toHaveBeenCalledTimes“ und „toHaveBeenCalledWith“ prüft man, wie oft und womit sie aufgerufen wurde. „vi.spyOn“ legt sich dagegen um eine vorhandene, echte Methode.</a:t>
            </a:r>
          </a:p>
        </p:txBody>
      </p:sp>
      <p:sp>
        <p:nvSpPr>
          <p:cNvPr id="4" name="Slide Number Placeholder 3"/>
          <p:cNvSpPr>
            <a:spLocks noGrp="1"/>
          </p:cNvSpPr>
          <p:nvPr>
            <p:ph type="sldNum" idx="66"/>
          </p:nvPr>
        </p:nvSpPr>
        <p:spPr/>
      </p:sp>
    </p:spTree>
  </p:cSld>
  <p:clrMapOvr>
    <a:masterClrMapping/>
  </p:clrMapOvr>
</p:notes>
</file>

<file path=ppt/notesSlides/notesSlide7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„Services per providers ersetzen“.</a:t>
            </a:r>
          </a:p>
          <a:p/>
          <a:p>
            <a:r>
              <a:t>Der „CustomerStore“ holt sich den „CustomerService“ mit „inject“. Im Test soll aber kein echter Server-Aufruf passieren. Deshalb wird der Service in „providers“ ersetzt.</a:t>
            </a:r>
          </a:p>
          <a:p/>
          <a:p>
            <a:r>
              <a:t>„provide“ sagt, welcher Typ angefordert wird, hier „CustomerService“. „useValue“ sagt, welches Objekt Angular stattdessen herausgibt, hier ein Objekt mit der Mock-Funktion „getAll“. Im Test liefert „getAll“ mit „throwError“ ein Observable, das sofort einen Fehler meldet. Danach holt der Test den Store, ruft „load“ auf und wartet mit „await“ auf das Ende. Am Schluss prüft er die Fehlermeldung und dass die Ladeanzeige wieder aus ist.</a:t>
            </a:r>
          </a:p>
        </p:txBody>
      </p:sp>
      <p:sp>
        <p:nvSpPr>
          <p:cNvPr id="4" name="Slide Number Placeholder 3"/>
          <p:cNvSpPr>
            <a:spLocks noGrp="1"/>
          </p:cNvSpPr>
          <p:nvPr>
            <p:ph type="sldNum" idx="66"/>
          </p:nvPr>
        </p:nvSpPr>
        <p:spPr/>
      </p:sp>
    </p:spTree>
  </p:cSld>
  <p:clrMapOvr>
    <a:masterClrMapping/>
  </p:clrMapOvr>
</p:notes>
</file>

<file path=ppt/notesSlides/notesSlide7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passiert beim Ersetzen per DI?“.</a:t>
            </a:r>
          </a:p>
          <a:p/>
          <a:p>
            <a:r>
              <a:t>Diese Folie erklärt, warum der Ersatz funktioniert. Der Store fordert mit „inject“ den „CustomerService“ an. Im Test beantwortet der Injector des TestBed diese Anfrage. Er sucht in den „providers“ einen Eintrag für diesen Typ und findet das Ersatzobjekt.</a:t>
            </a:r>
          </a:p>
          <a:p/>
          <a:p>
            <a:r>
              <a:t>Der Store bekommt also das Ersatzobjekt, ohne dass sein Code geändert werden muss. Das ist der große Vorteil von Dependency Injection beim Testen. „of“ erzeugt ein Observable, das sofort Daten liefert. „throwError“ erzeugt ein Observable, das sofort einen Fehler meldet. Weil die Mock-Funktion für alle Tests dieselbe ist, setzt man sie in „beforeEach“ mit „mockReset“ zurück.</a:t>
            </a:r>
          </a:p>
        </p:txBody>
      </p:sp>
      <p:sp>
        <p:nvSpPr>
          <p:cNvPr id="4" name="Slide Number Placeholder 3"/>
          <p:cNvSpPr>
            <a:spLocks noGrp="1"/>
          </p:cNvSpPr>
          <p:nvPr>
            <p:ph type="sldNum" idx="66"/>
          </p:nvPr>
        </p:nvSpPr>
        <p:spPr/>
      </p:sp>
    </p:spTree>
  </p:cSld>
  <p:clrMapOvr>
    <a:masterClrMapping/>
  </p:clrMapOvr>
</p:notes>
</file>

<file path=ppt/notesSlides/notesSlide7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„Gleicher Store, anderer Injector“.</a:t>
            </a:r>
          </a:p>
          <a:p/>
          <a:p>
            <a:r>
              <a:t>Das Diagramm stellt zwei Umgebungen nebeneinander. Links läuft die Anwendung. Dort ist der „Root-Injector“ zuständig. Fragt der „CustomerStore“ mit „inject“ nach dem „CustomerService“, bekommt er den echten Service. Dieser spricht über den „HttpClient“ mit dem Server.</a:t>
            </a:r>
          </a:p>
          <a:p/>
          <a:p>
            <a:r>
              <a:t>Rechts läuft ein Test. Hier ist der Injector des „TestBed“ zuständig. In „configureTestingModule“ steht unter „providers“: Wer „CustomerService“ anfordert, bekommt ein Objekt mit einer Mock-Funktion „getAll“. Der Store stellt dieselbe Frage mit „inject“, bekommt aber das Ersatzobjekt. Das zeigt der orange Pfeil.</a:t>
            </a:r>
          </a:p>
          <a:p/>
          <a:p>
            <a:r>
              <a:t>Der Code des Stores ist in beiden Fällen genau gleich. Nur die Umgebung ist anders. Deshalb braucht der Test keinen Server und keinen „HttpClient“.</a:t>
            </a:r>
          </a:p>
        </p:txBody>
      </p:sp>
      <p:sp>
        <p:nvSpPr>
          <p:cNvPr id="4" name="Slide Number Placeholder 3"/>
          <p:cNvSpPr>
            <a:spLocks noGrp="1"/>
          </p:cNvSpPr>
          <p:nvPr>
            <p:ph type="sldNum" idx="66"/>
          </p:nvPr>
        </p:nvSpPr>
        <p:spPr/>
      </p:sp>
    </p:spTree>
  </p:cSld>
  <p:clrMapOvr>
    <a:masterClrMapping/>
  </p:clrMapOvr>
</p:notes>
</file>

<file path=ppt/notesSlides/notesSlide7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 testen: der Ablauf“.</a:t>
            </a:r>
          </a:p>
          <a:p/>
          <a:p>
            <a:r>
              <a:t>Wenn man einen Service testet, der selbst den „HttpClient“ benutzt, braucht man keinen echten Server. Angular bringt dafür ein Test-Backend mit. Es wird mit „provideHttpClientTesting“ eingeschaltet.</a:t>
            </a:r>
          </a:p>
          <a:p/>
          <a:p>
            <a:r>
              <a:t>Der Ablauf ist so: Der Test ruft eine Methode des Services auf und abonniert das Ergebnis. Der Service sendet die Anfrage wie gewohnt über den „HttpClient“. Die Anfrage geht aber nicht ins Netzwerk, sondern bleibt im Test-Backend liegen. Der Test holt sie mit „expectOne“ ab und beantwortet sie mit „flush“. Erst dann kommt die Antwort beim Service und beim Test an. Am Ende prüft „verify“, dass keine Anfrage unbeantwortet geblieben ist.</a:t>
            </a:r>
          </a:p>
        </p:txBody>
      </p:sp>
      <p:sp>
        <p:nvSpPr>
          <p:cNvPr id="4" name="Slide Number Placeholder 3"/>
          <p:cNvSpPr>
            <a:spLocks noGrp="1"/>
          </p:cNvSpPr>
          <p:nvPr>
            <p:ph type="sldNum" idx="66"/>
          </p:nvPr>
        </p:nvSpPr>
        <p:spPr/>
      </p:sp>
    </p:spTree>
  </p:cSld>
  <p:clrMapOvr>
    <a:masterClrMapping/>
  </p:clrMapOvr>
</p:notes>
</file>

<file path=ppt/notesSlides/notesSlide7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Dieser Code stammt aus dem Test für den „CustomerService“ in Übung 34. In „beforeEach“ werden zwei Provider eingetragen: „provideHttpClient“ stellt den normalen „HttpClient“ bereit, und „provideHttpClientTesting“ ersetzt das Netzwerk durch das Test-Backend. Die Reihenfolge ist wichtig: Der Testteil steht als zweiter. Danach holt der Test den Service und den „HttpTestingController“. Das ist das Steuerobjekt für das Test-Backend.</a:t>
            </a:r>
          </a:p>
          <a:p/>
          <a:p>
            <a:r>
              <a:t>Der Test ruft „update“ auf und abonniert das Ergebnis. Dann holt er mit „expectOne“ die Anfrage an die Adresse „api/customer/1“ ab. Er prüft, dass die Methode „PUT“ ist und dass der Kunde mitgeschickt wird. Mit „flush“ beantwortet er die Anfrage. „verify“ in „afterEach“ meldet einen Fehler, wenn noch eine Anfrage offen ist.</a:t>
            </a:r>
          </a:p>
        </p:txBody>
      </p:sp>
      <p:sp>
        <p:nvSpPr>
          <p:cNvPr id="4" name="Slide Number Placeholder 3"/>
          <p:cNvSpPr>
            <a:spLocks noGrp="1"/>
          </p:cNvSpPr>
          <p:nvPr>
            <p:ph type="sldNum" idx="66"/>
          </p:nvPr>
        </p:nvSpPr>
        <p:spPr/>
      </p:sp>
    </p:spTree>
  </p:cSld>
  <p:clrMapOvr>
    <a:masterClrMapping/>
  </p:clrMapOvr>
</p:notes>
</file>

<file path=ppt/notesSlides/notesSlide7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„HttpTestingController im Detail“.</a:t>
            </a:r>
          </a:p>
          <a:p/>
          <a:p>
            <a:r>
              <a:t>Hier sind die wichtigsten Regeln für den „HttpTestingController“. Zuerst muss man das Ergebnis abonnieren. Ein Observable vom „HttpClient“ sendet die Anfrage erst, wenn jemand es abonniert. Ohne „subscribe“ findet „expectOne“ deshalb nichts.</a:t>
            </a:r>
          </a:p>
          <a:p/>
          <a:p>
            <a:r>
              <a:t>„expectOne“ bekommt die erwartete Adresse. Gibt es keine oder mehrere passende Anfragen, schlägt der Test fehl. Sonst liefert es ein „TestRequest“, also die abgefangene Anfrage. Daran prüft man Methode, Inhalt und Kopfzeilen. „flush“ beantwortet die Anfrage. Mit einem zweiten Parameter kann man einen Fehlerstatus wie 500 vorgeben und so den Fehlerfall testen. „expectNone“ prüft, dass keine Anfrage gesendet wurde.</a:t>
            </a:r>
          </a:p>
        </p:txBody>
      </p:sp>
      <p:sp>
        <p:nvSpPr>
          <p:cNvPr id="4" name="Slide Number Placeholder 3"/>
          <p:cNvSpPr>
            <a:spLocks noGrp="1"/>
          </p:cNvSpPr>
          <p:nvPr>
            <p:ph type="sldNum" idx="66"/>
          </p:nvPr>
        </p:nvSpPr>
        <p:spPr/>
      </p:sp>
    </p:spTree>
  </p:cSld>
  <p:clrMapOvr>
    <a:masterClrMapping/>
  </p:clrMapOvr>
</p:notes>
</file>

<file path=ppt/notesSlides/notesSlide7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HTTP-Test mit HttpTestingController“.</a:t>
            </a:r>
          </a:p>
          <a:p/>
          <a:p>
            <a:r>
              <a:t>Das Diagramm zeigt den Test für „update“ im „CustomerService“ Schritt für Schritt. Erstens: Der Test ruft „update“ auf und abonniert das Ergebnis. Zweitens: Erst durch das Abonnieren sendet der Service über den „HttpClient“ eine Anfrage mit der Methode „PUT“. Drittens: Wegen „provideHttpClientTesting“ geht die Anfrage nicht ins Netzwerk. Sie wird beim „HttpTestingController“ abgelegt.</a:t>
            </a:r>
          </a:p>
          <a:p/>
          <a:p>
            <a:r>
              <a:t>Viertens: Der Test fragt mit „expectOne“ nach genau einer Anfrage an diese Adresse. Fünftens: Er bekommt ein „TestRequest“ zurück, also die abgefangene Anfrage. Sechstens: Er prüft Methode und Inhalt. Siebtens: Mit „flush“ schickt er eine Antwort.</a:t>
            </a:r>
          </a:p>
          <a:p/>
          <a:p>
            <a:r>
              <a:t>Achtens: Die Antwort läuft über den „HttpClient“ zurück zum Service. Neuntens: Der Service wandelt sie mit „map“ um, und das Abonnement im Test bekommt den Kunden. Zehntens: Nach jedem Test prüft „verify“, dass keine Anfrage offen geblieben ist.</a:t>
            </a:r>
          </a:p>
        </p:txBody>
      </p:sp>
      <p:sp>
        <p:nvSpPr>
          <p:cNvPr id="4" name="Slide Number Placeholder 3"/>
          <p:cNvSpPr>
            <a:spLocks noGrp="1"/>
          </p:cNvSpPr>
          <p:nvPr>
            <p:ph type="sldNum" idx="66"/>
          </p:nvPr>
        </p:nvSpPr>
        <p:spPr/>
      </p:sp>
    </p:spTree>
  </p:cSld>
  <p:clrMapOvr>
    <a:masterClrMapping/>
  </p:clrMapOvr>
</p:notes>
</file>

<file path=ppt/notesSlides/notesSlide7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 die Fixture“.</a:t>
            </a:r>
          </a:p>
          <a:p/>
          <a:p>
            <a:r>
              <a:t>Für Komponententests ruft man „TestBed.createComponent“ auf. Das Ergebnis heißt „Fixture“. Eine Fixture ist ein Steuerobjekt, mit dem der Test die Komponente bedient und beobachtet.</a:t>
            </a:r>
          </a:p>
          <a:p/>
          <a:p>
            <a:r>
              <a:t>„componentInstance“ ist das Objekt der Komponentenklasse. „nativeElement“ ist das HTML-Element der Komponente, darin sucht man mit „querySelector“. „componentRef“ braucht man, um Eingaben zu setzen. „debugElement“ ist eine Angular-Hülle um das Element, mit der man ebenfalls suchen und Ereignisse auslösen kann. „detectChanges“ führt die Aktualisierung der Anzeige sofort aus. „whenStable“ liefert ein Promise, das erfüllt ist, wenn Angular alle anstehenden Aktualisierungen erledigt hat.</a:t>
            </a:r>
          </a:p>
        </p:txBody>
      </p:sp>
      <p:sp>
        <p:nvSpPr>
          <p:cNvPr id="4" name="Slide Number Placeholder 3"/>
          <p:cNvSpPr>
            <a:spLocks noGrp="1"/>
          </p:cNvSpPr>
          <p:nvPr>
            <p:ph type="sldNum" idx="66"/>
          </p:nvPr>
        </p:nvSpPr>
        <p:spPr/>
      </p:sp>
    </p:spTree>
  </p:cSld>
  <p:clrMapOvr>
    <a:masterClrMapping/>
  </p:clrMapOvr>
</p:notes>
</file>

<file path=ppt/notesSlides/notesSlide7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„Komponententest: Vorbereitung“.</a:t>
            </a:r>
          </a:p>
          <a:p/>
          <a:p>
            <a:r>
              <a:t>Diese Vorbereitung stammt aus Übung 34. Die Komponente für einen Listeneintrag wird unter „imports“ eingetragen, weil sie eine Standalone-Komponente ist. Ihr Template enthält einen Link mit „routerLink“. Deshalb braucht der Test „provideRouter“ mit einer leeren Liste von Routen. „compileComponents“ bereitet die Templates vor und liefert ein Promise, deshalb steht davor „await“.</a:t>
            </a:r>
          </a:p>
          <a:p/>
          <a:p>
            <a:r>
              <a:t>Danach erzeugt „createComponent“ die Fixture. Die Hilfsfunktion „render“ setzt die beiden Eingaben „customer“ und „selected“ und wartet dann, bis die Anzeige fertig ist. Die kleine Funktion „el“ liefert das HTML-Element der Komponente, damit die Tests kürzer werden.</a:t>
            </a:r>
          </a:p>
        </p:txBody>
      </p:sp>
      <p:sp>
        <p:nvSpPr>
          <p:cNvPr id="4" name="Slide Number Placeholder 3"/>
          <p:cNvSpPr>
            <a:spLocks noGrp="1"/>
          </p:cNvSpPr>
          <p:nvPr>
            <p:ph type="sldNum" idx="66"/>
          </p:nvPr>
        </p:nvSpPr>
        <p:spPr/>
      </p:sp>
    </p:spTree>
  </p:cSld>
  <p:clrMapOvr>
    <a:masterClrMapping/>
  </p:clrMapOvr>
</p:notes>
</file>

<file path=ppt/notesSlides/notesSlide7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steckt im Test der Kundenliste?“.</a:t>
            </a:r>
          </a:p>
          <a:p/>
          <a:p>
            <a:r>
              <a:t>Das Diagramm zeigt, was im Test der „CustomerListComponent“ aus Übung 34 zusammenarbeitet. Der äußere Kasten ist das „TestBed“, die kleine Angular-Umgebung des Tests. Links liegt die „ComponentFixture“. Sie entsteht mit „createComponent“ und enthält die echte Listen-Komponente mit ihren echten Kind-Komponenten: dem Filter und einem Listeneintrag je Kunde.</a:t>
            </a:r>
          </a:p>
          <a:p/>
          <a:p>
            <a:r>
              <a:t>Rechts liegt der Injector des TestBed. Die Liste holt sich mit „inject“ den echten „CustomerStore“, der Store den echten „CustomerService“ und der Service den „HttpClient“. Nur das Netzwerk ist ersetzt: Wegen „provideHttpClientTesting“ landen alle Anfragen beim „HttpTestingController“.</a:t>
            </a:r>
          </a:p>
          <a:p/>
          <a:p>
            <a:r>
              <a:t>Der Test steuert von außen: Über die Fixture löst er Eingaben aus und prüft das HTML. Über den „HttpTestingController“ beantwortet er die Anfrage nach den Kunden. So testet man das Zusammenspiel aller Teile ohne echten Server.</a:t>
            </a:r>
          </a:p>
        </p:txBody>
      </p:sp>
      <p:sp>
        <p:nvSpPr>
          <p:cNvPr id="4" name="Slide Number Placeholder 3"/>
          <p:cNvSpPr>
            <a:spLocks noGrp="1"/>
          </p:cNvSpPr>
          <p:nvPr>
            <p:ph type="sldNum" idx="66"/>
          </p:nvPr>
        </p:nvSpPr>
        <p:spPr/>
      </p:sp>
    </p:spTree>
  </p:cSld>
  <p:clrMapOvr>
    <a:masterClrMapping/>
  </p:clrMapOvr>
</p:notes>
</file>

<file path=ppt/notesSlides/notesSlide7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„Change Detection im Test (zoneless)“.</a:t>
            </a:r>
          </a:p>
          <a:p/>
          <a:p>
            <a:r>
              <a:t>„Change Detection“ ist der Vorgang, bei dem Angular prüft, ob sich Daten geändert haben, und die Anzeige aktualisiert. In Angular 21 läuft das ohne die Bibliothek „Zone.js“, man sagt „zoneless“. Wenn sich ein Signal oder eine Eingabe ändert, merkt Angular sich das und plant eine Aktualisierung für kurz danach ein.</a:t>
            </a:r>
          </a:p>
          <a:p/>
          <a:p>
            <a:r>
              <a:t>Im Test muss man auf diese Aktualisierung warten. Dafür ruft man „await fixture.whenStable()“ auf. Alternativ führt „fixture.detectChanges()“ die Aktualisierung sofort aus. Empfohlen ist der Weg im Diagramm: erst den Zustand ändern, dann warten, dann das HTML prüfen. Fehlt das „await“, prüft der Test noch die alte Anzeige und schlägt fehl oder ist zufällig grün.</a:t>
            </a:r>
          </a:p>
        </p:txBody>
      </p:sp>
      <p:sp>
        <p:nvSpPr>
          <p:cNvPr id="4" name="Slide Number Placeholder 3"/>
          <p:cNvSpPr>
            <a:spLocks noGrp="1"/>
          </p:cNvSpPr>
          <p:nvPr>
            <p:ph type="sldNum" idx="66"/>
          </p:nvPr>
        </p:nvSpPr>
        <p:spPr/>
      </p:sp>
    </p:spTree>
  </p:cSld>
  <p:clrMapOvr>
    <a:masterClrMapping/>
  </p:clrMapOvr>
</p:notes>
</file>

<file path=ppt/notesSlides/notesSlide7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Hier sind zwei Tests für die Komponente eines Listeneintrags. Der erste Test zeigt einen Kunden mit Stadt an. Er nutzt die Hilfsfunktion „render“ von der vorigen Folie und prüft dann, dass der Vorname und die Stadt im Text der Komponente stehen.</a:t>
            </a:r>
          </a:p>
          <a:p/>
          <a:p>
            <a:r>
              <a:t>Der zweite Test prüft den Ausgang „chosen“. Ein Ausgang, angelegt mit „output“, lässt sich im Test mit „subscribe“ abonnieren. Jeder gesendete Wert wird in eine Liste geschrieben. Dann löst der Test mit „click“ einen Klick auf das Element aus. Am Ende prüft er, dass genau dieser Kunde einmal gesendet wurde.</a:t>
            </a:r>
          </a:p>
        </p:txBody>
      </p:sp>
      <p:sp>
        <p:nvSpPr>
          <p:cNvPr id="4" name="Slide Number Placeholder 3"/>
          <p:cNvSpPr>
            <a:spLocks noGrp="1"/>
          </p:cNvSpPr>
          <p:nvPr>
            <p:ph type="sldNum" idx="66"/>
          </p:nvPr>
        </p:nvSpPr>
        <p:spPr/>
      </p:sp>
    </p:spTree>
  </p:cSld>
  <p:clrMapOvr>
    <a:masterClrMapping/>
  </p:clrMapOvr>
</p:notes>
</file>

<file path=ppt/notesSlides/notesSlide7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ein Komponententest“.</a:t>
            </a:r>
          </a:p>
          <a:p/>
          <a:p>
            <a:r>
              <a:t>Das Diagramm zeigt den Ablauf eines Tests für die „CustomerListItemComponent“. Erstens: Der Test ruft „TestBed.createComponent“ auf. Zweitens: Das TestBed erzeugt die Komponente und die Fixture, also das Steuerobjekt für den Test. Drittens: Der Test setzt über „componentRef.setInput“ den Input „customer“ auf einen Kunden namens Hans.</a:t>
            </a:r>
          </a:p>
          <a:p/>
          <a:p>
            <a:r>
              <a:t>Viertens: Die Komponente hat jetzt einen neuen Input-Wert, und Angular plant das Rendern ein. Es passiert aber noch nicht sofort. Fünftens: Der Test wartet mit „await whenStable“. Sechstens: Jetzt läuft die Änderungserkennung und prüft das Template. Siebtens: Das HTML enthält den Link mit dem Namen und der Stadt.</a:t>
            </a:r>
          </a:p>
          <a:p/>
          <a:p>
            <a:r>
              <a:t>Achtens: Das Promise von „whenStable“ ist erfüllt, der Test läuft weiter. Neuntens: Erst jetzt prüft der Test den Text im HTML. Würde der Test nicht warten, sähe er im neunten Schritt noch das alte, leere HTML.</a:t>
            </a:r>
          </a:p>
        </p:txBody>
      </p:sp>
      <p:sp>
        <p:nvSpPr>
          <p:cNvPr id="4" name="Slide Number Placeholder 3"/>
          <p:cNvSpPr>
            <a:spLocks noGrp="1"/>
          </p:cNvSpPr>
          <p:nvPr>
            <p:ph type="sldNum" idx="66"/>
          </p:nvPr>
        </p:nvSpPr>
        <p:spPr/>
      </p:sp>
    </p:spTree>
  </p:cSld>
  <p:clrMapOvr>
    <a:masterClrMapping/>
  </p:clrMapOvr>
</p:notes>
</file>

<file path=ppt/notesSlides/notesSlide7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Ein Signal-Input, angelegt mit „input“, ist ein Signal, das man nur lesen kann. Man kann ihm im Test deshalb keinen Wert zuweisen. Stattdessen benutzt man „fixture.componentRef.setInput“ mit dem Namen des Eingangs und dem Wert. So setzt Angular den Wert, als käme er von einer Eltern-Komponente.</a:t>
            </a:r>
          </a:p>
          <a:p/>
          <a:p>
            <a:r>
              <a:t>Ein Pflicht-Eingang, angelegt mit „input.required“, muss gesetzt sein, bevor die Komponente zum ersten Mal gezeichnet wird. Sonst meldet Angular einen Fehler. Nach jeder Änderung wartet man mit „whenStable“. Ausgänge prüft man mit „subscribe“. Im HTML sucht man nach sichtbarem Inhalt und nicht nach Details wie bestimmten CSS-Klassen, die sich oft ändern.</a:t>
            </a:r>
          </a:p>
        </p:txBody>
      </p:sp>
      <p:sp>
        <p:nvSpPr>
          <p:cNvPr id="4" name="Slide Number Placeholder 3"/>
          <p:cNvSpPr>
            <a:spLocks noGrp="1"/>
          </p:cNvSpPr>
          <p:nvPr>
            <p:ph type="sldNum" idx="66"/>
          </p:nvPr>
        </p:nvSpPr>
        <p:spPr/>
      </p:sp>
    </p:spTree>
  </p:cSld>
  <p:clrMapOvr>
    <a:masterClrMapping/>
  </p:clrMapOvr>
</p:notes>
</file>

<file path=ppt/notesSlides/notesSlide7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„Signals und computed testen“.</a:t>
            </a:r>
          </a:p>
          <a:p/>
          <a:p>
            <a:r>
              <a:t>„signal“ und „computed“ sind gewöhnliche Funktionen. Man kann sie in jedem Test benutzen, auch ohne TestBed. Ein „computed“ berechnet seinen Wert neu, sobald man ihn liest und sich vorher eine seiner Quellen geändert hat. Das passiert sofort, man muss also nicht warten.</a:t>
            </a:r>
          </a:p>
          <a:p/>
          <a:p>
            <a:r>
              <a:t>Der Test setzt deshalb die Quelle, liest den berechneten Wert und prüft ihn. Das Beispiel rechts zeigt das ganz ohne Angular-Komponente. Ein Store, der mit „inject“ andere Services holt, braucht dagegen einen Injector. Ihn holt man über „TestBed.inject“. Seine Signals ändert man im Test genauso wie in der Anwendung, also über seine Methoden.</a:t>
            </a:r>
          </a:p>
        </p:txBody>
      </p:sp>
      <p:sp>
        <p:nvSpPr>
          <p:cNvPr id="4" name="Slide Number Placeholder 3"/>
          <p:cNvSpPr>
            <a:spLocks noGrp="1"/>
          </p:cNvSpPr>
          <p:nvPr>
            <p:ph type="sldNum" idx="66"/>
          </p:nvPr>
        </p:nvSpPr>
        <p:spPr/>
      </p:sp>
    </p:spTree>
  </p:cSld>
  <p:clrMapOvr>
    <a:masterClrMapping/>
  </p:clrMapOvr>
</p:notes>
</file>

<file path=ppt/notesSlides/notesSlide7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„Effects testen mit TestBed.tick()“.</a:t>
            </a:r>
          </a:p>
          <a:p/>
          <a:p>
            <a:r>
              <a:t>Ein „effect“ ist eine Funktion, die automatisch läuft, wenn sich ein gelesenes Signal ändert. Im „CustomerStore“ speichert ein Effect den Filter im Browser-Speicher „localStorage“. Ein Effect braucht einen „Injection Context“, also eine Umgebung, in der „inject“ erlaubt ist. Deshalb wird der Store mit „TestBed.inject“ erzeugt.</a:t>
            </a:r>
          </a:p>
          <a:p/>
          <a:p>
            <a:r>
              <a:t>Ein Effect läuft nicht sofort, wenn sich das Signal ändert, sondern Angular plant ihn für etwas später ein. Im Test sorgt „TestBed.tick“ dafür, dass alle anstehenden Effects jetzt ausgeführt werden. Erst danach prüft der Test den gespeicherten Wert. Der zweite Test prüft die andere Richtung: Steht schon ein Filter im Speicher, übernimmt der neue Store ihn.</a:t>
            </a:r>
          </a:p>
        </p:txBody>
      </p:sp>
      <p:sp>
        <p:nvSpPr>
          <p:cNvPr id="4" name="Slide Number Placeholder 3"/>
          <p:cNvSpPr>
            <a:spLocks noGrp="1"/>
          </p:cNvSpPr>
          <p:nvPr>
            <p:ph type="sldNum" idx="66"/>
          </p:nvPr>
        </p:nvSpPr>
        <p:spPr/>
      </p:sp>
    </p:spTree>
  </p:cSld>
  <p:clrMapOvr>
    <a:masterClrMapping/>
  </p:clrMapOvr>
</p:notes>
</file>

<file path=ppt/notesSlides/notesSlide7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 Harnesses (CDK)“.</a:t>
            </a:r>
          </a:p>
          <a:p/>
          <a:p>
            <a:r>
              <a:t>Ein „Component Harness“ ist eine kleine Test-Schnittstelle für eine Komponente. Statt im HTML nach bestimmten Elementen zu suchen, ruft der Test Methoden wie „click“ oder „getText“ auf. Angular Material bringt für seine Komponenten fertige Harnesses mit, zum Beispiel für Buttons und Eingabefelder.</a:t>
            </a:r>
          </a:p>
          <a:p/>
          <a:p>
            <a:r>
              <a:t>Die Grundlage liegt im Paket „@angular/cdk/testing“. Man erzeugt aus der Fixture einen „Loader“ und holt sich damit den passenden Harness. Alle Methoden sind asynchron, man schreibt also „await“ davor. Sie warten selbst, bis die Anzeige aktuell ist. Der Vorteil: Wenn sich das innere HTML einer Komponente ändert, bleiben die Tests trotzdem gültig. In den Übungsprojekten wird kein Material verwendet, deshalb ist das hier nur ein Ausblick.</a:t>
            </a:r>
          </a:p>
        </p:txBody>
      </p:sp>
      <p:sp>
        <p:nvSpPr>
          <p:cNvPr id="4" name="Slide Number Placeholder 3"/>
          <p:cNvSpPr>
            <a:spLocks noGrp="1"/>
          </p:cNvSpPr>
          <p:nvPr>
            <p:ph type="sldNum" idx="66"/>
          </p:nvPr>
        </p:nvSpPr>
        <p:spPr/>
      </p:sp>
    </p:spTree>
  </p:cSld>
  <p:clrMapOvr>
    <a:masterClrMapping/>
  </p:clrMapOvr>
</p:notes>
</file>

<file path=ppt/notesSlides/notesSlide7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Das nennt man „deterministisch“. Dafür vermeidet man echte Zeit und echtes Netzwerk. Mit „vi.useFakeTimers“ ersetzt Vitest die echte Uhr durch eine Uhr, die der Test selbst vorstellt.</a:t>
            </a:r>
          </a:p>
          <a:p/>
          <a:p>
            <a:r>
              <a:t>Ein guter Test ist lesbar, prüft das sichtbare Verhalten und nicht die interne Umsetzung, und er deckt Randfälle ab.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7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Ein „Snapshot“ speichert eine ganze Ausgabe und vergleicht sie später. Bei großen Templates bricht er oft und wird dann ungeprüft erneuert.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7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 Das Diagramm zeigt die Schritte als Kreislauf.</a:t>
            </a:r>
          </a:p>
        </p:txBody>
      </p:sp>
      <p:sp>
        <p:nvSpPr>
          <p:cNvPr id="4" name="Slide Number Placeholder 3"/>
          <p:cNvSpPr>
            <a:spLocks noGrp="1"/>
          </p:cNvSpPr>
          <p:nvPr>
            <p:ph type="sldNum" idx="66"/>
          </p:nvPr>
        </p:nvSpPr>
        <p:spPr/>
      </p:sp>
    </p:spTree>
  </p:cSld>
  <p:clrMapOvr>
    <a:masterClrMapping/>
  </p:clrMapOvr>
</p:notes>
</file>

<file path=ppt/notesSlides/notesSlide7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 (1/2)“.</a:t>
            </a:r>
          </a:p>
          <a:p/>
          <a:p>
            <a:r>
              <a:t>Erklärung für die Dolmetscherin:</a:t>
            </a:r>
          </a:p>
          <a:p>
            <a:r>
              <a:t>Dies ist der erste Teil der Aufgabenstellung für Übung 34 im Ordner 34_tests. Sie baut auf dem Ergebnis von Übung 33 auf. Das Projekt nutzt „Vitest“, die Tests startet man mit „ng test“.</a:t>
            </a:r>
          </a:p>
          <a:p/>
          <a:p>
            <a:r>
              <a:t>In Teil A schreiben die Teilnehmer Tests für den „CustomerStore“, ohne Oberfläche. Sie testen das Laden, den Filter mit verschiedenen Fällen, die Auswahl, den Fehlerfall und das Speichern des Filters. Den „CustomerService“ ersetzen sie über „providers“ durch ein Objekt mit einer Mock-Funktion. Für den Effect, der den Filter speichert, rufen sie „TestBed.tick“ auf.</a:t>
            </a:r>
          </a:p>
        </p:txBody>
      </p:sp>
      <p:sp>
        <p:nvSpPr>
          <p:cNvPr id="4" name="Slide Number Placeholder 3"/>
          <p:cNvSpPr>
            <a:spLocks noGrp="1"/>
          </p:cNvSpPr>
          <p:nvPr>
            <p:ph type="sldNum" idx="66"/>
          </p:nvPr>
        </p:nvSpPr>
        <p:spPr/>
      </p:sp>
    </p:spTree>
  </p:cSld>
  <p:clrMapOvr>
    <a:masterClrMapping/>
  </p:clrMapOvr>
</p:notes>
</file>

<file path=ppt/notesSlides/notesSlide7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 (2/2)“.</a:t>
            </a:r>
          </a:p>
          <a:p/>
          <a:p>
            <a:r>
              <a:t>Erklärung für die Dolmetscherin:</a:t>
            </a:r>
          </a:p>
          <a:p>
            <a:r>
              <a:t>Dies ist der zweite Teil der Aufgabenstellung für Übung 34. In Teil B testen die Teilnehmer die Komponente für einen Listeneintrag. Sie prüfen den angezeigten Namen, den fehlenden Doppelpunkt ohne Stadt, das Ereignis „chosen“ beim Klick und zwei CSS-Klassen. Die Eingaben setzen sie mit „setInput“. Optional testen sie auch die Filter-Komponente und den Service mit dem Test-Backend für HTTP.</a:t>
            </a:r>
          </a:p>
          <a:p/>
          <a:p>
            <a:r>
              <a:t>In Teil C bekommen sie eine automatisch erzeugte Testdatei mit fünf versteckten Schwächen. Sie machen den Programmcode gezielt kaputt, indem sie im Filter „includes“ durch „startsWith“ ersetzen,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7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„Objekte und Listen“ – Jetzt geht es um Daten. Wir beschreiben, wie ein Objekt aussehen muss, und wir lernen, Objekte und Listen zu zerlegen, zu kopieren und in Texte einzubauen. Diese Techniken braucht man in Angular ständig.</a:t>
            </a:r>
          </a:p>
        </p:txBody>
      </p:sp>
      <p:sp>
        <p:nvSpPr>
          <p:cNvPr id="4" name="Slide Number Placeholder 3"/>
          <p:cNvSpPr>
            <a:spLocks noGrp="1"/>
          </p:cNvSpPr>
          <p:nvPr>
            <p:ph type="sldNum" idx="66"/>
          </p:nvPr>
        </p:nvSpPr>
        <p:spPr/>
      </p:sp>
    </p:spTree>
  </p:cSld>
  <p:clrMapOvr>
    <a:masterClrMapping/>
  </p:clrMapOvr>
</p:notes>
</file>

<file path=ppt/notesSlides/notesSlide7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„Interfaces: die Form eines Objekts“.</a:t>
            </a:r>
          </a:p>
          <a:p/>
          <a:p>
            <a:r>
              <a:t>Ein „Interface“ beschreibt die Form eines Objekts: Welche Eigenschaften gibt es, und welchen Typ hat jede Eigenschaft? Hier ist es das Interface „Customer“ für einen Kunden. Ein Kunde hat eine „id“, einen Vornamen und einen Nachnamen, alle drei als Text.</a:t>
            </a:r>
          </a:p>
          <a:p/>
          <a:p>
            <a:r>
              <a:t>Die Eigenschaften „city“, „discontinued“ und „lastOrderDate“ haben ein Fragezeichen. Das bedeutet: Sie sind optional und dürfen fehlen. Alle anderen sind Pflicht.</a:t>
            </a:r>
          </a:p>
          <a:p/>
          <a:p>
            <a:r>
              <a:t>Die Konstante „lisa“ erfüllt das Interface, weil alle Pflicht-Eigenschaften vorhanden sind. Der Kommentar darunter zeigt einen Fehler: Wenn bei Hans der Nachname fehlt, meldet der Compiler sofort, dass die Eigenschaft „lastname“ fehlt. So fallen Tippfehler und vergessene Felder schon beim Schreiben auf und nicht erst im Browser.</a:t>
            </a:r>
          </a:p>
        </p:txBody>
      </p:sp>
      <p:sp>
        <p:nvSpPr>
          <p:cNvPr id="4" name="Slide Number Placeholder 3"/>
          <p:cNvSpPr>
            <a:spLocks noGrp="1"/>
          </p:cNvSpPr>
          <p:nvPr>
            <p:ph type="sldNum" idx="66"/>
          </p:nvPr>
        </p:nvSpPr>
        <p:spPr/>
      </p:sp>
    </p:spTree>
  </p:cSld>
  <p:clrMapOvr>
    <a:masterClrMapping/>
  </p:clrMapOvr>
</p:notes>
</file>

<file path=ppt/notesSlides/notesSlide7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„Optional und readonly“.</a:t>
            </a:r>
          </a:p>
          <a:p/>
          <a:p>
            <a:r>
              <a:t>Hier sehen wir zwei Hilfsmittel für Eigenschaften. Das Fragezeichen hinter einem Namen macht die Eigenschaft optional. Das Wort „readonly“ heißt „nur lesbar“: Der Wert wird beim Anlegen gesetzt und kann danach nicht mehr geändert werden.</a:t>
            </a:r>
          </a:p>
          <a:p/>
          <a:p>
            <a:r>
              <a:t>Im Beispiel hat die Rechnung eine feste „id“, eine Kundennummer und eine optionale Notiz. Die Notiz darf man nachträglich setzen. Die „id“ zu ändern meldet der Compiler als Fehler.</a:t>
            </a:r>
          </a:p>
          <a:p/>
          <a:p>
            <a:r>
              <a:t>„readonly“ gibt es auch für Listen. Eine solche Liste darf man lesen, aber nicht mit „push“ verändern. Stattdessen baut man eine neue Liste, wie in der letzten Zeile. Das passt zu Angular, wo Daten durch neue Objekte ersetzt werden und nicht verändert.</a:t>
            </a:r>
          </a:p>
        </p:txBody>
      </p:sp>
      <p:sp>
        <p:nvSpPr>
          <p:cNvPr id="4" name="Slide Number Placeholder 3"/>
          <p:cNvSpPr>
            <a:spLocks noGrp="1"/>
          </p:cNvSpPr>
          <p:nvPr>
            <p:ph type="sldNum" idx="66"/>
          </p:nvPr>
        </p:nvSpPr>
        <p:spPr/>
      </p:sp>
    </p:spTree>
  </p:cSld>
  <p:clrMapOvr>
    <a:masterClrMapping/>
  </p:clrMapOvr>
</p:notes>
</file>

<file path=ppt/notesSlides/notesSlide7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„Destructuring“.</a:t>
            </a:r>
          </a:p>
          <a:p/>
          <a:p>
            <a:r>
              <a:t>„Destructuring“ heißt „Zerlegen“. Man holt mehrere Werte aus einem Objekt oder einer Liste mit einer einzigen Zeile heraus und legt sie in eigene Variablen.</a:t>
            </a:r>
          </a:p>
          <a:p/>
          <a:p>
            <a:r>
              <a:t>Bei einer Liste zählt die Reihenfolge. In der ersten Zeile bekommt „first“ den ersten Kunden und „third“ den dritten. Das Komma ohne Namen überspringt den zweiten. Bei einem Objekt zählt der Name der Eigenschaft: „firstname“ und „lastname“ werden aus dem ersten Kunden gelesen.</a:t>
            </a:r>
          </a:p>
          <a:p/>
          <a:p>
            <a:r>
              <a:t>Mit einem Gleichheitszeichen gibt man einen Standardwert an. Der Kunde „Ned“ hat keine Stadt, deshalb ist „city“ hier „unbekannt“. Die drei Punkte vor „rest“ sammeln alle übrigen Eigenschaften in einem neuen Objekt.</a:t>
            </a:r>
          </a:p>
          <a:p/>
          <a:p>
            <a:r>
              <a:t>Zerlegen funktioniert auch direkt in der Parameterliste einer Funktion. Das sieht man in „label“. Dieses Muster begegnet uns später in Angular häufig.</a:t>
            </a:r>
          </a:p>
        </p:txBody>
      </p:sp>
      <p:sp>
        <p:nvSpPr>
          <p:cNvPr id="4" name="Slide Number Placeholder 3"/>
          <p:cNvSpPr>
            <a:spLocks noGrp="1"/>
          </p:cNvSpPr>
          <p:nvPr>
            <p:ph type="sldNum" idx="66"/>
          </p:nvPr>
        </p:nvSpPr>
        <p:spPr/>
      </p:sp>
    </p:spTree>
  </p:cSld>
  <p:clrMapOvr>
    <a:masterClrMapping/>
  </p:clrMapOvr>
</p:notes>
</file>

<file path=ppt/notesSlides/notesSlide7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„Spread: kopieren statt verändern“.</a:t>
            </a:r>
          </a:p>
          <a:p/>
          <a:p>
            <a:r>
              <a:t>Die drei Punkte heißen „Spread-Operator“, auf Deutsch etwa „Ausbreiten“. Sie breiten den Inhalt eines Objekts oder einer Liste in einem neuen Objekt oder einer neuen Liste aus.</a:t>
            </a:r>
          </a:p>
          <a:p/>
          <a:p>
            <a:r>
              <a:t>In der ersten Zeile entsteht ein neues Objekt, das alle Eigenschaften von „lisa“ hat, aber einen anderen Vornamen. Das ursprüngliche Objekt bleibt unverändert, das zeigt die Ausgabe: „Lisa“ und „Liesel“. In der zweiten Zeile entsteht eine neue Liste mit einem Eintrag mehr. Die alte Liste hat weiterhin drei Einträge.</a:t>
            </a:r>
          </a:p>
          <a:p/>
          <a:p>
            <a:r>
              <a:t>Wichtig ist die Einschränkung: Spread kopiert nur flach. Ist eine Eigenschaft selbst ein Objekt, zum Beispiel ein Datum, dann zeigen Original und Kopie auf dasselbe Objekt.</a:t>
            </a:r>
          </a:p>
          <a:p/>
          <a:p>
            <a:r>
              <a:t>Die Brücke zum Kurs: Im Kapitel Reaktivität lernen wir Signals. Ein Signal bemerkt eine Änderung nur, wenn es ein neues Objekt bekommt. Wer ein Objekt direkt verändert, löst keine Aktualisierung aus. Deshalb kopieren wir mit Spread, statt zu verändern.</a:t>
            </a:r>
          </a:p>
        </p:txBody>
      </p:sp>
      <p:sp>
        <p:nvSpPr>
          <p:cNvPr id="4" name="Slide Number Placeholder 3"/>
          <p:cNvSpPr>
            <a:spLocks noGrp="1"/>
          </p:cNvSpPr>
          <p:nvPr>
            <p:ph type="sldNum" idx="66"/>
          </p:nvPr>
        </p:nvSpPr>
        <p:spPr/>
      </p:sp>
    </p:spTree>
  </p:cSld>
  <p:clrMapOvr>
    <a:masterClrMapping/>
  </p:clrMapOvr>
</p:notes>
</file>

<file path=ppt/notesSlides/notesSlide7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„Template-Strings“.</a:t>
            </a:r>
          </a:p>
          <a:p/>
          <a:p>
            <a:r>
              <a:t>Ein „Template-String“ ist ein Text mit Platzhaltern. Er wird nicht mit normalen Anführungszeichen geschrieben, sondern mit schrägen Hochkommas, den sogenannten „Backticks“.</a:t>
            </a:r>
          </a:p>
          <a:p/>
          <a:p>
            <a:r>
              <a:t>Innerhalb des Textes steht ein Dollarzeichen mit geschweiften Klammern. Dort darf ein beliebiger Ausdruck stehen, zum Beispiel ein Feld eines Objekts oder eine Rechnung. Das Ergebnis wird in den Text eingesetzt. Das ist übersichtlicher, als Texte mit einem Plus zusammenzukleben.</a:t>
            </a:r>
          </a:p>
          <a:p/>
          <a:p>
            <a:r>
              <a:t>Im Beispiel setzt die erste Zeile Nachname, Vorname und Stadt zusammen. Fehlt die Stadt, steht dort „unbekannt“. Ein Template-String darf außerdem über mehrere Zeilen gehen. In Angular schreibt man Komponenten-Vorlagen oft genau so.</a:t>
            </a:r>
          </a:p>
        </p:txBody>
      </p:sp>
      <p:sp>
        <p:nvSpPr>
          <p:cNvPr id="4" name="Slide Number Placeholder 3"/>
          <p:cNvSpPr>
            <a:spLocks noGrp="1"/>
          </p:cNvSpPr>
          <p:nvPr>
            <p:ph type="sldNum" idx="66"/>
          </p:nvPr>
        </p:nvSpPr>
        <p:spPr/>
      </p:sp>
    </p:spTree>
  </p:cSld>
  <p:clrMapOvr>
    <a:masterClrMapping/>
  </p:clrMapOvr>
</p:notes>
</file>

<file path=ppt/notesSlides/notesSlide7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3: Objekte und Listen“.</a:t>
            </a:r>
          </a:p>
          <a:p/>
          <a:p>
            <a:r>
              <a:t>Erklärung für die Dolmetscherin:</a:t>
            </a:r>
          </a:p>
          <a:p>
            <a:r>
              <a:t>Die Teilnehmenden öffnen die Datei „uebung-3-objekte.ts“ im Ordner „01_typescript_primer“. Dort sind drei Funktionen vorgegeben, die noch nichts tun. Die erste Funktion soll eine neue Liste zurückgeben, in der ein Kunde einen neuen Vornamen hat. Die zweite soll eine neue Liste mit einem zusätzlichen Kunden zurückgeben. Bei der dritten wird der Kunde direkt in der Funktionsdefinition zerlegt, und es entsteht ein Text mit einem Template-String.</a:t>
            </a:r>
          </a:p>
          <a:p/>
          <a:p>
            <a:r>
              <a:t>Die wichtigste Regel: Die ursprüngliche Liste darf nicht verändert werden. Am Ende prüft man in der Ausgabe, dass das Original gleich geblieben ist.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7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welche Kennzahlen wichtig sind, wie die Change Detection von Angular arbeitet und mit welchen Mitteln man Laufzeit und Ladezeit verbessert.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7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hier nicht, dass eine Zahl möglichst klein wird, sondern dass sich die Anwendung für den Benutzer schnell anfühlt. Man unterscheidet zwei Bereiche. Die „Ladezeit“ ist die Zeit, bis die Seite sichtbar und bedienbar ist. Sie hängt vor allem von der Menge an Code ab, dem sogenannten „Bundle“, und vom Netzwerk.</a:t>
            </a:r>
          </a:p>
          <a:p/>
          <a:p>
            <a:r>
              <a:t>Die „Laufzeit“ beschreibt, wie flüssig die Anwendung danach auf Eingaben reagiert. Hier spielen die Aktualisierung der Anzeige, große Listen und teure Berechnungen eine Rolle.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7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„Vorgehen: Messen, ändern, erneut messen“.</a:t>
            </a:r>
          </a:p>
          <a:p/>
          <a:p>
            <a:r>
              <a:t>Performance-Arbeit ist ein Kreislauf. Zuerst misst man die Ausgangslage und schreibt die Werte auf. Dann sucht man die Ursache, also die Stelle, an der die Zeit verloren geht. Danach setzt man genau eine Maßnahme um.</a:t>
            </a:r>
          </a:p>
          <a:p/>
          <a:p>
            <a:r>
              <a:t>Anschließend misst man erneut, und zwar unter denselben Bedingungen wie vorher: gleicher Build, gleiche Datenmenge, gleicher Rechner. Nur so kann man die Werte vergleichen. Hat die Maßnahme nichts gebracht, nimmt man sie wieder zurück, denn jede Maßnahme macht den Code etwas komplizierter. Genau so ist auch Übung 35 aufgebaut.</a:t>
            </a:r>
          </a:p>
        </p:txBody>
      </p:sp>
      <p:sp>
        <p:nvSpPr>
          <p:cNvPr id="4" name="Slide Number Placeholder 3"/>
          <p:cNvSpPr>
            <a:spLocks noGrp="1"/>
          </p:cNvSpPr>
          <p:nvPr>
            <p:ph type="sldNum" idx="66"/>
          </p:nvPr>
        </p:nvSpPr>
        <p:spPr/>
      </p:sp>
    </p:spTree>
  </p:cSld>
  <p:clrMapOvr>
    <a:masterClrMapping/>
  </p:clrMapOvr>
</p:notes>
</file>

<file path=ppt/notesSlides/notesSlide7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„Core Web Vitals: drei Kennzahlen“.</a:t>
            </a:r>
          </a:p>
          <a:p/>
          <a:p>
            <a:r>
              <a:t>„Core Web Vitals“ sind drei Kennzahlen von Google, die das Nutzererlebnis einer Webseite beschreiben. „LCP“ steht für „Largest Contentful Paint“. Das ist der Zeitpunkt, an dem das größte sichtbare Element, etwa ein großes Bild oder ein Textblock, gezeichnet ist. Gut sind höchstens 2,5 Sekunden.</a:t>
            </a:r>
          </a:p>
          <a:p/>
          <a:p>
            <a:r>
              <a:t>„INP“ steht für „Interaction to Next Paint“. Es misst, wie lange es nach einem Klick oder einer Eingabe dauert, bis die Anzeige reagiert. Gut sind höchstens 200 Millisekunden. „CLS“ steht für „Cumulative Layout Shift“ und misst, wie stark sich Inhalte beim Laden unerwartet verschieben. Gut ist ein Wert bis 0,1. Das Diagramm ordnet die drei Werte dem Ablauf zu: laden, bedienen, ruhig bleiben.</a:t>
            </a:r>
          </a:p>
        </p:txBody>
      </p:sp>
      <p:sp>
        <p:nvSpPr>
          <p:cNvPr id="4" name="Slide Number Placeholder 3"/>
          <p:cNvSpPr>
            <a:spLocks noGrp="1"/>
          </p:cNvSpPr>
          <p:nvPr>
            <p:ph type="sldNum" idx="66"/>
          </p:nvPr>
        </p:nvSpPr>
        <p:spPr/>
      </p:sp>
    </p:spTree>
  </p:cSld>
  <p:clrMapOvr>
    <a:masterClrMapping/>
  </p:clrMapOvr>
</p:notes>
</file>

<file path=ppt/notesSlides/notesSlide7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„Core Web Vitals: Ursachen und Hebel in Angular“.</a:t>
            </a:r>
          </a:p>
          <a:p/>
          <a:p>
            <a:r>
              <a:t>Diese Folie verbindet die drei Kennzahlen mit Maßnahmen in Angular. Ist der LCP-Wert schlecht, ist oft das Start-Bundle zu groß oder das Hauptbild lädt zu spät. Dagegen helfen Lazy Loading, „@defer“ und die Bild-Direktive „NgOptimizedImage“ mit „priority“ aus Übung 27, bei öffentlichen Seiten auch Server-Side Rendering.</a:t>
            </a:r>
          </a:p>
          <a:p/>
          <a:p>
            <a:r>
              <a:t>Ein schlechter INP-Wert entsteht durch lange Aufgaben nach einer Eingabe, zum Beispiel wenn sehr viele Komponenten neu geprüft werden. Ein schlechter CLS-Wert entsteht, wenn Bilder ohne feste Größe oder nachgeladene Inhalte das Layout verschieben. „Lighthouse“ misst im Labor. Den INP-Wert kann es dort nur annähern, deshalb misst man ihn besser mit den Chrome DevTools oder bei echten Nutzern.</a:t>
            </a:r>
          </a:p>
        </p:txBody>
      </p:sp>
      <p:sp>
        <p:nvSpPr>
          <p:cNvPr id="4" name="Slide Number Placeholder 3"/>
          <p:cNvSpPr>
            <a:spLocks noGrp="1"/>
          </p:cNvSpPr>
          <p:nvPr>
            <p:ph type="sldNum" idx="66"/>
          </p:nvPr>
        </p:nvSpPr>
        <p:spPr/>
      </p:sp>
    </p:spTree>
  </p:cSld>
  <p:clrMapOvr>
    <a:masterClrMapping/>
  </p:clrMapOvr>
</p:notes>
</file>

<file path=ppt/notesSlides/notesSlide7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 im Überblick“.</a:t>
            </a:r>
          </a:p>
          <a:p/>
          <a:p>
            <a:r>
              <a:t>Für jede Frage gibt es ein passendes Werkzeug. Der Bereich „Performance“ der Chrome DevTools zeigt auf einer Zeitachse, womit der Browser beschäftigt ist. Die „Angular DevTools“ sind eine Browser-Erweiterung. Ihr „Profiler“ zeigt, welche Komponenten bei der Aktualisierung wie viel Zeit brauchen.</a:t>
            </a:r>
          </a:p>
          <a:p/>
          <a:p>
            <a:r>
              <a:t>„Lighthouse“ prüft das Ladeverhalten und berechnet Kennzahlen. Der Befehl „ng build“ zeigt die Größe der erzeugten Dateien an, mit „--stats-json“ auch im Detail. Für Messungen der Ladezeit nimmt man immer den Production-Build, weil der Entwicklungsmodus mit „ng serve“ nicht optimiert ist. Das Diagramm ordnet die Werkzeuge den Fragen zu.</a:t>
            </a:r>
          </a:p>
        </p:txBody>
      </p:sp>
      <p:sp>
        <p:nvSpPr>
          <p:cNvPr id="4" name="Slide Number Placeholder 3"/>
          <p:cNvSpPr>
            <a:spLocks noGrp="1"/>
          </p:cNvSpPr>
          <p:nvPr>
            <p:ph type="sldNum" idx="66"/>
          </p:nvPr>
        </p:nvSpPr>
        <p:spPr/>
      </p:sp>
    </p:spTree>
  </p:cSld>
  <p:clrMapOvr>
    <a:masterClrMapping/>
  </p:clrMapOvr>
</p:notes>
</file>

<file path=ppt/notesSlides/notesSlide7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„Chrome DevTools: Performance-Aufnahme“.</a:t>
            </a:r>
          </a:p>
          <a:p/>
          <a:p>
            <a:r>
              <a:t>Mit den Chrome DevTools nimmt man auf, was der Browser während einer Aktion tut. Man öffnet sie mit der Taste F12, wählt den Bereich „Performance“ und startet die Aufnahme. Dann führt man die Aktion aus, zum Beispiel ein paar Buchstaben im Filterfeld, und stoppt die Aufnahme.</a:t>
            </a:r>
          </a:p>
          <a:p/>
          <a:p>
            <a:r>
              <a:t>Die Zeitachse zeigt danach, womit der Browser beschäftigt war. Aufgaben, die länger als 50 Millisekunden dauern, heißen „Long Tasks“ und sind rot markiert. Sie blockieren die Bedienung. Der „Flamegraph“ zeigt übereinander, welche Funktion welche andere aufgerufen hat und wie lange das gedauert hat. Mit der CPU-Drosselung kann man einen langsameren Rechner nachstellen.</a:t>
            </a:r>
          </a:p>
        </p:txBody>
      </p:sp>
      <p:sp>
        <p:nvSpPr>
          <p:cNvPr id="4" name="Slide Number Placeholder 3"/>
          <p:cNvSpPr>
            <a:spLocks noGrp="1"/>
          </p:cNvSpPr>
          <p:nvPr>
            <p:ph type="sldNum" idx="66"/>
          </p:nvPr>
        </p:nvSpPr>
        <p:spPr/>
      </p:sp>
    </p:spTree>
  </p:cSld>
  <p:clrMapOvr>
    <a:masterClrMapping/>
  </p:clrMapOvr>
</p:notes>
</file>

<file path=ppt/notesSlides/notesSlide7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„Angular DevTools: der Profiler“.</a:t>
            </a:r>
          </a:p>
          <a:p/>
          <a:p>
            <a:r>
              <a:t>Die „Angular DevTools“ sind eine Erweiterung für Chrome und Firefox. Sie funktionieren mit dem Entwicklungs-Build, also mit „ng serve“. Im Reiter „Profiler“ startet man eine Aufnahme, führt die Aktion aus und stoppt die Aufnahme wieder.</a:t>
            </a:r>
          </a:p>
          <a:p/>
          <a:p>
            <a:r>
              <a:t>Das Ergebnis ist eine Reihe von Balken. Jeder Balken steht für einen Durchlauf der Change Detection, also eine Prüfung und Aktualisierung der Anzeige. Ein hoher Balken bedeutet, dass der Durchlauf lange gedauert hat. Klickt man auf einen Balken, sieht man, welche Komponenten geprüft wurden und wie lange jede gebraucht hat. Die wichtigste Frage lautet: Werden Komponenten geprüft, die sich gar nicht geändert haben?</a:t>
            </a:r>
          </a:p>
        </p:txBody>
      </p:sp>
      <p:sp>
        <p:nvSpPr>
          <p:cNvPr id="4" name="Slide Number Placeholder 3"/>
          <p:cNvSpPr>
            <a:spLocks noGrp="1"/>
          </p:cNvSpPr>
          <p:nvPr>
            <p:ph type="sldNum" idx="66"/>
          </p:nvPr>
        </p:nvSpPr>
        <p:spPr/>
      </p:sp>
    </p:spTree>
  </p:cSld>
  <p:clrMapOvr>
    <a:masterClrMapping/>
  </p:clrMapOvr>
</p:notes>
</file>

<file path=ppt/notesSlides/notesSlide7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„Lighthouse richtig einsetzen“.</a:t>
            </a:r>
          </a:p>
          <a:p/>
          <a:p>
            <a:r>
              <a:t>„Lighthouse“ ist ein Prüfwerkzeug, das in die Chrome DevTools eingebaut ist. Es lädt die Seite unter festen Bedingungen und vergibt Punkte für Leistung und andere Bereiche. Dazu zeigt es Kennzahlen wie LCP und CLS. „TBT“ steht für „Total Blocking Time“, also die Zeit, in der der Browser blockiert war. Im Labor dient sie als Ersatz für INP.</a:t>
            </a:r>
          </a:p>
          <a:p/>
          <a:p>
            <a:r>
              <a:t>Man misst immer den Production-Build, also das Ergebnis von „ng build“, ausgeliefert über einen einfachen Webserver. Ein Inkognito-Fenster verhindert, dass Browser-Erweiterungen das Ergebnis verfälschen. Die Werte schwanken, deshalb misst man mehrmals. „Lighthouse CI“ führt die Messung automatisch bei jeder Änderung in der Pipeline aus.</a:t>
            </a:r>
          </a:p>
        </p:txBody>
      </p:sp>
      <p:sp>
        <p:nvSpPr>
          <p:cNvPr id="4" name="Slide Number Placeholder 3"/>
          <p:cNvSpPr>
            <a:spLocks noGrp="1"/>
          </p:cNvSpPr>
          <p:nvPr>
            <p:ph type="sldNum" idx="66"/>
          </p:nvPr>
        </p:nvSpPr>
        <p:spPr/>
      </p:sp>
    </p:spTree>
  </p:cSld>
  <p:clrMapOvr>
    <a:masterClrMapping/>
  </p:clrMapOvr>
</p:notes>
</file>

<file path=ppt/notesSlides/notesSlide7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„Bundle-Analyse: was steckt im Build?“.</a:t>
            </a:r>
          </a:p>
          <a:p/>
          <a:p>
            <a:r>
              <a:t>Nach „ng build“ gibt die Konsole eine Tabelle aus. Unter „Initial chunk files“ stehen die Dateien, die beim Start geladen werden. Unter „Lazy chunk files“ stehen Dateien, die erst bei Bedarf geladen werden. Der Startteil soll möglichst klein bleiben.</a:t>
            </a:r>
          </a:p>
          <a:p/>
          <a:p>
            <a:r>
              <a:t>Mit der Option „--stats-json“ entsteht zusätzlich die Datei „stats.json“. Sie beschreibt genau, welche Module in welchem Teil stecken. Man kann sie zum Beispiel im „esbuild Bundle Analyzer“ öffnen, einer Webseite, die die Anteile grafisch zeigt. So sieht man schnell, welche Bibliothek viel Platz braucht. Mit „Budgets“ legt man Grenzen fest, die nächste Folie zeigt das.</a:t>
            </a:r>
          </a:p>
        </p:txBody>
      </p:sp>
      <p:sp>
        <p:nvSpPr>
          <p:cNvPr id="4" name="Slide Number Placeholder 3"/>
          <p:cNvSpPr>
            <a:spLocks noGrp="1"/>
          </p:cNvSpPr>
          <p:nvPr>
            <p:ph type="sldNum" idx="66"/>
          </p:nvPr>
        </p:nvSpPr>
        <p:spPr/>
      </p:sp>
    </p:spTree>
  </p:cSld>
  <p:clrMapOvr>
    <a:masterClrMapping/>
  </p:clrMapOvr>
</p:notes>
</file>

<file path=ppt/notesSlides/notesSlide7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„Budgets in angular.json“.</a:t>
            </a:r>
          </a:p>
          <a:p/>
          <a:p>
            <a:r>
              <a:t>Budgets sind Grenzwerte für die Größe der erzeugten Dateien. Sie stehen in der Datei „angular.json“ bei der Konfiguration „production“. Ein neues Projekt bringt diese Werte schon mit.</a:t>
            </a:r>
          </a:p>
          <a:p/>
          <a:p>
            <a:r>
              <a:t>Der erste Eintrag vom Typ „initial“ betrifft alles, was beim Start geladen wird. Ab 500 Kilobyte gibt der Build eine Warnung aus, ab einem Megabyte bricht er mit einem Fehler ab. Der zweite Eintrag begrenzt die Größe des CSS einer einzelnen Komponente. Weil der Build in der Pipeline fehlschlägt, fällt ein zu großes Bundle sofort auf und nicht erst beim Benutzer.</a:t>
            </a:r>
          </a:p>
        </p:txBody>
      </p:sp>
      <p:sp>
        <p:nvSpPr>
          <p:cNvPr id="4" name="Slide Number Placeholder 3"/>
          <p:cNvSpPr>
            <a:spLocks noGrp="1"/>
          </p:cNvSpPr>
          <p:nvPr>
            <p:ph type="sldNum" idx="66"/>
          </p:nvPr>
        </p:nvSpPr>
        <p:spPr/>
      </p:sp>
    </p:spTree>
  </p:cSld>
  <p:clrMapOvr>
    <a:masterClrMapping/>
  </p:clrMapOvr>
</p:notes>
</file>

<file path=ppt/notesSlides/notesSlide7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„Change Detection: die Grundidee“.</a:t>
            </a:r>
          </a:p>
          <a:p/>
          <a:p>
            <a:r>
              <a:t>Eine Angular-Anwendung besteht aus einem Baum von Komponenten. Oben steht die „AppComponent“, darunter zum Beispiel die Kundenliste mit vielen Listeneinträgen. „Change Detection“ heißt auf Deutsch Änderungserkennung. Dabei prüft Angular die Bindungen in den Templates, also die Stellen mit geschweiften oder eckigen Klammern, und passt das HTML an, wenn sich ein Wert geändert hat.</a:t>
            </a:r>
          </a:p>
          <a:p/>
          <a:p>
            <a:r>
              <a:t>Diese Prüfung läuft von oben nach unten durch den Baum. Je mehr Komponenten geprüft werden, desto länger dauert sie. Bei 5000 Listeneinträgen ist das spürbar. Ziel ist deshalb, nur das zu prüfen, was sich wirklich geändert hat. Die zentrale Frage ist: Woher weiß Angular, dass sich etwas geändert hat? Die nächsten Folien beantworten sie.</a:t>
            </a:r>
          </a:p>
        </p:txBody>
      </p:sp>
      <p:sp>
        <p:nvSpPr>
          <p:cNvPr id="4" name="Slide Number Placeholder 3"/>
          <p:cNvSpPr>
            <a:spLocks noGrp="1"/>
          </p:cNvSpPr>
          <p:nvPr>
            <p:ph type="sldNum" idx="66"/>
          </p:nvPr>
        </p:nvSpPr>
        <p:spPr/>
      </p:sp>
    </p:spTree>
  </p:cSld>
  <p:clrMapOvr>
    <a:masterClrMapping/>
  </p:clrMapOvr>
</p:notes>
</file>

<file path=ppt/notesSlides/notesSlide7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„Zone.js und zoneless im Vergleich“.</a:t>
            </a:r>
          </a:p>
          <a:p/>
          <a:p>
            <a:r>
              <a:t>Früher nutzte Angular die Bibliothek „Zone.js“. Sie verändert Browser-Funktionen wie Timer, Ereignisse und Netzwerk-Antworten so, dass Angular nach jedem dieser Vorgänge benachrichtigt wird. Angular wusste dann aber nicht, was sich geändert hat, und prüfte sicherheitshalber den ganzen Baum.</a:t>
            </a:r>
          </a:p>
          <a:p/>
          <a:p>
            <a:r>
              <a:t>In Angular 21 ist „zoneless“ der Standard, also ohne Zone.js. Angular wird jetzt gezielt benachrichtigt, zum Beispiel wenn sich ein Signal ändert, das ein Template liest. Dann werden nur die betroffenen Komponenten markiert und geprüft. Die Übungsanwendung ist mit „provideZonelessChangeDetection“ in der Datei „main.ts“ eingerichtet.</a:t>
            </a:r>
          </a:p>
        </p:txBody>
      </p:sp>
      <p:sp>
        <p:nvSpPr>
          <p:cNvPr id="4" name="Slide Number Placeholder 3"/>
          <p:cNvSpPr>
            <a:spLocks noGrp="1"/>
          </p:cNvSpPr>
          <p:nvPr>
            <p:ph type="sldNum" idx="66"/>
          </p:nvPr>
        </p:nvSpPr>
        <p:spPr/>
      </p:sp>
    </p:spTree>
  </p:cSld>
  <p:clrMapOvr>
    <a:masterClrMapping/>
  </p:clrMapOvr>
</p:notes>
</file>

<file path=ppt/notesSlides/notesSlide7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Signal ändert sich (zoneless)“.</a:t>
            </a:r>
          </a:p>
          <a:p/>
          <a:p>
            <a:r>
              <a:t>Diese Folie zeigt Schritt für Schritt, was bei einer Änderung passiert. Der Code ruft „set“ oder „update“ auf einem Signal auf, zum Beispiel beim Setzen des Filters. Angular weiß, welche Templates dieses Signal lesen, denn beim letzten Zeichnen wurde das automatisch festgehalten.</a:t>
            </a:r>
          </a:p>
          <a:p/>
          <a:p>
            <a:r>
              <a:t>Diese Komponenten werden als „zu prüfen“ markiert. Der „Scheduler“, also der Planer von Angular, plant einen Durchlauf der Change Detection für kurz danach ein. Mehrere Änderungen direkt hintereinander führen deshalb nur zu einem einzigen Durchlauf. Dabei werden nur die markierten Teile geprüft, und das HTML wird angepasst.</a:t>
            </a:r>
          </a:p>
        </p:txBody>
      </p:sp>
      <p:sp>
        <p:nvSpPr>
          <p:cNvPr id="4" name="Slide Number Placeholder 3"/>
          <p:cNvSpPr>
            <a:spLocks noGrp="1"/>
          </p:cNvSpPr>
          <p:nvPr>
            <p:ph type="sldNum" idx="66"/>
          </p:nvPr>
        </p:nvSpPr>
        <p:spPr/>
      </p:sp>
    </p:spTree>
  </p:cSld>
  <p:clrMapOvr>
    <a:masterClrMapping/>
  </p:clrMapOvr>
</p:notes>
</file>

<file path=ppt/notesSlides/notesSlide7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Change Detection ohne Zone.js“.</a:t>
            </a:r>
          </a:p>
          <a:p/>
          <a:p>
            <a:r>
              <a:t>Das Diagramm zeigt, wie Angular ohne „Zone.js“ von einer Änderung erfährt. Erstens: Ein Ereignis-Handler der „CustomerListComponent“ ruft „setFilter“ auf, und der Store setzt sein Signal. Zweitens: Das Signal kennt seine Leser. Angular markiert deshalb das Template der Liste und bittet den „Scheduler“, also den Planer, um einen Durchlauf.</a:t>
            </a:r>
          </a:p>
          <a:p/>
          <a:p>
            <a:r>
              <a:t>Drittens: Im selben Handler wird auch die Auswahl geändert. Viertens: Ein Durchlauf ist schon geplant, deshalb kommt kein zweiter dazu. Fünftens: Wenn der Handler fertig ist, startet der Scheduler den Durchlauf.</a:t>
            </a:r>
          </a:p>
          <a:p/>
          <a:p>
            <a:r>
              <a:t>Sechstens: Angular prüft nur die markierte Komponente. Siebtens: Ihr Template liest dabei „filtered“ und „selected“ aus dem Store. Achtens: Die neuen Werte kommen zurück. Neuntens: Angular passt im HTML nur die Stellen an, die sich wirklich geändert haben. Komponenten, die keines dieser Signals lesen, werden nicht neu geprüft.</a:t>
            </a:r>
          </a:p>
        </p:txBody>
      </p:sp>
      <p:sp>
        <p:nvSpPr>
          <p:cNvPr id="4" name="Slide Number Placeholder 3"/>
          <p:cNvSpPr>
            <a:spLocks noGrp="1"/>
          </p:cNvSpPr>
          <p:nvPr>
            <p:ph type="sldNum" idx="66"/>
          </p:nvPr>
        </p:nvSpPr>
        <p:spPr/>
      </p:sp>
    </p:spTree>
  </p:cSld>
  <p:clrMapOvr>
    <a:masterClrMapping/>
  </p:clrMapOvr>
</p:notes>
</file>

<file path=ppt/notesSlides/notesSlide7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löst eine Neu-Prüfung aus?“.</a:t>
            </a:r>
          </a:p>
          <a:p/>
          <a:p>
            <a:r>
              <a:t>Ohne Zone.js muss Angular von einer Änderung erfahren. Diese Folie zählt auf, was eine Neu-Prüfung auslöst. Am wichtigsten ist ein Signal, das im Template gelesen wird. Auch ein Ereignis-Handler im Template, zum Beispiel für einen Klick, und ein neuer Wert für einen Eingang lösen eine Prüfung aus.</a:t>
            </a:r>
          </a:p>
          <a:p/>
          <a:p>
            <a:r>
              <a:t>Die „async“-Pipe meldet neue Werte eines Observables ebenfalls. Mit „markForCheck“ kann man eine Komponente von Hand markieren. Wichtig ist der letzte Punkt: Ändert man ein normales Feld der Klasse, zum Beispiel in einem Timer oder in einem Abonnement, bemerkt Angular das nicht. Die Anzeige bleibt dann alt. Die Lösung ist, den Wert in ein Signal zu legen.</a:t>
            </a:r>
          </a:p>
        </p:txBody>
      </p:sp>
      <p:sp>
        <p:nvSpPr>
          <p:cNvPr id="4" name="Slide Number Placeholder 3"/>
          <p:cNvSpPr>
            <a:spLocks noGrp="1"/>
          </p:cNvSpPr>
          <p:nvPr>
            <p:ph type="sldNum" idx="66"/>
          </p:nvPr>
        </p:nvSpPr>
        <p:spPr/>
      </p:sp>
    </p:spTree>
  </p:cSld>
  <p:clrMapOvr>
    <a:masterClrMapping/>
  </p:clrMapOvr>
</p:notes>
</file>

<file path=ppt/notesSlides/notesSlide7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„OnPush: Komponenten gezielt überspringen“.</a:t>
            </a:r>
          </a:p>
          <a:p/>
          <a:p>
            <a:r>
              <a:t>„OnPush“ ist eine Einstellung für die Change Detection einer Komponente. Ohne diese Einstellung prüft Angular eine Komponente bei jedem Durchlauf, der ihren Teil des Baums erreicht, auch wenn sich für sie nichts geändert hat.</a:t>
            </a:r>
          </a:p>
          <a:p/>
          <a:p>
            <a:r>
              <a:t>Mit „OnPush“ prüft Angular die Komponente nur, wenn sie markiert wurde: durch einen neuen Eingangswert, ein Ereignis in ihrem Template, ein gelesenes Signal oder die „async“-Pipe. Sonst wird sie mit ihren Kindern übersprungen. Das spart bei langen Listen viel Zeit. Man setzt „OnPush“ am besten für alle neuen Komponenten. Es passt gut zu Signals, denn sie markieren die Komponente automatisch.</a:t>
            </a:r>
          </a:p>
        </p:txBody>
      </p:sp>
      <p:sp>
        <p:nvSpPr>
          <p:cNvPr id="4" name="Slide Number Placeholder 3"/>
          <p:cNvSpPr>
            <a:spLocks noGrp="1"/>
          </p:cNvSpPr>
          <p:nvPr>
            <p:ph type="sldNum" idx="66"/>
          </p:nvPr>
        </p:nvSpPr>
        <p:spPr/>
      </p:sp>
    </p:spTree>
  </p:cSld>
  <p:clrMapOvr>
    <a:masterClrMapping/>
  </p:clrMapOvr>
</p:notes>
</file>

<file path=ppt/notesSlides/notesSlide7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„OnPush und Referenzen“.</a:t>
            </a:r>
          </a:p>
          <a:p/>
          <a:p>
            <a:r>
              <a:t>Ob sich ein Eingang geändert hat, prüft Angular über die Referenz. Eine „Referenz“ ist sozusagen die Adresse eines Objekts im Speicher. Ändert man ein Feld in einem vorhandenen Objekt, nennt man das „mutieren“. Die Referenz bleibt gleich, und Angular sieht keine Änderung. Eine OnPush-Komponente zeigt dann den alten Stand.</a:t>
            </a:r>
          </a:p>
          <a:p/>
          <a:p>
            <a:r>
              <a:t>Bei Signals ist es genauso: Setzt man dieselbe Liste noch einmal, melden sie keine Änderung. Deshalb erzeugt man eine neue Liste, zum Beispiel mit „update“ und der Schreibweise mit drei Punkten, die die alte Liste in eine neue kopiert. Genau so arbeitet die Methode „addDemo“ im „CustomerStore“.</a:t>
            </a:r>
          </a:p>
        </p:txBody>
      </p:sp>
      <p:sp>
        <p:nvSpPr>
          <p:cNvPr id="4" name="Slide Number Placeholder 3"/>
          <p:cNvSpPr>
            <a:spLocks noGrp="1"/>
          </p:cNvSpPr>
          <p:nvPr>
            <p:ph type="sldNum" idx="66"/>
          </p:nvPr>
        </p:nvSpPr>
        <p:spPr/>
      </p:sp>
    </p:spTree>
  </p:cSld>
  <p:clrMapOvr>
    <a:masterClrMapping/>
  </p:clrMapOvr>
</p:notes>
</file>

<file path=ppt/notesSlides/notesSlide7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Struktur der Komponenten wirkt sich direkt auf die Geschwindigkeit aus. Wenn kleine Komponenten nur die Signals lesen, die sie wirklich brauchen, wird bei einer Änderung nur ein kleiner Bereich neu geprüft.</a:t>
            </a:r>
          </a:p>
          <a:p/>
          <a:p>
            <a:r>
              <a:t>Eine große Komponente, die alle Daten liest, muss dagegen bei jeder Änderung vollständig neu bewertet werden. In der Invoice-App soll eine Eingabe im Filter nur die Liste betreffen und nicht den Kopfbereich. Das ist ein weiterer Grund für die Aufteilung in kleine Komponenten aus Übung 31.</a:t>
            </a:r>
          </a:p>
        </p:txBody>
      </p:sp>
      <p:sp>
        <p:nvSpPr>
          <p:cNvPr id="4" name="Slide Number Placeholder 3"/>
          <p:cNvSpPr>
            <a:spLocks noGrp="1"/>
          </p:cNvSpPr>
          <p:nvPr>
            <p:ph type="sldNum" idx="66"/>
          </p:nvPr>
        </p:nvSpPr>
        <p:spPr/>
      </p:sp>
    </p:spTree>
  </p:cSld>
  <p:clrMapOvr>
    <a:masterClrMapping/>
  </p:clrMapOvr>
</p:notes>
</file>

<file path=ppt/notesSlides/notesSlide7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Diese Folie zeigt zwei Arten, Zustand zu speichern. Oben steht ein einziges großes Signal mit einem Objekt, das alles enthält. Jede Änderung, auch nur am Filter, erzeugt ein neues Objekt. Damit gelten alle Stellen, die dieses Signal lesen, als geändert.</a:t>
            </a:r>
          </a:p>
          <a:p/>
          <a:p>
            <a:r>
              <a:t>Unten stehen feine, einzelne Signals und ein „computed“ für den ausgewählten Kunden. Ändert sich nur der Filter, sind die Liste und die Auswahl nicht betroffen. Ein „computed“ meldet außerdem nur dann eine Änderung, wenn sich sein Ergebnis tatsächlich unterscheidet. So werden möglichst wenige Komponenten neu geprüft.</a:t>
            </a:r>
          </a:p>
        </p:txBody>
      </p:sp>
      <p:sp>
        <p:nvSpPr>
          <p:cNvPr id="4" name="Slide Number Placeholder 3"/>
          <p:cNvSpPr>
            <a:spLocks noGrp="1"/>
          </p:cNvSpPr>
          <p:nvPr>
            <p:ph type="sldNum" idx="66"/>
          </p:nvPr>
        </p:nvSpPr>
        <p:spPr/>
      </p:sp>
    </p:spTree>
  </p:cSld>
  <p:clrMapOvr>
    <a:masterClrMapping/>
  </p:clrMapOvr>
</p:notes>
</file>

<file path=ppt/notesSlides/notesSlide7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„@for“ ist die Schleife im Template. Hinter „track“ steht ein Ausdruck, der jeden Eintrag eindeutig kennzeichnet. Im ersten Beispiel ist das das Objekt selbst, so stand es im Startprojekt. Im zweiten Beispiel ist es die Kennung „id“ des Kunden.</a:t>
            </a:r>
          </a:p>
          <a:p/>
          <a:p>
            <a:r>
              <a:t>Der Block „@empty“ wird angezeigt, wenn die Liste leer ist. Innerhalb der Schleife gibt es außerdem eingebaute Variablen, zum Beispiel „$index“ für die Position oder „$count“ für die Anzahl. Warum die Kennung besser ist als das Objekt,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7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track genau?“.</a:t>
            </a:r>
          </a:p>
          <a:p/>
          <a:p>
            <a:r>
              <a:t>Wenn sich die Liste ändert, muss Angular entscheiden, welche HTML-Elemente bleiben, welche neu entstehen und welche verschwinden. Dafür berechnet es für jeden Eintrag einen Schlüssel, nämlich den Ausdruck hinter „track“.</a:t>
            </a:r>
          </a:p>
          <a:p/>
          <a:p>
            <a:r>
              <a:t>Dann vergleicht Angular die Schlüssel der neuen Liste mit denen der alten. Bei gleichem Schlüssel wird das vorhandene Element weiterverwendet und höchstens verschoben. Bei einem neuen Schlüssel entsteht ein neues Element, bei einem fehlenden wird es entfernt. Mit „track customer“ ist der Schlüssel das Objekt selbst. Lädt man die Daten neu, sind alle Objekte neu, und Angular baut die ganze Liste neu auf.</a:t>
            </a:r>
          </a:p>
        </p:txBody>
      </p:sp>
      <p:sp>
        <p:nvSpPr>
          <p:cNvPr id="4" name="Slide Number Placeholder 3"/>
          <p:cNvSpPr>
            <a:spLocks noGrp="1"/>
          </p:cNvSpPr>
          <p:nvPr>
            <p:ph type="sldNum" idx="66"/>
          </p:nvPr>
        </p:nvSpPr>
        <p:spPr/>
      </p:sp>
    </p:spTree>
  </p:cSld>
  <p:clrMapOvr>
    <a:masterClrMapping/>
  </p:clrMapOvr>
</p:notes>
</file>

<file path=ppt/notesSlides/notesSlide7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Diese Folie fasst die Regeln für „track“ zusammen. Nimmt man das Objekt selbst als Schlüssel, entstehen nach dem Neuladen alle Elemente neu. Dabei geht auch der Zustand der Zeilen verloren, zum Beispiel der Fokus oder eine halb ausgefüllte Eingabe.</a:t>
            </a:r>
          </a:p>
          <a:p/>
          <a:p>
            <a:r>
              <a:t>Die Position „$index“ als Schlüssel passt nur, wenn sich die Liste nie ändert. Sonst werden Einträge falsch zugeordnet. Die Faustregel lautet: eine stabile, eindeutige Kennung verwenden. Beim Virtual Scrolling, das gleich folgt, übernimmt eine Funktion namens „trackBy“ diese Aufgabe.</a:t>
            </a:r>
          </a:p>
        </p:txBody>
      </p:sp>
      <p:sp>
        <p:nvSpPr>
          <p:cNvPr id="4" name="Slide Number Placeholder 3"/>
          <p:cNvSpPr>
            <a:spLocks noGrp="1"/>
          </p:cNvSpPr>
          <p:nvPr>
            <p:ph type="sldNum" idx="66"/>
          </p:nvPr>
        </p:nvSpPr>
        <p:spPr/>
      </p:sp>
    </p:spTree>
  </p:cSld>
  <p:clrMapOvr>
    <a:masterClrMapping/>
  </p:clrMapOvr>
</p:notes>
</file>

<file path=ppt/notesSlides/notesSlide8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Diese Folie zeigt drei Arten, im Template etwas zu berechnen. Eine normale Methode im Template wird bei jeder Prüfung der Komponente erneut aufgerufen. Ist die Berechnung teuer, kostet das jedes Mal Zeit.</a:t>
            </a:r>
          </a:p>
          <a:p/>
          <a:p>
            <a:r>
              <a:t>Ein „computed“ merkt sich sein Ergebnis und rechnet nur neu, wenn sich die gelesenen Signals geändert haben. Eine „reine Pipe“ wird nur neu ausgeführt, wenn sich ihr Eingabewert ändert. Vorsicht gilt bei „unreinen Pipes“, die bei jeder Prüfung laufen, und bei vielen „async“-Pipes in Schleifen. Teure Berechnungen gehören deshalb in ein „computed“ oder in eine reine Pipe.</a:t>
            </a:r>
          </a:p>
        </p:txBody>
      </p:sp>
      <p:sp>
        <p:nvSpPr>
          <p:cNvPr id="4" name="Slide Number Placeholder 3"/>
          <p:cNvSpPr>
            <a:spLocks noGrp="1"/>
          </p:cNvSpPr>
          <p:nvPr>
            <p:ph type="sldNum" idx="66"/>
          </p:nvPr>
        </p:nvSpPr>
        <p:spPr/>
      </p:sp>
    </p:spTree>
  </p:cSld>
  <p:clrMapOvr>
    <a:masterClrMapping/>
  </p:clrMapOvr>
</p:notes>
</file>

<file path=ppt/notesSlides/notesSlide8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langen Listen helfen mehrere Maßnahmen. „track“ mit Kennung sorgt dafür, dass Elemente wiederverwendet werden. „OnPush“ und schlanke Zeilenkomponenten machen jede Prüfung billiger. Ein „Debounce“ wartet, bis der Benutzer kurz nicht mehr tippt, und filtert erst dann.</a:t>
            </a:r>
          </a:p>
          <a:p/>
          <a:p>
            <a:r>
              <a:t>„Virtual Scrolling“ legt nur die Zeilen im HTML an, die gerade sichtbar sind, plus einen kleinen Puffer. Aus 5000 Zeilen werden so etwa 20 bis 30. Bei „Paginierung“ lädt man die Daten seitenweise vom Server, oder der Server filtert gleich selbst. Welche Maßnahme am meisten bringt, zeigt nur die Messung. Genau das untersucht Übung 35.</a:t>
            </a:r>
          </a:p>
        </p:txBody>
      </p:sp>
      <p:sp>
        <p:nvSpPr>
          <p:cNvPr id="4" name="Slide Number Placeholder 3"/>
          <p:cNvSpPr>
            <a:spLocks noGrp="1"/>
          </p:cNvSpPr>
          <p:nvPr>
            <p:ph type="sldNum" idx="66"/>
          </p:nvPr>
        </p:nvSpPr>
        <p:spPr/>
      </p:sp>
    </p:spTree>
  </p:cSld>
  <p:clrMapOvr>
    <a:masterClrMapping/>
  </p:clrMapOvr>
</p:notes>
</file>

<file path=ppt/notesSlides/notesSlide8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„Virtual Scrolling mit dem CDK“.</a:t>
            </a:r>
          </a:p>
          <a:p/>
          <a:p>
            <a:r>
              <a:t>Diese Lösung stammt aus Übung 35. „cdk-virtual-scroll-viewport“ ist ein Bereich mit Bildlaufleiste, der nur die sichtbaren Zeilen erzeugt. Er kommt aus dem Paket „@angular/cdk“, das man mit npm installiert, und dem „ScrollingModule“. „itemSize“ gibt die Höhe einer Zeile in Pixeln an. Sie muss zur tatsächlichen Zeilenhöhe passen, hier 32 Pixel. Der Bereich selbst braucht eine feste Höhe im CSS.</a:t>
            </a:r>
          </a:p>
          <a:p/>
          <a:p>
            <a:r>
              <a:t>Statt „@for“ verwendet man hier „*cdkVirtualFor“. Die Funktion „trackById“ übernimmt die Rolle von „track“: Sie bekommt die Position und den Kunden und gibt die Kennung zurück. Die Zeilenkomponente hat einen Attribut-Selektor und wird deshalb als „div“ mit dem Attribut „customer-list-item“ eingesetzt.</a:t>
            </a:r>
          </a:p>
        </p:txBody>
      </p:sp>
      <p:sp>
        <p:nvSpPr>
          <p:cNvPr id="4" name="Slide Number Placeholder 3"/>
          <p:cNvSpPr>
            <a:spLocks noGrp="1"/>
          </p:cNvSpPr>
          <p:nvPr>
            <p:ph type="sldNum" idx="66"/>
          </p:nvPr>
        </p:nvSpPr>
        <p:spPr/>
      </p:sp>
    </p:spTree>
  </p:cSld>
  <p:clrMapOvr>
    <a:masterClrMapping/>
  </p:clrMapOvr>
</p:notes>
</file>

<file path=ppt/notesSlides/notesSlide8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Dieser Code stammt aus der Kundenliste in Übung 35. Das Eingabefeld ist an das Signal „typedFilter“ gebunden und zeigt den getippten Text sofort an. Der Store, der die große Liste filtert, bekommt den Text aber erst verzögert.</a:t>
            </a:r>
          </a:p>
          <a:p/>
          <a:p>
            <a:r>
              <a:t>Dafür wandelt „toObservable“ das Signal in ein Observable um. „debounceTime(250)“ gibt einen Wert erst weiter, wenn 250 Millisekunden lang kein neuer Wert kam. „takeUntilDestroyed“ beendet das Abonnement automatisch, wenn die Komponente zerstört wird. Dann ruft „subscribe“ die Methode „setFilter“ des Stores auf. Beim Leeren des Filters wird der Store sofort aktualisiert, ohne Wartezeit.</a:t>
            </a:r>
          </a:p>
        </p:txBody>
      </p:sp>
      <p:sp>
        <p:nvSpPr>
          <p:cNvPr id="4" name="Slide Number Placeholder 3"/>
          <p:cNvSpPr>
            <a:spLocks noGrp="1"/>
          </p:cNvSpPr>
          <p:nvPr>
            <p:ph type="sldNum" idx="66"/>
          </p:nvPr>
        </p:nvSpPr>
        <p:spPr/>
      </p:sp>
    </p:spTree>
  </p:cSld>
  <p:clrMapOvr>
    <a:masterClrMapping/>
  </p:clrMapOvr>
</p:notes>
</file>

<file path=ppt/notesSlides/notesSlide8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„Debounce: der Ablauf“.</a:t>
            </a:r>
          </a:p>
          <a:p/>
          <a:p>
            <a:r>
              <a:t>Diese Folie zeigt, was beim Tippen passiert. Jeder Tastendruck setzt das Signal „typedFilter“, und „toObservable“ meldet jeden neuen Wert weiter. „debounceTime“ startet dabei jedes Mal eine Wartezeit von 250 Millisekunden neu.</a:t>
            </a:r>
          </a:p>
          <a:p/>
          <a:p>
            <a:r>
              <a:t>Erst wenn der Benutzer 250 Millisekunden lang nicht tippt, wird der letzte Wert an den Store gegeben. Tippt man „Hans“ zügig, wird die große Liste also nur einmal gefiltert und nicht viermal. „takeUntilDestroyed“ sorgt dafür, dass das Abonnement endet, wenn die Komponente verschwindet. Sonst würde es weiterlaufen und Speicher belegen, ein sogenanntes „Speicherleck“.</a:t>
            </a:r>
          </a:p>
        </p:txBody>
      </p:sp>
      <p:sp>
        <p:nvSpPr>
          <p:cNvPr id="4" name="Slide Number Placeholder 3"/>
          <p:cNvSpPr>
            <a:spLocks noGrp="1"/>
          </p:cNvSpPr>
          <p:nvPr>
            <p:ph type="sldNum" idx="66"/>
          </p:nvPr>
        </p:nvSpPr>
        <p:spPr/>
      </p:sp>
    </p:spTree>
  </p:cSld>
  <p:clrMapOvr>
    <a:masterClrMapping/>
  </p:clrMapOvr>
</p:notes>
</file>

<file path=ppt/notesSlides/notesSlide8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lädt man beim Start nur das, was wirklich sofort gebraucht wird. Mit „Lazy Routes“ wird eine Seite erst geladen, wenn der Benutzer sie aufruft. Mit „@defer“ lädt man Teile einer Seite erst später. Beides wird auf den nächsten Folien genauer erklärt.</a:t>
            </a:r>
          </a:p>
          <a:p/>
          <a:p>
            <a:r>
              <a:t>Die Bild-Direktive „NgOptimizedImage“ aus Übung 27 lädt das wichtigste Bild bevorzugt, wenn man „priority“ setzt. Feste Breite und Höhe verhindern, dass das Layout springt. „Tree-Shaking“ bedeutet, dass der Build ungenutzten Code automatisch weglässt. Das klappt nur, wenn man auch nur das importiert, was man wirklich nutzt.</a:t>
            </a:r>
          </a:p>
        </p:txBody>
      </p:sp>
      <p:sp>
        <p:nvSpPr>
          <p:cNvPr id="4" name="Slide Number Placeholder 3"/>
          <p:cNvSpPr>
            <a:spLocks noGrp="1"/>
          </p:cNvSpPr>
          <p:nvPr>
            <p:ph type="sldNum" idx="66"/>
          </p:nvPr>
        </p:nvSpPr>
        <p:spPr/>
      </p:sp>
    </p:spTree>
  </p:cSld>
  <p:clrMapOvr>
    <a:masterClrMapping/>
  </p:clrMapOvr>
</p:notes>
</file>

<file path=ppt/notesSlides/notesSlide8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„Lazy Loading von Routen“.</a:t>
            </a:r>
          </a:p>
          <a:p/>
          <a:p>
            <a:r>
              <a:t>„Lazy Loading“ heißt, etwas erst dann zu laden, wenn es gebraucht wird. Bei Routen gibt es dafür zwei Eigenschaften. „loadComponent“ lädt eine einzelne Komponente, „loadChildren“ eine ganze Liste von Unterrouten, zum Beispiel für einen Verwaltungsbereich.</a:t>
            </a:r>
          </a:p>
          <a:p/>
          <a:p>
            <a:r>
              <a:t>Beide bekommen eine Funktion, die „import“ aufruft. Angular ruft diese Funktion erst auf, wenn der Benutzer zu dieser Route navigiert. Der Build legt für den importierten Code eine eigene Datei an, einen „Lazy Chunk“. Wichtig: Die Komponente darf nirgends sonst statisch importiert werden, zum Beispiel oben in der Routendatei. Sonst landet sie trotzdem im Start-Bundle.</a:t>
            </a:r>
          </a:p>
        </p:txBody>
      </p:sp>
      <p:sp>
        <p:nvSpPr>
          <p:cNvPr id="4" name="Slide Number Placeholder 3"/>
          <p:cNvSpPr>
            <a:spLocks noGrp="1"/>
          </p:cNvSpPr>
          <p:nvPr>
            <p:ph type="sldNum" idx="66"/>
          </p:nvPr>
        </p:nvSpPr>
        <p:spPr/>
      </p:sp>
    </p:spTree>
  </p:cSld>
  <p:clrMapOvr>
    <a:masterClrMapping/>
  </p:clrMapOvr>
</p:notes>
</file>

<file path=ppt/notesSlides/notesSlide8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„loadComponent und loadChildren“.</a:t>
            </a:r>
          </a:p>
          <a:p/>
          <a:p>
            <a:r>
              <a:t>Die erste Route lädt die Kundenliste ganz normal, sie gehört zum Start-Bundle. Die zweite Route ist die Detailseite aus Übung 35. Sie nutzt „loadComponent“. „import“ lädt die Datei der Komponente und liefert ein Promise mit dem Inhalt der Datei. Mit „then“ wählt man daraus die Komponentenklasse aus. Der Guard „authGuard“ funktioniert wie bei normalen Routen.</a:t>
            </a:r>
          </a:p>
          <a:p/>
          <a:p>
            <a:r>
              <a:t>Die dritte Route ist ein ausgedachtes Beispiel für einen ganzen Bereich. „loadChildren“ lädt die Datei „admin.routes.ts“ und nimmt daraus die Liste „ADMIN_ROUTES“. Alle Komponenten dieses Bereichs landen dann in eigenen Chunks und werden erst beim Aufruf von „admin“ geladen.</a:t>
            </a:r>
          </a:p>
        </p:txBody>
      </p:sp>
      <p:sp>
        <p:nvSpPr>
          <p:cNvPr id="4" name="Slide Number Placeholder 3"/>
          <p:cNvSpPr>
            <a:spLocks noGrp="1"/>
          </p:cNvSpPr>
          <p:nvPr>
            <p:ph type="sldNum" idx="66"/>
          </p:nvPr>
        </p:nvSpPr>
        <p:spPr/>
      </p:sp>
    </p:spTree>
  </p:cSld>
  <p:clrMapOvr>
    <a:masterClrMapping/>
  </p:clrMapOvr>
</p:notes>
</file>

<file path=ppt/notesSlides/notesSlide8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Lazy Loading der Detailseite“.</a:t>
            </a:r>
          </a:p>
          <a:p/>
          <a:p>
            <a:r>
              <a:t>Das Diagramm zeigt, was beim ersten Öffnen der Detailseite in Übung 35 passiert. Vorher steht die Adresse auf „/customer“, und im „RouterOutlet“, dem Platzhalter für die Seite, steht die Kundenliste. Erstens: Der Benutzer klickt auf den Link eines Listeneintrags, und der Router soll zu „/customer/5“ wechseln. Zweitens: Der Router findet die Route mit dem Platzhalter „:id“.</a:t>
            </a:r>
          </a:p>
          <a:p/>
          <a:p>
            <a:r>
              <a:t>Drittens: Er fragt den „authGuard“, ob die Seite geöffnet werden darf. Viertens: Der Guard antwortet mit „true“. Fünftens: Jetzt ruft der Router die Funktion bei „loadComponent“ auf. Ihr „import“ lädt die eigene Datei mit der Detail-Komponente vom Server. Sechstens: Die Klasse „CustomerDetailsComponent“ ist geladen.</a:t>
            </a:r>
          </a:p>
          <a:p/>
          <a:p>
            <a:r>
              <a:t>Siebtens und achtens: Der Router entfernt die Liste aus dem Outlet und setzt die Detailseite ein. Die Kennung 5 aus der Adresse kommt als Input „id“ an. Neuntens: Beim nächsten Aufruf ist die Datei schon geladen, der fünfte und sechste Schritt entfallen.</a:t>
            </a:r>
          </a:p>
        </p:txBody>
      </p:sp>
      <p:sp>
        <p:nvSpPr>
          <p:cNvPr id="4" name="Slide Number Placeholder 3"/>
          <p:cNvSpPr>
            <a:spLocks noGrp="1"/>
          </p:cNvSpPr>
          <p:nvPr>
            <p:ph type="sldNum" idx="66"/>
          </p:nvPr>
        </p:nvSpPr>
        <p:spPr/>
      </p:sp>
    </p:spTree>
  </p:cSld>
  <p:clrMapOvr>
    <a:masterClrMapping/>
  </p:clrMapOvr>
</p:notes>
</file>

<file path=ppt/notesSlides/notesSlide8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„@defer: Teile einer Seite später laden“.</a:t>
            </a:r>
          </a:p>
          <a:p/>
          <a:p>
            <a:r>
              <a:t>Mit „@defer“ lädt man einen Teil einer Seite später, zum Beispiel ein großes Diagramm weiter unten. Die Komponenten im Block kommen in eine eigene Datei. Das klappt nur, wenn sie Standalone sind und in derselben Datei nicht an anderer Stelle verwendet werden.</a:t>
            </a:r>
          </a:p>
          <a:p/>
          <a:p>
            <a:r>
              <a:t>Ein „Trigger“ legt fest, wann geladen wird. „on idle“ ist der Standard und bedeutet: wenn der Browser nichts anderes zu tun hat. „on viewport“ heißt: wenn der Bereich in den sichtbaren Teil der Seite kommt. „on interaction“ heißt: beim Klick oder bei einer Eingabe. Es gibt auch Trigger für das Darüberfahren mit der Maus, für sofort, für einen Zeitraum und für eine Bedingung mit „when“. Mit „prefetch“ lädt man den Code schon vorher, zeigt ihn aber erst beim eigentlichen Trigger an.</a:t>
            </a:r>
          </a:p>
        </p:txBody>
      </p:sp>
      <p:sp>
        <p:nvSpPr>
          <p:cNvPr id="4" name="Slide Number Placeholder 3"/>
          <p:cNvSpPr>
            <a:spLocks noGrp="1"/>
          </p:cNvSpPr>
          <p:nvPr>
            <p:ph type="sldNum" idx="66"/>
          </p:nvPr>
        </p:nvSpPr>
        <p:spPr/>
      </p:sp>
    </p:spTree>
  </p:cSld>
  <p:clrMapOvr>
    <a:masterClrMapping/>
  </p:clrMapOvr>
</p:notes>
</file>

<file path=ppt/notesSlides/notesSlide8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 mit Triggern“.</a:t>
            </a:r>
          </a:p>
          <a:p/>
          <a:p>
            <a:r>
              <a:t>In diesem Beispiel wird eine ausgedachte Komponente „order-history“ später geladen. Der Code wird schon geladen, wenn der Browser Zeit hat, das ist „prefetch on idle“. Angezeigt wird die Komponente aber erst, wenn der Platzhalter in den sichtbaren Bereich kommt, das ist „on viewport“.</a:t>
            </a:r>
          </a:p>
          <a:p/>
          <a:p>
            <a:r>
              <a:t>„@placeholder“ ist der Inhalt vor dem Laden. Für „on viewport“ und „on interaction“ muss er genau ein Wurzelelement haben, denn Angular beobachtet dieses Element. „minimum“ verhindert ein kurzes Flackern. „@loading“ erscheint während des Ladens, hier erst nach 100 Millisekunden und dann mindestens 500 Millisekunden lang. „@error“ erscheint, wenn das Laden fehlschlägt. Unten stehen zwei weitere Beispiele: Laden beim Klick auf den Platzhalter und Laden, sobald eine Bedingung wahr ist.</a:t>
            </a:r>
          </a:p>
        </p:txBody>
      </p:sp>
      <p:sp>
        <p:nvSpPr>
          <p:cNvPr id="4" name="Slide Number Placeholder 3"/>
          <p:cNvSpPr>
            <a:spLocks noGrp="1"/>
          </p:cNvSpPr>
          <p:nvPr>
            <p:ph type="sldNum" idx="66"/>
          </p:nvPr>
        </p:nvSpPr>
        <p:spPr/>
      </p:sp>
    </p:spTree>
  </p:cSld>
  <p:clrMapOvr>
    <a:masterClrMapping/>
  </p:clrMapOvr>
</p:notes>
</file>

<file path=ppt/notesSlides/notesSlide8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„@defer: der Ablauf“.</a:t>
            </a:r>
          </a:p>
          <a:p/>
          <a:p>
            <a:r>
              <a:t>Diese Folie zeigt die Reihenfolge bei „@defer“. Beim Laden der Seite sieht der Benutzer zuerst den Platzhalter. Kommt der „prefetch“-Trigger, lädt der Browser den Code im Hintergrund, aber die Anzeige ändert sich noch nicht.</a:t>
            </a:r>
          </a:p>
          <a:p/>
          <a:p>
            <a:r>
              <a:t>Kommt dann der eigentliche Trigger, schaltet Angular um. Ist der Code schon da, erscheint der Inhalt sofort. Sonst wird währenddessen der „@loading“-Block gezeigt. Schlägt das Laden fehl, erscheint der „@error“-Block. Ein einmal geladener Block bleibt geladen, auch wenn der Trigger später nicht mehr zutrifft.</a:t>
            </a:r>
          </a:p>
        </p:txBody>
      </p:sp>
      <p:sp>
        <p:nvSpPr>
          <p:cNvPr id="4" name="Slide Number Placeholder 3"/>
          <p:cNvSpPr>
            <a:spLocks noGrp="1"/>
          </p:cNvSpPr>
          <p:nvPr>
            <p:ph type="sldNum" idx="66"/>
          </p:nvPr>
        </p:nvSpPr>
        <p:spPr/>
      </p:sp>
    </p:spTree>
  </p:cSld>
  <p:clrMapOvr>
    <a:masterClrMapping/>
  </p:clrMapOvr>
</p:notes>
</file>

<file path=ppt/notesSlides/notesSlide8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„Sequenz: @defer mit prefetch“.</a:t>
            </a:r>
          </a:p>
          <a:p/>
          <a:p>
            <a:r>
              <a:t>Das Diagramm zeigt das Beispiel von der Codefolie mit der Bestellhistorie. Erstens: Beim Anzeigen der Seite setzt Angular zuerst den Platzhalter ein. Zweitens: Angular beobachtet diesen Platzhalter mit einem „IntersectionObserver“. Das ist eine Funktion des Browsers, die meldet, wenn ein Element in den sichtbaren Bereich kommt.</a:t>
            </a:r>
          </a:p>
          <a:p/>
          <a:p>
            <a:r>
              <a:t>Drittens: Sobald der Browser nichts anderes zu tun hat, meldet er Leerlauf. Das ist der Auslöser „prefetch on idle“. Viertens: Angular lädt jetzt die eigene Datei mit der Komponente vom Server. Fünftens: Der Code ist da, aber die Anzeige ändert sich noch nicht.</a:t>
            </a:r>
          </a:p>
          <a:p/>
          <a:p>
            <a:r>
              <a:t>Sechstens: Der Benutzer scrollt, und der Platzhalter wird sichtbar. Das ist der Auslöser „on viewport“. Siebtens: Angular ersetzt den Platzhalter durch die Komponente. Weil der Code schon geladen ist, braucht es keinen Ladeblock. Achtens: Der Block bleibt danach geladen.</a:t>
            </a:r>
          </a:p>
        </p:txBody>
      </p:sp>
      <p:sp>
        <p:nvSpPr>
          <p:cNvPr id="4" name="Slide Number Placeholder 3"/>
          <p:cNvSpPr>
            <a:spLocks noGrp="1"/>
          </p:cNvSpPr>
          <p:nvPr>
            <p:ph type="sldNum" idx="66"/>
          </p:nvPr>
        </p:nvSpPr>
        <p:spPr/>
      </p:sp>
    </p:spTree>
  </p:cSld>
  <p:clrMapOvr>
    <a:masterClrMapping/>
  </p:clrMapOvr>
</p:notes>
</file>

<file path=ppt/notesSlides/notesSlide8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bedienbar macht. Beim „Prerendering“ wird das HTML schon beim Bauen der Anwendung erzeugt.</a:t>
            </a:r>
          </a:p>
          <a:p/>
          <a:p>
            <a:r>
              <a:t>Für interne Fachanwendungen reicht oft das Rendern im Browser. Für öffentliche Seiten lohnt es sich, Server-Side Rendering zu prüfen, weil es den LCP-Wert verbessert.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8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8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„OnPush“ und „track“ mit Kennung setzt man am besten von Anfang an. Wichtig ist, immer gleich zu messen und die Ergebnisse aufzuschreiben, damit man Veränderungen vergleichen kann.</a:t>
            </a:r>
          </a:p>
        </p:txBody>
      </p:sp>
      <p:sp>
        <p:nvSpPr>
          <p:cNvPr id="4" name="Slide Number Placeholder 3"/>
          <p:cNvSpPr>
            <a:spLocks noGrp="1"/>
          </p:cNvSpPr>
          <p:nvPr>
            <p:ph type="sldNum" idx="66"/>
          </p:nvPr>
        </p:nvSpPr>
        <p:spPr/>
      </p:sp>
    </p:spTree>
  </p:cSld>
  <p:clrMapOvr>
    <a:masterClrMapping/>
  </p:clrMapOvr>
</p:notes>
</file>

<file path=ppt/notesSlides/notesSlide8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 (1/2)“.</a:t>
            </a:r>
          </a:p>
          <a:p/>
          <a:p>
            <a:r>
              <a:t>Erklärung für die Dolmetscherin:</a:t>
            </a:r>
          </a:p>
          <a:p>
            <a:r>
              <a:t>Dies ist der erste Teil der Aufgabenstellung für Übung 35 im Ordner 35_performance. Sie baut auf Übung 34 auf. Zusätzlich wird das Paket „@angular/cdk“ gebraucht.</a:t>
            </a:r>
          </a:p>
          <a:p/>
          <a:p>
            <a:r>
              <a:t>Zuerst erzeugen die Teilnehmer künstlich Last. Sie fügen in den Store einen Generator ein, der 5000 Testkunden anlegt. Die Anzahl kommt aus einem „InjectionToken“, also einem Wert, den man über Dependency Injection einstellen kann. Mit dem Wert 0 ist der Generator aus, das brauchen die Tests. Danach messen sie mit den Chrome DevTools und dem Profiler der Angular DevTools, wie lange eine Eingabe im Filter dauert, und tragen die Werte als Ausgangslage ein.</a:t>
            </a:r>
          </a:p>
        </p:txBody>
      </p:sp>
      <p:sp>
        <p:nvSpPr>
          <p:cNvPr id="4" name="Slide Number Placeholder 3"/>
          <p:cNvSpPr>
            <a:spLocks noGrp="1"/>
          </p:cNvSpPr>
          <p:nvPr>
            <p:ph type="sldNum" idx="66"/>
          </p:nvPr>
        </p:nvSpPr>
        <p:spPr/>
      </p:sp>
    </p:spTree>
  </p:cSld>
  <p:clrMapOvr>
    <a:masterClrMapping/>
  </p:clrMapOvr>
</p:notes>
</file>

<file path=ppt/notesSlides/notesSlide8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 (2/2)“.</a:t>
            </a:r>
          </a:p>
          <a:p/>
          <a:p>
            <a:r>
              <a:t>Erklärung für die Dolmetscherin:</a:t>
            </a:r>
          </a:p>
          <a:p>
            <a:r>
              <a:t>Dies ist der zweite Teil der Aufgabenstellung für Übung 35. Die Teilnehmer verbessern die Anwendung in kleinen Schritten und messen nach jedem Schritt erneut. Die Schritte sind: eine eindeutige Kennung bei „track“, „OnPush“ für die Liste und die Listeneinträge, ein Debounce von 250 Millisekunden für den Filter, Virtual Scrolling und optional eine Lazy Route für die Detailseite.</a:t>
            </a:r>
          </a:p>
          <a:p/>
          <a:p>
            <a:r>
              <a:t>Die Ergebnisse tragen sie in eine Tabelle ein. Zum Schluss besprechen sie, welche Maßnahme am meisten gebracht hat und welche sich nur im Zusammenspiel gelohnt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notesSlides/notesSlide8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kombinieren“ – Bisher hatte jeder Wert genau einen Typ. Jetzt lernen wir, Typen zu verbinden: ein Wert kann mehrere Typen haben, Typen bekommen Namen, und Typen können einen Platzhalter enthalten. Am Ende folgen praktische Hilfstypen.</a:t>
            </a:r>
          </a:p>
        </p:txBody>
      </p:sp>
      <p:sp>
        <p:nvSpPr>
          <p:cNvPr id="4" name="Slide Number Placeholder 3"/>
          <p:cNvSpPr>
            <a:spLocks noGrp="1"/>
          </p:cNvSpPr>
          <p:nvPr>
            <p:ph type="sldNum" idx="66"/>
          </p:nvPr>
        </p:nvSpPr>
        <p:spPr/>
      </p:sp>
    </p:spTree>
  </p:cSld>
  <p:clrMapOvr>
    <a:masterClrMapping/>
  </p:clrMapOvr>
</p:notes>
</file>

<file path=ppt/notesSlides/notesSlide8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„Union Types und Narrowing“.</a:t>
            </a:r>
          </a:p>
          <a:p/>
          <a:p>
            <a:r>
              <a:t>Ein „Union Type“, auf Deutsch „Vereinigungstyp“, sagt: Der Wert ist der eine Typ oder der andere. „string | number“ heißt: Text oder Zahl. Der senkrechte Strich bedeutet „oder“.</a:t>
            </a:r>
          </a:p>
          <a:p/>
          <a:p>
            <a:r>
              <a:t>Aber mit so einem Wert kann man nicht alles tun. Deshalb prüft man den Typ, und der Compiler merkt sich das Ergebnis. Dieses Eingrenzen heißt „Narrowing“, also „Einengen“. In der Funktion „show“ prüft „typeof“, ob der Wert ein Text ist. Im einen Zweig ist er ein Text, im anderen eine Zahl. Auch das Wort „in“ kann man so verwenden, um zu prüfen, ob ein Objekt eine bestimmte Eigenschaft hat.</a:t>
            </a:r>
          </a:p>
          <a:p/>
          <a:p>
            <a:r>
              <a:t>Das untere Beispiel ist besonders wichtig. Ein Zustand ist entweder „loading“, „loaded“ mit Daten oder „error“ mit Meldung. Jede Variante hat das Feld „status“ mit einem festen Text. Das nennt man „diskriminierte Union“, also eine Union mit Unterscheidungsmerkmal. Die „switch“-Anweisung prüft das Feld, und in jedem Fall kennt der Compiler die passenden Eigenschaften. Dieses Muster nutzen wir im Kapitel über Zustand wieder.</a:t>
            </a:r>
          </a:p>
        </p:txBody>
      </p:sp>
      <p:sp>
        <p:nvSpPr>
          <p:cNvPr id="4" name="Slide Number Placeholder 3"/>
          <p:cNvSpPr>
            <a:spLocks noGrp="1"/>
          </p:cNvSpPr>
          <p:nvPr>
            <p:ph type="sldNum" idx="66"/>
          </p:nvPr>
        </p:nvSpPr>
        <p:spPr/>
      </p:sp>
    </p:spTree>
  </p:cSld>
  <p:clrMapOvr>
    <a:masterClrMapping/>
  </p:clrMapOvr>
</p:notes>
</file>

<file path=ppt/notesSlides/notesSlide8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„Literal-Typen und type“.</a:t>
            </a:r>
          </a:p>
          <a:p/>
          <a:p>
            <a:r>
              <a:t>Mit dem Wort „type“ gibt man einem Typ einen Namen. Das nennt man „Alias“, also einen zweiten Namen. Der Typ „CustomerId“ ist zum Beispiel nur ein anderer Name für „string“.</a:t>
            </a:r>
          </a:p>
          <a:p/>
          <a:p>
            <a:r>
              <a:t>Besonders nützlich sind „Literal-Typen“. Ein Literal-Typ erlaubt nicht irgendeinen Text, sondern nur bestimmte feste Werte. „Status“ erlaubt genau zwei Texte: „active“ und „discontinued“. Wer der Funktion „setStatus“ einen anderen Text gibt, bekommt einen Compilerfehler. So sind Tippfehler ausgeschlossen, und der Editor schlägt die erlaubten Werte sogar vor.</a:t>
            </a:r>
          </a:p>
          <a:p/>
          <a:p>
            <a:r>
              <a:t>Es gibt auch „enum“, eine Aufzählung mit Namen. Sie funktioniert, erzeugt aber zusätzlichen Code. Literal-Typen sind meistens einfacher und reichen im Kurs aus.</a:t>
            </a:r>
          </a:p>
        </p:txBody>
      </p:sp>
      <p:sp>
        <p:nvSpPr>
          <p:cNvPr id="4" name="Slide Number Placeholder 3"/>
          <p:cNvSpPr>
            <a:spLocks noGrp="1"/>
          </p:cNvSpPr>
          <p:nvPr>
            <p:ph type="sldNum" idx="66"/>
          </p:nvPr>
        </p:nvSpPr>
        <p:spPr/>
      </p:sp>
    </p:spTree>
  </p:cSld>
  <p:clrMapOvr>
    <a:masterClrMapping/>
  </p:clrMapOvr>
</p:notes>
</file>

<file path=ppt/notesSlides/notesSlide8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„interface oder type?“.</a:t>
            </a:r>
          </a:p>
          <a:p/>
          <a:p>
            <a:r>
              <a:t>Oft fragen Teilnehmende, wann man ein „interface“ und wann ein „type“ nimmt. Die gute Nachricht: Für Objekte sind beide fast gleich. Beide beschreiben, welche Eigenschaften ein Objekt hat, und beide können optionale und nur lesbare Eigenschaften haben. Beide kann man erweitern. Ein „interface“ benutzt dafür das Wort „extends“, ein „type“ benutzt das Zeichen „&amp;“, das eine Schnittmenge bildet.</a:t>
            </a:r>
          </a:p>
          <a:p/>
          <a:p>
            <a:r>
              <a:t>Die Unterschiede: Nur ein „type“ kann eine Union oder einen Literal-Typ beschreiben. Nur ein „interface“ kann an anderer Stelle um weitere Eigenschaften ergänzt werden. Das nennt man „declaration merging“, also „Deklarationen zusammenführen“. Das braucht man im Alltag selten.</a:t>
            </a:r>
          </a:p>
          <a:p/>
          <a:p>
            <a:r>
              <a:t>Die Faustregel für diesen Kurs lautet: Für die Form von Objekten nehmen wir „interface“, für Unions und Aliase nehmen wir „type“. Wichtiger als diese Wahl ist, dass das Projekt einheitlich bleibt.</a:t>
            </a:r>
          </a:p>
        </p:txBody>
      </p:sp>
      <p:sp>
        <p:nvSpPr>
          <p:cNvPr id="4" name="Slide Number Placeholder 3"/>
          <p:cNvSpPr>
            <a:spLocks noGrp="1"/>
          </p:cNvSpPr>
          <p:nvPr>
            <p:ph type="sldNum" idx="66"/>
          </p:nvPr>
        </p:nvSpPr>
        <p:spPr/>
      </p:sp>
    </p:spTree>
  </p:cSld>
  <p:clrMapOvr>
    <a:masterClrMapping/>
  </p:clrMapOvr>
</p:notes>
</file>

<file path=ppt/notesSlides/notesSlide8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„Generics“.</a:t>
            </a:r>
          </a:p>
          <a:p/>
          <a:p>
            <a:r>
              <a:t>„Generics“ sind Typen mit Platzhalter. Die spitzen Klammern enthalten den Typ, der eingesetzt wird. „Array&lt;string&gt;“ ist eine Liste von Texten, „Promise&lt;Customer[]&gt;“ ist ein Versprechen, das später eine Liste von Kunden liefert. Ein „Promise“ steht für ein Ergebnis, das erst später ankommt, zum Beispiel eine Antwort vom Server.</a:t>
            </a:r>
          </a:p>
          <a:p/>
          <a:p>
            <a:r>
              <a:t>Die Funktion „first“ zeigt, wie man einen eigenen Platzhalter schreibt. Das „T“ steht für einen beliebigen Typ. Die Funktion nimmt eine Liste von „T“ und gibt ein „T“ zurück, oder nichts, wenn die Liste leer ist. Der Compiler erkennt „T“ beim Aufruf selbst. Mit der Kundenliste ist das Ergebnis ein Kunde oder nichts, mit der Textliste ein Text oder nichts. Die Funktion muss also nur einmal geschrieben werden.</a:t>
            </a:r>
          </a:p>
          <a:p/>
          <a:p>
            <a:r>
              <a:t>Die Brücke zum Kurs: Dieselbe Schreibweise sehen wir bei „signal“, bei „input“ und bei „Observable“. Dort sagt der Typ in den spitzen Klammern, welche Art von Wert darin steckt.</a:t>
            </a:r>
          </a:p>
        </p:txBody>
      </p:sp>
      <p:sp>
        <p:nvSpPr>
          <p:cNvPr id="4" name="Slide Number Placeholder 3"/>
          <p:cNvSpPr>
            <a:spLocks noGrp="1"/>
          </p:cNvSpPr>
          <p:nvPr>
            <p:ph type="sldNum" idx="66"/>
          </p:nvPr>
        </p:nvSpPr>
        <p:spPr/>
      </p:sp>
    </p:spTree>
  </p:cSld>
  <p:clrMapOvr>
    <a:masterClrMapping/>
  </p:clrMapOvr>
</p:notes>
</file>

<file path=ppt/notesSlides/notesSlide8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„Hilfstypen: Partial, Pick, Omit“.</a:t>
            </a:r>
          </a:p>
          <a:p/>
          <a:p>
            <a:r>
              <a:t>Hilfstypen sind fertige Bausteine, die aus einem vorhandenen Typ einen neuen Typ machen. So muss man nichts doppelt schreiben.</a:t>
            </a:r>
          </a:p>
          <a:p/>
          <a:p>
            <a:r>
              <a:t>„Partial“ bedeutet „teilweise“. Aus „Customer“ wird ein Typ, bei dem alle Eigenschaften optional sind. Das passt gut für Änderungen: Die Funktion „update“ bekommt einen Kunden und nur die Felder, die sich ändern sollen, und baut mit Spread einen neuen Kunden. „Pick“ bedeutet „auswählen“ und behält nur die genannten Eigenschaften. „Omit“ bedeutet „weglassen“ und entfernt die genannten Eigenschaften. Ein neuer Kunde hat zum Beispiel noch keine „id“, denn die vergibt später das System.</a:t>
            </a:r>
          </a:p>
          <a:p/>
          <a:p>
            <a:r>
              <a:t>Solche Typen entstehen automatisch aus „Customer“. Ändert sich das Interface, passen sich diese Typen mit an.</a:t>
            </a:r>
          </a:p>
        </p:txBody>
      </p:sp>
      <p:sp>
        <p:nvSpPr>
          <p:cNvPr id="4" name="Slide Number Placeholder 3"/>
          <p:cNvSpPr>
            <a:spLocks noGrp="1"/>
          </p:cNvSpPr>
          <p:nvPr>
            <p:ph type="sldNum" idx="66"/>
          </p:nvPr>
        </p:nvSpPr>
        <p:spPr/>
      </p:sp>
    </p:spTree>
  </p:cSld>
  <p:clrMapOvr>
    <a:masterClrMapping/>
  </p:clrMapOvr>
</p:notes>
</file>

<file path=ppt/notesSlides/notesSlide8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„Architektur der Invoice-App im Überblick“.</a:t>
            </a:r>
          </a:p>
          <a:p/>
          <a:p>
            <a:r>
              <a:t>Das Diagramm zeigt vorab, wie die Anwendung aufgebaut ist, die wir im Kurs Schritt für Schritt bauen. Sie heißt „Invoice-App“, also Rechnungs-Anwendung. Links stehen die Komponenten. Eine Komponente ist ein Baustein der Oberfläche, zum Beispiel die Kundenliste. Die „AppComponent“ ist die äußerste Komponente, darin liegen die Kundenliste und die Detailansicht eines Kunden.</a:t>
            </a:r>
          </a:p>
          <a:p/>
          <a:p>
            <a:r>
              <a:t>In der Mitte stehen die Services. Ein Service ist eine Klasse ohne eigene Oberfläche, die Daten und Logik bereitstellt. Die „AppComponent“ holt sich den „CustomerService“ mit „inject()“, also lässt ihn sich von Angular geben. Der „CustomerService“ nutzt später den „HttpClient“, den Angular mitbringt. Nur der „HttpClient“ spricht über das Netz mit dem Server rechts. Der „Router“ wechselt später die angezeigte Seite.</a:t>
            </a:r>
          </a:p>
          <a:p/>
          <a:p>
            <a:r>
              <a:t>Alle diese Namen lernen wir in den nächsten Kapiteln genauer kennen.</a:t>
            </a:r>
          </a:p>
        </p:txBody>
      </p:sp>
      <p:sp>
        <p:nvSpPr>
          <p:cNvPr id="4" name="Slide Number Placeholder 3"/>
          <p:cNvSpPr>
            <a:spLocks noGrp="1"/>
          </p:cNvSpPr>
          <p:nvPr>
            <p:ph type="sldNum" idx="66"/>
          </p:nvPr>
        </p:nvSpPr>
        <p:spPr/>
      </p:sp>
    </p:spTree>
  </p:cSld>
  <p:clrMapOvr>
    <a:masterClrMapping/>
  </p:clrMapOvr>
</p:notes>
</file>

<file path=ppt/notesSlides/notesSlide8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„Wie die Dateien zusammenhängen“.</a:t>
            </a:r>
          </a:p>
          <a:p/>
          <a:p>
            <a:r>
              <a:t>Das Diagramm zeigt den Ordner „src“ eines neuen Projekts und die Verweise zwischen den Dateien. Die Pfeile zeigen, welche Datei welche andere benutzt. Die Datei „main.ts“ ist der Startpunkt. Sie ruft „bootstrapApplication“ mit der Klasse „AppComponent“ auf. Diese Klasse steht in „app.component.ts“.</a:t>
            </a:r>
          </a:p>
          <a:p/>
          <a:p>
            <a:r>
              <a:t>In der Klasse steht im „selector“ der Name „app-root“. Angular sucht genau dieses Element in der Seite „index.html“ und setzt dort die Komponente ein. Das zeigt der orange Pfeil von der Klasse zur Seite. Über „templateUrl“ verweist die Klasse auf ihr HTML-Template in „app.component.html“. Die CSS-Datei enthält das Aussehen nur für diese Komponente.</a:t>
            </a:r>
          </a:p>
        </p:txBody>
      </p:sp>
      <p:sp>
        <p:nvSpPr>
          <p:cNvPr id="4" name="Slide Number Placeholder 3"/>
          <p:cNvSpPr>
            <a:spLocks noGrp="1"/>
          </p:cNvSpPr>
          <p:nvPr>
            <p:ph type="sldNum" idx="66"/>
          </p:nvPr>
        </p:nvSpPr>
        <p:spPr/>
      </p:sp>
    </p:spTree>
  </p:cSld>
  <p:clrMapOvr>
    <a:masterClrMapping/>
  </p:clrMapOvr>
</p:notes>
</file>

<file path=ppt/notesSlides/notesSlide8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„Ablauf beim Start der Anwendung“.</a:t>
            </a:r>
          </a:p>
          <a:p/>
          <a:p>
            <a:r>
              <a:t>Das ist ein Sequenzdiagramm. Oben stehen die Beteiligten. Die Pfeile darunter sind Aufrufe in zeitlicher Reihenfolge von oben nach unten. Zuerst lädt der Browser die Seite „index.html“. Darin steht noch nichts außer dem leeren Element „&lt;app-root&gt;“. Dann führt der Browser das Skript aus, das aus „main.ts“ gebaut wurde.</a:t>
            </a:r>
          </a:p>
          <a:p/>
          <a:p>
            <a:r>
              <a:t>„main.ts“ ruft „bootstrapApplication“ mit der „AppComponent“ als erstem Parameter auf. Angular registriert zuerst die „providers“, also die Dienste aus dem zweiten Parameter. Dann sucht Angular in der Seite das Element, das zum „selector“ „app-root“ passt. Angular erzeugt ein Objekt der Klasse „AppComponent“ und zeigt das Template der Komponente in diesem Element an.</a:t>
            </a:r>
          </a:p>
          <a:p/>
          <a:p>
            <a:r>
              <a:t>Zum Schluss ist das Versprechen, englisch „Promise“, erfüllt. Die gestrichelte Linie ist eine Antwort und kein neuer Aufruf. Wenn beim Start ein Fehler passiert, landet er im „catch“ in „main.ts“.</a:t>
            </a:r>
          </a:p>
        </p:txBody>
      </p:sp>
      <p:sp>
        <p:nvSpPr>
          <p:cNvPr id="4" name="Slide Number Placeholder 3"/>
          <p:cNvSpPr>
            <a:spLocks noGrp="1"/>
          </p:cNvSpPr>
          <p:nvPr>
            <p:ph type="sldNum" idx="66"/>
          </p:nvPr>
        </p:nvSpPr>
        <p:spPr/>
      </p:sp>
    </p:spTree>
  </p:cSld>
  <p:clrMapOvr>
    <a:masterClrMapping/>
  </p:clrMapOvr>
</p:notes>
</file>

<file path=ppt/notesSlides/notesSlide8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„Data Binding: Klasse und Template“.</a:t>
            </a:r>
          </a:p>
          <a:p/>
          <a:p>
            <a:r>
              <a:t>Eine Komponente besteht aus der Klasse links und dem Template rechts. „Data Binding“ heißt Datenbindung: Angular hält beide Seiten automatisch auf demselben Stand. Der grüne Pfeil oben zeigt die Richtung von der Klasse in das Template. Mit doppelten geschweiften Klammern wird ein Wert als Text angezeigt, hier der Vorname des Kunden. Mit eckigen Klammern wird eine Eigenschaft eines HTML-Elements gesetzt, hier die Bildadresse „src“.</a:t>
            </a:r>
          </a:p>
          <a:p/>
          <a:p>
            <a:r>
              <a:t>Der orange Pfeil zeigt die Gegenrichtung: Ein Klick im Template ruft mit runden Klammern eine Methode der Klasse auf. Der gestrichelte Pfeil steht für „ngModel“ mit eckigen und runden Klammern zusammen. Das wirkt in beide Richtungen: Der Wert aus der Klasse steht im Eingabefeld, und eine Eingabe ändert sofort das Feld in der Klasse. Dafür muss die Komponente das „FormsModule“ importieren.</a:t>
            </a:r>
          </a:p>
          <a:p/>
          <a:p>
            <a:r>
              <a:t>Die Methode „save“ ist ein Beispiel und nicht Teil der Übung.</a:t>
            </a:r>
          </a:p>
        </p:txBody>
      </p:sp>
      <p:sp>
        <p:nvSpPr>
          <p:cNvPr id="4" name="Slide Number Placeholder 3"/>
          <p:cNvSpPr>
            <a:spLocks noGrp="1"/>
          </p:cNvSpPr>
          <p:nvPr>
            <p:ph type="sldNum" idx="66"/>
          </p:nvPr>
        </p:nvSpPr>
        <p:spPr/>
      </p:sp>
    </p:spTree>
  </p:cSld>
  <p:clrMapOvr>
    <a:masterClrMapping/>
  </p:clrMapOvr>
</p:notes>
</file>

<file path=ppt/notesSlides/notesSlide8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„Komponentenbaum der Invoice-App“.</a:t>
            </a:r>
          </a:p>
          <a:p/>
          <a:p>
            <a:r>
              <a:t>Das Diagramm zeigt, wie die Komponenten ineinander stecken. Ein Kasten in einem anderen Kasten bedeutet: Er steht im Template des äußeren Kastens. Ganz außen ist die Seite „index.html“. Darin steht das Element „&lt;app-root&gt;“, und dort zeigt Angular die „AppComponent“ an.</a:t>
            </a:r>
          </a:p>
          <a:p/>
          <a:p>
            <a:r>
              <a:t>Im Template der „AppComponent“ stehen eine Überschrift und zwei Kind-Komponenten: die Kundenliste mit dem Element „&lt;customer-list&gt;“ und die Kundendetails mit dem Element „&lt;customer-details&gt;“. Die Liste erzeugt mit „@for“ für jeden Kunden einen Listeneintrag. Wichtig: Die Kästen sind voneinander getrennt. Die Liste kann nicht einfach auf die Daten der „AppComponent“ zugreifen. Wie die Daten trotzdem hineinkommen, zeigen die nächsten Folien zu Inputs und Outputs.</a:t>
            </a:r>
          </a:p>
        </p:txBody>
      </p:sp>
      <p:sp>
        <p:nvSpPr>
          <p:cNvPr id="4" name="Slide Number Placeholder 3"/>
          <p:cNvSpPr>
            <a:spLocks noGrp="1"/>
          </p:cNvSpPr>
          <p:nvPr>
            <p:ph type="sldNum" idx="66"/>
          </p:nvPr>
        </p:nvSpPr>
        <p:spPr/>
      </p:sp>
    </p:spTree>
  </p:cSld>
  <p:clrMapOvr>
    <a:masterClrMapping/>
  </p:clrMapOvr>
</p:notes>
</file>

<file path=ppt/notesSlides/notesSlide8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„Input: Daten von Eltern zu Kind“.</a:t>
            </a:r>
          </a:p>
          <a:p/>
          <a:p>
            <a:r>
              <a:t>Die „AppComponent“ ist die Eltern-Komponente. Sie hat das Feld „customerMockList“ mit allen Kunden. Die Kundenliste ist die Kind-Komponente. Sie hat ein „input“, also einen Eingang, mit dem Namen „customers“.</a:t>
            </a:r>
          </a:p>
          <a:p/>
          <a:p>
            <a:r>
              <a:t>Im Template der Eltern-Komponente steht beim Element „&lt;customer-list&gt;“ der Name „customers“ in eckigen Klammern. Das ist ein „Property Binding“: Angular schreibt den Wert von „customerMockList“ in den Eingang der Kind-Komponente. Das zeigt der waagerechte Pfeil. Die Kind-Komponente liest den Eingang wie eine Funktion, also mit runden Klammern, und zeigt die Liste mit „@for“ an.</a:t>
            </a:r>
          </a:p>
          <a:p/>
          <a:p>
            <a:r>
              <a:t>Die Daten fließen nur in diese eine Richtung, von oben nach unten. Ändert sich das Feld in der Eltern-Komponente, bekommt die Kind-Komponente automatisch den neuen Wert.</a:t>
            </a:r>
          </a:p>
        </p:txBody>
      </p:sp>
      <p:sp>
        <p:nvSpPr>
          <p:cNvPr id="4" name="Slide Number Placeholder 3"/>
          <p:cNvSpPr>
            <a:spLocks noGrp="1"/>
          </p:cNvSpPr>
          <p:nvPr>
            <p:ph type="sldNum" idx="66"/>
          </p:nvPr>
        </p:nvSpPr>
        <p:spPr/>
      </p:sp>
    </p:spTree>
  </p:cSld>
  <p:clrMapOvr>
    <a:masterClrMapping/>
  </p:clrMapOvr>
</p:notes>
</file>

<file path=ppt/notesSlides/notesSlide8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„Ablauf: Klick in der Liste bis zur Detailansicht“.</a:t>
            </a:r>
          </a:p>
          <a:p/>
          <a:p>
            <a:r>
              <a:t>Das Sequenzdiagramm zeigt, was nach einem Klick auf einen Kunden in der Liste passiert. Die Zeit läuft von oben nach unten. Erstens: Der Browser meldet den Klick auf ein Listenelement. Das Event Binding „(click)“ ruft die Methode „listItemClicked“ in der Kundenliste auf. Zweitens merkt sich die Liste den Kunden in ihrem eigenen Signal, damit sie ihn hervorheben kann.</a:t>
            </a:r>
          </a:p>
          <a:p/>
          <a:p>
            <a:r>
              <a:t>Drittens löst die Liste mit „emit“ ihr Output „customerSelected“ aus. Ein Output ist ein Ausgang für Ereignisse an die Eltern-Komponente. Die „AppComponent“ hat sich im Template mit runden Klammern dafür angemeldet. Deshalb ruft Angular ihre Methode „newCustomerSelected“ auf. Viertens speichert die „AppComponent“ den Kunden in ihrem Signal „selectedCustomer“.</a:t>
            </a:r>
          </a:p>
          <a:p/>
          <a:p>
            <a:r>
              <a:t>Fünftens: Das Template der „AppComponent“ gibt das Signal über den Input „[customer]“ an die Detailansicht weiter. Sechstens zeigt die Detailansicht den neuen Kunden an. Die Liste und die Detailansicht kennen sich dabei nicht. Die Verbindung läuft immer über die Eltern-Komponente.</a:t>
            </a:r>
          </a:p>
        </p:txBody>
      </p:sp>
      <p:sp>
        <p:nvSpPr>
          <p:cNvPr id="4" name="Slide Number Placeholder 3"/>
          <p:cNvSpPr>
            <a:spLocks noGrp="1"/>
          </p:cNvSpPr>
          <p:nvPr>
            <p:ph type="sldNum" idx="66"/>
          </p:nvPr>
        </p:nvSpPr>
        <p:spPr/>
      </p:sp>
    </p:spTree>
  </p:cSld>
  <p:clrMapOvr>
    <a:masterClrMapping/>
  </p:clrMapOvr>
</p:notes>
</file>

<file path=ppt/notesSlides/notesSlide8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„Theorie: Datenfluss im Container-Muster“.</a:t>
            </a:r>
          </a:p>
          <a:p/>
          <a:p>
            <a:r>
              <a:t>Das Diagramm zeigt das Muster aus dem Theorieteil an einem Beispiel. Der große Kasten ist die Container-Komponente „CustomerPageComponent“. Nur sie holt sich den „CustomerService“ mit „inject“. Darin stehen zwei Darstellungskomponenten, der Filter und die Liste.</a:t>
            </a:r>
          </a:p>
          <a:p/>
          <a:p>
            <a:r>
              <a:t>Wenn jemand im Filter tippt, meldet der Filter den neuen Text über sein Output „changed“ nach oben. Das zeigt der orange Pfeil von der Klasse zur Seite. Der Container speichert den Text im Signal „filterText“. Ein „computed“, also ein berechneter Wert, bildet daraus die gefilterte Kundenliste. Diese gibt der Container über den Input „customers“ an die Liste weiter. Den aktuellen Text gibt der Container außerdem über den Input „value“ an den Filter zurück; dieser Pfeil ist der Übersicht halber nicht gezeichnet.</a:t>
            </a:r>
          </a:p>
          <a:p/>
          <a:p>
            <a:r>
              <a:t>Filter und Liste wissen nichts voneinander und nichts vom Service. Darum kann man sie leicht wiederverwenden und testen.</a:t>
            </a:r>
          </a:p>
        </p:txBody>
      </p:sp>
      <p:sp>
        <p:nvSpPr>
          <p:cNvPr id="4" name="Slide Number Placeholder 3"/>
          <p:cNvSpPr>
            <a:spLocks noGrp="1"/>
          </p:cNvSpPr>
          <p:nvPr>
            <p:ph type="sldNum" idx="66"/>
          </p:nvPr>
        </p:nvSpPr>
        <p:spPr/>
      </p:sp>
    </p:spTree>
  </p:cSld>
  <p:clrMapOvr>
    <a:masterClrMapping/>
  </p:clrMapOvr>
</p:notes>
</file>

<file path=ppt/notesSlides/notesSlide8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„Service als stabile Schnittstelle“.</a:t>
            </a:r>
          </a:p>
          <a:p/>
          <a:p>
            <a:r>
              <a:t>Links stehen die Komponenten, in der Mitte der „CustomerService“, rechts die Datenquellen. Die „AppComponent“ ruft nur die Methode „getAll“ des Services auf. Sie weiß nicht, woher die Kunden kommen.</a:t>
            </a:r>
          </a:p>
          <a:p/>
          <a:p>
            <a:r>
              <a:t>Heute liest der Service die Testdaten aus der Datei „customer.mock.ts“. Später holt er die Daten mit dem „HttpClient“ vom Server, das zeigt der gestrichelte Pfeil. Für die Komponenten ändert sich dabei nichts, weil die Schnittstelle, also die Methode „getAll“, gleich bleibt. Das meint „API-Stabilität“. Mehrere Komponenten können denselben Service nutzen und bekommen so dieselben Daten.</a:t>
            </a:r>
          </a:p>
        </p:txBody>
      </p:sp>
      <p:sp>
        <p:nvSpPr>
          <p:cNvPr id="4" name="Slide Number Placeholder 3"/>
          <p:cNvSpPr>
            <a:spLocks noGrp="1"/>
          </p:cNvSpPr>
          <p:nvPr>
            <p:ph type="sldNum" idx="66"/>
          </p:nvPr>
        </p:nvSpPr>
        <p:spPr/>
      </p:sp>
    </p:spTree>
  </p:cSld>
  <p:clrMapOvr>
    <a:masterClrMapping/>
  </p:clrMapOvr>
</p:notes>
</file>

<file path=ppt/notesSlides/notesSlide8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„Ablauf: inject(CustomerService)“.</a:t>
            </a:r>
          </a:p>
          <a:p/>
          <a:p>
            <a:r>
              <a:t>Das Sequenzdiagramm zeigt, was bei „inject“ im Hintergrund passiert. Ein Injector ist der Teil von Angular, der Objekte erzeugt und verteilt. Erstens erzeugt Angular die „AppComponent“. Zweitens wird dabei das Feld mit „inject(CustomerService)“ belegt. Die Anfrage geht zuerst an den Injector der Komponente selbst, den „Element-Injector“.</a:t>
            </a:r>
          </a:p>
          <a:p/>
          <a:p>
            <a:r>
              <a:t>Die Komponente hat aber keine eigenen „providers“. Darum fragt der Injector beim nächsten Injector weiter oben, bis er beim „Root-Injector“ ankommt. Dort ist der Service durch „providedIn: 'root'“ bekannt. Beim ersten Mal erzeugt der Root-Injector das Objekt und merkt es sich. Jede weitere Komponente, die denselben Service anfordert, bekommt genau dieses eine Objekt. Das nennt man „Singleton“.</a:t>
            </a:r>
          </a:p>
          <a:p/>
          <a:p>
            <a:r>
              <a:t>Zum Schluss ruft die Komponente „getAll“ auf und bekommt die Liste der Kunden zurück.</a:t>
            </a:r>
          </a:p>
        </p:txBody>
      </p:sp>
      <p:sp>
        <p:nvSpPr>
          <p:cNvPr id="4" name="Slide Number Placeholder 3"/>
          <p:cNvSpPr>
            <a:spLocks noGrp="1"/>
          </p:cNvSpPr>
          <p:nvPr>
            <p:ph type="sldNum" idx="66"/>
          </p:nvPr>
        </p:nvSpPr>
        <p:spPr/>
      </p:sp>
    </p:spTree>
  </p:cSld>
  <p:clrMapOvr>
    <a:masterClrMapping/>
  </p:clrMapOvr>
</p:notes>
</file>

<file path=ppt/notesSlides/notesSlide8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„Injector-Hierarchie der Invoice-App“.</a:t>
            </a:r>
          </a:p>
          <a:p/>
          <a:p>
            <a:r>
              <a:t>Die Injectoren bilden einen Baum, so wie die Komponenten. Ganz außen ist der „Root-Injector“, also der Wurzel-Injector. Er kennt alle Services mit „providedIn: 'root'“ und alle „providers“ aus „main.ts“. Davon gibt es in der ganzen Anwendung jeweils nur ein Objekt.</a:t>
            </a:r>
          </a:p>
          <a:p/>
          <a:p>
            <a:r>
              <a:t>Jede Komponente hat einen eigenen Injector. Die „AppComponent“ und die Kundenliste haben keine eigenen „providers“. Wenn die Liste den „CustomerService“ anfordert, sucht Angular von innen nach außen und bekommt das Objekt aus dem Root-Injector.</a:t>
            </a:r>
          </a:p>
          <a:p/>
          <a:p>
            <a:r>
              <a:t>Die Detailansicht trägt in ihrer Annotation „providers“ mit einem Logger ein. Dann bekommt diese Komponente ein eigenes Logger-Objekt. Es gilt für sie und alle ihre Kinder. So kann man zum Beispiel einen Bereich mit einer anderen Konfiguration versorgen. Der Logger ist hier ein Beispiel und nicht Teil der Übung.</a:t>
            </a:r>
          </a:p>
        </p:txBody>
      </p:sp>
      <p:sp>
        <p:nvSpPr>
          <p:cNvPr id="4" name="Slide Number Placeholder 3"/>
          <p:cNvSpPr>
            <a:spLocks noGrp="1"/>
          </p:cNvSpPr>
          <p:nvPr>
            <p:ph type="sldNum" idx="66"/>
          </p:nvPr>
        </p:nvSpPr>
        <p:spPr/>
      </p:sp>
    </p:spTree>
  </p:cSld>
  <p:clrMapOvr>
    <a:masterClrMapping/>
  </p:clrMapOvr>
</p:notes>
</file>

<file path=ppt/notesSlides/notesSlide8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„Ablauf: Lebenszyklus einer Kind-Komponente“.</a:t>
            </a:r>
          </a:p>
          <a:p/>
          <a:p>
            <a:r>
              <a:t>Das Sequenzdiagramm zeigt die Reihenfolge der Lebenszyklus-Methoden am Beispiel der Detailansicht. Erstens ruft Angular den Konstruktor auf. Dabei werden die Felder angelegt und Services mit „inject“ geholt. Die Inputs sind zu diesem Zeitpunkt noch nicht gesetzt.</a:t>
            </a:r>
          </a:p>
          <a:p/>
          <a:p>
            <a:r>
              <a:t>Danach liefert die Eltern-Komponente den Wert für „[customer]“. Angular setzt den Input und ruft „ngOnChanges“ auf. Erst danach kommt „ngOnInit“, genau einmal. Hier sind die Inputs sicher vorhanden, deshalb gehört die Initialisierung hierher. Dann folgen die Methoden für den Inhalt, Angular zeigt das Template an, und „ngAfterViewInit“ meldet: Die Ansicht ist fertig.</a:t>
            </a:r>
          </a:p>
          <a:p/>
          <a:p>
            <a:r>
              <a:t>Ändert die Eltern-Komponente später den Wert, ruft Angular wieder „ngOnChanges“ auf und aktualisiert die Ansicht, aber nicht noch einmal „ngOnInit“. Wird die Komponente entfernt, zum Beispiel weil ein „@if“ falsch wird, ruft Angular zum Schluss „ngOnDestroy“ auf. Dort räumt man auf.</a:t>
            </a:r>
          </a:p>
        </p:txBody>
      </p:sp>
      <p:sp>
        <p:nvSpPr>
          <p:cNvPr id="4" name="Slide Number Placeholder 3"/>
          <p:cNvSpPr>
            <a:spLocks noGrp="1"/>
          </p:cNvSpPr>
          <p:nvPr>
            <p:ph type="sldNum" idx="66"/>
          </p:nvPr>
        </p:nvSpPr>
        <p:spPr/>
      </p:sp>
    </p:spTree>
  </p:cSld>
  <p:clrMapOvr>
    <a:masterClrMapping/>
  </p:clrMapOvr>
</p:notes>
</file>

<file path=ppt/notesSlides/notesSlide8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„Ablauf: Pipes im Template“.</a:t>
            </a:r>
          </a:p>
          <a:p/>
          <a:p>
            <a:r>
              <a:t>Das Sequenzdiagramm zeigt, was mit einer Pipe im Template der Detailansicht passiert. Im Template steht das Datum der letzten Bestellung, gefolgt von einem senkrechten Strich und dem Namen der Pipe. Angular erkennt das und ruft die Methode „transform“ der „DatePipe“ auf. Der Wert vor dem Strich ist der erste Parameter, das Format nach dem Doppelpunkt der zweite. Die Pipe gibt einen fertigen Text zurück, und Angular zeigt ihn an. Das ursprüngliche Datum bleibt unverändert.</a:t>
            </a:r>
          </a:p>
          <a:p/>
          <a:p>
            <a:r>
              <a:t>Mit der eigenen Pipe „currentActiveCustomers“ läuft es genauso. Sie bekommt das Datum und die Zahl 5 und gibt „true“ oder „false“ zurück. Damit setzt das Class Binding die CSS-Klasse „active“ oder entfernt sie.</a:t>
            </a:r>
          </a:p>
          <a:p/>
          <a:p>
            <a:r>
              <a:t>Pipes sind normalerweise „pure“, also rein: Angular ruft „transform“ nur dann erneut auf, wenn sich der Eingabewert ändert. Das ist schneller als ein Methodenaufruf im Template.</a:t>
            </a:r>
          </a:p>
        </p:txBody>
      </p:sp>
      <p:sp>
        <p:nvSpPr>
          <p:cNvPr id="4" name="Slide Number Placeholder 3"/>
          <p:cNvSpPr>
            <a:spLocks noGrp="1"/>
          </p:cNvSpPr>
          <p:nvPr>
            <p:ph type="sldNum" idx="66"/>
          </p:nvPr>
        </p:nvSpPr>
        <p:spPr/>
      </p:sp>
    </p:spTree>
  </p:cSld>
  <p:clrMapOvr>
    <a:masterClrMapping/>
  </p:clrMapOvr>
</p:notes>
</file>

<file path=ppt/notesSlides/notesSlide8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Promise und Observable im Vergleich“.</a:t>
            </a:r>
          </a:p>
          <a:p/>
          <a:p>
            <a:r>
              <a:t>Das Diagramm stellt die drei Techniken nebeneinander, die wir für spätere Ergebnisse kennengelernt haben. Links steht der „Callback“: Man übergibt eine Funktion als zusätzlichen Parameter, die später aufgerufen wird. Für Fehler gibt es keine feste Regel, und mehrere Schritte nacheinander führen zu tief verschachteltem Code.</a:t>
            </a:r>
          </a:p>
          <a:p/>
          <a:p>
            <a:r>
              <a:t>In der Mitte steht das „Promise“, ein Versprechen auf ein Ergebnis. Es liefert genau einen Wert oder einen Fehler, man hängt die Weiterverarbeitung mit „then“ und „catch“ an. Ein Promise startet sofort beim Aufruf und lässt sich nicht abbrechen.</a:t>
            </a:r>
          </a:p>
          <a:p/>
          <a:p>
            <a:r>
              <a:t>Rechts steht das „Observable“ aus der Bibliothek „RxJS“. Es kann beliebig viele Werte nacheinander liefern und meldet am Ende „complete“ für fertig oder „error“ für Fehler. Es startet erst, wenn sich jemand mit „subscribe“ anmeldet, und mit „unsubscribe“ kann man es jederzeit beenden. Deshalb verwendet Angular Observables zum Beispiel für HTTP-Anfragen und Router-Ereignisse.</a:t>
            </a:r>
          </a:p>
        </p:txBody>
      </p:sp>
      <p:sp>
        <p:nvSpPr>
          <p:cNvPr id="4" name="Slide Number Placeholder 3"/>
          <p:cNvSpPr>
            <a:spLocks noGrp="1"/>
          </p:cNvSpPr>
          <p:nvPr>
            <p:ph type="sldNum" idx="66"/>
          </p:nvPr>
        </p:nvSpPr>
        <p:spPr/>
      </p:sp>
    </p:spTree>
  </p:cSld>
  <p:clrMapOvr>
    <a:masterClrMapping/>
  </p:clrMapOvr>
</p:notes>
</file>

<file path=ppt/notesSlides/notesSlide8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subscribe, next, complete“.</a:t>
            </a:r>
          </a:p>
          <a:p/>
          <a:p>
            <a:r>
              <a:t>Das Sequenzdiagramm zeigt drei Beteiligte: links die Komponente „CustomerListComponent“, in der Mitte ein Observable mit dem Operator „map“, rechts die eigentliche Datenquelle, zum Beispiel eine HTTP-Anfrage. Die Pfeile sind von oben nach unten nummeriert. Gestrichelte Pfeile sind Antworten.</a:t>
            </a:r>
          </a:p>
          <a:p/>
          <a:p>
            <a:r>
              <a:t>In Schritt 1 meldet sich die Komponente mit „subscribe“ an und übergibt drei Funktionen: „next“ für jeden Wert, „error“ für einen Fehler und „complete“ für das Ende. Erst in Schritt 2 startet die Quelle. Vorher passiert nichts, deshalb nennt man Observables „lazy“, also faul.</a:t>
            </a:r>
          </a:p>
          <a:p/>
          <a:p>
            <a:r>
              <a:t>Dann liefert die Quelle den Wert „a“. Der Operator „map“ wandelt ihn in die Zahl 1 um, und die Komponente bekommt ihn über „next“. Mit dem Wert „b“ passiert dasselbe. Zum Schluss meldet die Quelle, dass sie fertig ist. Die Komponente bekommt „complete“, und alle Handler werden automatisch entfernt. Bei einem Fehler käme statt „complete“ der Aufruf „error“.</a:t>
            </a:r>
          </a:p>
        </p:txBody>
      </p:sp>
      <p:sp>
        <p:nvSpPr>
          <p:cNvPr id="4" name="Slide Number Placeholder 3"/>
          <p:cNvSpPr>
            <a:spLocks noGrp="1"/>
          </p:cNvSpPr>
          <p:nvPr>
            <p:ph type="sldNum" idx="66"/>
          </p:nvPr>
        </p:nvSpPr>
        <p:spPr/>
      </p:sp>
    </p:spTree>
  </p:cSld>
  <p:clrMapOvr>
    <a:masterClrMapping/>
  </p:clrMapOvr>
</p:notes>
</file>

<file path=ppt/notesSlides/notesSlide8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abmelden mit toSignal()“.</a:t>
            </a:r>
          </a:p>
          <a:p/>
          <a:p>
            <a:r>
              <a:t>Das Diagramm zeigt die ganze Lebenszeit eines Abonnements. Beteiligt sind Angular selbst, die Komponente „CustomerListComponent“, die Funktion „toSignal“ und das Observable aus „getAll()“ des „CustomerService“.</a:t>
            </a:r>
          </a:p>
          <a:p/>
          <a:p>
            <a:r>
              <a:t>Angular erzeugt die Komponente, zum Beispiel weil der Router sie anzeigt. Dabei ruft die Komponente „toSignal“ auf und übergibt das Observable. „toSignal“ meldet sich mit „subscribe“ an. Jeder neue Wert kommt mit „next“ an und wird in das Signal „customers“ geschrieben. Das Template liest dieses Signal und zeigt die Liste an.</a:t>
            </a:r>
          </a:p>
          <a:p/>
          <a:p>
            <a:r>
              <a:t>Wechselt der Benutzer zu einer anderen Seite, zerstört Angular die Komponente. Das „DestroyRef“ ist ein kleines Objekt, das das Ende der Komponente meldet. „toSignal“ hat sich dort beim Start eingetragen und ruft jetzt selbst „unsubscribe“ auf. Man braucht also kein „ngOnDestroy“. „takeUntilDestroyed“ arbeitet nach demselben Prinzip, wenn man doch selbst „subscribe“ aufruft.</a:t>
            </a:r>
          </a:p>
        </p:txBody>
      </p:sp>
      <p:sp>
        <p:nvSpPr>
          <p:cNvPr id="4" name="Slide Number Placeholder 3"/>
          <p:cNvSpPr>
            <a:spLocks noGrp="1"/>
          </p:cNvSpPr>
          <p:nvPr>
            <p:ph type="sldNum" idx="66"/>
          </p:nvPr>
        </p:nvSpPr>
        <p:spPr/>
      </p:sp>
    </p:spTree>
  </p:cSld>
  <p:clrMapOvr>
    <a:masterClrMapping/>
  </p:clrMapOvr>
</p:notes>
</file>

<file path=ppt/notesSlides/notesSlide8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„Vom festen Template zum router-outlet“.</a:t>
            </a:r>
          </a:p>
          <a:p/>
          <a:p>
            <a:r>
              <a:t>Das Diagramm zeigt die Anwendung vor und nach Übung 20. Ein Kasten in einem anderen Kasten bedeutet: Er steht in dessen Template. Links ist der alte Zustand. Im Template von „AppComponent“ stehen die Liste „customer-list“ und die Detailansicht „customer-details“ fest nebeneinander. „AppComponent“ gibt ihnen die Daten über Inputs, also über Eingabe-Eigenschaften, mit.</a:t>
            </a:r>
          </a:p>
          <a:p/>
          <a:p>
            <a:r>
              <a:t>Rechts ist der neue Zustand. Im Template von „AppComponent“ steht nur noch der Platzhalter „router-outlet“. Welche Komponente darin erscheint, entscheidet der Router anhand der URL. Bei der URL „/customer“ ist es die „CustomerListComponent“.</a:t>
            </a:r>
          </a:p>
          <a:p/>
          <a:p>
            <a:r>
              <a:t>Weil „AppComponent“ die Liste jetzt nicht mehr selbst in ihr Template schreibt, kann sie ihr auch keine Daten per Input mehr geben. Deshalb holt sich die Liste die Kunden selbst vom „CustomerService“, zum Beispiel mit „toSignal“.</a:t>
            </a:r>
          </a:p>
        </p:txBody>
      </p:sp>
      <p:sp>
        <p:nvSpPr>
          <p:cNvPr id="4" name="Slide Number Placeholder 3"/>
          <p:cNvSpPr>
            <a:spLocks noGrp="1"/>
          </p:cNvSpPr>
          <p:nvPr>
            <p:ph type="sldNum" idx="66"/>
          </p:nvPr>
        </p:nvSpPr>
        <p:spPr/>
      </p:sp>
    </p:spTree>
  </p:cSld>
  <p:clrMapOvr>
    <a:masterClrMapping/>
  </p:clrMapOvr>
</p:notes>
</file>

<file path=ppt/notesSlides/notesSlide8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„Start mit leerem Pfad: Fallback-Route greift“.</a:t>
            </a:r>
          </a:p>
          <a:p/>
          <a:p>
            <a:r>
              <a:t>Das Sequenzdiagramm zeigt, was beim Start der Anwendung passiert, wenn in der Adresszeile nur „localhost:4200/“ steht. Beteiligt sind der Browser, der „Router“, die Routen-Liste aus „app.routes.ts“, der Platzhalter „RouterOutlet“ und die Komponente „CustomerListComponent“.</a:t>
            </a:r>
          </a:p>
          <a:p/>
          <a:p>
            <a:r>
              <a:t>Der Router sucht eine Route für den leeren Pfad. Er prüft die Routen der Reihe nach: „customer/:id“ passt nicht, „customer“ passt auch nicht. Nur die Fallback-Route mit zwei Sternchen passt immer. Sie hat „redirectTo“, also eine Weiterleitung, auf „/customer“. Der Router ändert deshalb die URL im Browser auf „/customer“.</a:t>
            </a:r>
          </a:p>
          <a:p/>
          <a:p>
            <a:r>
              <a:t>Dann sucht er erneut und findet jetzt die Route „customer“ mit der „CustomerListComponent“. Der Router aktiviert die Route, und der „RouterOutlet“ erzeugt die Komponente und fügt sie an seiner Stelle ein. Stünde die Fallback-Route ganz oben in der Liste, würde sie jede URL abfangen. Deshalb gehört sie immer an das Ende.</a:t>
            </a:r>
          </a:p>
        </p:txBody>
      </p:sp>
      <p:sp>
        <p:nvSpPr>
          <p:cNvPr id="4" name="Slide Number Placeholder 3"/>
          <p:cNvSpPr>
            <a:spLocks noGrp="1"/>
          </p:cNvSpPr>
          <p:nvPr>
            <p:ph type="sldNum" idx="66"/>
          </p:nvPr>
        </p:nvSpPr>
        <p:spPr/>
      </p:sp>
    </p:spTree>
  </p:cSld>
  <p:clrMapOvr>
    <a:masterClrMapping/>
  </p:clrMapOvr>
</p:notes>
</file>

<file path=ppt/notesSlides/notesSlide8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„Browser-URL und Router über die LocationStrategy“.</a:t>
            </a:r>
          </a:p>
          <a:p/>
          <a:p>
            <a:r>
              <a:t>Das Diagramm zeigt, wie die Adresszeile des Browsers und der Router zusammenarbeiten. Dazwischen steht die „LocationStrategy“, die Strategie für die Darstellung der URL. Rechts steht zusätzlich der Server, hier der Entwicklungsserver „ng serve“.</a:t>
            </a:r>
          </a:p>
          <a:p/>
          <a:p>
            <a:r>
              <a:t>Nach einer Navigation meldet der Router die neue URL „/customer/5“. Die Strategie schreibt sie mit „pushState“ in die Adresszeile und in den Verlauf des Browsers, ohne die Seite neu zu laden. Bei der Hash-Variante steht in der Adresszeile „/#/customer/5“. Drückt der Benutzer die Zurück-Taste, meldet der Browser das Ereignis „popstate“. Die Strategie gibt die alte URL an den Router weiter, und der Router tauscht die Komponente.</a:t>
            </a:r>
          </a:p>
          <a:p/>
          <a:p>
            <a:r>
              <a:t>Beim Neuladen der Seite geht die Anfrage an den Server. Mit der normalen Pfad-Strategie fragt der Browser nach „/customer/5“. Der Server muss dann trotzdem die „index.html“ liefern. „ng serve“ macht das automatisch, ein echter Webserver muss dafür eingerichtet werden. Mit der Hash-Strategie fragt der Browser nur nach „/“, weil der Teil nach dem Zeichen „#“ nie zum Server geschickt wird.</a:t>
            </a:r>
          </a:p>
        </p:txBody>
      </p:sp>
      <p:sp>
        <p:nvSpPr>
          <p:cNvPr id="4" name="Slide Number Placeholder 3"/>
          <p:cNvSpPr>
            <a:spLocks noGrp="1"/>
          </p:cNvSpPr>
          <p:nvPr>
            <p:ph type="sldNum" idx="66"/>
          </p:nvPr>
        </p:nvSpPr>
        <p:spPr/>
      </p:sp>
    </p:spTree>
  </p:cSld>
  <p:clrMapOvr>
    <a:masterClrMapping/>
  </p:clrMapOvr>
</p:notes>
</file>

<file path=ppt/notesSlides/notesSlide8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Weg des Pfadparameters :id“.</a:t>
            </a:r>
          </a:p>
          <a:p/>
          <a:p>
            <a:r>
              <a:t>Das Sequenzdiagramm verfolgt die Zahl 5 aus der URL bis in die Detailkomponente. Beteiligt sind die URL im Browser, der „Router“, die „ActivatedRoute“, die Detailkomponente „CustomerDetailsComponent“ und der „CustomerService“.</a:t>
            </a:r>
          </a:p>
          <a:p/>
          <a:p>
            <a:r>
              <a:t>Der Router bekommt die URL „/customer/5“ und vergleicht sie mit den Routen. Die Route „customer/:id“ passt, und der Platzhalter „:id“ bekommt den Wert „5“. Diesen Wert legt der Router in der „ActivatedRoute“ ab. Das ist ein Objekt mit allen Angaben zur aktiven Route. Weil in „main.ts“ „withComponentInputBinding()“ eingeschaltet ist, setzt der Router zusätzlich den Signal-Input „id“ der Komponente. Ohne diese Einstellung müsste die Komponente die „ActivatedRoute“ mit „inject“ holen und dort „paramMap“ lesen.</a:t>
            </a:r>
          </a:p>
          <a:p/>
          <a:p>
            <a:r>
              <a:t>In der Komponente liest ein „effect“, also eine automatische Reaktion, den Wert von „id“ und lädt den Kunden mit „getById“ vom Service. Wechselt die URL danach auf „/customer/7“, bleibt dieselbe Komponente stehen. Der Router setzt nur den Input neu, und der „effect“ lädt den Kunden 7. Deshalb darf man die ID nicht nur einmal im Konstruktor lesen.</a:t>
            </a:r>
          </a:p>
        </p:txBody>
      </p:sp>
      <p:sp>
        <p:nvSpPr>
          <p:cNvPr id="4" name="Slide Number Placeholder 3"/>
          <p:cNvSpPr>
            <a:spLocks noGrp="1"/>
          </p:cNvSpPr>
          <p:nvPr>
            <p:ph type="sldNum" idx="66"/>
          </p:nvPr>
        </p:nvSpPr>
        <p:spPr/>
      </p:sp>
    </p:spTree>
  </p:cSld>
  <p:clrMapOvr>
    <a:masterClrMapping/>
  </p:clrMapOvr>
</p:notes>
</file>

<file path=ppt/notesSlides/notesSlide8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„routerLink: von der Liste zu den Details“.</a:t>
            </a:r>
          </a:p>
          <a:p/>
          <a:p>
            <a:r>
              <a:t>Das Diagramm zeigt die Anwendung vor und nach einem Klick in der Kundenliste. Ein Kasten in einem anderen Kasten bedeutet: Er steht in dessen Template. Links ist der Ausgangszustand. Die Adresszeile zeigt „/customer“. Die „AppComponent“ enthält den Platzhalter „router-outlet“, und darin steht die „CustomerListComponent“. Jeder Kunde in der Liste ist ein Link mit „routerLink“ und seiner ID.</a:t>
            </a:r>
          </a:p>
          <a:p/>
          <a:p>
            <a:r>
              <a:t>Der orange Pfeil ist der Klick auf den Kunden mit der ID 5. Rechts ist der Zielzustand. Die Adresszeile zeigt jetzt „/customer/5“. Die „AppComponent“ und ihr „router-outlet“ sind unverändert geblieben. Nur der Inhalt des Platzhalters hat gewechselt: Die Liste ist entfernt, und dort steht jetzt die „CustomerDetailsComponent“ mit dem Input „id“ gleich 5.</a:t>
            </a:r>
          </a:p>
          <a:p/>
          <a:p>
            <a:r>
              <a:t>Der Link ist relativ geschrieben, nur mit der ID. Weil die Liste unter „/customer“ steht, ergibt sich daraus „/customer/5“. Die nächste Folie zeigt Schritt für Schritt, wer bei diesem Klick wen aufruft.</a:t>
            </a:r>
          </a:p>
        </p:txBody>
      </p:sp>
      <p:sp>
        <p:nvSpPr>
          <p:cNvPr id="4" name="Slide Number Placeholder 3"/>
          <p:cNvSpPr>
            <a:spLocks noGrp="1"/>
          </p:cNvSpPr>
          <p:nvPr>
            <p:ph type="sldNum" idx="66"/>
          </p:nvPr>
        </p:nvSpPr>
        <p:spPr/>
      </p:sp>
    </p:spTree>
  </p:cSld>
  <p:clrMapOvr>
    <a:masterClrMapping/>
  </p:clrMapOvr>
</p:notes>
</file>

<file path=ppt/notesSlides/notesSlide8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eines Klicks auf routerLink“.</a:t>
            </a:r>
          </a:p>
          <a:p/>
          <a:p>
            <a:r>
              <a:t>Das Sequenzdiagramm zeigt denselben Wechsel wie die vorige Folie, aber als Reihenfolge der Aufrufe. Beteiligt sind das Template der Kundenliste, die Direktive „RouterLink“, der „Router“, die Routen mit ihren Wächtern, der Platzhalter „RouterOutlet“ und die Detailkomponente.</a:t>
            </a:r>
          </a:p>
          <a:p/>
          <a:p>
            <a:r>
              <a:t>Der Benutzer klickt in der Liste auf den Link von Kunde 5. Die Direktive „RouterLink“ verhindert das normale Neuladen der Seite und ruft beim Router „navigateByUrl“ mit der Ziel-URL „/customer/5“ auf. Der Router sucht die passende Route und findet „customer/:id“ mit der ID 5. Falls an der Route „Guards“ hängen, also Wächter, die den Zugang prüfen, fragt er sie jetzt. Nur wenn sie zustimmen, geht es weiter.</a:t>
            </a:r>
          </a:p>
          <a:p/>
          <a:p>
            <a:r>
              <a:t>Dann schreibt der Router die neue URL in die Adresszeile und in den Verlauf des Browsers. Deshalb funktioniert später auch die Zurück-Taste. Zum Schluss aktiviert er die neue Route im „RouterOutlet“. Der Outlet zerstört die Liste und erzeugt die Detailkomponente mit dem Input „id“ gleich 5.</a:t>
            </a:r>
          </a:p>
        </p:txBody>
      </p:sp>
      <p:sp>
        <p:nvSpPr>
          <p:cNvPr id="4" name="Slide Number Placeholder 3"/>
          <p:cNvSpPr>
            <a:spLocks noGrp="1"/>
          </p:cNvSpPr>
          <p:nvPr>
            <p:ph type="sldNum" idx="66"/>
          </p:nvPr>
        </p:nvSpPr>
        <p:spPr/>
      </p:sp>
    </p:spTree>
  </p:cSld>
  <p:clrMapOvr>
    <a:masterClrMapping/>
  </p:clrMapOvr>
</p:notes>
</file>

<file path=ppt/notesSlides/notesSlide8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„router.navigate nach dem Speichern“.</a:t>
            </a:r>
          </a:p>
          <a:p/>
          <a:p>
            <a:r>
              <a:t>Das Diagramm zeigt die Navigation aus dem Code der Komponentenklasse, so wie in Übung 21 und später beim Speichern des Formulars. Der Ausgangspunkt ist die URL „/customer/5“. Im „router-outlet“ steht die „CustomerDetailsComponent“. Das Ziel ist die URL „/customer“ mit der Kundenliste.</a:t>
            </a:r>
          </a:p>
          <a:p/>
          <a:p>
            <a:r>
              <a:t>Der Benutzer klickt auf „Speichern“. Die Methode „onSubmit“ ruft beim „CustomerService“ die Methode „update“ mit der bearbeiteten Kopie auf. Erst wenn die Antwort da ist, ruft die Komponente beim Router „navigate“ mit dem Ziel „/customer“ auf. Den Router hat sie vorher mit „inject(Router)“ bekommen.</a:t>
            </a:r>
          </a:p>
          <a:p/>
          <a:p>
            <a:r>
              <a:t>Der Router findet die Route „customer“ und setzt die URL im Browser. Der „RouterOutlet“ zerstört die Detailkomponente und erzeugt die Listenkomponente. Die Liste holt sich mit „getAll“ die aktuellen Kunden vom Service und zeigt damit schon die gespeicherte Änderung. Ein Link im Template wäre hier nicht passend, weil die Navigation erst nach dem erfolgreichen Speichern passieren soll.</a:t>
            </a:r>
          </a:p>
        </p:txBody>
      </p:sp>
      <p:sp>
        <p:nvSpPr>
          <p:cNvPr id="4" name="Slide Number Placeholder 3"/>
          <p:cNvSpPr>
            <a:spLocks noGrp="1"/>
          </p:cNvSpPr>
          <p:nvPr>
            <p:ph type="sldNum" idx="66"/>
          </p:nvPr>
        </p:nvSpPr>
        <p:spPr/>
      </p:sp>
    </p:spTree>
  </p:cSld>
  <p:clrMapOvr>
    <a:masterClrMapping/>
  </p:clrMapOvr>
</p:notes>
</file>

<file path=ppt/notesSlides/notesSlide8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„Datenfluss mit ngModel: Modell und Feld“.</a:t>
            </a:r>
          </a:p>
          <a:p/>
          <a:p>
            <a:r>
              <a:t>Das Sequenzdiagramm zeigt, wie Daten in einem Template-Driven Form fließen. Beteiligt sind die Komponente „CustomerDetailsComponent“, die Direktive „NgModel“ an einem Feld, das echte Eingabefeld im Browser und das Formular „NgForm“, das Angular automatisch am „form“-Tag anlegt.</a:t>
            </a:r>
          </a:p>
          <a:p/>
          <a:p>
            <a:r>
              <a:t>Zuerst wird der Kunde geladen, und „linkedSignal“ erzeugt die bearbeitbare Kopie „draft“. Über die Bindung „[ngModel]“ liest die Direktive den Vornamen „Anna“ aus der Kopie und schreibt ihn in das Feld. Gleichzeitig meldet sie das Feld unter seinem „name“-Attribut beim Formular an. Deshalb ist das „name“-Attribut Pflicht.</a:t>
            </a:r>
          </a:p>
          <a:p/>
          <a:p>
            <a:r>
              <a:t>Tippt der Benutzer „Annette“, meldet das Feld die Änderung an „NgModel“. Die Direktive schreibt den neuen Wert über „ngModelChange“ zurück in die Kopie. Das ist die zweite Richtung der Bindung. Außerdem gilt das Feld jetzt als „dirty“, also verändert, und das Formular berechnet seinen Zustand neu. Beim Absenden ruft das Formular „onSubmit“ auf. Gespeichert wird die Kopie. Das geladene Original wurde beim Tippen nie verändert.</a:t>
            </a:r>
          </a:p>
        </p:txBody>
      </p:sp>
      <p:sp>
        <p:nvSpPr>
          <p:cNvPr id="4" name="Slide Number Placeholder 3"/>
          <p:cNvSpPr>
            <a:spLocks noGrp="1"/>
          </p:cNvSpPr>
          <p:nvPr>
            <p:ph type="sldNum" idx="66"/>
          </p:nvPr>
        </p:nvSpPr>
        <p:spPr/>
      </p:sp>
    </p:spTree>
  </p:cSld>
  <p:clrMapOvr>
    <a:masterClrMapping/>
  </p:clrMapOvr>
</p:notes>
</file>

<file path=ppt/notesSlides/notesSlide8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„Zwei Geschwister teilen einen Service“.</a:t>
            </a:r>
          </a:p>
          <a:p/>
          <a:p>
            <a:r>
              <a:t>Das Diagramm zeigt, wie zwei Geschwister-Komponenten ohne ihre Eltern-Komponente miteinander sprechen. Der äußere Kasten ist die Eltern-Komponente „MasterDetailComponent“. In ihrem Template stehen die Liste „ListComponent“ und die Detailansicht „DetailComponent“. Außerdem trägt sie in „providers“ den Service „Communication“ ein.</a:t>
            </a:r>
          </a:p>
          <a:p/>
          <a:p>
            <a:r>
              <a:t>Dadurch erzeugt Angular für diese Eltern-Komponente genau eine Instanz des Service. Beide Kinder holen sich mit „inject“ dieselbe Instanz. Eine zweite „MasterDetailComponent“ an anderer Stelle hätte ihre eigene Instanz. Das nennt man einen Service mit begrenztem Gültigkeitsbereich.</a:t>
            </a:r>
          </a:p>
          <a:p/>
          <a:p>
            <a:r>
              <a:t>Die Pfeile zeigen den Weg einer Nachricht. Die Liste ruft „next“ am Kanal „listToDetail“ auf. Der Service gibt die Nachricht an alle weiter, die sich mit „subscribe“ angemeldet haben, hier an die Detailansicht. Für die Gegenrichtung gibt es den zweiten Kanal „detailToList“.</a:t>
            </a:r>
          </a:p>
        </p:txBody>
      </p:sp>
      <p:sp>
        <p:nvSpPr>
          <p:cNvPr id="4" name="Slide Number Placeholder 3"/>
          <p:cNvSpPr>
            <a:spLocks noGrp="1"/>
          </p:cNvSpPr>
          <p:nvPr>
            <p:ph type="sldNum" idx="66"/>
          </p:nvPr>
        </p:nvSpPr>
        <p:spPr/>
      </p:sp>
    </p:spTree>
  </p:cSld>
  <p:clrMapOvr>
    <a:masterClrMapping/>
  </p:clrMapOvr>
</p:notes>
</file>

<file path=ppt/notesSlides/notesSlide8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Nachrichten über den Kommunikations-Service“.</a:t>
            </a:r>
          </a:p>
          <a:p/>
          <a:p>
            <a:r>
              <a:t>Das Sequenzdiagramm zeigt den Code der vorigen Folie als zeitliche Reihenfolge. Links steht die Liste, in der Mitte der Service „Communication“ mit seinen zwei „Subjects“, rechts die Detailansicht. Ein „Subject“ ist ein Observable, an dem man selbst mit „next“ neue Werte senden kann.</a:t>
            </a:r>
          </a:p>
          <a:p/>
          <a:p>
            <a:r>
              <a:t>Zuerst melden sich beide Komponenten in ihrem Konstruktor an: die Detailansicht am Kanal „listToDetail“, die Liste am Kanal „detailToList“. Danach ruft die Liste „doSomething“ auf und sendet mit „next“ ein „ListUpdate“. Der Service reicht es sofort an den Handler der Detailansicht weiter. Umgekehrt sendet die Detailansicht ein „DetailUpdate“, und die Liste gibt „update received“ aus.</a:t>
            </a:r>
          </a:p>
          <a:p/>
          <a:p>
            <a:r>
              <a:t>Wird die Liste zerstört, meldet „takeUntilDestroyed“ ihr Abonnement automatisch ab. So läuft kein Handler einer Komponente weiter, die es nicht mehr gibt. Wichtig ist die Reihenfolge: Ein normales „Subject“ gibt nur Werte weiter, die nach dem „subscribe“ gesendet werden.</a:t>
            </a:r>
          </a:p>
        </p:txBody>
      </p:sp>
      <p:sp>
        <p:nvSpPr>
          <p:cNvPr id="4" name="Slide Number Placeholder 3"/>
          <p:cNvSpPr>
            <a:spLocks noGrp="1"/>
          </p:cNvSpPr>
          <p:nvPr>
            <p:ph type="sldNum" idx="66"/>
          </p:nvPr>
        </p:nvSpPr>
        <p:spPr/>
      </p:sp>
    </p:spTree>
  </p:cSld>
  <p:clrMapOvr>
    <a:masterClrMapping/>
  </p:clrMapOvr>
</p:notes>
</file>

<file path=ppt/notesSlides/notesSlide8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Weg einer HTTP-Anfrage bis zum Backend“.</a:t>
            </a:r>
          </a:p>
          <a:p/>
          <a:p>
            <a:r>
              <a:t>Das Sequenzdiagramm zeigt alle Stationen, die in Übung 24 zusammenspielen. Links steht die Komponente „CustomerListComponent“, dann der „CustomerService“, der „HttpClient“ von Angular, der Proxy des Entwicklungsservers „ng serve“ und rechts das Backend „server.js“ auf Port 3000.</a:t>
            </a:r>
          </a:p>
          <a:p/>
          <a:p>
            <a:r>
              <a:t>Die Liste ruft „getAll“ auf, und „toSignal“ meldet sich an. Der Service schickt mit dem „HttpClient“ eine GET-Anfrage, also eine Leseanfrage, an „api/customer“. Die Anfrage geht zuerst an „ng serve“ auf Port 4200. Der Proxy, ein Vermittler, leitet alle Pfade mit „/api“ an „localhost:3000“ weiter. So liegt für den Browser alles auf demselben Server, und es gibt kein Problem mit „CORS“, der Sicherheitsregel für fremde Server.</a:t>
            </a:r>
          </a:p>
          <a:p/>
          <a:p>
            <a:r>
              <a:t>Das Backend antwortet mit dem Status 200 und einem JSON-Objekt mit dem Feld „data“. Der „HttpClient“ wandelt das JSON automatisch in ein JavaScript-Objekt um und liefert es als Observable. Im Service holt der Operator „map“ das Feld „data“ heraus und wandelt das Datum um, weil Datumswerte im JSON nur als Text ankommen. Über das „ReplaySubject“ bekommt die Liste dann die fertigen Kunden.</a:t>
            </a:r>
          </a:p>
        </p:txBody>
      </p:sp>
      <p:sp>
        <p:nvSpPr>
          <p:cNvPr id="4" name="Slide Number Placeholder 3"/>
          <p:cNvSpPr>
            <a:spLocks noGrp="1"/>
          </p:cNvSpPr>
          <p:nvPr>
            <p:ph type="sldNum" idx="66"/>
          </p:nvPr>
        </p:nvSpPr>
        <p:spPr/>
      </p:sp>
    </p:spTree>
  </p:cSld>
  <p:clrMapOvr>
    <a:masterClrMapping/>
  </p:clrMapOvr>
</p:notes>
</file>

<file path=ppt/notesSlides/notesSlide8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„Fehlerfall: catchError und handleError“.</a:t>
            </a:r>
          </a:p>
          <a:p/>
          <a:p>
            <a:r>
              <a:t>Das Sequenzdiagramm zeigt, was passiert, wenn das Backend einen Fehler meldet. Die Detailkomponente fragt beim „CustomerService“ den Kunden mit der ID 99 an. Diesen Kunden gibt es nicht. Der Service schickt die Anfrage über den „HttpClient“ an das Backend.</a:t>
            </a:r>
          </a:p>
          <a:p/>
          <a:p>
            <a:r>
              <a:t>Das Backend antwortet mit dem Status 404, also „nicht gefunden“. Der „HttpClient“ liefert deshalb keinen Wert über „next“, sondern meldet über „error“ ein Objekt vom Typ „HttpErrorResponse“. Darin stehen zum Beispiel der Status und eine Meldung.</a:t>
            </a:r>
          </a:p>
          <a:p/>
          <a:p>
            <a:r>
              <a:t>Im Service fängt der Operator „catchError“ den Fehler ab und ruft „handleError“ auf. Diese Methode baut eine verständliche Fehlermeldung und gibt sie mit „throwError“ weiter. In der Komponente läuft dann der Fehler-Handler von „subscribe“. Die Komponente zeigt eine Fehlermeldung an, statt endlos auf den Kunden zu warten.</a:t>
            </a:r>
          </a:p>
        </p:txBody>
      </p:sp>
      <p:sp>
        <p:nvSpPr>
          <p:cNvPr id="4" name="Slide Number Placeholder 3"/>
          <p:cNvSpPr>
            <a:spLocks noGrp="1"/>
          </p:cNvSpPr>
          <p:nvPr>
            <p:ph type="sldNum" idx="66"/>
          </p:nvPr>
        </p:nvSpPr>
        <p:spPr/>
      </p:sp>
    </p:spTree>
  </p:cSld>
  <p:clrMapOvr>
    <a:masterClrMapping/>
  </p:clrMapOvr>
</p:notes>
</file>

<file path=ppt/notesSlides/notesSlide8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„Klassen“ – Jetzt geht es um Klassen. Eine „Klasse“ ist ein Bauplan für Objekte, die zusammengehörige Daten und passende Funktionen bündeln. Wir bauen Schritt für Schritt die Klasse „Customer“, die in der Invoice-App wirklich vorkommt. Am Ende steht eine Übung, in der die Teilnehmenden diese Klasse selbst schreiben.</a:t>
            </a:r>
          </a:p>
        </p:txBody>
      </p:sp>
      <p:sp>
        <p:nvSpPr>
          <p:cNvPr id="4" name="Slide Number Placeholder 3"/>
          <p:cNvSpPr>
            <a:spLocks noGrp="1"/>
          </p:cNvSpPr>
          <p:nvPr>
            <p:ph type="sldNum" idx="66"/>
          </p:nvPr>
        </p:nvSpPr>
        <p:spPr/>
      </p:sp>
    </p:spTree>
  </p:cSld>
  <p:clrMapOvr>
    <a:masterClrMapping/>
  </p:clrMapOvr>
</p:notes>
</file>

<file path=ppt/notesSlides/notesSlide8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„Klassen: Attribute, Konstruktor, Methoden“.</a:t>
            </a:r>
          </a:p>
          <a:p/>
          <a:p>
            <a:r>
              <a:t>Hier steht die Klasse „Customer“ ausführlich, ohne Abkürzung. Oben stehen die „Attribute“. Das sind die Eigenschaften, die jedes Kunden-Objekt hat: Kennung, Vorname, Nachname und optional die Stadt. Das Fragezeichen bei „city“ bedeutet, dass dieser Wert fehlen darf.</a:t>
            </a:r>
          </a:p>
          <a:p/>
          <a:p>
            <a:r>
              <a:t>Der „Konstruktor“ ist eine besondere Funktion, die beim Erzeugen eines Objekts automatisch läuft. Er bekommt Vorname, Nachname und Stadt und speichert sie mit „this“ im neuen Objekt. „this“ bedeutet: genau dieses Objekt. Die Kennung wird mit „crypto.randomUUID()“ erzeugt, das ist eine zufällige, eindeutige Zeichenkette.</a:t>
            </a:r>
          </a:p>
          <a:p/>
          <a:p>
            <a:r>
              <a:t>Die „Methode“ „getLabel“ ist eine Funktion, die zur Klasse gehört. Sie liefert einen Text mit dem Namen. Mit „new Customer(…)“ in der letzten Zeile entsteht ein neues Objekt. Auf der nächsten Folie sehen wir, wie man das Ganze kürzer schreibt.</a:t>
            </a:r>
          </a:p>
        </p:txBody>
      </p:sp>
      <p:sp>
        <p:nvSpPr>
          <p:cNvPr id="4" name="Slide Number Placeholder 3"/>
          <p:cNvSpPr>
            <a:spLocks noGrp="1"/>
          </p:cNvSpPr>
          <p:nvPr>
            <p:ph type="sldNum" idx="66"/>
          </p:nvPr>
        </p:nvSpPr>
        <p:spPr/>
      </p:sp>
    </p:spTree>
  </p:cSld>
  <p:clrMapOvr>
    <a:masterClrMapping/>
  </p:clrMapOvr>
</p:notes>
</file>

<file path=ppt/notesSlides/notesSlide8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„Parameter Properties“.</a:t>
            </a:r>
          </a:p>
          <a:p/>
          <a:p>
            <a:r>
              <a:t>Die Schreibweise von der letzten Folie war lang. TypeScript bietet eine Abkürzung, die „Parameter Properties“ heißt, also Parameter, die zugleich Eigenschaften sind. Wenn vor einem Konstruktor-Parameter ein Wort wie „public“ steht, legt TypeScript automatisch ein Attribut mit demselben Namen an und füllt es mit dem übergebenen Wert. Die Zeilen mit „this.firstname = firstname“ entfallen.</a:t>
            </a:r>
          </a:p>
          <a:p/>
          <a:p>
            <a:r>
              <a:t>Das ist fast genau die Klasse aus der Invoice-App, die Datei „customer.model.ts“. Dort kommen noch Bildadresse, „discontinued“ und das Datum der letzten Bestellung hinzu. Nur die Kennung „id“ wird weiterhin im Konstruktor gesetzt.</a:t>
            </a:r>
          </a:p>
          <a:p/>
          <a:p>
            <a:r>
              <a:t>Diese Schreibweise ist wichtig für den Kurs: In Angular steht später im Konstruktor zum Beispiel „private service: CustomerService“. Damit bekommt die Komponente einen Dienst automatisch geliefert. Neuere Angular-Versionen nutzen dafür auch die Funktion „inject()“, aber das Prinzip ist dasselbe.</a:t>
            </a:r>
          </a:p>
        </p:txBody>
      </p:sp>
      <p:sp>
        <p:nvSpPr>
          <p:cNvPr id="4" name="Slide Number Placeholder 3"/>
          <p:cNvSpPr>
            <a:spLocks noGrp="1"/>
          </p:cNvSpPr>
          <p:nvPr>
            <p:ph type="sldNum" idx="66"/>
          </p:nvPr>
        </p:nvSpPr>
        <p:spPr/>
      </p:sp>
    </p:spTree>
  </p:cSld>
  <p:clrMapOvr>
    <a:masterClrMapping/>
  </p:clrMapOvr>
</p:notes>
</file>

<file path=ppt/notesSlides/notesSlide8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„Sichtbarkeit und readonly“.</a:t>
            </a:r>
          </a:p>
          <a:p/>
          <a:p>
            <a:r>
              <a:t>Mit Schlüsselwörtern legt man fest, wer auf ein Attribut zugreifen darf. „public“ heißt: jeder. Das ist der Standard. „private“ heißt: nur Code innerhalb dieser Klasse. „protected“ heißt: die Klasse selbst und ihre Unterklassen. „readonly“ heißt: Der Wert darf nur im Konstruktor oder bei der Deklaration gesetzt werden, danach nicht mehr.</a:t>
            </a:r>
          </a:p>
          <a:p/>
          <a:p>
            <a:r>
              <a:t>In diesem Beispiel ist „balance“ privat. Die letzte Zeile versucht, von außen darauf zuzugreifen. Der Compiler meldet dafür den Fehler TS2341: Die Eigenschaft ist privat und nur innerhalb der Klasse erreichbar. Das Beispiel zeigt diesen Fehler absichtlich.</a:t>
            </a:r>
          </a:p>
          <a:p/>
          <a:p>
            <a:r>
              <a:t>Wichtig: Diese Sichtbarkeit prüft nur der Compiler. Im fertigen JavaScript gibt es sie nicht. In Angular sind Dienste in Komponenten oft „private“, und Werte, die das Template braucht, müssen erreichbar sein.</a:t>
            </a:r>
          </a:p>
        </p:txBody>
      </p:sp>
      <p:sp>
        <p:nvSpPr>
          <p:cNvPr id="4" name="Slide Number Placeholder 3"/>
          <p:cNvSpPr>
            <a:spLocks noGrp="1"/>
          </p:cNvSpPr>
          <p:nvPr>
            <p:ph type="sldNum" idx="66"/>
          </p:nvPr>
        </p:nvSpPr>
        <p:spPr/>
      </p:sp>
    </p:spTree>
  </p:cSld>
  <p:clrMapOvr>
    <a:masterClrMapping/>
  </p:clrMapOvr>
</p:notes>
</file>

<file path=ppt/notesSlides/notesSlide8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„Getter und Setter“.</a:t>
            </a:r>
          </a:p>
          <a:p/>
          <a:p>
            <a:r>
              <a:t>Ein „Getter“ sieht von außen wie ein Attribut aus, ist aber eine Funktion, die einen Wert berechnet. Hier liefert „get fullName“ den Vor- und Nachnamen zusammen. Man benutzt ihn ohne Klammern, also „customer.fullName“. Das ist praktisch für abgeleitete Werte.</a:t>
            </a:r>
          </a:p>
          <a:p/>
          <a:p>
            <a:r>
              <a:t>Ein „Setter“ wird ausgeführt, wenn man dem Attribut einen Wert zuweist. Hier prüft „set discount“, ob der Rabatt zwischen 0 und 100 liegt, und wirft sonst einen Fehler. Der eigentliche Wert wird in einem privaten Attribut „_discount“ gespeichert. Der Unterstrich ist nur eine Namenskonvention.</a:t>
            </a:r>
          </a:p>
          <a:p/>
          <a:p>
            <a:r>
              <a:t>Getter und Setter mit demselben Namen müssen denselben Typ haben. Der Setter hat keinen Rückgabetyp. Die Übung 4 benutzt den Getter „fullName“.</a:t>
            </a:r>
          </a:p>
        </p:txBody>
      </p:sp>
      <p:sp>
        <p:nvSpPr>
          <p:cNvPr id="4" name="Slide Number Placeholder 3"/>
          <p:cNvSpPr>
            <a:spLocks noGrp="1"/>
          </p:cNvSpPr>
          <p:nvPr>
            <p:ph type="sldNum" idx="66"/>
          </p:nvPr>
        </p:nvSpPr>
        <p:spPr/>
      </p:sp>
    </p:spTree>
  </p:cSld>
  <p:clrMapOvr>
    <a:masterClrMapping/>
  </p:clrMapOvr>
</p:notes>
</file>

<file path=ppt/notesSlides/notesSlide8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„implements: ein Interface erfüllen“.</a:t>
            </a:r>
          </a:p>
          <a:p/>
          <a:p>
            <a:r>
              <a:t>Ein „Interface“ beschreibt, welche Eigenschaften und Methoden ein Objekt haben muss. Mit „implements“ verspricht eine Klasse, dieses Interface zu erfüllen. Hier verlangt „Labelled“ eine Methode „getLabel“, die einen Text liefert. Die Klasse „Customer“ hat diese Methode. Würde sie fehlen, meldete der Compiler einen Fehler.</a:t>
            </a:r>
          </a:p>
          <a:p/>
          <a:p>
            <a:r>
              <a:t>Der Nutzen zeigt sich bei der Funktion „printLabel“. Sie verlangt nur etwas, das „Labelled“ ist, und kennt die Klasse „Customer“ gar nicht. Dadurch kann sie mit jeder Klasse arbeiten, die dieses Interface erfüllt.</a:t>
            </a:r>
          </a:p>
          <a:p/>
          <a:p>
            <a:r>
              <a:t>Im Kurs begegnet uns das später bei den Lebenszyklus-Schnittstellen von Angular, zum Beispiel „implements OnInit“. Das Prinzip ist genau dieses.</a:t>
            </a:r>
          </a:p>
        </p:txBody>
      </p:sp>
      <p:sp>
        <p:nvSpPr>
          <p:cNvPr id="4" name="Slide Number Placeholder 3"/>
          <p:cNvSpPr>
            <a:spLocks noGrp="1"/>
          </p:cNvSpPr>
          <p:nvPr>
            <p:ph type="sldNum" idx="66"/>
          </p:nvPr>
        </p:nvSpPr>
        <p:spPr/>
      </p:sp>
    </p:spTree>
  </p:cSld>
  <p:clrMapOvr>
    <a:masterClrMapping/>
  </p:clrMapOvr>
</p:notes>
</file>

<file path=ppt/notesSlides/notesSlide8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„extends und super“.</a:t>
            </a:r>
          </a:p>
          <a:p/>
          <a:p>
            <a:r>
              <a:t>Mit „extends“ erbt eine Klasse von einer anderen. „VipCustomer“ ist ein „Customer“ und hat zusätzlich einen Rabatt. Alles, was „Customer“ kann, kann „VipCustomer“ auch. Die erbende Klasse heißt Unterklasse, die andere Oberklasse.</a:t>
            </a:r>
          </a:p>
          <a:p/>
          <a:p>
            <a:r>
              <a:t>Hat die Unterklasse einen eigenen Konstruktor, muss sie als Allererstes „super(…)“ aufrufen. Das ruft den Konstruktor der Oberklasse auf und gibt ihm Vorname und Nachname. Erst danach darf man „this“ benutzen.</a:t>
            </a:r>
          </a:p>
          <a:p/>
          <a:p>
            <a:r>
              <a:t>„override“ markiert, dass die Methode „getLabel“ eine Methode der Oberklasse ersetzt. Der Compiler meldet einen Fehler, wenn es in der Oberklasse gar keine solche Methode gibt. Mit „super.getLabel()“ ruft man die ursprüngliche Version auf und hängt den VIP-Text an. Die Oberklasse „Customer“ ist hier nicht sichtbar, sie entspricht der Klasse von der Folie mit den Parameter Properties.</a:t>
            </a:r>
          </a:p>
        </p:txBody>
      </p:sp>
      <p:sp>
        <p:nvSpPr>
          <p:cNvPr id="4" name="Slide Number Placeholder 3"/>
          <p:cNvSpPr>
            <a:spLocks noGrp="1"/>
          </p:cNvSpPr>
          <p:nvPr>
            <p:ph type="sldNum" idx="66"/>
          </p:nvPr>
        </p:nvSpPr>
        <p:spPr/>
      </p:sp>
    </p:spTree>
  </p:cSld>
  <p:clrMapOvr>
    <a:masterClrMapping/>
  </p:clrMapOvr>
</p:notes>
</file>

<file path=ppt/notesSlides/notesSlide8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„Dekoratoren: ein Blick auf Angular“.</a:t>
            </a:r>
          </a:p>
          <a:p/>
          <a:p>
            <a:r>
              <a:t>Ein „Dekorator“ ist eine Funktion, die mit einem @-Zeichen vor eine Klasse geschrieben wird und diese Klasse beschreibt oder erweitert. Oben definieren wir selbst einen sehr einfachen Dekorator namens „Component“. Er bekommt eine Einstellung, hier den Namen „selector“, und gibt eine zweite Funktion zurück. Diese zweite Funktion erhält die Klasse selbst und könnte sie verändern. Wir geben nur eine Zeile aus.</a:t>
            </a:r>
          </a:p>
          <a:p/>
          <a:p>
            <a:r>
              <a:t>Unten sehen wir die Verwendung: „@Component“ steht direkt über der Klasse „CustomerListComponent“. Genau das passiert in Angular. Das echte „@Component“ kommt aus dem Paket „@angular/core“ und bekommt dort zusätzlich ein Template, also das HTML, und Stile. Der „selector“ ist der Name, unter dem man die Komponente im HTML verwendet.</a:t>
            </a:r>
          </a:p>
          <a:p/>
          <a:p>
            <a:r>
              <a:t>Damit Dekoratoren in der Invoice-App funktionieren, steht in der Datei „tsconfig.json“ die Option „experimentalDecorators“. Das haben wir am Anfang gesehen.</a:t>
            </a:r>
          </a:p>
        </p:txBody>
      </p:sp>
      <p:sp>
        <p:nvSpPr>
          <p:cNvPr id="4" name="Slide Number Placeholder 3"/>
          <p:cNvSpPr>
            <a:spLocks noGrp="1"/>
          </p:cNvSpPr>
          <p:nvPr>
            <p:ph type="sldNum" idx="66"/>
          </p:nvPr>
        </p:nvSpPr>
        <p:spPr/>
      </p:sp>
    </p:spTree>
  </p:cSld>
  <p:clrMapOvr>
    <a:masterClrMapping/>
  </p:clrMapOvr>
</p:notes>
</file>

<file path=ppt/notesSlides/notesSlide8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4: Die Klasse Customer“.</a:t>
            </a:r>
          </a:p>
          <a:p/>
          <a:p>
            <a:r>
              <a:t>Erklärung für die Dolmetscherin:</a:t>
            </a:r>
          </a:p>
          <a:p>
            <a:r>
              <a:t>In dieser Übung schreiben die Teilnehmenden die Klasse „Customer“ selbst, so wie sie später in der Invoice-App gebraucht wird. Die Datei „src/uebung-4-klassen.ts“ enthält schon das Interface „Labelled“ und Kommentare mit den Aufgaben. Zuerst entsteht die Klasse mit den Parameter Properties, mit einer Kennung, einem Getter „fullName“ und der Methode „getLabel“. Dann erbt die Klasse „VipCustomer“ davon und ergänzt einen Rabatt. Am Ende werden die Kommentarzeichen entfernt und das Programm gestartet. Ein Kunde ohne Stadt soll dabei als „unbekannt“ erscheinen. Die Übung dauert etwa 20 Minuten.</a:t>
            </a:r>
          </a:p>
        </p:txBody>
      </p:sp>
      <p:sp>
        <p:nvSpPr>
          <p:cNvPr id="4" name="Slide Number Placeholder 3"/>
          <p:cNvSpPr>
            <a:spLocks noGrp="1"/>
          </p:cNvSpPr>
          <p:nvPr>
            <p:ph type="sldNum" idx="66"/>
          </p:nvPr>
        </p:nvSpPr>
        <p:spPr/>
      </p:sp>
    </p:spTree>
  </p:cSld>
  <p:clrMapOvr>
    <a:masterClrMapping/>
  </p:clrMapOvr>
</p:notes>
</file>

<file path=ppt/notesSlides/notesSlide8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„Module“ – Zum Schluss geht es um Module. Ein „Modul“ ist in TypeScript einfach eine Datei, die Dinge nach außen anbietet und Dinge aus anderen Dateien benutzt. So verteilt man größere Programme auf viele kleine Dateien. Jede Angular-Komponente arbeitet auf diese Weise.</a:t>
            </a:r>
          </a:p>
        </p:txBody>
      </p:sp>
      <p:sp>
        <p:nvSpPr>
          <p:cNvPr id="4" name="Slide Number Placeholder 3"/>
          <p:cNvSpPr>
            <a:spLocks noGrp="1"/>
          </p:cNvSpPr>
          <p:nvPr>
            <p:ph type="sldNum" idx="66"/>
          </p:nvPr>
        </p:nvSpPr>
        <p:spPr/>
      </p:sp>
    </p:spTree>
  </p:cSld>
  <p:clrMapOvr>
    <a:masterClrMapping/>
  </p:clrMapOvr>
</p:notes>
</file>

<file path=ppt/notesSlides/notesSlide8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„Module: export und import“.</a:t>
            </a:r>
          </a:p>
          <a:p/>
          <a:p>
            <a:r>
              <a:t>Das sind zwei Dateien auf einer Folie, getrennt durch Kommentarzeilen. In der ersten Datei „customer.ts“ steht vor dem Interface und vor der Klasse das Wort „export“. Damit werden sie für andere Dateien sichtbar. Ohne „export“ bleibt ein Name privat in seiner Datei.</a:t>
            </a:r>
          </a:p>
          <a:p/>
          <a:p>
            <a:r>
              <a:t>In der zweiten Datei „main.ts“ holt die Zeile mit „import“ die beiden Namen aus der ersten Datei. Die geschweiften Klammern enthalten die Namen, die man braucht. Das Wort „from“ nennt den Pfad. „Labelled“ ist nur ein Typ und existiert zur Laufzeit nicht, deshalb steht davor „type“.</a:t>
            </a:r>
          </a:p>
          <a:p/>
          <a:p>
            <a:r>
              <a:t>Die Zeile ist nur ein Ausschnitt und wird hier nicht einzeln übersetzt, weil sie zwei Dateien braucht. In der Übung 5 probieren die Teilnehmenden genau das aus.</a:t>
            </a:r>
          </a:p>
        </p:txBody>
      </p:sp>
      <p:sp>
        <p:nvSpPr>
          <p:cNvPr id="4" name="Slide Number Placeholder 3"/>
          <p:cNvSpPr>
            <a:spLocks noGrp="1"/>
          </p:cNvSpPr>
          <p:nvPr>
            <p:ph type="sldNum" idx="66"/>
          </p:nvPr>
        </p:nvSpPr>
        <p:spPr/>
      </p:sp>
    </p:spTree>
  </p:cSld>
  <p:clrMapOvr>
    <a:masterClrMapping/>
  </p:clrMapOvr>
</p:notes>
</file>

<file path=ppt/notesSlides/notesSlide8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„Regeln für import und export“.</a:t>
            </a:r>
          </a:p>
          <a:p/>
          <a:p>
            <a:r>
              <a:t>Diese Folie fasst die wichtigsten Regeln zusammen. Imports sind „statisch“. Das bedeutet, der Compiler muss sie vor dem Ausführen kennen. Sie stehen deshalb oben in der Datei und nicht innerhalb einer Bedingung.</a:t>
            </a:r>
          </a:p>
          <a:p/>
          <a:p>
            <a:r>
              <a:t>Eigene Dateien werden mit einem Pfad angegeben, der mit einem Punkt und Schrägstrich beginnt, zum Beispiel „./customer“. Eine Dateiendung schreibt man nicht. Bei Paketen wie „@angular/core“ gibt es keinen solchen Pfad, nur den Paketnamen.</a:t>
            </a:r>
          </a:p>
          <a:p/>
          <a:p>
            <a:r>
              <a:t>Es gibt „benannte Exporte“, die man mit geschweiften Klammern importiert, und den „Standard-Export“ mit „export default“. Im Kurs benutzen wir fast nur benannte Exporte. Mit „import type“ holt man nur Typen. Jede Datei mit „import“ oder „export“ ist ein eigenes Modul, deshalb stören sich gleiche Namen in verschiedenen Dateien nicht.</a:t>
            </a:r>
          </a:p>
        </p:txBody>
      </p:sp>
      <p:sp>
        <p:nvSpPr>
          <p:cNvPr id="4" name="Slide Number Placeholder 3"/>
          <p:cNvSpPr>
            <a:spLocks noGrp="1"/>
          </p:cNvSpPr>
          <p:nvPr>
            <p:ph type="sldNum" idx="66"/>
          </p:nvPr>
        </p:nvSpPr>
        <p:spPr/>
      </p:sp>
    </p:spTree>
  </p:cSld>
  <p:clrMapOvr>
    <a:masterClrMapping/>
  </p:clrMapOvr>
</p:notes>
</file>

<file path=ppt/notesSlides/notesSlide8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5: Module“.</a:t>
            </a:r>
          </a:p>
          <a:p/>
          <a:p>
            <a:r>
              <a:t>Erklärung für die Dolmetscherin:</a:t>
            </a:r>
          </a:p>
          <a:p>
            <a:r>
              <a:t>Diese kurze Übung dauert etwa 10 Minuten. In der Datei „src/uebung-5-module.ts“ stehen das Interface „Labelled“ und die Klasse „Customer“ noch zusammen mit dem Programm. Die Teilnehmenden legen eine neue Datei „customer.ts“ an, verschieben die Klasse dorthin und schreiben vor die Klasse das Wort „export“. In der ursprünglichen Datei importieren sie die Klasse mit „import“ und starten das Programm. Die Ausgabe muss dieselbe sein wie vorher. Als Zusatz kann auch das Interface exportiert und importiert werden.</a:t>
            </a:r>
          </a:p>
        </p:txBody>
      </p:sp>
      <p:sp>
        <p:nvSpPr>
          <p:cNvPr id="4" name="Slide Number Placeholder 3"/>
          <p:cNvSpPr>
            <a:spLocks noGrp="1"/>
          </p:cNvSpPr>
          <p:nvPr>
            <p:ph type="sldNum" idx="66"/>
          </p:nvPr>
        </p:nvSpPr>
        <p:spPr/>
      </p:sp>
    </p:spTree>
  </p:cSld>
  <p:clrMapOvr>
    <a:masterClrMapping/>
  </p:clrMapOvr>
</p:notes>
</file>

<file path=ppt/notesSlides/notesSlide8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„Von TypeScript zu Angular“.</a:t>
            </a:r>
          </a:p>
          <a:p/>
          <a:p>
            <a:r>
              <a:t>Diese Folie zeigt eine winzige Angular-Komponente. Die Bausteine kennen wir schon alle. Oben stehen zwei Importe, einer aus dem Paket „@angular/core“ und einer aus unserer eigenen Datei. Darunter steht der Dekorator „@Component“ mit einem „selector“ und einem „template“, also dem HTML der Komponente. Dann folgt die exportierte Klasse mit einem typisierten Attribut, einer Liste von Kunden, und einem Konstruktor mit einer Parameter Property für einen Dienst.</a:t>
            </a:r>
          </a:p>
          <a:p/>
          <a:p>
            <a:r>
              <a:t>Das Beispiel wird nicht übersetzt, weil „@angular/core“ im Primer-Ordner nicht installiert ist und „CustomerService“ hier fehlt. Im nächsten Schritt des Kurses legen die Teilnehmenden mit der Angular CLI ein echtes Projekt an. Das ist die Übung 4 des Angular-Kurses.</a:t>
            </a:r>
          </a:p>
        </p:txBody>
      </p:sp>
      <p:sp>
        <p:nvSpPr>
          <p:cNvPr id="4" name="Slide Number Placeholder 3"/>
          <p:cNvSpPr>
            <a:spLocks noGrp="1"/>
          </p:cNvSpPr>
          <p:nvPr>
            <p:ph type="sldNum" idx="66"/>
          </p:nvPr>
        </p:nvSpPr>
        <p:spPr/>
      </p:sp>
    </p:spTree>
  </p:cSld>
  <p:clrMapOvr>
    <a:masterClrMapping/>
  </p:clrMapOvr>
</p:notes>
</file>

<file path=ppt/notesSlides/notesSlide8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„Zusammenfassung: Was wir für Angular mitnehmen“.</a:t>
            </a:r>
          </a:p>
          <a:p/>
          <a:p>
            <a:r>
              <a:t>Diese Folie ist eine Checkliste. Sie zeigt, welche Themen aus dem TypeScript Primer wir im Angular-Kurs wieder brauchen. Typen und der strikte Modus schützen vor vielen Fehlern. Die Operatoren für fehlende Werte benutzen wir in den Templates.</a:t>
            </a:r>
          </a:p>
          <a:p/>
          <a:p>
            <a:r>
              <a:t>Listen verarbeiten wir ständig mit „filter“ und „map“. Beim Thema Reaktivität kommt der Spread-Operator zurück: Signals erwarten ein neues Objekt statt einer Veränderung des alten. Union Types beschreiben später Zustände wie „wird geladen“ und „geladen“.</a:t>
            </a:r>
          </a:p>
          <a:p/>
          <a:p>
            <a:r>
              <a:t>Generics erkennt man in „signal“, „input“ und „Observable“ mit den spitzen Klammern. Klassen mit Parameter Properties finden wir in „customer.model.ts“ und bei Diensten. Dekoratoren und Module sind in jeder Komponente zu sehen. Damit sind die Teilnehmenden für den Einstieg in Angular vorbereitet.</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9.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0.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8.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99.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0.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1.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0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6.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9.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1.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3.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14.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6.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8.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19.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0.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1.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2.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3.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4.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5.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6.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8.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9.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0.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1.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3.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8.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9.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4.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1.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4.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6.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9.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60.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1.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8.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9.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0.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1.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2.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73.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4.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5.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6.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8.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9.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0.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1.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2.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3.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4.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5.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6.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8.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9.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0.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1.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2.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3.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4.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5.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96.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8.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9.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0.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1.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2.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3.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4.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5.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6.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8.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9.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0.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1.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2.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3.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4.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5.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6.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8.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9.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0.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1.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2.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3.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4.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5.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6.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8.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9.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0.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1.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2.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3.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4.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5.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6.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8.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9.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0.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1.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2.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3.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4.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5.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46.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8.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9.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0.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4.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5.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6.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8.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9.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0.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1.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2.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3.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4.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5.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6.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8.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9.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0.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1.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2.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73.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4.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5.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6.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81.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2.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3.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4.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85.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6.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8.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9.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0.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1.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2.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3.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4.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5.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6.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8.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9.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00.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1.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0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0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5.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6.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0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8.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9.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10.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1.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2.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3.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4.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5.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16.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8.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9.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0.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1.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2.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3.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4.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5.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6.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8.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9.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3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31.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32.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33.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4.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35.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6.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8.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9.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0.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1.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2.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3.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4.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5.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6.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8.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9.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0.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1.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2.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3.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4.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5.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6.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8.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9.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0.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1.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2.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3.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4.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5.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6.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8.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9.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70.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1.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2.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3.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4.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5.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6.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7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8.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9.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0.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1.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2.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3.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4.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5.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6.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8.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9.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0.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1.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2.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3.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6.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8.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9.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0.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1.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2.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3.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4.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5.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6.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8.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9.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10.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1.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2.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3.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4.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5.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6.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81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1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1.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2.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3.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4.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5.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6.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8.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9.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0.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1.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2.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3.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4.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5.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6.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8.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5.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6.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8.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9.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0.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1.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852.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3.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4.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5.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6.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8.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9.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0.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861.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62.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3.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4.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65.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Meta-Frameworks</a:t>
            </a:r>
          </a:p>
          <a:p>
            <a:pPr algn="ctr"/>
            <a:r>
              <a:rPr sz="1700" b="1">
                <a:solidFill>
                  <a:srgbClr val="FFFFFF"/>
                </a:solidFill>
                <a:latin typeface="Segoe UI"/>
              </a:rPr>
              <a:t>Next.js, Nuxt, SvelteKit, Analog</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Frameworks</a:t>
            </a:r>
          </a:p>
          <a:p>
            <a:pPr algn="ctr"/>
            <a:r>
              <a:rPr sz="1700" b="1">
                <a:solidFill>
                  <a:srgbClr val="FFFFFF"/>
                </a:solidFill>
                <a:latin typeface="Segoe UI"/>
              </a:rPr>
              <a:t>Angular, Vue, Svelte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UI-Bibliotheken</a:t>
            </a:r>
          </a:p>
          <a:p>
            <a:pPr algn="ctr"/>
            <a:r>
              <a:rPr sz="1700" b="0">
                <a:solidFill>
                  <a:srgbClr val="2B3A42"/>
                </a:solidFill>
                <a:latin typeface="Segoe UI"/>
              </a:rPr>
              <a:t>React, Preact, Solid, Lit</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Je höher, desto mehr ist vorgegeben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Routing: @angular/router (sonst z. B. React Router oder TanStack Router)</a:t>
            </a:r>
          </a:p>
          <a:p>
            <a:pPr>
              <a:defRPr sz="1600" b="0">
                <a:latin typeface="Segoe UI"/>
              </a:defRPr>
            </a:pPr>
            <a:r>
              <a:rPr lang="de-DE" sz="1600" b="0">
                <a:latin typeface="Segoe UI"/>
              </a:rPr>
              <a:t>HTTP: HttpClient mit Interceptors (sonst z. B. fetch oder axios)</a:t>
            </a:r>
          </a:p>
          <a:p>
            <a:pPr>
              <a:defRPr sz="1600" b="0">
                <a:latin typeface="Segoe UI"/>
              </a:defRPr>
            </a:pPr>
            <a:r>
              <a:rPr lang="de-DE" sz="1600" b="0">
                <a:latin typeface="Segoe UI"/>
              </a:rPr>
              <a:t>Formulare: Template-Driven Forms und Reactive Forms (sonst z. B. Formik)</a:t>
            </a:r>
          </a:p>
          <a:p>
            <a:pPr>
              <a:defRPr sz="1600" b="0">
                <a:latin typeface="Segoe UI"/>
              </a:defRPr>
            </a:pPr>
            <a:r>
              <a:rPr lang="de-DE" sz="1600" b="0">
                <a:latin typeface="Segoe UI"/>
              </a:rPr>
              <a:t>Zustand: Signals, Services und NgRx (sonst z. B. Redux, Zustand oder MobX)</a:t>
            </a:r>
          </a:p>
          <a:p>
            <a:pPr>
              <a:defRPr sz="1600" b="0">
                <a:latin typeface="Segoe UI"/>
              </a:defRPr>
            </a:pPr>
            <a:r>
              <a:rPr lang="de-DE" sz="1600" b="0">
                <a:latin typeface="Segoe UI"/>
              </a:rPr>
              <a:t>Abhängigkeiten: Dependency Injection (sonst z. B. Context oder Module-Singletons)</a:t>
            </a:r>
          </a:p>
          <a:p>
            <a:pPr>
              <a:defRPr sz="1600" b="0">
                <a:latin typeface="Segoe UI"/>
              </a:defRPr>
            </a:pPr>
            <a:r>
              <a:rPr lang="de-DE" sz="1600" b="0">
                <a:latin typeface="Segoe UI"/>
              </a:rPr>
              <a:t>Werkzeuge: Angular CLI mit dem Befehl ng (sonst z. B. Vite oder eigene Konfiguration)</a:t>
            </a:r>
          </a:p>
          <a:p>
            <a:pPr>
              <a:defRPr sz="1600" b="0">
                <a:latin typeface="Segoe UI"/>
              </a:defRPr>
            </a:pPr>
            <a:r>
              <a:rPr lang="de-DE" sz="1600" b="0">
                <a:latin typeface="Segoe UI"/>
              </a:rPr>
              <a:t>Tests: Vitest-Setup ab Version 21 und TestBed (sonst z. B. Jest mit Testing Library)</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HttpClient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Dependency Injection</a:t>
            </a:r>
          </a:p>
        </p:txBody>
      </p:sp>
      <p:sp>
        <p:nvSpPr>
          <p:cNvPr id="11" name="Rounded Rectangle 10"/>
          <p:cNvSpPr/>
          <p:nvPr/>
        </p:nvSpPr>
        <p:spPr>
          <a:xfrm>
            <a:off x="7000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CLI</a:t>
            </a:r>
          </a:p>
        </p:txBody>
      </p:sp>
      <p:sp>
        <p:nvSpPr>
          <p:cNvPr id="12" name="Rounded Rectangle 11"/>
          <p:cNvSpPr/>
          <p:nvPr/>
        </p:nvSpPr>
        <p:spPr>
          <a:xfrm>
            <a:off x="9250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Vitest</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Passt gut: große, langlebige Unternehmensanwendungen mit vielen Teams</a:t>
            </a:r>
          </a:p>
          <a:p>
            <a:pPr>
              <a:defRPr sz="1600" b="0">
                <a:latin typeface="Segoe UI"/>
              </a:defRPr>
            </a:pPr>
            <a:r>
              <a:rPr lang="de-DE" sz="1600" b="0">
                <a:latin typeface="Segoe UI"/>
              </a:rPr>
              <a:t>Passt gut: Dashboards und formularlastige Fachanwendungen mit hohen Qualitätsanforderungen</a:t>
            </a:r>
          </a:p>
          <a:p>
            <a:pPr>
              <a:defRPr sz="1600" b="0">
                <a:latin typeface="Segoe UI"/>
              </a:defRPr>
            </a:pPr>
            <a:r>
              <a:rPr lang="de-DE" sz="1600" b="0">
                <a:latin typeface="Segoe UI"/>
              </a:rPr>
              <a:t>Passt weniger: reine Inhaltsseiten und Blogs (z. B. Astro oder statische Generatoren)</a:t>
            </a:r>
          </a:p>
          <a:p>
            <a:pPr>
              <a:defRPr sz="1600" b="0">
                <a:latin typeface="Segoe UI"/>
              </a:defRPr>
            </a:pPr>
            <a:r>
              <a:rPr lang="de-DE" sz="1600" b="0">
                <a:latin typeface="Segoe UI"/>
              </a:rPr>
              <a:t>Passt weniger: sehr kleine Widgets</a:t>
            </a:r>
          </a:p>
          <a:p>
            <a:pPr>
              <a:defRPr sz="1600" b="0">
                <a:latin typeface="Segoe UI"/>
              </a:defRPr>
            </a:pPr>
            <a:r>
              <a:rPr lang="de-DE" sz="1600" b="0">
                <a:latin typeface="Segoe UI"/>
              </a:rPr>
              <a:t>Passt weniger: Teams ohne TypeScript-Erfahrung und ohne Zeit zum Einarbeiten</a:t>
            </a:r>
          </a:p>
          <a:p>
            <a:pPr>
              <a:defRPr sz="1600" b="0">
                <a:latin typeface="Segoe UI"/>
              </a:defRPr>
            </a:pPr>
            <a:r>
              <a:rPr lang="de-DE" sz="1600" b="0">
                <a:latin typeface="Segoe UI"/>
              </a:rPr>
              <a:t>Entscheidungskriterien: Teamgröße, Lebensdauer, vorhandene Skills, Integrationsbedarf</a:t>
            </a:r>
          </a:p>
          <a:p>
            <a:pPr>
              <a:defRPr sz="1600" b="0">
                <a:latin typeface="Segoe UI"/>
              </a:defRPr>
            </a:pPr>
            <a:r>
              <a:rPr lang="de-DE" sz="1600" b="0">
                <a:latin typeface="Segoe UI"/>
              </a:rPr>
              <a:t>Außerdem: Rendering-Anforderungen wie Suchmaschinen-Optimierung (SEO) und Server-Rendering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Passt gut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große Firmen-Apps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viele Teams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lange Laufzeit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Weniger passend</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Blogs, Inhalte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kleine Widgets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Team ohne TS</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Details</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Header</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Leitgedanke: weniger Boilerplate, mehr Reaktivität</a:t>
            </a:r>
          </a:p>
          <a:p>
            <a:pPr>
              <a:defRPr sz="1800" b="0">
                <a:latin typeface="Segoe UI"/>
              </a:defRPr>
            </a:pPr>
            <a:r>
              <a:rPr lang="de-DE" sz="1800" b="0">
                <a:latin typeface="Segoe UI"/>
              </a:rPr>
              <a:t>NgModule wird zu Standalone-Komponenten (imports: [])</a:t>
            </a:r>
          </a:p>
          <a:p>
            <a:pPr>
              <a:defRPr sz="1800" b="0">
                <a:latin typeface="Segoe UI"/>
              </a:defRPr>
            </a:pPr>
            <a:r>
              <a:rPr lang="de-DE" sz="1800" b="0">
                <a:latin typeface="Segoe UI"/>
              </a:rPr>
              <a:t>Zone.js und implizite Change Detection werden zu Signals und zoneless</a:t>
            </a:r>
          </a:p>
          <a:p>
            <a:pPr>
              <a:defRPr sz="1800" b="0">
                <a:latin typeface="Segoe UI"/>
              </a:defRPr>
            </a:pPr>
            <a:r>
              <a:rPr lang="de-DE" sz="1800" b="0">
                <a:latin typeface="Segoe UI"/>
              </a:rPr>
              <a:t>*ngIf und *ngFor werden zu @if, @for und @switch</a:t>
            </a:r>
          </a:p>
          <a:p>
            <a:pPr>
              <a:defRPr sz="1800" b="0">
                <a:latin typeface="Segoe UI"/>
              </a:defRPr>
            </a:pPr>
            <a:r>
              <a:rPr lang="de-DE" sz="1800" b="0">
                <a:latin typeface="Segoe UI"/>
              </a:rPr>
              <a:t>@Input(), @Output() und EventEmitter werden zu input(), output() und model()</a:t>
            </a:r>
          </a:p>
          <a:p>
            <a:pPr>
              <a:defRPr sz="1800" b="0">
                <a:latin typeface="Segoe UI"/>
              </a:defRPr>
            </a:pPr>
            <a:r>
              <a:rPr lang="de-DE" sz="1800" b="0">
                <a:latin typeface="Segoe UI"/>
              </a:rPr>
              <a:t>Konstruktor-Injection wird zu inject()</a:t>
            </a:r>
          </a:p>
          <a:p>
            <a:pPr>
              <a:defRPr sz="1800" b="0">
                <a:latin typeface="Segoe UI"/>
              </a:defRPr>
            </a:pPr>
            <a:r>
              <a:rPr lang="de-DE" sz="1800" b="0">
                <a:latin typeface="Segoe UI"/>
              </a:rPr>
              <a:t>Klassen-Guards und -Interceptors werden zu funktionalen Guards und Interceptors</a:t>
            </a:r>
          </a:p>
          <a:p>
            <a:pPr>
              <a:defRPr sz="1800" b="0">
                <a:latin typeface="Segoe UI"/>
              </a:defRPr>
            </a:pPr>
            <a:r>
              <a:rPr lang="de-DE" sz="1800" b="0">
                <a:latin typeface="Segoe UI"/>
              </a:rPr>
              <a:t>Karma und Jasmine werden zu Vitest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Früher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*ngIf, @Input()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Zone.js, Karma</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Standalone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@if, input()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Vitest</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2016: Angular 2 als Neuentwurf gegenüber AngularJS</a:t>
            </a:r>
          </a:p>
          <a:p>
            <a:pPr>
              <a:defRPr sz="1800" b="0">
                <a:latin typeface="Segoe UI"/>
              </a:defRPr>
            </a:pPr>
            <a:r>
              <a:rPr lang="de-DE" sz="1800" b="0">
                <a:latin typeface="Segoe UI"/>
              </a:rPr>
              <a:t>Ivy-Renderer (Version 9), Standalone-Komponenten (ab Version 14/15)</a:t>
            </a:r>
          </a:p>
          <a:p>
            <a:pPr>
              <a:defRPr sz="1800" b="0">
                <a:latin typeface="Segoe UI"/>
              </a:defRPr>
            </a:pPr>
            <a:r>
              <a:rPr lang="de-DE" sz="1800" b="0">
                <a:latin typeface="Segoe UI"/>
              </a:rPr>
              <a:t>Signals und neuer Control Flow (Version 16/17)</a:t>
            </a:r>
          </a:p>
          <a:p>
            <a:pPr>
              <a:defRPr sz="1800" b="0">
                <a:latin typeface="Segoe UI"/>
              </a:defRPr>
            </a:pPr>
            <a:r>
              <a:rPr lang="de-DE" sz="1800" b="0">
                <a:latin typeface="Segoe UI"/>
              </a:rPr>
              <a:t>Zoneless (Version 20/21), Vitest als Standard-Testrunner (Version 21)</a:t>
            </a:r>
          </a:p>
          <a:p>
            <a:pPr>
              <a:defRPr sz="1800" b="0">
                <a:latin typeface="Segoe UI"/>
              </a:defRPr>
            </a:pPr>
            <a:r>
              <a:rPr lang="de-DE" sz="1800" b="0">
                <a:latin typeface="Segoe UI"/>
              </a:rPr>
              <a:t>Release-Rhythmus: zwei Major-Versionen pro Jahr, jede etwa 18 Monate unterstützt</a:t>
            </a:r>
          </a:p>
          <a:p>
            <a:pPr>
              <a:defRPr sz="1800" b="0">
                <a:latin typeface="Segoe UI"/>
              </a:defRPr>
            </a:pPr>
            <a:r>
              <a:rPr lang="de-DE" sz="1800" b="0">
                <a:latin typeface="Segoe UI"/>
              </a:rPr>
              <a:t>Updates mit ng update und Migrations-Schematics</a:t>
            </a:r>
          </a:p>
          <a:p>
            <a:pPr>
              <a:defRPr sz="1800" b="0">
                <a:latin typeface="Segoe UI"/>
              </a:defRPr>
            </a:pPr>
            <a:r>
              <a:rPr lang="de-DE" sz="1800" b="0">
                <a:latin typeface="Segoe UI"/>
              </a:rPr>
              <a:t>Wissen veraltet nicht schlagartig, aber die Muster wandeln sich</a:t>
            </a:r>
          </a:p>
          <a:p>
            <a:pPr>
              <a:defRPr sz="1800" b="0">
                <a:latin typeface="Segoe UI"/>
              </a:defRPr>
            </a:pPr>
            <a:r>
              <a:rPr lang="de-DE" sz="1800" b="0">
                <a:latin typeface="Segoe UI"/>
              </a:rPr>
              <a:t>Der Kurs vermittelt deshalb Prinzipien und nicht nur Programmierschnittstellen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2016: Angular 2</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9: Ivy-Renderer</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14/15: Standalone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16/17: Signals, @if/@for</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Version 20/21: zoneless, Vitest</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155731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ng new invoice-app</a:t>
            </a:r>
          </a:p>
          <a:p>
            <a:pPr algn="l"/>
            <a:r>
              <a:rPr sz="1300" b="0">
                <a:solidFill>
                  <a:srgbClr val="2B3A42"/>
                </a:solidFill>
                <a:latin typeface="Consolas"/>
              </a:rPr>
              <a:t>ng serve        # Dev-Server, HMR</a:t>
            </a:r>
          </a:p>
          <a:p>
            <a:pPr algn="l"/>
            <a:r>
              <a:rPr sz="1300" b="0">
                <a:solidFill>
                  <a:srgbClr val="2B3A42"/>
                </a:solidFill>
                <a:latin typeface="Consolas"/>
              </a:rPr>
              <a:t>ng generate component customer-list</a:t>
            </a:r>
          </a:p>
          <a:p>
            <a:pPr algn="l"/>
            <a:r>
              <a:rPr sz="1300" b="0">
                <a:solidFill>
                  <a:srgbClr val="2B3A42"/>
                </a:solidFill>
                <a:latin typeface="Consolas"/>
              </a:rPr>
              <a:t>ng test         # Vitest</a:t>
            </a:r>
          </a:p>
          <a:p>
            <a:pPr algn="l"/>
            <a:r>
              <a:rPr sz="1300" b="0">
                <a:solidFill>
                  <a:srgbClr val="2B3A42"/>
                </a:solidFill>
                <a:latin typeface="Consolas"/>
              </a:rPr>
              <a:t>ng build        # fertige App</a:t>
            </a:r>
          </a:p>
          <a:p>
            <a:pPr algn="l"/>
            <a:r>
              <a:rPr sz="1300" b="0">
                <a:solidFill>
                  <a:srgbClr val="2B3A42"/>
                </a:solidFill>
                <a:latin typeface="Consolas"/>
              </a:rPr>
              <a:t>ng update       # neue Version</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Alle Übungen entwickeln eine Anwendung weiter: Kundenverwaltung mit Liste, Details, Login</a:t>
            </a:r>
          </a:p>
          <a:p>
            <a:pPr>
              <a:defRPr sz="1800" b="0">
                <a:latin typeface="Segoe UI"/>
              </a:defRPr>
            </a:pPr>
            <a:r>
              <a:rPr lang="de-DE" sz="1800" b="0">
                <a:latin typeface="Segoe UI"/>
              </a:rPr>
              <a:t>Jede Übung startet mit dem Ergebnis der vorherigen (Ordner 04_… bis 38_…)</a:t>
            </a:r>
          </a:p>
          <a:p>
            <a:pPr>
              <a:defRPr sz="1800" b="0">
                <a:latin typeface="Segoe UI"/>
              </a:defRPr>
            </a:pPr>
            <a:r>
              <a:rPr lang="de-DE" sz="1800" b="0">
                <a:latin typeface="Segoe UI"/>
              </a:rPr>
              <a:t>Wer eine Übung nicht schafft, startet die nächste im Lösungsordner der vorigen Übung</a:t>
            </a:r>
          </a:p>
          <a:p>
            <a:pPr>
              <a:defRPr sz="1800" b="0">
                <a:latin typeface="Segoe UI"/>
              </a:defRPr>
            </a:pPr>
            <a:r>
              <a:rPr lang="de-DE" sz="1800" b="0">
                <a:latin typeface="Segoe UI"/>
              </a:rPr>
              <a:t>Aufbau des Kurses:</a:t>
            </a:r>
          </a:p>
          <a:p>
            <a:pPr lvl="1">
              <a:defRPr sz="1530" b="0">
                <a:latin typeface="Segoe UI"/>
              </a:defRPr>
            </a:pPr>
            <a:r>
              <a:rPr lang="de-DE" sz="1530" b="0">
                <a:latin typeface="Segoe UI"/>
              </a:rPr>
              <a:t>1. Grundlagen: Komponenten, Templates, Services, Routing</a:t>
            </a:r>
          </a:p>
          <a:p>
            <a:pPr lvl="1">
              <a:defRPr sz="1530" b="0">
                <a:latin typeface="Segoe UI"/>
              </a:defRPr>
            </a:pPr>
            <a:r>
              <a:rPr lang="de-DE" sz="1530" b="0">
                <a:latin typeface="Segoe UI"/>
              </a:rPr>
              <a:t>2. Reaktivität und Datenfluss</a:t>
            </a:r>
          </a:p>
          <a:p>
            <a:pPr lvl="1">
              <a:defRPr sz="1530" b="0">
                <a:latin typeface="Segoe UI"/>
              </a:defRPr>
            </a:pPr>
            <a:r>
              <a:rPr lang="de-DE" sz="1530" b="0">
                <a:latin typeface="Segoe UI"/>
              </a:rPr>
              <a:t>3. Anwendungsstruktur und Zustandsverwaltung</a:t>
            </a:r>
          </a:p>
          <a:p>
            <a:pPr lvl="1">
              <a:defRPr sz="1530" b="0">
                <a:latin typeface="Segoe UI"/>
              </a:defRPr>
            </a:pPr>
            <a:r>
              <a:rPr lang="de-DE" sz="1530" b="0">
                <a:latin typeface="Segoe UI"/>
              </a:rPr>
              <a:t>4. Qualität, Tests, Wartbarkeit</a:t>
            </a:r>
          </a:p>
          <a:p>
            <a:pPr lvl="1">
              <a:defRPr sz="1530" b="0">
                <a:latin typeface="Segoe UI"/>
              </a:defRPr>
            </a:pPr>
            <a:r>
              <a:rPr lang="de-DE" sz="1530" b="0">
                <a:latin typeface="Segoe UI"/>
              </a:rPr>
              <a:t>5. Performance, Sicherheit, KI-gestützte Entwicklung</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1 Grundlagen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2 Reaktivität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3 Struktur und Zustand</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4 Qualität und Tests</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5 Performance, Sicherheit, KI</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Eine App, die in jeder Übung weiterwächst</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CustomerPage (Container)</a:t>
            </a:r>
          </a:p>
          <a:p>
            <a:pPr algn="ctr"/>
            <a:r>
              <a:rPr sz="1600" b="1">
                <a:solidFill>
                  <a:srgbClr val="FFFFFF"/>
                </a:solidFill>
                <a:latin typeface="Segoe UI"/>
              </a:rPr>
              <a:t>kennt den Service</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a:p>
            <a:pPr algn="ctr"/>
            <a:r>
              <a:rPr sz="1400" b="0">
                <a:solidFill>
                  <a:srgbClr val="2B3A42"/>
                </a:solidFill>
                <a:latin typeface="Segoe UI"/>
              </a:rPr>
              <a:t>input / output</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CustomerFilter</a:t>
            </a:r>
          </a:p>
          <a:p>
            <a:pPr algn="ctr"/>
            <a:r>
              <a:rPr sz="1400" b="0">
                <a:solidFill>
                  <a:srgbClr val="2B3A42"/>
                </a:solidFill>
                <a:latin typeface="Segoe UI"/>
              </a:rPr>
              <a:t>input / output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Template-Driven Form: das Formular wird im Template beschrieben, die Klasse bleibt schlank</a:t>
            </a:r>
          </a:p>
          <a:p>
            <a:pPr>
              <a:defRPr sz="1600" b="0">
                <a:latin typeface="Segoe UI"/>
              </a:defRPr>
            </a:pPr>
            <a:r>
              <a:rPr lang="de-DE" sz="1600" b="0">
                <a:latin typeface="Segoe UI"/>
              </a:rPr>
              <a:t>FormsModule aus @angular/forms im imports-Array der Komponente importieren</a:t>
            </a:r>
          </a:p>
          <a:p>
            <a:pPr>
              <a:defRPr sz="1600" b="0">
                <a:latin typeface="Segoe UI"/>
              </a:defRPr>
            </a:pPr>
            <a:r>
              <a:rPr lang="de-DE" sz="1600" b="0">
                <a:latin typeface="Segoe UI"/>
              </a:rPr>
              <a:t>Jedes Feld bekommt die Direktive ngModel und ein name-Attribut</a:t>
            </a:r>
          </a:p>
          <a:p>
            <a:pPr lvl="1">
              <a:defRPr sz="1360" b="0">
                <a:latin typeface="Segoe UI"/>
              </a:defRPr>
            </a:pPr>
            <a:r>
              <a:rPr lang="de-DE" sz="1360" b="0">
                <a:latin typeface="Segoe UI"/>
              </a:rPr>
              <a:t>Innerhalb eines form-Tags ist das name-Attribut Pflicht, sonst gibt es einen Fehler</a:t>
            </a:r>
          </a:p>
          <a:p>
            <a:pPr>
              <a:defRPr sz="1600" b="0">
                <a:latin typeface="Segoe UI"/>
              </a:defRPr>
            </a:pPr>
            <a:r>
              <a:rPr lang="de-DE" sz="1600" b="0">
                <a:latin typeface="Segoe UI"/>
              </a:rPr>
              <a:t>Template-Referenz #f="ngModel" gibt Zugriff auf den Zustand eines Feldes</a:t>
            </a:r>
          </a:p>
          <a:p>
            <a:pPr lvl="1">
              <a:defRPr sz="1360" b="0">
                <a:latin typeface="Segoe UI"/>
              </a:defRPr>
            </a:pPr>
            <a:r>
              <a:rPr lang="de-DE" sz="1360" b="0">
                <a:latin typeface="Segoe UI"/>
              </a:rPr>
              <a:t>z. B. f.invalid, f.dirty, f.touched, f.errors</a:t>
            </a:r>
          </a:p>
          <a:p>
            <a:pPr>
              <a:defRPr sz="1600" b="0">
                <a:latin typeface="Segoe UI"/>
              </a:defRPr>
            </a:pPr>
            <a:r>
              <a:rPr lang="de-DE" sz="1600" b="0">
                <a:latin typeface="Segoe UI"/>
              </a:rPr>
              <a:t>Angular legt das Formular (NgForm) und die Felder automatisch im Hintergrund an</a:t>
            </a:r>
          </a:p>
          <a:p>
            <a:pPr>
              <a:defRPr sz="1600" b="0">
                <a:latin typeface="Segoe UI"/>
              </a:defRPr>
            </a:pPr>
            <a:r>
              <a:rPr lang="de-DE" sz="1600" b="0">
                <a:latin typeface="Segoe UI"/>
              </a:rPr>
              <a:t>Im Hauptpfad des Kurses bleiben wir bei dieser einfachen Variante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customer-form.html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&lt;form&gt;</a:t>
            </a:r>
          </a:p>
          <a:p>
            <a:pPr algn="l"/>
            <a:r>
              <a:rPr sz="1500" b="0">
                <a:solidFill>
                  <a:srgbClr val="2B3A42"/>
                </a:solidFill>
                <a:latin typeface="Consolas"/>
              </a:rPr>
              <a:t>  &lt;input name="firstname"</a:t>
            </a:r>
          </a:p>
          <a:p>
            <a:pPr algn="l"/>
            <a:r>
              <a:rPr sz="1500" b="0">
                <a:solidFill>
                  <a:srgbClr val="2B3A42"/>
                </a:solidFill>
                <a:latin typeface="Consolas"/>
              </a:rPr>
              <a:t>    [(ngModel)]="draft.firstname"</a:t>
            </a:r>
          </a:p>
          <a:p>
            <a:pPr algn="l"/>
            <a:r>
              <a:rPr sz="1500" b="0">
                <a:solidFill>
                  <a:srgbClr val="2B3A42"/>
                </a:solidFill>
                <a:latin typeface="Consolas"/>
              </a:rPr>
              <a:t>    #f="ngModel" required&gt;</a:t>
            </a:r>
          </a:p>
          <a:p>
            <a:pPr algn="l"/>
            <a:r>
              <a:rPr sz="1500" b="0">
                <a:solidFill>
                  <a:srgbClr val="2B3A42"/>
                </a:solidFill>
                <a:latin typeface="Consolas"/>
              </a:rPr>
              <a:t>  @if (f.invalid &amp;&amp; f.dirty) {</a:t>
            </a:r>
          </a:p>
          <a:p>
            <a:pPr algn="l"/>
            <a:r>
              <a:rPr sz="1500" b="0">
                <a:solidFill>
                  <a:srgbClr val="2B3A42"/>
                </a:solidFill>
                <a:latin typeface="Consolas"/>
              </a:rPr>
              <a:t>    &lt;small&gt;Pflichtfeld&lt;/small&gt;</a:t>
            </a:r>
          </a:p>
          <a:p>
            <a:pPr algn="l"/>
            <a:r>
              <a:rPr sz="1500" b="0">
                <a:solidFill>
                  <a:srgbClr val="2B3A42"/>
                </a:solidFill>
                <a:latin typeface="Consolas"/>
              </a:rPr>
              <a:t>  }</a:t>
            </a:r>
          </a:p>
          <a:p>
            <a:pPr algn="l"/>
            <a:r>
              <a:rPr sz="1500" b="0">
                <a:solidFill>
                  <a:srgbClr val="2B3A42"/>
                </a:solidFill>
                <a:latin typeface="Consolas"/>
              </a:rPr>
              <a:t>&lt;/form&gt;</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@if (draft(); as c)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#customerForm="ngForm"&gt;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[(ngModel)]="c.firstname"&gt;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name="city" [(ngModel)]="c.city"&gt;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 bearbeitbare Kopie des Kunden, das Original bleibt unverändert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#customerForm="ngForm": Zugriff auf das ganze Formular, z. B. .valid --&gt;</a:t>
            </a:r>
            <a:endParaRPr lang="de-DE" sz="1600" b="0" u="none" strike="noStrike">
              <a:solidFill>
                <a:srgbClr val="000000"/>
              </a:solidFill>
              <a:uFillTx/>
              <a:latin typeface="Arial"/>
            </a:endParaRP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Der geladene Kunde (nur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computed(()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id = this.id();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id ? this.customerService.getById(id)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customer = this.customer();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 ? { ...customer }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 Eingabe muss zum regulären Ausdruck passen (z. B. nur Ziffern für eine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Jedes Feld hat unabhängige Zustände:</a:t>
            </a:r>
          </a:p>
          <a:p>
            <a:pPr lvl="1">
              <a:defRPr sz="1530" b="0">
                <a:latin typeface="Segoe UI"/>
              </a:defRPr>
            </a:pPr>
            <a:r>
              <a:rPr lang="de-DE" sz="1530" b="0">
                <a:latin typeface="Segoe UI"/>
              </a:rPr>
              <a:t>untouched / touched: das Feld wurde noch nicht / schon einmal verlassen</a:t>
            </a:r>
          </a:p>
          <a:p>
            <a:pPr lvl="1">
              <a:defRPr sz="1530" b="0">
                <a:latin typeface="Segoe UI"/>
              </a:defRPr>
            </a:pPr>
            <a:r>
              <a:rPr lang="de-DE" sz="1530" b="0">
                <a:latin typeface="Segoe UI"/>
              </a:rPr>
              <a:t>pristine / dirty: der Wert ist noch unverändert / wurde verändert</a:t>
            </a:r>
          </a:p>
          <a:p>
            <a:pPr lvl="1">
              <a:defRPr sz="1530" b="0">
                <a:latin typeface="Segoe UI"/>
              </a:defRPr>
            </a:pPr>
            <a:r>
              <a:rPr lang="de-DE" sz="1530" b="0">
                <a:latin typeface="Segoe UI"/>
              </a:rPr>
              <a:t>valid / invalid: der aktuelle Wert ist gültig / ungültig</a:t>
            </a:r>
          </a:p>
          <a:p>
            <a:pPr>
              <a:defRPr sz="1800" b="0">
                <a:latin typeface="Segoe UI"/>
              </a:defRPr>
            </a:pPr>
            <a:r>
              <a:rPr lang="de-DE" sz="1800" b="0">
                <a:latin typeface="Segoe UI"/>
              </a:rPr>
              <a:t>errors enthält die konkrete Fehlerursache, z. B. required oder pattern</a:t>
            </a:r>
          </a:p>
          <a:p>
            <a:pPr>
              <a:defRPr sz="1800" b="0">
                <a:latin typeface="Segoe UI"/>
              </a:defRPr>
            </a:pPr>
            <a:r>
              <a:rPr lang="de-DE" sz="1800" b="0">
                <a:latin typeface="Segoe UI"/>
              </a:rPr>
              <a:t>Angular setzt passende CSS-Klassen: ng-valid, ng-invalid, ng-dirty, ng-touched</a:t>
            </a:r>
          </a:p>
          <a:p>
            <a:pPr>
              <a:defRPr sz="1800" b="0">
                <a:latin typeface="Segoe UI"/>
              </a:defRPr>
            </a:pPr>
            <a:r>
              <a:rPr lang="de-DE" sz="1800" b="0">
                <a:latin typeface="Segoe UI"/>
              </a:rPr>
              <a:t>Fehlermeldungen erst zeigen, wenn der Benutzer das Feld verändert hat (dirty)</a:t>
            </a:r>
          </a:p>
          <a:p>
            <a:pPr>
              <a:defRPr sz="1800" b="0">
                <a:latin typeface="Segoe UI"/>
              </a:defRPr>
            </a:pPr>
            <a:r>
              <a:rPr lang="de-DE" sz="1800" b="0">
                <a:latin typeface="Segoe UI"/>
              </a:rPr>
              <a:t>Das ganze Formular ist ungültig, sobald ein Feld ungültig ist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Nutzer-Aktion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touched: Feld verlassen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dirty: Wert geändert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Prüfung</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invalid: Regel verletzt</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errors: z. B. required</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Formularzustand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name="firstname" [(ngModel)]="c.firstname" required #firstname="ngModel"&gt;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class="error"&gt;Bitte einen Vornamen eingeben.&lt;/p&gt;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name="zip" [(ngModel)]="c.zip" pattern="[0-9]*" #zip="ngModel"&gt;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darf nur aus Ziffern bestehen.&lt;/p&gt;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Übung 23: &lt;button type="submit" [disabled]="customerForm.invalid"&gt; --&gt;</a:t>
            </a:r>
            <a:endParaRPr lang="de-DE" sz="1600" b="0" u="none" strike="noStrike">
              <a:solidFill>
                <a:srgbClr val="000000"/>
              </a:solidFill>
              <a:uFillTx/>
              <a:latin typeface="Arial"/>
            </a:endParaRP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 (für das Datumsfeld auch DatePipe)</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mit name-Attribut und [(ngModel)] an die Kopie binden</a:t>
            </a:r>
          </a:p>
          <a:p>
            <a:pPr>
              <a:defRPr sz="2000" b="1">
                <a:latin typeface="Segoe UI"/>
              </a:defRPr>
            </a:pPr>
            <a:r>
              <a:rPr lang="de-DE" sz="2000" b="1">
                <a:latin typeface="Segoe UI"/>
              </a:rPr>
              <a:t>4. Validierung per HTML-Attribut: Vor- und Nachname required, PLZ pattern="[0-9]*"</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Formularzustand ausgeben: #customerForm="ngForm" und customerForm.valid</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Angular-Module (NgModule)</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dieses Kapitel?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Viele Bestandsprojekte sind mit NgModules gebaut</a:t>
            </a:r>
          </a:p>
          <a:p>
            <a:pPr>
              <a:defRPr sz="2000" b="0">
                <a:latin typeface="Segoe UI"/>
              </a:defRPr>
            </a:pPr>
            <a:r>
              <a:rPr lang="de-DE" sz="2000" b="0">
                <a:latin typeface="Segoe UI"/>
              </a:rPr>
              <a:t>Ältere Bibliotheken, Doku und Forenbeiträge nutzen sie</a:t>
            </a:r>
          </a:p>
          <a:p>
            <a:pPr>
              <a:defRPr sz="2000" b="0">
                <a:latin typeface="Segoe UI"/>
              </a:defRPr>
            </a:pPr>
            <a:r>
              <a:rPr lang="de-DE" sz="2000" b="0">
                <a:latin typeface="Segoe UI"/>
              </a:rPr>
              <a:t>NgModules werden weiterhin unterstützt</a:t>
            </a:r>
          </a:p>
          <a:p>
            <a:pPr lvl="1">
              <a:defRPr sz="1700" b="0">
                <a:latin typeface="Segoe UI"/>
              </a:defRPr>
            </a:pPr>
            <a:r>
              <a:rPr lang="de-DE" sz="1700" b="0">
                <a:latin typeface="Segoe UI"/>
              </a:rPr>
              <a:t>Mischbetrieb mit Standalone ist möglich</a:t>
            </a:r>
          </a:p>
          <a:p>
            <a:pPr>
              <a:defRPr sz="2000" b="0">
                <a:latin typeface="Segoe UI"/>
              </a:defRPr>
            </a:pPr>
            <a:r>
              <a:rPr lang="de-DE" sz="2000" b="0">
                <a:latin typeface="Segoe UI"/>
              </a:rPr>
              <a:t>Neuer Code: immer Standalone</a:t>
            </a:r>
          </a:p>
          <a:p>
            <a:pPr>
              <a:defRPr sz="2000" b="0">
                <a:latin typeface="Segoe UI"/>
              </a:defRPr>
            </a:pPr>
            <a:r>
              <a:rPr lang="de-DE" sz="2000" b="0">
                <a:latin typeface="Segoe UI"/>
              </a:rPr>
              <a:t>Ziel: alten Code lesen, pflegen und migrieren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Bis v13: nur NgModules</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v14: Standalone (Vorschau)</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v15: Standalone stabil</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v17: ng new ohne Module</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v19: standalone = Standard</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ein NgModule?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Eine Klasse mit dem Dekorator @NgModule</a:t>
            </a:r>
          </a:p>
          <a:p>
            <a:pPr>
              <a:defRPr sz="2000" b="0">
                <a:latin typeface="Segoe UI"/>
              </a:defRPr>
            </a:pPr>
            <a:r>
              <a:rPr lang="de-DE" sz="2000" b="0">
                <a:latin typeface="Segoe UI"/>
              </a:rPr>
              <a:t>Fasst Komponenten, Direktiven und Pipes zusammen</a:t>
            </a:r>
          </a:p>
          <a:p>
            <a:pPr>
              <a:defRPr sz="2000" b="0">
                <a:latin typeface="Segoe UI"/>
              </a:defRPr>
            </a:pPr>
            <a:r>
              <a:rPr lang="de-DE" sz="2000" b="0">
                <a:latin typeface="Segoe UI"/>
              </a:rPr>
              <a:t>Legt fest, was im Template sichtbar ist</a:t>
            </a:r>
          </a:p>
          <a:p>
            <a:pPr>
              <a:defRPr sz="2000" b="0">
                <a:latin typeface="Segoe UI"/>
              </a:defRPr>
            </a:pPr>
            <a:r>
              <a:rPr lang="de-DE" sz="2000" b="0">
                <a:latin typeface="Segoe UI"/>
              </a:rPr>
              <a:t>Kann Services bereitstellen (providers)</a:t>
            </a:r>
          </a:p>
          <a:p>
            <a:pPr>
              <a:defRPr sz="2000" b="0">
                <a:latin typeface="Segoe UI"/>
              </a:defRPr>
            </a:pPr>
            <a:r>
              <a:rPr lang="de-DE" sz="2000" b="0">
                <a:latin typeface="Segoe UI"/>
              </a:rPr>
              <a:t>Nicht dasselbe wie ein ES-Modul (Datei mit import/export)</a:t>
            </a:r>
          </a:p>
          <a:p>
            <a:pPr lvl="1">
              <a:defRPr sz="1700" b="0">
                <a:latin typeface="Segoe UI"/>
              </a:defRPr>
            </a:pPr>
            <a:r>
              <a:rPr lang="de-DE" sz="1700" b="0">
                <a:latin typeface="Segoe UI"/>
              </a:rPr>
              <a:t>Beides wird parallel verwendet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ES-Modul (Datei)</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 / export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Sichtbarkeit von Symbolen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prüft TypeScript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NgModule (Angular)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Klasse mit @NgModule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Sichtbarkeit im Template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prüft Angular-Compiler</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gab es Module?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Kompromiss zwischen zwei Extremen</a:t>
            </a:r>
          </a:p>
          <a:p>
            <a:pPr lvl="1">
              <a:defRPr sz="1700" b="0">
                <a:latin typeface="Segoe UI"/>
              </a:defRPr>
            </a:pPr>
            <a:r>
              <a:rPr lang="de-DE" sz="1700" b="0">
                <a:latin typeface="Segoe UI"/>
              </a:rPr>
              <a:t>AngularJS 1: alles global, „einfach reinwerfen“</a:t>
            </a:r>
          </a:p>
          <a:p>
            <a:pPr lvl="1">
              <a:defRPr sz="1700" b="0">
                <a:latin typeface="Segoe UI"/>
              </a:defRPr>
            </a:pPr>
            <a:r>
              <a:rPr lang="de-DE" sz="1700" b="0">
                <a:latin typeface="Segoe UI"/>
              </a:rPr>
              <a:t>Vorabversionen von Angular 2: jede Abhängigkeit an jeder Komponente</a:t>
            </a:r>
          </a:p>
          <a:p>
            <a:pPr>
              <a:defRPr sz="2000" b="0">
                <a:latin typeface="Segoe UI"/>
              </a:defRPr>
            </a:pPr>
            <a:r>
              <a:rPr lang="de-DE" sz="2000" b="0">
                <a:latin typeface="Segoe UI"/>
              </a:rPr>
              <a:t>Kapselung: Feature-Bereiche als Einheit</a:t>
            </a:r>
          </a:p>
          <a:p>
            <a:pPr>
              <a:defRPr sz="2000" b="0">
                <a:latin typeface="Segoe UI"/>
              </a:defRPr>
            </a:pPr>
            <a:r>
              <a:rPr lang="de-DE" sz="2000" b="0">
                <a:latin typeface="Segoe UI"/>
              </a:rPr>
              <a:t>Bibliotheken mit einem Import einbinden (z. B. FormsModule)</a:t>
            </a:r>
          </a:p>
          <a:p>
            <a:pPr>
              <a:defRPr sz="2000" b="0">
                <a:latin typeface="Segoe UI"/>
              </a:defRPr>
            </a:pPr>
            <a:r>
              <a:rPr lang="de-DE" sz="2000" b="0">
                <a:latin typeface="Segoe UI"/>
              </a:rPr>
              <a:t>Lazy Loading ganzer Bereiche über Module</a:t>
            </a:r>
          </a:p>
          <a:p>
            <a:pPr>
              <a:defRPr sz="2000" b="0">
                <a:latin typeface="Segoe UI"/>
              </a:defRPr>
            </a:pPr>
            <a:r>
              <a:rPr lang="de-DE" sz="2000" b="0">
                <a:latin typeface="Segoe UI"/>
              </a:rPr>
              <a:t>Nachteile: viel Boilerplate, indirekte Abhängigkeiten, schwer zu überblicken</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Aufbau von @NgModule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declarations: eigene Bausteine des Moduls</a:t>
            </a:r>
          </a:p>
          <a:p>
            <a:pPr>
              <a:defRPr sz="2000" b="0">
                <a:latin typeface="Segoe UI"/>
              </a:defRPr>
            </a:pPr>
            <a:r>
              <a:rPr lang="de-DE" sz="2000" b="0">
                <a:latin typeface="Segoe UI"/>
              </a:rPr>
              <a:t>imports: andere Module, deren Exporte man nutzt</a:t>
            </a:r>
          </a:p>
          <a:p>
            <a:pPr>
              <a:defRPr sz="2000" b="0">
                <a:latin typeface="Segoe UI"/>
              </a:defRPr>
            </a:pPr>
            <a:r>
              <a:rPr lang="de-DE" sz="2000" b="0">
                <a:latin typeface="Segoe UI"/>
              </a:rPr>
              <a:t>exports: was andere Module nutzen dürfen</a:t>
            </a:r>
          </a:p>
          <a:p>
            <a:pPr>
              <a:defRPr sz="2000" b="0">
                <a:latin typeface="Segoe UI"/>
              </a:defRPr>
            </a:pPr>
            <a:r>
              <a:rPr lang="de-DE" sz="2000" b="0">
                <a:latin typeface="Segoe UI"/>
              </a:rPr>
              <a:t>providers: Services für Dependency Injection</a:t>
            </a:r>
          </a:p>
          <a:p>
            <a:pPr>
              <a:defRPr sz="2000" b="0">
                <a:latin typeface="Segoe UI"/>
              </a:defRPr>
            </a:pPr>
            <a:r>
              <a:rPr lang="de-DE" sz="2000" b="0">
                <a:latin typeface="Segoe UI"/>
              </a:rPr>
              <a:t>bootstrap: Startkomponente, nur im AppModule</a:t>
            </a:r>
          </a:p>
          <a:p>
            <a:pPr>
              <a:defRPr sz="2000" b="0">
                <a:latin typeface="Segoe UI"/>
              </a:defRPr>
            </a:pPr>
            <a:r>
              <a:rPr lang="de-DE" sz="2000" b="0">
                <a:latin typeface="Segoe UI"/>
              </a:rPr>
              <a:t>Alle Felder sind Arrays und optional</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@NgModule({ … })</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declarations</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imports</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exports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bootstrap</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AppModule im Projekt 30_modules_legacy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src/app/app.module.ts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NgModule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BrowserModule } from '@angular/platform-browser';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provideHttpClient, withInterceptorsFromDi } from '@angular/common/http';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AppComponent } from './app.component';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TrainingsModule } from './trainings/trainings.module';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AppRoutingModule } from './app-routing.module';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declarations: [AppComponent],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imports: [BrowserModule, TrainingsModule, AppRoutingModule],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providers: [provideHttpClient(withInterceptorsFromDi())],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bootstrap: [AppComponent]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AppModule { }</a:t>
            </a:r>
            <a:endParaRPr lang="de-DE" sz="1600" b="0" u="none" strike="noStrike">
              <a:solidFill>
                <a:srgbClr val="000000"/>
              </a:solidFill>
              <a:uFillTx/>
              <a:latin typeface="Arial"/>
            </a:endParaRP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Felder im Detail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declarations</a:t>
            </a:r>
          </a:p>
          <a:p>
            <a:pPr lvl="1">
              <a:defRPr sz="1700" b="0">
                <a:latin typeface="Segoe UI"/>
              </a:defRPr>
            </a:pPr>
            <a:r>
              <a:rPr lang="de-DE" sz="1700" b="0">
                <a:latin typeface="Segoe UI"/>
              </a:rPr>
              <a:t>Komponenten, Direktiven, Pipes mit standalone: false</a:t>
            </a:r>
          </a:p>
          <a:p>
            <a:pPr lvl="1">
              <a:defRPr sz="1700" b="0">
                <a:latin typeface="Segoe UI"/>
              </a:defRPr>
            </a:pPr>
            <a:r>
              <a:rPr lang="de-DE" sz="1700" b="0">
                <a:latin typeface="Segoe UI"/>
              </a:rPr>
              <a:t>Jeder Baustein gehört zu genau einem Modul</a:t>
            </a:r>
          </a:p>
          <a:p>
            <a:pPr>
              <a:defRPr sz="2000" b="0">
                <a:latin typeface="Segoe UI"/>
              </a:defRPr>
            </a:pPr>
            <a:r>
              <a:rPr lang="de-DE" sz="2000" b="0">
                <a:latin typeface="Segoe UI"/>
              </a:rPr>
              <a:t>imports</a:t>
            </a:r>
          </a:p>
          <a:p>
            <a:pPr lvl="1">
              <a:defRPr sz="1700" b="0">
                <a:latin typeface="Segoe UI"/>
              </a:defRPr>
            </a:pPr>
            <a:r>
              <a:rPr lang="de-DE" sz="1700" b="0">
                <a:latin typeface="Segoe UI"/>
              </a:rPr>
              <a:t>NgModules oder Standalone-Bausteine</a:t>
            </a:r>
          </a:p>
          <a:p>
            <a:pPr lvl="1">
              <a:defRPr sz="1700" b="0">
                <a:latin typeface="Segoe UI"/>
              </a:defRPr>
            </a:pPr>
            <a:r>
              <a:rPr lang="de-DE" sz="1700" b="0">
                <a:latin typeface="Segoe UI"/>
              </a:rPr>
              <a:t>Deren Exporte sind in den eigenen Templates nutzbar</a:t>
            </a:r>
          </a:p>
          <a:p>
            <a:pPr>
              <a:defRPr sz="2000" b="0">
                <a:latin typeface="Segoe UI"/>
              </a:defRPr>
            </a:pPr>
            <a:r>
              <a:rPr lang="de-DE" sz="2000" b="0">
                <a:latin typeface="Segoe UI"/>
              </a:rPr>
              <a:t>exports</a:t>
            </a:r>
          </a:p>
          <a:p>
            <a:pPr lvl="1">
              <a:defRPr sz="1700" b="0">
                <a:latin typeface="Segoe UI"/>
              </a:defRPr>
            </a:pPr>
            <a:r>
              <a:rPr lang="de-DE" sz="1700" b="0">
                <a:latin typeface="Segoe UI"/>
              </a:rPr>
              <a:t>Eigene Bausteine oder importierte Module weitergeben</a:t>
            </a:r>
          </a:p>
          <a:p>
            <a:pPr lvl="1">
              <a:defRPr sz="1700" b="0">
                <a:latin typeface="Segoe UI"/>
              </a:defRPr>
            </a:pPr>
            <a:r>
              <a:rPr lang="de-DE" sz="1700" b="0">
                <a:latin typeface="Segoe UI"/>
              </a:rPr>
              <a:t>Nicht exportiert = privat im Modul</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Felder im Detail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providers</a:t>
            </a:r>
          </a:p>
          <a:p>
            <a:pPr lvl="1">
              <a:defRPr sz="1700" b="0">
                <a:latin typeface="Segoe UI"/>
              </a:defRPr>
            </a:pPr>
            <a:r>
              <a:rPr lang="de-DE" sz="1700" b="0">
                <a:latin typeface="Segoe UI"/>
              </a:rPr>
              <a:t>Services für den Injector, z. B. [TrainingService]</a:t>
            </a:r>
          </a:p>
          <a:p>
            <a:pPr lvl="1">
              <a:defRPr sz="1700" b="0">
                <a:latin typeface="Segoe UI"/>
              </a:defRPr>
            </a:pPr>
            <a:r>
              <a:rPr lang="de-DE" sz="1700" b="0">
                <a:latin typeface="Segoe UI"/>
              </a:rPr>
              <a:t>Bei normal importierten Modulen: anwendungsweit eine Instanz</a:t>
            </a:r>
          </a:p>
          <a:p>
            <a:pPr>
              <a:defRPr sz="2000" b="0">
                <a:latin typeface="Segoe UI"/>
              </a:defRPr>
            </a:pPr>
            <a:r>
              <a:rPr lang="de-DE" sz="2000" b="0">
                <a:latin typeface="Segoe UI"/>
              </a:rPr>
              <a:t>bootstrap</a:t>
            </a:r>
          </a:p>
          <a:p>
            <a:pPr lvl="1">
              <a:defRPr sz="1700" b="0">
                <a:latin typeface="Segoe UI"/>
              </a:defRPr>
            </a:pPr>
            <a:r>
              <a:rPr lang="de-DE" sz="1700" b="0">
                <a:latin typeface="Segoe UI"/>
              </a:rPr>
              <a:t>Startkomponente(n), nur im AppModule</a:t>
            </a:r>
          </a:p>
          <a:p>
            <a:pPr lvl="1">
              <a:defRPr sz="1700" b="0">
                <a:latin typeface="Segoe UI"/>
              </a:defRPr>
            </a:pPr>
            <a:r>
              <a:rPr lang="de-DE" sz="1700" b="0">
                <a:latin typeface="Segoe UI"/>
              </a:rPr>
              <a:t>Ihr Selector muss in index.html stehen</a:t>
            </a:r>
          </a:p>
          <a:p>
            <a:pPr>
              <a:defRPr sz="2000" b="0">
                <a:latin typeface="Segoe UI"/>
              </a:defRPr>
            </a:pPr>
            <a:r>
              <a:rPr lang="de-DE" sz="2000" b="0">
                <a:latin typeface="Segoe UI"/>
              </a:rPr>
              <a:t>BrowserModule nur im AppModule importieren</a:t>
            </a:r>
          </a:p>
          <a:p>
            <a:pPr lvl="1">
              <a:defRPr sz="1700" b="0">
                <a:latin typeface="Segoe UI"/>
              </a:defRPr>
            </a:pPr>
            <a:r>
              <a:rPr lang="de-DE" sz="1700" b="0">
                <a:latin typeface="Segoe UI"/>
              </a:rPr>
              <a:t>Feature-Module importieren stattdessen CommonModule</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Sichtbarkeit zwischen Modulen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Ein Template sieht nur, was sein Modul kennt</a:t>
            </a:r>
          </a:p>
          <a:p>
            <a:pPr lvl="1">
              <a:defRPr sz="1700" b="0">
                <a:latin typeface="Segoe UI"/>
              </a:defRPr>
            </a:pPr>
            <a:r>
              <a:rPr lang="de-DE" sz="1700" b="0">
                <a:latin typeface="Segoe UI"/>
              </a:rPr>
              <a:t>eigene declarations</a:t>
            </a:r>
          </a:p>
          <a:p>
            <a:pPr lvl="1">
              <a:defRPr sz="1700" b="0">
                <a:latin typeface="Segoe UI"/>
              </a:defRPr>
            </a:pPr>
            <a:r>
              <a:rPr lang="de-DE" sz="1700" b="0">
                <a:latin typeface="Segoe UI"/>
              </a:rPr>
              <a:t>Exporte der importierten Module</a:t>
            </a:r>
          </a:p>
          <a:p>
            <a:pPr>
              <a:defRPr sz="2000" b="0">
                <a:latin typeface="Segoe UI"/>
              </a:defRPr>
            </a:pPr>
            <a:r>
              <a:rPr lang="de-DE" sz="2000" b="0">
                <a:latin typeface="Segoe UI"/>
              </a:rPr>
              <a:t>Fehlt ein Glied der Kette, meldet Angular:</a:t>
            </a:r>
          </a:p>
          <a:p>
            <a:pPr lvl="1">
              <a:defRPr sz="1700" b="0">
                <a:latin typeface="Segoe UI"/>
              </a:defRPr>
            </a:pPr>
            <a:r>
              <a:rPr lang="de-DE" sz="1700" b="0">
                <a:latin typeface="Segoe UI"/>
              </a:rPr>
              <a:t>„'training-list' is not a known element“</a:t>
            </a:r>
          </a:p>
          <a:p>
            <a:pPr>
              <a:defRPr sz="2000" b="0">
                <a:latin typeface="Segoe UI"/>
              </a:defRPr>
            </a:pPr>
            <a:r>
              <a:rPr lang="de-DE" sz="2000" b="0">
                <a:latin typeface="Segoe UI"/>
              </a:rPr>
              <a:t>Prüfen: deklariert? exportiert? importiert?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TrainingsModule</a:t>
            </a:r>
          </a:p>
          <a:p>
            <a:pPr algn="ctr"/>
            <a:r>
              <a:rPr sz="1700" b="0">
                <a:solidFill>
                  <a:srgbClr val="2B3A42"/>
                </a:solidFill>
                <a:latin typeface="Segoe UI"/>
              </a:rPr>
              <a:t>declarations: TrainingList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TrainingsModule</a:t>
            </a:r>
          </a:p>
          <a:p>
            <a:pPr algn="ctr"/>
            <a:r>
              <a:rPr sz="1700" b="0">
                <a:solidFill>
                  <a:srgbClr val="2B3A42"/>
                </a:solidFill>
                <a:latin typeface="Segoe UI"/>
              </a:rPr>
              <a:t>exports: TrainingList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AppModule</a:t>
            </a:r>
          </a:p>
          <a:p>
            <a:pPr algn="ctr"/>
            <a:r>
              <a:rPr sz="1700" b="0">
                <a:solidFill>
                  <a:srgbClr val="2B3A42"/>
                </a:solidFill>
                <a:latin typeface="Segoe UI"/>
              </a:rPr>
              <a:t>imports: TrainingsModule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AppComponent-Template</a:t>
            </a:r>
          </a:p>
          <a:p>
            <a:pPr algn="ctr"/>
            <a:r>
              <a:rPr sz="1700" b="1">
                <a:solidFill>
                  <a:srgbClr val="FFFFFF"/>
                </a:solidFill>
                <a:latin typeface="Segoe UI"/>
              </a:rPr>
              <a:t>&lt;training-list&gt;</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Wer sieht wen? AppModule und seine Importe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AppComponent sieht nur eigene declarations und die exports importierter Module</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03492"/>
          </a:xfrm>
          <a:prstGeom prst="rect">
            <a:avLst/>
          </a:prstGeom>
          <a:noFill/>
        </p:spPr>
        <p:txBody>
          <a:bodyPr wrap="square" anchor="t" lIns="70000" rIns="70000" tIns="0" bIns="0">
            <a:spAutoFit/>
          </a:bodyPr>
          <a:lstStyle/>
          <a:p>
            <a:pPr algn="l"/>
            <a:r>
              <a:rPr sz="1300" b="1">
                <a:solidFill>
                  <a:srgbClr val="2B3A42"/>
                </a:solidFill>
                <a:latin typeface="Segoe UI"/>
              </a:rPr>
              <a:t>AppModule</a:t>
            </a:r>
          </a:p>
          <a:p>
            <a:pPr algn="l"/>
            <a:r>
              <a:rPr sz="1300" b="1">
                <a:solidFill>
                  <a:srgbClr val="2B3A42"/>
                </a:solidFill>
                <a:latin typeface="Segoe UI"/>
              </a:rPr>
              <a:t>bootstrap: [AppComponent]</a:t>
            </a:r>
          </a:p>
        </p:txBody>
      </p:sp>
      <p:sp>
        <p:nvSpPr>
          <p:cNvPr id="6" name="Rectangle 5"/>
          <p:cNvSpPr/>
          <p:nvPr/>
        </p:nvSpPr>
        <p:spPr>
          <a:xfrm>
            <a:off x="948080" y="2193492"/>
            <a:ext cx="3084720" cy="362975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33492"/>
            <a:ext cx="2964720" cy="280272"/>
          </a:xfrm>
          <a:prstGeom prst="rect">
            <a:avLst/>
          </a:prstGeom>
          <a:noFill/>
        </p:spPr>
        <p:txBody>
          <a:bodyPr wrap="square" anchor="t" lIns="70000" rIns="70000" tIns="0" bIns="0">
            <a:spAutoFit/>
          </a:bodyPr>
          <a:lstStyle/>
          <a:p>
            <a:pPr algn="l"/>
            <a:r>
              <a:rPr sz="1300" b="1">
                <a:solidFill>
                  <a:srgbClr val="2B3A42"/>
                </a:solidFill>
                <a:latin typeface="Segoe UI"/>
              </a:rPr>
              <a:t>imports: TrainingsModule</a:t>
            </a:r>
          </a:p>
        </p:txBody>
      </p:sp>
      <p:sp>
        <p:nvSpPr>
          <p:cNvPr id="8" name="Rounded Rectangle 7"/>
          <p:cNvSpPr/>
          <p:nvPr/>
        </p:nvSpPr>
        <p:spPr>
          <a:xfrm>
            <a:off x="1058080" y="2513764"/>
            <a:ext cx="286472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TrainingListComponent</a:t>
            </a:r>
          </a:p>
          <a:p>
            <a:pPr algn="ctr"/>
            <a:r>
              <a:rPr sz="1300" b="0">
                <a:solidFill>
                  <a:srgbClr val="2B3A42"/>
                </a:solidFill>
                <a:latin typeface="Segoe UI"/>
              </a:rPr>
              <a:t>declarations + exports</a:t>
            </a:r>
          </a:p>
        </p:txBody>
      </p:sp>
      <p:sp>
        <p:nvSpPr>
          <p:cNvPr id="9" name="Rounded Rectangle 8"/>
          <p:cNvSpPr/>
          <p:nvPr/>
        </p:nvSpPr>
        <p:spPr>
          <a:xfrm>
            <a:off x="1058080" y="3717210"/>
            <a:ext cx="286472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TrainingDetailsComponent</a:t>
            </a:r>
          </a:p>
          <a:p>
            <a:pPr algn="ctr"/>
            <a:r>
              <a:rPr sz="1300" b="0">
                <a:solidFill>
                  <a:srgbClr val="2B3A42"/>
                </a:solidFill>
                <a:latin typeface="Segoe UI"/>
              </a:rPr>
              <a:t>declarations + exports</a:t>
            </a:r>
          </a:p>
        </p:txBody>
      </p:sp>
      <p:sp>
        <p:nvSpPr>
          <p:cNvPr id="10" name="Rounded Rectangle 9"/>
          <p:cNvSpPr/>
          <p:nvPr/>
        </p:nvSpPr>
        <p:spPr>
          <a:xfrm>
            <a:off x="1058080" y="4920656"/>
            <a:ext cx="286472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TakePlaceSoonPipe</a:t>
            </a:r>
          </a:p>
          <a:p>
            <a:pPr algn="ctr"/>
            <a:r>
              <a:rPr sz="1300" b="0">
                <a:solidFill>
                  <a:srgbClr val="2B3A42"/>
                </a:solidFill>
                <a:latin typeface="Segoe UI"/>
              </a:rPr>
              <a:t>nur declarations: privat</a:t>
            </a:r>
          </a:p>
        </p:txBody>
      </p:sp>
      <p:sp>
        <p:nvSpPr>
          <p:cNvPr id="11" name="Rectangle 10"/>
          <p:cNvSpPr/>
          <p:nvPr/>
        </p:nvSpPr>
        <p:spPr>
          <a:xfrm>
            <a:off x="4552800" y="2193492"/>
            <a:ext cx="3084720" cy="362975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4612800" y="2233492"/>
            <a:ext cx="2964720" cy="280272"/>
          </a:xfrm>
          <a:prstGeom prst="rect">
            <a:avLst/>
          </a:prstGeom>
          <a:noFill/>
        </p:spPr>
        <p:txBody>
          <a:bodyPr wrap="square" anchor="t" lIns="70000" rIns="70000" tIns="0" bIns="0">
            <a:spAutoFit/>
          </a:bodyPr>
          <a:lstStyle/>
          <a:p>
            <a:pPr algn="l"/>
            <a:r>
              <a:rPr sz="1300" b="1">
                <a:solidFill>
                  <a:srgbClr val="2B3A42"/>
                </a:solidFill>
                <a:latin typeface="Segoe UI"/>
              </a:rPr>
              <a:t>declarations</a:t>
            </a:r>
          </a:p>
        </p:txBody>
      </p:sp>
      <p:sp>
        <p:nvSpPr>
          <p:cNvPr id="13" name="Rounded Rectangle 12"/>
          <p:cNvSpPr/>
          <p:nvPr/>
        </p:nvSpPr>
        <p:spPr>
          <a:xfrm>
            <a:off x="4662800" y="2513764"/>
            <a:ext cx="2864720" cy="795827"/>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AppComponent</a:t>
            </a:r>
          </a:p>
          <a:p>
            <a:pPr algn="ctr"/>
            <a:r>
              <a:rPr sz="1300" b="1">
                <a:solidFill>
                  <a:srgbClr val="FFFFFF"/>
                </a:solidFill>
                <a:latin typeface="Segoe UI"/>
              </a:rPr>
              <a:t>Template von app-root</a:t>
            </a:r>
          </a:p>
        </p:txBody>
      </p:sp>
      <p:sp>
        <p:nvSpPr>
          <p:cNvPr id="14" name="Rectangle 13"/>
          <p:cNvSpPr/>
          <p:nvPr/>
        </p:nvSpPr>
        <p:spPr>
          <a:xfrm>
            <a:off x="8157520" y="2193492"/>
            <a:ext cx="3084720" cy="362975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5" name="TextBox 14"/>
          <p:cNvSpPr txBox="1"/>
          <p:nvPr/>
        </p:nvSpPr>
        <p:spPr>
          <a:xfrm>
            <a:off x="8217520" y="2233492"/>
            <a:ext cx="2964720" cy="280272"/>
          </a:xfrm>
          <a:prstGeom prst="rect">
            <a:avLst/>
          </a:prstGeom>
          <a:noFill/>
        </p:spPr>
        <p:txBody>
          <a:bodyPr wrap="square" anchor="t" lIns="70000" rIns="70000" tIns="0" bIns="0">
            <a:spAutoFit/>
          </a:bodyPr>
          <a:lstStyle/>
          <a:p>
            <a:pPr algn="l"/>
            <a:r>
              <a:rPr sz="1300" b="1">
                <a:solidFill>
                  <a:srgbClr val="2B3A42"/>
                </a:solidFill>
                <a:latin typeface="Segoe UI"/>
              </a:rPr>
              <a:t>weitere imports</a:t>
            </a:r>
          </a:p>
        </p:txBody>
      </p:sp>
      <p:sp>
        <p:nvSpPr>
          <p:cNvPr id="16" name="Rounded Rectangle 15"/>
          <p:cNvSpPr/>
          <p:nvPr/>
        </p:nvSpPr>
        <p:spPr>
          <a:xfrm>
            <a:off x="8267520" y="2513764"/>
            <a:ext cx="286472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AppRoutingModule</a:t>
            </a:r>
          </a:p>
          <a:p>
            <a:pPr algn="ctr"/>
            <a:r>
              <a:rPr sz="1300" b="0">
                <a:solidFill>
                  <a:srgbClr val="2B3A42"/>
                </a:solidFill>
                <a:latin typeface="Segoe UI"/>
              </a:rPr>
              <a:t>exports: [RouterModule]</a:t>
            </a:r>
          </a:p>
        </p:txBody>
      </p:sp>
      <p:sp>
        <p:nvSpPr>
          <p:cNvPr id="17" name="Rounded Rectangle 16"/>
          <p:cNvSpPr/>
          <p:nvPr/>
        </p:nvSpPr>
        <p:spPr>
          <a:xfrm>
            <a:off x="8267520" y="3717210"/>
            <a:ext cx="286472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BrowserModule</a:t>
            </a:r>
          </a:p>
          <a:p>
            <a:pPr algn="ctr"/>
            <a:r>
              <a:rPr sz="1300" b="0">
                <a:solidFill>
                  <a:srgbClr val="2B3A42"/>
                </a:solidFill>
                <a:latin typeface="Segoe UI"/>
              </a:rPr>
              <a:t>Grundlagen für den Browser</a:t>
            </a:r>
          </a:p>
        </p:txBody>
      </p:sp>
      <p:cxnSp>
        <p:nvCxnSpPr>
          <p:cNvPr id="18" name="Connector 17"/>
          <p:cNvCxnSpPr/>
          <p:nvPr/>
        </p:nvCxnSpPr>
        <p:spPr>
          <a:xfrm>
            <a:off x="3922800" y="2911677"/>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97312" y="2581677"/>
            <a:ext cx="119097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sichtbar</a:t>
            </a:r>
          </a:p>
        </p:txBody>
      </p:sp>
      <p:cxnSp>
        <p:nvCxnSpPr>
          <p:cNvPr id="20" name="Connector 19"/>
          <p:cNvCxnSpPr/>
          <p:nvPr/>
        </p:nvCxnSpPr>
        <p:spPr>
          <a:xfrm flipH="1">
            <a:off x="7527520" y="2911677"/>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2032" y="2581677"/>
            <a:ext cx="119097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sichtbar</a:t>
            </a:r>
          </a:p>
        </p:txBody>
      </p:sp>
      <p:cxnSp>
        <p:nvCxnSpPr>
          <p:cNvPr id="22" name="Connector 21"/>
          <p:cNvCxnSpPr/>
          <p:nvPr/>
        </p:nvCxnSpPr>
        <p:spPr>
          <a:xfrm flipV="1">
            <a:off x="3922800" y="2911677"/>
            <a:ext cx="740000" cy="2406892"/>
          </a:xfrm>
          <a:prstGeom prst="line">
            <a:avLst/>
          </a:prstGeom>
          <a:ln w="25400">
            <a:solidFill>
              <a:srgbClr val="C05A1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816184" y="3785123"/>
            <a:ext cx="953232"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privat</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Feature-Modul: TrainingsModule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src/app/trainings/trainings.module.ts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@NgModule({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declarations: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TrainingListComponent,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TrainingDetailsComponent,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TakePlaceSoonPipe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imports: [CommonModule, FormsModule, ReactiveFormsModule, RouterModule],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providers: [TrainingService],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exports: [TrainingListComponent, TrainingDetailsComponent]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TrainingsModule { }</a:t>
            </a:r>
            <a:endParaRPr lang="de-DE" sz="1800" b="0" u="none" strike="noStrike">
              <a:solidFill>
                <a:srgbClr val="000000"/>
              </a:solidFill>
              <a:uFillTx/>
              <a:latin typeface="Arial"/>
            </a:endParaRP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Dateien eines NgModule-Projekts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index.html: Seite mit &lt;app-root&gt;</a:t>
            </a:r>
          </a:p>
          <a:p>
            <a:pPr>
              <a:defRPr sz="2000" b="0">
                <a:latin typeface="Segoe UI"/>
              </a:defRPr>
            </a:pPr>
            <a:r>
              <a:rPr lang="de-DE" sz="2000" b="0">
                <a:latin typeface="Segoe UI"/>
              </a:rPr>
              <a:t>main.ts: startet das AppModule</a:t>
            </a:r>
          </a:p>
          <a:p>
            <a:pPr>
              <a:defRPr sz="2000" b="0">
                <a:latin typeface="Segoe UI"/>
              </a:defRPr>
            </a:pPr>
            <a:r>
              <a:rPr lang="de-DE" sz="2000" b="0">
                <a:latin typeface="Segoe UI"/>
              </a:rPr>
              <a:t>app.module.ts: Hauptmodul</a:t>
            </a:r>
          </a:p>
          <a:p>
            <a:pPr>
              <a:defRPr sz="2000" b="0">
                <a:latin typeface="Segoe UI"/>
              </a:defRPr>
            </a:pPr>
            <a:r>
              <a:rPr lang="de-DE" sz="2000" b="0">
                <a:latin typeface="Segoe UI"/>
              </a:rPr>
              <a:t>app-routing.module.ts: Routen</a:t>
            </a:r>
          </a:p>
          <a:p>
            <a:pPr>
              <a:defRPr sz="2000" b="0">
                <a:latin typeface="Segoe UI"/>
              </a:defRPr>
            </a:pPr>
            <a:r>
              <a:rPr lang="de-DE" sz="2000" b="0">
                <a:latin typeface="Segoe UI"/>
              </a:rPr>
              <a:t>app.component.ts/.html/.css: Startkomponente</a:t>
            </a:r>
          </a:p>
          <a:p>
            <a:pPr>
              <a:defRPr sz="2000" b="0">
                <a:latin typeface="Segoe UI"/>
              </a:defRPr>
            </a:pPr>
            <a:r>
              <a:rPr lang="de-DE" sz="2000" b="0">
                <a:latin typeface="Segoe UI"/>
              </a:rPr>
              <a:t>trainings.module.ts: Feature-Modul</a:t>
            </a:r>
          </a:p>
          <a:p>
            <a:pPr>
              <a:defRPr sz="2000" b="0">
                <a:latin typeface="Segoe UI"/>
              </a:defRPr>
            </a:pPr>
            <a:r>
              <a:rPr lang="de-DE" sz="2000" b="0">
                <a:latin typeface="Segoe UI"/>
              </a:rPr>
              <a:t>Neu gegenüber Standalone: die *.module.ts-Dateien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src/</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index.html</a:t>
            </a:r>
          </a:p>
          <a:p>
            <a:pPr algn="l"/>
            <a:r>
              <a:rPr sz="1300" b="0">
                <a:solidFill>
                  <a:srgbClr val="2B3A42"/>
                </a:solidFill>
                <a:latin typeface="Consolas"/>
              </a:rPr>
              <a:t>main.ts</a:t>
            </a:r>
          </a:p>
          <a:p>
            <a:pPr algn="l"/>
            <a:r>
              <a:rPr sz="1300" b="0">
                <a:solidFill>
                  <a:srgbClr val="2B3A42"/>
                </a:solidFill>
                <a:latin typeface="Consolas"/>
              </a:rPr>
              <a:t>app/</a:t>
            </a:r>
          </a:p>
          <a:p>
            <a:pPr algn="l"/>
            <a:r>
              <a:rPr sz="1300" b="0">
                <a:solidFill>
                  <a:srgbClr val="2B3A42"/>
                </a:solidFill>
                <a:latin typeface="Consolas"/>
              </a:rPr>
              <a:t>  app.module.ts</a:t>
            </a:r>
          </a:p>
          <a:p>
            <a:pPr algn="l"/>
            <a:r>
              <a:rPr sz="1300" b="0">
                <a:solidFill>
                  <a:srgbClr val="2B3A42"/>
                </a:solidFill>
                <a:latin typeface="Consolas"/>
              </a:rPr>
              <a:t>  app-routing.module.ts</a:t>
            </a:r>
          </a:p>
          <a:p>
            <a:pPr algn="l"/>
            <a:r>
              <a:rPr sz="1300" b="0">
                <a:solidFill>
                  <a:srgbClr val="2B3A42"/>
                </a:solidFill>
                <a:latin typeface="Consolas"/>
              </a:rPr>
              <a:t>  app.component.ts / .html</a:t>
            </a:r>
          </a:p>
          <a:p>
            <a:pPr algn="l"/>
            <a:r>
              <a:rPr sz="1300" b="0">
                <a:solidFill>
                  <a:srgbClr val="2B3A42"/>
                </a:solidFill>
                <a:latin typeface="Consolas"/>
              </a:rPr>
              <a:t>  trainings/</a:t>
            </a:r>
          </a:p>
          <a:p>
            <a:pPr algn="l"/>
            <a:r>
              <a:rPr sz="1300" b="0">
                <a:solidFill>
                  <a:srgbClr val="2B3A42"/>
                </a:solidFill>
                <a:latin typeface="Consolas"/>
              </a:rPr>
              <a:t>    trainings.module.ts</a:t>
            </a:r>
          </a:p>
          <a:p>
            <a:pPr algn="l"/>
            <a:r>
              <a:rPr sz="1300" b="0">
                <a:solidFill>
                  <a:srgbClr val="2B3A42"/>
                </a:solidFill>
                <a:latin typeface="Consolas"/>
              </a:rPr>
              <a:t>    training.service.ts</a:t>
            </a:r>
          </a:p>
          <a:p>
            <a:pPr algn="l"/>
            <a:r>
              <a:rPr sz="1300" b="0">
                <a:solidFill>
                  <a:srgbClr val="2B3A42"/>
                </a:solidFill>
                <a:latin typeface="Consolas"/>
              </a:rPr>
              <a:t>    training-list/</a:t>
            </a:r>
          </a:p>
          <a:p>
            <a:pPr algn="l"/>
            <a:r>
              <a:rPr sz="1300" b="0">
                <a:solidFill>
                  <a:srgbClr val="2B3A42"/>
                </a:solidFill>
                <a:latin typeface="Consolas"/>
              </a:rPr>
              <a:t>    training-details/</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 im Modul: standalone: false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@Component wie gewohnt: selector, templateUrl</a:t>
            </a:r>
          </a:p>
          <a:p>
            <a:pPr>
              <a:defRPr sz="2000" b="0">
                <a:latin typeface="Segoe UI"/>
              </a:defRPr>
            </a:pPr>
            <a:r>
              <a:rPr lang="de-DE" sz="2000" b="0">
                <a:latin typeface="Segoe UI"/>
              </a:rPr>
              <a:t>Seit v19 ist standalone: true der Standard</a:t>
            </a:r>
          </a:p>
          <a:p>
            <a:pPr lvl="1">
              <a:defRPr sz="1700" b="0">
                <a:latin typeface="Segoe UI"/>
              </a:defRPr>
            </a:pPr>
            <a:r>
              <a:rPr lang="de-DE" sz="1700" b="0">
                <a:latin typeface="Segoe UI"/>
              </a:rPr>
              <a:t>Modul-Komponenten brauchen standalone: false</a:t>
            </a:r>
          </a:p>
          <a:p>
            <a:pPr>
              <a:defRPr sz="2000" b="0">
                <a:latin typeface="Segoe UI"/>
              </a:defRPr>
            </a:pPr>
            <a:r>
              <a:rPr lang="de-DE" sz="2000" b="0">
                <a:latin typeface="Segoe UI"/>
              </a:rPr>
              <a:t>Kein imports-Array an der Komponente</a:t>
            </a:r>
          </a:p>
          <a:p>
            <a:pPr lvl="1">
              <a:defRPr sz="1700" b="0">
                <a:latin typeface="Segoe UI"/>
              </a:defRPr>
            </a:pPr>
            <a:r>
              <a:rPr lang="de-DE" sz="1700" b="0">
                <a:latin typeface="Segoe UI"/>
              </a:rPr>
              <a:t>Abhängigkeiten kommen über das Modul</a:t>
            </a:r>
          </a:p>
          <a:p>
            <a:pPr>
              <a:defRPr sz="2000" b="0">
                <a:latin typeface="Segoe UI"/>
              </a:defRPr>
            </a:pPr>
            <a:r>
              <a:rPr lang="de-DE" sz="2000" b="0">
                <a:latin typeface="Segoe UI"/>
              </a:rPr>
              <a:t>Selector entscheidet, wo sie erscheint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app.component.ts</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@Component({</a:t>
            </a:r>
          </a:p>
          <a:p>
            <a:pPr algn="l"/>
            <a:r>
              <a:rPr sz="1300" b="0">
                <a:solidFill>
                  <a:srgbClr val="2B3A42"/>
                </a:solidFill>
                <a:latin typeface="Consolas"/>
              </a:rPr>
              <a:t>  selector: 'app-root',</a:t>
            </a:r>
          </a:p>
          <a:p>
            <a:pPr algn="l"/>
            <a:r>
              <a:rPr sz="1300" b="0">
                <a:solidFill>
                  <a:srgbClr val="2B3A42"/>
                </a:solidFill>
                <a:latin typeface="Consolas"/>
              </a:rPr>
              <a:t>  standalone: false,</a:t>
            </a:r>
          </a:p>
          <a:p>
            <a:pPr algn="l"/>
            <a:r>
              <a:rPr sz="1300" b="0">
                <a:solidFill>
                  <a:srgbClr val="2B3A42"/>
                </a:solidFill>
                <a:latin typeface="Consolas"/>
              </a:rPr>
              <a:t>  templateUrl: './app.component.html',</a:t>
            </a:r>
          </a:p>
          <a:p>
            <a:pPr algn="l"/>
            <a:r>
              <a:rPr sz="1300" b="0">
                <a:solidFill>
                  <a:srgbClr val="2B3A42"/>
                </a:solidFill>
                <a:latin typeface="Consolas"/>
              </a:rPr>
              <a:t>  styleUrls: ['./app.component.css']</a:t>
            </a:r>
          </a:p>
          <a:p>
            <a:pPr algn="l"/>
            <a:r>
              <a:rPr sz="1300" b="0">
                <a:solidFill>
                  <a:srgbClr val="2B3A42"/>
                </a:solidFill>
                <a:latin typeface="Consolas"/>
              </a:rPr>
              <a:t>})</a:t>
            </a:r>
          </a:p>
          <a:p>
            <a:pPr algn="l"/>
            <a:r>
              <a:rPr sz="1300" b="0">
                <a:solidFill>
                  <a:srgbClr val="2B3A42"/>
                </a:solidFill>
                <a:latin typeface="Consolas"/>
              </a:rPr>
              <a:t>export class AppComponent {</a:t>
            </a:r>
          </a:p>
          <a:p>
            <a:pPr algn="l"/>
            <a:r>
              <a:rPr sz="1300" b="0">
                <a:solidFill>
                  <a:srgbClr val="2B3A42"/>
                </a:solidFill>
                <a:latin typeface="Consolas"/>
              </a:rPr>
              <a:t>  title = 'invoice-app';</a:t>
            </a:r>
          </a:p>
          <a:p>
            <a:pPr algn="l"/>
            <a:r>
              <a:rPr sz="1300" b="0">
                <a:solidFill>
                  <a:srgbClr val="2B3A42"/>
                </a:solidFill>
                <a:latin typeface="Consolas"/>
              </a:rPr>
              <a:t>}</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Klassischer Stil: Konstruktor-Injektion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src/app/app.component.ts (Projekt 30_modules_legacy)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AppComponent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title = 'invoice-app';</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nextTraining?: Training;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constructor(private trainingService: TrainingService)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trainingService.getNext().subscribe(nextTr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this.nextTraining = nextTr;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Heute üblich: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readonly trainingService = inject(TrainingService);</a:t>
            </a:r>
            <a:endParaRPr lang="de-DE" sz="1800" b="0" u="none" strike="noStrike">
              <a:solidFill>
                <a:srgbClr val="000000"/>
              </a:solidFill>
              <a:uFillTx/>
              <a:latin typeface="Arial"/>
            </a:endParaRP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Konstruktor-Injektion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„private trainingService: TrainingService“</a:t>
            </a:r>
          </a:p>
          <a:p>
            <a:pPr lvl="1">
              <a:defRPr sz="1700" b="0">
                <a:latin typeface="Segoe UI"/>
              </a:defRPr>
            </a:pPr>
            <a:r>
              <a:rPr lang="de-DE" sz="1700" b="0">
                <a:latin typeface="Segoe UI"/>
              </a:rPr>
              <a:t>TypeScript-Kurzform: Parameter wird zum Feld</a:t>
            </a:r>
          </a:p>
          <a:p>
            <a:pPr>
              <a:defRPr sz="2000" b="0">
                <a:latin typeface="Segoe UI"/>
              </a:defRPr>
            </a:pPr>
            <a:r>
              <a:rPr lang="de-DE" sz="2000" b="0">
                <a:latin typeface="Segoe UI"/>
              </a:rPr>
              <a:t>Angular liest den Typ als Token</a:t>
            </a:r>
          </a:p>
          <a:p>
            <a:pPr lvl="1">
              <a:defRPr sz="1700" b="0">
                <a:latin typeface="Segoe UI"/>
              </a:defRPr>
            </a:pPr>
            <a:r>
              <a:rPr lang="de-DE" sz="1700" b="0">
                <a:latin typeface="Segoe UI"/>
              </a:rPr>
              <a:t>Token = Schlüssel, unter dem der Injector sucht</a:t>
            </a:r>
          </a:p>
          <a:p>
            <a:pPr>
              <a:defRPr sz="2000" b="0">
                <a:latin typeface="Segoe UI"/>
              </a:defRPr>
            </a:pPr>
            <a:r>
              <a:rPr lang="de-DE" sz="2000" b="0">
                <a:latin typeface="Segoe UI"/>
              </a:rPr>
              <a:t>Injector findet Provider, liefert Instanz</a:t>
            </a:r>
          </a:p>
          <a:p>
            <a:pPr>
              <a:defRPr sz="2000" b="0">
                <a:latin typeface="Segoe UI"/>
              </a:defRPr>
            </a:pPr>
            <a:r>
              <a:rPr lang="de-DE" sz="2000" b="0">
                <a:latin typeface="Segoe UI"/>
              </a:rPr>
              <a:t>Aufrufer: Angular selbst beim Erzeugen</a:t>
            </a:r>
          </a:p>
          <a:p>
            <a:pPr>
              <a:defRPr sz="2000" b="0">
                <a:latin typeface="Segoe UI"/>
              </a:defRPr>
            </a:pPr>
            <a:r>
              <a:rPr lang="de-DE" sz="2000" b="0">
                <a:latin typeface="Segoe UI"/>
              </a:rPr>
              <a:t>Heute: inject() im Feld-Initialisierer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erzeugt AppComponent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liest Parametertyp</a:t>
            </a:r>
          </a:p>
          <a:p>
            <a:pPr algn="ctr"/>
            <a:r>
              <a:rPr sz="1700" b="0">
                <a:solidFill>
                  <a:srgbClr val="2B3A42"/>
                </a:solidFill>
                <a:latin typeface="Segoe UI"/>
              </a:rPr>
              <a:t>TrainingService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Injector sucht Provider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Instanz wird übergeben</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Bootstrapping mit Modul: main.ts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platformBrowserDynamic()</a:t>
            </a:r>
          </a:p>
          <a:p>
            <a:pPr lvl="1">
              <a:defRPr sz="1700" b="0">
                <a:latin typeface="Segoe UI"/>
              </a:defRPr>
            </a:pPr>
            <a:r>
              <a:rPr lang="de-DE" sz="1700" b="0">
                <a:latin typeface="Segoe UI"/>
              </a:rPr>
              <a:t>erzeugt die Plattform für den Browser</a:t>
            </a:r>
          </a:p>
          <a:p>
            <a:pPr>
              <a:defRPr sz="2000" b="0">
                <a:latin typeface="Segoe UI"/>
              </a:defRPr>
            </a:pPr>
            <a:r>
              <a:rPr lang="de-DE" sz="2000" b="0">
                <a:latin typeface="Segoe UI"/>
              </a:rPr>
              <a:t>bootstrapModule(AppModule)</a:t>
            </a:r>
          </a:p>
          <a:p>
            <a:pPr lvl="1">
              <a:defRPr sz="1700" b="0">
                <a:latin typeface="Segoe UI"/>
              </a:defRPr>
            </a:pPr>
            <a:r>
              <a:rPr lang="de-DE" sz="1700" b="0">
                <a:latin typeface="Segoe UI"/>
              </a:rPr>
              <a:t>übergibt das Hauptmodul als Klasse</a:t>
            </a:r>
          </a:p>
          <a:p>
            <a:pPr lvl="1">
              <a:defRPr sz="1700" b="0">
                <a:latin typeface="Segoe UI"/>
              </a:defRPr>
            </a:pPr>
            <a:r>
              <a:rPr lang="de-DE" sz="1700" b="0">
                <a:latin typeface="Segoe UI"/>
              </a:rPr>
              <a:t>liefert ein Promise auf das gestartete Modul</a:t>
            </a:r>
          </a:p>
          <a:p>
            <a:pPr>
              <a:defRPr sz="2000" b="0">
                <a:latin typeface="Segoe UI"/>
              </a:defRPr>
            </a:pPr>
            <a:r>
              <a:rPr lang="de-DE" sz="2000" b="0">
                <a:latin typeface="Segoe UI"/>
              </a:rPr>
              <a:t>.catch(err =&gt; …)</a:t>
            </a:r>
          </a:p>
          <a:p>
            <a:pPr lvl="1">
              <a:defRPr sz="1700" b="0">
                <a:latin typeface="Segoe UI"/>
              </a:defRPr>
            </a:pPr>
            <a:r>
              <a:rPr lang="de-DE" sz="1700" b="0">
                <a:latin typeface="Segoe UI"/>
              </a:rPr>
              <a:t>fängt Fehler beim Start ab</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src/main.ts</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if (environment.production) {</a:t>
            </a:r>
          </a:p>
          <a:p>
            <a:pPr algn="l"/>
            <a:r>
              <a:rPr sz="1500" b="0">
                <a:solidFill>
                  <a:srgbClr val="2B3A42"/>
                </a:solidFill>
                <a:latin typeface="Consolas"/>
              </a:rPr>
              <a:t>  enableProdMode();</a:t>
            </a:r>
          </a:p>
          <a:p>
            <a:pPr algn="l"/>
            <a:r>
              <a:rPr sz="1500" b="0">
                <a:solidFill>
                  <a:srgbClr val="2B3A42"/>
                </a:solidFill>
                <a:latin typeface="Consolas"/>
              </a:rPr>
              <a:t>}</a:t>
            </a:r>
          </a:p>
          <a:p>
            <a:pPr algn="l"/>
            <a:r>
              <a:rPr sz="1500" b="0">
                <a:solidFill>
                  <a:srgbClr val="2B3A42"/>
                </a:solidFill>
                <a:latin typeface="Consolas"/>
              </a:rPr>
              <a:t/>
            </a:r>
          </a:p>
          <a:p>
            <a:pPr algn="l"/>
            <a:r>
              <a:rPr sz="1500" b="0">
                <a:solidFill>
                  <a:srgbClr val="2B3A42"/>
                </a:solidFill>
                <a:latin typeface="Consolas"/>
              </a:rPr>
              <a:t>platformBrowserDynamic()</a:t>
            </a:r>
          </a:p>
          <a:p>
            <a:pPr algn="l"/>
            <a:r>
              <a:rPr sz="1500" b="0">
                <a:solidFill>
                  <a:srgbClr val="2B3A42"/>
                </a:solidFill>
                <a:latin typeface="Consolas"/>
              </a:rPr>
              <a:t>  .bootstrapModule(AppModule)</a:t>
            </a:r>
          </a:p>
          <a:p>
            <a:pPr algn="l"/>
            <a:r>
              <a:rPr sz="1500" b="0">
                <a:solidFill>
                  <a:srgbClr val="2B3A42"/>
                </a:solidFill>
                <a:latin typeface="Consolas"/>
              </a:rPr>
              <a:t>  .catch(err =&gt;</a:t>
            </a:r>
          </a:p>
          <a:p>
            <a:pPr algn="l"/>
            <a:r>
              <a:rPr sz="1500" b="0">
                <a:solidFill>
                  <a:srgbClr val="2B3A42"/>
                </a:solidFill>
                <a:latin typeface="Consolas"/>
              </a:rPr>
              <a:t>    console.error(err));</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des Startvorgangs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main.ts ruft bootstrapModule(AppModule) auf</a:t>
            </a:r>
          </a:p>
          <a:p>
            <a:pPr>
              <a:defRPr sz="2000" b="0">
                <a:latin typeface="Segoe UI"/>
              </a:defRPr>
            </a:pPr>
            <a:r>
              <a:rPr lang="de-DE" sz="2000" b="0">
                <a:latin typeface="Segoe UI"/>
              </a:rPr>
              <a:t>Angular liest den Dekorator von AppModule</a:t>
            </a:r>
          </a:p>
          <a:p>
            <a:pPr>
              <a:defRPr sz="2000" b="0">
                <a:latin typeface="Segoe UI"/>
              </a:defRPr>
            </a:pPr>
            <a:r>
              <a:rPr lang="de-DE" sz="2000" b="0">
                <a:latin typeface="Segoe UI"/>
              </a:rPr>
              <a:t>Feld bootstrap nennt AppComponent</a:t>
            </a:r>
          </a:p>
          <a:p>
            <a:pPr>
              <a:defRPr sz="2000" b="0">
                <a:latin typeface="Segoe UI"/>
              </a:defRPr>
            </a:pPr>
            <a:r>
              <a:rPr lang="de-DE" sz="2000" b="0">
                <a:latin typeface="Segoe UI"/>
              </a:rPr>
              <a:t>Angular liest deren selector: app-root</a:t>
            </a:r>
          </a:p>
          <a:p>
            <a:pPr>
              <a:defRPr sz="2000" b="0">
                <a:latin typeface="Segoe UI"/>
              </a:defRPr>
            </a:pPr>
            <a:r>
              <a:rPr lang="de-DE" sz="2000" b="0">
                <a:latin typeface="Segoe UI"/>
              </a:rPr>
              <a:t>Sucht &lt;app-root&gt; in index.html</a:t>
            </a:r>
          </a:p>
          <a:p>
            <a:pPr>
              <a:defRPr sz="2000" b="0">
                <a:latin typeface="Segoe UI"/>
              </a:defRPr>
            </a:pPr>
            <a:r>
              <a:rPr lang="de-DE" sz="2000" b="0">
                <a:latin typeface="Segoe UI"/>
              </a:rPr>
              <a:t>Erzeugt die Komponente und rendert sie dort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index.html lädt main.js</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bootstrapModule(AppModule)</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bootstrap: [AppComponent]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selector app-root suchen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AppComponent rendern</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Startvorgang mit Modul: wer ruft wen 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Aufrufer ist Angular selbst: main.ts übergibt nur die Klasse AppModule</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main.ts</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platformBrowser-</a:t>
            </a:r>
          </a:p>
          <a:p>
            <a:pPr algn="ctr"/>
            <a:r>
              <a:rPr sz="1400" b="1">
                <a:solidFill>
                  <a:srgbClr val="FFFFFF"/>
                </a:solidFill>
                <a:latin typeface="Segoe UI"/>
              </a:rPr>
              <a:t>Dynamic</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AppModule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AppComponent</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4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69496" y="24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909496" y="26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19496" y="23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1. index.html laden</a:t>
            </a:r>
          </a:p>
        </p:txBody>
      </p:sp>
      <p:cxnSp>
        <p:nvCxnSpPr>
          <p:cNvPr id="18" name="Connector 17"/>
          <p:cNvCxnSpPr/>
          <p:nvPr/>
        </p:nvCxnSpPr>
        <p:spPr>
          <a:xfrm>
            <a:off x="1889496" y="30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363788" y="26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main.js ausführen</a:t>
            </a:r>
          </a:p>
        </p:txBody>
      </p:sp>
      <p:cxnSp>
        <p:nvCxnSpPr>
          <p:cNvPr id="20" name="Connector 19"/>
          <p:cNvCxnSpPr/>
          <p:nvPr/>
        </p:nvCxnSpPr>
        <p:spPr>
          <a:xfrm>
            <a:off x="3992328" y="34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30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3. platformBrowserDynamic()</a:t>
            </a:r>
          </a:p>
        </p:txBody>
      </p:sp>
      <p:cxnSp>
        <p:nvCxnSpPr>
          <p:cNvPr id="22" name="Connector 21"/>
          <p:cNvCxnSpPr/>
          <p:nvPr/>
        </p:nvCxnSpPr>
        <p:spPr>
          <a:xfrm>
            <a:off x="3992328" y="38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466620" y="34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bootstrapModule(AppModule)</a:t>
            </a:r>
          </a:p>
        </p:txBody>
      </p:sp>
      <p:cxnSp>
        <p:nvCxnSpPr>
          <p:cNvPr id="24" name="Connector 23"/>
          <p:cNvCxnSpPr/>
          <p:nvPr/>
        </p:nvCxnSpPr>
        <p:spPr>
          <a:xfrm>
            <a:off x="6095160" y="42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69452" y="38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5. Modul anlegen: imports, providers</a:t>
            </a:r>
          </a:p>
        </p:txBody>
      </p:sp>
      <p:cxnSp>
        <p:nvCxnSpPr>
          <p:cNvPr id="26" name="Connector 25"/>
          <p:cNvCxnSpPr/>
          <p:nvPr/>
        </p:nvCxnSpPr>
        <p:spPr>
          <a:xfrm flipH="1">
            <a:off x="6115160" y="46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569452" y="42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6. bootstrap: [AppComponent]</a:t>
            </a:r>
          </a:p>
        </p:txBody>
      </p:sp>
      <p:cxnSp>
        <p:nvCxnSpPr>
          <p:cNvPr id="28" name="Connector 27"/>
          <p:cNvCxnSpPr/>
          <p:nvPr/>
        </p:nvCxnSpPr>
        <p:spPr>
          <a:xfrm>
            <a:off x="6095160" y="5018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5160" y="4668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7. erzeugen, selector app-root</a:t>
            </a:r>
          </a:p>
        </p:txBody>
      </p:sp>
      <p:cxnSp>
        <p:nvCxnSpPr>
          <p:cNvPr id="30" name="Connector 29"/>
          <p:cNvCxnSpPr/>
          <p:nvPr/>
        </p:nvCxnSpPr>
        <p:spPr>
          <a:xfrm flipH="1">
            <a:off x="1909496" y="5418000"/>
            <a:ext cx="8391328"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919496" y="5068000"/>
            <a:ext cx="8351328" cy="330000"/>
          </a:xfrm>
          <a:prstGeom prst="rect">
            <a:avLst/>
          </a:prstGeom>
          <a:noFill/>
        </p:spPr>
        <p:txBody>
          <a:bodyPr wrap="square" anchor="b" lIns="70000" rIns="70000" tIns="0" bIns="0">
            <a:spAutoFit/>
          </a:bodyPr>
          <a:lstStyle/>
          <a:p>
            <a:pPr algn="ctr"/>
            <a:r>
              <a:rPr sz="1300" b="0">
                <a:solidFill>
                  <a:srgbClr val="2B3A42"/>
                </a:solidFill>
                <a:latin typeface="Segoe UI"/>
              </a:rPr>
              <a:t>8. Template in &lt;app-root&gt; rendern</a:t>
            </a:r>
          </a:p>
        </p:txBody>
      </p:sp>
      <p:cxnSp>
        <p:nvCxnSpPr>
          <p:cNvPr id="32" name="Connector 31"/>
          <p:cNvCxnSpPr/>
          <p:nvPr/>
        </p:nvCxnSpPr>
        <p:spPr>
          <a:xfrm flipH="1">
            <a:off x="4012328" y="58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466620" y="54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9. Promise erfüllt (NgModuleRef)</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index.html: der Einstiegspunkt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Enthält nur den Platzhalter &lt;app-root&gt;</a:t>
            </a:r>
          </a:p>
          <a:p>
            <a:pPr>
              <a:defRPr sz="2000" b="0">
                <a:latin typeface="Segoe UI"/>
              </a:defRPr>
            </a:pPr>
            <a:r>
              <a:rPr lang="de-DE" sz="2000" b="0">
                <a:latin typeface="Segoe UI"/>
              </a:rPr>
              <a:t>Skripte fügt der Build automatisch ein</a:t>
            </a:r>
          </a:p>
          <a:p>
            <a:pPr>
              <a:defRPr sz="2000" b="0">
                <a:latin typeface="Segoe UI"/>
              </a:defRPr>
            </a:pPr>
            <a:r>
              <a:rPr lang="de-DE" sz="2000" b="0">
                <a:latin typeface="Segoe UI"/>
              </a:rPr>
              <a:t>&lt;base href="/"&gt; für das Routing</a:t>
            </a:r>
          </a:p>
          <a:p>
            <a:pPr>
              <a:defRPr sz="2000" b="0">
                <a:latin typeface="Segoe UI"/>
              </a:defRPr>
            </a:pPr>
            <a:r>
              <a:rPr lang="de-DE" sz="2000" b="0">
                <a:latin typeface="Segoe UI"/>
              </a:rPr>
              <a:t>Gleich wie im Standalone-Projekt</a:t>
            </a:r>
          </a:p>
          <a:p>
            <a:pPr>
              <a:defRPr sz="2000" b="0">
                <a:latin typeface="Segoe UI"/>
              </a:defRPr>
            </a:pPr>
            <a:r>
              <a:rPr lang="de-DE" sz="2000" b="0">
                <a:latin typeface="Segoe UI"/>
              </a:rPr>
              <a:t>Fehlt &lt;app-root&gt;: Fehler beim Start</a:t>
            </a:r>
          </a:p>
          <a:p>
            <a:pPr lvl="1">
              <a:defRPr sz="1700" b="0">
                <a:latin typeface="Segoe UI"/>
              </a:defRPr>
            </a:pPr>
            <a:r>
              <a:rPr lang="de-DE" sz="1700" b="0">
                <a:latin typeface="Segoe UI"/>
              </a:rPr>
              <a:t>„The selector "app-root" did not match any elements“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src/index.html</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&lt;!doctype html&gt;</a:t>
            </a:r>
          </a:p>
          <a:p>
            <a:pPr algn="l"/>
            <a:r>
              <a:rPr sz="1300" b="0">
                <a:solidFill>
                  <a:srgbClr val="2B3A42"/>
                </a:solidFill>
                <a:latin typeface="Consolas"/>
              </a:rPr>
              <a:t>&lt;html lang="de"&gt;</a:t>
            </a:r>
          </a:p>
          <a:p>
            <a:pPr algn="l"/>
            <a:r>
              <a:rPr sz="1300" b="0">
                <a:solidFill>
                  <a:srgbClr val="2B3A42"/>
                </a:solidFill>
                <a:latin typeface="Consolas"/>
              </a:rPr>
              <a:t>&lt;head&gt;</a:t>
            </a:r>
          </a:p>
          <a:p>
            <a:pPr algn="l"/>
            <a:r>
              <a:rPr sz="1300" b="0">
                <a:solidFill>
                  <a:srgbClr val="2B3A42"/>
                </a:solidFill>
                <a:latin typeface="Consolas"/>
              </a:rPr>
              <a:t>  &lt;base href="/"&gt;</a:t>
            </a:r>
          </a:p>
          <a:p>
            <a:pPr algn="l"/>
            <a:r>
              <a:rPr sz="1300" b="0">
                <a:solidFill>
                  <a:srgbClr val="2B3A42"/>
                </a:solidFill>
                <a:latin typeface="Consolas"/>
              </a:rPr>
              <a:t>  &lt;title&gt;InvoiceApp&lt;/title&gt;</a:t>
            </a:r>
          </a:p>
          <a:p>
            <a:pPr algn="l"/>
            <a:r>
              <a:rPr sz="1300" b="0">
                <a:solidFill>
                  <a:srgbClr val="2B3A42"/>
                </a:solidFill>
                <a:latin typeface="Consolas"/>
              </a:rPr>
              <a:t>&lt;/head&gt;</a:t>
            </a:r>
          </a:p>
          <a:p>
            <a:pPr algn="l"/>
            <a:r>
              <a:rPr sz="1300" b="0">
                <a:solidFill>
                  <a:srgbClr val="2B3A42"/>
                </a:solidFill>
                <a:latin typeface="Consolas"/>
              </a:rPr>
              <a:t>&lt;body&gt;</a:t>
            </a:r>
          </a:p>
          <a:p>
            <a:pPr algn="l"/>
            <a:r>
              <a:rPr sz="1300" b="0">
                <a:solidFill>
                  <a:srgbClr val="2B3A42"/>
                </a:solidFill>
                <a:latin typeface="Consolas"/>
              </a:rPr>
              <a:t>  &lt;app-root&gt;&lt;/app-root&gt;</a:t>
            </a:r>
          </a:p>
          <a:p>
            <a:pPr algn="l"/>
            <a:r>
              <a:rPr sz="1300" b="0">
                <a:solidFill>
                  <a:srgbClr val="2B3A42"/>
                </a:solidFill>
                <a:latin typeface="Consolas"/>
              </a:rPr>
              <a:t>&lt;/body&gt;</a:t>
            </a:r>
          </a:p>
          <a:p>
            <a:pPr algn="l"/>
            <a:r>
              <a:rPr sz="1300" b="0">
                <a:solidFill>
                  <a:srgbClr val="2B3A42"/>
                </a:solidFill>
                <a:latin typeface="Consolas"/>
              </a:rPr>
              <a:t>&lt;/html&gt;</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Start: bootstrapModule und bootstrapApplication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Alt: Startpunkt ist ein Modul</a:t>
            </a:r>
          </a:p>
          <a:p>
            <a:pPr lvl="1">
              <a:defRPr sz="1700" b="0">
                <a:latin typeface="Segoe UI"/>
              </a:defRPr>
            </a:pPr>
            <a:r>
              <a:rPr lang="de-DE" sz="1700" b="0">
                <a:latin typeface="Segoe UI"/>
              </a:rPr>
              <a:t>globale Provider im AppModule</a:t>
            </a:r>
          </a:p>
          <a:p>
            <a:pPr>
              <a:defRPr sz="2000" b="0">
                <a:latin typeface="Segoe UI"/>
              </a:defRPr>
            </a:pPr>
            <a:r>
              <a:rPr lang="de-DE" sz="2000" b="0">
                <a:latin typeface="Segoe UI"/>
              </a:rPr>
              <a:t>Neu: Startpunkt ist eine Komponente</a:t>
            </a:r>
          </a:p>
          <a:p>
            <a:pPr lvl="1">
              <a:defRPr sz="1700" b="0">
                <a:latin typeface="Segoe UI"/>
              </a:defRPr>
            </a:pPr>
            <a:r>
              <a:rPr lang="de-DE" sz="1700" b="0">
                <a:latin typeface="Segoe UI"/>
              </a:rPr>
              <a:t>globale Provider in app.config.ts</a:t>
            </a:r>
          </a:p>
          <a:p>
            <a:pPr>
              <a:defRPr sz="2000" b="0">
                <a:latin typeface="Segoe UI"/>
              </a:defRPr>
            </a:pPr>
            <a:r>
              <a:rPr lang="de-DE" sz="2000" b="0">
                <a:latin typeface="Segoe UI"/>
              </a:rPr>
              <a:t>Ablauf danach gleich: selector suchen, rendern</a:t>
            </a:r>
          </a:p>
          <a:p>
            <a:pPr>
              <a:defRPr sz="2000" b="0">
                <a:latin typeface="Segoe UI"/>
              </a:defRPr>
            </a:pPr>
            <a:r>
              <a:rPr lang="de-DE" sz="2000" b="0">
                <a:latin typeface="Segoe UI"/>
              </a:rPr>
              <a:t>Migration stellt main.ts automatisch um</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NgModule (alt)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bootstrapModule(AppModule)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AppModule: bootstrap</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im AppModule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Standalone (heute)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bootstrapApplication(App, appConfig)</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AppModule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in app.config.ts</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Module und Komponenten generieren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ng generate module trainings (kurz: ng g m)</a:t>
            </a:r>
          </a:p>
          <a:p>
            <a:pPr lvl="1">
              <a:defRPr sz="1700" b="0">
                <a:latin typeface="Segoe UI"/>
              </a:defRPr>
            </a:pPr>
            <a:r>
              <a:rPr lang="de-DE" sz="1700" b="0">
                <a:latin typeface="Segoe UI"/>
              </a:rPr>
              <a:t>erzeugt trainings.module.ts mit CommonModule</a:t>
            </a:r>
          </a:p>
          <a:p>
            <a:pPr lvl="1">
              <a:defRPr sz="1700" b="0">
                <a:latin typeface="Segoe UI"/>
              </a:defRPr>
            </a:pPr>
            <a:r>
              <a:rPr lang="de-DE" sz="1700" b="0">
                <a:latin typeface="Segoe UI"/>
              </a:rPr>
              <a:t>wird NICHT automatisch importiert: selbst eintragen</a:t>
            </a:r>
          </a:p>
          <a:p>
            <a:pPr lvl="1">
              <a:defRPr sz="1700" b="0">
                <a:latin typeface="Segoe UI"/>
              </a:defRPr>
            </a:pPr>
            <a:r>
              <a:rPr lang="de-DE" sz="1700" b="0">
                <a:latin typeface="Segoe UI"/>
              </a:rPr>
              <a:t>oder Option --module app verwenden</a:t>
            </a:r>
          </a:p>
          <a:p>
            <a:pPr>
              <a:defRPr sz="2000" b="0">
                <a:latin typeface="Segoe UI"/>
              </a:defRPr>
            </a:pPr>
            <a:r>
              <a:rPr lang="de-DE" sz="2000" b="0">
                <a:latin typeface="Segoe UI"/>
              </a:rPr>
              <a:t>ng g c trainings/training-info --standalone=false</a:t>
            </a:r>
          </a:p>
          <a:p>
            <a:pPr lvl="1">
              <a:defRPr sz="1700" b="0">
                <a:latin typeface="Segoe UI"/>
              </a:defRPr>
            </a:pPr>
            <a:r>
              <a:rPr lang="de-DE" sz="1700" b="0">
                <a:latin typeface="Segoe UI"/>
              </a:rPr>
              <a:t>trägt die Komponente in declarations des nächsten Moduls ein</a:t>
            </a:r>
          </a:p>
          <a:p>
            <a:pPr>
              <a:defRPr sz="2000" b="0">
                <a:latin typeface="Segoe UI"/>
              </a:defRPr>
            </a:pPr>
            <a:r>
              <a:rPr lang="de-DE" sz="2000" b="0">
                <a:latin typeface="Segoe UI"/>
              </a:rPr>
              <a:t>Ohne --standalone=false entsteht eine Standalone-Komponente</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Pipes und Direktiven im Modul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Pipes und Direktiven werden wie Komponenten deklariert</a:t>
            </a:r>
          </a:p>
          <a:p>
            <a:pPr>
              <a:defRPr sz="2000" b="0">
                <a:latin typeface="Segoe UI"/>
              </a:defRPr>
            </a:pPr>
            <a:r>
              <a:rPr lang="de-DE" sz="2000" b="0">
                <a:latin typeface="Segoe UI"/>
              </a:rPr>
              <a:t>Nur exportierte Pipes sind in anderen Modulen nutzbar</a:t>
            </a:r>
          </a:p>
          <a:p>
            <a:pPr>
              <a:defRPr sz="2000" b="0">
                <a:latin typeface="Segoe UI"/>
              </a:defRPr>
            </a:pPr>
            <a:r>
              <a:rPr lang="de-DE" sz="2000" b="0">
                <a:latin typeface="Segoe UI"/>
              </a:rPr>
              <a:t>Eingebaute Pipes (DatePipe, …) kommen aus CommonModule</a:t>
            </a:r>
          </a:p>
          <a:p>
            <a:pPr>
              <a:defRPr sz="2000" b="0">
                <a:latin typeface="Segoe UI"/>
              </a:defRPr>
            </a:pPr>
            <a:r>
              <a:rPr lang="de-DE" sz="2000" b="0">
                <a:latin typeface="Segoe UI"/>
              </a:rPr>
              <a:t>Heute: Pipe direkt im imports-Array der Komponente</a:t>
            </a:r>
          </a:p>
          <a:p>
            <a:pPr lvl="1">
              <a:defRPr sz="1700" b="0">
                <a:latin typeface="Segoe UI"/>
              </a:defRPr>
            </a:pPr>
            <a:r>
              <a:rPr lang="de-DE" sz="1700" b="0">
                <a:latin typeface="Segoe UI"/>
              </a:rPr>
              <a:t>imports: [HasLikesPipe, DatePipe]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shared.module.ts</a:t>
            </a:r>
          </a:p>
        </p:txBody>
      </p:sp>
      <p:sp>
        <p:nvSpPr>
          <p:cNvPr id="5" name="Rectangle 4"/>
          <p:cNvSpPr/>
          <p:nvPr/>
        </p:nvSpPr>
        <p:spPr>
          <a:xfrm>
            <a:off x="7000000" y="2230000"/>
            <a:ext cx="4350000" cy="15058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@NgModule({</a:t>
            </a:r>
          </a:p>
          <a:p>
            <a:pPr algn="l"/>
            <a:r>
              <a:rPr sz="1500" b="0">
                <a:solidFill>
                  <a:srgbClr val="2B3A42"/>
                </a:solidFill>
                <a:latin typeface="Consolas"/>
              </a:rPr>
              <a:t>  declarations: [HasLikesPipe],</a:t>
            </a:r>
          </a:p>
          <a:p>
            <a:pPr algn="l"/>
            <a:r>
              <a:rPr sz="1500" b="0">
                <a:solidFill>
                  <a:srgbClr val="2B3A42"/>
                </a:solidFill>
                <a:latin typeface="Consolas"/>
              </a:rPr>
              <a:t>  exports: [HasLikesPipe]</a:t>
            </a:r>
          </a:p>
          <a:p>
            <a:pPr algn="l"/>
            <a:r>
              <a:rPr sz="1500" b="0">
                <a:solidFill>
                  <a:srgbClr val="2B3A42"/>
                </a:solidFill>
                <a:latin typeface="Consolas"/>
              </a:rPr>
              <a:t>})</a:t>
            </a:r>
          </a:p>
          <a:p>
            <a:pPr algn="l"/>
            <a:r>
              <a:rPr sz="1500" b="0">
                <a:solidFill>
                  <a:srgbClr val="2B3A42"/>
                </a:solidFill>
                <a:latin typeface="Consolas"/>
              </a:rPr>
              <a:t>export class SharedModule { }</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Legacy-DI: providers am Modul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Woher weiß Angular, was zu injizieren ist?</a:t>
            </a:r>
          </a:p>
          <a:p>
            <a:pPr lvl="1">
              <a:defRPr sz="1700" b="0">
                <a:latin typeface="Segoe UI"/>
              </a:defRPr>
            </a:pPr>
            <a:r>
              <a:rPr lang="de-DE" sz="1700" b="0">
                <a:latin typeface="Segoe UI"/>
              </a:rPr>
              <a:t>Antwort: aus einem Provider</a:t>
            </a:r>
          </a:p>
          <a:p>
            <a:pPr>
              <a:defRPr sz="2000" b="0">
                <a:latin typeface="Segoe UI"/>
              </a:defRPr>
            </a:pPr>
            <a:r>
              <a:rPr lang="de-DE" sz="2000" b="0">
                <a:latin typeface="Segoe UI"/>
              </a:rPr>
              <a:t>Alt: providers-Array im @NgModule</a:t>
            </a:r>
          </a:p>
          <a:p>
            <a:pPr lvl="1">
              <a:defRPr sz="1700" b="0">
                <a:latin typeface="Segoe UI"/>
              </a:defRPr>
            </a:pPr>
            <a:r>
              <a:rPr lang="de-DE" sz="1700" b="0">
                <a:latin typeface="Segoe UI"/>
              </a:rPr>
              <a:t>Service mit @Injectable() ohne providedIn</a:t>
            </a:r>
          </a:p>
          <a:p>
            <a:pPr>
              <a:defRPr sz="2000" b="0">
                <a:latin typeface="Segoe UI"/>
              </a:defRPr>
            </a:pPr>
            <a:r>
              <a:rPr lang="de-DE" sz="2000" b="0">
                <a:latin typeface="Segoe UI"/>
              </a:rPr>
              <a:t>Eingebundenes Modul: eine Instanz für die App</a:t>
            </a:r>
          </a:p>
          <a:p>
            <a:pPr>
              <a:defRPr sz="2000" b="0">
                <a:latin typeface="Segoe UI"/>
              </a:defRPr>
            </a:pPr>
            <a:r>
              <a:rPr lang="de-DE" sz="2000" b="0">
                <a:latin typeface="Segoe UI"/>
              </a:rPr>
              <a:t>Lazy geladenes Modul: eigener Injector, eigene Instanz</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 braucht</a:t>
            </a:r>
          </a:p>
          <a:p>
            <a:pPr algn="ctr"/>
            <a:r>
              <a:rPr sz="1700" b="0">
                <a:solidFill>
                  <a:srgbClr val="2B3A42"/>
                </a:solidFill>
                <a:latin typeface="Segoe UI"/>
              </a:rPr>
              <a:t>TrainingService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Injector sucht Provider</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Provider aus</a:t>
            </a:r>
          </a:p>
          <a:p>
            <a:pPr algn="ctr"/>
            <a:r>
              <a:rPr sz="1700" b="0">
                <a:solidFill>
                  <a:srgbClr val="2B3A42"/>
                </a:solidFill>
                <a:latin typeface="Segoe UI"/>
              </a:rPr>
              <a:t>@NgModule.providers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Instanz erzeugen</a:t>
            </a:r>
          </a:p>
          <a:p>
            <a:pPr algn="ctr"/>
            <a:r>
              <a:rPr sz="1700" b="1">
                <a:solidFill>
                  <a:srgbClr val="FFFFFF"/>
                </a:solidFill>
                <a:latin typeface="Segoe UI"/>
              </a:rPr>
              <a:t>oder wiederverwenden</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Provider-Objekte: provide und Rezept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Kurzform [ConsoleLogger] bedeutet:</a:t>
            </a:r>
          </a:p>
          <a:p>
            <a:pPr lvl="1">
              <a:defRPr sz="1700" b="0">
                <a:latin typeface="Segoe UI"/>
              </a:defRPr>
            </a:pPr>
            <a:r>
              <a:rPr lang="de-DE" sz="1700" b="0">
                <a:latin typeface="Segoe UI"/>
              </a:rPr>
              <a:t>{ provide: ConsoleLogger, useClass: ConsoleLogger }</a:t>
            </a:r>
          </a:p>
          <a:p>
            <a:pPr>
              <a:defRPr sz="2000" b="0">
                <a:latin typeface="Segoe UI"/>
              </a:defRPr>
            </a:pPr>
            <a:r>
              <a:rPr lang="de-DE" sz="2000" b="0">
                <a:latin typeface="Segoe UI"/>
              </a:rPr>
              <a:t>provide: Token, unter dem gesucht wird</a:t>
            </a:r>
          </a:p>
          <a:p>
            <a:pPr>
              <a:defRPr sz="2000" b="0">
                <a:latin typeface="Segoe UI"/>
              </a:defRPr>
            </a:pPr>
            <a:r>
              <a:rPr lang="de-DE" sz="2000" b="0">
                <a:latin typeface="Segoe UI"/>
              </a:rPr>
              <a:t>Rezept, wie das Objekt entsteht:</a:t>
            </a:r>
          </a:p>
          <a:p>
            <a:pPr lvl="1">
              <a:defRPr sz="1700" b="0">
                <a:latin typeface="Segoe UI"/>
              </a:defRPr>
            </a:pPr>
            <a:r>
              <a:rPr lang="de-DE" sz="1700" b="0">
                <a:latin typeface="Segoe UI"/>
              </a:rPr>
              <a:t>useClass: Klasse mit new erzeugen</a:t>
            </a:r>
          </a:p>
          <a:p>
            <a:pPr lvl="1">
              <a:defRPr sz="1700" b="0">
                <a:latin typeface="Segoe UI"/>
              </a:defRPr>
            </a:pPr>
            <a:r>
              <a:rPr lang="de-DE" sz="1700" b="0">
                <a:latin typeface="Segoe UI"/>
              </a:rPr>
              <a:t>useValue: fertigen Wert verwenden</a:t>
            </a:r>
          </a:p>
          <a:p>
            <a:pPr lvl="1">
              <a:defRPr sz="1700" b="0">
                <a:latin typeface="Segoe UI"/>
              </a:defRPr>
            </a:pPr>
            <a:r>
              <a:rPr lang="de-DE" sz="1700" b="0">
                <a:latin typeface="Segoe UI"/>
              </a:rPr>
              <a:t>useFactory: Funktion liefert das Objekt</a:t>
            </a:r>
          </a:p>
          <a:p>
            <a:pPr lvl="1">
              <a:defRPr sz="1700" b="0">
                <a:latin typeface="Segoe UI"/>
              </a:defRPr>
            </a:pPr>
            <a:r>
              <a:rPr lang="de-DE" sz="1700" b="0">
                <a:latin typeface="Segoe UI"/>
              </a:rPr>
              <a:t>useExisting: auf anderes Token verweisen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track.module.ts</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@NgModule({</a:t>
            </a:r>
          </a:p>
          <a:p>
            <a:pPr algn="l"/>
            <a:r>
              <a:rPr sz="1500" b="0">
                <a:solidFill>
                  <a:srgbClr val="2B3A42"/>
                </a:solidFill>
                <a:latin typeface="Consolas"/>
              </a:rPr>
              <a:t>  providers: [</a:t>
            </a:r>
          </a:p>
          <a:p>
            <a:pPr algn="l"/>
            <a:r>
              <a:rPr sz="1500" b="0">
                <a:solidFill>
                  <a:srgbClr val="2B3A42"/>
                </a:solidFill>
                <a:latin typeface="Consolas"/>
              </a:rPr>
              <a:t>    { provide: ConsoleLogger,</a:t>
            </a:r>
          </a:p>
          <a:p>
            <a:pPr algn="l"/>
            <a:r>
              <a:rPr sz="1500" b="0">
                <a:solidFill>
                  <a:srgbClr val="2B3A42"/>
                </a:solidFill>
                <a:latin typeface="Consolas"/>
              </a:rPr>
              <a:t>      useClass: ConsoleLogger },</a:t>
            </a:r>
          </a:p>
          <a:p>
            <a:pPr algn="l"/>
            <a:r>
              <a:rPr sz="1500" b="0">
                <a:solidFill>
                  <a:srgbClr val="2B3A42"/>
                </a:solidFill>
                <a:latin typeface="Consolas"/>
              </a:rPr>
              <a:t>    { provide: Logger,</a:t>
            </a:r>
          </a:p>
          <a:p>
            <a:pPr algn="l"/>
            <a:r>
              <a:rPr sz="1500" b="0">
                <a:solidFill>
                  <a:srgbClr val="2B3A42"/>
                </a:solidFill>
                <a:latin typeface="Consolas"/>
              </a:rPr>
              <a:t>      useExisting: ConsoleLogger }</a:t>
            </a:r>
          </a:p>
          <a:p>
            <a:pPr algn="l"/>
            <a:r>
              <a:rPr sz="1500" b="0">
                <a:solidFill>
                  <a:srgbClr val="2B3A42"/>
                </a:solidFill>
                <a:latin typeface="Consolas"/>
              </a:rPr>
              <a:t>  ]</a:t>
            </a:r>
          </a:p>
          <a:p>
            <a:pPr algn="l"/>
            <a:r>
              <a:rPr sz="1500" b="0">
                <a:solidFill>
                  <a:srgbClr val="2B3A42"/>
                </a:solidFill>
                <a:latin typeface="Consolas"/>
              </a:rPr>
              <a:t>})</a:t>
            </a:r>
          </a:p>
          <a:p>
            <a:pPr algn="l"/>
            <a:r>
              <a:rPr sz="1500" b="0">
                <a:solidFill>
                  <a:srgbClr val="2B3A42"/>
                </a:solidFill>
                <a:latin typeface="Consolas"/>
              </a:rPr>
              <a:t>export class TrackModule { }</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 heute: providedIn und provide-Funktionen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Services meist mit providedIn: 'root'</a:t>
            </a:r>
          </a:p>
          <a:p>
            <a:pPr lvl="1">
              <a:defRPr sz="1700" b="0">
                <a:latin typeface="Segoe UI"/>
              </a:defRPr>
            </a:pPr>
            <a:r>
              <a:rPr lang="de-DE" sz="1700" b="0">
                <a:latin typeface="Segoe UI"/>
              </a:rPr>
              <a:t>kein Eintrag in einem Modul nötig</a:t>
            </a:r>
          </a:p>
          <a:p>
            <a:pPr lvl="1">
              <a:defRPr sz="1700" b="0">
                <a:latin typeface="Segoe UI"/>
              </a:defRPr>
            </a:pPr>
            <a:r>
              <a:rPr lang="de-DE" sz="1700" b="0">
                <a:latin typeface="Segoe UI"/>
              </a:rPr>
              <a:t>nicht benutzte Services fallen beim Build weg</a:t>
            </a:r>
          </a:p>
          <a:p>
            <a:pPr>
              <a:defRPr sz="2000" b="0">
                <a:latin typeface="Segoe UI"/>
              </a:defRPr>
            </a:pPr>
            <a:r>
              <a:rPr lang="de-DE" sz="2000" b="0">
                <a:latin typeface="Segoe UI"/>
              </a:rPr>
              <a:t>Globale Provider in app.config.ts</a:t>
            </a:r>
          </a:p>
          <a:p>
            <a:pPr>
              <a:defRPr sz="2000" b="0">
                <a:latin typeface="Segoe UI"/>
              </a:defRPr>
            </a:pPr>
            <a:r>
              <a:rPr lang="de-DE" sz="2000" b="0">
                <a:latin typeface="Segoe UI"/>
              </a:rPr>
              <a:t>Lokale Provider im providers-Array der Komponente</a:t>
            </a:r>
          </a:p>
          <a:p>
            <a:pPr>
              <a:defRPr sz="2000" b="0">
                <a:latin typeface="Segoe UI"/>
              </a:defRPr>
            </a:pPr>
            <a:r>
              <a:rPr lang="de-DE" sz="2000" b="0">
                <a:latin typeface="Segoe UI"/>
              </a:rPr>
              <a:t>Provider-Objekte bleiben gleich</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@Injectable()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im NgModule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HttpClientModule importieren</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providedIn: 'root'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in app.config.ts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provideHttpClient()</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Legacy-Routing: RouterModule.forRoot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Routen stehen in einem eigenen AppRoutingModule</a:t>
            </a:r>
          </a:p>
          <a:p>
            <a:pPr>
              <a:defRPr sz="2000" b="0">
                <a:latin typeface="Segoe UI"/>
              </a:defRPr>
            </a:pPr>
            <a:r>
              <a:rPr lang="de-DE" sz="2000" b="0">
                <a:latin typeface="Segoe UI"/>
              </a:rPr>
              <a:t>RouterModule.forRoot(routes)</a:t>
            </a:r>
          </a:p>
          <a:p>
            <a:pPr lvl="1">
              <a:defRPr sz="1700" b="0">
                <a:latin typeface="Segoe UI"/>
              </a:defRPr>
            </a:pPr>
            <a:r>
              <a:rPr lang="de-DE" sz="1700" b="0">
                <a:latin typeface="Segoe UI"/>
              </a:rPr>
              <a:t>registriert Router-Service und Routen</a:t>
            </a:r>
          </a:p>
          <a:p>
            <a:pPr lvl="1">
              <a:defRPr sz="1700" b="0">
                <a:latin typeface="Segoe UI"/>
              </a:defRPr>
            </a:pPr>
            <a:r>
              <a:rPr lang="de-DE" sz="1700" b="0">
                <a:latin typeface="Segoe UI"/>
              </a:rPr>
              <a:t>nur einmal in der ganzen Anwendung</a:t>
            </a:r>
          </a:p>
          <a:p>
            <a:pPr>
              <a:defRPr sz="2000" b="0">
                <a:latin typeface="Segoe UI"/>
              </a:defRPr>
            </a:pPr>
            <a:r>
              <a:rPr lang="de-DE" sz="2000" b="0">
                <a:latin typeface="Segoe UI"/>
              </a:rPr>
              <a:t>exports: [RouterModule]</a:t>
            </a:r>
          </a:p>
          <a:p>
            <a:pPr lvl="1">
              <a:defRPr sz="1700" b="0">
                <a:latin typeface="Segoe UI"/>
              </a:defRPr>
            </a:pPr>
            <a:r>
              <a:rPr lang="de-DE" sz="1700" b="0">
                <a:latin typeface="Segoe UI"/>
              </a:rPr>
              <a:t>router-outlet und routerLink im AppModule nutzbar</a:t>
            </a:r>
          </a:p>
          <a:p>
            <a:pPr>
              <a:defRPr sz="2000" b="0">
                <a:latin typeface="Segoe UI"/>
              </a:defRPr>
            </a:pPr>
            <a:r>
              <a:rPr lang="de-DE" sz="2000" b="0">
                <a:latin typeface="Segoe UI"/>
              </a:rPr>
              <a:t>AppModule importiert AppRoutingModule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routes: Routes</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RouterModule.forRoot(routes)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AppRoutingModule</a:t>
            </a:r>
          </a:p>
          <a:p>
            <a:pPr algn="ctr"/>
            <a:r>
              <a:rPr sz="1700" b="0">
                <a:solidFill>
                  <a:srgbClr val="2B3A42"/>
                </a:solidFill>
                <a:latin typeface="Segoe UI"/>
              </a:rPr>
              <a:t>exports RouterModule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AppModule importiert</a:t>
            </a:r>
          </a:p>
          <a:p>
            <a:pPr algn="ctr"/>
            <a:r>
              <a:rPr sz="1700" b="1">
                <a:solidFill>
                  <a:srgbClr val="FFFFFF"/>
                </a:solidFill>
                <a:latin typeface="Segoe UI"/>
              </a:rPr>
              <a:t>AppRoutingModule</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AppRoutingModule im Projekt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src/app/app-routing.module.ts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const routes: Routes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path: 'trainings', component: TrainingListComponent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path: 'trainings/:id', component: TrainingDetailsComponent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path: '**', redirectTo: '/trainings'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@NgModule({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imports: [CommonModule, RouterModule.forRoot(routes)],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exports: [RouterModule]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AppRoutingModule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Heute: provideRouter(routes) in app.config.ts</a:t>
            </a:r>
            <a:endParaRPr lang="de-DE" sz="1800" b="0" u="none" strike="noStrike">
              <a:solidFill>
                <a:srgbClr val="000000"/>
              </a:solidFill>
              <a:uFillTx/>
              <a:latin typeface="Arial"/>
            </a:endParaRP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Routing: von /trainings nach /trainings/3</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Router tauscht nur den Inhalt von &lt;router-outlet&gt; – die Überschrift bleibt</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80272"/>
          </a:xfrm>
          <a:prstGeom prst="rect">
            <a:avLst/>
          </a:prstGeom>
          <a:noFill/>
        </p:spPr>
        <p:txBody>
          <a:bodyPr wrap="square" anchor="t" lIns="70000" rIns="70000" tIns="0" bIns="0">
            <a:spAutoFit/>
          </a:bodyPr>
          <a:lstStyle/>
          <a:p>
            <a:pPr algn="l"/>
            <a:r>
              <a:rPr sz="1300" b="1">
                <a:solidFill>
                  <a:srgbClr val="2B3A42"/>
                </a:solidFill>
                <a:latin typeface="Segoe UI"/>
              </a:rPr>
              <a:t>AppModule</a:t>
            </a:r>
          </a:p>
        </p:txBody>
      </p:sp>
      <p:sp>
        <p:nvSpPr>
          <p:cNvPr id="6" name="Rectangle 5"/>
          <p:cNvSpPr/>
          <p:nvPr/>
        </p:nvSpPr>
        <p:spPr>
          <a:xfrm>
            <a:off x="948080" y="1970272"/>
            <a:ext cx="4887080" cy="385297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10272"/>
            <a:ext cx="4767080" cy="503492"/>
          </a:xfrm>
          <a:prstGeom prst="rect">
            <a:avLst/>
          </a:prstGeom>
          <a:noFill/>
        </p:spPr>
        <p:txBody>
          <a:bodyPr wrap="square" anchor="t" lIns="70000" rIns="70000" tIns="0" bIns="0">
            <a:spAutoFit/>
          </a:bodyPr>
          <a:lstStyle/>
          <a:p>
            <a:pPr algn="l"/>
            <a:r>
              <a:rPr sz="1300" b="1">
                <a:solidFill>
                  <a:srgbClr val="2B3A42"/>
                </a:solidFill>
                <a:latin typeface="Segoe UI"/>
              </a:rPr>
              <a:t>AppRoutingModule</a:t>
            </a:r>
          </a:p>
          <a:p>
            <a:pPr algn="l"/>
            <a:r>
              <a:rPr sz="1300" b="1">
                <a:solidFill>
                  <a:srgbClr val="2B3A42"/>
                </a:solidFill>
                <a:latin typeface="Segoe UI"/>
              </a:rPr>
              <a:t>RouterModule.forRoot(routes)</a:t>
            </a:r>
          </a:p>
        </p:txBody>
      </p:sp>
      <p:sp>
        <p:nvSpPr>
          <p:cNvPr id="8" name="Rounded Rectangle 7"/>
          <p:cNvSpPr/>
          <p:nvPr/>
        </p:nvSpPr>
        <p:spPr>
          <a:xfrm>
            <a:off x="1058080" y="2513764"/>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'trainings'</a:t>
            </a:r>
          </a:p>
          <a:p>
            <a:pPr algn="ctr"/>
            <a:r>
              <a:rPr sz="1300" b="0">
                <a:solidFill>
                  <a:srgbClr val="2B3A42"/>
                </a:solidFill>
                <a:latin typeface="Segoe UI"/>
              </a:rPr>
              <a:t>→ TrainingListComponent</a:t>
            </a:r>
          </a:p>
        </p:txBody>
      </p:sp>
      <p:sp>
        <p:nvSpPr>
          <p:cNvPr id="9" name="Rounded Rectangle 8"/>
          <p:cNvSpPr/>
          <p:nvPr/>
        </p:nvSpPr>
        <p:spPr>
          <a:xfrm>
            <a:off x="1058080" y="3717210"/>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'trainings/:id'</a:t>
            </a:r>
          </a:p>
          <a:p>
            <a:pPr algn="ctr"/>
            <a:r>
              <a:rPr sz="1300" b="0">
                <a:solidFill>
                  <a:srgbClr val="2B3A42"/>
                </a:solidFill>
                <a:latin typeface="Segoe UI"/>
              </a:rPr>
              <a:t>→ TrainingDetailsComponent</a:t>
            </a:r>
          </a:p>
        </p:txBody>
      </p:sp>
      <p:sp>
        <p:nvSpPr>
          <p:cNvPr id="10" name="Rounded Rectangle 9"/>
          <p:cNvSpPr/>
          <p:nvPr/>
        </p:nvSpPr>
        <p:spPr>
          <a:xfrm>
            <a:off x="1058080" y="4920656"/>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t>
            </a:r>
          </a:p>
          <a:p>
            <a:pPr algn="ctr"/>
            <a:r>
              <a:rPr sz="1300" b="0">
                <a:solidFill>
                  <a:srgbClr val="2B3A42"/>
                </a:solidFill>
                <a:latin typeface="Segoe UI"/>
              </a:rPr>
              <a:t>→ redirectTo '/trainings'</a:t>
            </a:r>
          </a:p>
        </p:txBody>
      </p:sp>
      <p:sp>
        <p:nvSpPr>
          <p:cNvPr id="11" name="Rectangle 10"/>
          <p:cNvSpPr/>
          <p:nvPr/>
        </p:nvSpPr>
        <p:spPr>
          <a:xfrm>
            <a:off x="6355160" y="1970272"/>
            <a:ext cx="4887080" cy="385297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010272"/>
            <a:ext cx="4767080" cy="503492"/>
          </a:xfrm>
          <a:prstGeom prst="rect">
            <a:avLst/>
          </a:prstGeom>
          <a:noFill/>
        </p:spPr>
        <p:txBody>
          <a:bodyPr wrap="square" anchor="t" lIns="70000" rIns="70000" tIns="0" bIns="0">
            <a:spAutoFit/>
          </a:bodyPr>
          <a:lstStyle/>
          <a:p>
            <a:pPr algn="l"/>
            <a:r>
              <a:rPr sz="1300" b="1">
                <a:solidFill>
                  <a:srgbClr val="2B3A42"/>
                </a:solidFill>
                <a:latin typeface="Segoe UI"/>
              </a:rPr>
              <a:t>AppComponent</a:t>
            </a:r>
          </a:p>
          <a:p>
            <a:pPr algn="l"/>
            <a:r>
              <a:rPr sz="1300" b="1">
                <a:solidFill>
                  <a:srgbClr val="2B3A42"/>
                </a:solidFill>
                <a:latin typeface="Segoe UI"/>
              </a:rPr>
              <a:t>&lt;h1&gt; und &lt;router-outlet&gt;</a:t>
            </a:r>
          </a:p>
        </p:txBody>
      </p:sp>
      <p:sp>
        <p:nvSpPr>
          <p:cNvPr id="13" name="Rectangle 12"/>
          <p:cNvSpPr/>
          <p:nvPr/>
        </p:nvSpPr>
        <p:spPr>
          <a:xfrm>
            <a:off x="6465160" y="2513764"/>
            <a:ext cx="4667080" cy="1397551"/>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4" name="TextBox 13"/>
          <p:cNvSpPr txBox="1"/>
          <p:nvPr/>
        </p:nvSpPr>
        <p:spPr>
          <a:xfrm>
            <a:off x="6525160" y="2553764"/>
            <a:ext cx="4547080" cy="280272"/>
          </a:xfrm>
          <a:prstGeom prst="rect">
            <a:avLst/>
          </a:prstGeom>
          <a:noFill/>
        </p:spPr>
        <p:txBody>
          <a:bodyPr wrap="square" anchor="t" lIns="70000" rIns="70000" tIns="0" bIns="0">
            <a:spAutoFit/>
          </a:bodyPr>
          <a:lstStyle/>
          <a:p>
            <a:pPr algn="l"/>
            <a:r>
              <a:rPr sz="1300" b="1">
                <a:solidFill>
                  <a:srgbClr val="2B3A42"/>
                </a:solidFill>
                <a:latin typeface="Segoe UI"/>
              </a:rPr>
              <a:t>vorher: Outlet bei /trainings</a:t>
            </a:r>
          </a:p>
        </p:txBody>
      </p:sp>
      <p:sp>
        <p:nvSpPr>
          <p:cNvPr id="15" name="Rounded Rectangle 14"/>
          <p:cNvSpPr/>
          <p:nvPr/>
        </p:nvSpPr>
        <p:spPr>
          <a:xfrm>
            <a:off x="6575160" y="2834036"/>
            <a:ext cx="444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TrainingListComponent</a:t>
            </a:r>
          </a:p>
          <a:p>
            <a:pPr algn="ctr"/>
            <a:r>
              <a:rPr sz="1300" b="0">
                <a:solidFill>
                  <a:srgbClr val="2B3A42"/>
                </a:solidFill>
                <a:latin typeface="Segoe UI"/>
              </a:rPr>
              <a:t>[routerLink]="[training.id]"</a:t>
            </a:r>
          </a:p>
        </p:txBody>
      </p:sp>
      <p:sp>
        <p:nvSpPr>
          <p:cNvPr id="16" name="Rectangle 15"/>
          <p:cNvSpPr/>
          <p:nvPr/>
        </p:nvSpPr>
        <p:spPr>
          <a:xfrm>
            <a:off x="6465160" y="4318934"/>
            <a:ext cx="4667080" cy="1397551"/>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7" name="TextBox 16"/>
          <p:cNvSpPr txBox="1"/>
          <p:nvPr/>
        </p:nvSpPr>
        <p:spPr>
          <a:xfrm>
            <a:off x="6525160" y="4358934"/>
            <a:ext cx="4547080" cy="280272"/>
          </a:xfrm>
          <a:prstGeom prst="rect">
            <a:avLst/>
          </a:prstGeom>
          <a:noFill/>
        </p:spPr>
        <p:txBody>
          <a:bodyPr wrap="square" anchor="t" lIns="70000" rIns="70000" tIns="0" bIns="0">
            <a:spAutoFit/>
          </a:bodyPr>
          <a:lstStyle/>
          <a:p>
            <a:pPr algn="l"/>
            <a:r>
              <a:rPr sz="1300" b="1">
                <a:solidFill>
                  <a:srgbClr val="2B3A42"/>
                </a:solidFill>
                <a:latin typeface="Segoe UI"/>
              </a:rPr>
              <a:t>nachher: Outlet bei /trainings/3</a:t>
            </a:r>
          </a:p>
        </p:txBody>
      </p:sp>
      <p:sp>
        <p:nvSpPr>
          <p:cNvPr id="18" name="Rounded Rectangle 17"/>
          <p:cNvSpPr/>
          <p:nvPr/>
        </p:nvSpPr>
        <p:spPr>
          <a:xfrm>
            <a:off x="6575160" y="4639206"/>
            <a:ext cx="4447080" cy="795827"/>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TrainingDetailsComponent</a:t>
            </a:r>
          </a:p>
          <a:p>
            <a:pPr algn="ctr"/>
            <a:r>
              <a:rPr sz="1300" b="1">
                <a:solidFill>
                  <a:srgbClr val="FFFFFF"/>
                </a:solidFill>
                <a:latin typeface="Segoe UI"/>
              </a:rPr>
              <a:t>id aus ActivatedRoute</a:t>
            </a:r>
          </a:p>
        </p:txBody>
      </p:sp>
      <p:cxnSp>
        <p:nvCxnSpPr>
          <p:cNvPr id="19" name="Connector 18"/>
          <p:cNvCxnSpPr/>
          <p:nvPr/>
        </p:nvCxnSpPr>
        <p:spPr>
          <a:xfrm>
            <a:off x="8798700" y="3629863"/>
            <a:ext cx="0" cy="1009343"/>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858700" y="3994534"/>
            <a:ext cx="2617440" cy="280000"/>
          </a:xfrm>
          <a:prstGeom prst="rect">
            <a:avLst/>
          </a:prstGeom>
          <a:solidFill>
            <a:srgbClr val="FFFFFF"/>
          </a:solidFill>
        </p:spPr>
        <p:txBody>
          <a:bodyPr wrap="none" anchor="ctr" lIns="70000" rIns="70000" tIns="0" bIns="0">
            <a:spAutoFit/>
          </a:bodyPr>
          <a:lstStyle/>
          <a:p>
            <a:pPr algn="l"/>
            <a:r>
              <a:rPr sz="1200" b="1">
                <a:solidFill>
                  <a:srgbClr val="C05A1E"/>
                </a:solidFill>
                <a:latin typeface="Segoe UI"/>
              </a:rPr>
              <a:t>Klick auf Training 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forRoot und forChild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Statische Methoden, liefern Modul plus Provider</a:t>
            </a:r>
          </a:p>
          <a:p>
            <a:pPr>
              <a:defRPr sz="2000" b="0">
                <a:latin typeface="Segoe UI"/>
              </a:defRPr>
            </a:pPr>
            <a:r>
              <a:rPr lang="de-DE" sz="2000" b="0">
                <a:latin typeface="Segoe UI"/>
              </a:rPr>
              <a:t>forRoot(routes): Router-Service und Wurzelrouten</a:t>
            </a:r>
          </a:p>
          <a:p>
            <a:pPr lvl="1">
              <a:defRPr sz="1700" b="0">
                <a:latin typeface="Segoe UI"/>
              </a:defRPr>
            </a:pPr>
            <a:r>
              <a:rPr lang="de-DE" sz="1700" b="0">
                <a:latin typeface="Segoe UI"/>
              </a:rPr>
              <a:t>genau einmal, im AppModule bzw. AppRoutingModule</a:t>
            </a:r>
          </a:p>
          <a:p>
            <a:pPr>
              <a:defRPr sz="2000" b="0">
                <a:latin typeface="Segoe UI"/>
              </a:defRPr>
            </a:pPr>
            <a:r>
              <a:rPr lang="de-DE" sz="2000" b="0">
                <a:latin typeface="Segoe UI"/>
              </a:rPr>
              <a:t>forChild(routes): nur zusätzliche Routen</a:t>
            </a:r>
          </a:p>
          <a:p>
            <a:pPr lvl="1">
              <a:defRPr sz="1700" b="0">
                <a:latin typeface="Segoe UI"/>
              </a:defRPr>
            </a:pPr>
            <a:r>
              <a:rPr lang="de-DE" sz="1700" b="0">
                <a:latin typeface="Segoe UI"/>
              </a:rPr>
              <a:t>in Feature-Modulen, v. a. bei Lazy Loading</a:t>
            </a:r>
          </a:p>
          <a:p>
            <a:pPr>
              <a:defRPr sz="2000" b="0">
                <a:latin typeface="Segoe UI"/>
              </a:defRPr>
            </a:pPr>
            <a:r>
              <a:rPr lang="de-DE" sz="2000" b="0">
                <a:latin typeface="Segoe UI"/>
              </a:rPr>
              <a:t>forRoot im Feature-Modul: zweiter Router, Fehler</a:t>
            </a:r>
          </a:p>
          <a:p>
            <a:pPr>
              <a:defRPr sz="2000" b="0">
                <a:latin typeface="Segoe UI"/>
              </a:defRPr>
            </a:pPr>
            <a:r>
              <a:rPr lang="de-DE" sz="2000" b="0">
                <a:latin typeface="Segoe UI"/>
              </a:rPr>
              <a:t>Heute: loadChildren lädt Routen-Dateien direkt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forRoot(routes)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Router-Service + Routen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genau einmal</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AppRoutingModule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forChild(routes)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Routen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beliebig oft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Feature-Module</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Location-Strategie im Modul</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PathLocationStrategy (Standard): /trainings/7</a:t>
            </a:r>
          </a:p>
          <a:p>
            <a:pPr lvl="1">
              <a:defRPr sz="1700" b="0">
                <a:latin typeface="Segoe UI"/>
              </a:defRPr>
            </a:pPr>
            <a:r>
              <a:rPr lang="de-DE" sz="1700" b="0">
                <a:latin typeface="Segoe UI"/>
              </a:rPr>
              <a:t>braucht &lt;base href="/"&gt; in index.html</a:t>
            </a:r>
          </a:p>
          <a:p>
            <a:pPr lvl="1">
              <a:defRPr sz="1700" b="0">
                <a:latin typeface="Segoe UI"/>
              </a:defRPr>
            </a:pPr>
            <a:r>
              <a:rPr lang="de-DE" sz="1700" b="0">
                <a:latin typeface="Segoe UI"/>
              </a:rPr>
              <a:t>Server muss unbekannte Pfade auf index.html leiten</a:t>
            </a:r>
          </a:p>
          <a:p>
            <a:pPr>
              <a:defRPr sz="2000" b="0">
                <a:latin typeface="Segoe UI"/>
              </a:defRPr>
            </a:pPr>
            <a:r>
              <a:rPr lang="de-DE" sz="2000" b="0">
                <a:latin typeface="Segoe UI"/>
              </a:rPr>
              <a:t>HashLocationStrategy: /#/trainings/7</a:t>
            </a:r>
          </a:p>
          <a:p>
            <a:pPr lvl="1">
              <a:defRPr sz="1700" b="0">
                <a:latin typeface="Segoe UI"/>
              </a:defRPr>
            </a:pPr>
            <a:r>
              <a:rPr lang="de-DE" sz="1700" b="0">
                <a:latin typeface="Segoe UI"/>
              </a:rPr>
              <a:t>einfacher zu hosten, Standard in AngularJS 1</a:t>
            </a:r>
          </a:p>
          <a:p>
            <a:pPr>
              <a:defRPr sz="2000" b="0">
                <a:latin typeface="Segoe UI"/>
              </a:defRPr>
            </a:pPr>
            <a:r>
              <a:rPr lang="de-DE" sz="2000" b="0">
                <a:latin typeface="Segoe UI"/>
              </a:rPr>
              <a:t>Alt: RouterModule.forRoot(routes, { useHash: true })</a:t>
            </a:r>
          </a:p>
          <a:p>
            <a:pPr>
              <a:defRPr sz="2000" b="0">
                <a:latin typeface="Segoe UI"/>
              </a:defRPr>
            </a:pPr>
            <a:r>
              <a:rPr lang="de-DE" sz="2000" b="0">
                <a:latin typeface="Segoe UI"/>
              </a:rPr>
              <a:t>Heute: provideRouter(routes, withHashLocation())</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Routenparameter mit ActivatedRoute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TrainingDetailsComponent implements OnInit, OnDestroy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training?: Training;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subscription?: Subscription;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constructor(private route: ActivatedRoute,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trainingService: TrainingService)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ngOnInit(): void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this.subscription = this.route.params.subscribe(params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Number(params['id']);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this.trainingService.getById(id)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.subscribe(training =&gt; this.training = training);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ngOnDestroy(): void { this.subscription?.unsubscribe();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params.subscribe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route.params ist ein Observable&lt;Params&gt;</a:t>
            </a:r>
          </a:p>
          <a:p>
            <a:pPr>
              <a:defRPr sz="2000" b="0">
                <a:latin typeface="Segoe UI"/>
              </a:defRPr>
            </a:pPr>
            <a:r>
              <a:rPr lang="de-DE" sz="2000" b="0">
                <a:latin typeface="Segoe UI"/>
              </a:rPr>
              <a:t>Callback-Parameter params: Objekt, z. B. { id: '7' }</a:t>
            </a:r>
          </a:p>
          <a:p>
            <a:pPr lvl="1">
              <a:defRPr sz="1700" b="0">
                <a:latin typeface="Segoe UI"/>
              </a:defRPr>
            </a:pPr>
            <a:r>
              <a:rPr lang="de-DE" sz="1700" b="0">
                <a:latin typeface="Segoe UI"/>
              </a:rPr>
              <a:t>Werte sind immer Strings: Number() nötig</a:t>
            </a:r>
          </a:p>
          <a:p>
            <a:pPr>
              <a:defRPr sz="2000" b="0">
                <a:latin typeface="Segoe UI"/>
              </a:defRPr>
            </a:pPr>
            <a:r>
              <a:rPr lang="de-DE" sz="2000" b="0">
                <a:latin typeface="Segoe UI"/>
              </a:rPr>
              <a:t>Aufruf bei jedem Parameterwechsel</a:t>
            </a:r>
          </a:p>
          <a:p>
            <a:pPr lvl="1">
              <a:defRPr sz="1700" b="0">
                <a:latin typeface="Segoe UI"/>
              </a:defRPr>
            </a:pPr>
            <a:r>
              <a:rPr lang="de-DE" sz="1700" b="0">
                <a:latin typeface="Segoe UI"/>
              </a:rPr>
              <a:t>auch /trainings/7 → /trainings/8 ohne neue Komponente</a:t>
            </a:r>
          </a:p>
          <a:p>
            <a:pPr>
              <a:defRPr sz="2000" b="0">
                <a:latin typeface="Segoe UI"/>
              </a:defRPr>
            </a:pPr>
            <a:r>
              <a:rPr lang="de-DE" sz="2000" b="0">
                <a:latin typeface="Segoe UI"/>
              </a:rPr>
              <a:t>subscribe liefert eine Subscription</a:t>
            </a:r>
          </a:p>
          <a:p>
            <a:pPr lvl="1">
              <a:defRPr sz="1700" b="0">
                <a:latin typeface="Segoe UI"/>
              </a:defRPr>
            </a:pPr>
            <a:r>
              <a:rPr lang="de-DE" sz="1700" b="0">
                <a:latin typeface="Segoe UI"/>
              </a:rPr>
              <a:t>unsubscribe in ngOnDestroy als Gewohnheit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URL /trainings/8</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aktualisiert</a:t>
            </a:r>
          </a:p>
          <a:p>
            <a:pPr algn="ctr"/>
            <a:r>
              <a:rPr sz="1700" b="0">
                <a:solidFill>
                  <a:srgbClr val="2B3A42"/>
                </a:solidFill>
                <a:latin typeface="Segoe UI"/>
              </a:rPr>
              <a:t>ActivatedRoute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params liefert { id: '8' }</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Callback lädt Training 8</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ActivatedRoute: Parameterwechsel im Ablauf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Bei /trainings/7 → /trainings/8 bleibt die Komponente – nur der Callback läuft erneut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Training-</a:t>
            </a:r>
          </a:p>
          <a:p>
            <a:pPr algn="ctr"/>
            <a:r>
              <a:rPr sz="1400" b="1">
                <a:solidFill>
                  <a:srgbClr val="FFFFFF"/>
                </a:solidFill>
                <a:latin typeface="Segoe UI"/>
              </a:rPr>
              <a:t>ListComponent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Training-</a:t>
            </a:r>
          </a:p>
          <a:p>
            <a:pPr algn="ctr"/>
            <a:r>
              <a:rPr sz="1400" b="1">
                <a:solidFill>
                  <a:srgbClr val="FFFFFF"/>
                </a:solidFill>
                <a:latin typeface="Segoe UI"/>
              </a:rPr>
              <a:t>DetailsComponent</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ActivatedRoute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TrainingService</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Klick: routerLink → /trainings/7</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erzeugen (Konstruktor-Injektion)</a:t>
            </a:r>
          </a:p>
        </p:txBody>
      </p:sp>
      <p:cxnSp>
        <p:nvCxnSpPr>
          <p:cNvPr id="18" name="Connector 17"/>
          <p:cNvCxnSpPr/>
          <p:nvPr/>
        </p:nvCxnSpPr>
        <p:spPr>
          <a:xfrm>
            <a:off x="6095160"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9452"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ngOnInit: params.subscribe(…)</a:t>
            </a:r>
          </a:p>
        </p:txBody>
      </p:sp>
      <p:cxnSp>
        <p:nvCxnSpPr>
          <p:cNvPr id="20" name="Connector 19"/>
          <p:cNvCxnSpPr/>
          <p:nvPr/>
        </p:nvCxnSpPr>
        <p:spPr>
          <a:xfrm flipH="1">
            <a:off x="6115160" y="36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69452" y="33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4. { id: '7' }</a:t>
            </a:r>
          </a:p>
        </p:txBody>
      </p:sp>
      <p:cxnSp>
        <p:nvCxnSpPr>
          <p:cNvPr id="22" name="Connector 21"/>
          <p:cNvCxnSpPr/>
          <p:nvPr/>
        </p:nvCxnSpPr>
        <p:spPr>
          <a:xfrm>
            <a:off x="6095160" y="402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125160" y="370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5. getById(7)</a:t>
            </a:r>
          </a:p>
        </p:txBody>
      </p:sp>
      <p:cxnSp>
        <p:nvCxnSpPr>
          <p:cNvPr id="24" name="Connector 23"/>
          <p:cNvCxnSpPr/>
          <p:nvPr/>
        </p:nvCxnSpPr>
        <p:spPr>
          <a:xfrm flipH="1">
            <a:off x="6115160" y="43892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5160" y="4069200"/>
            <a:ext cx="4145664" cy="300000"/>
          </a:xfrm>
          <a:prstGeom prst="rect">
            <a:avLst/>
          </a:prstGeom>
          <a:noFill/>
        </p:spPr>
        <p:txBody>
          <a:bodyPr wrap="square" anchor="b" lIns="70000" rIns="70000" tIns="0" bIns="0">
            <a:spAutoFit/>
          </a:bodyPr>
          <a:lstStyle/>
          <a:p>
            <a:pPr algn="ctr"/>
            <a:r>
              <a:rPr sz="1300" b="0">
                <a:solidFill>
                  <a:srgbClr val="404B52"/>
                </a:solidFill>
                <a:latin typeface="Segoe UI"/>
              </a:rPr>
              <a:t>6. Observable: Training 7</a:t>
            </a:r>
          </a:p>
        </p:txBody>
      </p:sp>
      <p:cxnSp>
        <p:nvCxnSpPr>
          <p:cNvPr id="26" name="Connector 25"/>
          <p:cNvCxnSpPr/>
          <p:nvPr/>
        </p:nvCxnSpPr>
        <p:spPr>
          <a:xfrm>
            <a:off x="3992328" y="474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22328" y="442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7. URL /trainings/8: neue params</a:t>
            </a:r>
          </a:p>
        </p:txBody>
      </p:sp>
      <p:cxnSp>
        <p:nvCxnSpPr>
          <p:cNvPr id="28" name="Connector 27"/>
          <p:cNvCxnSpPr/>
          <p:nvPr/>
        </p:nvCxnSpPr>
        <p:spPr>
          <a:xfrm flipH="1">
            <a:off x="6115160" y="510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69452" y="478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8. { id: '8' } – gleiche Instanz!</a:t>
            </a:r>
          </a:p>
        </p:txBody>
      </p:sp>
      <p:cxnSp>
        <p:nvCxnSpPr>
          <p:cNvPr id="30" name="Connector 29"/>
          <p:cNvCxnSpPr/>
          <p:nvPr/>
        </p:nvCxnSpPr>
        <p:spPr>
          <a:xfrm>
            <a:off x="6095160" y="546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25160" y="514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9. getById(8)</a:t>
            </a:r>
          </a:p>
        </p:txBody>
      </p:sp>
      <p:cxnSp>
        <p:nvCxnSpPr>
          <p:cNvPr id="32" name="Connector 31"/>
          <p:cNvCxnSpPr/>
          <p:nvPr/>
        </p:nvCxnSpPr>
        <p:spPr>
          <a:xfrm>
            <a:off x="6095160" y="58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569452" y="55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10. ngOnDestroy: unsubscribe()</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Heute: Input Binding statt subscribe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Router übergibt Parameter als Input</a:t>
            </a:r>
          </a:p>
          <a:p>
            <a:pPr lvl="1">
              <a:defRPr sz="1700" b="0">
                <a:latin typeface="Segoe UI"/>
              </a:defRPr>
            </a:pPr>
            <a:r>
              <a:rPr lang="de-DE" sz="1700" b="0">
                <a:latin typeface="Segoe UI"/>
              </a:rPr>
              <a:t>id = input&lt;string&gt;()</a:t>
            </a:r>
          </a:p>
          <a:p>
            <a:pPr lvl="1">
              <a:defRPr sz="1700" b="0">
                <a:latin typeface="Segoe UI"/>
              </a:defRPr>
            </a:pPr>
            <a:r>
              <a:rPr lang="de-DE" sz="1700" b="0">
                <a:latin typeface="Segoe UI"/>
              </a:rPr>
              <a:t>einschalten: withComponentInputBinding()</a:t>
            </a:r>
          </a:p>
          <a:p>
            <a:pPr>
              <a:defRPr sz="2000" b="0">
                <a:latin typeface="Segoe UI"/>
              </a:defRPr>
            </a:pPr>
            <a:r>
              <a:rPr lang="de-DE" sz="2000" b="0">
                <a:latin typeface="Segoe UI"/>
              </a:rPr>
              <a:t>Reaktion auf Wechsel: computed, effect oder resource</a:t>
            </a:r>
          </a:p>
          <a:p>
            <a:pPr>
              <a:defRPr sz="2000" b="0">
                <a:latin typeface="Segoe UI"/>
              </a:defRPr>
            </a:pPr>
            <a:r>
              <a:rPr lang="de-DE" sz="2000" b="0">
                <a:latin typeface="Segoe UI"/>
              </a:rPr>
              <a:t>Kein subscribe, kein ngOnDestroy nötig</a:t>
            </a:r>
          </a:p>
          <a:p>
            <a:pPr>
              <a:defRPr sz="2000" b="0">
                <a:latin typeface="Segoe UI"/>
              </a:defRPr>
            </a:pPr>
            <a:r>
              <a:rPr lang="de-DE" sz="2000" b="0">
                <a:latin typeface="Segoe UI"/>
              </a:rPr>
              <a:t>Projekt 30 nutzt noch den alten Weg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ActivatedRoute injizieren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params.subscribe(…)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unsubscribe in ngOnDestroy</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id = input&lt;string&gt;()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withComponentInputBinding()</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computed / resource</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Legacy: HttpClientModule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2 bis 4: HttpModule aus @angular/http</a:t>
            </a:r>
          </a:p>
          <a:p>
            <a:pPr>
              <a:defRPr sz="2000" b="0">
                <a:latin typeface="Segoe UI"/>
              </a:defRPr>
            </a:pPr>
            <a:r>
              <a:rPr lang="de-DE" sz="2000" b="0">
                <a:latin typeface="Segoe UI"/>
              </a:rPr>
              <a:t>Ab 4.3: HttpClientModule im AppModule importieren</a:t>
            </a:r>
          </a:p>
          <a:p>
            <a:pPr lvl="1">
              <a:defRPr sz="1700" b="0">
                <a:latin typeface="Segoe UI"/>
              </a:defRPr>
            </a:pPr>
            <a:r>
              <a:rPr lang="de-DE" sz="1700" b="0">
                <a:latin typeface="Segoe UI"/>
              </a:rPr>
              <a:t>seit Angular 18 als veraltet markiert</a:t>
            </a:r>
          </a:p>
          <a:p>
            <a:pPr>
              <a:defRPr sz="2000" b="0">
                <a:latin typeface="Segoe UI"/>
              </a:defRPr>
            </a:pPr>
            <a:r>
              <a:rPr lang="de-DE" sz="2000" b="0">
                <a:latin typeface="Segoe UI"/>
              </a:rPr>
              <a:t>Heute: provideHttpClient() als Provider</a:t>
            </a:r>
          </a:p>
          <a:p>
            <a:pPr lvl="1">
              <a:defRPr sz="1700" b="0">
                <a:latin typeface="Segoe UI"/>
              </a:defRPr>
            </a:pPr>
            <a:r>
              <a:rPr lang="de-DE" sz="1700" b="0">
                <a:latin typeface="Segoe UI"/>
              </a:rPr>
              <a:t>funktioniert auch im providers-Array eines NgModule</a:t>
            </a:r>
          </a:p>
          <a:p>
            <a:pPr>
              <a:defRPr sz="2000" b="0">
                <a:latin typeface="Segoe UI"/>
              </a:defRPr>
            </a:pPr>
            <a:r>
              <a:rPr lang="de-DE" sz="2000" b="0">
                <a:latin typeface="Segoe UI"/>
              </a:rPr>
              <a:t>withInterceptorsFromDi(): klassenbasierte Interceptors</a:t>
            </a:r>
          </a:p>
          <a:p>
            <a:pPr>
              <a:defRPr sz="2000" b="0">
                <a:latin typeface="Segoe UI"/>
              </a:defRPr>
            </a:pPr>
            <a:r>
              <a:rPr lang="de-DE" sz="2000" b="0">
                <a:latin typeface="Segoe UI"/>
              </a:rPr>
              <a:t>HttpClient selbst: gleiche API wie heute</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imports: [HttpClientModule]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HTTP_INTERCEPTORS-Klassen</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provideHttpClient()</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withInterceptors([fn])</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HttpClient im Service (klassisch)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get&lt;T&gt;(url) liefert ein Observable&lt;T&gt;</a:t>
            </a:r>
          </a:p>
          <a:p>
            <a:pPr lvl="1">
              <a:defRPr sz="1700" b="0">
                <a:latin typeface="Segoe UI"/>
              </a:defRPr>
            </a:pPr>
            <a:r>
              <a:rPr lang="de-DE" sz="1700" b="0">
                <a:latin typeface="Segoe UI"/>
              </a:rPr>
              <a:t>Anfrage startet erst bei subscribe</a:t>
            </a:r>
          </a:p>
          <a:p>
            <a:pPr>
              <a:defRPr sz="2000" b="0">
                <a:latin typeface="Segoe UI"/>
              </a:defRPr>
            </a:pPr>
            <a:r>
              <a:rPr lang="de-DE" sz="2000" b="0">
                <a:latin typeface="Segoe UI"/>
              </a:rPr>
              <a:t>pipe(map(…)) formt die Antwort um</a:t>
            </a:r>
          </a:p>
          <a:p>
            <a:pPr lvl="1">
              <a:defRPr sz="1700" b="0">
                <a:latin typeface="Segoe UI"/>
              </a:defRPr>
            </a:pPr>
            <a:r>
              <a:rPr lang="de-DE" sz="1700" b="0">
                <a:latin typeface="Segoe UI"/>
              </a:rPr>
              <a:t>Parameter von map: die geparste JSON-Antwort</a:t>
            </a:r>
          </a:p>
          <a:p>
            <a:pPr>
              <a:defRPr sz="2000" b="0">
                <a:latin typeface="Segoe UI"/>
              </a:defRPr>
            </a:pPr>
            <a:r>
              <a:rPr lang="de-DE" sz="2000" b="0">
                <a:latin typeface="Segoe UI"/>
              </a:rPr>
              <a:t>Ergebnis: Observable&lt;Training&gt;</a:t>
            </a:r>
          </a:p>
          <a:p>
            <a:pPr>
              <a:defRPr sz="2000" b="0">
                <a:latin typeface="Segoe UI"/>
              </a:defRPr>
            </a:pPr>
            <a:r>
              <a:rPr lang="de-DE" sz="2000" b="0">
                <a:latin typeface="Segoe UI"/>
              </a:rPr>
              <a:t>Heute oft: httpResource oder rxResource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training.service.ts</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@Injectable()</a:t>
            </a:r>
          </a:p>
          <a:p>
            <a:pPr algn="l"/>
            <a:r>
              <a:rPr sz="1300" b="0">
                <a:solidFill>
                  <a:srgbClr val="2B3A42"/>
                </a:solidFill>
                <a:latin typeface="Consolas"/>
              </a:rPr>
              <a:t>export class TrainingService {</a:t>
            </a:r>
          </a:p>
          <a:p>
            <a:pPr algn="l"/>
            <a:r>
              <a:rPr sz="1300" b="0">
                <a:solidFill>
                  <a:srgbClr val="2B3A42"/>
                </a:solidFill>
                <a:latin typeface="Consolas"/>
              </a:rPr>
              <a:t>  constructor(</a:t>
            </a:r>
          </a:p>
          <a:p>
            <a:pPr algn="l"/>
            <a:r>
              <a:rPr sz="1300" b="0">
                <a:solidFill>
                  <a:srgbClr val="2B3A42"/>
                </a:solidFill>
                <a:latin typeface="Consolas"/>
              </a:rPr>
              <a:t>    private http: HttpClient) {}</a:t>
            </a:r>
          </a:p>
          <a:p>
            <a:pPr algn="l"/>
            <a:r>
              <a:rPr sz="1300" b="0">
                <a:solidFill>
                  <a:srgbClr val="2B3A42"/>
                </a:solidFill>
                <a:latin typeface="Consolas"/>
              </a:rPr>
              <a:t/>
            </a:r>
          </a:p>
          <a:p>
            <a:pPr algn="l"/>
            <a:r>
              <a:rPr sz="1300" b="0">
                <a:solidFill>
                  <a:srgbClr val="2B3A42"/>
                </a:solidFill>
                <a:latin typeface="Consolas"/>
              </a:rPr>
              <a:t>  getById(id: number) {</a:t>
            </a:r>
          </a:p>
          <a:p>
            <a:pPr algn="l"/>
            <a:r>
              <a:rPr sz="1300" b="0">
                <a:solidFill>
                  <a:srgbClr val="2B3A42"/>
                </a:solidFill>
                <a:latin typeface="Consolas"/>
              </a:rPr>
              <a:t>    const url = 'api/training/' + id;</a:t>
            </a:r>
          </a:p>
          <a:p>
            <a:pPr algn="l"/>
            <a:r>
              <a:rPr sz="1300" b="0">
                <a:solidFill>
                  <a:srgbClr val="2B3A42"/>
                </a:solidFill>
                <a:latin typeface="Consolas"/>
              </a:rPr>
              <a:t>    return this.http.get&lt;Res&gt;(url)</a:t>
            </a:r>
          </a:p>
          <a:p>
            <a:pPr algn="l"/>
            <a:r>
              <a:rPr sz="1300" b="0">
                <a:solidFill>
                  <a:srgbClr val="2B3A42"/>
                </a:solidFill>
                <a:latin typeface="Consolas"/>
              </a:rPr>
              <a:t>      .pipe(map(res =&gt; res.data));</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Mischbetrieb: Standalone und NgModule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Standalone-Komponente in einem NgModule</a:t>
            </a:r>
          </a:p>
          <a:p>
            <a:pPr lvl="1">
              <a:defRPr sz="1700" b="0">
                <a:latin typeface="Segoe UI"/>
              </a:defRPr>
            </a:pPr>
            <a:r>
              <a:rPr lang="de-DE" sz="1700" b="0">
                <a:latin typeface="Segoe UI"/>
              </a:rPr>
              <a:t>in imports eintragen, NICHT in declarations</a:t>
            </a:r>
          </a:p>
          <a:p>
            <a:pPr>
              <a:defRPr sz="2000" b="0">
                <a:latin typeface="Segoe UI"/>
              </a:defRPr>
            </a:pPr>
            <a:r>
              <a:rPr lang="de-DE" sz="2000" b="0">
                <a:latin typeface="Segoe UI"/>
              </a:rPr>
              <a:t>NgModule in einer Standalone-Komponente</a:t>
            </a:r>
          </a:p>
          <a:p>
            <a:pPr lvl="1">
              <a:defRPr sz="1700" b="0">
                <a:latin typeface="Segoe UI"/>
              </a:defRPr>
            </a:pPr>
            <a:r>
              <a:rPr lang="de-DE" sz="1700" b="0">
                <a:latin typeface="Segoe UI"/>
              </a:rPr>
              <a:t>imports: [SomeLegacyModule]</a:t>
            </a:r>
          </a:p>
          <a:p>
            <a:pPr>
              <a:defRPr sz="2000" b="0">
                <a:latin typeface="Segoe UI"/>
              </a:defRPr>
            </a:pPr>
            <a:r>
              <a:rPr lang="de-DE" sz="2000" b="0">
                <a:latin typeface="Segoe UI"/>
              </a:rPr>
              <a:t>Beides gleichzeitig im selben Projekt möglich</a:t>
            </a:r>
          </a:p>
          <a:p>
            <a:pPr>
              <a:defRPr sz="2000" b="0">
                <a:latin typeface="Segoe UI"/>
              </a:defRPr>
            </a:pPr>
            <a:r>
              <a:rPr lang="de-DE" sz="2000" b="0">
                <a:latin typeface="Segoe UI"/>
              </a:rPr>
              <a:t>Erlaubt Migration in kleinen Schritten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trainings.module.ts</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@NgModule({</a:t>
            </a:r>
          </a:p>
          <a:p>
            <a:pPr algn="l"/>
            <a:r>
              <a:rPr sz="1300" b="0">
                <a:solidFill>
                  <a:srgbClr val="2B3A42"/>
                </a:solidFill>
                <a:latin typeface="Consolas"/>
              </a:rPr>
              <a:t>  declarations: [</a:t>
            </a:r>
          </a:p>
          <a:p>
            <a:pPr algn="l"/>
            <a:r>
              <a:rPr sz="1300" b="0">
                <a:solidFill>
                  <a:srgbClr val="2B3A42"/>
                </a:solidFill>
                <a:latin typeface="Consolas"/>
              </a:rPr>
              <a:t>    TrainingListComponent</a:t>
            </a:r>
          </a:p>
          <a:p>
            <a:pPr algn="l"/>
            <a:r>
              <a:rPr sz="1300" b="0">
                <a:solidFill>
                  <a:srgbClr val="2B3A42"/>
                </a:solidFill>
                <a:latin typeface="Consolas"/>
              </a:rPr>
              <a:t>  ],</a:t>
            </a:r>
          </a:p>
          <a:p>
            <a:pPr algn="l"/>
            <a:r>
              <a:rPr sz="1300" b="0">
                <a:solidFill>
                  <a:srgbClr val="2B3A42"/>
                </a:solidFill>
                <a:latin typeface="Consolas"/>
              </a:rPr>
              <a:t>  imports: [</a:t>
            </a:r>
          </a:p>
          <a:p>
            <a:pPr algn="l"/>
            <a:r>
              <a:rPr sz="1300" b="0">
                <a:solidFill>
                  <a:srgbClr val="2B3A42"/>
                </a:solidFill>
                <a:latin typeface="Consolas"/>
              </a:rPr>
              <a:t>    CommonModule,</a:t>
            </a:r>
          </a:p>
          <a:p>
            <a:pPr algn="l"/>
            <a:r>
              <a:rPr sz="1300" b="0">
                <a:solidFill>
                  <a:srgbClr val="2B3A42"/>
                </a:solidFill>
                <a:latin typeface="Consolas"/>
              </a:rPr>
              <a:t>    // Standalone:</a:t>
            </a:r>
          </a:p>
          <a:p>
            <a:pPr algn="l"/>
            <a:r>
              <a:rPr sz="1300" b="0">
                <a:solidFill>
                  <a:srgbClr val="2B3A42"/>
                </a:solidFill>
                <a:latin typeface="Consolas"/>
              </a:rPr>
              <a:t>    TrainingBadgeComponent</a:t>
            </a:r>
          </a:p>
          <a:p>
            <a:pPr algn="l"/>
            <a:r>
              <a:rPr sz="1300" b="0">
                <a:solidFill>
                  <a:srgbClr val="2B3A42"/>
                </a:solidFill>
                <a:latin typeface="Consolas"/>
              </a:rPr>
              <a:t>  ]</a:t>
            </a:r>
          </a:p>
          <a:p>
            <a:pPr algn="l"/>
            <a:r>
              <a:rPr sz="1300" b="0">
                <a:solidFill>
                  <a:srgbClr val="2B3A42"/>
                </a:solidFill>
                <a:latin typeface="Consolas"/>
              </a:rPr>
              <a:t>})</a:t>
            </a:r>
          </a:p>
          <a:p>
            <a:pPr algn="l"/>
            <a:r>
              <a:rPr sz="1300" b="0">
                <a:solidFill>
                  <a:srgbClr val="2B3A42"/>
                </a:solidFill>
                <a:latin typeface="Consolas"/>
              </a:rPr>
              <a:t>export class TrainingsModule { }</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Migration: ng generate @angular/core:standalone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Automatische Migration der Angular-Kommandozeile</a:t>
            </a:r>
          </a:p>
          <a:p>
            <a:pPr>
              <a:defRPr sz="2000" b="0">
                <a:latin typeface="Segoe UI"/>
              </a:defRPr>
            </a:pPr>
            <a:r>
              <a:rPr lang="de-DE" sz="2000" b="0">
                <a:latin typeface="Segoe UI"/>
              </a:rPr>
              <a:t>Läuft in drei Durchgängen, jeweils mit Auswahl</a:t>
            </a:r>
          </a:p>
          <a:p>
            <a:pPr lvl="1">
              <a:defRPr sz="1700" b="0">
                <a:latin typeface="Segoe UI"/>
              </a:defRPr>
            </a:pPr>
            <a:r>
              <a:rPr lang="de-DE" sz="1700" b="0">
                <a:latin typeface="Segoe UI"/>
              </a:rPr>
              <a:t>1. Bausteine auf standalone umstellen</a:t>
            </a:r>
          </a:p>
          <a:p>
            <a:pPr lvl="1">
              <a:defRPr sz="1700" b="0">
                <a:latin typeface="Segoe UI"/>
              </a:defRPr>
            </a:pPr>
            <a:r>
              <a:rPr lang="de-DE" sz="1700" b="0">
                <a:latin typeface="Segoe UI"/>
              </a:rPr>
              <a:t>2. Überflüssige NgModules entfernen</a:t>
            </a:r>
          </a:p>
          <a:p>
            <a:pPr lvl="1">
              <a:defRPr sz="1700" b="0">
                <a:latin typeface="Segoe UI"/>
              </a:defRPr>
            </a:pPr>
            <a:r>
              <a:rPr lang="de-DE" sz="1700" b="0">
                <a:latin typeface="Segoe UI"/>
              </a:rPr>
              <a:t>3. Start auf bootstrapApplication umstellen</a:t>
            </a:r>
          </a:p>
          <a:p>
            <a:pPr>
              <a:defRPr sz="2000" b="0">
                <a:latin typeface="Segoe UI"/>
              </a:defRPr>
            </a:pPr>
            <a:r>
              <a:rPr lang="de-DE" sz="2000" b="0">
                <a:latin typeface="Segoe UI"/>
              </a:rPr>
              <a:t>Nach jedem Durchgang: bauen, testen, committen</a:t>
            </a:r>
          </a:p>
          <a:p>
            <a:pPr>
              <a:defRPr sz="2000" b="0">
                <a:latin typeface="Segoe UI"/>
              </a:defRPr>
            </a:pPr>
            <a:r>
              <a:rPr lang="de-DE" sz="2000" b="0">
                <a:latin typeface="Segoe UI"/>
              </a:rPr>
              <a:t>Danach von Hand nacharbeiten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1. Bausteine standalone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2. NgModules entfernen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3. bootstrapApplication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Bauen, testen, committen</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Nach der Migration: weitere Modernisierung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Control Flow: ng generate @angular/core:control-flow</a:t>
            </a:r>
          </a:p>
          <a:p>
            <a:pPr lvl="1">
              <a:defRPr sz="1700" b="0">
                <a:latin typeface="Segoe UI"/>
              </a:defRPr>
            </a:pPr>
            <a:r>
              <a:rPr lang="de-DE" sz="1700" b="0">
                <a:latin typeface="Segoe UI"/>
              </a:rPr>
              <a:t>*ngIf / *ngFor werden zu @if / @for</a:t>
            </a:r>
          </a:p>
          <a:p>
            <a:pPr>
              <a:defRPr sz="2000" b="0">
                <a:latin typeface="Segoe UI"/>
              </a:defRPr>
            </a:pPr>
            <a:r>
              <a:rPr lang="de-DE" sz="2000" b="0">
                <a:latin typeface="Segoe UI"/>
              </a:rPr>
              <a:t>inject(): ng generate @angular/core:inject</a:t>
            </a:r>
          </a:p>
          <a:p>
            <a:pPr lvl="1">
              <a:defRPr sz="1700" b="0">
                <a:latin typeface="Segoe UI"/>
              </a:defRPr>
            </a:pPr>
            <a:r>
              <a:rPr lang="de-DE" sz="1700" b="0">
                <a:latin typeface="Segoe UI"/>
              </a:rPr>
              <a:t>Konstruktor-Injektion wird zu inject()</a:t>
            </a:r>
          </a:p>
          <a:p>
            <a:pPr>
              <a:defRPr sz="2000" b="0">
                <a:latin typeface="Segoe UI"/>
              </a:defRPr>
            </a:pPr>
            <a:r>
              <a:rPr lang="de-DE" sz="2000" b="0">
                <a:latin typeface="Segoe UI"/>
              </a:rPr>
              <a:t>Von Hand: provideRouter, provideHttpClient</a:t>
            </a:r>
          </a:p>
          <a:p>
            <a:pPr>
              <a:defRPr sz="2000" b="0">
                <a:latin typeface="Segoe UI"/>
              </a:defRPr>
            </a:pPr>
            <a:r>
              <a:rPr lang="de-DE" sz="2000" b="0">
                <a:latin typeface="Segoe UI"/>
              </a:rPr>
              <a:t>Von Hand: Input Binding, Signals, resource</a:t>
            </a:r>
          </a:p>
          <a:p>
            <a:pPr>
              <a:defRPr sz="2000" b="0">
                <a:latin typeface="Segoe UI"/>
              </a:defRPr>
            </a:pPr>
            <a:r>
              <a:rPr lang="de-DE" sz="2000" b="0">
                <a:latin typeface="Segoe UI"/>
              </a:rPr>
              <a:t>Schritt für Schritt, mit Tests absichern</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Gegenüberstellung: alt und neu</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Organisation: @NgModule → imports an der Komponente</a:t>
            </a:r>
          </a:p>
          <a:p>
            <a:pPr>
              <a:defRPr sz="2000" b="0">
                <a:latin typeface="Segoe UI"/>
              </a:defRPr>
            </a:pPr>
            <a:r>
              <a:rPr lang="de-DE" sz="2000" b="0">
                <a:latin typeface="Segoe UI"/>
              </a:rPr>
              <a:t>Start: bootstrapModule(AppModule) → bootstrapApplication(App, appConfig)</a:t>
            </a:r>
          </a:p>
          <a:p>
            <a:pPr>
              <a:defRPr sz="2000" b="0">
                <a:latin typeface="Segoe UI"/>
              </a:defRPr>
            </a:pPr>
            <a:r>
              <a:rPr lang="de-DE" sz="2000" b="0">
                <a:latin typeface="Segoe UI"/>
              </a:rPr>
              <a:t>Komponente: standalone: false → Standard (standalone)</a:t>
            </a:r>
          </a:p>
          <a:p>
            <a:pPr>
              <a:defRPr sz="2000" b="0">
                <a:latin typeface="Segoe UI"/>
              </a:defRPr>
            </a:pPr>
            <a:r>
              <a:rPr lang="de-DE" sz="2000" b="0">
                <a:latin typeface="Segoe UI"/>
              </a:rPr>
              <a:t>DI: providers im Modul, Konstruktor → providedIn: 'root', inject()</a:t>
            </a:r>
          </a:p>
          <a:p>
            <a:pPr>
              <a:defRPr sz="2000" b="0">
                <a:latin typeface="Segoe UI"/>
              </a:defRPr>
            </a:pPr>
            <a:r>
              <a:rPr lang="de-DE" sz="2000" b="0">
                <a:latin typeface="Segoe UI"/>
              </a:rPr>
              <a:t>Routing: RouterModule.forRoot / forChild → provideRouter, loadChildren</a:t>
            </a:r>
          </a:p>
          <a:p>
            <a:pPr>
              <a:defRPr sz="2000" b="0">
                <a:latin typeface="Segoe UI"/>
              </a:defRPr>
            </a:pPr>
            <a:r>
              <a:rPr lang="de-DE" sz="2000" b="0">
                <a:latin typeface="Segoe UI"/>
              </a:rPr>
              <a:t>Parameter: params.subscribe → input() mit withComponentInputBinding()</a:t>
            </a:r>
          </a:p>
          <a:p>
            <a:pPr>
              <a:defRPr sz="2000" b="0">
                <a:latin typeface="Segoe UI"/>
              </a:defRPr>
            </a:pPr>
            <a:r>
              <a:rPr lang="de-DE" sz="2000" b="0">
                <a:latin typeface="Segoe UI"/>
              </a:rPr>
              <a:t>HTTP: HttpClientModule → provideHttpClient()</a:t>
            </a:r>
          </a:p>
          <a:p>
            <a:pPr>
              <a:defRPr sz="2000" b="0">
                <a:latin typeface="Segoe UI"/>
              </a:defRPr>
            </a:pPr>
            <a:r>
              <a:rPr lang="de-DE" sz="2000" b="0">
                <a:latin typeface="Segoe UI"/>
              </a:rPr>
              <a:t>Template: *ngIf / *ngFor → @if / @for</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in Legacy-Projekten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„is not a known element“: Deklaration, Export oder Import fehlt</a:t>
            </a:r>
          </a:p>
          <a:p>
            <a:pPr>
              <a:defRPr sz="2000" b="0">
                <a:latin typeface="Segoe UI"/>
              </a:defRPr>
            </a:pPr>
            <a:r>
              <a:rPr lang="de-DE" sz="2000" b="0">
                <a:latin typeface="Segoe UI"/>
              </a:rPr>
              <a:t>Baustein in zwei Modulen deklariert: Fehler beim Kompilieren</a:t>
            </a:r>
          </a:p>
          <a:p>
            <a:pPr>
              <a:defRPr sz="2000" b="0">
                <a:latin typeface="Segoe UI"/>
              </a:defRPr>
            </a:pPr>
            <a:r>
              <a:rPr lang="de-DE" sz="2000" b="0">
                <a:latin typeface="Segoe UI"/>
              </a:rPr>
              <a:t>standalone: false vergessen: Komponente nicht deklarierbar</a:t>
            </a:r>
          </a:p>
          <a:p>
            <a:pPr>
              <a:defRPr sz="2000" b="0">
                <a:latin typeface="Segoe UI"/>
              </a:defRPr>
            </a:pPr>
            <a:r>
              <a:rPr lang="de-DE" sz="2000" b="0">
                <a:latin typeface="Segoe UI"/>
              </a:rPr>
              <a:t>BrowserModule gehört nur ins AppModule, sonst CommonModule</a:t>
            </a:r>
          </a:p>
          <a:p>
            <a:pPr>
              <a:defRPr sz="2000" b="0">
                <a:latin typeface="Segoe UI"/>
              </a:defRPr>
            </a:pPr>
            <a:r>
              <a:rPr lang="de-DE" sz="2000" b="0">
                <a:latin typeface="Segoe UI"/>
              </a:rPr>
              <a:t>forRoot im Feature-Modul: zweiter Router</a:t>
            </a:r>
          </a:p>
          <a:p>
            <a:pPr>
              <a:defRPr sz="2000" b="0">
                <a:latin typeface="Segoe UI"/>
              </a:defRPr>
            </a:pPr>
            <a:r>
              <a:rPr lang="de-DE" sz="2000" b="0">
                <a:latin typeface="Segoe UI"/>
              </a:rPr>
              <a:t>Service in providers eines Lazy-Moduls: zweite Instanz</a:t>
            </a:r>
          </a:p>
          <a:p>
            <a:pPr>
              <a:defRPr sz="2000" b="0">
                <a:latin typeface="Segoe UI"/>
              </a:defRPr>
            </a:pPr>
            <a:r>
              <a:rPr lang="de-DE" sz="2000" b="0">
                <a:latin typeface="Segoe UI"/>
              </a:rPr>
              <a:t>Neues Modul nicht im Elternmodul importiert</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30: Legacy – Angular Module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30_modules_legacy (NgModule-basiert)</a:t>
            </a:r>
          </a:p>
          <a:p>
            <a:pPr>
              <a:defRPr sz="2000" b="1">
                <a:latin typeface="Segoe UI"/>
              </a:defRPr>
            </a:pPr>
            <a:r>
              <a:rPr lang="de-DE" sz="2000" b="1">
                <a:latin typeface="Segoe UI"/>
              </a:rPr>
              <a:t>1. Backend starten: Ordner server im Kursverzeichnis, npm install, node server.js</a:t>
            </a:r>
          </a:p>
          <a:p>
            <a:pPr>
              <a:defRPr sz="2000" b="1">
                <a:latin typeface="Segoe UI"/>
              </a:defRPr>
            </a:pPr>
            <a:r>
              <a:rPr lang="de-DE" sz="2000" b="1">
                <a:latin typeface="Segoe UI"/>
              </a:rPr>
              <a:t>2. App starten: ng serve --proxy-config dev.proxy.json</a:t>
            </a:r>
          </a:p>
          <a:p>
            <a:pPr>
              <a:defRPr sz="2000" b="1">
                <a:latin typeface="Segoe UI"/>
              </a:defRPr>
            </a:pPr>
            <a:r>
              <a:rPr lang="de-DE" sz="2000" b="1">
                <a:latin typeface="Segoe UI"/>
              </a:rPr>
              <a:t>3. Aufbau analysieren</a:t>
            </a:r>
          </a:p>
          <a:p>
            <a:pPr lvl="1">
              <a:defRPr sz="1700" b="0">
                <a:latin typeface="Segoe UI"/>
              </a:defRPr>
            </a:pPr>
            <a:r>
              <a:rPr lang="de-DE" sz="1700" b="0">
                <a:latin typeface="Segoe UI"/>
              </a:rPr>
              <a:t>main.ts: platformBrowserDynamic().bootstrapModule(AppModule)</a:t>
            </a:r>
          </a:p>
          <a:p>
            <a:pPr lvl="1">
              <a:defRPr sz="1700" b="0">
                <a:latin typeface="Segoe UI"/>
              </a:defRPr>
            </a:pPr>
            <a:r>
              <a:rPr lang="de-DE" sz="1700" b="0">
                <a:latin typeface="Segoe UI"/>
              </a:rPr>
              <a:t>AppModule: declarations, imports, providers, bootstrap</a:t>
            </a:r>
          </a:p>
          <a:p>
            <a:pPr lvl="1">
              <a:defRPr sz="1700" b="0">
                <a:latin typeface="Segoe UI"/>
              </a:defRPr>
            </a:pPr>
            <a:r>
              <a:rPr lang="de-DE" sz="1700" b="0">
                <a:latin typeface="Segoe UI"/>
              </a:rPr>
              <a:t>TrainingsModule: declarations, providers, exports</a:t>
            </a:r>
          </a:p>
          <a:p>
            <a:pPr lvl="1">
              <a:defRPr sz="1700" b="0">
                <a:latin typeface="Segoe UI"/>
              </a:defRPr>
            </a:pPr>
            <a:r>
              <a:rPr lang="de-DE" sz="1700" b="0">
                <a:latin typeface="Segoe UI"/>
              </a:rPr>
              <a:t>AppRoutingModule: RouterModule.forRoot(routes), exports</a:t>
            </a:r>
          </a:p>
          <a:p>
            <a:pPr>
              <a:defRPr sz="2000" b="0">
                <a:latin typeface="Segoe UI"/>
              </a:defRPr>
            </a:pPr>
            <a:r>
              <a:rPr lang="de-DE" sz="2000" b="0">
                <a:latin typeface="Segoe UI"/>
              </a:rPr>
              <a:t>Projektordner: 30_modules_legacy (eigenständiges NgModule-Projekt)</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30: Legacy – Angular Module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4. Klassische Komponente erzeugen</a:t>
            </a:r>
          </a:p>
          <a:p>
            <a:pPr lvl="1">
              <a:defRPr sz="1700" b="0">
                <a:latin typeface="Segoe UI"/>
              </a:defRPr>
            </a:pPr>
            <a:r>
              <a:rPr lang="de-DE" sz="1700" b="0">
                <a:latin typeface="Segoe UI"/>
              </a:rPr>
              <a:t>ng g c trainings/training-info --standalone=false</a:t>
            </a:r>
          </a:p>
          <a:p>
            <a:pPr lvl="1">
              <a:defRPr sz="1700" b="0">
                <a:latin typeface="Segoe UI"/>
              </a:defRPr>
            </a:pPr>
            <a:r>
              <a:rPr lang="de-DE" sz="1700" b="0">
                <a:latin typeface="Segoe UI"/>
              </a:rPr>
              <a:t>Prüfen: In welchem Modul steht sie in declarations? Exportieren?</a:t>
            </a:r>
          </a:p>
          <a:p>
            <a:pPr>
              <a:defRPr sz="2000" b="1">
                <a:latin typeface="Segoe UI"/>
              </a:defRPr>
            </a:pPr>
            <a:r>
              <a:rPr lang="de-DE" sz="2000" b="1">
                <a:latin typeface="Segoe UI"/>
              </a:rPr>
              <a:t>5. Mischbetrieb: eine Standalone-Komponente erzeugen</a:t>
            </a:r>
          </a:p>
          <a:p>
            <a:pPr lvl="1">
              <a:defRPr sz="1700" b="0">
                <a:latin typeface="Segoe UI"/>
              </a:defRPr>
            </a:pPr>
            <a:r>
              <a:rPr lang="de-DE" sz="1700" b="0">
                <a:latin typeface="Segoe UI"/>
              </a:rPr>
              <a:t>in imports des TrainingsModule eintragen (nicht declarations)</a:t>
            </a:r>
          </a:p>
          <a:p>
            <a:pPr lvl="1">
              <a:defRPr sz="1700" b="0">
                <a:latin typeface="Segoe UI"/>
              </a:defRPr>
            </a:pPr>
            <a:r>
              <a:rPr lang="de-DE" sz="1700" b="0">
                <a:latin typeface="Segoe UI"/>
              </a:rPr>
              <a:t>im Template einer Modul-Komponente verwenden</a:t>
            </a:r>
          </a:p>
          <a:p>
            <a:pPr>
              <a:defRPr sz="2000" b="1">
                <a:latin typeface="Segoe UI"/>
              </a:defRPr>
            </a:pPr>
            <a:r>
              <a:rPr lang="de-DE" sz="2000" b="1">
                <a:latin typeface="Segoe UI"/>
              </a:rPr>
              <a:t>6. Optional: ng generate @angular/core:standalone</a:t>
            </a:r>
          </a:p>
          <a:p>
            <a:pPr lvl="1">
              <a:defRPr sz="1700" b="0">
                <a:latin typeface="Segoe UI"/>
              </a:defRPr>
            </a:pPr>
            <a:r>
              <a:rPr lang="de-DE" sz="1700" b="0">
                <a:latin typeface="Segoe UI"/>
              </a:rPr>
              <a:t>Durchgänge einzeln ausführen, Ergebnis mit 23_communication vergleichen</a:t>
            </a:r>
          </a:p>
          <a:p>
            <a:pPr>
              <a:defRPr sz="2000" b="0">
                <a:latin typeface="Segoe UI"/>
              </a:defRPr>
            </a:pPr>
            <a:r>
              <a:rPr lang="de-DE" sz="2000" b="0">
                <a:latin typeface="Segoe UI"/>
              </a:rPr>
              <a:t>Projektordner: 30_modules_legacy (eigenständiges NgModule-Projekt)</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Reactive Forms: die Idee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Formularmodell entsteht in der Klasse</a:t>
            </a:r>
          </a:p>
          <a:p>
            <a:pPr>
              <a:defRPr sz="2000" b="0">
                <a:latin typeface="Segoe UI"/>
              </a:defRPr>
            </a:pPr>
            <a:r>
              <a:rPr lang="de-DE" sz="2000" b="0">
                <a:latin typeface="Segoe UI"/>
              </a:rPr>
              <a:t>Template verbindet nur Eingabefelder mit dem Modell</a:t>
            </a:r>
          </a:p>
          <a:p>
            <a:pPr>
              <a:defRPr sz="2000" b="0">
                <a:latin typeface="Segoe UI"/>
              </a:defRPr>
            </a:pPr>
            <a:r>
              <a:rPr lang="de-DE" sz="2000" b="0">
                <a:latin typeface="Segoe UI"/>
              </a:rPr>
              <a:t>Werte und Zustand jederzeit synchron lesbar</a:t>
            </a:r>
          </a:p>
          <a:p>
            <a:pPr>
              <a:defRPr sz="2000" b="0">
                <a:latin typeface="Segoe UI"/>
              </a:defRPr>
            </a:pPr>
            <a:r>
              <a:rPr lang="de-DE" sz="2000" b="0">
                <a:latin typeface="Segoe UI"/>
              </a:rPr>
              <a:t>Prüfregeln als Funktionen in TypeScript</a:t>
            </a:r>
          </a:p>
          <a:p>
            <a:pPr>
              <a:defRPr sz="2000" b="0">
                <a:latin typeface="Segoe UI"/>
              </a:defRPr>
            </a:pPr>
            <a:r>
              <a:rPr lang="de-DE" sz="2000" b="0">
                <a:latin typeface="Segoe UI"/>
              </a:rPr>
              <a:t>Gut für dynamische Felder und komplexe Regeln</a:t>
            </a:r>
          </a:p>
          <a:p>
            <a:pPr>
              <a:defRPr sz="2000" b="0">
                <a:latin typeface="Segoe UI"/>
              </a:defRPr>
            </a:pPr>
            <a:r>
              <a:rPr lang="de-DE" sz="2000" b="0">
                <a:latin typeface="Segoe UI"/>
              </a:rPr>
              <a:t>Logik ohne Template testbar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Template-Driven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Modell aus dem Template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ngModel, HTML-Attribute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FormsModule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Reactive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Modell in der Klasse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FormGroup, FormControl</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ReactiveFormsModule</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Formular-Baum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FormControl: ein einzelnes Feld (Blatt)</a:t>
            </a:r>
          </a:p>
          <a:p>
            <a:pPr>
              <a:defRPr sz="2000" b="0">
                <a:latin typeface="Segoe UI"/>
              </a:defRPr>
            </a:pPr>
            <a:r>
              <a:rPr lang="de-DE" sz="2000" b="0">
                <a:latin typeface="Segoe UI"/>
              </a:rPr>
              <a:t>FormGroup: Objekt aus benannten Controls</a:t>
            </a:r>
          </a:p>
          <a:p>
            <a:pPr>
              <a:defRPr sz="2000" b="0">
                <a:latin typeface="Segoe UI"/>
              </a:defRPr>
            </a:pPr>
            <a:r>
              <a:rPr lang="de-DE" sz="2000" b="0">
                <a:latin typeface="Segoe UI"/>
              </a:rPr>
              <a:t>FormArray: Liste gleichartiger Controls</a:t>
            </a:r>
          </a:p>
          <a:p>
            <a:pPr>
              <a:defRPr sz="2000" b="0">
                <a:latin typeface="Segoe UI"/>
              </a:defRPr>
            </a:pPr>
            <a:r>
              <a:rPr lang="de-DE" sz="2000" b="0">
                <a:latin typeface="Segoe UI"/>
              </a:rPr>
              <a:t>Das Formular selbst ist eine FormGroup</a:t>
            </a:r>
          </a:p>
          <a:p>
            <a:pPr>
              <a:defRPr sz="2000" b="0">
                <a:latin typeface="Segoe UI"/>
              </a:defRPr>
            </a:pPr>
            <a:r>
              <a:rPr lang="de-DE" sz="2000" b="0">
                <a:latin typeface="Segoe UI"/>
              </a:rPr>
              <a:t>Zustand wird nach oben zusammengefasst</a:t>
            </a:r>
          </a:p>
          <a:p>
            <a:pPr lvl="1">
              <a:defRPr sz="1700" b="0">
                <a:latin typeface="Segoe UI"/>
              </a:defRPr>
            </a:pPr>
            <a:r>
              <a:rPr lang="de-DE" sz="1700" b="0">
                <a:latin typeface="Segoe UI"/>
              </a:rPr>
              <a:t>ein Kind ungültig → Gruppe ungültig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FormGroup customerForm</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FormControl</a:t>
            </a:r>
          </a:p>
          <a:p>
            <a:pPr algn="ctr"/>
            <a:r>
              <a:rPr sz="1400" b="0">
                <a:solidFill>
                  <a:srgbClr val="2B3A42"/>
                </a:solidFill>
                <a:latin typeface="Segoe UI"/>
              </a:rPr>
              <a:t>firstname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FormControl</a:t>
            </a:r>
          </a:p>
          <a:p>
            <a:pPr algn="ctr"/>
            <a:r>
              <a:rPr sz="1400" b="0">
                <a:solidFill>
                  <a:srgbClr val="2B3A42"/>
                </a:solidFill>
                <a:latin typeface="Segoe UI"/>
              </a:rPr>
              <a:t>lastname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FormGroup</a:t>
            </a:r>
          </a:p>
          <a:p>
            <a:pPr algn="ctr"/>
            <a:r>
              <a:rPr sz="1400" b="0">
                <a:solidFill>
                  <a:srgbClr val="2B3A42"/>
                </a:solidFill>
                <a:latin typeface="Segoe UI"/>
              </a:rPr>
              <a:t>address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FormArray</a:t>
            </a:r>
          </a:p>
          <a:p>
            <a:pPr algn="ctr"/>
            <a:r>
              <a:rPr sz="1400" b="0">
                <a:solidFill>
                  <a:srgbClr val="2B3A42"/>
                </a:solidFill>
                <a:latin typeface="Segoe UI"/>
              </a:rPr>
              <a:t>phones</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Gemeinsame Basis: AbstractControl</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Alle drei erben von AbstractControl</a:t>
            </a:r>
          </a:p>
          <a:p>
            <a:pPr>
              <a:defRPr sz="2000" b="0">
                <a:latin typeface="Segoe UI"/>
              </a:defRPr>
            </a:pPr>
            <a:r>
              <a:rPr lang="de-DE" sz="2000" b="0">
                <a:latin typeface="Segoe UI"/>
              </a:rPr>
              <a:t>value: aktueller Wert</a:t>
            </a:r>
          </a:p>
          <a:p>
            <a:pPr>
              <a:defRPr sz="2000" b="0">
                <a:latin typeface="Segoe UI"/>
              </a:defRPr>
            </a:pPr>
            <a:r>
              <a:rPr lang="de-DE" sz="2000" b="0">
                <a:latin typeface="Segoe UI"/>
              </a:rPr>
              <a:t>status: VALID, INVALID, PENDING, DISABLED</a:t>
            </a:r>
          </a:p>
          <a:p>
            <a:pPr>
              <a:defRPr sz="2000" b="0">
                <a:latin typeface="Segoe UI"/>
              </a:defRPr>
            </a:pPr>
            <a:r>
              <a:rPr lang="de-DE" sz="2000" b="0">
                <a:latin typeface="Segoe UI"/>
              </a:rPr>
              <a:t>valid / invalid, errors</a:t>
            </a:r>
          </a:p>
          <a:p>
            <a:pPr>
              <a:defRPr sz="2000" b="0">
                <a:latin typeface="Segoe UI"/>
              </a:defRPr>
            </a:pPr>
            <a:r>
              <a:rPr lang="de-DE" sz="2000" b="0">
                <a:latin typeface="Segoe UI"/>
              </a:rPr>
              <a:t>touched / untouched, dirty / pristine</a:t>
            </a:r>
          </a:p>
          <a:p>
            <a:pPr>
              <a:defRPr sz="2000" b="0">
                <a:latin typeface="Segoe UI"/>
              </a:defRPr>
            </a:pPr>
            <a:r>
              <a:rPr lang="de-DE" sz="2000" b="0">
                <a:latin typeface="Segoe UI"/>
              </a:rPr>
              <a:t>Methoden: setValue, patchValue, reset, disable</a:t>
            </a:r>
          </a:p>
          <a:p>
            <a:pPr>
              <a:defRPr sz="2000" b="0">
                <a:latin typeface="Segoe UI"/>
              </a:defRPr>
            </a:pPr>
            <a:r>
              <a:rPr lang="de-DE" sz="2000" b="0">
                <a:latin typeface="Segoe UI"/>
              </a:rPr>
              <a:t>Beobachtbar: valueChanges, statusChanges</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FormGroup und FormControl anlegen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Component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FormControl, FormGroup, ReactiveFormsModule } from '@angular/forms';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imports: [ReactiveFormsModule],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templateUrl: './customer-details.component.html'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CustomerDetailsComponent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customerForm = new FormGroup({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firstname: new FormControl('', { nonNullable: true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lastname: new FormControl('', { nonNullable: true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zip: new FormControl('', { nonNullable: true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lastOrderDate: new FormControl&lt;string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Typisierte Formulare und nonNullable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Seit Angular 14 sind Formulare streng typisiert</a:t>
            </a:r>
          </a:p>
          <a:p>
            <a:pPr>
              <a:defRPr sz="2000" b="0">
                <a:latin typeface="Segoe UI"/>
              </a:defRPr>
            </a:pPr>
            <a:r>
              <a:rPr lang="de-DE" sz="2000" b="0">
                <a:latin typeface="Segoe UI"/>
              </a:rPr>
              <a:t>Ohne Option: FormControl&lt;string | null&gt;</a:t>
            </a:r>
          </a:p>
          <a:p>
            <a:pPr lvl="1">
              <a:defRPr sz="1700" b="0">
                <a:latin typeface="Segoe UI"/>
              </a:defRPr>
            </a:pPr>
            <a:r>
              <a:rPr lang="de-DE" sz="1700" b="0">
                <a:latin typeface="Segoe UI"/>
              </a:rPr>
              <a:t>reset() setzt den Wert auf null</a:t>
            </a:r>
          </a:p>
          <a:p>
            <a:pPr>
              <a:defRPr sz="2000" b="0">
                <a:latin typeface="Segoe UI"/>
              </a:defRPr>
            </a:pPr>
            <a:r>
              <a:rPr lang="de-DE" sz="2000" b="0">
                <a:latin typeface="Segoe UI"/>
              </a:rPr>
              <a:t>Mit nonNullable: true: FormControl&lt;string&gt;</a:t>
            </a:r>
          </a:p>
          <a:p>
            <a:pPr lvl="1">
              <a:defRPr sz="1700" b="0">
                <a:latin typeface="Segoe UI"/>
              </a:defRPr>
            </a:pPr>
            <a:r>
              <a:rPr lang="de-DE" sz="1700" b="0">
                <a:latin typeface="Segoe UI"/>
              </a:rPr>
              <a:t>reset() setzt auf den Startwert zurück</a:t>
            </a:r>
          </a:p>
          <a:p>
            <a:pPr>
              <a:defRPr sz="2000" b="0">
                <a:latin typeface="Segoe UI"/>
              </a:defRPr>
            </a:pPr>
            <a:r>
              <a:rPr lang="de-DE" sz="2000" b="0">
                <a:latin typeface="Segoe UI"/>
              </a:rPr>
              <a:t>form.value: Partial, deaktivierte Felder fehlen</a:t>
            </a:r>
          </a:p>
          <a:p>
            <a:pPr>
              <a:defRPr sz="2000" b="0">
                <a:latin typeface="Segoe UI"/>
              </a:defRPr>
            </a:pPr>
            <a:r>
              <a:rPr lang="de-DE" sz="2000" b="0">
                <a:latin typeface="Segoe UI"/>
              </a:rPr>
              <a:t>form.getRawValue(): vollständiges Objekt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Typen</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new FormControl('')</a:t>
            </a:r>
          </a:p>
          <a:p>
            <a:pPr algn="l"/>
            <a:r>
              <a:rPr sz="1300" b="0">
                <a:solidFill>
                  <a:srgbClr val="2B3A42"/>
                </a:solidFill>
                <a:latin typeface="Consolas"/>
              </a:rPr>
              <a:t>// FormControl&lt;string | null&gt;</a:t>
            </a:r>
          </a:p>
          <a:p>
            <a:pPr algn="l"/>
            <a:r>
              <a:rPr sz="1300" b="0">
                <a:solidFill>
                  <a:srgbClr val="2B3A42"/>
                </a:solidFill>
                <a:latin typeface="Consolas"/>
              </a:rPr>
              <a:t/>
            </a:r>
          </a:p>
          <a:p>
            <a:pPr algn="l"/>
            <a:r>
              <a:rPr sz="1300" b="0">
                <a:solidFill>
                  <a:srgbClr val="2B3A42"/>
                </a:solidFill>
                <a:latin typeface="Consolas"/>
              </a:rPr>
              <a:t>new FormControl('',</a:t>
            </a:r>
          </a:p>
          <a:p>
            <a:pPr algn="l"/>
            <a:r>
              <a:rPr sz="1300" b="0">
                <a:solidFill>
                  <a:srgbClr val="2B3A42"/>
                </a:solidFill>
                <a:latin typeface="Consolas"/>
              </a:rPr>
              <a:t>  { nonNullable: true })</a:t>
            </a:r>
          </a:p>
          <a:p>
            <a:pPr algn="l"/>
            <a:r>
              <a:rPr sz="1300" b="0">
                <a:solidFill>
                  <a:srgbClr val="2B3A42"/>
                </a:solidFill>
                <a:latin typeface="Consolas"/>
              </a:rPr>
              <a:t>// FormControl&lt;string&gt;</a:t>
            </a:r>
          </a:p>
          <a:p>
            <a:pPr algn="l"/>
            <a:r>
              <a:rPr sz="1300" b="0">
                <a:solidFill>
                  <a:srgbClr val="2B3A42"/>
                </a:solidFill>
                <a:latin typeface="Consolas"/>
              </a:rPr>
              <a:t/>
            </a:r>
          </a:p>
          <a:p>
            <a:pPr algn="l"/>
            <a:r>
              <a:rPr sz="1300" b="0">
                <a:solidFill>
                  <a:srgbClr val="2B3A42"/>
                </a:solidFill>
                <a:latin typeface="Consolas"/>
              </a:rPr>
              <a:t>form.value</a:t>
            </a:r>
          </a:p>
          <a:p>
            <a:pPr algn="l"/>
            <a:r>
              <a:rPr sz="1300" b="0">
                <a:solidFill>
                  <a:srgbClr val="2B3A42"/>
                </a:solidFill>
                <a:latin typeface="Consolas"/>
              </a:rPr>
              <a:t>// Partial&lt;{ firstname: … }&gt;</a:t>
            </a:r>
          </a:p>
          <a:p>
            <a:pPr algn="l"/>
            <a:r>
              <a:rPr sz="1300" b="0">
                <a:solidFill>
                  <a:srgbClr val="2B3A42"/>
                </a:solidFill>
                <a:latin typeface="Consolas"/>
              </a:rPr>
              <a:t>form.getRawValue()</a:t>
            </a:r>
          </a:p>
          <a:p>
            <a:pPr algn="l"/>
            <a:r>
              <a:rPr sz="1300" b="0">
                <a:solidFill>
                  <a:srgbClr val="2B3A42"/>
                </a:solidFill>
                <a:latin typeface="Consolas"/>
              </a:rPr>
              <a:t>// { firstname: string; … }</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FormBuilder: kürzer schreiben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inject(FormBuilder) liefert einen Helfer</a:t>
            </a:r>
          </a:p>
          <a:p>
            <a:pPr>
              <a:defRPr sz="2000" b="0">
                <a:latin typeface="Segoe UI"/>
              </a:defRPr>
            </a:pPr>
            <a:r>
              <a:rPr lang="de-DE" sz="2000" b="0">
                <a:latin typeface="Segoe UI"/>
              </a:rPr>
              <a:t>fb.nonNullable.group({ … }): alle Felder nonNullable</a:t>
            </a:r>
          </a:p>
          <a:p>
            <a:pPr>
              <a:defRPr sz="2000" b="0">
                <a:latin typeface="Segoe UI"/>
              </a:defRPr>
            </a:pPr>
            <a:r>
              <a:rPr lang="de-DE" sz="2000" b="0">
                <a:latin typeface="Segoe UI"/>
              </a:rPr>
              <a:t>Feld als Array: [Startwert, Validatoren]</a:t>
            </a:r>
          </a:p>
          <a:p>
            <a:pPr>
              <a:defRPr sz="2000" b="0">
                <a:latin typeface="Segoe UI"/>
              </a:defRPr>
            </a:pPr>
            <a:r>
              <a:rPr lang="de-DE" sz="2000" b="0">
                <a:latin typeface="Segoe UI"/>
              </a:rPr>
              <a:t>Ergebnis: dieselbe typisierte FormGroup</a:t>
            </a:r>
          </a:p>
          <a:p>
            <a:pPr>
              <a:defRPr sz="2000" b="0">
                <a:latin typeface="Segoe UI"/>
              </a:defRPr>
            </a:pPr>
            <a:r>
              <a:rPr lang="de-DE" sz="2000" b="0">
                <a:latin typeface="Segoe UI"/>
              </a:rPr>
              <a:t>Alternative: inject(NonNullableFormBuilder)</a:t>
            </a:r>
          </a:p>
          <a:p>
            <a:pPr>
              <a:defRPr sz="2000" b="0">
                <a:latin typeface="Segoe UI"/>
              </a:defRPr>
            </a:pPr>
            <a:r>
              <a:rPr lang="de-DE" sz="2000" b="0">
                <a:latin typeface="Segoe UI"/>
              </a:rPr>
              <a:t>Z1-Projekt: fb.group({ firstname: [''], … })</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customer-details.component.ts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private fb = inject(FormBuilder);</a:t>
            </a:r>
          </a:p>
          <a:p>
            <a:pPr algn="l"/>
            <a:r>
              <a:rPr sz="1300" b="0">
                <a:solidFill>
                  <a:srgbClr val="2B3A42"/>
                </a:solidFill>
                <a:latin typeface="Consolas"/>
              </a:rPr>
              <a:t/>
            </a:r>
          </a:p>
          <a:p>
            <a:pPr algn="l"/>
            <a:r>
              <a:rPr sz="1300" b="0">
                <a:solidFill>
                  <a:srgbClr val="2B3A42"/>
                </a:solidFill>
                <a:latin typeface="Consolas"/>
              </a:rPr>
              <a:t>customerForm =</a:t>
            </a:r>
          </a:p>
          <a:p>
            <a:pPr algn="l"/>
            <a:r>
              <a:rPr sz="1300" b="0">
                <a:solidFill>
                  <a:srgbClr val="2B3A42"/>
                </a:solidFill>
                <a:latin typeface="Consolas"/>
              </a:rPr>
              <a:t>  this.fb.nonNullable.group({</a:t>
            </a:r>
          </a:p>
          <a:p>
            <a:pPr algn="l"/>
            <a:r>
              <a:rPr sz="1300" b="0">
                <a:solidFill>
                  <a:srgbClr val="2B3A42"/>
                </a:solidFill>
                <a:latin typeface="Consolas"/>
              </a:rPr>
              <a:t>    firstname: [''],</a:t>
            </a:r>
          </a:p>
          <a:p>
            <a:pPr algn="l"/>
            <a:r>
              <a:rPr sz="1300" b="0">
                <a:solidFill>
                  <a:srgbClr val="2B3A42"/>
                </a:solidFill>
                <a:latin typeface="Consolas"/>
              </a:rPr>
              <a:t>    lastname: [''],</a:t>
            </a:r>
          </a:p>
          <a:p>
            <a:pPr algn="l"/>
            <a:r>
              <a:rPr sz="1300" b="0">
                <a:solidFill>
                  <a:srgbClr val="2B3A42"/>
                </a:solidFill>
                <a:latin typeface="Consolas"/>
              </a:rPr>
              <a:t>    street: [''],</a:t>
            </a:r>
          </a:p>
          <a:p>
            <a:pPr algn="l"/>
            <a:r>
              <a:rPr sz="1300" b="0">
                <a:solidFill>
                  <a:srgbClr val="2B3A42"/>
                </a:solidFill>
                <a:latin typeface="Consolas"/>
              </a:rPr>
              <a:t>    zip: [''],</a:t>
            </a:r>
          </a:p>
          <a:p>
            <a:pPr algn="l"/>
            <a:r>
              <a:rPr sz="1300" b="0">
                <a:solidFill>
                  <a:srgbClr val="2B3A42"/>
                </a:solidFill>
                <a:latin typeface="Consolas"/>
              </a:rPr>
              <a:t>    city: ['']</a:t>
            </a:r>
          </a:p>
          <a:p>
            <a:pPr algn="l"/>
            <a:r>
              <a:rPr sz="1300" b="0">
                <a:solidFill>
                  <a:srgbClr val="2B3A42"/>
                </a:solidFill>
                <a:latin typeface="Consolas"/>
              </a:rPr>
              <a:t>  });</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 formGroup und formControlName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&lt;form [formGroup]="customerForm" (ngSubmit)="save()"&gt;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for="firstname"&gt;Vorname&lt;/label&gt;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id="firstname" type="text" formControlName="firstname"&gt;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for="lastname"&gt;Nachname&lt;/label&gt;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id="lastname" type="text" formControlName="lastname"&gt;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for="zip"&gt;PLZ&lt;/label&gt;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id="zip" type="text" [formControl]="customerForm.controls.zip"&gt;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for="date"&gt;Letzte Bestellung&lt;/label&gt;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id="date" type="date" formControlName="lastOrderDate"&gt;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type="submit" [disabled]="customerForm.invalid"&gt;Speichern&lt;/button&gt;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&lt;/form&gt;</a:t>
            </a:r>
            <a:endParaRPr lang="de-DE" sz="1600" b="0" u="none" strike="noStrike">
              <a:solidFill>
                <a:srgbClr val="000000"/>
              </a:solidFill>
              <a:uFillTx/>
              <a:latin typeface="Arial"/>
            </a:endParaRP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Template-Bindung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[formGroup]: bindet das FormGroup-Objekt</a:t>
            </a:r>
          </a:p>
          <a:p>
            <a:pPr>
              <a:defRPr sz="2000" b="0">
                <a:latin typeface="Segoe UI"/>
              </a:defRPr>
            </a:pPr>
            <a:r>
              <a:rPr lang="de-DE" sz="2000" b="0">
                <a:latin typeface="Segoe UI"/>
              </a:rPr>
              <a:t>formControlName="…": sucht Control per Name</a:t>
            </a:r>
          </a:p>
          <a:p>
            <a:pPr lvl="1">
              <a:defRPr sz="1700" b="0">
                <a:latin typeface="Segoe UI"/>
              </a:defRPr>
            </a:pPr>
            <a:r>
              <a:rPr lang="de-DE" sz="1700" b="0">
                <a:latin typeface="Segoe UI"/>
              </a:rPr>
              <a:t>Tippfehler → „Cannot find control with name“</a:t>
            </a:r>
          </a:p>
          <a:p>
            <a:pPr>
              <a:defRPr sz="2000" b="0">
                <a:latin typeface="Segoe UI"/>
              </a:defRPr>
            </a:pPr>
            <a:r>
              <a:rPr lang="de-DE" sz="2000" b="0">
                <a:latin typeface="Segoe UI"/>
              </a:rPr>
              <a:t>[formControl]: bindet ein Control-Objekt direkt</a:t>
            </a:r>
          </a:p>
          <a:p>
            <a:pPr>
              <a:defRPr sz="2000" b="0">
                <a:latin typeface="Segoe UI"/>
              </a:defRPr>
            </a:pPr>
            <a:r>
              <a:rPr lang="de-DE" sz="2000" b="0">
                <a:latin typeface="Segoe UI"/>
              </a:rPr>
              <a:t>Werte fließen in beide Richtungen</a:t>
            </a:r>
          </a:p>
          <a:p>
            <a:pPr>
              <a:defRPr sz="2000" b="0">
                <a:latin typeface="Segoe UI"/>
              </a:defRPr>
            </a:pPr>
            <a:r>
              <a:rPr lang="de-DE" sz="2000" b="0">
                <a:latin typeface="Segoe UI"/>
              </a:rPr>
              <a:t>(ngSubmit): kein Neuladen der Seite</a:t>
            </a:r>
          </a:p>
          <a:p>
            <a:pPr>
              <a:defRPr sz="2000" b="0">
                <a:latin typeface="Segoe UI"/>
              </a:defRPr>
            </a:pPr>
            <a:r>
              <a:rPr lang="de-DE" sz="2000" b="0">
                <a:latin typeface="Segoe UI"/>
              </a:rPr>
              <a:t>Nicht mit [(ngModel)] mischen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&lt;form [formGroup]="customerForm"&gt;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formControlName="firstname"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Control in der Gruppe finden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Wert und Zustand synchron</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Formular-Modell und Template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Das Modell lebt in der Klasse – jedes Eingabefeld hängt an genau einem FormControl</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80272"/>
          </a:xfrm>
          <a:prstGeom prst="rect">
            <a:avLst/>
          </a:prstGeom>
          <a:noFill/>
        </p:spPr>
        <p:txBody>
          <a:bodyPr wrap="square" anchor="t" lIns="70000" rIns="70000" tIns="0" bIns="0">
            <a:spAutoFit/>
          </a:bodyPr>
          <a:lstStyle/>
          <a:p>
            <a:pPr algn="l"/>
            <a:r>
              <a:rPr sz="1300" b="1">
                <a:solidFill>
                  <a:srgbClr val="2B3A42"/>
                </a:solidFill>
                <a:latin typeface="Segoe UI"/>
              </a:rPr>
              <a:t>CustomerDetailsComponent</a:t>
            </a:r>
          </a:p>
        </p:txBody>
      </p:sp>
      <p:sp>
        <p:nvSpPr>
          <p:cNvPr id="6" name="Rectangle 5"/>
          <p:cNvSpPr/>
          <p:nvPr/>
        </p:nvSpPr>
        <p:spPr>
          <a:xfrm>
            <a:off x="948080" y="1970272"/>
            <a:ext cx="4887080" cy="385297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10272"/>
            <a:ext cx="4767080" cy="503492"/>
          </a:xfrm>
          <a:prstGeom prst="rect">
            <a:avLst/>
          </a:prstGeom>
          <a:noFill/>
        </p:spPr>
        <p:txBody>
          <a:bodyPr wrap="square" anchor="t" lIns="70000" rIns="70000" tIns="0" bIns="0">
            <a:spAutoFit/>
          </a:bodyPr>
          <a:lstStyle/>
          <a:p>
            <a:pPr algn="l"/>
            <a:r>
              <a:rPr sz="1300" b="1">
                <a:solidFill>
                  <a:srgbClr val="2B3A42"/>
                </a:solidFill>
                <a:latin typeface="Segoe UI"/>
              </a:rPr>
              <a:t>Klasse: customerForm</a:t>
            </a:r>
          </a:p>
          <a:p>
            <a:pPr algn="l"/>
            <a:r>
              <a:rPr sz="1300" b="1">
                <a:solidFill>
                  <a:srgbClr val="2B3A42"/>
                </a:solidFill>
                <a:latin typeface="Segoe UI"/>
              </a:rPr>
              <a:t>FormGroup</a:t>
            </a:r>
          </a:p>
        </p:txBody>
      </p:sp>
      <p:sp>
        <p:nvSpPr>
          <p:cNvPr id="8" name="Rounded Rectangle 7"/>
          <p:cNvSpPr/>
          <p:nvPr/>
        </p:nvSpPr>
        <p:spPr>
          <a:xfrm>
            <a:off x="1058080" y="2513764"/>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firstname</a:t>
            </a:r>
          </a:p>
          <a:p>
            <a:pPr algn="ctr"/>
            <a:r>
              <a:rPr sz="1300" b="0">
                <a:solidFill>
                  <a:srgbClr val="2B3A42"/>
                </a:solidFill>
                <a:latin typeface="Segoe UI"/>
              </a:rPr>
              <a:t>FormControl</a:t>
            </a:r>
          </a:p>
        </p:txBody>
      </p:sp>
      <p:sp>
        <p:nvSpPr>
          <p:cNvPr id="9" name="Rounded Rectangle 8"/>
          <p:cNvSpPr/>
          <p:nvPr/>
        </p:nvSpPr>
        <p:spPr>
          <a:xfrm>
            <a:off x="1058080" y="3717210"/>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lastname</a:t>
            </a:r>
          </a:p>
          <a:p>
            <a:pPr algn="ctr"/>
            <a:r>
              <a:rPr sz="1300" b="0">
                <a:solidFill>
                  <a:srgbClr val="2B3A42"/>
                </a:solidFill>
                <a:latin typeface="Segoe UI"/>
              </a:rPr>
              <a:t>FormControl</a:t>
            </a:r>
          </a:p>
        </p:txBody>
      </p:sp>
      <p:sp>
        <p:nvSpPr>
          <p:cNvPr id="10" name="Rounded Rectangle 9"/>
          <p:cNvSpPr/>
          <p:nvPr/>
        </p:nvSpPr>
        <p:spPr>
          <a:xfrm>
            <a:off x="1058080" y="4920656"/>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zip</a:t>
            </a:r>
          </a:p>
          <a:p>
            <a:pPr algn="ctr"/>
            <a:r>
              <a:rPr sz="1300" b="0">
                <a:solidFill>
                  <a:srgbClr val="2B3A42"/>
                </a:solidFill>
                <a:latin typeface="Segoe UI"/>
              </a:rPr>
              <a:t>FormControl</a:t>
            </a:r>
          </a:p>
        </p:txBody>
      </p:sp>
      <p:sp>
        <p:nvSpPr>
          <p:cNvPr id="11" name="Rectangle 10"/>
          <p:cNvSpPr/>
          <p:nvPr/>
        </p:nvSpPr>
        <p:spPr>
          <a:xfrm>
            <a:off x="6355160" y="1970272"/>
            <a:ext cx="4887080" cy="385297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010272"/>
            <a:ext cx="4767080" cy="280272"/>
          </a:xfrm>
          <a:prstGeom prst="rect">
            <a:avLst/>
          </a:prstGeom>
          <a:noFill/>
        </p:spPr>
        <p:txBody>
          <a:bodyPr wrap="square" anchor="t" lIns="70000" rIns="70000" tIns="0" bIns="0">
            <a:spAutoFit/>
          </a:bodyPr>
          <a:lstStyle/>
          <a:p>
            <a:pPr algn="l"/>
            <a:r>
              <a:rPr sz="1300" b="1">
                <a:solidFill>
                  <a:srgbClr val="2B3A42"/>
                </a:solidFill>
                <a:latin typeface="Segoe UI"/>
              </a:rPr>
              <a:t>Template: &lt;form [formGroup]="customerForm"&gt;</a:t>
            </a:r>
          </a:p>
        </p:txBody>
      </p:sp>
      <p:sp>
        <p:nvSpPr>
          <p:cNvPr id="13" name="Rounded Rectangle 12"/>
          <p:cNvSpPr/>
          <p:nvPr/>
        </p:nvSpPr>
        <p:spPr>
          <a:xfrm>
            <a:off x="6465160" y="2290544"/>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&lt;input formControlName="firstname"&gt;</a:t>
            </a:r>
          </a:p>
          <a:p>
            <a:pPr algn="ctr"/>
            <a:r>
              <a:rPr sz="1300" b="0">
                <a:solidFill>
                  <a:srgbClr val="2B3A42"/>
                </a:solidFill>
                <a:latin typeface="Segoe UI"/>
              </a:rPr>
              <a:t>Vorname</a:t>
            </a:r>
          </a:p>
        </p:txBody>
      </p:sp>
      <p:sp>
        <p:nvSpPr>
          <p:cNvPr id="14" name="Rounded Rectangle 13"/>
          <p:cNvSpPr/>
          <p:nvPr/>
        </p:nvSpPr>
        <p:spPr>
          <a:xfrm>
            <a:off x="6465160" y="3493990"/>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&lt;input formControlName="lastname"&gt;</a:t>
            </a:r>
          </a:p>
          <a:p>
            <a:pPr algn="ctr"/>
            <a:r>
              <a:rPr sz="1300" b="0">
                <a:solidFill>
                  <a:srgbClr val="2B3A42"/>
                </a:solidFill>
                <a:latin typeface="Segoe UI"/>
              </a:rPr>
              <a:t>Nachname</a:t>
            </a:r>
          </a:p>
        </p:txBody>
      </p:sp>
      <p:sp>
        <p:nvSpPr>
          <p:cNvPr id="15" name="Rounded Rectangle 14"/>
          <p:cNvSpPr/>
          <p:nvPr/>
        </p:nvSpPr>
        <p:spPr>
          <a:xfrm>
            <a:off x="6465160" y="4697436"/>
            <a:ext cx="4667080" cy="795827"/>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&lt;input [formControl]="…controls.zip"&gt;</a:t>
            </a:r>
          </a:p>
          <a:p>
            <a:pPr algn="ctr"/>
            <a:r>
              <a:rPr sz="1300" b="0">
                <a:solidFill>
                  <a:srgbClr val="2B3A42"/>
                </a:solidFill>
                <a:latin typeface="Segoe UI"/>
              </a:rPr>
              <a:t>PLZ</a:t>
            </a:r>
          </a:p>
        </p:txBody>
      </p:sp>
      <p:cxnSp>
        <p:nvCxnSpPr>
          <p:cNvPr id="16" name="Connector 15"/>
          <p:cNvCxnSpPr/>
          <p:nvPr/>
        </p:nvCxnSpPr>
        <p:spPr>
          <a:xfrm>
            <a:off x="5725160" y="2800067"/>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737416" y="2470067"/>
            <a:ext cx="715488"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Name</a:t>
            </a:r>
          </a:p>
        </p:txBody>
      </p:sp>
      <p:cxnSp>
        <p:nvCxnSpPr>
          <p:cNvPr id="18" name="Connector 17"/>
          <p:cNvCxnSpPr/>
          <p:nvPr/>
        </p:nvCxnSpPr>
        <p:spPr>
          <a:xfrm>
            <a:off x="5725160" y="4003513"/>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37416" y="3673513"/>
            <a:ext cx="715488"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Name</a:t>
            </a:r>
          </a:p>
        </p:txBody>
      </p:sp>
      <p:cxnSp>
        <p:nvCxnSpPr>
          <p:cNvPr id="20" name="Connector 19"/>
          <p:cNvCxnSpPr/>
          <p:nvPr/>
        </p:nvCxnSpPr>
        <p:spPr>
          <a:xfrm>
            <a:off x="5725160" y="5206959"/>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18544" y="4876959"/>
            <a:ext cx="953232"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Objekt</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Werte setzen: setValue und patchValue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setValue(obj): alle Felder müssen dabei sein</a:t>
            </a:r>
          </a:p>
          <a:p>
            <a:pPr>
              <a:defRPr sz="2000" b="0">
                <a:latin typeface="Segoe UI"/>
              </a:defRPr>
            </a:pPr>
            <a:r>
              <a:rPr lang="de-DE" sz="2000" b="0">
                <a:latin typeface="Segoe UI"/>
              </a:rPr>
              <a:t>patchValue(obj): nur angegebene Felder</a:t>
            </a:r>
          </a:p>
          <a:p>
            <a:pPr>
              <a:defRPr sz="2000" b="0">
                <a:latin typeface="Segoe UI"/>
              </a:defRPr>
            </a:pPr>
            <a:r>
              <a:rPr lang="de-DE" sz="2000" b="0">
                <a:latin typeface="Segoe UI"/>
              </a:rPr>
              <a:t>Typisch: Daten vom Service mit patchValue</a:t>
            </a:r>
          </a:p>
          <a:p>
            <a:pPr>
              <a:defRPr sz="2000" b="0">
                <a:latin typeface="Segoe UI"/>
              </a:defRPr>
            </a:pPr>
            <a:r>
              <a:rPr lang="de-DE" sz="2000" b="0">
                <a:latin typeface="Segoe UI"/>
              </a:rPr>
              <a:t>Datum für &lt;input type="date"&gt;: Text JJJJ-MM-TT</a:t>
            </a:r>
          </a:p>
          <a:p>
            <a:pPr lvl="1">
              <a:defRPr sz="1700" b="0">
                <a:latin typeface="Segoe UI"/>
              </a:defRPr>
            </a:pPr>
            <a:r>
              <a:rPr lang="de-DE" sz="1700" b="0">
                <a:latin typeface="Segoe UI"/>
              </a:rPr>
              <a:t>toISOString().substring(0, 10)</a:t>
            </a:r>
          </a:p>
          <a:p>
            <a:pPr>
              <a:defRPr sz="2000" b="0">
                <a:latin typeface="Segoe UI"/>
              </a:defRPr>
            </a:pPr>
            <a:r>
              <a:rPr lang="de-DE" sz="2000" b="0">
                <a:latin typeface="Segoe UI"/>
              </a:rPr>
              <a:t>reset(): Startwerte, pristine, untouched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Kunde ins Formular laden</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const c = this.customer;</a:t>
            </a:r>
          </a:p>
          <a:p>
            <a:pPr algn="l"/>
            <a:r>
              <a:rPr sz="1500" b="0">
                <a:solidFill>
                  <a:srgbClr val="2B3A42"/>
                </a:solidFill>
                <a:latin typeface="Consolas"/>
              </a:rPr>
              <a:t>this.customerForm.patchValue({</a:t>
            </a:r>
          </a:p>
          <a:p>
            <a:pPr algn="l"/>
            <a:r>
              <a:rPr sz="1500" b="0">
                <a:solidFill>
                  <a:srgbClr val="2B3A42"/>
                </a:solidFill>
                <a:latin typeface="Consolas"/>
              </a:rPr>
              <a:t>  firstname: c.firstname,</a:t>
            </a:r>
          </a:p>
          <a:p>
            <a:pPr algn="l"/>
            <a:r>
              <a:rPr sz="1500" b="0">
                <a:solidFill>
                  <a:srgbClr val="2B3A42"/>
                </a:solidFill>
                <a:latin typeface="Consolas"/>
              </a:rPr>
              <a:t>  lastname: c.lastname,</a:t>
            </a:r>
          </a:p>
          <a:p>
            <a:pPr algn="l"/>
            <a:r>
              <a:rPr sz="1500" b="0">
                <a:solidFill>
                  <a:srgbClr val="2B3A42"/>
                </a:solidFill>
                <a:latin typeface="Consolas"/>
              </a:rPr>
              <a:t>  zip: c.zip ?? '',</a:t>
            </a:r>
          </a:p>
          <a:p>
            <a:pPr algn="l"/>
            <a:r>
              <a:rPr sz="1500" b="0">
                <a:solidFill>
                  <a:srgbClr val="2B3A42"/>
                </a:solidFill>
                <a:latin typeface="Consolas"/>
              </a:rPr>
              <a:t>  lastOrderDate: c.lastOrderDate</a:t>
            </a:r>
          </a:p>
          <a:p>
            <a:pPr algn="l"/>
            <a:r>
              <a:rPr sz="1500" b="0">
                <a:solidFill>
                  <a:srgbClr val="2B3A42"/>
                </a:solidFill>
                <a:latin typeface="Consolas"/>
              </a:rPr>
              <a:t>    ?.toISOString()</a:t>
            </a:r>
          </a:p>
          <a:p>
            <a:pPr algn="l"/>
            <a:r>
              <a:rPr sz="1500" b="0">
                <a:solidFill>
                  <a:srgbClr val="2B3A42"/>
                </a:solidFill>
                <a:latin typeface="Consolas"/>
              </a:rPr>
              <a:t>    .substring(0, 10) ?? null</a:t>
            </a:r>
          </a:p>
          <a:p>
            <a:pPr algn="l"/>
            <a:r>
              <a:rPr sz="1500" b="0">
                <a:solidFill>
                  <a:srgbClr val="2B3A42"/>
                </a:solidFill>
                <a:latin typeface="Consolas"/>
              </a:rPr>
              <a:t>});</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Werte übernehmen beim Speichern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(ngSubmit) ruft save() auf</a:t>
            </a:r>
          </a:p>
          <a:p>
            <a:pPr>
              <a:defRPr sz="2000" b="0">
                <a:latin typeface="Segoe UI"/>
              </a:defRPr>
            </a:pPr>
            <a:r>
              <a:rPr lang="de-DE" sz="2000" b="0">
                <a:latin typeface="Segoe UI"/>
              </a:rPr>
              <a:t>Ungültig? Felder markieren und abbrechen</a:t>
            </a:r>
          </a:p>
          <a:p>
            <a:pPr lvl="1">
              <a:defRPr sz="1700" b="0">
                <a:latin typeface="Segoe UI"/>
              </a:defRPr>
            </a:pPr>
            <a:r>
              <a:rPr lang="de-DE" sz="1700" b="0">
                <a:latin typeface="Segoe UI"/>
              </a:rPr>
              <a:t>markAllAsTouched() zeigt alle Fehler</a:t>
            </a:r>
          </a:p>
          <a:p>
            <a:pPr>
              <a:defRPr sz="2000" b="0">
                <a:latin typeface="Segoe UI"/>
              </a:defRPr>
            </a:pPr>
            <a:r>
              <a:rPr lang="de-DE" sz="2000" b="0">
                <a:latin typeface="Segoe UI"/>
              </a:rPr>
              <a:t>getRawValue(): vollständige Werte</a:t>
            </a:r>
          </a:p>
          <a:p>
            <a:pPr>
              <a:defRPr sz="2000" b="0">
                <a:latin typeface="Segoe UI"/>
              </a:defRPr>
            </a:pPr>
            <a:r>
              <a:rPr lang="de-DE" sz="2000" b="0">
                <a:latin typeface="Segoe UI"/>
              </a:rPr>
              <a:t>Datum zurück: new Date(text)</a:t>
            </a:r>
          </a:p>
          <a:p>
            <a:pPr>
              <a:defRPr sz="2000" b="0">
                <a:latin typeface="Segoe UI"/>
              </a:defRPr>
            </a:pPr>
            <a:r>
              <a:rPr lang="de-DE" sz="2000" b="0">
                <a:latin typeface="Segoe UI"/>
              </a:rPr>
              <a:t>Object.assign überträgt Werte ins Objekt</a:t>
            </a:r>
          </a:p>
          <a:p>
            <a:pPr>
              <a:defRPr sz="2000" b="0">
                <a:latin typeface="Segoe UI"/>
              </a:defRPr>
            </a:pPr>
            <a:r>
              <a:rPr lang="de-DE" sz="2000" b="0">
                <a:latin typeface="Segoe UI"/>
              </a:rPr>
              <a:t>Danach Service aufrufen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save()</a:t>
            </a:r>
          </a:p>
        </p:txBody>
      </p:sp>
      <p:sp>
        <p:nvSpPr>
          <p:cNvPr id="5" name="Rectangle 4"/>
          <p:cNvSpPr/>
          <p:nvPr/>
        </p:nvSpPr>
        <p:spPr>
          <a:xfrm>
            <a:off x="7000000" y="2230000"/>
            <a:ext cx="4350000" cy="35632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save(): void {</a:t>
            </a:r>
          </a:p>
          <a:p>
            <a:pPr algn="l"/>
            <a:r>
              <a:rPr sz="1300" b="0">
                <a:solidFill>
                  <a:srgbClr val="2B3A42"/>
                </a:solidFill>
                <a:latin typeface="Consolas"/>
              </a:rPr>
              <a:t>  if (this.customerForm.invalid) {</a:t>
            </a:r>
          </a:p>
          <a:p>
            <a:pPr algn="l"/>
            <a:r>
              <a:rPr sz="1300" b="0">
                <a:solidFill>
                  <a:srgbClr val="2B3A42"/>
                </a:solidFill>
                <a:latin typeface="Consolas"/>
              </a:rPr>
              <a:t>    this.customerForm</a:t>
            </a:r>
          </a:p>
          <a:p>
            <a:pPr algn="l"/>
            <a:r>
              <a:rPr sz="1300" b="0">
                <a:solidFill>
                  <a:srgbClr val="2B3A42"/>
                </a:solidFill>
                <a:latin typeface="Consolas"/>
              </a:rPr>
              <a:t>      .markAllAsTouched();</a:t>
            </a:r>
          </a:p>
          <a:p>
            <a:pPr algn="l"/>
            <a:r>
              <a:rPr sz="1300" b="0">
                <a:solidFill>
                  <a:srgbClr val="2B3A42"/>
                </a:solidFill>
                <a:latin typeface="Consolas"/>
              </a:rPr>
              <a:t>    return;</a:t>
            </a:r>
          </a:p>
          <a:p>
            <a:pPr algn="l"/>
            <a:r>
              <a:rPr sz="1300" b="0">
                <a:solidFill>
                  <a:srgbClr val="2B3A42"/>
                </a:solidFill>
                <a:latin typeface="Consolas"/>
              </a:rPr>
              <a:t>  }</a:t>
            </a:r>
          </a:p>
          <a:p>
            <a:pPr algn="l"/>
            <a:r>
              <a:rPr sz="1300" b="0">
                <a:solidFill>
                  <a:srgbClr val="2B3A42"/>
                </a:solidFill>
                <a:latin typeface="Consolas"/>
              </a:rPr>
              <a:t>  const v =</a:t>
            </a:r>
          </a:p>
          <a:p>
            <a:pPr algn="l"/>
            <a:r>
              <a:rPr sz="1300" b="0">
                <a:solidFill>
                  <a:srgbClr val="2B3A42"/>
                </a:solidFill>
                <a:latin typeface="Consolas"/>
              </a:rPr>
              <a:t>    this.customerForm.getRawValue();</a:t>
            </a:r>
          </a:p>
          <a:p>
            <a:pPr algn="l"/>
            <a:r>
              <a:rPr sz="1300" b="0">
                <a:solidFill>
                  <a:srgbClr val="2B3A42"/>
                </a:solidFill>
                <a:latin typeface="Consolas"/>
              </a:rPr>
              <a:t>  Object.assign(this.customer, {</a:t>
            </a:r>
          </a:p>
          <a:p>
            <a:pPr algn="l"/>
            <a:r>
              <a:rPr sz="1300" b="0">
                <a:solidFill>
                  <a:srgbClr val="2B3A42"/>
                </a:solidFill>
                <a:latin typeface="Consolas"/>
              </a:rPr>
              <a:t>    ...v,</a:t>
            </a:r>
          </a:p>
          <a:p>
            <a:pPr algn="l"/>
            <a:r>
              <a:rPr sz="1300" b="0">
                <a:solidFill>
                  <a:srgbClr val="2B3A42"/>
                </a:solidFill>
                <a:latin typeface="Consolas"/>
              </a:rPr>
              <a:t>    lastOrderDate: v.lastOrderDate</a:t>
            </a:r>
          </a:p>
          <a:p>
            <a:pPr algn="l"/>
            <a:r>
              <a:rPr sz="1300" b="0">
                <a:solidFill>
                  <a:srgbClr val="2B3A42"/>
                </a:solidFill>
                <a:latin typeface="Consolas"/>
              </a:rPr>
              <a:t>      ? new Date(v.lastOrderDate)</a:t>
            </a:r>
          </a:p>
          <a:p>
            <a:pPr algn="l"/>
            <a:r>
              <a:rPr sz="1300" b="0">
                <a:solidFill>
                  <a:srgbClr val="2B3A42"/>
                </a:solidFill>
                <a:latin typeface="Consolas"/>
              </a:rPr>
              <a:t>      : undefined</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Validators: eingebaute Prüfregeln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Validators.required: Pflichtfeld</a:t>
            </a:r>
          </a:p>
          <a:p>
            <a:pPr>
              <a:defRPr sz="2000" b="0">
                <a:latin typeface="Segoe UI"/>
              </a:defRPr>
            </a:pPr>
            <a:r>
              <a:rPr lang="de-DE" sz="2000" b="0">
                <a:latin typeface="Segoe UI"/>
              </a:rPr>
              <a:t>Validators.minLength(n) / maxLength(n)</a:t>
            </a:r>
          </a:p>
          <a:p>
            <a:pPr>
              <a:defRPr sz="2000" b="0">
                <a:latin typeface="Segoe UI"/>
              </a:defRPr>
            </a:pPr>
            <a:r>
              <a:rPr lang="de-DE" sz="2000" b="0">
                <a:latin typeface="Segoe UI"/>
              </a:rPr>
              <a:t>Validators.min(n) / max(n) für Zahlen</a:t>
            </a:r>
          </a:p>
          <a:p>
            <a:pPr>
              <a:defRPr sz="2000" b="0">
                <a:latin typeface="Segoe UI"/>
              </a:defRPr>
            </a:pPr>
            <a:r>
              <a:rPr lang="de-DE" sz="2000" b="0">
                <a:latin typeface="Segoe UI"/>
              </a:rPr>
              <a:t>Validators.email: E-Mail-Format</a:t>
            </a:r>
          </a:p>
          <a:p>
            <a:pPr>
              <a:defRPr sz="2000" b="0">
                <a:latin typeface="Segoe UI"/>
              </a:defRPr>
            </a:pPr>
            <a:r>
              <a:rPr lang="de-DE" sz="2000" b="0">
                <a:latin typeface="Segoe UI"/>
              </a:rPr>
              <a:t>Validators.pattern(regex): regulärer Ausdruck</a:t>
            </a:r>
          </a:p>
          <a:p>
            <a:pPr>
              <a:defRPr sz="2000" b="0">
                <a:latin typeface="Segoe UI"/>
              </a:defRPr>
            </a:pPr>
            <a:r>
              <a:rPr lang="de-DE" sz="2000" b="0">
                <a:latin typeface="Segoe UI"/>
              </a:rPr>
              <a:t>Mehrere Regeln als Array</a:t>
            </a:r>
          </a:p>
          <a:p>
            <a:pPr lvl="1">
              <a:defRPr sz="1700" b="0">
                <a:latin typeface="Segoe UI"/>
              </a:defRPr>
            </a:pPr>
            <a:r>
              <a:rPr lang="de-DE" sz="1700" b="0">
                <a:latin typeface="Segoe UI"/>
              </a:rPr>
              <a:t>früher: Validators.compose([…])</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Validatoren im Formular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customerForm = this.fb.nonNullable.group({</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 Validators.required],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 [Validators.required, Validators.minLength(2)]],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city: ['', Validators.maxLength(30)],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zip: ['', Validators.pattern('[0-9]{5}')],</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email: ['', [Validators.required, Validators.email]]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Ohne FormBuilder: zweiter Parameter bzw. Optionsobjekt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firstname = new FormControl('',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nonNullable: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validators: [Validators.required]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Feldzustände und CSS-Klassen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pristine → dirty: Benutzer hat den Wert geändert</a:t>
            </a:r>
          </a:p>
          <a:p>
            <a:pPr>
              <a:defRPr sz="2000" b="0">
                <a:latin typeface="Segoe UI"/>
              </a:defRPr>
            </a:pPr>
            <a:r>
              <a:rPr lang="de-DE" sz="2000" b="0">
                <a:latin typeface="Segoe UI"/>
              </a:rPr>
              <a:t>untouched → touched: Feld hat den Fokus verloren</a:t>
            </a:r>
          </a:p>
          <a:p>
            <a:pPr>
              <a:defRPr sz="2000" b="0">
                <a:latin typeface="Segoe UI"/>
              </a:defRPr>
            </a:pPr>
            <a:r>
              <a:rPr lang="de-DE" sz="2000" b="0">
                <a:latin typeface="Segoe UI"/>
              </a:rPr>
              <a:t>valid / invalid / pending: Ergebnis der Prüfung</a:t>
            </a:r>
          </a:p>
          <a:p>
            <a:pPr>
              <a:defRPr sz="2000" b="0">
                <a:latin typeface="Segoe UI"/>
              </a:defRPr>
            </a:pPr>
            <a:r>
              <a:rPr lang="de-DE" sz="2000" b="0">
                <a:latin typeface="Segoe UI"/>
              </a:rPr>
              <a:t>Gilt für Feld, Gruppe und ganzes Formular</a:t>
            </a:r>
          </a:p>
          <a:p>
            <a:pPr>
              <a:defRPr sz="2000" b="0">
                <a:latin typeface="Segoe UI"/>
              </a:defRPr>
            </a:pPr>
            <a:r>
              <a:rPr lang="de-DE" sz="2000" b="0">
                <a:latin typeface="Segoe UI"/>
              </a:rPr>
              <a:t>Angular setzt passende CSS-Klassen</a:t>
            </a:r>
          </a:p>
          <a:p>
            <a:pPr lvl="1">
              <a:defRPr sz="1700" b="0">
                <a:latin typeface="Segoe UI"/>
              </a:defRPr>
            </a:pPr>
            <a:r>
              <a:rPr lang="de-DE" sz="1700" b="0">
                <a:latin typeface="Segoe UI"/>
              </a:rPr>
              <a:t>ng-valid, ng-invalid, ng-pending</a:t>
            </a:r>
          </a:p>
          <a:p>
            <a:pPr lvl="1">
              <a:defRPr sz="1700" b="0">
                <a:latin typeface="Segoe UI"/>
              </a:defRPr>
            </a:pPr>
            <a:r>
              <a:rPr lang="de-DE" sz="1700" b="0">
                <a:latin typeface="Segoe UI"/>
              </a:rPr>
              <a:t>ng-pristine, ng-dirty, ng-untouched, ng-touched</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Start: pristine,</a:t>
            </a:r>
          </a:p>
          <a:p>
            <a:pPr algn="ctr"/>
            <a:r>
              <a:rPr sz="1700" b="0">
                <a:solidFill>
                  <a:srgbClr val="2B3A42"/>
                </a:solidFill>
                <a:latin typeface="Segoe UI"/>
              </a:rPr>
              <a:t>untouched</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tippt:</a:t>
            </a:r>
          </a:p>
          <a:p>
            <a:pPr algn="ctr"/>
            <a:r>
              <a:rPr sz="1700" b="0">
                <a:solidFill>
                  <a:srgbClr val="2B3A42"/>
                </a:solidFill>
                <a:latin typeface="Segoe UI"/>
              </a:rPr>
              <a:t>dirty</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Feld verlassen:</a:t>
            </a:r>
          </a:p>
          <a:p>
            <a:pPr algn="ctr"/>
            <a:r>
              <a:rPr sz="1700" b="0">
                <a:solidFill>
                  <a:srgbClr val="2B3A42"/>
                </a:solidFill>
                <a:latin typeface="Segoe UI"/>
              </a:rPr>
              <a:t>touched</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Prüfung: valid</a:t>
            </a:r>
          </a:p>
          <a:p>
            <a:pPr algn="ctr"/>
            <a:r>
              <a:rPr sz="1700" b="1">
                <a:solidFill>
                  <a:srgbClr val="FFFFFF"/>
                </a:solidFill>
                <a:latin typeface="Segoe UI"/>
              </a:rPr>
              <a:t>oder invalid</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Das errors-Objekt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errors: ValidationErrors | null</a:t>
            </a:r>
          </a:p>
          <a:p>
            <a:pPr lvl="1">
              <a:defRPr sz="1700" b="0">
                <a:latin typeface="Segoe UI"/>
              </a:defRPr>
            </a:pPr>
            <a:r>
              <a:rPr lang="de-DE" sz="1700" b="0">
                <a:latin typeface="Segoe UI"/>
              </a:rPr>
              <a:t>null = keine Fehler</a:t>
            </a:r>
          </a:p>
          <a:p>
            <a:pPr>
              <a:defRPr sz="2000" b="0">
                <a:latin typeface="Segoe UI"/>
              </a:defRPr>
            </a:pPr>
            <a:r>
              <a:rPr lang="de-DE" sz="2000" b="0">
                <a:latin typeface="Segoe UI"/>
              </a:rPr>
              <a:t>Ein Schlüssel pro verletzter Regel</a:t>
            </a:r>
          </a:p>
          <a:p>
            <a:pPr lvl="1">
              <a:defRPr sz="1700" b="0">
                <a:latin typeface="Segoe UI"/>
              </a:defRPr>
            </a:pPr>
            <a:r>
              <a:rPr lang="de-DE" sz="1700" b="0">
                <a:latin typeface="Segoe UI"/>
              </a:rPr>
              <a:t>required: true</a:t>
            </a:r>
          </a:p>
          <a:p>
            <a:pPr lvl="1">
              <a:defRPr sz="1700" b="0">
                <a:latin typeface="Segoe UI"/>
              </a:defRPr>
            </a:pPr>
            <a:r>
              <a:rPr lang="de-DE" sz="1700" b="0">
                <a:latin typeface="Segoe UI"/>
              </a:rPr>
              <a:t>minlength: { requiredLength, actualLength }</a:t>
            </a:r>
          </a:p>
          <a:p>
            <a:pPr lvl="1">
              <a:defRPr sz="1700" b="0">
                <a:latin typeface="Segoe UI"/>
              </a:defRPr>
            </a:pPr>
            <a:r>
              <a:rPr lang="de-DE" sz="1700" b="0">
                <a:latin typeface="Segoe UI"/>
              </a:rPr>
              <a:t>pattern: { requiredPattern, actualValue }</a:t>
            </a:r>
          </a:p>
          <a:p>
            <a:pPr>
              <a:defRPr sz="2000" b="0">
                <a:latin typeface="Segoe UI"/>
              </a:defRPr>
            </a:pPr>
            <a:r>
              <a:rPr lang="de-DE" sz="2000" b="0">
                <a:latin typeface="Segoe UI"/>
              </a:rPr>
              <a:t>Abfrage: control.hasError('required')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lastname.errors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 Feld leer:</a:t>
            </a:r>
          </a:p>
          <a:p>
            <a:pPr algn="l"/>
            <a:r>
              <a:rPr sz="1300" b="0">
                <a:solidFill>
                  <a:srgbClr val="2B3A42"/>
                </a:solidFill>
                <a:latin typeface="Consolas"/>
              </a:rPr>
              <a:t>{ required: true }</a:t>
            </a:r>
          </a:p>
          <a:p>
            <a:pPr algn="l"/>
            <a:r>
              <a:rPr sz="1300" b="0">
                <a:solidFill>
                  <a:srgbClr val="2B3A42"/>
                </a:solidFill>
                <a:latin typeface="Consolas"/>
              </a:rPr>
              <a:t/>
            </a:r>
          </a:p>
          <a:p>
            <a:pPr algn="l"/>
            <a:r>
              <a:rPr sz="1300" b="0">
                <a:solidFill>
                  <a:srgbClr val="2B3A42"/>
                </a:solidFill>
                <a:latin typeface="Consolas"/>
              </a:rPr>
              <a:t>// Wert "M":</a:t>
            </a:r>
          </a:p>
          <a:p>
            <a:pPr algn="l"/>
            <a:r>
              <a:rPr sz="1300" b="0">
                <a:solidFill>
                  <a:srgbClr val="2B3A42"/>
                </a:solidFill>
                <a:latin typeface="Consolas"/>
              </a:rPr>
              <a:t>{ minlength: {</a:t>
            </a:r>
          </a:p>
          <a:p>
            <a:pPr algn="l"/>
            <a:r>
              <a:rPr sz="1300" b="0">
                <a:solidFill>
                  <a:srgbClr val="2B3A42"/>
                </a:solidFill>
                <a:latin typeface="Consolas"/>
              </a:rPr>
              <a:t>    requiredLength: 2,</a:t>
            </a:r>
          </a:p>
          <a:p>
            <a:pPr algn="l"/>
            <a:r>
              <a:rPr sz="1300" b="0">
                <a:solidFill>
                  <a:srgbClr val="2B3A42"/>
                </a:solidFill>
                <a:latin typeface="Consolas"/>
              </a:rPr>
              <a:t>    actualLength: 1 } }</a:t>
            </a:r>
          </a:p>
          <a:p>
            <a:pPr algn="l"/>
            <a:r>
              <a:rPr sz="1300" b="0">
                <a:solidFill>
                  <a:srgbClr val="2B3A42"/>
                </a:solidFill>
                <a:latin typeface="Consolas"/>
              </a:rPr>
              <a:t/>
            </a:r>
          </a:p>
          <a:p>
            <a:pPr algn="l"/>
            <a:r>
              <a:rPr sz="1300" b="0">
                <a:solidFill>
                  <a:srgbClr val="2B3A42"/>
                </a:solidFill>
                <a:latin typeface="Consolas"/>
              </a:rPr>
              <a:t>// gültig:</a:t>
            </a:r>
          </a:p>
          <a:p>
            <a:pPr algn="l"/>
            <a:r>
              <a:rPr sz="1300" b="0">
                <a:solidFill>
                  <a:srgbClr val="2B3A42"/>
                </a:solidFill>
                <a:latin typeface="Consolas"/>
              </a:rPr>
              <a:t>null</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Fehlermeldungen mit @if</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id="lastname" formControlName="lastname"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[class.has-error]="lastname.invalid &amp;&amp; lastname.touched"&gt;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(lastname.touched &amp;&amp; lastname.hasError('required'))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class="error"&gt;Nachname ist ein Pflichtfeld.&lt;/p&gt;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(lastname.hasError('minlength'))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Mindestens {{ lastname.getError('minlength').requiredLength }} Zeichen.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(zip.dirty &amp;&amp; zip.hasError('pattern'))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besteht aus fünf Ziffern.&lt;/p&gt;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in der Klasse: lastname = this.customerForm.controls.lastname; --&gt;</a:t>
            </a:r>
            <a:endParaRPr lang="de-DE" sz="1600" b="0" u="none" strike="noStrike">
              <a:solidFill>
                <a:srgbClr val="000000"/>
              </a:solidFill>
              <a:uFillTx/>
              <a:latin typeface="Arial"/>
            </a:endParaRP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Fehlerzustand im Template erklärt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Fehler nicht sofort beim leeren Formular zeigen</a:t>
            </a:r>
          </a:p>
          <a:p>
            <a:pPr lvl="1">
              <a:defRPr sz="1700" b="0">
                <a:latin typeface="Segoe UI"/>
              </a:defRPr>
            </a:pPr>
            <a:r>
              <a:rPr lang="de-DE" sz="1700" b="0">
                <a:latin typeface="Segoe UI"/>
              </a:rPr>
              <a:t>Bedingung mit touched oder dirty kombinieren</a:t>
            </a:r>
          </a:p>
          <a:p>
            <a:pPr>
              <a:defRPr sz="2000" b="0">
                <a:latin typeface="Segoe UI"/>
              </a:defRPr>
            </a:pPr>
            <a:r>
              <a:rPr lang="de-DE" sz="2000" b="0">
                <a:latin typeface="Segoe UI"/>
              </a:rPr>
              <a:t>hasError('key'): true, wenn diese Regel verletzt ist</a:t>
            </a:r>
          </a:p>
          <a:p>
            <a:pPr>
              <a:defRPr sz="2000" b="0">
                <a:latin typeface="Segoe UI"/>
              </a:defRPr>
            </a:pPr>
            <a:r>
              <a:rPr lang="de-DE" sz="2000" b="0">
                <a:latin typeface="Segoe UI"/>
              </a:rPr>
              <a:t>getError('key'): Zusatzdaten der Regel</a:t>
            </a:r>
          </a:p>
          <a:p>
            <a:pPr>
              <a:defRPr sz="2000" b="0">
                <a:latin typeface="Segoe UI"/>
              </a:defRPr>
            </a:pPr>
            <a:r>
              <a:rPr lang="de-DE" sz="2000" b="0">
                <a:latin typeface="Segoe UI"/>
              </a:rPr>
              <a:t>Submit-Button: [disabled]="customerForm.invalid"</a:t>
            </a:r>
          </a:p>
          <a:p>
            <a:pPr>
              <a:defRPr sz="2000" b="0">
                <a:latin typeface="Segoe UI"/>
              </a:defRPr>
            </a:pPr>
            <a:r>
              <a:rPr lang="de-DE" sz="2000" b="0">
                <a:latin typeface="Segoe UI"/>
              </a:rPr>
              <a:t>Oder beim Absenden markAllAsTouched()</a:t>
            </a:r>
          </a:p>
          <a:p>
            <a:pPr>
              <a:defRPr sz="2000" b="0">
                <a:latin typeface="Segoe UI"/>
              </a:defRPr>
            </a:pPr>
            <a:r>
              <a:rPr lang="de-DE" sz="2000" b="0">
                <a:latin typeface="Segoe UI"/>
              </a:rPr>
              <a:t>Früher: [hidden] und *ngIf statt @if</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Von der Eingabe zur Fehlermeldung</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Prüfung läuft im FormControl der Klasse – das Template fragt das Ergebnis nur ab</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Nutzer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&lt;input</a:t>
            </a:r>
          </a:p>
          <a:p>
            <a:pPr algn="ctr"/>
            <a:r>
              <a:rPr sz="1400" b="1">
                <a:solidFill>
                  <a:srgbClr val="FFFFFF"/>
                </a:solidFill>
                <a:latin typeface="Segoe UI"/>
              </a:rPr>
              <a:t>formControlName&gt;</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FormControl</a:t>
            </a:r>
          </a:p>
          <a:p>
            <a:pPr algn="ctr"/>
            <a:r>
              <a:rPr sz="1400" b="1">
                <a:solidFill>
                  <a:srgbClr val="FFFFFF"/>
                </a:solidFill>
                <a:latin typeface="Segoe UI"/>
              </a:rPr>
              <a:t>lastname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Validators</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Template</a:t>
            </a:r>
          </a:p>
          <a:p>
            <a:pPr algn="ctr"/>
            <a:r>
              <a:rPr sz="1400" b="1">
                <a:solidFill>
                  <a:srgbClr val="FFFFFF"/>
                </a:solidFill>
                <a:latin typeface="Segoe UI"/>
              </a:rPr>
              <a:t>(@if)</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tippt „M“</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setValue('M'), dirty</a:t>
            </a:r>
          </a:p>
        </p:txBody>
      </p:sp>
      <p:cxnSp>
        <p:nvCxnSpPr>
          <p:cNvPr id="18" name="Connector 17"/>
          <p:cNvCxnSpPr/>
          <p:nvPr/>
        </p:nvCxnSpPr>
        <p:spPr>
          <a:xfrm>
            <a:off x="6095160"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9452"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Validators.required(control)</a:t>
            </a:r>
          </a:p>
        </p:txBody>
      </p:sp>
      <p:cxnSp>
        <p:nvCxnSpPr>
          <p:cNvPr id="20" name="Connector 19"/>
          <p:cNvCxnSpPr/>
          <p:nvPr/>
        </p:nvCxnSpPr>
        <p:spPr>
          <a:xfrm flipH="1">
            <a:off x="6115160" y="36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69452" y="33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4. null</a:t>
            </a:r>
          </a:p>
        </p:txBody>
      </p:sp>
      <p:cxnSp>
        <p:nvCxnSpPr>
          <p:cNvPr id="22" name="Connector 21"/>
          <p:cNvCxnSpPr/>
          <p:nvPr/>
        </p:nvCxnSpPr>
        <p:spPr>
          <a:xfrm>
            <a:off x="6095160" y="40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7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5. Validators.minLength(2)(control)</a:t>
            </a:r>
          </a:p>
        </p:txBody>
      </p:sp>
      <p:cxnSp>
        <p:nvCxnSpPr>
          <p:cNvPr id="24" name="Connector 23"/>
          <p:cNvCxnSpPr/>
          <p:nvPr/>
        </p:nvCxnSpPr>
        <p:spPr>
          <a:xfrm flipH="1">
            <a:off x="6115160" y="438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69452" y="406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6. { minlength: { requiredLength: 2 } }</a:t>
            </a:r>
          </a:p>
        </p:txBody>
      </p:sp>
      <p:cxnSp>
        <p:nvCxnSpPr>
          <p:cNvPr id="26" name="Connector 25"/>
          <p:cNvCxnSpPr/>
          <p:nvPr/>
        </p:nvCxnSpPr>
        <p:spPr>
          <a:xfrm>
            <a:off x="6095160" y="461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475160" y="461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6115160" y="474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525160" y="446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7. errors, INVALID</a:t>
            </a:r>
          </a:p>
        </p:txBody>
      </p:sp>
      <p:cxnSp>
        <p:nvCxnSpPr>
          <p:cNvPr id="30" name="Connector 29"/>
          <p:cNvCxnSpPr/>
          <p:nvPr/>
        </p:nvCxnSpPr>
        <p:spPr>
          <a:xfrm flipH="1">
            <a:off x="6115160" y="510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25160" y="478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8. hasError('minlength')?</a:t>
            </a:r>
          </a:p>
        </p:txBody>
      </p:sp>
      <p:cxnSp>
        <p:nvCxnSpPr>
          <p:cNvPr id="32" name="Connector 31"/>
          <p:cNvCxnSpPr/>
          <p:nvPr/>
        </p:nvCxnSpPr>
        <p:spPr>
          <a:xfrm>
            <a:off x="6095160" y="54692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125160" y="5149200"/>
            <a:ext cx="4145664" cy="300000"/>
          </a:xfrm>
          <a:prstGeom prst="rect">
            <a:avLst/>
          </a:prstGeom>
          <a:noFill/>
        </p:spPr>
        <p:txBody>
          <a:bodyPr wrap="square" anchor="b" lIns="70000" rIns="70000" tIns="0" bIns="0">
            <a:spAutoFit/>
          </a:bodyPr>
          <a:lstStyle/>
          <a:p>
            <a:pPr algn="ctr"/>
            <a:r>
              <a:rPr sz="1300" b="0">
                <a:solidFill>
                  <a:srgbClr val="404B52"/>
                </a:solidFill>
                <a:latin typeface="Segoe UI"/>
              </a:rPr>
              <a:t>9. true → Meldung anzeigen</a:t>
            </a:r>
          </a:p>
        </p:txBody>
      </p:sp>
      <p:cxnSp>
        <p:nvCxnSpPr>
          <p:cNvPr id="34" name="Connector 33"/>
          <p:cNvCxnSpPr/>
          <p:nvPr/>
        </p:nvCxnSpPr>
        <p:spPr>
          <a:xfrm>
            <a:off x="3992328" y="569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372328" y="569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4012328" y="582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422328" y="554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10. CSS: ng-invalid</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 Validatorfunktion: Konzept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ValidatorFn: (control: AbstractControl) =&gt;</a:t>
            </a:r>
          </a:p>
          <a:p>
            <a:pPr lvl="1">
              <a:defRPr sz="1700" b="0">
                <a:latin typeface="Segoe UI"/>
              </a:defRPr>
            </a:pPr>
            <a:r>
              <a:rPr lang="de-DE" sz="1700" b="0">
                <a:latin typeface="Segoe UI"/>
              </a:rPr>
              <a:t>ValidationErrors | null</a:t>
            </a:r>
          </a:p>
          <a:p>
            <a:pPr>
              <a:defRPr sz="2000" b="0">
                <a:latin typeface="Segoe UI"/>
              </a:defRPr>
            </a:pPr>
            <a:r>
              <a:rPr lang="de-DE" sz="2000" b="0">
                <a:latin typeface="Segoe UI"/>
              </a:rPr>
              <a:t>Angular ruft sie bei jeder Wertänderung auf</a:t>
            </a:r>
          </a:p>
          <a:p>
            <a:pPr>
              <a:defRPr sz="2000" b="0">
                <a:latin typeface="Segoe UI"/>
              </a:defRPr>
            </a:pPr>
            <a:r>
              <a:rPr lang="de-DE" sz="2000" b="0">
                <a:latin typeface="Segoe UI"/>
              </a:rPr>
              <a:t>Parameter control: das geprüfte Feld</a:t>
            </a:r>
          </a:p>
          <a:p>
            <a:pPr lvl="1">
              <a:defRPr sz="1700" b="0">
                <a:latin typeface="Segoe UI"/>
              </a:defRPr>
            </a:pPr>
            <a:r>
              <a:rPr lang="de-DE" sz="1700" b="0">
                <a:latin typeface="Segoe UI"/>
              </a:rPr>
              <a:t>control.value ist der aktuelle Wert</a:t>
            </a:r>
          </a:p>
          <a:p>
            <a:pPr>
              <a:defRPr sz="2000" b="0">
                <a:latin typeface="Segoe UI"/>
              </a:defRPr>
            </a:pPr>
            <a:r>
              <a:rPr lang="de-DE" sz="2000" b="0">
                <a:latin typeface="Segoe UI"/>
              </a:rPr>
              <a:t>Rückgabe null: gültig</a:t>
            </a:r>
          </a:p>
          <a:p>
            <a:pPr>
              <a:defRPr sz="2000" b="0">
                <a:latin typeface="Segoe UI"/>
              </a:defRPr>
            </a:pPr>
            <a:r>
              <a:rPr lang="de-DE" sz="2000" b="0">
                <a:latin typeface="Segoe UI"/>
              </a:rPr>
              <a:t>Rückgabe { schluessel: … }: ungültig</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ändert Wert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ruft</a:t>
            </a:r>
          </a:p>
          <a:p>
            <a:pPr algn="ctr"/>
            <a:r>
              <a:rPr sz="1700" b="0">
                <a:solidFill>
                  <a:srgbClr val="2B3A42"/>
                </a:solidFill>
                <a:latin typeface="Segoe UI"/>
              </a:rPr>
              <a:t>validator(control)</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Funktion liest</a:t>
            </a:r>
          </a:p>
          <a:p>
            <a:pPr algn="ctr"/>
            <a:r>
              <a:rPr sz="1700" b="0">
                <a:solidFill>
                  <a:srgbClr val="2B3A42"/>
                </a:solidFill>
                <a:latin typeface="Segoe UI"/>
              </a:rPr>
              <a:t>control.value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null → valid</a:t>
            </a:r>
          </a:p>
          <a:p>
            <a:pPr algn="ctr"/>
            <a:r>
              <a:rPr sz="1700" b="1">
                <a:solidFill>
                  <a:srgbClr val="FFFFFF"/>
                </a:solidFill>
                <a:latin typeface="Segoe UI"/>
              </a:rPr>
              <a:t>{…} → invalid, errors</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Eigener Validator: nur Ziffern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AbstractControl, ValidationErrors, ValidatorFn } from '@angular/forms';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1. Direkt als Prüffunktion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function digitsOnly(control: AbstractControl): ValidationErrors |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value = control.value as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(!value) { return null; }          // leer prüft required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/^[0-9]+$/.test(value) ? null : { digitsOnly: { actual: 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 Mit Parameter: Fabrikfunktion liefert die Prüffunktion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function exactLength(n: number): ValidatorFn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(control) =&gt; !control.value || control.value.length === 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exactLength: { required: n, actual: control.value.length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Verwendung: zip: ['', [Validators.required, digitsOnly, exactLength(5)]]</a:t>
            </a:r>
            <a:endParaRPr lang="de-DE" sz="1600" b="0" u="none" strike="noStrike">
              <a:solidFill>
                <a:srgbClr val="000000"/>
              </a:solidFill>
              <a:uFillTx/>
              <a:latin typeface="Arial"/>
            </a:endParaRP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Eigener Validator erklärt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control: AbstractControl, das geprüfte Feld</a:t>
            </a:r>
          </a:p>
          <a:p>
            <a:pPr lvl="1">
              <a:defRPr sz="1700" b="0">
                <a:latin typeface="Segoe UI"/>
              </a:defRPr>
            </a:pPr>
            <a:r>
              <a:rPr lang="de-DE" sz="1700" b="0">
                <a:latin typeface="Segoe UI"/>
              </a:rPr>
              <a:t>bei Gruppen-Validatoren: die ganze FormGroup</a:t>
            </a:r>
          </a:p>
          <a:p>
            <a:pPr>
              <a:defRPr sz="2000" b="0">
                <a:latin typeface="Segoe UI"/>
              </a:defRPr>
            </a:pPr>
            <a:r>
              <a:rPr lang="de-DE" sz="2000" b="0">
                <a:latin typeface="Segoe UI"/>
              </a:rPr>
              <a:t>Ohne Klammern übergeben: digitsOnly</a:t>
            </a:r>
          </a:p>
          <a:p>
            <a:pPr>
              <a:defRPr sz="2000" b="0">
                <a:latin typeface="Segoe UI"/>
              </a:defRPr>
            </a:pPr>
            <a:r>
              <a:rPr lang="de-DE" sz="2000" b="0">
                <a:latin typeface="Segoe UI"/>
              </a:rPr>
              <a:t>Mit Klammern aufrufen: exactLength(5) → ValidatorFn</a:t>
            </a:r>
          </a:p>
          <a:p>
            <a:pPr>
              <a:defRPr sz="2000" b="0">
                <a:latin typeface="Segoe UI"/>
              </a:defRPr>
            </a:pPr>
            <a:r>
              <a:rPr lang="de-DE" sz="2000" b="0">
                <a:latin typeface="Segoe UI"/>
              </a:rPr>
              <a:t>Schlüssel im Fehlerobjekt frei wählbar</a:t>
            </a:r>
          </a:p>
          <a:p>
            <a:pPr lvl="1">
              <a:defRPr sz="1700" b="0">
                <a:latin typeface="Segoe UI"/>
              </a:defRPr>
            </a:pPr>
            <a:r>
              <a:rPr lang="de-DE" sz="1700" b="0">
                <a:latin typeface="Segoe UI"/>
              </a:rPr>
              <a:t>Abfrage im Template: hasError('digitsOnly')</a:t>
            </a:r>
          </a:p>
          <a:p>
            <a:pPr>
              <a:defRPr sz="2000" b="0">
                <a:latin typeface="Segoe UI"/>
              </a:defRPr>
            </a:pPr>
            <a:r>
              <a:rPr lang="de-DE" sz="2000" b="0">
                <a:latin typeface="Segoe UI"/>
              </a:rPr>
              <a:t>Felder vergleichen: Validator an der FormGroup</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Eigener Validator: wann ruft Angular ihn 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Wir übergeben nur die Funktion – Angular ruft sie bei jeder Wertänderung auf</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a:t>
            </a:r>
          </a:p>
          <a:p>
            <a:pPr algn="ctr"/>
            <a:r>
              <a:rPr sz="1400" b="1">
                <a:solidFill>
                  <a:srgbClr val="FFFFFF"/>
                </a:solidFill>
                <a:latin typeface="Segoe UI"/>
              </a:rPr>
              <a:t>DetailsComponent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FormBuilder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FormControl zip</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digitsOnly</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Template</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group({ zip: ['', [digitsOnly]] })</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new FormControl('', [digitsOnly])</a:t>
            </a:r>
          </a:p>
        </p:txBody>
      </p:sp>
      <p:cxnSp>
        <p:nvCxnSpPr>
          <p:cNvPr id="18" name="Connector 17"/>
          <p:cNvCxnSpPr/>
          <p:nvPr/>
        </p:nvCxnSpPr>
        <p:spPr>
          <a:xfrm>
            <a:off x="6095160"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9452"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digitsOnly(control): Startwert ''</a:t>
            </a:r>
          </a:p>
        </p:txBody>
      </p:sp>
      <p:cxnSp>
        <p:nvCxnSpPr>
          <p:cNvPr id="20" name="Connector 19"/>
          <p:cNvCxnSpPr/>
          <p:nvPr/>
        </p:nvCxnSpPr>
        <p:spPr>
          <a:xfrm flipH="1">
            <a:off x="6115160" y="36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69452" y="33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4. null (leer: required prüft)</a:t>
            </a:r>
          </a:p>
        </p:txBody>
      </p:sp>
      <p:cxnSp>
        <p:nvCxnSpPr>
          <p:cNvPr id="22" name="Connector 21"/>
          <p:cNvCxnSpPr/>
          <p:nvPr/>
        </p:nvCxnSpPr>
        <p:spPr>
          <a:xfrm flipH="1">
            <a:off x="6115160" y="402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125160" y="370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5. Nutzer tippt „12a“</a:t>
            </a:r>
          </a:p>
        </p:txBody>
      </p:sp>
      <p:cxnSp>
        <p:nvCxnSpPr>
          <p:cNvPr id="24" name="Connector 23"/>
          <p:cNvCxnSpPr/>
          <p:nvPr/>
        </p:nvCxnSpPr>
        <p:spPr>
          <a:xfrm>
            <a:off x="6095160" y="43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69452" y="40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6. digitsOnly(control)</a:t>
            </a:r>
          </a:p>
        </p:txBody>
      </p:sp>
      <p:cxnSp>
        <p:nvCxnSpPr>
          <p:cNvPr id="26" name="Connector 25"/>
          <p:cNvCxnSpPr/>
          <p:nvPr/>
        </p:nvCxnSpPr>
        <p:spPr>
          <a:xfrm>
            <a:off x="8197992" y="461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77992" y="461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8217992" y="474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627992" y="446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7. Regex-Test → false</a:t>
            </a:r>
          </a:p>
        </p:txBody>
      </p:sp>
      <p:cxnSp>
        <p:nvCxnSpPr>
          <p:cNvPr id="30" name="Connector 29"/>
          <p:cNvCxnSpPr/>
          <p:nvPr/>
        </p:nvCxnSpPr>
        <p:spPr>
          <a:xfrm flipH="1">
            <a:off x="6115160" y="510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569452" y="478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8. { digitsOnly: { actual: '12a' } }</a:t>
            </a:r>
          </a:p>
        </p:txBody>
      </p:sp>
      <p:cxnSp>
        <p:nvCxnSpPr>
          <p:cNvPr id="32" name="Connector 31"/>
          <p:cNvCxnSpPr/>
          <p:nvPr/>
        </p:nvCxnSpPr>
        <p:spPr>
          <a:xfrm>
            <a:off x="6095160" y="533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475160" y="533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115160" y="546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25160" y="518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9. errors, INVALID</a:t>
            </a:r>
          </a:p>
        </p:txBody>
      </p:sp>
      <p:cxnSp>
        <p:nvCxnSpPr>
          <p:cNvPr id="36" name="Connector 35"/>
          <p:cNvCxnSpPr/>
          <p:nvPr/>
        </p:nvCxnSpPr>
        <p:spPr>
          <a:xfrm flipH="1">
            <a:off x="6115160" y="582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125160" y="550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10. hasError('digitsOnly') → true</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Auf Änderungen reagieren: valueChanges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valueChanges: Observable mit jedem neuen Wert</a:t>
            </a:r>
          </a:p>
          <a:p>
            <a:pPr lvl="1">
              <a:defRPr sz="1700" b="0">
                <a:latin typeface="Segoe UI"/>
              </a:defRPr>
            </a:pPr>
            <a:r>
              <a:rPr lang="de-DE" sz="1700" b="0">
                <a:latin typeface="Segoe UI"/>
              </a:rPr>
              <a:t>Callback-Parameter: der neue Wert des Controls</a:t>
            </a:r>
          </a:p>
          <a:p>
            <a:pPr>
              <a:defRPr sz="2000" b="0">
                <a:latin typeface="Segoe UI"/>
              </a:defRPr>
            </a:pPr>
            <a:r>
              <a:rPr lang="de-DE" sz="2000" b="0">
                <a:latin typeface="Segoe UI"/>
              </a:rPr>
              <a:t>statusChanges: VALID, INVALID, PENDING …</a:t>
            </a:r>
          </a:p>
          <a:p>
            <a:pPr>
              <a:defRPr sz="2000" b="0">
                <a:latin typeface="Segoe UI"/>
              </a:defRPr>
            </a:pPr>
            <a:r>
              <a:rPr lang="de-DE" sz="2000" b="0">
                <a:latin typeface="Segoe UI"/>
              </a:rPr>
              <a:t>takeUntilDestroyed() meldet automatisch ab</a:t>
            </a:r>
          </a:p>
          <a:p>
            <a:pPr lvl="1">
              <a:defRPr sz="1700" b="0">
                <a:latin typeface="Segoe UI"/>
              </a:defRPr>
            </a:pPr>
            <a:r>
              <a:rPr lang="de-DE" sz="1700" b="0">
                <a:latin typeface="Segoe UI"/>
              </a:rPr>
              <a:t>im Konstruktor aufrufen (Injection Context)</a:t>
            </a:r>
          </a:p>
          <a:p>
            <a:pPr>
              <a:defRPr sz="2000" b="0">
                <a:latin typeface="Segoe UI"/>
              </a:defRPr>
            </a:pPr>
            <a:r>
              <a:rPr lang="de-DE" sz="2000" b="0">
                <a:latin typeface="Segoe UI"/>
              </a:rPr>
              <a:t>Als Signal: toSignal(control.valueChanges)</a:t>
            </a:r>
          </a:p>
          <a:p>
            <a:pPr>
              <a:defRPr sz="2000" b="0">
                <a:latin typeface="Segoe UI"/>
              </a:defRPr>
            </a:pPr>
            <a:r>
              <a:rPr lang="de-DE" sz="2000" b="0">
                <a:latin typeface="Segoe UI"/>
              </a:rPr>
              <a:t>Beispiel: Stadt zur PLZ nachschlagen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constructor()</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constructor() {</a:t>
            </a:r>
          </a:p>
          <a:p>
            <a:pPr algn="l"/>
            <a:r>
              <a:rPr sz="1300" b="0">
                <a:solidFill>
                  <a:srgbClr val="2B3A42"/>
                </a:solidFill>
                <a:latin typeface="Consolas"/>
              </a:rPr>
              <a:t>  this.customerForm.controls.zip</a:t>
            </a:r>
          </a:p>
          <a:p>
            <a:pPr algn="l"/>
            <a:r>
              <a:rPr sz="1300" b="0">
                <a:solidFill>
                  <a:srgbClr val="2B3A42"/>
                </a:solidFill>
                <a:latin typeface="Consolas"/>
              </a:rPr>
              <a:t>    .valueChanges</a:t>
            </a:r>
          </a:p>
          <a:p>
            <a:pPr algn="l"/>
            <a:r>
              <a:rPr sz="1300" b="0">
                <a:solidFill>
                  <a:srgbClr val="2B3A42"/>
                </a:solidFill>
                <a:latin typeface="Consolas"/>
              </a:rPr>
              <a:t>    .pipe(takeUntilDestroyed())</a:t>
            </a:r>
          </a:p>
          <a:p>
            <a:pPr algn="l"/>
            <a:r>
              <a:rPr sz="1300" b="0">
                <a:solidFill>
                  <a:srgbClr val="2B3A42"/>
                </a:solidFill>
                <a:latin typeface="Consolas"/>
              </a:rPr>
              <a:t>    .subscribe(zip =&gt;</a:t>
            </a:r>
          </a:p>
          <a:p>
            <a:pPr algn="l"/>
            <a:r>
              <a:rPr sz="1300" b="0">
                <a:solidFill>
                  <a:srgbClr val="2B3A42"/>
                </a:solidFill>
                <a:latin typeface="Consolas"/>
              </a:rPr>
              <a:t>      console.log('PLZ:', zip));</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zipValue = toSignal(</a:t>
            </a:r>
          </a:p>
          <a:p>
            <a:pPr algn="l"/>
            <a:r>
              <a:rPr sz="1300" b="0">
                <a:solidFill>
                  <a:srgbClr val="2B3A42"/>
                </a:solidFill>
                <a:latin typeface="Consolas"/>
              </a:rPr>
              <a:t>  this.customerForm.controls</a:t>
            </a:r>
          </a:p>
          <a:p>
            <a:pPr algn="l"/>
            <a:r>
              <a:rPr sz="1300" b="0">
                <a:solidFill>
                  <a:srgbClr val="2B3A42"/>
                </a:solidFill>
                <a:latin typeface="Consolas"/>
              </a:rPr>
              <a:t>    .zip.valueChanges);</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FormArray: Listen von Feldern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Anzahl der Felder steht erst zur Laufzeit fest</a:t>
            </a:r>
          </a:p>
          <a:p>
            <a:pPr>
              <a:defRPr sz="2000" b="0">
                <a:latin typeface="Segoe UI"/>
              </a:defRPr>
            </a:pPr>
            <a:r>
              <a:rPr lang="de-DE" sz="2000" b="0">
                <a:latin typeface="Segoe UI"/>
              </a:rPr>
              <a:t>fb.array([…]) als Feld in der FormGroup</a:t>
            </a:r>
          </a:p>
          <a:p>
            <a:pPr>
              <a:defRPr sz="2000" b="0">
                <a:latin typeface="Segoe UI"/>
              </a:defRPr>
            </a:pPr>
            <a:r>
              <a:rPr lang="de-DE" sz="2000" b="0">
                <a:latin typeface="Segoe UI"/>
              </a:rPr>
              <a:t>push(control) fügt hinzu, removeAt(i) entfernt</a:t>
            </a:r>
          </a:p>
          <a:p>
            <a:pPr>
              <a:defRPr sz="2000" b="0">
                <a:latin typeface="Segoe UI"/>
              </a:defRPr>
            </a:pPr>
            <a:r>
              <a:rPr lang="de-DE" sz="2000" b="0">
                <a:latin typeface="Segoe UI"/>
              </a:rPr>
              <a:t>controls: Array der einzelnen Controls</a:t>
            </a:r>
          </a:p>
          <a:p>
            <a:pPr>
              <a:defRPr sz="2000" b="0">
                <a:latin typeface="Segoe UI"/>
              </a:defRPr>
            </a:pPr>
            <a:r>
              <a:rPr lang="de-DE" sz="2000" b="0">
                <a:latin typeface="Segoe UI"/>
              </a:rPr>
              <a:t>Template: formArrayName + @for</a:t>
            </a:r>
          </a:p>
          <a:p>
            <a:pPr lvl="1">
              <a:defRPr sz="1700" b="0">
                <a:latin typeface="Segoe UI"/>
              </a:defRPr>
            </a:pPr>
            <a:r>
              <a:rPr lang="de-DE" sz="1700" b="0">
                <a:latin typeface="Segoe UI"/>
              </a:rPr>
              <a:t>[formControlName]="$index"</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Telefonnummern</a:t>
            </a:r>
          </a:p>
        </p:txBody>
      </p:sp>
      <p:sp>
        <p:nvSpPr>
          <p:cNvPr id="5" name="Rectangle 4"/>
          <p:cNvSpPr/>
          <p:nvPr/>
        </p:nvSpPr>
        <p:spPr>
          <a:xfrm>
            <a:off x="7000000" y="2230000"/>
            <a:ext cx="4350000" cy="35632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customerForm = this.fb.nonNullable</a:t>
            </a:r>
          </a:p>
          <a:p>
            <a:pPr algn="l"/>
            <a:r>
              <a:rPr sz="1300" b="0">
                <a:solidFill>
                  <a:srgbClr val="2B3A42"/>
                </a:solidFill>
                <a:latin typeface="Consolas"/>
              </a:rPr>
              <a:t>  .group({</a:t>
            </a:r>
          </a:p>
          <a:p>
            <a:pPr algn="l"/>
            <a:r>
              <a:rPr sz="1300" b="0">
                <a:solidFill>
                  <a:srgbClr val="2B3A42"/>
                </a:solidFill>
                <a:latin typeface="Consolas"/>
              </a:rPr>
              <a:t>    firstname: [''],</a:t>
            </a:r>
          </a:p>
          <a:p>
            <a:pPr algn="l"/>
            <a:r>
              <a:rPr sz="1300" b="0">
                <a:solidFill>
                  <a:srgbClr val="2B3A42"/>
                </a:solidFill>
                <a:latin typeface="Consolas"/>
              </a:rPr>
              <a:t>    phones: this.fb.array([''])</a:t>
            </a:r>
          </a:p>
          <a:p>
            <a:pPr algn="l"/>
            <a:r>
              <a:rPr sz="1300" b="0">
                <a:solidFill>
                  <a:srgbClr val="2B3A42"/>
                </a:solidFill>
                <a:latin typeface="Consolas"/>
              </a:rPr>
              <a:t>  });</a:t>
            </a:r>
          </a:p>
          <a:p>
            <a:pPr algn="l"/>
            <a:r>
              <a:rPr sz="1300" b="0">
                <a:solidFill>
                  <a:srgbClr val="2B3A42"/>
                </a:solidFill>
                <a:latin typeface="Consolas"/>
              </a:rPr>
              <a:t>get phones() {</a:t>
            </a:r>
          </a:p>
          <a:p>
            <a:pPr algn="l"/>
            <a:r>
              <a:rPr sz="1300" b="0">
                <a:solidFill>
                  <a:srgbClr val="2B3A42"/>
                </a:solidFill>
                <a:latin typeface="Consolas"/>
              </a:rPr>
              <a:t>  return this.customerForm</a:t>
            </a:r>
          </a:p>
          <a:p>
            <a:pPr algn="l"/>
            <a:r>
              <a:rPr sz="1300" b="0">
                <a:solidFill>
                  <a:srgbClr val="2B3A42"/>
                </a:solidFill>
                <a:latin typeface="Consolas"/>
              </a:rPr>
              <a:t>    .controls.phones;</a:t>
            </a:r>
          </a:p>
          <a:p>
            <a:pPr algn="l"/>
            <a:r>
              <a:rPr sz="1300" b="0">
                <a:solidFill>
                  <a:srgbClr val="2B3A42"/>
                </a:solidFill>
                <a:latin typeface="Consolas"/>
              </a:rPr>
              <a:t>}</a:t>
            </a:r>
          </a:p>
          <a:p>
            <a:pPr algn="l"/>
            <a:r>
              <a:rPr sz="1300" b="0">
                <a:solidFill>
                  <a:srgbClr val="2B3A42"/>
                </a:solidFill>
                <a:latin typeface="Consolas"/>
              </a:rPr>
              <a:t>&lt;div formArrayName="phones"&gt;</a:t>
            </a:r>
          </a:p>
          <a:p>
            <a:pPr algn="l"/>
            <a:r>
              <a:rPr sz="1300" b="0">
                <a:solidFill>
                  <a:srgbClr val="2B3A42"/>
                </a:solidFill>
                <a:latin typeface="Consolas"/>
              </a:rPr>
              <a:t> @for (p of phones.controls;</a:t>
            </a:r>
          </a:p>
          <a:p>
            <a:pPr algn="l"/>
            <a:r>
              <a:rPr sz="1300" b="0">
                <a:solidFill>
                  <a:srgbClr val="2B3A42"/>
                </a:solidFill>
                <a:latin typeface="Consolas"/>
              </a:rPr>
              <a:t>      track $index) {</a:t>
            </a:r>
          </a:p>
          <a:p>
            <a:pPr algn="l"/>
            <a:r>
              <a:rPr sz="1300" b="0">
                <a:solidFill>
                  <a:srgbClr val="2B3A42"/>
                </a:solidFill>
                <a:latin typeface="Consolas"/>
              </a:rPr>
              <a:t>  &lt;input [formControlName]="$index"&gt;</a:t>
            </a:r>
          </a:p>
          <a:p>
            <a:pPr algn="l"/>
            <a:r>
              <a:rPr sz="1300" b="0">
                <a:solidFill>
                  <a:srgbClr val="2B3A42"/>
                </a:solidFill>
                <a:latin typeface="Consolas"/>
              </a:rPr>
              <a:t> }</a:t>
            </a:r>
          </a:p>
          <a:p>
            <a:pPr algn="l"/>
            <a:r>
              <a:rPr sz="1300" b="0">
                <a:solidFill>
                  <a:srgbClr val="2B3A42"/>
                </a:solidFill>
                <a:latin typeface="Consolas"/>
              </a:rPr>
              <a:t>&lt;/div&gt;</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Best Practices für Reactive Forms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nonNullable verwenden, Werte mit getRawValue() lesen</a:t>
            </a:r>
          </a:p>
          <a:p>
            <a:pPr>
              <a:defRPr sz="2000" b="0">
                <a:latin typeface="Segoe UI"/>
              </a:defRPr>
            </a:pPr>
            <a:r>
              <a:rPr lang="de-DE" sz="2000" b="0">
                <a:latin typeface="Segoe UI"/>
              </a:rPr>
              <a:t>Fehlermeldungen erst nach touched oder dirty zeigen</a:t>
            </a:r>
          </a:p>
          <a:p>
            <a:pPr>
              <a:defRPr sz="2000" b="0">
                <a:latin typeface="Segoe UI"/>
              </a:defRPr>
            </a:pPr>
            <a:r>
              <a:rPr lang="de-DE" sz="2000" b="0">
                <a:latin typeface="Segoe UI"/>
              </a:rPr>
              <a:t>Eigene Regeln als kleine, testbare Funktionen</a:t>
            </a:r>
          </a:p>
          <a:p>
            <a:pPr>
              <a:defRPr sz="2000" b="0">
                <a:latin typeface="Segoe UI"/>
              </a:defRPr>
            </a:pPr>
            <a:r>
              <a:rPr lang="de-DE" sz="2000" b="0">
                <a:latin typeface="Segoe UI"/>
              </a:rPr>
              <a:t>Subscriptions mit takeUntilDestroyed() beenden</a:t>
            </a:r>
          </a:p>
          <a:p>
            <a:pPr>
              <a:defRPr sz="2000" b="0">
                <a:latin typeface="Segoe UI"/>
              </a:defRPr>
            </a:pPr>
            <a:r>
              <a:rPr lang="de-DE" sz="2000" b="0">
                <a:latin typeface="Segoe UI"/>
              </a:rPr>
              <a:t>Nicht ngModel und formControlName am selben Feld</a:t>
            </a:r>
          </a:p>
          <a:p>
            <a:pPr>
              <a:defRPr sz="2000" b="0">
                <a:latin typeface="Segoe UI"/>
              </a:defRPr>
            </a:pPr>
            <a:r>
              <a:rPr lang="de-DE" sz="2000" b="0">
                <a:latin typeface="Segoe UI"/>
              </a:rPr>
              <a:t>Server prüft trotzdem: Client-Prüfung ist nur Komfort</a:t>
            </a:r>
          </a:p>
          <a:p>
            <a:pPr>
              <a:defRPr sz="2000" b="0">
                <a:latin typeface="Segoe UI"/>
              </a:defRPr>
            </a:pPr>
            <a:r>
              <a:rPr lang="de-DE" sz="2000" b="0">
                <a:latin typeface="Segoe UI"/>
              </a:rPr>
              <a:t>Ausblick: Angular 21 enthält experimentelle Signal Forms</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Wahlübung Z1: Reactive Form mit FormBuilder</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Z1_reactive_forms, arbeite in CustomerDetailsComponent</a:t>
            </a:r>
          </a:p>
          <a:p>
            <a:pPr>
              <a:defRPr sz="2000" b="1">
                <a:latin typeface="Segoe UI"/>
              </a:defRPr>
            </a:pPr>
            <a:r>
              <a:rPr lang="de-DE" sz="2000" b="1">
                <a:latin typeface="Segoe UI"/>
              </a:rPr>
              <a:t>1. ReactiveFormsModule im imports-Array importieren</a:t>
            </a:r>
          </a:p>
          <a:p>
            <a:pPr>
              <a:defRPr sz="2000" b="1">
                <a:latin typeface="Segoe UI"/>
              </a:defRPr>
            </a:pPr>
            <a:r>
              <a:rPr lang="de-DE" sz="2000" b="1">
                <a:latin typeface="Segoe UI"/>
              </a:rPr>
              <a:t>2. Typisiertes Formular: inject(FormBuilder), fb.nonNullable.group({ … })</a:t>
            </a:r>
          </a:p>
          <a:p>
            <a:pPr lvl="1">
              <a:defRPr sz="1700" b="0">
                <a:latin typeface="Segoe UI"/>
              </a:defRPr>
            </a:pPr>
            <a:r>
              <a:rPr lang="de-DE" sz="1700" b="0">
                <a:latin typeface="Segoe UI"/>
              </a:rPr>
              <a:t>Felder: firstname, lastname, street, zip, city, lastOrderDate</a:t>
            </a:r>
          </a:p>
          <a:p>
            <a:pPr>
              <a:defRPr sz="2000" b="1">
                <a:latin typeface="Segoe UI"/>
              </a:defRPr>
            </a:pPr>
            <a:r>
              <a:rPr lang="de-DE" sz="2000" b="1">
                <a:latin typeface="Segoe UI"/>
              </a:rPr>
              <a:t>3. Formular mit den Kundendaten füllen: patchValue(…)</a:t>
            </a:r>
          </a:p>
          <a:p>
            <a:pPr lvl="1">
              <a:defRPr sz="1700" b="0">
                <a:latin typeface="Segoe UI"/>
              </a:defRPr>
            </a:pPr>
            <a:r>
              <a:rPr lang="de-DE" sz="1700" b="0">
                <a:latin typeface="Segoe UI"/>
              </a:rPr>
              <a:t>Datum: lastOrderDate.toISOString().substring(0, 10)</a:t>
            </a:r>
          </a:p>
          <a:p>
            <a:pPr>
              <a:defRPr sz="2000" b="1">
                <a:latin typeface="Segoe UI"/>
              </a:defRPr>
            </a:pPr>
            <a:r>
              <a:rPr lang="de-DE" sz="2000" b="1">
                <a:latin typeface="Segoe UI"/>
              </a:rPr>
              <a:t>4. Template: [formGroup] am &lt;form&gt;, formControlName an jedem &lt;input&gt;</a:t>
            </a:r>
          </a:p>
          <a:p>
            <a:pPr>
              <a:defRPr sz="2000" b="1">
                <a:latin typeface="Segoe UI"/>
              </a:defRPr>
            </a:pPr>
            <a:r>
              <a:rPr lang="de-DE" sz="2000" b="1">
                <a:latin typeface="Segoe UI"/>
              </a:rPr>
              <a:t>5. Speichern: (ngSubmit), getRawValue(), Object.assign, new Date(…)</a:t>
            </a:r>
          </a:p>
          <a:p>
            <a:pPr>
              <a:defRPr sz="2000" b="1">
                <a:latin typeface="Segoe UI"/>
              </a:defRPr>
            </a:pPr>
            <a:r>
              <a:rPr lang="de-DE" sz="2000" b="1">
                <a:latin typeface="Segoe UI"/>
              </a:rPr>
              <a:t>Musterlösung: Z1_reactive_forms, Schritt 1–4 (baut auf 21_dynamic_routes auf)</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Wahlübung Z1: Validierung (Reactive Forms)</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Weiter in CustomerDetailsComponent (Z1_reactive_forms)</a:t>
            </a:r>
          </a:p>
          <a:p>
            <a:pPr>
              <a:defRPr sz="2000" b="1">
                <a:latin typeface="Segoe UI"/>
              </a:defRPr>
            </a:pPr>
            <a:r>
              <a:rPr lang="de-DE" sz="2000" b="1">
                <a:latin typeface="Segoe UI"/>
              </a:rPr>
              <a:t>1. Vor- und Nachname als Pflichtfelder: Validators.required</a:t>
            </a:r>
          </a:p>
          <a:p>
            <a:pPr>
              <a:defRPr sz="2000" b="1">
                <a:latin typeface="Segoe UI"/>
              </a:defRPr>
            </a:pPr>
            <a:r>
              <a:rPr lang="de-DE" sz="2000" b="1">
                <a:latin typeface="Segoe UI"/>
              </a:rPr>
              <a:t>2. PLZ als Text, nur Ziffern: Validators.pattern('[0-9]*')</a:t>
            </a:r>
          </a:p>
          <a:p>
            <a:pPr lvl="1">
              <a:defRPr sz="1700" b="0">
                <a:latin typeface="Segoe UI"/>
              </a:defRPr>
            </a:pPr>
            <a:r>
              <a:rPr lang="de-DE" sz="1700" b="0">
                <a:latin typeface="Segoe UI"/>
              </a:rPr>
              <a:t>optional: eigene Prüffunktion digitsOnly</a:t>
            </a:r>
          </a:p>
          <a:p>
            <a:pPr>
              <a:defRPr sz="2000" b="1">
                <a:latin typeface="Segoe UI"/>
              </a:defRPr>
            </a:pPr>
            <a:r>
              <a:rPr lang="de-DE" sz="2000" b="1">
                <a:latin typeface="Segoe UI"/>
              </a:rPr>
              <a:t>3. Fehlermeldung je ungültigem Feld mit @if</a:t>
            </a:r>
          </a:p>
          <a:p>
            <a:pPr lvl="1">
              <a:defRPr sz="1700" b="0">
                <a:latin typeface="Segoe UI"/>
              </a:defRPr>
            </a:pPr>
            <a:r>
              <a:rPr lang="de-DE" sz="1700" b="0">
                <a:latin typeface="Segoe UI"/>
              </a:rPr>
              <a:t>z. B. zip.dirty &amp;&amp; zip.hasError('pattern')</a:t>
            </a:r>
          </a:p>
          <a:p>
            <a:pPr>
              <a:defRPr sz="2000" b="1">
                <a:latin typeface="Segoe UI"/>
              </a:defRPr>
            </a:pPr>
            <a:r>
              <a:rPr lang="de-DE" sz="2000" b="1">
                <a:latin typeface="Segoe UI"/>
              </a:rPr>
              <a:t>4. Absenden verhindern: [disabled]="customerForm.invalid" am Submit-Button</a:t>
            </a:r>
          </a:p>
          <a:p>
            <a:pPr>
              <a:defRPr sz="2000" b="1">
                <a:latin typeface="Segoe UI"/>
              </a:defRPr>
            </a:pPr>
            <a:r>
              <a:rPr lang="de-DE" sz="2000" b="1">
                <a:latin typeface="Segoe UI"/>
              </a:rPr>
              <a:t>5. Im Browser testen: leere Felder, Buchstaben in der PLZ</a:t>
            </a:r>
          </a:p>
          <a:p>
            <a:pPr>
              <a:defRPr sz="2000" b="1">
                <a:latin typeface="Segoe UI"/>
              </a:defRPr>
            </a:pPr>
            <a:r>
              <a:rPr lang="de-DE" sz="2000" b="1">
                <a:latin typeface="Segoe UI"/>
              </a:rPr>
              <a:t>Musterlösung: keine, Validierung ist der Teil zum Selbermachen</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 Direktiven: Wozu?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 Klasse, die einem vorhandenen Element Verhalten gibt</a:t>
            </a:r>
          </a:p>
          <a:p>
            <a:pPr>
              <a:defRPr sz="2000" b="0">
                <a:latin typeface="Segoe UI"/>
              </a:defRPr>
            </a:pPr>
            <a:r>
              <a:rPr lang="de-DE" sz="2000" b="0">
                <a:latin typeface="Segoe UI"/>
              </a:rPr>
              <a:t>Komponente = Direktive mit eigenem Template</a:t>
            </a:r>
          </a:p>
          <a:p>
            <a:pPr>
              <a:defRPr sz="2000" b="0">
                <a:latin typeface="Segoe UI"/>
              </a:defRPr>
            </a:pPr>
            <a:r>
              <a:rPr lang="de-DE" sz="2000" b="0">
                <a:latin typeface="Segoe UI"/>
              </a:rPr>
              <a:t>Attribut-Direktive: ändert Aussehen oder Verhalten</a:t>
            </a:r>
          </a:p>
          <a:p>
            <a:pPr lvl="1">
              <a:defRPr sz="1700" b="0">
                <a:latin typeface="Segoe UI"/>
              </a:defRPr>
            </a:pPr>
            <a:r>
              <a:rPr lang="de-DE" sz="1700" b="0">
                <a:latin typeface="Segoe UI"/>
              </a:rPr>
              <a:t>Beispiele: Hervorheben, Tooltip, Autofokus</a:t>
            </a:r>
          </a:p>
          <a:p>
            <a:pPr>
              <a:defRPr sz="2000" b="0">
                <a:latin typeface="Segoe UI"/>
              </a:defRPr>
            </a:pPr>
            <a:r>
              <a:rPr lang="de-DE" sz="2000" b="0">
                <a:latin typeface="Segoe UI"/>
              </a:rPr>
              <a:t>Strukturelle Direktive: fügt Elemente hinzu oder entfernt sie</a:t>
            </a:r>
          </a:p>
          <a:p>
            <a:pPr lvl="1">
              <a:defRPr sz="1700" b="0">
                <a:latin typeface="Segoe UI"/>
              </a:defRPr>
            </a:pPr>
            <a:r>
              <a:rPr lang="de-DE" sz="1700" b="0">
                <a:latin typeface="Segoe UI"/>
              </a:rPr>
              <a:t>Heute meist durch @if / @for ersetzt</a:t>
            </a:r>
          </a:p>
          <a:p>
            <a:pPr>
              <a:defRPr sz="2000" b="0">
                <a:latin typeface="Segoe UI"/>
              </a:defRPr>
            </a:pPr>
            <a:r>
              <a:rPr lang="de-DE" sz="2000" b="0">
                <a:latin typeface="Segoe UI"/>
              </a:rPr>
              <a:t>Wiederverwendbar: einmal schreiben, überall als Attribut nutzen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Komponente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eigenes Template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Selector: Element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&lt;app-card&gt;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Direktive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Template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Selector: Attribut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&lt;p appHighlight&gt;</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Direktive erzeugen und einbinden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Erzeugen: ng generate directive highlight</a:t>
            </a:r>
          </a:p>
          <a:p>
            <a:pPr>
              <a:defRPr sz="2000" b="0">
                <a:latin typeface="Segoe UI"/>
              </a:defRPr>
            </a:pPr>
            <a:r>
              <a:rPr lang="de-DE" sz="2000" b="0">
                <a:latin typeface="Segoe UI"/>
              </a:rPr>
              <a:t>@Directive({ selector: '[appHighlight]' })</a:t>
            </a:r>
          </a:p>
          <a:p>
            <a:pPr lvl="1">
              <a:defRPr sz="1700" b="0">
                <a:latin typeface="Segoe UI"/>
              </a:defRPr>
            </a:pPr>
            <a:r>
              <a:rPr lang="de-DE" sz="1700" b="0">
                <a:latin typeface="Segoe UI"/>
              </a:rPr>
              <a:t>Eckige Klammern: CSS-Selector für ein Attribut</a:t>
            </a:r>
          </a:p>
          <a:p>
            <a:pPr>
              <a:defRPr sz="2000" b="0">
                <a:latin typeface="Segoe UI"/>
              </a:defRPr>
            </a:pPr>
            <a:r>
              <a:rPr lang="de-DE" sz="2000" b="0">
                <a:latin typeface="Segoe UI"/>
              </a:rPr>
              <a:t>Einbinden: Klasse im imports-Array der Komponente</a:t>
            </a:r>
          </a:p>
          <a:p>
            <a:pPr>
              <a:defRPr sz="2000" b="0">
                <a:latin typeface="Segoe UI"/>
              </a:defRPr>
            </a:pPr>
            <a:r>
              <a:rPr lang="de-DE" sz="2000" b="0">
                <a:latin typeface="Segoe UI"/>
              </a:rPr>
              <a:t>Angular erzeugt pro passendem Element eine eigene Instanz</a:t>
            </a:r>
          </a:p>
          <a:p>
            <a:pPr>
              <a:defRPr sz="2000" b="0">
                <a:latin typeface="Segoe UI"/>
              </a:defRPr>
            </a:pPr>
            <a:r>
              <a:rPr lang="de-DE" sz="2000" b="0">
                <a:latin typeface="Segoe UI"/>
              </a:rPr>
              <a:t>inject(ElementRef) liefert das Element, auf dem sie sitzt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&lt;p appHighlight&gt;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Compiler erkennt den Selector</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Neue Instanz pro Element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inject(ElementRef): DOM-Element</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 einfaches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Directive, ElementRef, inject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@Directive({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'[appHighlight]'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HighlightDirective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Referenz auf das Element, auf dem die Direktive sitzt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el = inject(ElementRef&lt;HTMLElement&gt;);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this.el.nativeElement.style.backgroundColor = 'yellow';</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Verwendung (HighlightDirective im imports-Array):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appHighlight&gt;Dieser Text wird gelb hinterlegt&lt;/p&gt;</a:t>
            </a:r>
            <a:endParaRPr lang="de-DE" sz="1600" b="0" u="none" strike="noStrike">
              <a:solidFill>
                <a:srgbClr val="000000"/>
              </a:solidFill>
              <a:uFillTx/>
              <a:latin typeface="Arial"/>
            </a:endParaRP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Lebenszyklus einer Direktive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Direktiven haben denselben Lebenszyklus wie Komponenten</a:t>
            </a:r>
          </a:p>
          <a:p>
            <a:pPr>
              <a:defRPr sz="2000" b="0">
                <a:latin typeface="Segoe UI"/>
              </a:defRPr>
            </a:pPr>
            <a:r>
              <a:rPr lang="de-DE" sz="2000" b="0">
                <a:latin typeface="Segoe UI"/>
              </a:rPr>
              <a:t>constructor: inject() möglich, Inputs noch nicht gesetzt</a:t>
            </a:r>
          </a:p>
          <a:p>
            <a:pPr>
              <a:defRPr sz="2000" b="0">
                <a:latin typeface="Segoe UI"/>
              </a:defRPr>
            </a:pPr>
            <a:r>
              <a:rPr lang="de-DE" sz="2000" b="0">
                <a:latin typeface="Segoe UI"/>
              </a:rPr>
              <a:t>ngOnInit: Inputs haben ihren ersten Wert</a:t>
            </a:r>
          </a:p>
          <a:p>
            <a:pPr>
              <a:defRPr sz="2000" b="0">
                <a:latin typeface="Segoe UI"/>
              </a:defRPr>
            </a:pPr>
            <a:r>
              <a:rPr lang="de-DE" sz="2000" b="0">
                <a:latin typeface="Segoe UI"/>
              </a:rPr>
              <a:t>ngOnChanges: ein Input hat sich geändert</a:t>
            </a:r>
          </a:p>
          <a:p>
            <a:pPr>
              <a:defRPr sz="2000" b="0">
                <a:latin typeface="Segoe UI"/>
              </a:defRPr>
            </a:pPr>
            <a:r>
              <a:rPr lang="de-DE" sz="2000" b="0">
                <a:latin typeface="Segoe UI"/>
              </a:rPr>
              <a:t>ngOnDestroy / DestroyRef: Element verschwindet, aufräumen</a:t>
            </a:r>
          </a:p>
          <a:p>
            <a:pPr>
              <a:defRPr sz="2000" b="0">
                <a:latin typeface="Segoe UI"/>
              </a:defRPr>
            </a:pPr>
            <a:r>
              <a:rPr lang="de-DE" sz="2000" b="0">
                <a:latin typeface="Segoe UI"/>
              </a:rPr>
              <a:t>Mit input() statt Hooks: computed() oder effect() nutzen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constructor()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ngOnInit()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ngOnChanges() bei Änderung</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ngOnDestroy()</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Signal-Inputs: Hooks meist unnötig</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 mit input() und Host-Bindings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Directive, input, signal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@Directive({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'[appHighlight]',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host: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'[style.backgroundColor]': 'active() ? highlightColor() : null',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'(mouseenter)': 'active.set(true)',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'(mouseleave)': 'active.set(false)'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HighlightDirective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highlightColor = input('yellow');     // Farbe von außen, Standard gelb</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protected active = signal(false);     // Maus gerade über dem 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Verwendung: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 appHighlight&gt;gelb beim Darüberfahren&lt;/p&gt;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 appHighlight highlightColor="lightblue"&gt;hellblau&lt;/p&gt;</a:t>
            </a:r>
            <a:endParaRPr lang="de-DE" sz="1400" b="0" u="none" strike="noStrike">
              <a:solidFill>
                <a:srgbClr val="000000"/>
              </a:solidFill>
              <a:uFillTx/>
              <a:latin typeface="Arial"/>
            </a:endParaRP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Host-Bindings erklärt</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host: { … } beschreibt Bindungen am Element der Direktive</a:t>
            </a:r>
          </a:p>
          <a:p>
            <a:pPr>
              <a:defRPr sz="1800" b="0">
                <a:latin typeface="Segoe UI"/>
              </a:defRPr>
            </a:pPr>
            <a:r>
              <a:rPr lang="de-DE" sz="1800" b="0">
                <a:latin typeface="Segoe UI"/>
              </a:rPr>
              <a:t>'[eigenschaft]': 'ausdruck' – wie [ ] im Template</a:t>
            </a:r>
          </a:p>
          <a:p>
            <a:pPr lvl="1">
              <a:defRPr sz="1530" b="0">
                <a:latin typeface="Segoe UI"/>
              </a:defRPr>
            </a:pPr>
            <a:r>
              <a:rPr lang="de-DE" sz="1530" b="0">
                <a:latin typeface="Segoe UI"/>
              </a:rPr>
              <a:t>z. B. '[class.active]', '[attr.aria-label]', '[style.color]'</a:t>
            </a:r>
          </a:p>
          <a:p>
            <a:pPr>
              <a:defRPr sz="1800" b="0">
                <a:latin typeface="Segoe UI"/>
              </a:defRPr>
            </a:pPr>
            <a:r>
              <a:rPr lang="de-DE" sz="1800" b="0">
                <a:latin typeface="Segoe UI"/>
              </a:rPr>
              <a:t>'(ereignis)': 'anweisung' – wie ( ) im Template</a:t>
            </a:r>
          </a:p>
          <a:p>
            <a:pPr lvl="1">
              <a:defRPr sz="1530" b="0">
                <a:latin typeface="Segoe UI"/>
              </a:defRPr>
            </a:pPr>
            <a:r>
              <a:rPr lang="de-DE" sz="1530" b="0">
                <a:latin typeface="Segoe UI"/>
              </a:rPr>
              <a:t>z. B. '(click)', '(keydown.enter)', '(window:resize)'</a:t>
            </a:r>
          </a:p>
          <a:p>
            <a:pPr>
              <a:defRPr sz="1800" b="0">
                <a:latin typeface="Segoe UI"/>
              </a:defRPr>
            </a:pPr>
            <a:r>
              <a:rPr lang="de-DE" sz="1800" b="0">
                <a:latin typeface="Segoe UI"/>
              </a:rPr>
              <a:t>Vorteil: kein direkter DOM-Zugriff, funktioniert auch bei SSR</a:t>
            </a:r>
          </a:p>
          <a:p>
            <a:pPr>
              <a:defRPr sz="1800" b="0">
                <a:latin typeface="Segoe UI"/>
              </a:defRPr>
            </a:pPr>
            <a:r>
              <a:rPr lang="de-DE" sz="1800" b="0">
                <a:latin typeface="Segoe UI"/>
              </a:rPr>
              <a:t>@HostBinding / @HostListener: ältere Schreibweise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host-Objekt</a:t>
            </a:r>
          </a:p>
        </p:txBody>
      </p:sp>
      <p:sp>
        <p:nvSpPr>
          <p:cNvPr id="5" name="Rectangle 4"/>
          <p:cNvSpPr/>
          <p:nvPr/>
        </p:nvSpPr>
        <p:spPr>
          <a:xfrm>
            <a:off x="7000000" y="2230000"/>
            <a:ext cx="4350000" cy="17630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host: {</a:t>
            </a:r>
          </a:p>
          <a:p>
            <a:pPr algn="l"/>
            <a:r>
              <a:rPr sz="1500" b="0">
                <a:solidFill>
                  <a:srgbClr val="2B3A42"/>
                </a:solidFill>
                <a:latin typeface="Consolas"/>
              </a:rPr>
              <a:t>  '[class.active]': 'active()',</a:t>
            </a:r>
          </a:p>
          <a:p>
            <a:pPr algn="l"/>
            <a:r>
              <a:rPr sz="1500" b="0">
                <a:solidFill>
                  <a:srgbClr val="2B3A42"/>
                </a:solidFill>
                <a:latin typeface="Consolas"/>
              </a:rPr>
              <a:t>  '[attr.role]': "'button'",</a:t>
            </a:r>
          </a:p>
          <a:p>
            <a:pPr algn="l"/>
            <a:r>
              <a:rPr sz="1500" b="0">
                <a:solidFill>
                  <a:srgbClr val="2B3A42"/>
                </a:solidFill>
                <a:latin typeface="Consolas"/>
              </a:rPr>
              <a:t>  '(click)': 'toggle()',</a:t>
            </a:r>
          </a:p>
          <a:p>
            <a:pPr algn="l"/>
            <a:r>
              <a:rPr sz="1500" b="0">
                <a:solidFill>
                  <a:srgbClr val="2B3A42"/>
                </a:solidFill>
                <a:latin typeface="Consolas"/>
              </a:rPr>
              <a:t>  '(keydown.enter)': 'toggle()'</a:t>
            </a:r>
          </a:p>
          <a:p>
            <a:pPr algn="l"/>
            <a:r>
              <a:rPr sz="1500" b="0">
                <a:solidFill>
                  <a:srgbClr val="2B3A42"/>
                </a:solidFill>
                <a:latin typeface="Consolas"/>
              </a:rPr>
              <a:t>}</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Zusammenspiel: Template, Direktive, Element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Inputs kommen aus dem Template, Ereignisse vom Element, Host-Bindungen gehen ans Element.</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Eltern-Template</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HighlightDirective</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&lt;p&gt; im DOM</a:t>
            </a:r>
          </a:p>
        </p:txBody>
      </p:sp>
      <p:cxnSp>
        <p:nvCxnSpPr>
          <p:cNvPr id="8" name="Connector 7"/>
          <p:cNvCxnSpPr/>
          <p:nvPr/>
        </p:nvCxnSpPr>
        <p:spPr>
          <a:xfrm>
            <a:off x="215235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616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2662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&lt;p appHighlight&gt;</a:t>
            </a:r>
          </a:p>
        </p:txBody>
      </p:sp>
      <p:cxnSp>
        <p:nvCxnSpPr>
          <p:cNvPr id="14" name="Connector 13"/>
          <p:cNvCxnSpPr/>
          <p:nvPr/>
        </p:nvCxnSpPr>
        <p:spPr>
          <a:xfrm>
            <a:off x="4780890" y="286265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60890" y="2862650"/>
            <a:ext cx="0" cy="15105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800890" y="30137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0890" y="269765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2. Selector [appHighlight] passt</a:t>
            </a:r>
          </a:p>
        </p:txBody>
      </p:sp>
      <p:cxnSp>
        <p:nvCxnSpPr>
          <p:cNvPr id="18" name="Connector 17"/>
          <p:cNvCxnSpPr/>
          <p:nvPr/>
        </p:nvCxnSpPr>
        <p:spPr>
          <a:xfrm>
            <a:off x="4780890" y="3411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0612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neue Instanz für dieses &lt;p&gt;</a:t>
            </a:r>
          </a:p>
        </p:txBody>
      </p:sp>
      <p:cxnSp>
        <p:nvCxnSpPr>
          <p:cNvPr id="20" name="Connector 19"/>
          <p:cNvCxnSpPr/>
          <p:nvPr/>
        </p:nvCxnSpPr>
        <p:spPr>
          <a:xfrm>
            <a:off x="2152350" y="38087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82350" y="34587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4. Input: highlightColor = 'lightblue'</a:t>
            </a:r>
          </a:p>
        </p:txBody>
      </p:sp>
      <p:cxnSp>
        <p:nvCxnSpPr>
          <p:cNvPr id="22" name="Connector 21"/>
          <p:cNvCxnSpPr/>
          <p:nvPr/>
        </p:nvCxnSpPr>
        <p:spPr>
          <a:xfrm flipH="1">
            <a:off x="7429430" y="4206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2295" y="38562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5. (mouseenter) → active.set(true)</a:t>
            </a:r>
          </a:p>
        </p:txBody>
      </p:sp>
      <p:cxnSp>
        <p:nvCxnSpPr>
          <p:cNvPr id="24" name="Connector 23"/>
          <p:cNvCxnSpPr/>
          <p:nvPr/>
        </p:nvCxnSpPr>
        <p:spPr>
          <a:xfrm>
            <a:off x="7409430" y="46037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752295" y="42537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6. [style.backgroundColor] = 'lightblue'</a:t>
            </a:r>
          </a:p>
        </p:txBody>
      </p:sp>
      <p:cxnSp>
        <p:nvCxnSpPr>
          <p:cNvPr id="26" name="Connector 25"/>
          <p:cNvCxnSpPr/>
          <p:nvPr/>
        </p:nvCxnSpPr>
        <p:spPr>
          <a:xfrm flipH="1">
            <a:off x="7429430" y="5001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2295" y="46512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7. (mouseleave) → active.set(false)</a:t>
            </a:r>
          </a:p>
        </p:txBody>
      </p:sp>
      <p:cxnSp>
        <p:nvCxnSpPr>
          <p:cNvPr id="28" name="Connector 27"/>
          <p:cNvCxnSpPr/>
          <p:nvPr/>
        </p:nvCxnSpPr>
        <p:spPr>
          <a:xfrm>
            <a:off x="7409430" y="53987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52295" y="50487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8. [style.backgroundColor] = null</a:t>
            </a:r>
          </a:p>
        </p:txBody>
      </p:sp>
      <p:sp>
        <p:nvSpPr>
          <p:cNvPr id="30" name="TextBox 29"/>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host-Objekt: Angular verbindet Ereignisse und Bindungen, kein direkter DOM-Zugriff</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Route Guards: Wozu?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Guard: Funktion, die der Router vor einer Navigation fragt</a:t>
            </a:r>
          </a:p>
          <a:p>
            <a:pPr>
              <a:defRPr sz="2000" b="0">
                <a:latin typeface="Segoe UI"/>
              </a:defRPr>
            </a:pPr>
            <a:r>
              <a:rPr lang="de-DE" sz="2000" b="0">
                <a:latin typeface="Segoe UI"/>
              </a:rPr>
              <a:t>Typische Fragen: Ist der Nutzer angemeldet? Hat er die Rolle?</a:t>
            </a:r>
          </a:p>
          <a:p>
            <a:pPr>
              <a:defRPr sz="2000" b="0">
                <a:latin typeface="Segoe UI"/>
              </a:defRPr>
            </a:pPr>
            <a:r>
              <a:rPr lang="de-DE" sz="2000" b="0">
                <a:latin typeface="Segoe UI"/>
              </a:rPr>
              <a:t>canActivate: darf die Route betreten werden?</a:t>
            </a:r>
          </a:p>
          <a:p>
            <a:pPr>
              <a:defRPr sz="2000" b="0">
                <a:latin typeface="Segoe UI"/>
              </a:defRPr>
            </a:pPr>
            <a:r>
              <a:rPr lang="de-DE" sz="2000" b="0">
                <a:latin typeface="Segoe UI"/>
              </a:rPr>
              <a:t>canDeactivate: darf sie verlassen werden (ungespeichert)?</a:t>
            </a:r>
          </a:p>
          <a:p>
            <a:pPr>
              <a:defRPr sz="2000" b="0">
                <a:latin typeface="Segoe UI"/>
              </a:defRPr>
            </a:pPr>
            <a:r>
              <a:rPr lang="de-DE" sz="2000" b="0">
                <a:latin typeface="Segoe UI"/>
              </a:rPr>
              <a:t>canMatch: darf diese Route überhaupt passen?</a:t>
            </a:r>
          </a:p>
          <a:p>
            <a:pPr>
              <a:defRPr sz="2000" b="0">
                <a:latin typeface="Segoe UI"/>
              </a:defRPr>
            </a:pPr>
            <a:r>
              <a:rPr lang="de-DE" sz="2000" b="0">
                <a:latin typeface="Segoe UI"/>
              </a:rPr>
              <a:t>Nur Komfort: Der Server muss Zugriffe selbst prüfen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Klick auf Link / URL eingeben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findet passende Route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ruft den Guard auf</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Ergebnis entscheidet</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Guard-Ablauf und Rückgabewerte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Router wartet auf das Ergebnis des Guards</a:t>
            </a:r>
          </a:p>
          <a:p>
            <a:pPr>
              <a:defRPr sz="2000" b="0">
                <a:latin typeface="Segoe UI"/>
              </a:defRPr>
            </a:pPr>
            <a:r>
              <a:rPr lang="de-DE" sz="2000" b="0">
                <a:latin typeface="Segoe UI"/>
              </a:rPr>
              <a:t>true: Navigation geht weiter, Komponente wird angezeigt</a:t>
            </a:r>
          </a:p>
          <a:p>
            <a:pPr>
              <a:defRPr sz="2000" b="0">
                <a:latin typeface="Segoe UI"/>
              </a:defRPr>
            </a:pPr>
            <a:r>
              <a:rPr lang="de-DE" sz="2000" b="0">
                <a:latin typeface="Segoe UI"/>
              </a:rPr>
              <a:t>false: Navigation wird abgebrochen, Seite bleibt</a:t>
            </a:r>
          </a:p>
          <a:p>
            <a:pPr>
              <a:defRPr sz="2000" b="0">
                <a:latin typeface="Segoe UI"/>
              </a:defRPr>
            </a:pPr>
            <a:r>
              <a:rPr lang="de-DE" sz="2000" b="0">
                <a:latin typeface="Segoe UI"/>
              </a:rPr>
              <a:t>UrlTree: Abbruch und Umleitung auf eine andere Adresse</a:t>
            </a:r>
          </a:p>
          <a:p>
            <a:pPr>
              <a:defRPr sz="2000" b="0">
                <a:latin typeface="Segoe UI"/>
              </a:defRPr>
            </a:pPr>
            <a:r>
              <a:rPr lang="de-DE" sz="2000" b="0">
                <a:latin typeface="Segoe UI"/>
              </a:rPr>
              <a:t>Auch asynchron: Observable oder Promise mit diesen Werten</a:t>
            </a:r>
          </a:p>
          <a:p>
            <a:pPr>
              <a:defRPr sz="2000" b="0">
                <a:latin typeface="Segoe UI"/>
              </a:defRPr>
            </a:pPr>
            <a:r>
              <a:rPr lang="de-DE" sz="2000" b="0">
                <a:latin typeface="Segoe UI"/>
              </a:rPr>
              <a:t>Mehrere Guards im Array: alle müssen zustimmen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Guard-Ergebnis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true: Route aktiv</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false: Abbruch</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UrlTree: Umleitung</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Observable / Promise</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Funktionaler Guard: authGuard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inject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CanActivateFn, Router } from '@angular/router';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AuthService } from './auth.service';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authGuard: CanActivateFn = (route, state)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authService = inject(AuthService);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router = inject(Router);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(authService.isLoggedIn())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Umleitung zur Login-Seite, Ziel-URL für später merken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router.createUrlTree(['/login'], { queryParams: { returnUrl: state.url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app.routes.ts – Guard ohne Klammern eintragen: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path: 'customer', component: CustomerListComponent, canActivate: [authGuard] }</a:t>
            </a:r>
            <a:endParaRPr lang="de-DE" sz="1400" b="0" u="none" strike="noStrike">
              <a:solidFill>
                <a:srgbClr val="000000"/>
              </a:solidFill>
              <a:uFillTx/>
              <a:latin typeface="Arial"/>
            </a:endParaRP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Guard leitet zum Login um</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Vorher: nicht angemeldet, Aufruf /customer. Nachher: URL /login, LoginComponent im Outlet.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authGuard</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AuthService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RouterOutlet</a:t>
            </a:r>
          </a:p>
        </p:txBody>
      </p:sp>
      <p:cxnSp>
        <p:nvCxnSpPr>
          <p:cNvPr id="9" name="Connector 8"/>
          <p:cNvCxnSpPr/>
          <p:nvPr/>
        </p:nvCxnSpPr>
        <p:spPr>
          <a:xfrm>
            <a:off x="1889496"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4399"/>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71066"/>
            <a:ext cx="3154248" cy="293333"/>
          </a:xfrm>
          <a:prstGeom prst="rect">
            <a:avLst/>
          </a:prstGeom>
          <a:noFill/>
        </p:spPr>
        <p:txBody>
          <a:bodyPr wrap="square" anchor="b" lIns="70000" rIns="70000" tIns="0" bIns="0">
            <a:spAutoFit/>
          </a:bodyPr>
          <a:lstStyle/>
          <a:p>
            <a:pPr algn="ctr"/>
            <a:r>
              <a:rPr sz="1300" b="0">
                <a:solidFill>
                  <a:srgbClr val="2B3A42"/>
                </a:solidFill>
                <a:latin typeface="Segoe UI"/>
              </a:rPr>
              <a:t>1. Adresse /customer aufgerufen</a:t>
            </a:r>
          </a:p>
        </p:txBody>
      </p:sp>
      <p:cxnSp>
        <p:nvCxnSpPr>
          <p:cNvPr id="16" name="Connector 15"/>
          <p:cNvCxnSpPr/>
          <p:nvPr/>
        </p:nvCxnSpPr>
        <p:spPr>
          <a:xfrm>
            <a:off x="3992328" y="2803466"/>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72328" y="2803466"/>
            <a:ext cx="0" cy="134266"/>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012328" y="2937732"/>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22328" y="2656800"/>
            <a:ext cx="1602832" cy="293333"/>
          </a:xfrm>
          <a:prstGeom prst="rect">
            <a:avLst/>
          </a:prstGeom>
          <a:noFill/>
        </p:spPr>
        <p:txBody>
          <a:bodyPr wrap="square" anchor="ctr" lIns="70000" rIns="70000" tIns="0" bIns="0">
            <a:spAutoFit/>
          </a:bodyPr>
          <a:lstStyle/>
          <a:p>
            <a:pPr algn="l"/>
            <a:r>
              <a:rPr sz="1300" b="0">
                <a:solidFill>
                  <a:srgbClr val="2B3A42"/>
                </a:solidFill>
                <a:latin typeface="Segoe UI"/>
              </a:rPr>
              <a:t>2. Route 'customer' passt</a:t>
            </a:r>
          </a:p>
        </p:txBody>
      </p:sp>
      <p:cxnSp>
        <p:nvCxnSpPr>
          <p:cNvPr id="20" name="Connector 19"/>
          <p:cNvCxnSpPr/>
          <p:nvPr/>
        </p:nvCxnSpPr>
        <p:spPr>
          <a:xfrm>
            <a:off x="3992328" y="3291065"/>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2977732"/>
            <a:ext cx="3154248" cy="293333"/>
          </a:xfrm>
          <a:prstGeom prst="rect">
            <a:avLst/>
          </a:prstGeom>
          <a:noFill/>
        </p:spPr>
        <p:txBody>
          <a:bodyPr wrap="square" anchor="b" lIns="70000" rIns="70000" tIns="0" bIns="0">
            <a:spAutoFit/>
          </a:bodyPr>
          <a:lstStyle/>
          <a:p>
            <a:pPr algn="ctr"/>
            <a:r>
              <a:rPr sz="1300" b="0">
                <a:solidFill>
                  <a:srgbClr val="2B3A42"/>
                </a:solidFill>
                <a:latin typeface="Segoe UI"/>
              </a:rPr>
              <a:t>3. authGuard(route, state)</a:t>
            </a:r>
          </a:p>
        </p:txBody>
      </p:sp>
      <p:cxnSp>
        <p:nvCxnSpPr>
          <p:cNvPr id="22" name="Connector 21"/>
          <p:cNvCxnSpPr/>
          <p:nvPr/>
        </p:nvCxnSpPr>
        <p:spPr>
          <a:xfrm>
            <a:off x="6095160" y="3644398"/>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331065"/>
            <a:ext cx="3154248" cy="293333"/>
          </a:xfrm>
          <a:prstGeom prst="rect">
            <a:avLst/>
          </a:prstGeom>
          <a:noFill/>
        </p:spPr>
        <p:txBody>
          <a:bodyPr wrap="square" anchor="b" lIns="70000" rIns="70000" tIns="0" bIns="0">
            <a:spAutoFit/>
          </a:bodyPr>
          <a:lstStyle/>
          <a:p>
            <a:pPr algn="ctr"/>
            <a:r>
              <a:rPr sz="1300" b="0">
                <a:solidFill>
                  <a:srgbClr val="2B3A42"/>
                </a:solidFill>
                <a:latin typeface="Segoe UI"/>
              </a:rPr>
              <a:t>4. isLoggedIn()</a:t>
            </a:r>
          </a:p>
        </p:txBody>
      </p:sp>
      <p:cxnSp>
        <p:nvCxnSpPr>
          <p:cNvPr id="24" name="Connector 23"/>
          <p:cNvCxnSpPr/>
          <p:nvPr/>
        </p:nvCxnSpPr>
        <p:spPr>
          <a:xfrm flipH="1">
            <a:off x="6115160" y="3997731"/>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69452" y="3684398"/>
            <a:ext cx="3154248" cy="293333"/>
          </a:xfrm>
          <a:prstGeom prst="rect">
            <a:avLst/>
          </a:prstGeom>
          <a:noFill/>
        </p:spPr>
        <p:txBody>
          <a:bodyPr wrap="square" anchor="b" lIns="70000" rIns="70000" tIns="0" bIns="0">
            <a:spAutoFit/>
          </a:bodyPr>
          <a:lstStyle/>
          <a:p>
            <a:pPr algn="ctr"/>
            <a:r>
              <a:rPr sz="1300" b="0">
                <a:solidFill>
                  <a:srgbClr val="404B52"/>
                </a:solidFill>
                <a:latin typeface="Segoe UI"/>
              </a:rPr>
              <a:t>5. false</a:t>
            </a:r>
          </a:p>
        </p:txBody>
      </p:sp>
      <p:cxnSp>
        <p:nvCxnSpPr>
          <p:cNvPr id="26" name="Connector 25"/>
          <p:cNvCxnSpPr/>
          <p:nvPr/>
        </p:nvCxnSpPr>
        <p:spPr>
          <a:xfrm flipH="1">
            <a:off x="4012328" y="4351064"/>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466620" y="4037731"/>
            <a:ext cx="3154248" cy="293333"/>
          </a:xfrm>
          <a:prstGeom prst="rect">
            <a:avLst/>
          </a:prstGeom>
          <a:noFill/>
        </p:spPr>
        <p:txBody>
          <a:bodyPr wrap="square" anchor="b" lIns="70000" rIns="70000" tIns="0" bIns="0">
            <a:spAutoFit/>
          </a:bodyPr>
          <a:lstStyle/>
          <a:p>
            <a:pPr algn="ctr"/>
            <a:r>
              <a:rPr sz="1300" b="0">
                <a:solidFill>
                  <a:srgbClr val="404B52"/>
                </a:solidFill>
                <a:latin typeface="Segoe UI"/>
              </a:rPr>
              <a:t>6. UrlTree '/login'</a:t>
            </a:r>
          </a:p>
        </p:txBody>
      </p:sp>
      <p:cxnSp>
        <p:nvCxnSpPr>
          <p:cNvPr id="28" name="Connector 27"/>
          <p:cNvCxnSpPr/>
          <p:nvPr/>
        </p:nvCxnSpPr>
        <p:spPr>
          <a:xfrm>
            <a:off x="3992328" y="4570131"/>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372328" y="4570131"/>
            <a:ext cx="0" cy="134266"/>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4012328" y="4704397"/>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422328" y="4423465"/>
            <a:ext cx="1602832" cy="293333"/>
          </a:xfrm>
          <a:prstGeom prst="rect">
            <a:avLst/>
          </a:prstGeom>
          <a:noFill/>
        </p:spPr>
        <p:txBody>
          <a:bodyPr wrap="square" anchor="ctr" lIns="70000" rIns="70000" tIns="0" bIns="0">
            <a:spAutoFit/>
          </a:bodyPr>
          <a:lstStyle/>
          <a:p>
            <a:pPr algn="l"/>
            <a:r>
              <a:rPr sz="1300" b="0">
                <a:solidFill>
                  <a:srgbClr val="2B3A42"/>
                </a:solidFill>
                <a:latin typeface="Segoe UI"/>
              </a:rPr>
              <a:t>7. Abbruch, neue Navigation /login</a:t>
            </a:r>
          </a:p>
        </p:txBody>
      </p:sp>
      <p:cxnSp>
        <p:nvCxnSpPr>
          <p:cNvPr id="32" name="Connector 31"/>
          <p:cNvCxnSpPr/>
          <p:nvPr/>
        </p:nvCxnSpPr>
        <p:spPr>
          <a:xfrm>
            <a:off x="3992328" y="505773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022328" y="4744397"/>
            <a:ext cx="6248496" cy="293333"/>
          </a:xfrm>
          <a:prstGeom prst="rect">
            <a:avLst/>
          </a:prstGeom>
          <a:noFill/>
        </p:spPr>
        <p:txBody>
          <a:bodyPr wrap="square" anchor="b" lIns="70000" rIns="70000" tIns="0" bIns="0">
            <a:spAutoFit/>
          </a:bodyPr>
          <a:lstStyle/>
          <a:p>
            <a:pPr algn="ctr"/>
            <a:r>
              <a:rPr sz="1300" b="0">
                <a:solidFill>
                  <a:srgbClr val="2B3A42"/>
                </a:solidFill>
                <a:latin typeface="Segoe UI"/>
              </a:rPr>
              <a:t>8. LoginComponent anzeigen</a:t>
            </a:r>
          </a:p>
        </p:txBody>
      </p:sp>
      <p:cxnSp>
        <p:nvCxnSpPr>
          <p:cNvPr id="34" name="Connector 33"/>
          <p:cNvCxnSpPr/>
          <p:nvPr/>
        </p:nvCxnSpPr>
        <p:spPr>
          <a:xfrm flipH="1">
            <a:off x="1909496" y="5411063"/>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363788" y="5097730"/>
            <a:ext cx="3154248" cy="293333"/>
          </a:xfrm>
          <a:prstGeom prst="rect">
            <a:avLst/>
          </a:prstGeom>
          <a:noFill/>
        </p:spPr>
        <p:txBody>
          <a:bodyPr wrap="square" anchor="b" lIns="70000" rIns="70000" tIns="0" bIns="0">
            <a:spAutoFit/>
          </a:bodyPr>
          <a:lstStyle/>
          <a:p>
            <a:pPr algn="ctr"/>
            <a:r>
              <a:rPr sz="1300" b="0">
                <a:solidFill>
                  <a:srgbClr val="404B52"/>
                </a:solidFill>
                <a:latin typeface="Segoe UI"/>
              </a:rPr>
              <a:t>9. Adressleiste: /login</a:t>
            </a:r>
          </a:p>
        </p:txBody>
      </p:sp>
      <p:sp>
        <p:nvSpPr>
          <p:cNvPr id="36" name="TextBox 35"/>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Die CustomerListComponent wird gar nicht erst erzeugt</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Nach dem Login zur Kundenliste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Vorher: URL /login, LoginComponent im Outlet. Nachher: URL /customer, CustomerList im Outlet.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LoginComponent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AuthService</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authGuard</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RouterOutlet</a:t>
            </a:r>
          </a:p>
        </p:txBody>
      </p:sp>
      <p:cxnSp>
        <p:nvCxnSpPr>
          <p:cNvPr id="9" name="Connector 8"/>
          <p:cNvCxnSpPr/>
          <p:nvPr/>
        </p:nvCxnSpPr>
        <p:spPr>
          <a:xfrm>
            <a:off x="1889496"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4399"/>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71066"/>
            <a:ext cx="3154248" cy="293333"/>
          </a:xfrm>
          <a:prstGeom prst="rect">
            <a:avLst/>
          </a:prstGeom>
          <a:noFill/>
        </p:spPr>
        <p:txBody>
          <a:bodyPr wrap="square" anchor="b" lIns="70000" rIns="70000" tIns="0" bIns="0">
            <a:spAutoFit/>
          </a:bodyPr>
          <a:lstStyle/>
          <a:p>
            <a:pPr algn="ctr"/>
            <a:r>
              <a:rPr sz="1300" b="0">
                <a:solidFill>
                  <a:srgbClr val="2B3A42"/>
                </a:solidFill>
                <a:latin typeface="Segoe UI"/>
              </a:rPr>
              <a:t>1. login()</a:t>
            </a:r>
          </a:p>
        </p:txBody>
      </p:sp>
      <p:cxnSp>
        <p:nvCxnSpPr>
          <p:cNvPr id="16" name="Connector 15"/>
          <p:cNvCxnSpPr/>
          <p:nvPr/>
        </p:nvCxnSpPr>
        <p:spPr>
          <a:xfrm>
            <a:off x="3992328" y="2803466"/>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72328" y="2803466"/>
            <a:ext cx="0" cy="134266"/>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012328" y="2937732"/>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22328" y="2656800"/>
            <a:ext cx="1602832" cy="293333"/>
          </a:xfrm>
          <a:prstGeom prst="rect">
            <a:avLst/>
          </a:prstGeom>
          <a:noFill/>
        </p:spPr>
        <p:txBody>
          <a:bodyPr wrap="square" anchor="ctr" lIns="70000" rIns="70000" tIns="0" bIns="0">
            <a:spAutoFit/>
          </a:bodyPr>
          <a:lstStyle/>
          <a:p>
            <a:pPr algn="l"/>
            <a:r>
              <a:rPr sz="1300" b="0">
                <a:solidFill>
                  <a:srgbClr val="2B3A42"/>
                </a:solidFill>
                <a:latin typeface="Segoe UI"/>
              </a:rPr>
              <a:t>2. loggedIn.set(true)</a:t>
            </a:r>
          </a:p>
        </p:txBody>
      </p:sp>
      <p:cxnSp>
        <p:nvCxnSpPr>
          <p:cNvPr id="20" name="Connector 19"/>
          <p:cNvCxnSpPr/>
          <p:nvPr/>
        </p:nvCxnSpPr>
        <p:spPr>
          <a:xfrm>
            <a:off x="1889496" y="3291065"/>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919496" y="2977732"/>
            <a:ext cx="4145664" cy="293333"/>
          </a:xfrm>
          <a:prstGeom prst="rect">
            <a:avLst/>
          </a:prstGeom>
          <a:noFill/>
        </p:spPr>
        <p:txBody>
          <a:bodyPr wrap="square" anchor="b" lIns="70000" rIns="70000" tIns="0" bIns="0">
            <a:spAutoFit/>
          </a:bodyPr>
          <a:lstStyle/>
          <a:p>
            <a:pPr algn="ctr"/>
            <a:r>
              <a:rPr sz="1300" b="0">
                <a:solidFill>
                  <a:srgbClr val="2B3A42"/>
                </a:solidFill>
                <a:latin typeface="Segoe UI"/>
              </a:rPr>
              <a:t>3. navigate(['/customer'])</a:t>
            </a:r>
          </a:p>
        </p:txBody>
      </p:sp>
      <p:cxnSp>
        <p:nvCxnSpPr>
          <p:cNvPr id="22" name="Connector 21"/>
          <p:cNvCxnSpPr/>
          <p:nvPr/>
        </p:nvCxnSpPr>
        <p:spPr>
          <a:xfrm>
            <a:off x="6095160" y="3644398"/>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331065"/>
            <a:ext cx="3154248" cy="293333"/>
          </a:xfrm>
          <a:prstGeom prst="rect">
            <a:avLst/>
          </a:prstGeom>
          <a:noFill/>
        </p:spPr>
        <p:txBody>
          <a:bodyPr wrap="square" anchor="b" lIns="70000" rIns="70000" tIns="0" bIns="0">
            <a:spAutoFit/>
          </a:bodyPr>
          <a:lstStyle/>
          <a:p>
            <a:pPr algn="ctr"/>
            <a:r>
              <a:rPr sz="1300" b="0">
                <a:solidFill>
                  <a:srgbClr val="2B3A42"/>
                </a:solidFill>
                <a:latin typeface="Segoe UI"/>
              </a:rPr>
              <a:t>4. authGuard(route, state)</a:t>
            </a:r>
          </a:p>
        </p:txBody>
      </p:sp>
      <p:cxnSp>
        <p:nvCxnSpPr>
          <p:cNvPr id="24" name="Connector 23"/>
          <p:cNvCxnSpPr/>
          <p:nvPr/>
        </p:nvCxnSpPr>
        <p:spPr>
          <a:xfrm flipH="1">
            <a:off x="4012328" y="3997731"/>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22328" y="3684398"/>
            <a:ext cx="4145664" cy="293333"/>
          </a:xfrm>
          <a:prstGeom prst="rect">
            <a:avLst/>
          </a:prstGeom>
          <a:noFill/>
        </p:spPr>
        <p:txBody>
          <a:bodyPr wrap="square" anchor="b" lIns="70000" rIns="70000" tIns="0" bIns="0">
            <a:spAutoFit/>
          </a:bodyPr>
          <a:lstStyle/>
          <a:p>
            <a:pPr algn="ctr"/>
            <a:r>
              <a:rPr sz="1300" b="0">
                <a:solidFill>
                  <a:srgbClr val="2B3A42"/>
                </a:solidFill>
                <a:latin typeface="Segoe UI"/>
              </a:rPr>
              <a:t>5. isLoggedIn()</a:t>
            </a:r>
          </a:p>
        </p:txBody>
      </p:sp>
      <p:cxnSp>
        <p:nvCxnSpPr>
          <p:cNvPr id="26" name="Connector 25"/>
          <p:cNvCxnSpPr/>
          <p:nvPr/>
        </p:nvCxnSpPr>
        <p:spPr>
          <a:xfrm>
            <a:off x="3992328" y="4351064"/>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22328" y="4037731"/>
            <a:ext cx="4145664" cy="293333"/>
          </a:xfrm>
          <a:prstGeom prst="rect">
            <a:avLst/>
          </a:prstGeom>
          <a:noFill/>
        </p:spPr>
        <p:txBody>
          <a:bodyPr wrap="square" anchor="b" lIns="70000" rIns="70000" tIns="0" bIns="0">
            <a:spAutoFit/>
          </a:bodyPr>
          <a:lstStyle/>
          <a:p>
            <a:pPr algn="ctr"/>
            <a:r>
              <a:rPr sz="1300" b="0">
                <a:solidFill>
                  <a:srgbClr val="404B52"/>
                </a:solidFill>
                <a:latin typeface="Segoe UI"/>
              </a:rPr>
              <a:t>6. true</a:t>
            </a:r>
          </a:p>
        </p:txBody>
      </p:sp>
      <p:cxnSp>
        <p:nvCxnSpPr>
          <p:cNvPr id="28" name="Connector 27"/>
          <p:cNvCxnSpPr/>
          <p:nvPr/>
        </p:nvCxnSpPr>
        <p:spPr>
          <a:xfrm flipH="1">
            <a:off x="6115160" y="4704397"/>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69452" y="4391064"/>
            <a:ext cx="3154248" cy="293333"/>
          </a:xfrm>
          <a:prstGeom prst="rect">
            <a:avLst/>
          </a:prstGeom>
          <a:noFill/>
        </p:spPr>
        <p:txBody>
          <a:bodyPr wrap="square" anchor="b" lIns="70000" rIns="70000" tIns="0" bIns="0">
            <a:spAutoFit/>
          </a:bodyPr>
          <a:lstStyle/>
          <a:p>
            <a:pPr algn="ctr"/>
            <a:r>
              <a:rPr sz="1300" b="0">
                <a:solidFill>
                  <a:srgbClr val="404B52"/>
                </a:solidFill>
                <a:latin typeface="Segoe UI"/>
              </a:rPr>
              <a:t>7. true</a:t>
            </a:r>
          </a:p>
        </p:txBody>
      </p:sp>
      <p:cxnSp>
        <p:nvCxnSpPr>
          <p:cNvPr id="30" name="Connector 29"/>
          <p:cNvCxnSpPr/>
          <p:nvPr/>
        </p:nvCxnSpPr>
        <p:spPr>
          <a:xfrm>
            <a:off x="6095160" y="505773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25160" y="4744397"/>
            <a:ext cx="4145664" cy="293333"/>
          </a:xfrm>
          <a:prstGeom prst="rect">
            <a:avLst/>
          </a:prstGeom>
          <a:noFill/>
        </p:spPr>
        <p:txBody>
          <a:bodyPr wrap="square" anchor="b" lIns="70000" rIns="70000" tIns="0" bIns="0">
            <a:spAutoFit/>
          </a:bodyPr>
          <a:lstStyle/>
          <a:p>
            <a:pPr algn="ctr"/>
            <a:r>
              <a:rPr sz="1300" b="0">
                <a:solidFill>
                  <a:srgbClr val="2B3A42"/>
                </a:solidFill>
                <a:latin typeface="Segoe UI"/>
              </a:rPr>
              <a:t>8. LoginComponent entfernen</a:t>
            </a:r>
          </a:p>
        </p:txBody>
      </p:sp>
      <p:cxnSp>
        <p:nvCxnSpPr>
          <p:cNvPr id="32" name="Connector 31"/>
          <p:cNvCxnSpPr/>
          <p:nvPr/>
        </p:nvCxnSpPr>
        <p:spPr>
          <a:xfrm>
            <a:off x="6095160" y="5411063"/>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125160" y="5097730"/>
            <a:ext cx="4145664" cy="293333"/>
          </a:xfrm>
          <a:prstGeom prst="rect">
            <a:avLst/>
          </a:prstGeom>
          <a:noFill/>
        </p:spPr>
        <p:txBody>
          <a:bodyPr wrap="square" anchor="b" lIns="70000" rIns="70000" tIns="0" bIns="0">
            <a:spAutoFit/>
          </a:bodyPr>
          <a:lstStyle/>
          <a:p>
            <a:pPr algn="ctr"/>
            <a:r>
              <a:rPr sz="1300" b="0">
                <a:solidFill>
                  <a:srgbClr val="2B3A42"/>
                </a:solidFill>
                <a:latin typeface="Segoe UI"/>
              </a:rPr>
              <a:t>9. CustomerListComponent zeigen</a:t>
            </a:r>
          </a:p>
        </p:txBody>
      </p:sp>
      <p:sp>
        <p:nvSpPr>
          <p:cNvPr id="34" name="TextBox 33"/>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Guard und LoginComponent nutzen dieselbe AuthService-Instanz (providedIn: 'root')</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Parameter route und state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Router ruft den Guard bei jeder Navigation zur Route auf</a:t>
            </a:r>
          </a:p>
          <a:p>
            <a:pPr>
              <a:defRPr sz="2000" b="0">
                <a:latin typeface="Segoe UI"/>
              </a:defRPr>
            </a:pPr>
            <a:r>
              <a:rPr lang="de-DE" sz="2000" b="0">
                <a:latin typeface="Segoe UI"/>
              </a:rPr>
              <a:t>route: Schnappschuss der Zielroute (ActivatedRouteSnapshot)</a:t>
            </a:r>
          </a:p>
          <a:p>
            <a:pPr lvl="1">
              <a:defRPr sz="1700" b="0">
                <a:latin typeface="Segoe UI"/>
              </a:defRPr>
            </a:pPr>
            <a:r>
              <a:rPr lang="de-DE" sz="1700" b="0">
                <a:latin typeface="Segoe UI"/>
              </a:rPr>
              <a:t>route.params, route.queryParams, route.data</a:t>
            </a:r>
          </a:p>
          <a:p>
            <a:pPr>
              <a:defRPr sz="2000" b="0">
                <a:latin typeface="Segoe UI"/>
              </a:defRPr>
            </a:pPr>
            <a:r>
              <a:rPr lang="de-DE" sz="2000" b="0">
                <a:latin typeface="Segoe UI"/>
              </a:rPr>
              <a:t>state: Zustand des gesamten Ziels (RouterStateSnapshot)</a:t>
            </a:r>
          </a:p>
          <a:p>
            <a:pPr lvl="1">
              <a:defRPr sz="1700" b="0">
                <a:latin typeface="Segoe UI"/>
              </a:defRPr>
            </a:pPr>
            <a:r>
              <a:rPr lang="de-DE" sz="1700" b="0">
                <a:latin typeface="Segoe UI"/>
              </a:rPr>
              <a:t>state.url: komplette Ziel-Adresse als Text</a:t>
            </a:r>
          </a:p>
          <a:p>
            <a:pPr>
              <a:defRPr sz="2000" b="0">
                <a:latin typeface="Segoe UI"/>
              </a:defRPr>
            </a:pPr>
            <a:r>
              <a:rPr lang="de-DE" sz="2000" b="0">
                <a:latin typeface="Segoe UI"/>
              </a:rPr>
              <a:t>Nicht benötigte Parameter darf man weglassen: () =&gt; …</a:t>
            </a:r>
          </a:p>
          <a:p>
            <a:pPr>
              <a:defRPr sz="2000" b="0">
                <a:latin typeface="Segoe UI"/>
              </a:defRPr>
            </a:pPr>
            <a:r>
              <a:rPr lang="de-DE" sz="2000" b="0">
                <a:latin typeface="Segoe UI"/>
              </a:rPr>
              <a:t>inject() geht, weil der Router im Injection Context aufruft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Signatur von CanActivateFn</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type CanActivateFn = (</a:t>
            </a:r>
          </a:p>
          <a:p>
            <a:pPr algn="l"/>
            <a:r>
              <a:rPr sz="1500" b="0">
                <a:solidFill>
                  <a:srgbClr val="2B3A42"/>
                </a:solidFill>
                <a:latin typeface="Consolas"/>
              </a:rPr>
              <a:t>  route: ActivatedRouteSnapshot,</a:t>
            </a:r>
          </a:p>
          <a:p>
            <a:pPr algn="l"/>
            <a:r>
              <a:rPr sz="1500" b="0">
                <a:solidFill>
                  <a:srgbClr val="2B3A42"/>
                </a:solidFill>
                <a:latin typeface="Consolas"/>
              </a:rPr>
              <a:t>  state: RouterStateSnapshot</a:t>
            </a:r>
          </a:p>
          <a:p>
            <a:pPr algn="l"/>
            <a:r>
              <a:rPr sz="1500" b="0">
                <a:solidFill>
                  <a:srgbClr val="2B3A42"/>
                </a:solidFill>
                <a:latin typeface="Consolas"/>
              </a:rPr>
              <a:t>) =&gt; MaybeAsync&lt;GuardResult&gt;;</a:t>
            </a:r>
          </a:p>
          <a:p>
            <a:pPr algn="l"/>
            <a:r>
              <a:rPr sz="1500" b="0">
                <a:solidFill>
                  <a:srgbClr val="2B3A42"/>
                </a:solidFill>
                <a:latin typeface="Consolas"/>
              </a:rPr>
              <a:t/>
            </a:r>
          </a:p>
          <a:p>
            <a:pPr algn="l"/>
            <a:r>
              <a:rPr sz="1500" b="0">
                <a:solidFill>
                  <a:srgbClr val="2B3A42"/>
                </a:solidFill>
                <a:latin typeface="Consolas"/>
              </a:rPr>
              <a:t>// GuardResult:</a:t>
            </a:r>
          </a:p>
          <a:p>
            <a:pPr algn="l"/>
            <a:r>
              <a:rPr sz="1500" b="0">
                <a:solidFill>
                  <a:srgbClr val="2B3A42"/>
                </a:solidFill>
                <a:latin typeface="Consolas"/>
              </a:rPr>
              <a:t>//   boolean | UrlTree</a:t>
            </a:r>
          </a:p>
          <a:p>
            <a:pPr algn="l"/>
            <a:r>
              <a:rPr sz="1500" b="0">
                <a:solidFill>
                  <a:srgbClr val="2B3A42"/>
                </a:solidFill>
                <a:latin typeface="Consolas"/>
              </a:rPr>
              <a:t>//   | RedirectCommand</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UrlTree statt router.navigate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Möglich: router.navigate(['/login']) und dann return false</a:t>
            </a:r>
          </a:p>
          <a:p>
            <a:pPr lvl="1">
              <a:defRPr sz="1700" b="0">
                <a:latin typeface="Segoe UI"/>
              </a:defRPr>
            </a:pPr>
            <a:r>
              <a:rPr lang="de-DE" sz="1700" b="0">
                <a:latin typeface="Segoe UI"/>
              </a:rPr>
              <a:t>Startet eine zweite Navigation, während die erste noch läuft</a:t>
            </a:r>
          </a:p>
          <a:p>
            <a:pPr>
              <a:defRPr sz="2000" b="0">
                <a:latin typeface="Segoe UI"/>
              </a:defRPr>
            </a:pPr>
            <a:r>
              <a:rPr lang="de-DE" sz="2000" b="0">
                <a:latin typeface="Segoe UI"/>
              </a:rPr>
              <a:t>Besser: return router.createUrlTree(['/login'])</a:t>
            </a:r>
          </a:p>
          <a:p>
            <a:pPr lvl="1">
              <a:defRPr sz="1700" b="0">
                <a:latin typeface="Segoe UI"/>
              </a:defRPr>
            </a:pPr>
            <a:r>
              <a:rPr lang="de-DE" sz="1700" b="0">
                <a:latin typeface="Segoe UI"/>
              </a:rPr>
              <a:t>Router bricht ab und leitet in einem Schritt um</a:t>
            </a:r>
          </a:p>
          <a:p>
            <a:pPr lvl="1">
              <a:defRPr sz="1700" b="0">
                <a:latin typeface="Segoe UI"/>
              </a:defRPr>
            </a:pPr>
            <a:r>
              <a:rPr lang="de-DE" sz="1700" b="0">
                <a:latin typeface="Segoe UI"/>
              </a:rPr>
              <a:t>Bei mehreren Guards entscheidet der Router sauber</a:t>
            </a:r>
          </a:p>
          <a:p>
            <a:pPr lvl="1">
              <a:defRPr sz="1700" b="0">
                <a:latin typeface="Segoe UI"/>
              </a:defRPr>
            </a:pPr>
            <a:r>
              <a:rPr lang="de-DE" sz="1700" b="0">
                <a:latin typeface="Segoe UI"/>
              </a:rPr>
              <a:t>Leicht testbar: Rückgabewert prüfen statt Aufruf</a:t>
            </a:r>
          </a:p>
          <a:p>
            <a:pPr>
              <a:defRPr sz="2000" b="0">
                <a:latin typeface="Segoe UI"/>
              </a:defRPr>
            </a:pPr>
            <a:r>
              <a:rPr lang="de-DE" sz="2000" b="0">
                <a:latin typeface="Segoe UI"/>
              </a:rPr>
              <a:t>Musterlösung 25 nutzt navigate – beides funktioniert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UrlTree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 Schritt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 entscheidet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gut testbar</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navigate + false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zwei Navigationen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Guard steuert selbst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Seiteneffekt</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HTTP-Interceptors: Wozu?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Interceptor: Funktion, durch die jede HttpClient-Anfrage läuft</a:t>
            </a:r>
          </a:p>
          <a:p>
            <a:pPr>
              <a:defRPr sz="2000" b="0">
                <a:latin typeface="Segoe UI"/>
              </a:defRPr>
            </a:pPr>
            <a:r>
              <a:rPr lang="de-DE" sz="2000" b="0">
                <a:latin typeface="Segoe UI"/>
              </a:rPr>
              <a:t>Querschnittsaufgaben an einer zentralen Stelle:</a:t>
            </a:r>
          </a:p>
          <a:p>
            <a:pPr lvl="1">
              <a:defRPr sz="1700" b="0">
                <a:latin typeface="Segoe UI"/>
              </a:defRPr>
            </a:pPr>
            <a:r>
              <a:rPr lang="de-DE" sz="1700" b="0">
                <a:latin typeface="Segoe UI"/>
              </a:rPr>
              <a:t>Token in den Authorization-Header schreiben</a:t>
            </a:r>
          </a:p>
          <a:p>
            <a:pPr lvl="1">
              <a:defRPr sz="1700" b="0">
                <a:latin typeface="Segoe UI"/>
              </a:defRPr>
            </a:pPr>
            <a:r>
              <a:rPr lang="de-DE" sz="1700" b="0">
                <a:latin typeface="Segoe UI"/>
              </a:rPr>
              <a:t>Anfragen und Antwortzeiten protokollieren</a:t>
            </a:r>
          </a:p>
          <a:p>
            <a:pPr lvl="1">
              <a:defRPr sz="1700" b="0">
                <a:latin typeface="Segoe UI"/>
              </a:defRPr>
            </a:pPr>
            <a:r>
              <a:rPr lang="de-DE" sz="1700" b="0">
                <a:latin typeface="Segoe UI"/>
              </a:rPr>
              <a:t>Fehler zentral behandeln, z. B. 401 → Login</a:t>
            </a:r>
          </a:p>
          <a:p>
            <a:pPr lvl="1">
              <a:defRPr sz="1700" b="0">
                <a:latin typeface="Segoe UI"/>
              </a:defRPr>
            </a:pPr>
            <a:r>
              <a:rPr lang="de-DE" sz="1700" b="0">
                <a:latin typeface="Segoe UI"/>
              </a:rPr>
              <a:t>Ladeanzeige ein- und ausschalten</a:t>
            </a:r>
          </a:p>
          <a:p>
            <a:pPr>
              <a:defRPr sz="2000" b="0">
                <a:latin typeface="Segoe UI"/>
              </a:defRPr>
            </a:pPr>
            <a:r>
              <a:rPr lang="de-DE" sz="2000" b="0">
                <a:latin typeface="Segoe UI"/>
              </a:rPr>
              <a:t>Komponenten und Services bleiben frei davon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http.get()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Interceptor 1: Logging</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Interceptor 2: Auth-Header</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Backend (Server)</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Antwort läuft zurück</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Interceptor-Kette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Reihenfolge = Reihenfolge im Array von withInterceptors</a:t>
            </a:r>
          </a:p>
          <a:p>
            <a:pPr>
              <a:defRPr sz="2000" b="0">
                <a:latin typeface="Segoe UI"/>
              </a:defRPr>
            </a:pPr>
            <a:r>
              <a:rPr lang="de-DE" sz="2000" b="0">
                <a:latin typeface="Segoe UI"/>
              </a:rPr>
              <a:t>Anfrage läuft vorwärts: 1 → 2 → Backend</a:t>
            </a:r>
          </a:p>
          <a:p>
            <a:pPr>
              <a:defRPr sz="2000" b="0">
                <a:latin typeface="Segoe UI"/>
              </a:defRPr>
            </a:pPr>
            <a:r>
              <a:rPr lang="de-DE" sz="2000" b="0">
                <a:latin typeface="Segoe UI"/>
              </a:rPr>
              <a:t>Antwort läuft rückwärts: Backend → 2 → 1 → Aufrufer</a:t>
            </a:r>
          </a:p>
          <a:p>
            <a:pPr>
              <a:defRPr sz="2000" b="0">
                <a:latin typeface="Segoe UI"/>
              </a:defRPr>
            </a:pPr>
            <a:r>
              <a:rPr lang="de-DE" sz="2000" b="0">
                <a:latin typeface="Segoe UI"/>
              </a:rPr>
              <a:t>Jeder Interceptor entscheidet selbst:</a:t>
            </a:r>
          </a:p>
          <a:p>
            <a:pPr lvl="1">
              <a:defRPr sz="1700" b="0">
                <a:latin typeface="Segoe UI"/>
              </a:defRPr>
            </a:pPr>
            <a:r>
              <a:rPr lang="de-DE" sz="1700" b="0">
                <a:latin typeface="Segoe UI"/>
              </a:rPr>
              <a:t>unverändert weiterreichen: next(req)</a:t>
            </a:r>
          </a:p>
          <a:p>
            <a:pPr lvl="1">
              <a:defRPr sz="1700" b="0">
                <a:latin typeface="Segoe UI"/>
              </a:defRPr>
            </a:pPr>
            <a:r>
              <a:rPr lang="de-DE" sz="1700" b="0">
                <a:latin typeface="Segoe UI"/>
              </a:rPr>
              <a:t>verändert weiterreichen: next(req.clone(…))</a:t>
            </a:r>
          </a:p>
          <a:p>
            <a:pPr lvl="1">
              <a:defRPr sz="1700" b="0">
                <a:latin typeface="Segoe UI"/>
              </a:defRPr>
            </a:pPr>
            <a:r>
              <a:rPr lang="de-DE" sz="1700" b="0">
                <a:latin typeface="Segoe UI"/>
              </a:rPr>
              <a:t>Antwort beobachten oder umbauen: next(req).pipe(…)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withInterceptors([logging, auth])</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Anfrage (vorwärts):</a:t>
            </a:r>
          </a:p>
          <a:p>
            <a:pPr algn="l"/>
            <a:r>
              <a:rPr sz="1300" b="0">
                <a:solidFill>
                  <a:srgbClr val="2B3A42"/>
                </a:solidFill>
                <a:latin typeface="Consolas"/>
              </a:rPr>
              <a:t>  Aufrufer</a:t>
            </a:r>
          </a:p>
          <a:p>
            <a:pPr algn="l"/>
            <a:r>
              <a:rPr sz="1300" b="0">
                <a:solidFill>
                  <a:srgbClr val="2B3A42"/>
                </a:solidFill>
                <a:latin typeface="Consolas"/>
              </a:rPr>
              <a:t>  → loggingInterceptor</a:t>
            </a:r>
          </a:p>
          <a:p>
            <a:pPr algn="l"/>
            <a:r>
              <a:rPr sz="1300" b="0">
                <a:solidFill>
                  <a:srgbClr val="2B3A42"/>
                </a:solidFill>
                <a:latin typeface="Consolas"/>
              </a:rPr>
              <a:t>  → authInterceptor</a:t>
            </a:r>
          </a:p>
          <a:p>
            <a:pPr algn="l"/>
            <a:r>
              <a:rPr sz="1300" b="0">
                <a:solidFill>
                  <a:srgbClr val="2B3A42"/>
                </a:solidFill>
                <a:latin typeface="Consolas"/>
              </a:rPr>
              <a:t>  → Backend</a:t>
            </a:r>
          </a:p>
          <a:p>
            <a:pPr algn="l"/>
            <a:r>
              <a:rPr sz="1300" b="0">
                <a:solidFill>
                  <a:srgbClr val="2B3A42"/>
                </a:solidFill>
                <a:latin typeface="Consolas"/>
              </a:rPr>
              <a:t/>
            </a:r>
          </a:p>
          <a:p>
            <a:pPr algn="l"/>
            <a:r>
              <a:rPr sz="1300" b="0">
                <a:solidFill>
                  <a:srgbClr val="2B3A42"/>
                </a:solidFill>
                <a:latin typeface="Consolas"/>
              </a:rPr>
              <a:t>Antwort (rückwärts):</a:t>
            </a:r>
          </a:p>
          <a:p>
            <a:pPr algn="l"/>
            <a:r>
              <a:rPr sz="1300" b="0">
                <a:solidFill>
                  <a:srgbClr val="2B3A42"/>
                </a:solidFill>
                <a:latin typeface="Consolas"/>
              </a:rPr>
              <a:t>  Backend</a:t>
            </a:r>
          </a:p>
          <a:p>
            <a:pPr algn="l"/>
            <a:r>
              <a:rPr sz="1300" b="0">
                <a:solidFill>
                  <a:srgbClr val="2B3A42"/>
                </a:solidFill>
                <a:latin typeface="Consolas"/>
              </a:rPr>
              <a:t>  → authInterceptor</a:t>
            </a:r>
          </a:p>
          <a:p>
            <a:pPr algn="l"/>
            <a:r>
              <a:rPr sz="1300" b="0">
                <a:solidFill>
                  <a:srgbClr val="2B3A42"/>
                </a:solidFill>
                <a:latin typeface="Consolas"/>
              </a:rPr>
              <a:t>  → loggingInterceptor</a:t>
            </a:r>
          </a:p>
          <a:p>
            <a:pPr algn="l"/>
            <a:r>
              <a:rPr sz="1300" b="0">
                <a:solidFill>
                  <a:srgbClr val="2B3A42"/>
                </a:solidFill>
                <a:latin typeface="Consolas"/>
              </a:rPr>
              <a:t>  → Aufrufer</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Funktionaler Interceptor: Logging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HttpInterceptorFn, HttpEventType } from '@angular/common/http';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tap } from 'rxjs';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loggingInterceptor: HttpInterceptorFn = (req, next)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started = Date.now();</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console.log(`[HTTP] ${req.method} ${req.url} gestartet`);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next(req).pipe(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tap({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next: event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(event.type === HttpEventType.Response)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console.log(`[HTTP] ${req.url} ok (${Date.now() - started} ms)`);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error: err =&gt; console.log(`[HTTP] ${req.url} fehlgeschlagen`, err)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Parameter req und next erklärt</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Der HttpClient ruft die Kette bei jeder Anfrage auf</a:t>
            </a:r>
          </a:p>
          <a:p>
            <a:pPr>
              <a:defRPr sz="1800" b="0">
                <a:latin typeface="Segoe UI"/>
              </a:defRPr>
            </a:pPr>
            <a:r>
              <a:rPr lang="de-DE" sz="1800" b="0">
                <a:latin typeface="Segoe UI"/>
              </a:rPr>
              <a:t>req: die Anfrage (HttpRequest) – unveränderlich</a:t>
            </a:r>
          </a:p>
          <a:p>
            <a:pPr lvl="1">
              <a:defRPr sz="1530" b="0">
                <a:latin typeface="Segoe UI"/>
              </a:defRPr>
            </a:pPr>
            <a:r>
              <a:rPr lang="de-DE" sz="1530" b="0">
                <a:latin typeface="Segoe UI"/>
              </a:rPr>
              <a:t>method, url, headers, body, params</a:t>
            </a:r>
          </a:p>
          <a:p>
            <a:pPr>
              <a:defRPr sz="1800" b="0">
                <a:latin typeface="Segoe UI"/>
              </a:defRPr>
            </a:pPr>
            <a:r>
              <a:rPr lang="de-DE" sz="1800" b="0">
                <a:latin typeface="Segoe UI"/>
              </a:rPr>
              <a:t>next: Funktion für das nächste Glied (HttpHandlerFn)</a:t>
            </a:r>
          </a:p>
          <a:p>
            <a:pPr lvl="1">
              <a:defRPr sz="1530" b="0">
                <a:latin typeface="Segoe UI"/>
              </a:defRPr>
            </a:pPr>
            <a:r>
              <a:rPr lang="de-DE" sz="1530" b="0">
                <a:latin typeface="Segoe UI"/>
              </a:rPr>
              <a:t>next(req) liefert ein Observable mit den Antwort-Ereignissen</a:t>
            </a:r>
          </a:p>
          <a:p>
            <a:pPr>
              <a:defRPr sz="1800" b="0">
                <a:latin typeface="Segoe UI"/>
              </a:defRPr>
            </a:pPr>
            <a:r>
              <a:rPr lang="de-DE" sz="1800" b="0">
                <a:latin typeface="Segoe UI"/>
              </a:rPr>
              <a:t>Rückgabe: genau dieses Observable (ggf. mit pipe)</a:t>
            </a:r>
          </a:p>
          <a:p>
            <a:pPr>
              <a:defRPr sz="1800" b="0">
                <a:latin typeface="Segoe UI"/>
              </a:defRPr>
            </a:pPr>
            <a:r>
              <a:rPr lang="de-DE" sz="1800" b="0">
                <a:latin typeface="Segoe UI"/>
              </a:rPr>
              <a:t>Registrierung: provideHttpClient(withInterceptors([…]))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Signatur von HttpInterceptorFn</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type HttpInterceptorFn = (</a:t>
            </a:r>
          </a:p>
          <a:p>
            <a:pPr algn="l"/>
            <a:r>
              <a:rPr sz="1300" b="0">
                <a:solidFill>
                  <a:srgbClr val="2B3A42"/>
                </a:solidFill>
                <a:latin typeface="Consolas"/>
              </a:rPr>
              <a:t>  req: HttpRequest&lt;unknown&gt;,</a:t>
            </a:r>
          </a:p>
          <a:p>
            <a:pPr algn="l"/>
            <a:r>
              <a:rPr sz="1300" b="0">
                <a:solidFill>
                  <a:srgbClr val="2B3A42"/>
                </a:solidFill>
                <a:latin typeface="Consolas"/>
              </a:rPr>
              <a:t>  next: HttpHandlerFn</a:t>
            </a:r>
          </a:p>
          <a:p>
            <a:pPr algn="l"/>
            <a:r>
              <a:rPr sz="1300" b="0">
                <a:solidFill>
                  <a:srgbClr val="2B3A42"/>
                </a:solidFill>
                <a:latin typeface="Consolas"/>
              </a:rPr>
              <a:t>) =&gt; Observable&lt;HttpEvent&lt;unknown&gt;&gt;;</a:t>
            </a:r>
          </a:p>
          <a:p>
            <a:pPr algn="l"/>
            <a:r>
              <a:rPr sz="1300" b="0">
                <a:solidFill>
                  <a:srgbClr val="2B3A42"/>
                </a:solidFill>
                <a:latin typeface="Consolas"/>
              </a:rPr>
              <a:t/>
            </a:r>
          </a:p>
          <a:p>
            <a:pPr algn="l"/>
            <a:r>
              <a:rPr sz="1300" b="0">
                <a:solidFill>
                  <a:srgbClr val="2B3A42"/>
                </a:solidFill>
                <a:latin typeface="Consolas"/>
              </a:rPr>
              <a:t>// main.ts</a:t>
            </a:r>
          </a:p>
          <a:p>
            <a:pPr algn="l"/>
            <a:r>
              <a:rPr sz="1300" b="0">
                <a:solidFill>
                  <a:srgbClr val="2B3A42"/>
                </a:solidFill>
                <a:latin typeface="Consolas"/>
              </a:rPr>
              <a:t>provideHttpClient(</a:t>
            </a:r>
          </a:p>
          <a:p>
            <a:pPr algn="l"/>
            <a:r>
              <a:rPr sz="1300" b="0">
                <a:solidFill>
                  <a:srgbClr val="2B3A42"/>
                </a:solidFill>
                <a:latin typeface="Consolas"/>
              </a:rPr>
              <a:t>  withInterceptors([</a:t>
            </a:r>
          </a:p>
          <a:p>
            <a:pPr algn="l"/>
            <a:r>
              <a:rPr sz="1300" b="0">
                <a:solidFill>
                  <a:srgbClr val="2B3A42"/>
                </a:solidFill>
                <a:latin typeface="Consolas"/>
              </a:rPr>
              <a:t>    loggingInterceptor,</a:t>
            </a:r>
          </a:p>
          <a:p>
            <a:pPr algn="l"/>
            <a:r>
              <a:rPr sz="1300" b="0">
                <a:solidFill>
                  <a:srgbClr val="2B3A42"/>
                </a:solidFill>
                <a:latin typeface="Consolas"/>
              </a:rPr>
              <a:t>    authInterceptor</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 ergänzen mit req.clone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inject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HttpInterceptorFn } from '@angular/common/http';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authInterceptor: HttpInterceptorFn = (req, next)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token = inject(AuthService).token();   // angenommen: Token als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Nur eigene API-Aufrufe erhalten das 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(!token || !req.url.startsWith('api/'))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next(req);</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req ist unveränderlich: veränderte Kopie erzeugen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authReq = req.clone({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setHeaders: { Authorization: `Bearer ${token}`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next(authReq);</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Anfrage durch die Interceptors</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withInterceptors([loggingInterceptor, authInterceptor]): hin vorwärts, zurück rückwärts.</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HttpClient</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loggingInterceptor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authInterceptor</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Backend</a:t>
            </a:r>
          </a:p>
        </p:txBody>
      </p:sp>
      <p:cxnSp>
        <p:nvCxnSpPr>
          <p:cNvPr id="9" name="Connector 8"/>
          <p:cNvCxnSpPr/>
          <p:nvPr/>
        </p:nvCxnSpPr>
        <p:spPr>
          <a:xfrm>
            <a:off x="1889496"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58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80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1. get('api/customer') + subscribe</a:t>
            </a:r>
          </a:p>
        </p:txBody>
      </p:sp>
      <p:cxnSp>
        <p:nvCxnSpPr>
          <p:cNvPr id="16" name="Connector 15"/>
          <p:cNvCxnSpPr/>
          <p:nvPr/>
        </p:nvCxnSpPr>
        <p:spPr>
          <a:xfrm>
            <a:off x="3992328" y="2876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598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2. loggingInterceptor(req, next)</a:t>
            </a:r>
          </a:p>
        </p:txBody>
      </p:sp>
      <p:cxnSp>
        <p:nvCxnSpPr>
          <p:cNvPr id="18" name="Connector 17"/>
          <p:cNvCxnSpPr/>
          <p:nvPr/>
        </p:nvCxnSpPr>
        <p:spPr>
          <a:xfrm>
            <a:off x="6095160" y="3074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75160" y="3074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115160" y="3194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25160" y="2945120"/>
            <a:ext cx="1602832" cy="258000"/>
          </a:xfrm>
          <a:prstGeom prst="rect">
            <a:avLst/>
          </a:prstGeom>
          <a:noFill/>
        </p:spPr>
        <p:txBody>
          <a:bodyPr wrap="square" anchor="ctr" lIns="70000" rIns="70000" tIns="0" bIns="0">
            <a:spAutoFit/>
          </a:bodyPr>
          <a:lstStyle/>
          <a:p>
            <a:pPr algn="l"/>
            <a:r>
              <a:rPr sz="1300" b="0">
                <a:solidFill>
                  <a:srgbClr val="2B3A42"/>
                </a:solidFill>
                <a:latin typeface="Segoe UI"/>
              </a:rPr>
              <a:t>3. console.log: gestartet</a:t>
            </a:r>
          </a:p>
        </p:txBody>
      </p:sp>
      <p:cxnSp>
        <p:nvCxnSpPr>
          <p:cNvPr id="22" name="Connector 21"/>
          <p:cNvCxnSpPr/>
          <p:nvPr/>
        </p:nvCxnSpPr>
        <p:spPr>
          <a:xfrm>
            <a:off x="6095160" y="3512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234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4. next(req)</a:t>
            </a:r>
          </a:p>
        </p:txBody>
      </p:sp>
      <p:cxnSp>
        <p:nvCxnSpPr>
          <p:cNvPr id="24" name="Connector 23"/>
          <p:cNvCxnSpPr/>
          <p:nvPr/>
        </p:nvCxnSpPr>
        <p:spPr>
          <a:xfrm>
            <a:off x="8197992" y="3710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77992" y="3710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8217992" y="3830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27992" y="3581120"/>
            <a:ext cx="1602832" cy="258000"/>
          </a:xfrm>
          <a:prstGeom prst="rect">
            <a:avLst/>
          </a:prstGeom>
          <a:noFill/>
        </p:spPr>
        <p:txBody>
          <a:bodyPr wrap="square" anchor="ctr" lIns="70000" rIns="70000" tIns="0" bIns="0">
            <a:spAutoFit/>
          </a:bodyPr>
          <a:lstStyle/>
          <a:p>
            <a:pPr algn="l"/>
            <a:r>
              <a:rPr sz="1300" b="0">
                <a:solidFill>
                  <a:srgbClr val="2B3A42"/>
                </a:solidFill>
                <a:latin typeface="Segoe UI"/>
              </a:rPr>
              <a:t>5. req.clone(): Authorization</a:t>
            </a:r>
          </a:p>
        </p:txBody>
      </p:sp>
      <p:cxnSp>
        <p:nvCxnSpPr>
          <p:cNvPr id="28" name="Connector 27"/>
          <p:cNvCxnSpPr/>
          <p:nvPr/>
        </p:nvCxnSpPr>
        <p:spPr>
          <a:xfrm>
            <a:off x="8197992" y="4148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72284" y="3870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6. next(authReq): GET api/customer</a:t>
            </a:r>
          </a:p>
        </p:txBody>
      </p:sp>
      <p:cxnSp>
        <p:nvCxnSpPr>
          <p:cNvPr id="30" name="Connector 29"/>
          <p:cNvCxnSpPr/>
          <p:nvPr/>
        </p:nvCxnSpPr>
        <p:spPr>
          <a:xfrm flipH="1">
            <a:off x="8217992" y="446696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672284" y="4188960"/>
            <a:ext cx="3154248" cy="258000"/>
          </a:xfrm>
          <a:prstGeom prst="rect">
            <a:avLst/>
          </a:prstGeom>
          <a:noFill/>
        </p:spPr>
        <p:txBody>
          <a:bodyPr wrap="square" anchor="b" lIns="70000" rIns="70000" tIns="0" bIns="0">
            <a:spAutoFit/>
          </a:bodyPr>
          <a:lstStyle/>
          <a:p>
            <a:pPr algn="ctr"/>
            <a:r>
              <a:rPr sz="1300" b="0">
                <a:solidFill>
                  <a:srgbClr val="404B52"/>
                </a:solidFill>
                <a:latin typeface="Segoe UI"/>
              </a:rPr>
              <a:t>7. 200 OK + JSON</a:t>
            </a:r>
          </a:p>
        </p:txBody>
      </p:sp>
      <p:cxnSp>
        <p:nvCxnSpPr>
          <p:cNvPr id="32" name="Connector 31"/>
          <p:cNvCxnSpPr/>
          <p:nvPr/>
        </p:nvCxnSpPr>
        <p:spPr>
          <a:xfrm flipH="1">
            <a:off x="6115160" y="478496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569452" y="4506960"/>
            <a:ext cx="3154248" cy="258000"/>
          </a:xfrm>
          <a:prstGeom prst="rect">
            <a:avLst/>
          </a:prstGeom>
          <a:noFill/>
        </p:spPr>
        <p:txBody>
          <a:bodyPr wrap="square" anchor="b" lIns="70000" rIns="70000" tIns="0" bIns="0">
            <a:spAutoFit/>
          </a:bodyPr>
          <a:lstStyle/>
          <a:p>
            <a:pPr algn="ctr"/>
            <a:r>
              <a:rPr sz="1300" b="0">
                <a:solidFill>
                  <a:srgbClr val="404B52"/>
                </a:solidFill>
                <a:latin typeface="Segoe UI"/>
              </a:rPr>
              <a:t>8. Antwort unverändert</a:t>
            </a:r>
          </a:p>
        </p:txBody>
      </p:sp>
      <p:cxnSp>
        <p:nvCxnSpPr>
          <p:cNvPr id="34" name="Connector 33"/>
          <p:cNvCxnSpPr/>
          <p:nvPr/>
        </p:nvCxnSpPr>
        <p:spPr>
          <a:xfrm>
            <a:off x="6095160" y="4982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475160" y="4982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115160" y="5102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25160" y="4853120"/>
            <a:ext cx="1602832" cy="258000"/>
          </a:xfrm>
          <a:prstGeom prst="rect">
            <a:avLst/>
          </a:prstGeom>
          <a:noFill/>
        </p:spPr>
        <p:txBody>
          <a:bodyPr wrap="square" anchor="ctr" lIns="70000" rIns="70000" tIns="0" bIns="0">
            <a:spAutoFit/>
          </a:bodyPr>
          <a:lstStyle/>
          <a:p>
            <a:pPr algn="l"/>
            <a:r>
              <a:rPr sz="1300" b="0">
                <a:solidFill>
                  <a:srgbClr val="2B3A42"/>
                </a:solidFill>
                <a:latin typeface="Segoe UI"/>
              </a:rPr>
              <a:t>9. tap: console.log ok (… ms)</a:t>
            </a:r>
          </a:p>
        </p:txBody>
      </p:sp>
      <p:cxnSp>
        <p:nvCxnSpPr>
          <p:cNvPr id="38" name="Connector 37"/>
          <p:cNvCxnSpPr/>
          <p:nvPr/>
        </p:nvCxnSpPr>
        <p:spPr>
          <a:xfrm flipH="1">
            <a:off x="1909496" y="542096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19496" y="5142960"/>
            <a:ext cx="4145664" cy="258000"/>
          </a:xfrm>
          <a:prstGeom prst="rect">
            <a:avLst/>
          </a:prstGeom>
          <a:noFill/>
        </p:spPr>
        <p:txBody>
          <a:bodyPr wrap="square" anchor="b" lIns="70000" rIns="70000" tIns="0" bIns="0">
            <a:spAutoFit/>
          </a:bodyPr>
          <a:lstStyle/>
          <a:p>
            <a:pPr algn="ctr"/>
            <a:r>
              <a:rPr sz="1300" b="0">
                <a:solidFill>
                  <a:srgbClr val="404B52"/>
                </a:solidFill>
                <a:latin typeface="Segoe UI"/>
              </a:rPr>
              <a:t>10. Antwort über HttpClient</a:t>
            </a:r>
          </a:p>
        </p:txBody>
      </p:sp>
      <p:sp>
        <p:nvSpPr>
          <p:cNvPr id="40" name="TextBox 39"/>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Die Anfrage startet erst mit subscribe(); jeder Interceptor gibt das Observable von next() zurück</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Interceptors: Stolperfallen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Immer next(…) aufrufen und das Observable zurückgeben</a:t>
            </a:r>
          </a:p>
          <a:p>
            <a:pPr>
              <a:defRPr sz="2000" b="0">
                <a:latin typeface="Segoe UI"/>
              </a:defRPr>
            </a:pPr>
            <a:r>
              <a:rPr lang="de-DE" sz="2000" b="0">
                <a:latin typeface="Segoe UI"/>
              </a:rPr>
              <a:t>Anfrage nie direkt ändern, sondern req.clone({ … })</a:t>
            </a:r>
          </a:p>
          <a:p>
            <a:pPr>
              <a:defRPr sz="2000" b="0">
                <a:latin typeface="Segoe UI"/>
              </a:defRPr>
            </a:pPr>
            <a:r>
              <a:rPr lang="de-DE" sz="2000" b="0">
                <a:latin typeface="Segoe UI"/>
              </a:rPr>
              <a:t>Reihenfolge im Array bewusst wählen (Auth vor Logging?)</a:t>
            </a:r>
          </a:p>
          <a:p>
            <a:pPr>
              <a:defRPr sz="2000" b="0">
                <a:latin typeface="Segoe UI"/>
              </a:defRPr>
            </a:pPr>
            <a:r>
              <a:rPr lang="de-DE" sz="2000" b="0">
                <a:latin typeface="Segoe UI"/>
              </a:rPr>
              <a:t>Gilt nur für HttpClient – auch für httpResource, nicht für fetch()</a:t>
            </a:r>
          </a:p>
          <a:p>
            <a:pPr>
              <a:defRPr sz="2000" b="0">
                <a:latin typeface="Segoe UI"/>
              </a:defRPr>
            </a:pPr>
            <a:r>
              <a:rPr lang="de-DE" sz="2000" b="0">
                <a:latin typeface="Segoe UI"/>
              </a:rPr>
              <a:t>Fehler zentral mit catchError behandeln, dann weiterwerfen</a:t>
            </a:r>
          </a:p>
          <a:p>
            <a:pPr>
              <a:defRPr sz="2000" b="0">
                <a:latin typeface="Segoe UI"/>
              </a:defRPr>
            </a:pPr>
            <a:r>
              <a:rPr lang="de-DE" sz="2000" b="0">
                <a:latin typeface="Segoe UI"/>
              </a:rPr>
              <a:t>Alte Klassen-Interceptors: nur mit withInterceptorsFromDi()</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25: Funktionale Guards &amp; Interceptors</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AuthService: Login-Status als Signal mit isLoggedIn(), login(), logout()</a:t>
            </a:r>
          </a:p>
          <a:p>
            <a:pPr>
              <a:defRPr sz="2000" b="1">
                <a:latin typeface="Segoe UI"/>
              </a:defRPr>
            </a:pPr>
            <a:r>
              <a:rPr lang="de-DE" sz="2000" b="1">
                <a:latin typeface="Segoe UI"/>
              </a:rPr>
              <a:t>2. authGuard (CanActivateFn): inject(AuthService) und inject(Router)</a:t>
            </a:r>
          </a:p>
          <a:p>
            <a:pPr lvl="1">
              <a:defRPr sz="1700" b="0">
                <a:latin typeface="Segoe UI"/>
              </a:defRPr>
            </a:pPr>
            <a:r>
              <a:rPr lang="de-DE" sz="1700" b="0">
                <a:latin typeface="Segoe UI"/>
              </a:rPr>
              <a:t>Nicht angemeldet: Umleitung zur Login-Seite (navigate + false oder UrlTree)</a:t>
            </a:r>
          </a:p>
          <a:p>
            <a:pPr>
              <a:defRPr sz="2000" b="1">
                <a:latin typeface="Segoe UI"/>
              </a:defRPr>
            </a:pPr>
            <a:r>
              <a:rPr lang="de-DE" sz="2000" b="1">
                <a:latin typeface="Segoe UI"/>
              </a:rPr>
              <a:t>3. In app.routes.ts: canActivate: [authGuard] für customer und customer/:id</a:t>
            </a:r>
          </a:p>
          <a:p>
            <a:pPr>
              <a:defRPr sz="2000" b="1">
                <a:latin typeface="Segoe UI"/>
              </a:defRPr>
            </a:pPr>
            <a:r>
              <a:rPr lang="de-DE" sz="2000" b="1">
                <a:latin typeface="Segoe UI"/>
              </a:rPr>
              <a:t>4. LoginComponent: Button ruft login() auf und navigiert zur Kundenliste</a:t>
            </a:r>
          </a:p>
          <a:p>
            <a:pPr>
              <a:defRPr sz="2000" b="1">
                <a:latin typeface="Segoe UI"/>
              </a:defRPr>
            </a:pPr>
            <a:r>
              <a:rPr lang="de-DE" sz="2000" b="1">
                <a:latin typeface="Segoe UI"/>
              </a:rPr>
              <a:t>5. loggingInterceptor (HttpInterceptorFn): Start, Erfolg, Fehler mit Dauer loggen</a:t>
            </a:r>
          </a:p>
          <a:p>
            <a:pPr>
              <a:defRPr sz="2000" b="1">
                <a:latin typeface="Segoe UI"/>
              </a:defRPr>
            </a:pPr>
            <a:r>
              <a:rPr lang="de-DE" sz="2000" b="1">
                <a:latin typeface="Segoe UI"/>
              </a:rPr>
              <a:t>6. Registrieren in main.ts: provideHttpClient(withInterceptors([loggingInterceptor]))</a:t>
            </a:r>
          </a:p>
          <a:p>
            <a:pPr>
              <a:defRPr sz="2000" b="0">
                <a:latin typeface="Segoe UI"/>
              </a:defRPr>
            </a:pPr>
            <a:r>
              <a:rPr lang="de-DE" sz="2000" b="0">
                <a:latin typeface="Segoe UI"/>
              </a:rPr>
              <a:t>Test: Kundenliste ohne Login aufrufen, Konsole beobachten</a:t>
            </a:r>
          </a:p>
          <a:p>
            <a:pPr>
              <a:defRPr sz="2000" b="1">
                <a:latin typeface="Segoe UI"/>
              </a:defRPr>
            </a:pPr>
            <a:r>
              <a:rPr lang="de-DE" sz="2000" b="1">
                <a:latin typeface="Segoe UI"/>
              </a:rPr>
              <a:t>Musterlösung: 25_httpInterceptorGuard (baut auf 23_communication auf)</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Resource API: Daten laden mit Signals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Bisher: Service + Observable + subscribe() oder toSignal()</a:t>
            </a:r>
          </a:p>
          <a:p>
            <a:pPr lvl="1">
              <a:defRPr sz="1700" b="0">
                <a:latin typeface="Segoe UI"/>
              </a:defRPr>
            </a:pPr>
            <a:r>
              <a:rPr lang="de-DE" sz="1700" b="0">
                <a:latin typeface="Segoe UI"/>
              </a:rPr>
              <a:t>Ladezustand und Fehler in eigenen Variablen pflegen</a:t>
            </a:r>
          </a:p>
          <a:p>
            <a:pPr lvl="1">
              <a:defRPr sz="1700" b="0">
                <a:latin typeface="Segoe UI"/>
              </a:defRPr>
            </a:pPr>
            <a:r>
              <a:rPr lang="de-DE" sz="1700" b="0">
                <a:latin typeface="Segoe UI"/>
              </a:rPr>
              <a:t>Bei neuer ID: effect() + erneutes subscribe()</a:t>
            </a:r>
          </a:p>
          <a:p>
            <a:pPr>
              <a:defRPr sz="2000" b="0">
                <a:latin typeface="Segoe UI"/>
              </a:defRPr>
            </a:pPr>
            <a:r>
              <a:rPr lang="de-DE" sz="2000" b="0">
                <a:latin typeface="Segoe UI"/>
              </a:rPr>
              <a:t>Resource: deklarativ beschreiben, was abhängig wovon geladen wird</a:t>
            </a:r>
          </a:p>
          <a:p>
            <a:pPr lvl="1">
              <a:defRPr sz="1700" b="0">
                <a:latin typeface="Segoe UI"/>
              </a:defRPr>
            </a:pPr>
            <a:r>
              <a:rPr lang="de-DE" sz="1700" b="0">
                <a:latin typeface="Segoe UI"/>
              </a:rPr>
              <a:t>Angular lädt, lädt neu und bricht alte Anfragen ab</a:t>
            </a:r>
          </a:p>
          <a:p>
            <a:pPr lvl="1">
              <a:defRPr sz="1700" b="0">
                <a:latin typeface="Segoe UI"/>
              </a:defRPr>
            </a:pPr>
            <a:r>
              <a:rPr lang="de-DE" sz="1700" b="0">
                <a:latin typeface="Segoe UI"/>
              </a:rPr>
              <a:t>Ergebnis, Ladezustand und Fehler kommen als Signals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Bisher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subscribe / toSignal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isLoading von Hand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effect bei neuer ID</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Resource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deklarativ</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inklusive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lädt selbst neu</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Zustände einer Resource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status() liefert den aktuellen Zustand als Text:</a:t>
            </a:r>
          </a:p>
          <a:p>
            <a:pPr lvl="1">
              <a:defRPr sz="1700" b="0">
                <a:latin typeface="Segoe UI"/>
              </a:defRPr>
            </a:pPr>
            <a:r>
              <a:rPr lang="de-DE" sz="1700" b="0">
                <a:latin typeface="Segoe UI"/>
              </a:rPr>
              <a:t>idle: keine Parameter, es wird nichts geladen</a:t>
            </a:r>
          </a:p>
          <a:p>
            <a:pPr lvl="1">
              <a:defRPr sz="1700" b="0">
                <a:latin typeface="Segoe UI"/>
              </a:defRPr>
            </a:pPr>
            <a:r>
              <a:rPr lang="de-DE" sz="1700" b="0">
                <a:latin typeface="Segoe UI"/>
              </a:rPr>
              <a:t>loading: erster Ladevorgang läuft</a:t>
            </a:r>
          </a:p>
          <a:p>
            <a:pPr lvl="1">
              <a:defRPr sz="1700" b="0">
                <a:latin typeface="Segoe UI"/>
              </a:defRPr>
            </a:pPr>
            <a:r>
              <a:rPr lang="de-DE" sz="1700" b="0">
                <a:latin typeface="Segoe UI"/>
              </a:rPr>
              <a:t>resolved: Daten sind da</a:t>
            </a:r>
          </a:p>
          <a:p>
            <a:pPr lvl="1">
              <a:defRPr sz="1700" b="0">
                <a:latin typeface="Segoe UI"/>
              </a:defRPr>
            </a:pPr>
            <a:r>
              <a:rPr lang="de-DE" sz="1700" b="0">
                <a:latin typeface="Segoe UI"/>
              </a:rPr>
              <a:t>error: Laden ist fehlgeschlagen</a:t>
            </a:r>
          </a:p>
          <a:p>
            <a:pPr lvl="1">
              <a:defRPr sz="1700" b="0">
                <a:latin typeface="Segoe UI"/>
              </a:defRPr>
            </a:pPr>
            <a:r>
              <a:rPr lang="de-DE" sz="1700" b="0">
                <a:latin typeface="Segoe UI"/>
              </a:rPr>
              <a:t>reloading: reload() oder neue Parameter, alter Wert bleibt</a:t>
            </a:r>
          </a:p>
          <a:p>
            <a:pPr lvl="1">
              <a:defRPr sz="1700" b="0">
                <a:latin typeface="Segoe UI"/>
              </a:defRPr>
            </a:pPr>
            <a:r>
              <a:rPr lang="de-DE" sz="1700" b="0">
                <a:latin typeface="Segoe UI"/>
              </a:rPr>
              <a:t>local: Wert wurde lokal mit set() / update() geändert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idle (keine Parameter)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loading</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resolved oder error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reloading (reload / neue Parameter)</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set() / update() → local</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eine Resource bereitstellt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value(): die geladenen Daten (vorher undefined)</a:t>
            </a:r>
          </a:p>
          <a:p>
            <a:pPr>
              <a:defRPr sz="2000" b="0">
                <a:latin typeface="Segoe UI"/>
              </a:defRPr>
            </a:pPr>
            <a:r>
              <a:rPr lang="de-DE" sz="2000" b="0">
                <a:latin typeface="Segoe UI"/>
              </a:rPr>
              <a:t>hasValue(): true, wenn ein Wert vorliegt</a:t>
            </a:r>
          </a:p>
          <a:p>
            <a:pPr lvl="1">
              <a:defRPr sz="1700" b="0">
                <a:latin typeface="Segoe UI"/>
              </a:defRPr>
            </a:pPr>
            <a:r>
              <a:rPr lang="de-DE" sz="1700" b="0">
                <a:latin typeface="Segoe UI"/>
              </a:rPr>
              <a:t>Vor value() prüfen – im Zustand error wirft value()</a:t>
            </a:r>
          </a:p>
          <a:p>
            <a:pPr>
              <a:defRPr sz="2000" b="0">
                <a:latin typeface="Segoe UI"/>
              </a:defRPr>
            </a:pPr>
            <a:r>
              <a:rPr lang="de-DE" sz="2000" b="0">
                <a:latin typeface="Segoe UI"/>
              </a:rPr>
              <a:t>isLoading(): true bei loading und reloading</a:t>
            </a:r>
          </a:p>
          <a:p>
            <a:pPr>
              <a:defRPr sz="2000" b="0">
                <a:latin typeface="Segoe UI"/>
              </a:defRPr>
            </a:pPr>
            <a:r>
              <a:rPr lang="de-DE" sz="2000" b="0">
                <a:latin typeface="Segoe UI"/>
              </a:rPr>
              <a:t>error(): der Fehler oder undefined</a:t>
            </a:r>
          </a:p>
          <a:p>
            <a:pPr>
              <a:defRPr sz="2000" b="0">
                <a:latin typeface="Segoe UI"/>
              </a:defRPr>
            </a:pPr>
            <a:r>
              <a:rPr lang="de-DE" sz="2000" b="0">
                <a:latin typeface="Segoe UI"/>
              </a:rPr>
              <a:t>reload(): Laden mit denselben Parametern wiederholen</a:t>
            </a:r>
          </a:p>
          <a:p>
            <a:pPr>
              <a:defRPr sz="2000" b="0">
                <a:latin typeface="Segoe UI"/>
              </a:defRPr>
            </a:pPr>
            <a:r>
              <a:rPr lang="de-DE" sz="2000" b="0">
                <a:latin typeface="Segoe UI"/>
              </a:rPr>
              <a:t>set() / update(): Wert lokal überschreiben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Template</a:t>
            </a:r>
          </a:p>
        </p:txBody>
      </p:sp>
      <p:sp>
        <p:nvSpPr>
          <p:cNvPr id="5" name="Rectangle 4"/>
          <p:cNvSpPr/>
          <p:nvPr/>
        </p:nvSpPr>
        <p:spPr>
          <a:xfrm>
            <a:off x="7000000" y="2230000"/>
            <a:ext cx="4350000" cy="178019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@if (customer.isLoading()) {</a:t>
            </a:r>
          </a:p>
          <a:p>
            <a:pPr algn="l"/>
            <a:r>
              <a:rPr sz="1300" b="0">
                <a:solidFill>
                  <a:srgbClr val="2B3A42"/>
                </a:solidFill>
                <a:latin typeface="Consolas"/>
              </a:rPr>
              <a:t>  &lt;p&gt;Lade…&lt;/p&gt;</a:t>
            </a:r>
          </a:p>
          <a:p>
            <a:pPr algn="l"/>
            <a:r>
              <a:rPr sz="1300" b="0">
                <a:solidFill>
                  <a:srgbClr val="2B3A42"/>
                </a:solidFill>
                <a:latin typeface="Consolas"/>
              </a:rPr>
              <a:t>} @else if (customer.error()) {</a:t>
            </a:r>
          </a:p>
          <a:p>
            <a:pPr algn="l"/>
            <a:r>
              <a:rPr sz="1300" b="0">
                <a:solidFill>
                  <a:srgbClr val="2B3A42"/>
                </a:solidFill>
                <a:latin typeface="Consolas"/>
              </a:rPr>
              <a:t>  &lt;p&gt;Fehler beim Laden&lt;/p&gt;</a:t>
            </a:r>
          </a:p>
          <a:p>
            <a:pPr algn="l"/>
            <a:r>
              <a:rPr sz="1300" b="0">
                <a:solidFill>
                  <a:srgbClr val="2B3A42"/>
                </a:solidFill>
                <a:latin typeface="Consolas"/>
              </a:rPr>
              <a:t>} @else if (customer.hasValue()) {</a:t>
            </a:r>
          </a:p>
          <a:p>
            <a:pPr algn="l"/>
            <a:r>
              <a:rPr sz="1300" b="0">
                <a:solidFill>
                  <a:srgbClr val="2B3A42"/>
                </a:solidFill>
                <a:latin typeface="Consolas"/>
              </a:rPr>
              <a:t>  &lt;p&gt;{{ customer.value().firstname }}&lt;/p&gt;</a:t>
            </a:r>
          </a:p>
          <a:p>
            <a:pPr algn="l"/>
            <a:r>
              <a:rPr sz="1300" b="0">
                <a:solidFill>
                  <a:srgbClr val="2B3A42"/>
                </a:solidFill>
                <a:latin typeface="Consolas"/>
              </a:rPr>
              <a:t>}</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Drei Varianten der Resource API</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resource({ params, loader })</a:t>
            </a:r>
          </a:p>
          <a:p>
            <a:pPr lvl="1">
              <a:defRPr sz="1700" b="0">
                <a:latin typeface="Segoe UI"/>
              </a:defRPr>
            </a:pPr>
            <a:r>
              <a:rPr lang="de-DE" sz="1700" b="0">
                <a:latin typeface="Segoe UI"/>
              </a:rPr>
              <a:t>loader liefert ein Promise, z. B. mit fetch() – @angular/core</a:t>
            </a:r>
          </a:p>
          <a:p>
            <a:pPr>
              <a:defRPr sz="2000" b="0">
                <a:latin typeface="Segoe UI"/>
              </a:defRPr>
            </a:pPr>
            <a:r>
              <a:rPr lang="de-DE" sz="2000" b="0">
                <a:latin typeface="Segoe UI"/>
              </a:rPr>
              <a:t>rxResource({ params, stream })</a:t>
            </a:r>
          </a:p>
          <a:p>
            <a:pPr lvl="1">
              <a:defRPr sz="1700" b="0">
                <a:latin typeface="Segoe UI"/>
              </a:defRPr>
            </a:pPr>
            <a:r>
              <a:rPr lang="de-DE" sz="1700" b="0">
                <a:latin typeface="Segoe UI"/>
              </a:rPr>
              <a:t>stream liefert ein Observable – @angular/core/rxjs-interop</a:t>
            </a:r>
          </a:p>
          <a:p>
            <a:pPr lvl="1">
              <a:defRPr sz="1700" b="0">
                <a:latin typeface="Segoe UI"/>
              </a:defRPr>
            </a:pPr>
            <a:r>
              <a:rPr lang="de-DE" sz="1700" b="0">
                <a:latin typeface="Segoe UI"/>
              </a:rPr>
              <a:t>Ideal für bestehende Services mit Observables</a:t>
            </a:r>
          </a:p>
          <a:p>
            <a:pPr>
              <a:defRPr sz="2000" b="0">
                <a:latin typeface="Segoe UI"/>
              </a:defRPr>
            </a:pPr>
            <a:r>
              <a:rPr lang="de-DE" sz="2000" b="0">
                <a:latin typeface="Segoe UI"/>
              </a:rPr>
              <a:t>httpResource(() =&gt; url)</a:t>
            </a:r>
          </a:p>
          <a:p>
            <a:pPr lvl="1">
              <a:defRPr sz="1700" b="0">
                <a:latin typeface="Segoe UI"/>
              </a:defRPr>
            </a:pPr>
            <a:r>
              <a:rPr lang="de-DE" sz="1700" b="0">
                <a:latin typeface="Segoe UI"/>
              </a:rPr>
              <a:t>Nutzt HttpClient, Interceptors greifen – @angular/common/http</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Resource API</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resource: Promise</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rxResource: Observable</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httpResource: HttpClient</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params, loader und stream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params: Funktion, die Signals liest und Parameter liefert</a:t>
            </a:r>
          </a:p>
          <a:p>
            <a:pPr lvl="1">
              <a:defRPr sz="1700" b="0">
                <a:latin typeface="Segoe UI"/>
              </a:defRPr>
            </a:pPr>
            <a:r>
              <a:rPr lang="de-DE" sz="1700" b="0">
                <a:latin typeface="Segoe UI"/>
              </a:rPr>
              <a:t>Läuft reaktiv wie computed()</a:t>
            </a:r>
          </a:p>
          <a:p>
            <a:pPr lvl="1">
              <a:defRPr sz="1700" b="0">
                <a:latin typeface="Segoe UI"/>
              </a:defRPr>
            </a:pPr>
            <a:r>
              <a:rPr lang="de-DE" sz="1700" b="0">
                <a:latin typeface="Segoe UI"/>
              </a:rPr>
              <a:t>Liefert sie undefined: Zustand idle, kein Laden</a:t>
            </a:r>
          </a:p>
          <a:p>
            <a:pPr>
              <a:defRPr sz="2000" b="0">
                <a:latin typeface="Segoe UI"/>
              </a:defRPr>
            </a:pPr>
            <a:r>
              <a:rPr lang="de-DE" sz="2000" b="0">
                <a:latin typeface="Segoe UI"/>
              </a:rPr>
              <a:t>loader / stream: wird von Angular aufgerufen</a:t>
            </a:r>
          </a:p>
          <a:p>
            <a:pPr lvl="1">
              <a:defRPr sz="1700" b="0">
                <a:latin typeface="Segoe UI"/>
              </a:defRPr>
            </a:pPr>
            <a:r>
              <a:rPr lang="de-DE" sz="1700" b="0">
                <a:latin typeface="Segoe UI"/>
              </a:rPr>
              <a:t>bei jeder Änderung von params, Argument: { params, abortSignal }</a:t>
            </a:r>
          </a:p>
          <a:p>
            <a:pPr>
              <a:defRPr sz="2000" b="0">
                <a:latin typeface="Segoe UI"/>
              </a:defRPr>
            </a:pPr>
            <a:r>
              <a:rPr lang="de-DE" sz="2000" b="0">
                <a:latin typeface="Segoe UI"/>
              </a:rPr>
              <a:t>Laufender Ladevorgang wird dabei abgebrochen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id() ändert sich</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params() neu ausgewertet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alter Ladevorgang abgebrochen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loader({ params, abortSignal })</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value() aktualisiert</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resource() mit loader und abortSignal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CustomerDetailsComponent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id = input&lt;string&gt;();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 resource({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1. Parameter: reaktiv, undefined = nichts laden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params: () =&gt; this.id() ? { id: this.id()! }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2. Loader: Angular ruft ihn bei jeder Parameter-Änderung auf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loader: async ({ params, abortSignal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res = await fetch(`api/customer/${params.id}`, { signal: abortSignal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(!res.ok)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throw new Error(`HTTP ${res.status}`);   // → Zustand error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(await res.json()) as Customer;     // → Zustand resolved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abortSignal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AbortSignal: Standard-Objekt des Browsers zum Abbrechen</a:t>
            </a:r>
          </a:p>
          <a:p>
            <a:pPr>
              <a:defRPr sz="2000" b="0">
                <a:latin typeface="Segoe UI"/>
              </a:defRPr>
            </a:pPr>
            <a:r>
              <a:rPr lang="de-DE" sz="2000" b="0">
                <a:latin typeface="Segoe UI"/>
              </a:rPr>
              <a:t>Angular erzeugt pro Ladevorgang ein neues Signal</a:t>
            </a:r>
          </a:p>
          <a:p>
            <a:pPr>
              <a:defRPr sz="2000" b="0">
                <a:latin typeface="Segoe UI"/>
              </a:defRPr>
            </a:pPr>
            <a:r>
              <a:rPr lang="de-DE" sz="2000" b="0">
                <a:latin typeface="Segoe UI"/>
              </a:rPr>
              <a:t>Ausgelöst, wenn sich params ändert oder die Komponente endet</a:t>
            </a:r>
          </a:p>
          <a:p>
            <a:pPr>
              <a:defRPr sz="2000" b="0">
                <a:latin typeface="Segoe UI"/>
              </a:defRPr>
            </a:pPr>
            <a:r>
              <a:rPr lang="de-DE" sz="2000" b="0">
                <a:latin typeface="Segoe UI"/>
              </a:rPr>
              <a:t>fetch(url, { signal: abortSignal }) bricht die Anfrage ab</a:t>
            </a:r>
          </a:p>
          <a:p>
            <a:pPr>
              <a:defRPr sz="2000" b="0">
                <a:latin typeface="Segoe UI"/>
              </a:defRPr>
            </a:pPr>
            <a:r>
              <a:rPr lang="de-DE" sz="2000" b="0">
                <a:latin typeface="Segoe UI"/>
              </a:rPr>
              <a:t>rxResource / httpResource: Abbruch automatisch per Unsubscribe</a:t>
            </a:r>
          </a:p>
          <a:p>
            <a:pPr>
              <a:defRPr sz="2000" b="0">
                <a:latin typeface="Segoe UI"/>
              </a:defRPr>
            </a:pPr>
            <a:r>
              <a:rPr lang="de-DE" sz="2000" b="0">
                <a:latin typeface="Segoe UI"/>
              </a:rPr>
              <a:t>Verhindert veraltete Antworten (Race Condition)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Kunde 1 gewählt: Laden startet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Kunde 2 gewählt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abortSignal für Kunde 1</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Nur Kunde 2 wird angezeigt</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Resources im Kursprojekt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customer-list.component.ts – Liste per httpResource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customerResource = httpResource&lt;ResponseArray&gt;(() =&gt; 'api/customer');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 =&gt; this.customerResource.value()?.data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isLoading = this.customerResource.isLoading;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error = this.customerResource.error;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customer-details.component.ts – Details per rxResource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id = input&lt;string&gt;();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customerResource = rxResource({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params: () =&gt; this.id(),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stream: ({ params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(!params) { throw new Error('Keine Customer-Id angegeben');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this.customerService.getById(params);   // Observable&lt;Customer&gt;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 = this.customerResource.value;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isLoading = this.customerResource.isLoading;</a:t>
            </a:r>
            <a:endParaRPr lang="de-DE" sz="1400" b="0" u="none" strike="noStrike">
              <a:solidFill>
                <a:srgbClr val="000000"/>
              </a:solidFill>
              <a:uFillTx/>
              <a:latin typeface="Arial"/>
            </a:endParaRP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rxResource und neue Kunden-ID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CustomerDetailsComponent: id kommt per withComponentInputBinding aus der URL.</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id = input()</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rxResource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Template</a:t>
            </a:r>
          </a:p>
        </p:txBody>
      </p:sp>
      <p:cxnSp>
        <p:nvCxnSpPr>
          <p:cNvPr id="9" name="Connector 8"/>
          <p:cNvCxnSpPr/>
          <p:nvPr/>
        </p:nvCxnSpPr>
        <p:spPr>
          <a:xfrm>
            <a:off x="1889496"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58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80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1. URL /customer/5: id = '5'</a:t>
            </a:r>
          </a:p>
        </p:txBody>
      </p:sp>
      <p:cxnSp>
        <p:nvCxnSpPr>
          <p:cNvPr id="16" name="Connector 15"/>
          <p:cNvCxnSpPr/>
          <p:nvPr/>
        </p:nvCxnSpPr>
        <p:spPr>
          <a:xfrm>
            <a:off x="3992328" y="2876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598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2. params() liefert '5'</a:t>
            </a:r>
          </a:p>
        </p:txBody>
      </p:sp>
      <p:cxnSp>
        <p:nvCxnSpPr>
          <p:cNvPr id="18" name="Connector 17"/>
          <p:cNvCxnSpPr/>
          <p:nvPr/>
        </p:nvCxnSpPr>
        <p:spPr>
          <a:xfrm>
            <a:off x="6095160" y="319496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125160" y="2916960"/>
            <a:ext cx="4145664" cy="258000"/>
          </a:xfrm>
          <a:prstGeom prst="rect">
            <a:avLst/>
          </a:prstGeom>
          <a:noFill/>
        </p:spPr>
        <p:txBody>
          <a:bodyPr wrap="square" anchor="b" lIns="70000" rIns="70000" tIns="0" bIns="0">
            <a:spAutoFit/>
          </a:bodyPr>
          <a:lstStyle/>
          <a:p>
            <a:pPr algn="ctr"/>
            <a:r>
              <a:rPr sz="1300" b="0">
                <a:solidFill>
                  <a:srgbClr val="2B3A42"/>
                </a:solidFill>
                <a:latin typeface="Segoe UI"/>
              </a:rPr>
              <a:t>3. isLoading() = true</a:t>
            </a:r>
          </a:p>
        </p:txBody>
      </p:sp>
      <p:cxnSp>
        <p:nvCxnSpPr>
          <p:cNvPr id="20" name="Connector 19"/>
          <p:cNvCxnSpPr/>
          <p:nvPr/>
        </p:nvCxnSpPr>
        <p:spPr>
          <a:xfrm>
            <a:off x="6095160" y="3512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69452" y="3234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4. stream: getById('5')</a:t>
            </a:r>
          </a:p>
        </p:txBody>
      </p:sp>
      <p:cxnSp>
        <p:nvCxnSpPr>
          <p:cNvPr id="22" name="Connector 21"/>
          <p:cNvCxnSpPr/>
          <p:nvPr/>
        </p:nvCxnSpPr>
        <p:spPr>
          <a:xfrm flipH="1">
            <a:off x="6115160" y="383096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552960"/>
            <a:ext cx="3154248" cy="258000"/>
          </a:xfrm>
          <a:prstGeom prst="rect">
            <a:avLst/>
          </a:prstGeom>
          <a:noFill/>
        </p:spPr>
        <p:txBody>
          <a:bodyPr wrap="square" anchor="b" lIns="70000" rIns="70000" tIns="0" bIns="0">
            <a:spAutoFit/>
          </a:bodyPr>
          <a:lstStyle/>
          <a:p>
            <a:pPr algn="ctr"/>
            <a:r>
              <a:rPr sz="1300" b="0">
                <a:solidFill>
                  <a:srgbClr val="404B52"/>
                </a:solidFill>
                <a:latin typeface="Segoe UI"/>
              </a:rPr>
              <a:t>5. Kunde 5 (über HttpClient)</a:t>
            </a:r>
          </a:p>
        </p:txBody>
      </p:sp>
      <p:cxnSp>
        <p:nvCxnSpPr>
          <p:cNvPr id="24" name="Connector 23"/>
          <p:cNvCxnSpPr/>
          <p:nvPr/>
        </p:nvCxnSpPr>
        <p:spPr>
          <a:xfrm>
            <a:off x="6095160" y="414896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5160" y="3870960"/>
            <a:ext cx="4145664" cy="258000"/>
          </a:xfrm>
          <a:prstGeom prst="rect">
            <a:avLst/>
          </a:prstGeom>
          <a:noFill/>
        </p:spPr>
        <p:txBody>
          <a:bodyPr wrap="square" anchor="b" lIns="70000" rIns="70000" tIns="0" bIns="0">
            <a:spAutoFit/>
          </a:bodyPr>
          <a:lstStyle/>
          <a:p>
            <a:pPr algn="ctr"/>
            <a:r>
              <a:rPr sz="1300" b="0">
                <a:solidFill>
                  <a:srgbClr val="2B3A42"/>
                </a:solidFill>
                <a:latin typeface="Segoe UI"/>
              </a:rPr>
              <a:t>6. value() = Kunde 5</a:t>
            </a:r>
          </a:p>
        </p:txBody>
      </p:sp>
      <p:cxnSp>
        <p:nvCxnSpPr>
          <p:cNvPr id="26" name="Connector 25"/>
          <p:cNvCxnSpPr/>
          <p:nvPr/>
        </p:nvCxnSpPr>
        <p:spPr>
          <a:xfrm>
            <a:off x="1889496" y="4466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63788" y="4188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7. URL /customer/7: id = '7'</a:t>
            </a:r>
          </a:p>
        </p:txBody>
      </p:sp>
      <p:cxnSp>
        <p:nvCxnSpPr>
          <p:cNvPr id="28" name="Connector 27"/>
          <p:cNvCxnSpPr/>
          <p:nvPr/>
        </p:nvCxnSpPr>
        <p:spPr>
          <a:xfrm>
            <a:off x="6095160" y="4664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475160" y="4664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115160" y="4784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25160" y="4535120"/>
            <a:ext cx="1602832" cy="258000"/>
          </a:xfrm>
          <a:prstGeom prst="rect">
            <a:avLst/>
          </a:prstGeom>
          <a:noFill/>
        </p:spPr>
        <p:txBody>
          <a:bodyPr wrap="square" anchor="ctr" lIns="70000" rIns="70000" tIns="0" bIns="0">
            <a:spAutoFit/>
          </a:bodyPr>
          <a:lstStyle/>
          <a:p>
            <a:pPr algn="l"/>
            <a:r>
              <a:rPr sz="1300" b="0">
                <a:solidFill>
                  <a:srgbClr val="2B3A42"/>
                </a:solidFill>
                <a:latin typeface="Segoe UI"/>
              </a:rPr>
              <a:t>8. Abbruch alt, reloading</a:t>
            </a:r>
          </a:p>
        </p:txBody>
      </p:sp>
      <p:cxnSp>
        <p:nvCxnSpPr>
          <p:cNvPr id="32" name="Connector 31"/>
          <p:cNvCxnSpPr/>
          <p:nvPr/>
        </p:nvCxnSpPr>
        <p:spPr>
          <a:xfrm>
            <a:off x="6095160" y="5102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569452" y="4824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9. stream: getById('7')</a:t>
            </a:r>
          </a:p>
        </p:txBody>
      </p:sp>
      <p:cxnSp>
        <p:nvCxnSpPr>
          <p:cNvPr id="34" name="Connector 33"/>
          <p:cNvCxnSpPr/>
          <p:nvPr/>
        </p:nvCxnSpPr>
        <p:spPr>
          <a:xfrm flipH="1">
            <a:off x="6115160" y="542096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569452" y="5142960"/>
            <a:ext cx="3154248" cy="258000"/>
          </a:xfrm>
          <a:prstGeom prst="rect">
            <a:avLst/>
          </a:prstGeom>
          <a:noFill/>
        </p:spPr>
        <p:txBody>
          <a:bodyPr wrap="square" anchor="b" lIns="70000" rIns="70000" tIns="0" bIns="0">
            <a:spAutoFit/>
          </a:bodyPr>
          <a:lstStyle/>
          <a:p>
            <a:pPr algn="ctr"/>
            <a:r>
              <a:rPr sz="1300" b="0">
                <a:solidFill>
                  <a:srgbClr val="404B52"/>
                </a:solidFill>
                <a:latin typeface="Segoe UI"/>
              </a:rPr>
              <a:t>10. Kunde 7: value() neu</a:t>
            </a:r>
          </a:p>
        </p:txBody>
      </p:sp>
      <p:sp>
        <p:nvSpPr>
          <p:cNvPr id="36" name="TextBox 35"/>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Gleiche Route: Angular behält die Komponente und setzt nur den Input neu</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httpResource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httpResource(() =&gt; url): Funktion, keine feste Adresse</a:t>
            </a:r>
          </a:p>
          <a:p>
            <a:pPr lvl="1">
              <a:defRPr sz="1700" b="0">
                <a:latin typeface="Segoe UI"/>
              </a:defRPr>
            </a:pPr>
            <a:r>
              <a:rPr lang="de-DE" sz="1700" b="0">
                <a:latin typeface="Segoe UI"/>
              </a:rPr>
              <a:t>Liest sie Signals, wird bei Änderung neu geladen</a:t>
            </a:r>
          </a:p>
          <a:p>
            <a:pPr lvl="1">
              <a:defRPr sz="1700" b="0">
                <a:latin typeface="Segoe UI"/>
              </a:defRPr>
            </a:pPr>
            <a:r>
              <a:rPr lang="de-DE" sz="1700" b="0">
                <a:latin typeface="Segoe UI"/>
              </a:rPr>
              <a:t>Liefert sie undefined, wird nicht geladen</a:t>
            </a:r>
          </a:p>
          <a:p>
            <a:pPr>
              <a:defRPr sz="2000" b="0">
                <a:latin typeface="Segoe UI"/>
              </a:defRPr>
            </a:pPr>
            <a:r>
              <a:rPr lang="de-DE" sz="2000" b="0">
                <a:latin typeface="Segoe UI"/>
              </a:rPr>
              <a:t>Statt Adresse auch ein Anfrage-Objekt möglich</a:t>
            </a:r>
          </a:p>
          <a:p>
            <a:pPr lvl="1">
              <a:defRPr sz="1700" b="0">
                <a:latin typeface="Segoe UI"/>
              </a:defRPr>
            </a:pPr>
            <a:r>
              <a:rPr lang="de-DE" sz="1700" b="0">
                <a:latin typeface="Segoe UI"/>
              </a:rPr>
              <a:t>{ url, method, params, headers, body }</a:t>
            </a:r>
          </a:p>
          <a:p>
            <a:pPr>
              <a:defRPr sz="2000" b="0">
                <a:latin typeface="Segoe UI"/>
              </a:defRPr>
            </a:pPr>
            <a:r>
              <a:rPr lang="de-DE" sz="2000" b="0">
                <a:latin typeface="Segoe UI"/>
              </a:rPr>
              <a:t>Optionen: defaultValue, parse (z. B. Prüfung mit Zod)</a:t>
            </a:r>
          </a:p>
          <a:p>
            <a:pPr>
              <a:defRPr sz="2000" b="0">
                <a:latin typeface="Segoe UI"/>
              </a:defRPr>
            </a:pPr>
            <a:r>
              <a:rPr lang="de-DE" sz="2000" b="0">
                <a:latin typeface="Segoe UI"/>
              </a:rPr>
              <a:t>Varianten: httpResource.text(), .blob(), .arrayBuffer()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Abhängig von einem Signal</a:t>
            </a:r>
          </a:p>
        </p:txBody>
      </p:sp>
      <p:sp>
        <p:nvSpPr>
          <p:cNvPr id="5" name="Rectangle 4"/>
          <p:cNvSpPr/>
          <p:nvPr/>
        </p:nvSpPr>
        <p:spPr>
          <a:xfrm>
            <a:off x="7000000" y="2230000"/>
            <a:ext cx="4350000" cy="202022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id = input&lt;string&gt;();</a:t>
            </a:r>
          </a:p>
          <a:p>
            <a:pPr algn="l"/>
            <a:r>
              <a:rPr sz="1500" b="0">
                <a:solidFill>
                  <a:srgbClr val="2B3A42"/>
                </a:solidFill>
                <a:latin typeface="Consolas"/>
              </a:rPr>
              <a:t/>
            </a:r>
          </a:p>
          <a:p>
            <a:pPr algn="l"/>
            <a:r>
              <a:rPr sz="1500" b="0">
                <a:solidFill>
                  <a:srgbClr val="2B3A42"/>
                </a:solidFill>
                <a:latin typeface="Consolas"/>
              </a:rPr>
              <a:t>customer = httpResource&lt;Customer&gt;(</a:t>
            </a:r>
          </a:p>
          <a:p>
            <a:pPr algn="l"/>
            <a:r>
              <a:rPr sz="1500" b="0">
                <a:solidFill>
                  <a:srgbClr val="2B3A42"/>
                </a:solidFill>
                <a:latin typeface="Consolas"/>
              </a:rPr>
              <a:t>  () =&gt; this.id()</a:t>
            </a:r>
          </a:p>
          <a:p>
            <a:pPr algn="l"/>
            <a:r>
              <a:rPr sz="1500" b="0">
                <a:solidFill>
                  <a:srgbClr val="2B3A42"/>
                </a:solidFill>
                <a:latin typeface="Consolas"/>
              </a:rPr>
              <a:t>    ? `api/customer/${this.id()}`</a:t>
            </a:r>
          </a:p>
          <a:p>
            <a:pPr algn="l"/>
            <a:r>
              <a:rPr sz="1500" b="0">
                <a:solidFill>
                  <a:srgbClr val="2B3A42"/>
                </a:solidFill>
                <a:latin typeface="Consolas"/>
              </a:rPr>
              <a:t>    : undefined</a:t>
            </a:r>
          </a:p>
          <a:p>
            <a:pPr algn="l"/>
            <a:r>
              <a:rPr sz="1500" b="0">
                <a:solidFill>
                  <a:srgbClr val="2B3A42"/>
                </a:solidFill>
                <a:latin typeface="Consolas"/>
              </a:rPr>
              <a:t>);</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Resource: Grenzen und Best Practices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Für das Lesen gedacht, nicht für Speichern (PUT/POST)</a:t>
            </a:r>
          </a:p>
          <a:p>
            <a:pPr lvl="1">
              <a:defRPr sz="1700" b="0">
                <a:latin typeface="Segoe UI"/>
              </a:defRPr>
            </a:pPr>
            <a:r>
              <a:rPr lang="de-DE" sz="1700" b="0">
                <a:latin typeface="Segoe UI"/>
              </a:rPr>
              <a:t>Speichern weiter über den Service, danach reload()</a:t>
            </a:r>
          </a:p>
          <a:p>
            <a:pPr>
              <a:defRPr sz="2000" b="0">
                <a:latin typeface="Segoe UI"/>
              </a:defRPr>
            </a:pPr>
            <a:r>
              <a:rPr lang="de-DE" sz="2000" b="0">
                <a:latin typeface="Segoe UI"/>
              </a:rPr>
              <a:t>Bearbeitbare Kopie mit linkedSignal() aus value() ableiten</a:t>
            </a:r>
          </a:p>
          <a:p>
            <a:pPr>
              <a:defRPr sz="2000" b="0">
                <a:latin typeface="Segoe UI"/>
              </a:defRPr>
            </a:pPr>
            <a:r>
              <a:rPr lang="de-DE" sz="2000" b="0">
                <a:latin typeface="Segoe UI"/>
              </a:rPr>
              <a:t>value() nicht lesen, ohne hasValue() zu prüfen</a:t>
            </a:r>
          </a:p>
          <a:p>
            <a:pPr>
              <a:defRPr sz="2000" b="0">
                <a:latin typeface="Segoe UI"/>
              </a:defRPr>
            </a:pPr>
            <a:r>
              <a:rPr lang="de-DE" sz="2000" b="0">
                <a:latin typeface="Segoe UI"/>
              </a:rPr>
              <a:t>params schlank halten: nur die Werte, die das Laden steuern</a:t>
            </a:r>
          </a:p>
          <a:p>
            <a:pPr>
              <a:defRPr sz="2000" b="0">
                <a:latin typeface="Segoe UI"/>
              </a:defRPr>
            </a:pPr>
            <a:r>
              <a:rPr lang="de-DE" sz="2000" b="0">
                <a:latin typeface="Segoe UI"/>
              </a:rPr>
              <a:t>Teile der API sind noch als experimentell markiert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Kopie für das Formular</a:t>
            </a:r>
          </a:p>
        </p:txBody>
      </p:sp>
      <p:sp>
        <p:nvSpPr>
          <p:cNvPr id="5" name="Rectangle 4"/>
          <p:cNvSpPr/>
          <p:nvPr/>
        </p:nvSpPr>
        <p:spPr>
          <a:xfrm>
            <a:off x="7000000" y="2230000"/>
            <a:ext cx="4350000" cy="17630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customer = this.res.value;</a:t>
            </a:r>
          </a:p>
          <a:p>
            <a:pPr algn="l"/>
            <a:r>
              <a:rPr sz="1500" b="0">
                <a:solidFill>
                  <a:srgbClr val="2B3A42"/>
                </a:solidFill>
                <a:latin typeface="Consolas"/>
              </a:rPr>
              <a:t/>
            </a:r>
          </a:p>
          <a:p>
            <a:pPr algn="l"/>
            <a:r>
              <a:rPr sz="1500" b="0">
                <a:solidFill>
                  <a:srgbClr val="2B3A42"/>
                </a:solidFill>
                <a:latin typeface="Consolas"/>
              </a:rPr>
              <a:t>draft = linkedSignal(() =&gt; {</a:t>
            </a:r>
          </a:p>
          <a:p>
            <a:pPr algn="l"/>
            <a:r>
              <a:rPr sz="1500" b="0">
                <a:solidFill>
                  <a:srgbClr val="2B3A42"/>
                </a:solidFill>
                <a:latin typeface="Consolas"/>
              </a:rPr>
              <a:t>  const c = this.customer();</a:t>
            </a:r>
          </a:p>
          <a:p>
            <a:pPr algn="l"/>
            <a:r>
              <a:rPr sz="1500" b="0">
                <a:solidFill>
                  <a:srgbClr val="2B3A42"/>
                </a:solidFill>
                <a:latin typeface="Consolas"/>
              </a:rPr>
              <a:t>  return c ? { ...c } : undefined;</a:t>
            </a:r>
          </a:p>
          <a:p>
            <a:pPr algn="l"/>
            <a:r>
              <a:rPr sz="1500" b="0">
                <a:solidFill>
                  <a:srgbClr val="2B3A42"/>
                </a:solidFill>
                <a:latin typeface="Consolas"/>
              </a:rPr>
              <a:t>});</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26: Resource API</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CustomerListComponent: toSignal(getAll()) durch httpResource() ersetzen</a:t>
            </a:r>
          </a:p>
          <a:p>
            <a:pPr>
              <a:defRPr sz="2000" b="1">
                <a:latin typeface="Segoe UI"/>
              </a:defRPr>
            </a:pPr>
            <a:r>
              <a:rPr lang="de-DE" sz="2000" b="1">
                <a:latin typeface="Segoe UI"/>
              </a:rPr>
              <a:t>2. Mit isLoading() und error() Ladehinweis und Fehlermeldung anzeigen</a:t>
            </a:r>
          </a:p>
          <a:p>
            <a:pPr>
              <a:defRPr sz="2000" b="1">
                <a:latin typeface="Segoe UI"/>
              </a:defRPr>
            </a:pPr>
            <a:r>
              <a:rPr lang="de-DE" sz="2000" b="1">
                <a:latin typeface="Segoe UI"/>
              </a:rPr>
              <a:t>3. CustomerDetailsComponent: effect() + subscribe() durch rxResource() ersetzen</a:t>
            </a:r>
          </a:p>
          <a:p>
            <a:pPr lvl="1">
              <a:defRPr sz="1700" b="0">
                <a:latin typeface="Segoe UI"/>
              </a:defRPr>
            </a:pPr>
            <a:r>
              <a:rPr lang="de-DE" sz="1700" b="0">
                <a:latin typeface="Segoe UI"/>
              </a:rPr>
              <a:t>params: () =&gt; this.id(), stream: ({ params }) =&gt; customerService.getById(params)</a:t>
            </a:r>
          </a:p>
          <a:p>
            <a:pPr>
              <a:defRPr sz="2000" b="1">
                <a:latin typeface="Segoe UI"/>
              </a:defRPr>
            </a:pPr>
            <a:r>
              <a:rPr lang="de-DE" sz="2000" b="1">
                <a:latin typeface="Segoe UI"/>
              </a:rPr>
              <a:t>4. Formular bleibt an draft (linkedSignal aus customer()), nur Ladehinweis neu</a:t>
            </a:r>
          </a:p>
          <a:p>
            <a:pPr>
              <a:defRPr sz="2000" b="1">
                <a:latin typeface="Segoe UI"/>
              </a:defRPr>
            </a:pPr>
            <a:r>
              <a:rPr lang="de-DE" sz="2000" b="1">
                <a:latin typeface="Segoe UI"/>
              </a:rPr>
              <a:t>5. Speichern (update()) bleibt eine einmalige Mutation über CustomerService</a:t>
            </a:r>
          </a:p>
          <a:p>
            <a:pPr>
              <a:defRPr sz="2000" b="0">
                <a:latin typeface="Segoe UI"/>
              </a:defRPr>
            </a:pPr>
            <a:r>
              <a:rPr lang="de-DE" sz="2000" b="0">
                <a:latin typeface="Segoe UI"/>
              </a:rPr>
              <a:t>Testen: zwischen Kunden wechseln und das automatische Nachladen beobachten</a:t>
            </a:r>
          </a:p>
          <a:p>
            <a:pPr>
              <a:defRPr sz="2000" b="1">
                <a:latin typeface="Segoe UI"/>
              </a:defRPr>
            </a:pPr>
            <a:r>
              <a:rPr lang="de-DE" sz="2000" b="1">
                <a:latin typeface="Segoe UI"/>
              </a:rPr>
              <a:t>Musterlösung: 26_resourceApi (baut auf 25_httpInterceptorGuard auf)</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Bilder und Web-Performance: LCP und CLS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Core Web Vitals: Messwerte von Google für Nutzererlebnis</a:t>
            </a:r>
          </a:p>
          <a:p>
            <a:pPr>
              <a:defRPr sz="2000" b="0">
                <a:latin typeface="Segoe UI"/>
              </a:defRPr>
            </a:pPr>
            <a:r>
              <a:rPr lang="de-DE" sz="2000" b="0">
                <a:latin typeface="Segoe UI"/>
              </a:rPr>
              <a:t>LCP (Largest Contentful Paint)</a:t>
            </a:r>
          </a:p>
          <a:p>
            <a:pPr lvl="1">
              <a:defRPr sz="1700" b="0">
                <a:latin typeface="Segoe UI"/>
              </a:defRPr>
            </a:pPr>
            <a:r>
              <a:rPr lang="de-DE" sz="1700" b="0">
                <a:latin typeface="Segoe UI"/>
              </a:rPr>
              <a:t>Zeit, bis das größte sichtbare Element gezeichnet ist</a:t>
            </a:r>
          </a:p>
          <a:p>
            <a:pPr lvl="1">
              <a:defRPr sz="1700" b="0">
                <a:latin typeface="Segoe UI"/>
              </a:defRPr>
            </a:pPr>
            <a:r>
              <a:rPr lang="de-DE" sz="1700" b="0">
                <a:latin typeface="Segoe UI"/>
              </a:rPr>
              <a:t>Oft ein Bild – Ziel: unter 2,5 Sekunden</a:t>
            </a:r>
          </a:p>
          <a:p>
            <a:pPr>
              <a:defRPr sz="2000" b="0">
                <a:latin typeface="Segoe UI"/>
              </a:defRPr>
            </a:pPr>
            <a:r>
              <a:rPr lang="de-DE" sz="2000" b="0">
                <a:latin typeface="Segoe UI"/>
              </a:rPr>
              <a:t>CLS (Cumulative Layout Shift)</a:t>
            </a:r>
          </a:p>
          <a:p>
            <a:pPr lvl="1">
              <a:defRPr sz="1700" b="0">
                <a:latin typeface="Segoe UI"/>
              </a:defRPr>
            </a:pPr>
            <a:r>
              <a:rPr lang="de-DE" sz="1700" b="0">
                <a:latin typeface="Segoe UI"/>
              </a:rPr>
              <a:t>Summe aller unerwarteten Layout-Sprünge – Ziel: unter 0,1</a:t>
            </a:r>
          </a:p>
          <a:p>
            <a:pPr lvl="1">
              <a:defRPr sz="1700" b="0">
                <a:latin typeface="Segoe UI"/>
              </a:defRPr>
            </a:pPr>
            <a:r>
              <a:rPr lang="de-DE" sz="1700" b="0">
                <a:latin typeface="Segoe UI"/>
              </a:rPr>
              <a:t>Ursache oft: Bild ohne Größenangabe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Text ist schon sichtbar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Bild ohne Größe kommt an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Text springt nach unten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Fehlklick, schlechter CLS</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NgOptimizedImage: Was die Direktive tut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 aus @angular/common, aktiv durch ngSrc statt src</a:t>
            </a:r>
          </a:p>
          <a:p>
            <a:pPr>
              <a:defRPr sz="2000" b="0">
                <a:latin typeface="Segoe UI"/>
              </a:defRPr>
            </a:pPr>
            <a:r>
              <a:rPr lang="de-DE" sz="2000" b="0">
                <a:latin typeface="Segoe UI"/>
              </a:rPr>
              <a:t>Erzwingt width/height oder fill → Platz wird reserviert</a:t>
            </a:r>
          </a:p>
          <a:p>
            <a:pPr>
              <a:defRPr sz="2000" b="0">
                <a:latin typeface="Segoe UI"/>
              </a:defRPr>
            </a:pPr>
            <a:r>
              <a:rPr lang="de-DE" sz="2000" b="0">
                <a:latin typeface="Segoe UI"/>
              </a:rPr>
              <a:t>Lädt standardmäßig lazy: erst wenn das Bild nahe am Sichtbereich ist</a:t>
            </a:r>
          </a:p>
          <a:p>
            <a:pPr>
              <a:defRPr sz="2000" b="0">
                <a:latin typeface="Segoe UI"/>
              </a:defRPr>
            </a:pPr>
            <a:r>
              <a:rPr lang="de-DE" sz="2000" b="0">
                <a:latin typeface="Segoe UI"/>
              </a:rPr>
              <a:t>priority: sofort und mit hoher Priorität laden</a:t>
            </a:r>
          </a:p>
          <a:p>
            <a:pPr>
              <a:defRPr sz="2000" b="0">
                <a:latin typeface="Segoe UI"/>
              </a:defRPr>
            </a:pPr>
            <a:r>
              <a:rPr lang="de-DE" sz="2000" b="0">
                <a:latin typeface="Segoe UI"/>
              </a:rPr>
              <a:t>Mit Bild-Loader (CDN): automatisches srcset</a:t>
            </a:r>
          </a:p>
          <a:p>
            <a:pPr>
              <a:defRPr sz="2000" b="0">
                <a:latin typeface="Segoe UI"/>
              </a:defRPr>
            </a:pPr>
            <a:r>
              <a:rPr lang="de-DE" sz="2000" b="0">
                <a:latin typeface="Segoe UI"/>
              </a:rPr>
              <a:t>Warnungen im Entwicklungsmodus bei falschen Größen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&lt;img src&gt;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Größe oft unbekannt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lädt sofort alles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keine Hinweise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&lt;img ngSrc&gt;</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Platz reserviert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lazy / priority</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Warnungen</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NgOptimizedImage im Kursprojekt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customer-details.component.ts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NgOptimizedImage } from '@angular/common';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'customer-details',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imports: [DatePipe, FormsModule, NgOptimizedImage],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templateUrl: './customer-details.component.html'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CustomerDetailsComponent {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 customer-details.component.html --&gt;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@if (c.imageUrl)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&lt;img class="logo" [ngSrc]="c.imageUrl" width="200" height="200" priority&gt;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ngSrc, width/height, fill und priority</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width / height: Größe in Pixeln, ergibt das Seitenverhältnis</a:t>
            </a:r>
          </a:p>
          <a:p>
            <a:pPr lvl="1">
              <a:defRPr sz="1700" b="0">
                <a:latin typeface="Segoe UI"/>
              </a:defRPr>
            </a:pPr>
            <a:r>
              <a:rPr lang="de-DE" sz="1700" b="0">
                <a:latin typeface="Segoe UI"/>
              </a:rPr>
              <a:t>Anzeigegröße kann per CSS abweichen</a:t>
            </a:r>
          </a:p>
          <a:p>
            <a:pPr>
              <a:defRPr sz="2000" b="0">
                <a:latin typeface="Segoe UI"/>
              </a:defRPr>
            </a:pPr>
            <a:r>
              <a:rPr lang="de-DE" sz="2000" b="0">
                <a:latin typeface="Segoe UI"/>
              </a:rPr>
              <a:t>fill: Bild füllt das Elternelement aus, ohne width/height</a:t>
            </a:r>
          </a:p>
          <a:p>
            <a:pPr lvl="1">
              <a:defRPr sz="1700" b="0">
                <a:latin typeface="Segoe UI"/>
              </a:defRPr>
            </a:pPr>
            <a:r>
              <a:rPr lang="de-DE" sz="1700" b="0">
                <a:latin typeface="Segoe UI"/>
              </a:rPr>
              <a:t>Eltern brauchen position: relative, absolute oder fixed</a:t>
            </a:r>
          </a:p>
          <a:p>
            <a:pPr>
              <a:defRPr sz="2000" b="0">
                <a:latin typeface="Segoe UI"/>
              </a:defRPr>
            </a:pPr>
            <a:r>
              <a:rPr lang="de-DE" sz="2000" b="0">
                <a:latin typeface="Segoe UI"/>
              </a:rPr>
              <a:t>priority: nur für das LCP-Bild, meist eins pro Seite</a:t>
            </a:r>
          </a:p>
          <a:p>
            <a:pPr>
              <a:defRPr sz="2000" b="0">
                <a:latin typeface="Segoe UI"/>
              </a:defRPr>
            </a:pPr>
            <a:r>
              <a:rPr lang="de-DE" sz="2000" b="0">
                <a:latin typeface="Segoe UI"/>
              </a:rPr>
              <a:t>Ohne Größe oder fill: Fehler zur Laufzeit – gewollt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fill-Modus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&lt;div class="hero"&gt;</a:t>
            </a:r>
          </a:p>
          <a:p>
            <a:pPr algn="l"/>
            <a:r>
              <a:rPr sz="1300" b="0">
                <a:solidFill>
                  <a:srgbClr val="2B3A42"/>
                </a:solidFill>
                <a:latin typeface="Consolas"/>
              </a:rPr>
              <a:t>  &lt;img ngSrc="banner.jpg"</a:t>
            </a:r>
          </a:p>
          <a:p>
            <a:pPr algn="l"/>
            <a:r>
              <a:rPr sz="1300" b="0">
                <a:solidFill>
                  <a:srgbClr val="2B3A42"/>
                </a:solidFill>
                <a:latin typeface="Consolas"/>
              </a:rPr>
              <a:t>       fill priority&gt;</a:t>
            </a:r>
          </a:p>
          <a:p>
            <a:pPr algn="l"/>
            <a:r>
              <a:rPr sz="1300" b="0">
                <a:solidFill>
                  <a:srgbClr val="2B3A42"/>
                </a:solidFill>
                <a:latin typeface="Consolas"/>
              </a:rPr>
              <a:t>&lt;/div&gt;</a:t>
            </a:r>
          </a:p>
          <a:p>
            <a:pPr algn="l"/>
            <a:r>
              <a:rPr sz="1300" b="0">
                <a:solidFill>
                  <a:srgbClr val="2B3A42"/>
                </a:solidFill>
                <a:latin typeface="Consolas"/>
              </a:rPr>
              <a:t/>
            </a:r>
          </a:p>
          <a:p>
            <a:pPr algn="l"/>
            <a:r>
              <a:rPr sz="1300" b="0">
                <a:solidFill>
                  <a:srgbClr val="2B3A42"/>
                </a:solidFill>
                <a:latin typeface="Consolas"/>
              </a:rPr>
              <a:t>/* CSS */</a:t>
            </a:r>
          </a:p>
          <a:p>
            <a:pPr algn="l"/>
            <a:r>
              <a:rPr sz="1300" b="0">
                <a:solidFill>
                  <a:srgbClr val="2B3A42"/>
                </a:solidFill>
                <a:latin typeface="Consolas"/>
              </a:rPr>
              <a:t>.hero {</a:t>
            </a:r>
          </a:p>
          <a:p>
            <a:pPr algn="l"/>
            <a:r>
              <a:rPr sz="1300" b="0">
                <a:solidFill>
                  <a:srgbClr val="2B3A42"/>
                </a:solidFill>
                <a:latin typeface="Consolas"/>
              </a:rPr>
              <a:t>  position: relative;</a:t>
            </a:r>
          </a:p>
          <a:p>
            <a:pPr algn="l"/>
            <a:r>
              <a:rPr sz="1300" b="0">
                <a:solidFill>
                  <a:srgbClr val="2B3A42"/>
                </a:solidFill>
                <a:latin typeface="Consolas"/>
              </a:rPr>
              <a:t>  height: 300px;</a:t>
            </a:r>
          </a:p>
          <a:p>
            <a:pPr algn="l"/>
            <a:r>
              <a:rPr sz="1300" b="0">
                <a:solidFill>
                  <a:srgbClr val="2B3A42"/>
                </a:solidFill>
                <a:latin typeface="Consolas"/>
              </a:rPr>
              <a:t>}</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NgOptimizedImage im Browser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Logo in customer-details.component.html: ngSrc und priority werden zu Browser-Attributen.</a:t>
            </a:r>
          </a:p>
        </p:txBody>
      </p:sp>
      <p:sp>
        <p:nvSpPr>
          <p:cNvPr id="4" name="Rectangle 3"/>
          <p:cNvSpPr/>
          <p:nvPr/>
        </p:nvSpPr>
        <p:spPr>
          <a:xfrm>
            <a:off x="144044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Template</a:t>
            </a:r>
          </a:p>
        </p:txBody>
      </p:sp>
      <p:sp>
        <p:nvSpPr>
          <p:cNvPr id="5" name="Rectangle 4"/>
          <p:cNvSpPr/>
          <p:nvPr/>
        </p:nvSpPr>
        <p:spPr>
          <a:xfrm>
            <a:off x="494516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NgOptimizedImage</a:t>
            </a:r>
          </a:p>
        </p:txBody>
      </p:sp>
      <p:sp>
        <p:nvSpPr>
          <p:cNvPr id="6" name="Rectangle 5"/>
          <p:cNvSpPr/>
          <p:nvPr/>
        </p:nvSpPr>
        <p:spPr>
          <a:xfrm>
            <a:off x="844988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a:t>
            </a:r>
          </a:p>
        </p:txBody>
      </p:sp>
      <p:cxnSp>
        <p:nvCxnSpPr>
          <p:cNvPr id="7" name="Connector 6"/>
          <p:cNvCxnSpPr/>
          <p:nvPr/>
        </p:nvCxnSpPr>
        <p:spPr>
          <a:xfrm>
            <a:off x="259044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51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59988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590440" y="2657085"/>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714260" y="2307085"/>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1. [ngSrc]="c.imageUrl" width=200 height=200 priority</a:t>
            </a:r>
          </a:p>
        </p:txBody>
      </p:sp>
      <p:cxnSp>
        <p:nvCxnSpPr>
          <p:cNvPr id="12" name="Connector 11"/>
          <p:cNvCxnSpPr/>
          <p:nvPr/>
        </p:nvCxnSpPr>
        <p:spPr>
          <a:xfrm>
            <a:off x="6095160" y="2938742"/>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75160" y="2938742"/>
            <a:ext cx="0" cy="172628"/>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115160" y="311137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25160" y="2773742"/>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2. prüft: Größe oder fill vorhanden?</a:t>
            </a:r>
          </a:p>
        </p:txBody>
      </p:sp>
      <p:cxnSp>
        <p:nvCxnSpPr>
          <p:cNvPr id="16" name="Connector 15"/>
          <p:cNvCxnSpPr/>
          <p:nvPr/>
        </p:nvCxnSpPr>
        <p:spPr>
          <a:xfrm>
            <a:off x="6095160" y="3565655"/>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8980" y="3215655"/>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3. width / height setzen: Platz reserviert</a:t>
            </a:r>
          </a:p>
        </p:txBody>
      </p:sp>
      <p:cxnSp>
        <p:nvCxnSpPr>
          <p:cNvPr id="18" name="Connector 17"/>
          <p:cNvCxnSpPr/>
          <p:nvPr/>
        </p:nvCxnSpPr>
        <p:spPr>
          <a:xfrm>
            <a:off x="6095160" y="401994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218980" y="366994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4. priority: loading=eager, fetchpriority=high</a:t>
            </a:r>
          </a:p>
        </p:txBody>
      </p:sp>
      <p:cxnSp>
        <p:nvCxnSpPr>
          <p:cNvPr id="20" name="Connector 19"/>
          <p:cNvCxnSpPr/>
          <p:nvPr/>
        </p:nvCxnSpPr>
        <p:spPr>
          <a:xfrm>
            <a:off x="6095160" y="4474225"/>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18980" y="4124225"/>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5. src setzen (mit Loader auch srcset)</a:t>
            </a:r>
          </a:p>
        </p:txBody>
      </p:sp>
      <p:cxnSp>
        <p:nvCxnSpPr>
          <p:cNvPr id="22" name="Connector 21"/>
          <p:cNvCxnSpPr/>
          <p:nvPr/>
        </p:nvCxnSpPr>
        <p:spPr>
          <a:xfrm flipH="1">
            <a:off x="6115160" y="492851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18980" y="457851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6. Bild geladen: load-Ereignis</a:t>
            </a:r>
          </a:p>
        </p:txBody>
      </p:sp>
      <p:cxnSp>
        <p:nvCxnSpPr>
          <p:cNvPr id="24" name="Connector 23"/>
          <p:cNvCxnSpPr/>
          <p:nvPr/>
        </p:nvCxnSpPr>
        <p:spPr>
          <a:xfrm>
            <a:off x="6095160" y="5210167"/>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75160" y="5210167"/>
            <a:ext cx="0" cy="172628"/>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115160" y="5382795"/>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25160" y="5045167"/>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7. nur Entwicklung: Seitenverhältnis prüfen</a:t>
            </a:r>
          </a:p>
        </p:txBody>
      </p:sp>
      <p:sp>
        <p:nvSpPr>
          <p:cNvPr id="28" name="TextBox 27"/>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Ohne priority setzt die Direktive loading=lazy: Laden erst nahe am Sichtbereich</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27: NgOptimizedImage</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NgOptimizedImage aus @angular/common in CustomerDetailsComponent importieren</a:t>
            </a:r>
          </a:p>
          <a:p>
            <a:pPr>
              <a:defRPr sz="2000" b="1">
                <a:latin typeface="Segoe UI"/>
              </a:defRPr>
            </a:pPr>
            <a:r>
              <a:rPr lang="de-DE" sz="2000" b="1">
                <a:latin typeface="Segoe UI"/>
              </a:rPr>
              <a:t>2. [src]="c.imageUrl" durch [ngSrc]="c.imageUrl" ersetzen</a:t>
            </a:r>
          </a:p>
          <a:p>
            <a:pPr lvl="1">
              <a:defRPr sz="1700" b="0">
                <a:latin typeface="Segoe UI"/>
              </a:defRPr>
            </a:pPr>
            <a:r>
              <a:rPr lang="de-DE" sz="1700" b="0">
                <a:latin typeface="Segoe UI"/>
              </a:rPr>
              <a:t>Bild in @if (c.imageUrl) { … } setzen, da ngSrc einen String erwartet</a:t>
            </a:r>
          </a:p>
          <a:p>
            <a:pPr>
              <a:defRPr sz="2000" b="1">
                <a:latin typeface="Segoe UI"/>
              </a:defRPr>
            </a:pPr>
            <a:r>
              <a:rPr lang="de-DE" sz="2000" b="1">
                <a:latin typeface="Segoe UI"/>
              </a:rPr>
              <a:t>3. width und height ergänzen (oder fill mit positioniertem Elternelement)</a:t>
            </a:r>
          </a:p>
          <a:p>
            <a:pPr>
              <a:defRPr sz="2000" b="1">
                <a:latin typeface="Segoe UI"/>
              </a:defRPr>
            </a:pPr>
            <a:r>
              <a:rPr lang="de-DE" sz="2000" b="1">
                <a:latin typeface="Segoe UI"/>
              </a:rPr>
              <a:t>4. Im Browser prüfen, dass die Bilder weiter korrekt angezeigt werden</a:t>
            </a:r>
          </a:p>
          <a:p>
            <a:pPr>
              <a:defRPr sz="2000" b="1">
                <a:latin typeface="Segoe UI"/>
              </a:defRPr>
            </a:pPr>
            <a:r>
              <a:rPr lang="de-DE" sz="2000" b="1">
                <a:latin typeface="Segoe UI"/>
              </a:rPr>
              <a:t>5. Optional: priority für das sofort sichtbare Bild setzen</a:t>
            </a:r>
          </a:p>
          <a:p>
            <a:pPr>
              <a:defRPr sz="2000" b="1">
                <a:latin typeface="Segoe UI"/>
              </a:defRPr>
            </a:pPr>
            <a:r>
              <a:rPr lang="de-DE" sz="2000" b="1">
                <a:latin typeface="Segoe UI"/>
              </a:rPr>
              <a:t>Musterlösung: 27_ngOptimizedImage (baut auf 26_resourceApi auf)</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 Queries: viewChild &amp; contentChild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Manchmal braucht die Klasse direkten Zugriff auf ein Element</a:t>
            </a:r>
          </a:p>
          <a:p>
            <a:pPr lvl="1">
              <a:defRPr sz="1700" b="0">
                <a:latin typeface="Segoe UI"/>
              </a:defRPr>
            </a:pPr>
            <a:r>
              <a:rPr lang="de-DE" sz="1700" b="0">
                <a:latin typeface="Segoe UI"/>
              </a:rPr>
              <a:t>Fokus setzen, Größe messen, Bibliothek anbinden</a:t>
            </a:r>
          </a:p>
          <a:p>
            <a:pPr lvl="1">
              <a:defRPr sz="1700" b="0">
                <a:latin typeface="Segoe UI"/>
              </a:defRPr>
            </a:pPr>
            <a:r>
              <a:rPr lang="de-DE" sz="1700" b="0">
                <a:latin typeface="Segoe UI"/>
              </a:rPr>
              <a:t>Methode einer Kind-Komponente aufrufen</a:t>
            </a:r>
          </a:p>
          <a:p>
            <a:pPr>
              <a:defRPr sz="2000" b="0">
                <a:latin typeface="Segoe UI"/>
              </a:defRPr>
            </a:pPr>
            <a:r>
              <a:rPr lang="de-DE" sz="2000" b="0">
                <a:latin typeface="Segoe UI"/>
              </a:rPr>
              <a:t>viewChild() / viewChildren(): im eigenen Template</a:t>
            </a:r>
          </a:p>
          <a:p>
            <a:pPr>
              <a:defRPr sz="2000" b="0">
                <a:latin typeface="Segoe UI"/>
              </a:defRPr>
            </a:pPr>
            <a:r>
              <a:rPr lang="de-DE" sz="2000" b="0">
                <a:latin typeface="Segoe UI"/>
              </a:rPr>
              <a:t>contentChild() / contentChildren(): im projizierten Inhalt</a:t>
            </a:r>
          </a:p>
          <a:p>
            <a:pPr>
              <a:defRPr sz="2000" b="0">
                <a:latin typeface="Segoe UI"/>
              </a:defRPr>
            </a:pPr>
            <a:r>
              <a:rPr lang="de-DE" sz="2000" b="0">
                <a:latin typeface="Segoe UI"/>
              </a:rPr>
              <a:t>Ergebnis ist ein Signal – ersetzt @ViewChild und Co.</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Neu (Signal)</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viewChildren()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contentChild()</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 (Dekorator)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@ViewChildren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@ContentChild</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View oder Content? Der Unterschied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View: das eigene Template der Komponente</a:t>
            </a:r>
          </a:p>
          <a:p>
            <a:pPr lvl="1">
              <a:defRPr sz="1700" b="0">
                <a:latin typeface="Segoe UI"/>
              </a:defRPr>
            </a:pPr>
            <a:r>
              <a:rPr lang="de-DE" sz="1700" b="0">
                <a:latin typeface="Segoe UI"/>
              </a:rPr>
              <a:t>Steht in templateUrl bzw. template</a:t>
            </a:r>
          </a:p>
          <a:p>
            <a:pPr lvl="1">
              <a:defRPr sz="1700" b="0">
                <a:latin typeface="Segoe UI"/>
              </a:defRPr>
            </a:pPr>
            <a:r>
              <a:rPr lang="de-DE" sz="1700" b="0">
                <a:latin typeface="Segoe UI"/>
              </a:rPr>
              <a:t>Abfrage mit viewChild()</a:t>
            </a:r>
          </a:p>
          <a:p>
            <a:pPr>
              <a:defRPr sz="2000" b="0">
                <a:latin typeface="Segoe UI"/>
              </a:defRPr>
            </a:pPr>
            <a:r>
              <a:rPr lang="de-DE" sz="2000" b="0">
                <a:latin typeface="Segoe UI"/>
              </a:rPr>
              <a:t>Content: was die Elternkomponente zwischen die Tags schreibt</a:t>
            </a:r>
          </a:p>
          <a:p>
            <a:pPr lvl="1">
              <a:defRPr sz="1700" b="0">
                <a:latin typeface="Segoe UI"/>
              </a:defRPr>
            </a:pPr>
            <a:r>
              <a:rPr lang="de-DE" sz="1700" b="0">
                <a:latin typeface="Segoe UI"/>
              </a:rPr>
              <a:t>Wird per &lt;ng-content&gt; angezeigt</a:t>
            </a:r>
          </a:p>
          <a:p>
            <a:pPr lvl="1">
              <a:defRPr sz="1700" b="0">
                <a:latin typeface="Segoe UI"/>
              </a:defRPr>
            </a:pPr>
            <a:r>
              <a:rPr lang="de-DE" sz="1700" b="0">
                <a:latin typeface="Segoe UI"/>
              </a:rPr>
              <a:t>Abfrage mit contentChild()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Aus Sicht von CardComponent</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 card.component.html: View --&gt;</a:t>
            </a:r>
          </a:p>
          <a:p>
            <a:pPr algn="l"/>
            <a:r>
              <a:rPr sz="1300" b="0">
                <a:solidFill>
                  <a:srgbClr val="2B3A42"/>
                </a:solidFill>
                <a:latin typeface="Consolas"/>
              </a:rPr>
              <a:t>&lt;div class="card" #frame&gt;</a:t>
            </a:r>
          </a:p>
          <a:p>
            <a:pPr algn="l"/>
            <a:r>
              <a:rPr sz="1300" b="0">
                <a:solidFill>
                  <a:srgbClr val="2B3A42"/>
                </a:solidFill>
                <a:latin typeface="Consolas"/>
              </a:rPr>
              <a:t>  &lt;ng-content /&gt;</a:t>
            </a:r>
          </a:p>
          <a:p>
            <a:pPr algn="l"/>
            <a:r>
              <a:rPr sz="1300" b="0">
                <a:solidFill>
                  <a:srgbClr val="2B3A42"/>
                </a:solidFill>
                <a:latin typeface="Consolas"/>
              </a:rPr>
              <a:t>&lt;/div&gt;</a:t>
            </a:r>
          </a:p>
          <a:p>
            <a:pPr algn="l"/>
            <a:r>
              <a:rPr sz="1300" b="0">
                <a:solidFill>
                  <a:srgbClr val="2B3A42"/>
                </a:solidFill>
                <a:latin typeface="Consolas"/>
              </a:rPr>
              <a:t/>
            </a:r>
          </a:p>
          <a:p>
            <a:pPr algn="l"/>
            <a:r>
              <a:rPr sz="1300" b="0">
                <a:solidFill>
                  <a:srgbClr val="2B3A42"/>
                </a:solidFill>
                <a:latin typeface="Consolas"/>
              </a:rPr>
              <a:t>&lt;!-- Elterntemplate: Content --&gt;</a:t>
            </a:r>
          </a:p>
          <a:p>
            <a:pPr algn="l"/>
            <a:r>
              <a:rPr sz="1300" b="0">
                <a:solidFill>
                  <a:srgbClr val="2B3A42"/>
                </a:solidFill>
                <a:latin typeface="Consolas"/>
              </a:rPr>
              <a:t>&lt;app-card&gt;</a:t>
            </a:r>
          </a:p>
          <a:p>
            <a:pPr algn="l"/>
            <a:r>
              <a:rPr sz="1300" b="0">
                <a:solidFill>
                  <a:srgbClr val="2B3A42"/>
                </a:solidFill>
                <a:latin typeface="Consolas"/>
              </a:rPr>
              <a:t>  &lt;h3 #title&gt;Kunde&lt;/h3&gt;</a:t>
            </a:r>
          </a:p>
          <a:p>
            <a:pPr algn="l"/>
            <a:r>
              <a:rPr sz="1300" b="0">
                <a:solidFill>
                  <a:srgbClr val="2B3A42"/>
                </a:solidFill>
                <a:latin typeface="Consolas"/>
              </a:rPr>
              <a:t>&lt;/app-card&gt;</a:t>
            </a:r>
          </a:p>
          <a:p>
            <a:pPr algn="l"/>
            <a:r>
              <a:rPr sz="1300" b="0">
                <a:solidFill>
                  <a:srgbClr val="2B3A42"/>
                </a:solidFill>
                <a:latin typeface="Consolas"/>
              </a:rPr>
              <a:t/>
            </a:r>
          </a:p>
          <a:p>
            <a:pPr algn="l"/>
            <a:r>
              <a:rPr sz="1300" b="0">
                <a:solidFill>
                  <a:srgbClr val="2B3A42"/>
                </a:solidFill>
                <a:latin typeface="Consolas"/>
              </a:rPr>
              <a:t>frame = viewChild('frame');</a:t>
            </a:r>
          </a:p>
          <a:p>
            <a:pPr algn="l"/>
            <a:r>
              <a:rPr sz="1300" b="0">
                <a:solidFill>
                  <a:srgbClr val="2B3A42"/>
                </a:solidFill>
                <a:latin typeface="Consolas"/>
              </a:rPr>
              <a:t>title = contentChild('title');</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Was ist View, was ist Content?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viewChild sucht im eigenen Template der Card, contentChild im Inhalt vom Eltern-Template.</a:t>
            </a:r>
          </a:p>
        </p:txBody>
      </p:sp>
      <p:sp>
        <p:nvSpPr>
          <p:cNvPr id="4" name="Rectangle 3"/>
          <p:cNvSpPr/>
          <p:nvPr/>
        </p:nvSpPr>
        <p:spPr>
          <a:xfrm>
            <a:off x="838080" y="1650000"/>
            <a:ext cx="10514160" cy="260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&lt;app-card&gt; im Template von CustomerDetailsComponent</a:t>
            </a:r>
          </a:p>
          <a:p>
            <a:pPr algn="l"/>
            <a:r>
              <a:rPr sz="1300" b="1">
                <a:solidFill>
                  <a:srgbClr val="2B3A42"/>
                </a:solidFill>
                <a:latin typeface="Segoe UI"/>
              </a:rPr>
              <a:t>CardComponent</a:t>
            </a:r>
          </a:p>
        </p:txBody>
      </p:sp>
      <p:sp>
        <p:nvSpPr>
          <p:cNvPr id="6" name="Rectangle 5"/>
          <p:cNvSpPr/>
          <p:nvPr/>
        </p:nvSpPr>
        <p:spPr>
          <a:xfrm>
            <a:off x="948080" y="2210000"/>
            <a:ext cx="4887080" cy="19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5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View: card.component.html</a:t>
            </a:r>
          </a:p>
          <a:p>
            <a:pPr algn="l"/>
            <a:r>
              <a:rPr sz="1300" b="1">
                <a:solidFill>
                  <a:srgbClr val="2B3A42"/>
                </a:solidFill>
                <a:latin typeface="Segoe UI"/>
              </a:rPr>
              <a:t>frame = viewChild('frame')</a:t>
            </a:r>
          </a:p>
        </p:txBody>
      </p:sp>
      <p:sp>
        <p:nvSpPr>
          <p:cNvPr id="8" name="Rectangle 7"/>
          <p:cNvSpPr/>
          <p:nvPr/>
        </p:nvSpPr>
        <p:spPr>
          <a:xfrm>
            <a:off x="1058080" y="2770000"/>
            <a:ext cx="4667080" cy="126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9" name="TextBox 8"/>
          <p:cNvSpPr txBox="1"/>
          <p:nvPr/>
        </p:nvSpPr>
        <p:spPr>
          <a:xfrm>
            <a:off x="1118080" y="2810000"/>
            <a:ext cx="4547080" cy="290000"/>
          </a:xfrm>
          <a:prstGeom prst="rect">
            <a:avLst/>
          </a:prstGeom>
          <a:noFill/>
        </p:spPr>
        <p:txBody>
          <a:bodyPr wrap="square" anchor="t" lIns="70000" rIns="70000" tIns="0" bIns="0">
            <a:spAutoFit/>
          </a:bodyPr>
          <a:lstStyle/>
          <a:p>
            <a:pPr algn="l"/>
            <a:r>
              <a:rPr sz="1300" b="1">
                <a:solidFill>
                  <a:srgbClr val="2B3A42"/>
                </a:solidFill>
                <a:latin typeface="Segoe UI"/>
              </a:rPr>
              <a:t>&lt;div class="card" #frame&gt;</a:t>
            </a:r>
          </a:p>
        </p:txBody>
      </p:sp>
      <p:sp>
        <p:nvSpPr>
          <p:cNvPr id="10" name="Rounded Rectangle 9"/>
          <p:cNvSpPr/>
          <p:nvPr/>
        </p:nvSpPr>
        <p:spPr>
          <a:xfrm>
            <a:off x="1168080" y="3100000"/>
            <a:ext cx="444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&lt;ng-content /&gt;</a:t>
            </a:r>
          </a:p>
          <a:p>
            <a:pPr algn="ctr"/>
            <a:r>
              <a:rPr sz="1300" b="1">
                <a:solidFill>
                  <a:srgbClr val="FFFFFF"/>
                </a:solidFill>
                <a:latin typeface="Segoe UI"/>
              </a:rPr>
              <a:t>Platzhalter</a:t>
            </a:r>
          </a:p>
        </p:txBody>
      </p:sp>
      <p:sp>
        <p:nvSpPr>
          <p:cNvPr id="11" name="Rectangle 10"/>
          <p:cNvSpPr/>
          <p:nvPr/>
        </p:nvSpPr>
        <p:spPr>
          <a:xfrm>
            <a:off x="6355160" y="2210000"/>
            <a:ext cx="4887080" cy="19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25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Content: aus dem Eltern-Template</a:t>
            </a:r>
          </a:p>
          <a:p>
            <a:pPr algn="l"/>
            <a:r>
              <a:rPr sz="1300" b="1">
                <a:solidFill>
                  <a:srgbClr val="2B3A42"/>
                </a:solidFill>
                <a:latin typeface="Segoe UI"/>
              </a:rPr>
              <a:t>title = contentChild('title')</a:t>
            </a:r>
          </a:p>
        </p:txBody>
      </p:sp>
      <p:sp>
        <p:nvSpPr>
          <p:cNvPr id="13" name="Rounded Rectangle 12"/>
          <p:cNvSpPr/>
          <p:nvPr/>
        </p:nvSpPr>
        <p:spPr>
          <a:xfrm>
            <a:off x="6465160" y="2770000"/>
            <a:ext cx="4667080" cy="64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&lt;h3 #title&gt;Kunde&lt;/h3&gt;</a:t>
            </a:r>
          </a:p>
        </p:txBody>
      </p:sp>
      <p:cxnSp>
        <p:nvCxnSpPr>
          <p:cNvPr id="14" name="Connector 13"/>
          <p:cNvCxnSpPr/>
          <p:nvPr/>
        </p:nvCxnSpPr>
        <p:spPr>
          <a:xfrm flipH="1">
            <a:off x="5615160" y="3255000"/>
            <a:ext cx="850000" cy="0"/>
          </a:xfrm>
          <a:prstGeom prst="line">
            <a:avLst/>
          </a:prstGeom>
          <a:ln w="25400">
            <a:solidFill>
              <a:srgbClr val="C05A1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85236" y="2925000"/>
            <a:ext cx="1309848"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erscheint</a:t>
            </a:r>
          </a:p>
        </p:txBody>
      </p:sp>
      <p:sp>
        <p:nvSpPr>
          <p:cNvPr id="16" name="TextBox 15"/>
          <p:cNvSpPr txBox="1"/>
          <p:nvPr/>
        </p:nvSpPr>
        <p:spPr>
          <a:xfrm>
            <a:off x="838080" y="431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Der Content gehört zum Eltern-Template, angezeigt wird er an der Stelle von &lt;ng-content /&gt;</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Locator, required und read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Erster Parameter (Locator): wonach wird gesucht?</a:t>
            </a:r>
          </a:p>
          <a:p>
            <a:pPr lvl="1">
              <a:defRPr sz="1700" b="0">
                <a:latin typeface="Segoe UI"/>
              </a:defRPr>
            </a:pPr>
            <a:r>
              <a:rPr lang="de-DE" sz="1700" b="0">
                <a:latin typeface="Segoe UI"/>
              </a:rPr>
              <a:t>Name einer Template-Variable: 'searchInput' für #searchInput</a:t>
            </a:r>
          </a:p>
          <a:p>
            <a:pPr lvl="1">
              <a:defRPr sz="1700" b="0">
                <a:latin typeface="Segoe UI"/>
              </a:defRPr>
            </a:pPr>
            <a:r>
              <a:rPr lang="de-DE" sz="1700" b="0">
                <a:latin typeface="Segoe UI"/>
              </a:rPr>
              <a:t>Oder eine Klasse: viewChild(CustomerFilterComponent)</a:t>
            </a:r>
          </a:p>
          <a:p>
            <a:pPr>
              <a:defRPr sz="2000" b="0">
                <a:latin typeface="Segoe UI"/>
              </a:defRPr>
            </a:pPr>
            <a:r>
              <a:rPr lang="de-DE" sz="2000" b="0">
                <a:latin typeface="Segoe UI"/>
              </a:rPr>
              <a:t>Rückgabe: Signal&lt;T | undefined&gt; – kann leer sein</a:t>
            </a:r>
          </a:p>
          <a:p>
            <a:pPr>
              <a:defRPr sz="2000" b="0">
                <a:latin typeface="Segoe UI"/>
              </a:defRPr>
            </a:pPr>
            <a:r>
              <a:rPr lang="de-DE" sz="2000" b="0">
                <a:latin typeface="Segoe UI"/>
              </a:rPr>
              <a:t>viewChild.required(…): Signal&lt;T&gt;, Fehler wenn nicht da</a:t>
            </a:r>
          </a:p>
          <a:p>
            <a:pPr>
              <a:defRPr sz="2000" b="0">
                <a:latin typeface="Segoe UI"/>
              </a:defRPr>
            </a:pPr>
            <a:r>
              <a:rPr lang="de-DE" sz="2000" b="0">
                <a:latin typeface="Segoe UI"/>
              </a:rPr>
              <a:t>Option read: welches Objekt man erhält</a:t>
            </a:r>
          </a:p>
          <a:p>
            <a:pPr lvl="1">
              <a:defRPr sz="1700" b="0">
                <a:latin typeface="Segoe UI"/>
              </a:defRPr>
            </a:pPr>
            <a:r>
              <a:rPr lang="de-DE" sz="1700" b="0">
                <a:latin typeface="Segoe UI"/>
              </a:rPr>
              <a:t>z. B. { read: ElementRef } statt der Komponenten-Instanz</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Varianten</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input = viewChild&lt;</a:t>
            </a:r>
          </a:p>
          <a:p>
            <a:pPr algn="l"/>
            <a:r>
              <a:rPr sz="1300" b="0">
                <a:solidFill>
                  <a:srgbClr val="2B3A42"/>
                </a:solidFill>
                <a:latin typeface="Consolas"/>
              </a:rPr>
              <a:t>  ElementRef&lt;HTMLInputElement&gt;&gt;(</a:t>
            </a:r>
          </a:p>
          <a:p>
            <a:pPr algn="l"/>
            <a:r>
              <a:rPr sz="1300" b="0">
                <a:solidFill>
                  <a:srgbClr val="2B3A42"/>
                </a:solidFill>
                <a:latin typeface="Consolas"/>
              </a:rPr>
              <a:t>  'searchInput');</a:t>
            </a:r>
          </a:p>
          <a:p>
            <a:pPr algn="l"/>
            <a:r>
              <a:rPr sz="1300" b="0">
                <a:solidFill>
                  <a:srgbClr val="2B3A42"/>
                </a:solidFill>
                <a:latin typeface="Consolas"/>
              </a:rPr>
              <a:t/>
            </a:r>
          </a:p>
          <a:p>
            <a:pPr algn="l"/>
            <a:r>
              <a:rPr sz="1300" b="0">
                <a:solidFill>
                  <a:srgbClr val="2B3A42"/>
                </a:solidFill>
                <a:latin typeface="Consolas"/>
              </a:rPr>
              <a:t>filter = viewChild.required(</a:t>
            </a:r>
          </a:p>
          <a:p>
            <a:pPr algn="l"/>
            <a:r>
              <a:rPr sz="1300" b="0">
                <a:solidFill>
                  <a:srgbClr val="2B3A42"/>
                </a:solidFill>
                <a:latin typeface="Consolas"/>
              </a:rPr>
              <a:t>  CustomerFilterComponent);</a:t>
            </a:r>
          </a:p>
          <a:p>
            <a:pPr algn="l"/>
            <a:r>
              <a:rPr sz="1300" b="0">
                <a:solidFill>
                  <a:srgbClr val="2B3A42"/>
                </a:solidFill>
                <a:latin typeface="Consolas"/>
              </a:rPr>
              <a:t/>
            </a:r>
          </a:p>
          <a:p>
            <a:pPr algn="l"/>
            <a:r>
              <a:rPr sz="1300" b="0">
                <a:solidFill>
                  <a:srgbClr val="2B3A42"/>
                </a:solidFill>
                <a:latin typeface="Consolas"/>
              </a:rPr>
              <a:t>filterEl = viewChild(</a:t>
            </a:r>
          </a:p>
          <a:p>
            <a:pPr algn="l"/>
            <a:r>
              <a:rPr sz="1300" b="0">
                <a:solidFill>
                  <a:srgbClr val="2B3A42"/>
                </a:solidFill>
                <a:latin typeface="Consolas"/>
              </a:rPr>
              <a:t>  CustomerFilterComponent,</a:t>
            </a:r>
          </a:p>
          <a:p>
            <a:pPr algn="l"/>
            <a:r>
              <a:rPr sz="1300" b="0">
                <a:solidFill>
                  <a:srgbClr val="2B3A42"/>
                </a:solidFill>
                <a:latin typeface="Consolas"/>
              </a:rPr>
              <a:t>  { read: ElementRef });</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ist der Wert verfügbar?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Im constructor noch nicht: das Template ist nicht gerendert</a:t>
            </a:r>
          </a:p>
          <a:p>
            <a:pPr>
              <a:defRPr sz="2000" b="0">
                <a:latin typeface="Segoe UI"/>
              </a:defRPr>
            </a:pPr>
            <a:r>
              <a:rPr lang="de-DE" sz="2000" b="0">
                <a:latin typeface="Segoe UI"/>
              </a:rPr>
              <a:t>Nach dem ersten Rendern setzt Angular den Wert</a:t>
            </a:r>
          </a:p>
          <a:p>
            <a:pPr>
              <a:defRPr sz="2000" b="0">
                <a:latin typeface="Segoe UI"/>
              </a:defRPr>
            </a:pPr>
            <a:r>
              <a:rPr lang="de-DE" sz="2000" b="0">
                <a:latin typeface="Segoe UI"/>
              </a:rPr>
              <a:t>Das Signal meldet die Änderung: computed()/effect() reagieren</a:t>
            </a:r>
          </a:p>
          <a:p>
            <a:pPr>
              <a:defRPr sz="2000" b="0">
                <a:latin typeface="Segoe UI"/>
              </a:defRPr>
            </a:pPr>
            <a:r>
              <a:rPr lang="de-DE" sz="2000" b="0">
                <a:latin typeface="Segoe UI"/>
              </a:rPr>
              <a:t>Element in @if: verschwindet es, wird das Signal undefined</a:t>
            </a:r>
          </a:p>
          <a:p>
            <a:pPr>
              <a:defRPr sz="2000" b="0">
                <a:latin typeface="Segoe UI"/>
              </a:defRPr>
            </a:pPr>
            <a:r>
              <a:rPr lang="de-DE" sz="2000" b="0">
                <a:latin typeface="Segoe UI"/>
              </a:rPr>
              <a:t>Einmalige DOM-Arbeit nach dem Rendern: afterNextRender()</a:t>
            </a:r>
          </a:p>
          <a:p>
            <a:pPr>
              <a:defRPr sz="2000" b="0">
                <a:latin typeface="Segoe UI"/>
              </a:defRPr>
            </a:pPr>
            <a:r>
              <a:rPr lang="de-DE" sz="2000" b="0">
                <a:latin typeface="Segoe UI"/>
              </a:rPr>
              <a:t>Event-Handler (Klick) laufen später: Wert ist dann da</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constructor: undefined</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Template wird gerendert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enthält Element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computed / effect reagieren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@if falsch: wieder undefined</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Suchfeld mit viewChild()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customer-list.component.html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#searchInput type="text" placeholder="Nach Vorname filtern..."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[value]="filterText()" (input)="onFilterInput($event)"&gt;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&lt;button (click)="clearFilter()"&gt;Filter leeren &amp;amp; fokussieren&lt;/button&gt;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customer-list.component.ts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searchInput = viewChild&lt;ElementRef&lt;HTMLInputElement&gt;&gt;('searchInput');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filterText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onFilterInput(event: Event)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this.filterText.set((event.target as HTMLInputElement).value);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clearFilter()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this.filterText.set('');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this.searchInput()?.nativeElement.focus();   // Fokus zurück ins Feld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 Queries: Best Practices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Erst fragen: Geht es mit Bindungen im Template?</a:t>
            </a:r>
          </a:p>
          <a:p>
            <a:pPr lvl="1">
              <a:defRPr sz="1700" b="0">
                <a:latin typeface="Segoe UI"/>
              </a:defRPr>
            </a:pPr>
            <a:r>
              <a:rPr lang="de-DE" sz="1700" b="0">
                <a:latin typeface="Segoe UI"/>
              </a:rPr>
              <a:t>Werte über Signals setzen, nicht über nativeElement.value</a:t>
            </a:r>
          </a:p>
          <a:p>
            <a:pPr>
              <a:defRPr sz="2000" b="0">
                <a:latin typeface="Segoe UI"/>
              </a:defRPr>
            </a:pPr>
            <a:r>
              <a:rPr lang="de-DE" sz="2000" b="0">
                <a:latin typeface="Segoe UI"/>
              </a:rPr>
              <a:t>Direkten DOM-Zugriff auf wenige Fälle beschränken</a:t>
            </a:r>
          </a:p>
          <a:p>
            <a:pPr lvl="1">
              <a:defRPr sz="1700" b="0">
                <a:latin typeface="Segoe UI"/>
              </a:defRPr>
            </a:pPr>
            <a:r>
              <a:rPr lang="de-DE" sz="1700" b="0">
                <a:latin typeface="Segoe UI"/>
              </a:rPr>
              <a:t>Fokus, Scrollen, Messen, Drittbibliotheken</a:t>
            </a:r>
          </a:p>
          <a:p>
            <a:pPr>
              <a:defRPr sz="2000" b="0">
                <a:latin typeface="Segoe UI"/>
              </a:defRPr>
            </a:pPr>
            <a:r>
              <a:rPr lang="de-DE" sz="2000" b="0">
                <a:latin typeface="Segoe UI"/>
              </a:rPr>
              <a:t>Name im Locator muss exakt der Template-Variable entsprechen</a:t>
            </a:r>
          </a:p>
          <a:p>
            <a:pPr>
              <a:defRPr sz="2000" b="0">
                <a:latin typeface="Segoe UI"/>
              </a:defRPr>
            </a:pPr>
            <a:r>
              <a:rPr lang="de-DE" sz="2000" b="0">
                <a:latin typeface="Segoe UI"/>
              </a:rPr>
              <a:t>Signal immer mit () lesen: this.searchInput()</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28: viewChild()</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Im Template von CustomerListComponent ein &lt;input #searchInput&gt; ergänzen</a:t>
            </a:r>
          </a:p>
          <a:p>
            <a:pPr>
              <a:defRPr sz="2000" b="1">
                <a:latin typeface="Segoe UI"/>
              </a:defRPr>
            </a:pPr>
            <a:r>
              <a:rPr lang="de-DE" sz="2000" b="1">
                <a:latin typeface="Segoe UI"/>
              </a:rPr>
              <a:t>2. searchInput = viewChild&lt;ElementRef&lt;HTMLInputElement&gt;&gt;('searchInput')</a:t>
            </a:r>
          </a:p>
          <a:p>
            <a:pPr>
              <a:defRPr sz="2000" b="1">
                <a:latin typeface="Segoe UI"/>
              </a:defRPr>
            </a:pPr>
            <a:r>
              <a:rPr lang="de-DE" sz="2000" b="1">
                <a:latin typeface="Segoe UI"/>
              </a:rPr>
              <a:t>3. filteredCustomers(): Kundenliste nach dem eingegebenen Text filtern</a:t>
            </a:r>
          </a:p>
          <a:p>
            <a:pPr>
              <a:defRPr sz="2000" b="1">
                <a:latin typeface="Segoe UI"/>
              </a:defRPr>
            </a:pPr>
            <a:r>
              <a:rPr lang="de-DE" sz="2000" b="1">
                <a:latin typeface="Segoe UI"/>
              </a:rPr>
              <a:t>4. clearFilter(): Filtertext leeren, dann Fokus setzen</a:t>
            </a:r>
          </a:p>
          <a:p>
            <a:pPr lvl="1">
              <a:defRPr sz="1700" b="0">
                <a:latin typeface="Segoe UI"/>
              </a:defRPr>
            </a:pPr>
            <a:r>
              <a:rPr lang="de-DE" sz="1700" b="0">
                <a:latin typeface="Segoe UI"/>
              </a:rPr>
              <a:t>this.searchInput()?.nativeElement.focus()</a:t>
            </a:r>
          </a:p>
          <a:p>
            <a:pPr>
              <a:defRPr sz="2000" b="1">
                <a:latin typeface="Segoe UI"/>
              </a:defRPr>
            </a:pPr>
            <a:r>
              <a:rPr lang="de-DE" sz="2000" b="1">
                <a:latin typeface="Segoe UI"/>
              </a:rPr>
              <a:t>5. Im Template @for über filteredCustomers() statt customers()</a:t>
            </a:r>
          </a:p>
          <a:p>
            <a:pPr>
              <a:defRPr sz="2000" b="0">
                <a:latin typeface="Segoe UI"/>
              </a:defRPr>
            </a:pPr>
            <a:r>
              <a:rPr lang="de-DE" sz="2000" b="0">
                <a:latin typeface="Segoe UI"/>
              </a:rPr>
              <a:t>Testen: filtern, Filter leeren, Cursor steht wieder im Feld</a:t>
            </a:r>
          </a:p>
          <a:p>
            <a:pPr>
              <a:defRPr sz="2000" b="1">
                <a:latin typeface="Segoe UI"/>
              </a:defRPr>
            </a:pPr>
            <a:r>
              <a:rPr lang="de-DE" sz="2000" b="1">
                <a:latin typeface="Segoe UI"/>
              </a:rPr>
              <a:t>Musterlösung: 28_viewChild (baut auf 27_ngOptimizedImage auf)</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Content Projection: Das Slot-Prinzip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 liefert den Rahmen, Elternteil den Inhalt</a:t>
            </a:r>
          </a:p>
          <a:p>
            <a:pPr>
              <a:defRPr sz="2000" b="0">
                <a:latin typeface="Segoe UI"/>
              </a:defRPr>
            </a:pPr>
            <a:r>
              <a:rPr lang="de-DE" sz="2000" b="0">
                <a:latin typeface="Segoe UI"/>
              </a:rPr>
              <a:t>&lt;ng-content&gt; markiert die Stelle, an der Inhalt erscheint</a:t>
            </a:r>
          </a:p>
          <a:p>
            <a:pPr>
              <a:defRPr sz="2000" b="0">
                <a:latin typeface="Segoe UI"/>
              </a:defRPr>
            </a:pPr>
            <a:r>
              <a:rPr lang="de-DE" sz="2000" b="0">
                <a:latin typeface="Segoe UI"/>
              </a:rPr>
              <a:t>Mehrere Stellen (Slots) mit select unterscheiden</a:t>
            </a:r>
          </a:p>
          <a:p>
            <a:pPr>
              <a:defRPr sz="2000" b="0">
                <a:latin typeface="Segoe UI"/>
              </a:defRPr>
            </a:pPr>
            <a:r>
              <a:rPr lang="de-DE" sz="2000" b="0">
                <a:latin typeface="Segoe UI"/>
              </a:rPr>
              <a:t>Typisch: Card, Dialog, Tabs, Akkordeon, Layout</a:t>
            </a:r>
          </a:p>
          <a:p>
            <a:pPr>
              <a:defRPr sz="2000" b="0">
                <a:latin typeface="Segoe UI"/>
              </a:defRPr>
            </a:pPr>
            <a:r>
              <a:rPr lang="de-DE" sz="2000" b="0">
                <a:latin typeface="Segoe UI"/>
              </a:rPr>
              <a:t>Trennt Aufbau und Gestaltung vom fachlichen Inhalt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&lt;app-card&gt;</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Slot [card-header]</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Default-Slot</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Slot [card-footer]</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Card-Komponente mit drei Slots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shared/card/card.component.ts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'app-card',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templateUrl: './card.component.html',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styleUrls: ['./card.component.css']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CardComponent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 shared/card/card.component.html --&gt;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&lt;div class="card"&gt;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&lt;div class="card-header"&gt;&lt;ng-content select="[card-header]" /&gt;&lt;/div&gt;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&lt;div class="card-body"&gt;&lt;ng-content /&gt;&lt;/div&gt;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&lt;div class="card-footer"&gt;&lt;ng-content select="[card-footer]" /&gt;&lt;/div&gt;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&lt;/div&gt;</a:t>
            </a:r>
            <a:endParaRPr lang="de-DE" sz="1800" b="0" u="none" strike="noStrike">
              <a:solidFill>
                <a:srgbClr val="000000"/>
              </a:solidFill>
              <a:uFillTx/>
              <a:latin typeface="Arial"/>
            </a:endParaRP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Card verwenden: Inhalt in die Slots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customer-details.component.html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&lt;app-card&gt;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&lt;span card-header&gt;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Kundendetails: {{ customer()?.firstname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&lt;/span&gt;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id="customer-form" #customerForm="ngForm"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(ngSubmit)="onSubmit(customerForm)"&gt;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 Eingabefelder … landen im Default-Slot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card-footer&gt;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type="submit" form="customer-form"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[disabled]="customerForm.invalid"&gt;Speichern&lt;/button&gt;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type="button" (click)="goBack()"&gt;Zurück zur Liste&lt;/button&gt;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&lt;/app-card&gt;</a:t>
            </a:r>
            <a:endParaRPr lang="de-DE" sz="1600" b="0" u="none" strike="noStrike">
              <a:solidFill>
                <a:srgbClr val="000000"/>
              </a:solidFill>
              <a:uFillTx/>
              <a:latin typeface="Arial"/>
            </a:endParaRP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Inhalt und Slots der Card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Links der Inhalt aus CustomerDetails, rechts das Template der CardComponent.</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476551"/>
          </a:xfrm>
          <a:prstGeom prst="rect">
            <a:avLst/>
          </a:prstGeom>
          <a:noFill/>
        </p:spPr>
        <p:txBody>
          <a:bodyPr wrap="square" anchor="t" lIns="70000" rIns="70000" tIns="0" bIns="0">
            <a:spAutoFit/>
          </a:bodyPr>
          <a:lstStyle/>
          <a:p>
            <a:pPr algn="l"/>
            <a:r>
              <a:rPr sz="1300" b="1">
                <a:solidFill>
                  <a:srgbClr val="2B3A42"/>
                </a:solidFill>
                <a:latin typeface="Segoe UI"/>
              </a:rPr>
              <a:t>customer-details.component.html</a:t>
            </a:r>
          </a:p>
          <a:p>
            <a:pPr algn="l"/>
            <a:r>
              <a:rPr sz="1300" b="1">
                <a:solidFill>
                  <a:srgbClr val="2B3A42"/>
                </a:solidFill>
                <a:latin typeface="Segoe UI"/>
              </a:rPr>
              <a:t>Route /customer/:id im &lt;router-outlet&gt;</a:t>
            </a:r>
          </a:p>
        </p:txBody>
      </p:sp>
      <p:sp>
        <p:nvSpPr>
          <p:cNvPr id="6" name="Rectangle 5"/>
          <p:cNvSpPr/>
          <p:nvPr/>
        </p:nvSpPr>
        <p:spPr>
          <a:xfrm>
            <a:off x="948080" y="2166551"/>
            <a:ext cx="4887080" cy="3661984"/>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06551"/>
            <a:ext cx="4767080" cy="476551"/>
          </a:xfrm>
          <a:prstGeom prst="rect">
            <a:avLst/>
          </a:prstGeom>
          <a:noFill/>
        </p:spPr>
        <p:txBody>
          <a:bodyPr wrap="square" anchor="t" lIns="70000" rIns="70000" tIns="0" bIns="0">
            <a:spAutoFit/>
          </a:bodyPr>
          <a:lstStyle/>
          <a:p>
            <a:pPr algn="l"/>
            <a:r>
              <a:rPr sz="1300" b="1">
                <a:solidFill>
                  <a:srgbClr val="2B3A42"/>
                </a:solidFill>
                <a:latin typeface="Segoe UI"/>
              </a:rPr>
              <a:t>Inhalt zwischen &lt;app-card&gt; … &lt;/app-card&gt;</a:t>
            </a:r>
          </a:p>
          <a:p>
            <a:pPr algn="l"/>
            <a:r>
              <a:rPr sz="1300" b="1">
                <a:solidFill>
                  <a:srgbClr val="2B3A42"/>
                </a:solidFill>
                <a:latin typeface="Segoe UI"/>
              </a:rPr>
              <a:t>gehört zu CustomerDetails</a:t>
            </a:r>
          </a:p>
        </p:txBody>
      </p:sp>
      <p:sp>
        <p:nvSpPr>
          <p:cNvPr id="8" name="Rounded Rectangle 7"/>
          <p:cNvSpPr/>
          <p:nvPr/>
        </p:nvSpPr>
        <p:spPr>
          <a:xfrm>
            <a:off x="1058080" y="2683102"/>
            <a:ext cx="4667080" cy="756379"/>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&lt;span card-header&gt;</a:t>
            </a:r>
          </a:p>
          <a:p>
            <a:pPr algn="ctr"/>
            <a:r>
              <a:rPr sz="1300" b="0">
                <a:solidFill>
                  <a:srgbClr val="2B3A42"/>
                </a:solidFill>
                <a:latin typeface="Segoe UI"/>
              </a:rPr>
              <a:t>Kundendetails: Name</a:t>
            </a:r>
          </a:p>
        </p:txBody>
      </p:sp>
      <p:sp>
        <p:nvSpPr>
          <p:cNvPr id="9" name="Rounded Rectangle 8"/>
          <p:cNvSpPr/>
          <p:nvPr/>
        </p:nvSpPr>
        <p:spPr>
          <a:xfrm>
            <a:off x="1058080" y="3826894"/>
            <a:ext cx="4667080" cy="756379"/>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&lt;form #customerForm&gt;</a:t>
            </a:r>
          </a:p>
          <a:p>
            <a:pPr algn="ctr"/>
            <a:r>
              <a:rPr sz="1300" b="0">
                <a:solidFill>
                  <a:srgbClr val="2B3A42"/>
                </a:solidFill>
                <a:latin typeface="Segoe UI"/>
              </a:rPr>
              <a:t>ohne Slot-Attribut</a:t>
            </a:r>
          </a:p>
        </p:txBody>
      </p:sp>
      <p:sp>
        <p:nvSpPr>
          <p:cNvPr id="10" name="Rounded Rectangle 9"/>
          <p:cNvSpPr/>
          <p:nvPr/>
        </p:nvSpPr>
        <p:spPr>
          <a:xfrm>
            <a:off x="1058080" y="4970686"/>
            <a:ext cx="4667080" cy="756379"/>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&lt;div card-footer&gt;</a:t>
            </a:r>
          </a:p>
          <a:p>
            <a:pPr algn="ctr"/>
            <a:r>
              <a:rPr sz="1300" b="0">
                <a:solidFill>
                  <a:srgbClr val="2B3A42"/>
                </a:solidFill>
                <a:latin typeface="Segoe UI"/>
              </a:rPr>
              <a:t>Speichern, Zurück</a:t>
            </a:r>
          </a:p>
        </p:txBody>
      </p:sp>
      <p:sp>
        <p:nvSpPr>
          <p:cNvPr id="11" name="Rectangle 10"/>
          <p:cNvSpPr/>
          <p:nvPr/>
        </p:nvSpPr>
        <p:spPr>
          <a:xfrm>
            <a:off x="6355160" y="2166551"/>
            <a:ext cx="4887080" cy="3661984"/>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206551"/>
            <a:ext cx="4767080" cy="476551"/>
          </a:xfrm>
          <a:prstGeom prst="rect">
            <a:avLst/>
          </a:prstGeom>
          <a:noFill/>
        </p:spPr>
        <p:txBody>
          <a:bodyPr wrap="square" anchor="t" lIns="70000" rIns="70000" tIns="0" bIns="0">
            <a:spAutoFit/>
          </a:bodyPr>
          <a:lstStyle/>
          <a:p>
            <a:pPr algn="l"/>
            <a:r>
              <a:rPr sz="1300" b="1">
                <a:solidFill>
                  <a:srgbClr val="2B3A42"/>
                </a:solidFill>
                <a:latin typeface="Segoe UI"/>
              </a:rPr>
              <a:t>CardComponent: card.component.html</a:t>
            </a:r>
          </a:p>
          <a:p>
            <a:pPr algn="l"/>
            <a:r>
              <a:rPr sz="1300" b="1">
                <a:solidFill>
                  <a:srgbClr val="2B3A42"/>
                </a:solidFill>
                <a:latin typeface="Segoe UI"/>
              </a:rPr>
              <a:t>Rahmen mit drei Slots</a:t>
            </a:r>
          </a:p>
        </p:txBody>
      </p:sp>
      <p:sp>
        <p:nvSpPr>
          <p:cNvPr id="13" name="Rounded Rectangle 12"/>
          <p:cNvSpPr/>
          <p:nvPr/>
        </p:nvSpPr>
        <p:spPr>
          <a:xfrm>
            <a:off x="6465160" y="2683102"/>
            <a:ext cx="4667080" cy="756379"/>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div.card-header</a:t>
            </a:r>
          </a:p>
          <a:p>
            <a:pPr algn="ctr"/>
            <a:r>
              <a:rPr sz="1300" b="1">
                <a:solidFill>
                  <a:srgbClr val="FFFFFF"/>
                </a:solidFill>
                <a:latin typeface="Segoe UI"/>
              </a:rPr>
              <a:t>ng-content select="[card-header]"</a:t>
            </a:r>
          </a:p>
        </p:txBody>
      </p:sp>
      <p:sp>
        <p:nvSpPr>
          <p:cNvPr id="14" name="Rounded Rectangle 13"/>
          <p:cNvSpPr/>
          <p:nvPr/>
        </p:nvSpPr>
        <p:spPr>
          <a:xfrm>
            <a:off x="6465160" y="3826894"/>
            <a:ext cx="4667080" cy="756379"/>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div.card-body</a:t>
            </a:r>
          </a:p>
          <a:p>
            <a:pPr algn="ctr"/>
            <a:r>
              <a:rPr sz="1300" b="1">
                <a:solidFill>
                  <a:srgbClr val="FFFFFF"/>
                </a:solidFill>
                <a:latin typeface="Segoe UI"/>
              </a:rPr>
              <a:t>&lt;ng-content /&gt; (Default-Slot)</a:t>
            </a:r>
          </a:p>
        </p:txBody>
      </p:sp>
      <p:sp>
        <p:nvSpPr>
          <p:cNvPr id="15" name="Rounded Rectangle 14"/>
          <p:cNvSpPr/>
          <p:nvPr/>
        </p:nvSpPr>
        <p:spPr>
          <a:xfrm>
            <a:off x="6465160" y="4970686"/>
            <a:ext cx="4667080" cy="756379"/>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div.card-footer</a:t>
            </a:r>
          </a:p>
          <a:p>
            <a:pPr algn="ctr"/>
            <a:r>
              <a:rPr sz="1300" b="1">
                <a:solidFill>
                  <a:srgbClr val="FFFFFF"/>
                </a:solidFill>
                <a:latin typeface="Segoe UI"/>
              </a:rPr>
              <a:t>ng-content select="[card-footer]"</a:t>
            </a:r>
          </a:p>
        </p:txBody>
      </p:sp>
      <p:cxnSp>
        <p:nvCxnSpPr>
          <p:cNvPr id="16" name="Connector 15"/>
          <p:cNvCxnSpPr/>
          <p:nvPr/>
        </p:nvCxnSpPr>
        <p:spPr>
          <a:xfrm>
            <a:off x="5725160" y="3061291"/>
            <a:ext cx="74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18544" y="2731291"/>
            <a:ext cx="953232"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header</a:t>
            </a:r>
          </a:p>
        </p:txBody>
      </p:sp>
      <p:cxnSp>
        <p:nvCxnSpPr>
          <p:cNvPr id="18" name="Connector 17"/>
          <p:cNvCxnSpPr/>
          <p:nvPr/>
        </p:nvCxnSpPr>
        <p:spPr>
          <a:xfrm>
            <a:off x="5725160" y="4205083"/>
            <a:ext cx="74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37416" y="3875083"/>
            <a:ext cx="715488"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Rest</a:t>
            </a:r>
          </a:p>
        </p:txBody>
      </p:sp>
      <p:cxnSp>
        <p:nvCxnSpPr>
          <p:cNvPr id="20" name="Connector 19"/>
          <p:cNvCxnSpPr/>
          <p:nvPr/>
        </p:nvCxnSpPr>
        <p:spPr>
          <a:xfrm>
            <a:off x="5725160" y="5348875"/>
            <a:ext cx="74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18544" y="5018875"/>
            <a:ext cx="953232"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footer</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select, Default-Slot und ngProjectAs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select nimmt einen CSS-Selector: [attr], tag, .klasse</a:t>
            </a:r>
          </a:p>
          <a:p>
            <a:pPr>
              <a:defRPr sz="2000" b="0">
                <a:latin typeface="Segoe UI"/>
              </a:defRPr>
            </a:pPr>
            <a:r>
              <a:rPr lang="de-DE" sz="2000" b="0">
                <a:latin typeface="Segoe UI"/>
              </a:rPr>
              <a:t>Inhalt ohne passenden Slot landet im Default-Slot</a:t>
            </a:r>
          </a:p>
          <a:p>
            <a:pPr lvl="1">
              <a:defRPr sz="1700" b="0">
                <a:latin typeface="Segoe UI"/>
              </a:defRPr>
            </a:pPr>
            <a:r>
              <a:rPr lang="de-DE" sz="1700" b="0">
                <a:latin typeface="Segoe UI"/>
              </a:rPr>
              <a:t>Ohne Default-Slot wird er nicht angezeigt</a:t>
            </a:r>
          </a:p>
          <a:p>
            <a:pPr>
              <a:defRPr sz="2000" b="0">
                <a:latin typeface="Segoe UI"/>
              </a:defRPr>
            </a:pPr>
            <a:r>
              <a:rPr lang="de-DE" sz="2000" b="0">
                <a:latin typeface="Segoe UI"/>
              </a:rPr>
              <a:t>ngProjectAs: Wrapper tut so, als passe er zu einem Selector</a:t>
            </a:r>
          </a:p>
          <a:p>
            <a:pPr lvl="1">
              <a:defRPr sz="1700" b="0">
                <a:latin typeface="Segoe UI"/>
              </a:defRPr>
            </a:pPr>
            <a:r>
              <a:rPr lang="de-DE" sz="1700" b="0">
                <a:latin typeface="Segoe UI"/>
              </a:rPr>
              <a:t>Mehrere Elemente gemeinsam in einen Slot geben</a:t>
            </a:r>
          </a:p>
          <a:p>
            <a:pPr>
              <a:defRPr sz="2000" b="0">
                <a:latin typeface="Segoe UI"/>
              </a:defRPr>
            </a:pPr>
            <a:r>
              <a:rPr lang="de-DE" sz="2000" b="0">
                <a:latin typeface="Segoe UI"/>
              </a:rPr>
              <a:t>Standardinhalt im Slot: &lt;ng-content&gt;Text&lt;/ng-content&gt;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ngProjectAs</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&lt;app-card&gt;</a:t>
            </a:r>
          </a:p>
          <a:p>
            <a:pPr algn="l"/>
            <a:r>
              <a:rPr sz="1500" b="0">
                <a:solidFill>
                  <a:srgbClr val="2B3A42"/>
                </a:solidFill>
                <a:latin typeface="Consolas"/>
              </a:rPr>
              <a:t>  &lt;ng-container</a:t>
            </a:r>
          </a:p>
          <a:p>
            <a:pPr algn="l"/>
            <a:r>
              <a:rPr sz="1500" b="0">
                <a:solidFill>
                  <a:srgbClr val="2B3A42"/>
                </a:solidFill>
                <a:latin typeface="Consolas"/>
              </a:rPr>
              <a:t>      ngProjectAs="[card-header]"&gt;</a:t>
            </a:r>
          </a:p>
          <a:p>
            <a:pPr algn="l"/>
            <a:r>
              <a:rPr sz="1500" b="0">
                <a:solidFill>
                  <a:srgbClr val="2B3A42"/>
                </a:solidFill>
                <a:latin typeface="Consolas"/>
              </a:rPr>
              <a:t>    &lt;h3&gt;{{ title }}&lt;/h3&gt;</a:t>
            </a:r>
          </a:p>
          <a:p>
            <a:pPr algn="l"/>
            <a:r>
              <a:rPr sz="1500" b="0">
                <a:solidFill>
                  <a:srgbClr val="2B3A42"/>
                </a:solidFill>
                <a:latin typeface="Consolas"/>
              </a:rPr>
              <a:t>    &lt;small&gt;{{ sub }}&lt;/small&gt;</a:t>
            </a:r>
          </a:p>
          <a:p>
            <a:pPr algn="l"/>
            <a:r>
              <a:rPr sz="1500" b="0">
                <a:solidFill>
                  <a:srgbClr val="2B3A42"/>
                </a:solidFill>
                <a:latin typeface="Consolas"/>
              </a:rPr>
              <a:t>  &lt;/ng-container&gt;</a:t>
            </a:r>
          </a:p>
          <a:p>
            <a:pPr algn="l"/>
            <a:r>
              <a:rPr sz="1500" b="0">
                <a:solidFill>
                  <a:srgbClr val="2B3A42"/>
                </a:solidFill>
                <a:latin typeface="Consolas"/>
              </a:rPr>
              <a:t>  …</a:t>
            </a:r>
          </a:p>
          <a:p>
            <a:pPr algn="l"/>
            <a:r>
              <a:rPr sz="1500" b="0">
                <a:solidFill>
                  <a:srgbClr val="2B3A42"/>
                </a:solidFill>
                <a:latin typeface="Consolas"/>
              </a:rPr>
              <a:t>&lt;/app-card&gt;</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Wichtig: Projizierter Inhalt wird immer erzeugt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Inhalt gehört zur Elternkomponente, nicht zur Card</a:t>
            </a:r>
          </a:p>
          <a:p>
            <a:pPr lvl="1">
              <a:defRPr sz="1700" b="0">
                <a:latin typeface="Segoe UI"/>
              </a:defRPr>
            </a:pPr>
            <a:r>
              <a:rPr lang="de-DE" sz="1700" b="0">
                <a:latin typeface="Segoe UI"/>
              </a:rPr>
              <a:t>Bindungen und Variablen aus dem Eltern-Template</a:t>
            </a:r>
          </a:p>
          <a:p>
            <a:pPr>
              <a:defRPr sz="2000" b="0">
                <a:latin typeface="Segoe UI"/>
              </a:defRPr>
            </a:pPr>
            <a:r>
              <a:rPr lang="de-DE" sz="2000" b="0">
                <a:latin typeface="Segoe UI"/>
              </a:rPr>
              <a:t>Er wird immer erzeugt – auch wenn die Card ihn nicht zeigt</a:t>
            </a:r>
          </a:p>
          <a:p>
            <a:pPr lvl="1">
              <a:defRPr sz="1700" b="0">
                <a:latin typeface="Segoe UI"/>
              </a:defRPr>
            </a:pPr>
            <a:r>
              <a:rPr lang="de-DE" sz="1700" b="0">
                <a:latin typeface="Segoe UI"/>
              </a:rPr>
              <a:t>&lt;ng-content&gt; nicht in @if setzen: Inhalt entsteht trotzdem</a:t>
            </a:r>
          </a:p>
          <a:p>
            <a:pPr>
              <a:defRPr sz="2000" b="0">
                <a:latin typeface="Segoe UI"/>
              </a:defRPr>
            </a:pPr>
            <a:r>
              <a:rPr lang="de-DE" sz="2000" b="0">
                <a:latin typeface="Segoe UI"/>
              </a:rPr>
              <a:t>Jeder Inhalt erscheint höchstens einmal</a:t>
            </a:r>
          </a:p>
          <a:p>
            <a:pPr>
              <a:defRPr sz="2000" b="0">
                <a:latin typeface="Segoe UI"/>
              </a:defRPr>
            </a:pPr>
            <a:r>
              <a:rPr lang="de-DE" sz="2000" b="0">
                <a:latin typeface="Segoe UI"/>
              </a:rPr>
              <a:t>Bedingt oder mehrfach anzeigen: ng-template statt ng-content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&lt;ng-content&gt;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immer erzeugt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höchstens einmal</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einfach</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&lt;ng-template&gt;</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erst bei Bedarf</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beliebig oft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ngTemplateOutlet</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contentChild in der Card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'app-card',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template: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class="card"&gt;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class="card-header" [hidden]="!hasHeader()"&gt;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&lt;ng-content select="[card-header]"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class="card-body"&gt;&lt;ng-content /&gt;&lt;/div&gt;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CardComponent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 = contentChild&lt;ElementRef&gt;('header');  // #header im Content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hasHeader = computed(() =&gt; !!this.header());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Verwendung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&lt;app-card&gt;&lt;h3 #header card-header&gt;Kunde&lt;/h3&gt; … &lt;/app-card&gt;</a:t>
            </a:r>
            <a:endParaRPr lang="de-DE" sz="1600" b="0" u="none" strike="noStrike">
              <a:solidFill>
                <a:srgbClr val="000000"/>
              </a:solidFill>
              <a:uFillTx/>
              <a:latin typeface="Arial"/>
            </a:endParaRP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29: Content Projection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Standalone-Komponente CardComponent in src/app/shared/card/ erstellen</a:t>
            </a:r>
          </a:p>
          <a:p>
            <a:pPr>
              <a:defRPr sz="2000" b="1">
                <a:latin typeface="Segoe UI"/>
              </a:defRPr>
            </a:pPr>
            <a:r>
              <a:rPr lang="de-DE" sz="2000" b="1">
                <a:latin typeface="Segoe UI"/>
              </a:rPr>
              <a:t>2. Drei Slots: &lt;ng-content select="[card-header]"&gt;, Default, select="[card-footer]"</a:t>
            </a:r>
          </a:p>
          <a:p>
            <a:pPr>
              <a:defRPr sz="2000" b="1">
                <a:latin typeface="Segoe UI"/>
              </a:defRPr>
            </a:pPr>
            <a:r>
              <a:rPr lang="de-DE" sz="2000" b="1">
                <a:latin typeface="Segoe UI"/>
              </a:rPr>
              <a:t>3. Styling: Rahmen, Schatten, getrennte Bereiche für Header, Body, Footer</a:t>
            </a:r>
          </a:p>
          <a:p>
            <a:pPr>
              <a:defRPr sz="2000" b="1">
                <a:latin typeface="Segoe UI"/>
              </a:defRPr>
            </a:pPr>
            <a:r>
              <a:rPr lang="de-DE" sz="2000" b="1">
                <a:latin typeface="Segoe UI"/>
              </a:rPr>
              <a:t>4. In CustomerDetailsComponent einbinden (imports-Array!):</a:t>
            </a:r>
          </a:p>
          <a:p>
            <a:pPr lvl="1">
              <a:defRPr sz="1700" b="0">
                <a:latin typeface="Segoe UI"/>
              </a:defRPr>
            </a:pPr>
            <a:r>
              <a:rPr lang="de-DE" sz="1700" b="0">
                <a:latin typeface="Segoe UI"/>
              </a:rPr>
              <a:t>Kundenname im Slot card-header, Formular aus Übung 22 im Default-Slot</a:t>
            </a:r>
          </a:p>
          <a:p>
            <a:pPr lvl="1">
              <a:defRPr sz="1700" b="0">
                <a:latin typeface="Segoe UI"/>
              </a:defRPr>
            </a:pPr>
            <a:r>
              <a:rPr lang="de-DE" sz="1700" b="0">
                <a:latin typeface="Segoe UI"/>
              </a:rPr>
              <a:t>Buttons „Speichern“ und „Zurück zur Liste“ im Slot card-footer</a:t>
            </a:r>
          </a:p>
          <a:p>
            <a:pPr lvl="1">
              <a:defRPr sz="1700" b="0">
                <a:latin typeface="Segoe UI"/>
              </a:defRPr>
            </a:pPr>
            <a:r>
              <a:rPr lang="de-DE" sz="1700" b="0">
                <a:latin typeface="Segoe UI"/>
              </a:rPr>
              <a:t>Tipp: Formular mit id, Button mit type="submit" form="customer-form"</a:t>
            </a:r>
          </a:p>
          <a:p>
            <a:pPr>
              <a:defRPr sz="2000" b="1">
                <a:latin typeface="Segoe UI"/>
              </a:defRPr>
            </a:pPr>
            <a:r>
              <a:rPr lang="de-DE" sz="2000" b="1">
                <a:latin typeface="Segoe UI"/>
              </a:rPr>
              <a:t>Musterlösung: 29_contentProjection (baut auf 28_viewChild auf)</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SSR: Warum Server-Side Rendering?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Normale Single-Page-App (CSR): Server schickt fast leeres HTML</a:t>
            </a:r>
          </a:p>
          <a:p>
            <a:pPr lvl="1">
              <a:defRPr sz="1700" b="0">
                <a:latin typeface="Segoe UI"/>
              </a:defRPr>
            </a:pPr>
            <a:r>
              <a:rPr lang="de-DE" sz="1700" b="0">
                <a:latin typeface="Segoe UI"/>
              </a:rPr>
              <a:t>Inhalt erst sichtbar, wenn JavaScript geladen und gestartet ist</a:t>
            </a:r>
          </a:p>
          <a:p>
            <a:pPr>
              <a:defRPr sz="2000" b="0">
                <a:latin typeface="Segoe UI"/>
              </a:defRPr>
            </a:pPr>
            <a:r>
              <a:rPr lang="de-DE" sz="2000" b="0">
                <a:latin typeface="Segoe UI"/>
              </a:rPr>
              <a:t>SSR: Server rendert die Seite pro Anfrage zu fertigem HTML</a:t>
            </a:r>
          </a:p>
          <a:p>
            <a:pPr lvl="1">
              <a:defRPr sz="1700" b="0">
                <a:latin typeface="Segoe UI"/>
              </a:defRPr>
            </a:pPr>
            <a:r>
              <a:rPr lang="de-DE" sz="1700" b="0">
                <a:latin typeface="Segoe UI"/>
              </a:rPr>
              <a:t>Inhalt sofort sichtbar, gut für Suchmaschinen und Vorschauen</a:t>
            </a:r>
          </a:p>
          <a:p>
            <a:pPr>
              <a:defRPr sz="2000" b="0">
                <a:latin typeface="Segoe UI"/>
              </a:defRPr>
            </a:pPr>
            <a:r>
              <a:rPr lang="de-DE" sz="2000" b="0">
                <a:latin typeface="Segoe UI"/>
              </a:rPr>
              <a:t>Prerendering (SSG): HTML schon beim Build erzeugen</a:t>
            </a:r>
          </a:p>
          <a:p>
            <a:pPr>
              <a:defRPr sz="2000" b="0">
                <a:latin typeface="Segoe UI"/>
              </a:defRPr>
            </a:pPr>
            <a:r>
              <a:rPr lang="de-DE" sz="2000" b="0">
                <a:latin typeface="Segoe UI"/>
              </a:rPr>
              <a:t>Einrichten: ng new --ssr oder ng add @angular/ssr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CSR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leeres HTML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spät sichtbar</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einfaches Hosting</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SSR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fertiges HTML</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sofort sichtbar</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Node-Server nötig</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Vom Server-HTML zur lebendigen App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Browser fordert eine Adresse an</a:t>
            </a:r>
          </a:p>
          <a:p>
            <a:pPr>
              <a:defRPr sz="2000" b="0">
                <a:latin typeface="Segoe UI"/>
              </a:defRPr>
            </a:pPr>
            <a:r>
              <a:rPr lang="de-DE" sz="2000" b="0">
                <a:latin typeface="Segoe UI"/>
              </a:rPr>
              <a:t>2. Server führt Angular aus und rendert HTML</a:t>
            </a:r>
          </a:p>
          <a:p>
            <a:pPr>
              <a:defRPr sz="2000" b="0">
                <a:latin typeface="Segoe UI"/>
              </a:defRPr>
            </a:pPr>
            <a:r>
              <a:rPr lang="de-DE" sz="2000" b="0">
                <a:latin typeface="Segoe UI"/>
              </a:rPr>
              <a:t>3. Browser zeigt das HTML sofort an – noch nicht bedienbar</a:t>
            </a:r>
          </a:p>
          <a:p>
            <a:pPr>
              <a:defRPr sz="2000" b="0">
                <a:latin typeface="Segoe UI"/>
              </a:defRPr>
            </a:pPr>
            <a:r>
              <a:rPr lang="de-DE" sz="2000" b="0">
                <a:latin typeface="Segoe UI"/>
              </a:rPr>
              <a:t>4. JavaScript lädt im Hintergrund</a:t>
            </a:r>
          </a:p>
          <a:p>
            <a:pPr>
              <a:defRPr sz="2000" b="0">
                <a:latin typeface="Segoe UI"/>
              </a:defRPr>
            </a:pPr>
            <a:r>
              <a:rPr lang="de-DE" sz="2000" b="0">
                <a:latin typeface="Segoe UI"/>
              </a:rPr>
              <a:t>5. Hydration: Angular übernimmt das vorhandene DOM</a:t>
            </a:r>
          </a:p>
          <a:p>
            <a:pPr>
              <a:defRPr sz="2000" b="0">
                <a:latin typeface="Segoe UI"/>
              </a:defRPr>
            </a:pPr>
            <a:r>
              <a:rPr lang="de-DE" sz="2000" b="0">
                <a:latin typeface="Segoe UI"/>
              </a:rPr>
              <a:t>Danach verhält sich die Seite wie eine normale Angular-App</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 GET /customer</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Server rendert HTML</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 zeigt HTML sofort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JavaScript lädt</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Hydration: App wird bedienbar</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SSR und Hydration im Detail</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Server liefert fertiges HTML, Angular im Browser übernimmt es, statt es neu zu bauen.</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 im Browser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Server (Node.js)</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Backend-API</a:t>
            </a:r>
          </a:p>
        </p:txBody>
      </p:sp>
      <p:cxnSp>
        <p:nvCxnSpPr>
          <p:cNvPr id="8" name="Connector 7"/>
          <p:cNvCxnSpPr/>
          <p:nvPr/>
        </p:nvCxnSpPr>
        <p:spPr>
          <a:xfrm>
            <a:off x="215235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55896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82350" y="2280960"/>
            <a:ext cx="5197080" cy="258000"/>
          </a:xfrm>
          <a:prstGeom prst="rect">
            <a:avLst/>
          </a:prstGeom>
          <a:noFill/>
        </p:spPr>
        <p:txBody>
          <a:bodyPr wrap="square" anchor="b" lIns="70000" rIns="70000" tIns="0" bIns="0">
            <a:spAutoFit/>
          </a:bodyPr>
          <a:lstStyle/>
          <a:p>
            <a:pPr algn="ctr"/>
            <a:r>
              <a:rPr sz="1500" b="0">
                <a:solidFill>
                  <a:srgbClr val="2B3A42"/>
                </a:solidFill>
                <a:latin typeface="Segoe UI"/>
              </a:rPr>
              <a:t>1. GET /customer</a:t>
            </a:r>
          </a:p>
        </p:txBody>
      </p:sp>
      <p:cxnSp>
        <p:nvCxnSpPr>
          <p:cNvPr id="14" name="Connector 13"/>
          <p:cNvCxnSpPr/>
          <p:nvPr/>
        </p:nvCxnSpPr>
        <p:spPr>
          <a:xfrm>
            <a:off x="7409430" y="2756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789430" y="2756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7429430" y="2876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839430" y="2627120"/>
            <a:ext cx="2128540" cy="258000"/>
          </a:xfrm>
          <a:prstGeom prst="rect">
            <a:avLst/>
          </a:prstGeom>
          <a:noFill/>
        </p:spPr>
        <p:txBody>
          <a:bodyPr wrap="square" anchor="ctr" lIns="70000" rIns="70000" tIns="0" bIns="0">
            <a:spAutoFit/>
          </a:bodyPr>
          <a:lstStyle/>
          <a:p>
            <a:pPr algn="l"/>
            <a:r>
              <a:rPr sz="1500" b="0">
                <a:solidFill>
                  <a:srgbClr val="2B3A42"/>
                </a:solidFill>
                <a:latin typeface="Segoe UI"/>
              </a:rPr>
              <a:t>2. rendert die Liste</a:t>
            </a:r>
          </a:p>
        </p:txBody>
      </p:sp>
      <p:cxnSp>
        <p:nvCxnSpPr>
          <p:cNvPr id="18" name="Connector 17"/>
          <p:cNvCxnSpPr/>
          <p:nvPr/>
        </p:nvCxnSpPr>
        <p:spPr>
          <a:xfrm>
            <a:off x="7409430" y="3194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2295" y="2916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3. HttpClient: GET api/customer</a:t>
            </a:r>
          </a:p>
        </p:txBody>
      </p:sp>
      <p:cxnSp>
        <p:nvCxnSpPr>
          <p:cNvPr id="20" name="Connector 19"/>
          <p:cNvCxnSpPr/>
          <p:nvPr/>
        </p:nvCxnSpPr>
        <p:spPr>
          <a:xfrm flipH="1">
            <a:off x="7429430" y="351296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52295" y="3234960"/>
            <a:ext cx="3942810" cy="258000"/>
          </a:xfrm>
          <a:prstGeom prst="rect">
            <a:avLst/>
          </a:prstGeom>
          <a:noFill/>
        </p:spPr>
        <p:txBody>
          <a:bodyPr wrap="square" anchor="b" lIns="70000" rIns="70000" tIns="0" bIns="0">
            <a:spAutoFit/>
          </a:bodyPr>
          <a:lstStyle/>
          <a:p>
            <a:pPr algn="ctr"/>
            <a:r>
              <a:rPr sz="1500" b="0">
                <a:solidFill>
                  <a:srgbClr val="404B52"/>
                </a:solidFill>
                <a:latin typeface="Segoe UI"/>
              </a:rPr>
              <a:t>4. Kundendaten (JSON)</a:t>
            </a:r>
          </a:p>
        </p:txBody>
      </p:sp>
      <p:cxnSp>
        <p:nvCxnSpPr>
          <p:cNvPr id="22" name="Connector 21"/>
          <p:cNvCxnSpPr/>
          <p:nvPr/>
        </p:nvCxnSpPr>
        <p:spPr>
          <a:xfrm flipH="1">
            <a:off x="2172350" y="3830960"/>
            <a:ext cx="523708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182350" y="3552960"/>
            <a:ext cx="5197080" cy="258000"/>
          </a:xfrm>
          <a:prstGeom prst="rect">
            <a:avLst/>
          </a:prstGeom>
          <a:noFill/>
        </p:spPr>
        <p:txBody>
          <a:bodyPr wrap="square" anchor="b" lIns="70000" rIns="70000" tIns="0" bIns="0">
            <a:spAutoFit/>
          </a:bodyPr>
          <a:lstStyle/>
          <a:p>
            <a:pPr algn="ctr"/>
            <a:r>
              <a:rPr sz="1500" b="0">
                <a:solidFill>
                  <a:srgbClr val="404B52"/>
                </a:solidFill>
                <a:latin typeface="Segoe UI"/>
              </a:rPr>
              <a:t>5. fertiges HTML + Daten</a:t>
            </a:r>
          </a:p>
        </p:txBody>
      </p:sp>
      <p:cxnSp>
        <p:nvCxnSpPr>
          <p:cNvPr id="24" name="Connector 23"/>
          <p:cNvCxnSpPr/>
          <p:nvPr/>
        </p:nvCxnSpPr>
        <p:spPr>
          <a:xfrm>
            <a:off x="2152350" y="4028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532350" y="4028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172350" y="4148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82350" y="3899120"/>
            <a:ext cx="2128540" cy="258000"/>
          </a:xfrm>
          <a:prstGeom prst="rect">
            <a:avLst/>
          </a:prstGeom>
          <a:noFill/>
        </p:spPr>
        <p:txBody>
          <a:bodyPr wrap="square" anchor="ctr" lIns="70000" rIns="70000" tIns="0" bIns="0">
            <a:spAutoFit/>
          </a:bodyPr>
          <a:lstStyle/>
          <a:p>
            <a:pPr algn="l"/>
            <a:r>
              <a:rPr sz="1500" b="0">
                <a:solidFill>
                  <a:srgbClr val="2B3A42"/>
                </a:solidFill>
                <a:latin typeface="Segoe UI"/>
              </a:rPr>
              <a:t>6. zeigt HTML sofort</a:t>
            </a:r>
          </a:p>
        </p:txBody>
      </p:sp>
      <p:cxnSp>
        <p:nvCxnSpPr>
          <p:cNvPr id="28" name="Connector 27"/>
          <p:cNvCxnSpPr/>
          <p:nvPr/>
        </p:nvCxnSpPr>
        <p:spPr>
          <a:xfrm>
            <a:off x="2152350" y="4466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495215" y="4188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7. JavaScript geladen: App startet</a:t>
            </a:r>
          </a:p>
        </p:txBody>
      </p:sp>
      <p:cxnSp>
        <p:nvCxnSpPr>
          <p:cNvPr id="30" name="Connector 29"/>
          <p:cNvCxnSpPr/>
          <p:nvPr/>
        </p:nvCxnSpPr>
        <p:spPr>
          <a:xfrm>
            <a:off x="4780890" y="4664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60890" y="4664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4800890" y="4784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210890" y="4535120"/>
            <a:ext cx="2128540" cy="258000"/>
          </a:xfrm>
          <a:prstGeom prst="rect">
            <a:avLst/>
          </a:prstGeom>
          <a:noFill/>
        </p:spPr>
        <p:txBody>
          <a:bodyPr wrap="square" anchor="ctr" lIns="70000" rIns="70000" tIns="0" bIns="0">
            <a:spAutoFit/>
          </a:bodyPr>
          <a:lstStyle/>
          <a:p>
            <a:pPr algn="l"/>
            <a:r>
              <a:rPr sz="1500" b="0">
                <a:solidFill>
                  <a:srgbClr val="2B3A42"/>
                </a:solidFill>
                <a:latin typeface="Segoe UI"/>
              </a:rPr>
              <a:t>8. liest Transfer Cache</a:t>
            </a:r>
          </a:p>
        </p:txBody>
      </p:sp>
      <p:cxnSp>
        <p:nvCxnSpPr>
          <p:cNvPr id="34" name="Connector 33"/>
          <p:cNvCxnSpPr/>
          <p:nvPr/>
        </p:nvCxnSpPr>
        <p:spPr>
          <a:xfrm flipH="1">
            <a:off x="2172350" y="5102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495215" y="4824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9. Hydration: DOM übernehmen</a:t>
            </a:r>
          </a:p>
        </p:txBody>
      </p:sp>
      <p:cxnSp>
        <p:nvCxnSpPr>
          <p:cNvPr id="36" name="Connector 35"/>
          <p:cNvCxnSpPr/>
          <p:nvPr/>
        </p:nvCxnSpPr>
        <p:spPr>
          <a:xfrm flipH="1">
            <a:off x="2172350" y="5420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495215" y="5142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10. Event Replay: Klicks nachspielen</a:t>
            </a:r>
          </a:p>
        </p:txBody>
      </p:sp>
      <p:sp>
        <p:nvSpPr>
          <p:cNvPr id="38" name="TextBox 37"/>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provideClientHydration(withEventReplay()) in app.config.ts</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Hydration und Event Replay</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provideClientHydration() in app.config.ts aktiviert Hydration</a:t>
            </a:r>
          </a:p>
          <a:p>
            <a:pPr>
              <a:defRPr sz="2000" b="0">
                <a:latin typeface="Segoe UI"/>
              </a:defRPr>
            </a:pPr>
            <a:r>
              <a:rPr lang="de-DE" sz="2000" b="0">
                <a:latin typeface="Segoe UI"/>
              </a:rPr>
              <a:t>Angular nutzt das Server-DOM weiter, statt es neu zu bauen</a:t>
            </a:r>
          </a:p>
          <a:p>
            <a:pPr>
              <a:defRPr sz="2000" b="0">
                <a:latin typeface="Segoe UI"/>
              </a:defRPr>
            </a:pPr>
            <a:r>
              <a:rPr lang="de-DE" sz="2000" b="0">
                <a:latin typeface="Segoe UI"/>
              </a:rPr>
              <a:t>withEventReplay(): Klicks vor der Hydration werden gemerkt</a:t>
            </a:r>
          </a:p>
          <a:p>
            <a:pPr lvl="1">
              <a:defRPr sz="1700" b="0">
                <a:latin typeface="Segoe UI"/>
              </a:defRPr>
            </a:pPr>
            <a:r>
              <a:rPr lang="de-DE" sz="1700" b="0">
                <a:latin typeface="Segoe UI"/>
              </a:rPr>
              <a:t>und danach automatisch nachgespielt</a:t>
            </a:r>
          </a:p>
          <a:p>
            <a:pPr>
              <a:defRPr sz="2000" b="0">
                <a:latin typeface="Segoe UI"/>
              </a:defRPr>
            </a:pPr>
            <a:r>
              <a:rPr lang="de-DE" sz="2000" b="0">
                <a:latin typeface="Segoe UI"/>
              </a:rPr>
              <a:t>HTTP-Antworten vom Server werden mitgeschickt (Transfer Cache)</a:t>
            </a:r>
          </a:p>
          <a:p>
            <a:pPr>
              <a:defRPr sz="2000" b="0">
                <a:latin typeface="Segoe UI"/>
              </a:defRPr>
            </a:pPr>
            <a:r>
              <a:rPr lang="de-DE" sz="2000" b="0">
                <a:latin typeface="Segoe UI"/>
              </a:rPr>
              <a:t>Server- und Browser-DOM müssen gleich sein (sonst NG0500)</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app.config.ts</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export const appConfig = {</a:t>
            </a:r>
          </a:p>
          <a:p>
            <a:pPr algn="l"/>
            <a:r>
              <a:rPr sz="1500" b="0">
                <a:solidFill>
                  <a:srgbClr val="2B3A42"/>
                </a:solidFill>
                <a:latin typeface="Consolas"/>
              </a:rPr>
              <a:t>  providers: [</a:t>
            </a:r>
          </a:p>
          <a:p>
            <a:pPr algn="l"/>
            <a:r>
              <a:rPr sz="1500" b="0">
                <a:solidFill>
                  <a:srgbClr val="2B3A42"/>
                </a:solidFill>
                <a:latin typeface="Consolas"/>
              </a:rPr>
              <a:t>    provideRouter(routes),</a:t>
            </a:r>
          </a:p>
          <a:p>
            <a:pPr algn="l"/>
            <a:r>
              <a:rPr sz="1500" b="0">
                <a:solidFill>
                  <a:srgbClr val="2B3A42"/>
                </a:solidFill>
                <a:latin typeface="Consolas"/>
              </a:rPr>
              <a:t>    provideHttpClient(</a:t>
            </a:r>
          </a:p>
          <a:p>
            <a:pPr algn="l"/>
            <a:r>
              <a:rPr sz="1500" b="0">
                <a:solidFill>
                  <a:srgbClr val="2B3A42"/>
                </a:solidFill>
                <a:latin typeface="Consolas"/>
              </a:rPr>
              <a:t>      withFetch()),</a:t>
            </a:r>
          </a:p>
          <a:p>
            <a:pPr algn="l"/>
            <a:r>
              <a:rPr sz="1500" b="0">
                <a:solidFill>
                  <a:srgbClr val="2B3A42"/>
                </a:solidFill>
                <a:latin typeface="Consolas"/>
              </a:rPr>
              <a:t>    provideClientHydration(</a:t>
            </a:r>
          </a:p>
          <a:p>
            <a:pPr algn="l"/>
            <a:r>
              <a:rPr sz="1500" b="0">
                <a:solidFill>
                  <a:srgbClr val="2B3A42"/>
                </a:solidFill>
                <a:latin typeface="Consolas"/>
              </a:rPr>
              <a:t>      withEventReplay())</a:t>
            </a:r>
          </a:p>
          <a:p>
            <a:pPr algn="l"/>
            <a:r>
              <a:rPr sz="1500" b="0">
                <a:solidFill>
                  <a:srgbClr val="2B3A42"/>
                </a:solidFill>
                <a:latin typeface="Consolas"/>
              </a:rPr>
              <a:t>  ]</a:t>
            </a:r>
          </a:p>
          <a:p>
            <a:pPr algn="l"/>
            <a:r>
              <a:rPr sz="1500" b="0">
                <a:solidFill>
                  <a:srgbClr val="2B3A42"/>
                </a:solidFill>
                <a:latin typeface="Consolas"/>
              </a:rPr>
              <a:t>};</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Incremental Hydration mit @defer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Bereiche erst bei Bedarf hydrieren statt alles auf einmal</a:t>
            </a:r>
          </a:p>
          <a:p>
            <a:pPr lvl="1">
              <a:defRPr sz="1700" b="0">
                <a:latin typeface="Segoe UI"/>
              </a:defRPr>
            </a:pPr>
            <a:r>
              <a:rPr lang="de-DE" sz="1700" b="0">
                <a:latin typeface="Segoe UI"/>
              </a:rPr>
              <a:t>Server rendert den Block trotzdem sofort als HTML</a:t>
            </a:r>
          </a:p>
          <a:p>
            <a:pPr lvl="1">
              <a:defRPr sz="1700" b="0">
                <a:latin typeface="Segoe UI"/>
              </a:defRPr>
            </a:pPr>
            <a:r>
              <a:rPr lang="de-DE" sz="1700" b="0">
                <a:latin typeface="Segoe UI"/>
              </a:rPr>
              <a:t>JavaScript des Blocks lädt erst beim Auslöser</a:t>
            </a:r>
          </a:p>
          <a:p>
            <a:pPr>
              <a:defRPr sz="2000" b="0">
                <a:latin typeface="Segoe UI"/>
              </a:defRPr>
            </a:pPr>
            <a:r>
              <a:rPr lang="de-DE" sz="2000" b="0">
                <a:latin typeface="Segoe UI"/>
              </a:rPr>
              <a:t>Auslöser: on viewport, interaction, idle, hover, timer</a:t>
            </a:r>
          </a:p>
          <a:p>
            <a:pPr>
              <a:defRPr sz="2000" b="0">
                <a:latin typeface="Segoe UI"/>
              </a:defRPr>
            </a:pPr>
            <a:r>
              <a:rPr lang="de-DE" sz="2000" b="0">
                <a:latin typeface="Segoe UI"/>
              </a:rPr>
              <a:t>hydrate never: bleibt dauerhaft statisches HTML</a:t>
            </a:r>
          </a:p>
          <a:p>
            <a:pPr>
              <a:defRPr sz="2000" b="0">
                <a:latin typeface="Segoe UI"/>
              </a:defRPr>
            </a:pPr>
            <a:r>
              <a:rPr lang="de-DE" sz="2000" b="0">
                <a:latin typeface="Segoe UI"/>
              </a:rPr>
              <a:t>Aktivieren: withIncrementalHydration()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Template</a:t>
            </a:r>
          </a:p>
        </p:txBody>
      </p:sp>
      <p:sp>
        <p:nvSpPr>
          <p:cNvPr id="5" name="Rectangle 4"/>
          <p:cNvSpPr/>
          <p:nvPr/>
        </p:nvSpPr>
        <p:spPr>
          <a:xfrm>
            <a:off x="7000000" y="2230000"/>
            <a:ext cx="4350000" cy="202022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&lt;app-customer-header /&gt;</a:t>
            </a:r>
          </a:p>
          <a:p>
            <a:pPr algn="l"/>
            <a:r>
              <a:rPr sz="1500" b="0">
                <a:solidFill>
                  <a:srgbClr val="2B3A42"/>
                </a:solidFill>
                <a:latin typeface="Consolas"/>
              </a:rPr>
              <a:t/>
            </a:r>
          </a:p>
          <a:p>
            <a:pPr algn="l"/>
            <a:r>
              <a:rPr sz="1500" b="0">
                <a:solidFill>
                  <a:srgbClr val="2B3A42"/>
                </a:solidFill>
                <a:latin typeface="Consolas"/>
              </a:rPr>
              <a:t>@defer (hydrate on viewport) {</a:t>
            </a:r>
          </a:p>
          <a:p>
            <a:pPr algn="l"/>
            <a:r>
              <a:rPr sz="1500" b="0">
                <a:solidFill>
                  <a:srgbClr val="2B3A42"/>
                </a:solidFill>
                <a:latin typeface="Consolas"/>
              </a:rPr>
              <a:t>  &lt;app-order-history /&gt;</a:t>
            </a:r>
          </a:p>
          <a:p>
            <a:pPr algn="l"/>
            <a:r>
              <a:rPr sz="1500" b="0">
                <a:solidFill>
                  <a:srgbClr val="2B3A42"/>
                </a:solidFill>
                <a:latin typeface="Consolas"/>
              </a:rPr>
              <a:t>} @placeholder {</a:t>
            </a:r>
          </a:p>
          <a:p>
            <a:pPr algn="l"/>
            <a:r>
              <a:rPr sz="1500" b="0">
                <a:solidFill>
                  <a:srgbClr val="2B3A42"/>
                </a:solidFill>
                <a:latin typeface="Consolas"/>
              </a:rPr>
              <a:t>  &lt;p&gt;Bestellungen&lt;/p&gt;</a:t>
            </a:r>
          </a:p>
          <a:p>
            <a:pPr algn="l"/>
            <a:r>
              <a:rPr sz="1500" b="0">
                <a:solidFill>
                  <a:srgbClr val="2B3A42"/>
                </a:solidFill>
                <a:latin typeface="Consolas"/>
              </a:rPr>
              <a:t>}</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 Code läuft auch auf dem Server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 Services, Konstruktoren laufen auf dem Server</a:t>
            </a:r>
          </a:p>
          <a:p>
            <a:pPr>
              <a:defRPr sz="2000" b="0">
                <a:latin typeface="Segoe UI"/>
              </a:defRPr>
            </a:pPr>
            <a:r>
              <a:rPr lang="de-DE" sz="2000" b="0">
                <a:latin typeface="Segoe UI"/>
              </a:rPr>
              <a:t>Dort gibt es kein window, localStorage, navigator</a:t>
            </a:r>
          </a:p>
          <a:p>
            <a:pPr lvl="1">
              <a:defRPr sz="1700" b="0">
                <a:latin typeface="Segoe UI"/>
              </a:defRPr>
            </a:pPr>
            <a:r>
              <a:rPr lang="de-DE" sz="1700" b="0">
                <a:latin typeface="Segoe UI"/>
              </a:rPr>
              <a:t>Zugriff wirft ReferenceError – Seite rendert nicht</a:t>
            </a:r>
          </a:p>
          <a:p>
            <a:pPr>
              <a:defRPr sz="2000" b="0">
                <a:latin typeface="Segoe UI"/>
              </a:defRPr>
            </a:pPr>
            <a:r>
              <a:rPr lang="de-DE" sz="2000" b="0">
                <a:latin typeface="Segoe UI"/>
              </a:rPr>
              <a:t>Kein direkter DOM-Zugriff: Bindungen, host, Renderer2</a:t>
            </a:r>
          </a:p>
          <a:p>
            <a:pPr>
              <a:defRPr sz="2000" b="0">
                <a:latin typeface="Segoe UI"/>
              </a:defRPr>
            </a:pPr>
            <a:r>
              <a:rPr lang="de-DE" sz="2000" b="0">
                <a:latin typeface="Segoe UI"/>
              </a:rPr>
              <a:t>setInterval / endlose Observables halten den Server auf</a:t>
            </a:r>
          </a:p>
          <a:p>
            <a:pPr>
              <a:defRPr sz="2000" b="0">
                <a:latin typeface="Segoe UI"/>
              </a:defRPr>
            </a:pPr>
            <a:r>
              <a:rPr lang="de-DE" sz="2000" b="0">
                <a:latin typeface="Segoe UI"/>
              </a:rPr>
              <a:t>Browser-Code in afterNextRender() oder mit isPlatformBrowser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rendert HTML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window</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localStorage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Hydration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window, DOM</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afterNextRender</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afterNextRender: nur im Browser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afterNextRender, PLATFORM_ID: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isPlatformBrowser: @angular/common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platformId = inject(PLATFORM_ID);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filterText = signal('');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nur im Browser, einmal nach dem ersten Rendern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afterNextRender(()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this.filterText.set(localStorage.getItem('filter')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saveFilter(): void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(isPlatformBrowser(this.platformId))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localStorage.setItem('filter', this.filterText());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SSR: Render-Modi und Einordnung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Render-Modus pro Route in app.routes.server.ts:</a:t>
            </a:r>
          </a:p>
          <a:p>
            <a:pPr lvl="1">
              <a:defRPr sz="1700" b="0">
                <a:latin typeface="Segoe UI"/>
              </a:defRPr>
            </a:pPr>
            <a:r>
              <a:rPr lang="de-DE" sz="1700" b="0">
                <a:latin typeface="Segoe UI"/>
              </a:rPr>
              <a:t>RenderMode.Server: bei jeder Anfrage auf dem Server</a:t>
            </a:r>
          </a:p>
          <a:p>
            <a:pPr lvl="1">
              <a:defRPr sz="1700" b="0">
                <a:latin typeface="Segoe UI"/>
              </a:defRPr>
            </a:pPr>
            <a:r>
              <a:rPr lang="de-DE" sz="1700" b="0">
                <a:latin typeface="Segoe UI"/>
              </a:rPr>
              <a:t>RenderMode.Prerender: einmal beim Build</a:t>
            </a:r>
          </a:p>
          <a:p>
            <a:pPr lvl="1">
              <a:defRPr sz="1700" b="0">
                <a:latin typeface="Segoe UI"/>
              </a:defRPr>
            </a:pPr>
            <a:r>
              <a:rPr lang="de-DE" sz="1700" b="0">
                <a:latin typeface="Segoe UI"/>
              </a:rPr>
              <a:t>RenderMode.Client: nur im Browser wie ohne SSR</a:t>
            </a:r>
          </a:p>
          <a:p>
            <a:pPr>
              <a:defRPr sz="2000" b="0">
                <a:latin typeface="Segoe UI"/>
              </a:defRPr>
            </a:pPr>
            <a:r>
              <a:rPr lang="de-DE" sz="2000" b="0">
                <a:latin typeface="Segoe UI"/>
              </a:rPr>
              <a:t>Lohnt sich: öffentliche Seiten, Suchmaschinen, langsame Geräte</a:t>
            </a:r>
          </a:p>
          <a:p>
            <a:pPr>
              <a:defRPr sz="2000" b="0">
                <a:latin typeface="Segoe UI"/>
              </a:defRPr>
            </a:pPr>
            <a:r>
              <a:rPr lang="de-DE" sz="2000" b="0">
                <a:latin typeface="Segoe UI"/>
              </a:rPr>
              <a:t>Oft unnötig: interne Anwendungen hinter einem Login</a:t>
            </a:r>
          </a:p>
          <a:p>
            <a:pPr>
              <a:defRPr sz="2000" b="0">
                <a:latin typeface="Segoe UI"/>
              </a:defRPr>
            </a:pPr>
            <a:r>
              <a:rPr lang="de-DE" sz="2000" b="0">
                <a:latin typeface="Segoe UI"/>
              </a:rPr>
              <a:t>Test: Seite mit abgeschaltetem JavaScript aufrufen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app.routes.server.ts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export const serverRoutes:</a:t>
            </a:r>
          </a:p>
          <a:p>
            <a:pPr algn="l"/>
            <a:r>
              <a:rPr sz="1300" b="0">
                <a:solidFill>
                  <a:srgbClr val="2B3A42"/>
                </a:solidFill>
                <a:latin typeface="Consolas"/>
              </a:rPr>
              <a:t>    ServerRoute[] = [</a:t>
            </a:r>
          </a:p>
          <a:p>
            <a:pPr algn="l"/>
            <a:r>
              <a:rPr sz="1300" b="0">
                <a:solidFill>
                  <a:srgbClr val="2B3A42"/>
                </a:solidFill>
                <a:latin typeface="Consolas"/>
              </a:rPr>
              <a:t>  { path: '',</a:t>
            </a:r>
          </a:p>
          <a:p>
            <a:pPr algn="l"/>
            <a:r>
              <a:rPr sz="1300" b="0">
                <a:solidFill>
                  <a:srgbClr val="2B3A42"/>
                </a:solidFill>
                <a:latin typeface="Consolas"/>
              </a:rPr>
              <a:t>    renderMode:</a:t>
            </a:r>
          </a:p>
          <a:p>
            <a:pPr algn="l"/>
            <a:r>
              <a:rPr sz="1300" b="0">
                <a:solidFill>
                  <a:srgbClr val="2B3A42"/>
                </a:solidFill>
                <a:latin typeface="Consolas"/>
              </a:rPr>
              <a:t>      RenderMode.Prerender },</a:t>
            </a:r>
          </a:p>
          <a:p>
            <a:pPr algn="l"/>
            <a:r>
              <a:rPr sz="1300" b="0">
                <a:solidFill>
                  <a:srgbClr val="2B3A42"/>
                </a:solidFill>
                <a:latin typeface="Consolas"/>
              </a:rPr>
              <a:t>  { path: 'customer/**',</a:t>
            </a:r>
          </a:p>
          <a:p>
            <a:pPr algn="l"/>
            <a:r>
              <a:rPr sz="1300" b="0">
                <a:solidFill>
                  <a:srgbClr val="2B3A42"/>
                </a:solidFill>
                <a:latin typeface="Consolas"/>
              </a:rPr>
              <a:t>    renderMode:</a:t>
            </a:r>
          </a:p>
          <a:p>
            <a:pPr algn="l"/>
            <a:r>
              <a:rPr sz="1300" b="0">
                <a:solidFill>
                  <a:srgbClr val="2B3A42"/>
                </a:solidFill>
                <a:latin typeface="Consolas"/>
              </a:rPr>
              <a:t>      RenderMode.Client },</a:t>
            </a:r>
          </a:p>
          <a:p>
            <a:pPr algn="l"/>
            <a:r>
              <a:rPr sz="1300" b="0">
                <a:solidFill>
                  <a:srgbClr val="2B3A42"/>
                </a:solidFill>
                <a:latin typeface="Consolas"/>
              </a:rPr>
              <a:t>  { path: '**',</a:t>
            </a:r>
          </a:p>
          <a:p>
            <a:pPr algn="l"/>
            <a:r>
              <a:rPr sz="1300" b="0">
                <a:solidFill>
                  <a:srgbClr val="2B3A42"/>
                </a:solidFill>
                <a:latin typeface="Consolas"/>
              </a:rPr>
              <a:t>    renderMode:</a:t>
            </a:r>
          </a:p>
          <a:p>
            <a:pPr algn="l"/>
            <a:r>
              <a:rPr sz="1300" b="0">
                <a:solidFill>
                  <a:srgbClr val="2B3A42"/>
                </a:solidFill>
                <a:latin typeface="Consolas"/>
              </a:rPr>
              <a:t>      RenderMode.Server }</a:t>
            </a:r>
          </a:p>
          <a:p>
            <a:pPr algn="l"/>
            <a:r>
              <a:rPr sz="1300" b="0">
                <a:solidFill>
                  <a:srgbClr val="2B3A42"/>
                </a:solidFill>
                <a:latin typeface="Consolas"/>
              </a:rPr>
              <a:t>];</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Komponenten aufteilen?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 wachsen: Template, Zustand, Laden, Filtern, Auswahl in einer Datei</a:t>
            </a:r>
          </a:p>
          <a:p>
            <a:pPr>
              <a:defRPr sz="2000" b="0">
                <a:latin typeface="Segoe UI"/>
              </a:defRPr>
            </a:pPr>
            <a:r>
              <a:rPr lang="de-DE" sz="2000" b="0">
                <a:latin typeface="Segoe UI"/>
              </a:rPr>
              <a:t>Folgen einer zu großen Komponente:</a:t>
            </a:r>
          </a:p>
          <a:p>
            <a:pPr lvl="1">
              <a:defRPr sz="1700" b="0">
                <a:latin typeface="Segoe UI"/>
              </a:defRPr>
            </a:pPr>
            <a:r>
              <a:rPr lang="de-DE" sz="1700" b="0">
                <a:latin typeface="Segoe UI"/>
              </a:rPr>
              <a:t>schwer zu lesen und zu ändern</a:t>
            </a:r>
          </a:p>
          <a:p>
            <a:pPr lvl="1">
              <a:defRPr sz="1700" b="0">
                <a:latin typeface="Segoe UI"/>
              </a:defRPr>
            </a:pPr>
            <a:r>
              <a:rPr lang="de-DE" sz="1700" b="0">
                <a:latin typeface="Segoe UI"/>
              </a:rPr>
              <a:t>Tests brauchen viel Vorbereitung (HTTP, Router, DOM)</a:t>
            </a:r>
          </a:p>
          <a:p>
            <a:pPr lvl="1">
              <a:defRPr sz="1700" b="0">
                <a:latin typeface="Segoe UI"/>
              </a:defRPr>
            </a:pPr>
            <a:r>
              <a:rPr lang="de-DE" sz="1700" b="0">
                <a:latin typeface="Segoe UI"/>
              </a:rPr>
              <a:t>Teile lassen sich nicht wiederverwenden</a:t>
            </a:r>
          </a:p>
          <a:p>
            <a:pPr>
              <a:defRPr sz="2000" b="0">
                <a:latin typeface="Segoe UI"/>
              </a:defRPr>
            </a:pPr>
            <a:r>
              <a:rPr lang="de-DE" sz="2000" b="0">
                <a:latin typeface="Segoe UI"/>
              </a:rPr>
              <a:t>Ziel: kleine Bausteine mit klarer Aufgabe und klarer Schnittstelle</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CustomerList</a:t>
            </a:r>
          </a:p>
          <a:p>
            <a:pPr algn="ctr"/>
            <a:r>
              <a:rPr sz="1600" b="1">
                <a:solidFill>
                  <a:srgbClr val="FFFFFF"/>
                </a:solidFill>
                <a:latin typeface="Segoe UI"/>
              </a:rPr>
              <a:t>(vorher: alles)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CustomerFilter</a:t>
            </a:r>
          </a:p>
          <a:p>
            <a:pPr algn="ctr"/>
            <a:r>
              <a:rPr sz="1400" b="0">
                <a:solidFill>
                  <a:srgbClr val="2B3A42"/>
                </a:solidFill>
                <a:latin typeface="Segoe UI"/>
              </a:rPr>
              <a:t>Suchfeld</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CustomerListItem</a:t>
            </a:r>
          </a:p>
          <a:p>
            <a:pPr algn="ctr"/>
            <a:r>
              <a:rPr sz="1400" b="0">
                <a:solidFill>
                  <a:srgbClr val="2B3A42"/>
                </a:solidFill>
                <a:latin typeface="Segoe UI"/>
              </a:rPr>
              <a:t>eine Zeile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Kriterien für das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 Satz ohne „und“: Lässt sich die Aufgabe so beschreiben?</a:t>
            </a:r>
          </a:p>
          <a:p>
            <a:pPr>
              <a:defRPr sz="2000" b="0">
                <a:latin typeface="Segoe UI"/>
              </a:defRPr>
            </a:pPr>
            <a:r>
              <a:rPr lang="de-DE" sz="2000" b="0">
                <a:latin typeface="Segoe UI"/>
              </a:rPr>
              <a:t>Wiederverwendung: Wird der Teil an mehreren Stellen gebraucht?</a:t>
            </a:r>
          </a:p>
          <a:p>
            <a:pPr>
              <a:defRPr sz="2000" b="0">
                <a:latin typeface="Segoe UI"/>
              </a:defRPr>
            </a:pPr>
            <a:r>
              <a:rPr lang="de-DE" sz="2000" b="0">
                <a:latin typeface="Segoe UI"/>
              </a:rPr>
              <a:t>Unterschiedliche Änderungsgründe: Ändern sich Teile aus verschiedenen Gründen?</a:t>
            </a:r>
          </a:p>
          <a:p>
            <a:pPr>
              <a:defRPr sz="2000" b="0">
                <a:latin typeface="Segoe UI"/>
              </a:defRPr>
            </a:pPr>
            <a:r>
              <a:rPr lang="de-DE" sz="2000" b="0">
                <a:latin typeface="Segoe UI"/>
              </a:rPr>
              <a:t>Größe als Warnsignal: langes Template, viele Felder, viele inject()</a:t>
            </a:r>
          </a:p>
          <a:p>
            <a:pPr>
              <a:defRPr sz="2000" b="0">
                <a:latin typeface="Segoe UI"/>
              </a:defRPr>
            </a:pPr>
            <a:r>
              <a:rPr lang="de-DE" sz="2000" b="0">
                <a:latin typeface="Segoe UI"/>
              </a:rPr>
              <a:t>Testbarkeit: Lässt sich der Teil allein prüfen?</a:t>
            </a:r>
          </a:p>
          <a:p>
            <a:pPr>
              <a:defRPr sz="2000" b="0">
                <a:latin typeface="Segoe UI"/>
              </a:defRPr>
            </a:pPr>
            <a:r>
              <a:rPr lang="de-DE" sz="2000" b="0">
                <a:latin typeface="Segoe UI"/>
              </a:rPr>
              <a:t>Nicht übertreiben: Jede neue Komponente kostet eine Schnittstelle</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Container- und Darstellungskomponenten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(smart): lädt Daten, hält Zustand, ruft Services</a:t>
            </a:r>
          </a:p>
          <a:p>
            <a:pPr lvl="1">
              <a:defRPr sz="1700" b="0">
                <a:latin typeface="Segoe UI"/>
              </a:defRPr>
            </a:pPr>
            <a:r>
              <a:rPr lang="de-DE" sz="1700" b="0">
                <a:latin typeface="Segoe UI"/>
              </a:rPr>
              <a:t>Beispiel: CustomerListComponent</a:t>
            </a:r>
          </a:p>
          <a:p>
            <a:pPr>
              <a:defRPr sz="2000" b="0">
                <a:latin typeface="Segoe UI"/>
              </a:defRPr>
            </a:pPr>
            <a:r>
              <a:rPr lang="de-DE" sz="2000" b="0">
                <a:latin typeface="Segoe UI"/>
              </a:rPr>
              <a:t>Darstellung (presentational): zeigt an, meldet Ereignisse</a:t>
            </a:r>
          </a:p>
          <a:p>
            <a:pPr lvl="1">
              <a:defRPr sz="1700" b="0">
                <a:latin typeface="Segoe UI"/>
              </a:defRPr>
            </a:pPr>
            <a:r>
              <a:rPr lang="de-DE" sz="1700" b="0">
                <a:latin typeface="Segoe UI"/>
              </a:rPr>
              <a:t>kennt keine Services, nur input() und output()</a:t>
            </a:r>
          </a:p>
          <a:p>
            <a:pPr lvl="1">
              <a:defRPr sz="1700" b="0">
                <a:latin typeface="Segoe UI"/>
              </a:defRPr>
            </a:pPr>
            <a:r>
              <a:rPr lang="de-DE" sz="1700" b="0">
                <a:latin typeface="Segoe UI"/>
              </a:rPr>
              <a:t>Beispiele: CustomerFilter, CustomerListItem</a:t>
            </a:r>
          </a:p>
          <a:p>
            <a:pPr>
              <a:defRPr sz="2000" b="0">
                <a:latin typeface="Segoe UI"/>
              </a:defRPr>
            </a:pPr>
            <a:r>
              <a:rPr lang="de-DE" sz="2000" b="0">
                <a:latin typeface="Segoe UI"/>
              </a:rPr>
              <a:t>Darstellungskomponenten sind leicht wiederzuverwenden und zu testen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Container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lädt Daten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hält Zustand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inject(Service)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Darstellung</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input(): Daten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output(): Ereignisse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keine Services</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Datenfluss: Daten runter, Ereignisse hoch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besitzt den Zustand: filterText = signal('')</a:t>
            </a:r>
          </a:p>
          <a:p>
            <a:pPr>
              <a:defRPr sz="2000" b="0">
                <a:latin typeface="Segoe UI"/>
              </a:defRPr>
            </a:pPr>
            <a:r>
              <a:rPr lang="de-DE" sz="2000" b="0">
                <a:latin typeface="Segoe UI"/>
              </a:rPr>
              <a:t>Nach unten per Property Binding: [value]="filterText()"</a:t>
            </a:r>
          </a:p>
          <a:p>
            <a:pPr>
              <a:defRPr sz="2000" b="0">
                <a:latin typeface="Segoe UI"/>
              </a:defRPr>
            </a:pPr>
            <a:r>
              <a:rPr lang="de-DE" sz="2000" b="0">
                <a:latin typeface="Segoe UI"/>
              </a:rPr>
              <a:t>Kind liest ihn über value = input('')</a:t>
            </a:r>
          </a:p>
          <a:p>
            <a:pPr>
              <a:defRPr sz="2000" b="0">
                <a:latin typeface="Segoe UI"/>
              </a:defRPr>
            </a:pPr>
            <a:r>
              <a:rPr lang="de-DE" sz="2000" b="0">
                <a:latin typeface="Segoe UI"/>
              </a:rPr>
              <a:t>Benutzer tippt: Kind ruft changed.emit(text)</a:t>
            </a:r>
          </a:p>
          <a:p>
            <a:pPr>
              <a:defRPr sz="2000" b="0">
                <a:latin typeface="Segoe UI"/>
              </a:defRPr>
            </a:pPr>
            <a:r>
              <a:rPr lang="de-DE" sz="2000" b="0">
                <a:latin typeface="Segoe UI"/>
              </a:rPr>
              <a:t>Nach oben per Event Binding: (changed)="onFilterChanged($event)"</a:t>
            </a:r>
          </a:p>
          <a:p>
            <a:pPr>
              <a:defRPr sz="2000" b="0">
                <a:latin typeface="Segoe UI"/>
              </a:defRPr>
            </a:pPr>
            <a:r>
              <a:rPr lang="de-DE" sz="2000" b="0">
                <a:latin typeface="Segoe UI"/>
              </a:rPr>
              <a:t>Nur der Container ändert den Zustand: eine Richtung, ein Besitzer</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Container hält</a:t>
            </a:r>
          </a:p>
          <a:p>
            <a:pPr algn="ctr"/>
            <a:r>
              <a:rPr sz="1600" b="0">
                <a:solidFill>
                  <a:srgbClr val="2B3A42"/>
                </a:solidFill>
                <a:latin typeface="Segoe UI"/>
              </a:rPr>
              <a:t>filterText</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[value] nach</a:t>
            </a:r>
          </a:p>
          <a:p>
            <a:pPr algn="ctr"/>
            <a:r>
              <a:rPr sz="1600" b="0">
                <a:solidFill>
                  <a:srgbClr val="2B3A42"/>
                </a:solidFill>
                <a:latin typeface="Segoe UI"/>
              </a:rPr>
              <a:t>unten: input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Kind: Benutzer</a:t>
            </a:r>
          </a:p>
          <a:p>
            <a:pPr algn="ctr"/>
            <a:r>
              <a:rPr sz="1600" b="0">
                <a:solidFill>
                  <a:srgbClr val="2B3A42"/>
                </a:solidFill>
                <a:latin typeface="Segoe UI"/>
              </a:rPr>
              <a:t>tippt</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(changed) nach</a:t>
            </a:r>
          </a:p>
          <a:p>
            <a:pPr algn="ctr"/>
            <a:r>
              <a:rPr sz="1600" b="0">
                <a:solidFill>
                  <a:srgbClr val="2B3A42"/>
                </a:solidFill>
                <a:latin typeface="Segoe UI"/>
              </a:rPr>
              <a:t>oben: output</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Darstellungskomponente: CustomerFilter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'customer-filter', templateUrl: './customer-filter.component.html'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CustomerFilterComponent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value = input('');                 // Eingabe: aktueller 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changed = output&lt;string&gt;();        // Ausgabe: neuer 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cleared = output&lt;void&gt;();          // Ausgabe: ohne Nutzdaten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searchInput = viewChild&lt;ElementRef&lt;HTMLInputElement&gt;&gt;('searchInput');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onInput(event: Event)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this.changed.emit((event.target as HTMLInputElement).value);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clear()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this.cleared.emit();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this.searchInput()?.nativeElement.focus();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input() und output()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input(''): Angular liefert ein schreibgeschütztes Signal (InputSignal&lt;string&gt;)</a:t>
            </a:r>
          </a:p>
          <a:p>
            <a:pPr lvl="1">
              <a:defRPr sz="1700" b="0">
                <a:latin typeface="Segoe UI"/>
              </a:defRPr>
            </a:pPr>
            <a:r>
              <a:rPr lang="de-DE" sz="1700" b="0">
                <a:latin typeface="Segoe UI"/>
              </a:rPr>
              <a:t>Startwert '' gilt, solange die Eltern nichts binden</a:t>
            </a:r>
          </a:p>
          <a:p>
            <a:pPr>
              <a:defRPr sz="2000" b="0">
                <a:latin typeface="Segoe UI"/>
              </a:defRPr>
            </a:pPr>
            <a:r>
              <a:rPr lang="de-DE" sz="2000" b="0">
                <a:latin typeface="Segoe UI"/>
              </a:rPr>
              <a:t>input.required&lt;T&gt;(): Eltern müssen binden, sonst Fehler beim Kompilieren</a:t>
            </a:r>
          </a:p>
          <a:p>
            <a:pPr>
              <a:defRPr sz="2000" b="0">
                <a:latin typeface="Segoe UI"/>
              </a:defRPr>
            </a:pPr>
            <a:r>
              <a:rPr lang="de-DE" sz="2000" b="0">
                <a:latin typeface="Segoe UI"/>
              </a:rPr>
              <a:t>output&lt;T&gt;(): liefert ein OutputEmitterRef&lt;T&gt; mit emit(wert)</a:t>
            </a:r>
          </a:p>
          <a:p>
            <a:pPr lvl="1">
              <a:defRPr sz="1700" b="0">
                <a:latin typeface="Segoe UI"/>
              </a:defRPr>
            </a:pPr>
            <a:r>
              <a:rPr lang="de-DE" sz="1700" b="0">
                <a:latin typeface="Segoe UI"/>
              </a:rPr>
              <a:t>output&lt;void&gt;(): emit() ohne Argument</a:t>
            </a:r>
          </a:p>
          <a:p>
            <a:pPr>
              <a:defRPr sz="2000" b="0">
                <a:latin typeface="Segoe UI"/>
              </a:defRPr>
            </a:pPr>
            <a:r>
              <a:rPr lang="de-DE" sz="2000" b="0">
                <a:latin typeface="Segoe UI"/>
              </a:rPr>
              <a:t>Im Eltern-Template: $event ist genau der Wert aus emit(...)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customer-list.component.html</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&lt;customer-filter</a:t>
            </a:r>
          </a:p>
          <a:p>
            <a:pPr algn="l"/>
            <a:r>
              <a:rPr sz="1300" b="0">
                <a:solidFill>
                  <a:srgbClr val="2B3A42"/>
                </a:solidFill>
                <a:latin typeface="Consolas"/>
              </a:rPr>
              <a:t>  [value]="filterText()"</a:t>
            </a:r>
          </a:p>
          <a:p>
            <a:pPr algn="l"/>
            <a:r>
              <a:rPr sz="1300" b="0">
                <a:solidFill>
                  <a:srgbClr val="2B3A42"/>
                </a:solidFill>
                <a:latin typeface="Consolas"/>
              </a:rPr>
              <a:t>  (changed)=</a:t>
            </a:r>
          </a:p>
          <a:p>
            <a:pPr algn="l"/>
            <a:r>
              <a:rPr sz="1300" b="0">
                <a:solidFill>
                  <a:srgbClr val="2B3A42"/>
                </a:solidFill>
                <a:latin typeface="Consolas"/>
              </a:rPr>
              <a:t>    "onFilterChanged($event)"</a:t>
            </a:r>
          </a:p>
          <a:p>
            <a:pPr algn="l"/>
            <a:r>
              <a:rPr sz="1300" b="0">
                <a:solidFill>
                  <a:srgbClr val="2B3A42"/>
                </a:solidFill>
                <a:latin typeface="Consolas"/>
              </a:rPr>
              <a:t>  (cleared)=</a:t>
            </a:r>
          </a:p>
          <a:p>
            <a:pPr algn="l"/>
            <a:r>
              <a:rPr sz="1300" b="0">
                <a:solidFill>
                  <a:srgbClr val="2B3A42"/>
                </a:solidFill>
                <a:latin typeface="Consolas"/>
              </a:rPr>
              <a:t>    "onFilterCleared()" /&gt;</a:t>
            </a:r>
          </a:p>
          <a:p>
            <a:pPr algn="l"/>
            <a:r>
              <a:rPr sz="1300" b="0">
                <a:solidFill>
                  <a:srgbClr val="2B3A42"/>
                </a:solidFill>
                <a:latin typeface="Consolas"/>
              </a:rPr>
              <a:t/>
            </a:r>
          </a:p>
          <a:p>
            <a:pPr algn="l"/>
            <a:r>
              <a:rPr sz="1300" b="0">
                <a:solidFill>
                  <a:srgbClr val="2B3A42"/>
                </a:solidFill>
                <a:latin typeface="Consolas"/>
              </a:rPr>
              <a:t>// in der Klasse:</a:t>
            </a:r>
          </a:p>
          <a:p>
            <a:pPr algn="l"/>
            <a:r>
              <a:rPr sz="1300" b="0">
                <a:solidFill>
                  <a:srgbClr val="2B3A42"/>
                </a:solidFill>
                <a:latin typeface="Consolas"/>
              </a:rPr>
              <a:t>onFilterChanged(t: string) {</a:t>
            </a:r>
          </a:p>
          <a:p>
            <a:pPr algn="l"/>
            <a:r>
              <a:rPr sz="1300" b="0">
                <a:solidFill>
                  <a:srgbClr val="2B3A42"/>
                </a:solidFill>
                <a:latin typeface="Consolas"/>
              </a:rPr>
              <a:t>  this.filterText.set(t);</a:t>
            </a:r>
          </a:p>
          <a:p>
            <a:pPr algn="l"/>
            <a:r>
              <a:rPr sz="1300" b="0">
                <a:solidFill>
                  <a:srgbClr val="2B3A42"/>
                </a:solidFill>
                <a:latin typeface="Consolas"/>
              </a:rPr>
              <a:t>}</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Container und Darstellung</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Kundenliste im &lt;router-outlet&gt;: Daten per [input] nach unten, Ereignisse per (output) nach oben.</a:t>
            </a:r>
          </a:p>
        </p:txBody>
      </p:sp>
      <p:sp>
        <p:nvSpPr>
          <p:cNvPr id="4" name="Rectangle 3"/>
          <p:cNvSpPr/>
          <p:nvPr/>
        </p:nvSpPr>
        <p:spPr>
          <a:xfrm>
            <a:off x="838080" y="1650000"/>
            <a:ext cx="10514160" cy="340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CustomerListComponent (Container)</a:t>
            </a:r>
          </a:p>
          <a:p>
            <a:pPr algn="l"/>
            <a:r>
              <a:rPr sz="1300" b="1">
                <a:solidFill>
                  <a:srgbClr val="2B3A42"/>
                </a:solidFill>
                <a:latin typeface="Segoe UI"/>
              </a:rPr>
              <a:t>Template customer-list.component.html, URL /customer</a:t>
            </a:r>
          </a:p>
        </p:txBody>
      </p:sp>
      <p:sp>
        <p:nvSpPr>
          <p:cNvPr id="6" name="Rectangle 5"/>
          <p:cNvSpPr/>
          <p:nvPr/>
        </p:nvSpPr>
        <p:spPr>
          <a:xfrm>
            <a:off x="948080" y="2210000"/>
            <a:ext cx="308472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50000"/>
            <a:ext cx="2964720" cy="520000"/>
          </a:xfrm>
          <a:prstGeom prst="rect">
            <a:avLst/>
          </a:prstGeom>
          <a:noFill/>
        </p:spPr>
        <p:txBody>
          <a:bodyPr wrap="square" anchor="t" lIns="70000" rIns="70000" tIns="0" bIns="0">
            <a:spAutoFit/>
          </a:bodyPr>
          <a:lstStyle/>
          <a:p>
            <a:pPr algn="l"/>
            <a:r>
              <a:rPr sz="1300" b="1">
                <a:solidFill>
                  <a:srgbClr val="2B3A42"/>
                </a:solidFill>
                <a:latin typeface="Segoe UI"/>
              </a:rPr>
              <a:t>&lt;customer-filter&gt;</a:t>
            </a:r>
          </a:p>
          <a:p>
            <a:pPr algn="l"/>
            <a:r>
              <a:rPr sz="1300" b="1">
                <a:solidFill>
                  <a:srgbClr val="2B3A42"/>
                </a:solidFill>
                <a:latin typeface="Segoe UI"/>
              </a:rPr>
              <a:t>CustomerFilterComponent</a:t>
            </a:r>
          </a:p>
        </p:txBody>
      </p:sp>
      <p:sp>
        <p:nvSpPr>
          <p:cNvPr id="8" name="Rounded Rectangle 7"/>
          <p:cNvSpPr/>
          <p:nvPr/>
        </p:nvSpPr>
        <p:spPr>
          <a:xfrm>
            <a:off x="1058080" y="2770000"/>
            <a:ext cx="286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value = input('')</a:t>
            </a:r>
          </a:p>
        </p:txBody>
      </p:sp>
      <p:sp>
        <p:nvSpPr>
          <p:cNvPr id="9" name="Rounded Rectangle 8"/>
          <p:cNvSpPr/>
          <p:nvPr/>
        </p:nvSpPr>
        <p:spPr>
          <a:xfrm>
            <a:off x="1058080" y="3830000"/>
            <a:ext cx="286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changed = output&lt;string&gt;()</a:t>
            </a:r>
          </a:p>
        </p:txBody>
      </p:sp>
      <p:sp>
        <p:nvSpPr>
          <p:cNvPr id="10" name="Rectangle 9"/>
          <p:cNvSpPr/>
          <p:nvPr/>
        </p:nvSpPr>
        <p:spPr>
          <a:xfrm>
            <a:off x="4552800" y="2210000"/>
            <a:ext cx="308472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1" name="TextBox 10"/>
          <p:cNvSpPr txBox="1"/>
          <p:nvPr/>
        </p:nvSpPr>
        <p:spPr>
          <a:xfrm>
            <a:off x="4612800" y="2250000"/>
            <a:ext cx="2964720" cy="520000"/>
          </a:xfrm>
          <a:prstGeom prst="rect">
            <a:avLst/>
          </a:prstGeom>
          <a:noFill/>
        </p:spPr>
        <p:txBody>
          <a:bodyPr wrap="square" anchor="t" lIns="70000" rIns="70000" tIns="0" bIns="0">
            <a:spAutoFit/>
          </a:bodyPr>
          <a:lstStyle/>
          <a:p>
            <a:pPr algn="l"/>
            <a:r>
              <a:rPr sz="1300" b="1">
                <a:solidFill>
                  <a:srgbClr val="2B3A42"/>
                </a:solidFill>
                <a:latin typeface="Segoe UI"/>
              </a:rPr>
              <a:t>Klasse CustomerListComponent</a:t>
            </a:r>
          </a:p>
          <a:p>
            <a:pPr algn="l"/>
            <a:r>
              <a:rPr sz="1300" b="1">
                <a:solidFill>
                  <a:srgbClr val="2B3A42"/>
                </a:solidFill>
                <a:latin typeface="Segoe UI"/>
              </a:rPr>
              <a:t>besitzt den Zustand</a:t>
            </a:r>
          </a:p>
        </p:txBody>
      </p:sp>
      <p:sp>
        <p:nvSpPr>
          <p:cNvPr id="12" name="Rounded Rectangle 11"/>
          <p:cNvSpPr/>
          <p:nvPr/>
        </p:nvSpPr>
        <p:spPr>
          <a:xfrm>
            <a:off x="4662800" y="2770000"/>
            <a:ext cx="286472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filterText, selectedCustomer</a:t>
            </a:r>
          </a:p>
          <a:p>
            <a:pPr algn="ctr"/>
            <a:r>
              <a:rPr sz="1300" b="1">
                <a:solidFill>
                  <a:srgbClr val="FFFFFF"/>
                </a:solidFill>
                <a:latin typeface="Segoe UI"/>
              </a:rPr>
              <a:t>signal(...)</a:t>
            </a:r>
          </a:p>
        </p:txBody>
      </p:sp>
      <p:sp>
        <p:nvSpPr>
          <p:cNvPr id="13" name="Rounded Rectangle 12"/>
          <p:cNvSpPr/>
          <p:nvPr/>
        </p:nvSpPr>
        <p:spPr>
          <a:xfrm>
            <a:off x="4662800" y="4010000"/>
            <a:ext cx="286472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onFilterChanged($event)</a:t>
            </a:r>
          </a:p>
          <a:p>
            <a:pPr algn="ctr"/>
            <a:r>
              <a:rPr sz="1300" b="1">
                <a:solidFill>
                  <a:srgbClr val="FFFFFF"/>
                </a:solidFill>
                <a:latin typeface="Segoe UI"/>
              </a:rPr>
              <a:t>listItemClicked($event)</a:t>
            </a:r>
          </a:p>
        </p:txBody>
      </p:sp>
      <p:sp>
        <p:nvSpPr>
          <p:cNvPr id="14" name="Rectangle 13"/>
          <p:cNvSpPr/>
          <p:nvPr/>
        </p:nvSpPr>
        <p:spPr>
          <a:xfrm>
            <a:off x="8157520" y="2210000"/>
            <a:ext cx="308472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5" name="TextBox 14"/>
          <p:cNvSpPr txBox="1"/>
          <p:nvPr/>
        </p:nvSpPr>
        <p:spPr>
          <a:xfrm>
            <a:off x="8217520" y="2250000"/>
            <a:ext cx="2964720" cy="520000"/>
          </a:xfrm>
          <a:prstGeom prst="rect">
            <a:avLst/>
          </a:prstGeom>
          <a:noFill/>
        </p:spPr>
        <p:txBody>
          <a:bodyPr wrap="square" anchor="t" lIns="70000" rIns="70000" tIns="0" bIns="0">
            <a:spAutoFit/>
          </a:bodyPr>
          <a:lstStyle/>
          <a:p>
            <a:pPr algn="l"/>
            <a:r>
              <a:rPr sz="1300" b="1">
                <a:solidFill>
                  <a:srgbClr val="2B3A42"/>
                </a:solidFill>
                <a:latin typeface="Segoe UI"/>
              </a:rPr>
              <a:t>&lt;li customer-list-item&gt;</a:t>
            </a:r>
          </a:p>
          <a:p>
            <a:pPr algn="l"/>
            <a:r>
              <a:rPr sz="1300" b="1">
                <a:solidFill>
                  <a:srgbClr val="2B3A42"/>
                </a:solidFill>
                <a:latin typeface="Segoe UI"/>
              </a:rPr>
              <a:t>CustomerListItem, je Kunde</a:t>
            </a:r>
          </a:p>
        </p:txBody>
      </p:sp>
      <p:sp>
        <p:nvSpPr>
          <p:cNvPr id="16" name="Rounded Rectangle 15"/>
          <p:cNvSpPr/>
          <p:nvPr/>
        </p:nvSpPr>
        <p:spPr>
          <a:xfrm>
            <a:off x="8267520" y="277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 selected</a:t>
            </a:r>
          </a:p>
          <a:p>
            <a:pPr algn="ctr"/>
            <a:r>
              <a:rPr sz="1300" b="0">
                <a:solidFill>
                  <a:srgbClr val="2B3A42"/>
                </a:solidFill>
                <a:latin typeface="Segoe UI"/>
              </a:rPr>
              <a:t>beide input()</a:t>
            </a:r>
          </a:p>
        </p:txBody>
      </p:sp>
      <p:sp>
        <p:nvSpPr>
          <p:cNvPr id="17" name="Rounded Rectangle 16"/>
          <p:cNvSpPr/>
          <p:nvPr/>
        </p:nvSpPr>
        <p:spPr>
          <a:xfrm>
            <a:off x="8267520" y="4010000"/>
            <a:ext cx="286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chosen = output&lt;Customer&gt;()</a:t>
            </a:r>
          </a:p>
        </p:txBody>
      </p:sp>
      <p:cxnSp>
        <p:nvCxnSpPr>
          <p:cNvPr id="18" name="Connector 17"/>
          <p:cNvCxnSpPr/>
          <p:nvPr/>
        </p:nvCxnSpPr>
        <p:spPr>
          <a:xfrm flipH="1">
            <a:off x="3922800" y="3090000"/>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56748" y="2760000"/>
            <a:ext cx="1072104"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[value]</a:t>
            </a:r>
          </a:p>
        </p:txBody>
      </p:sp>
      <p:cxnSp>
        <p:nvCxnSpPr>
          <p:cNvPr id="20" name="Connector 19"/>
          <p:cNvCxnSpPr/>
          <p:nvPr/>
        </p:nvCxnSpPr>
        <p:spPr>
          <a:xfrm>
            <a:off x="3922800" y="4240000"/>
            <a:ext cx="74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37876" y="3910000"/>
            <a:ext cx="1309848"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(changed)</a:t>
            </a:r>
          </a:p>
        </p:txBody>
      </p:sp>
      <p:cxnSp>
        <p:nvCxnSpPr>
          <p:cNvPr id="22" name="Connector 21"/>
          <p:cNvCxnSpPr/>
          <p:nvPr/>
        </p:nvCxnSpPr>
        <p:spPr>
          <a:xfrm>
            <a:off x="7527520" y="3180000"/>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20904" y="2850000"/>
            <a:ext cx="953232"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Inputs</a:t>
            </a:r>
          </a:p>
        </p:txBody>
      </p:sp>
      <p:cxnSp>
        <p:nvCxnSpPr>
          <p:cNvPr id="24" name="Connector 23"/>
          <p:cNvCxnSpPr/>
          <p:nvPr/>
        </p:nvCxnSpPr>
        <p:spPr>
          <a:xfrm flipH="1">
            <a:off x="7527520" y="4330000"/>
            <a:ext cx="740000" cy="9000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302032" y="4045000"/>
            <a:ext cx="1190976"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(chosen)</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Zeilenkomponente: Attribut-Selektor und host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'li[customer-list-item]',     // Attribut-Selektor auf &lt;li&gt;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imports: [RouterLink],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templateUrl: './customer-list-item.component.html',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host: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'[class.discontinued]': 'customer().discontinued',  // Klasse am Host-Element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'[class.selected]': 'selected()',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'(click)': 'chosen.emit(customer())'                 // Klick am Host-Element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CustomerListItemComponent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 = input.required&lt;Customer&gt;();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selected = input(false);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chosen = output&lt;Customer&gt;();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Container: &lt;li customer-list-item [customer]="customer"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[selected]="isSelectedCustomer(customer)" (chosen)="listItemClicked($event)"&gt;</a:t>
            </a:r>
            <a:endParaRPr lang="de-DE" sz="1400" b="0" u="none" strike="noStrike">
              <a:solidFill>
                <a:srgbClr val="000000"/>
              </a:solidFill>
              <a:uFillTx/>
              <a:latin typeface="Arial"/>
            </a:endParaRP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Komposition: größere Bausteine aus kleinen zusammensetzen</a:t>
            </a:r>
          </a:p>
          <a:p>
            <a:pPr lvl="1">
              <a:defRPr sz="1700" b="0">
                <a:latin typeface="Segoe UI"/>
              </a:defRPr>
            </a:pPr>
            <a:r>
              <a:rPr lang="de-DE" sz="1700" b="0">
                <a:latin typeface="Segoe UI"/>
              </a:rPr>
              <a:t>&lt;ng-content&gt; (Übung 29), Kind-Komponenten, Direktiven, Services</a:t>
            </a:r>
          </a:p>
          <a:p>
            <a:pPr>
              <a:defRPr sz="2000" b="0">
                <a:latin typeface="Segoe UI"/>
              </a:defRPr>
            </a:pPr>
            <a:r>
              <a:rPr lang="de-DE" sz="2000" b="0">
                <a:latin typeface="Segoe UI"/>
              </a:rPr>
              <a:t>Vererbung: Komponente erweitert eine Basisklasse (extends)</a:t>
            </a:r>
          </a:p>
          <a:p>
            <a:pPr lvl="1">
              <a:defRPr sz="1700" b="0">
                <a:latin typeface="Segoe UI"/>
              </a:defRPr>
            </a:pPr>
            <a:r>
              <a:rPr lang="de-DE" sz="1700" b="0">
                <a:latin typeface="Segoe UI"/>
              </a:rPr>
              <a:t>versteckte Kopplung: Änderung an der Basis trifft alle</a:t>
            </a:r>
          </a:p>
          <a:p>
            <a:pPr lvl="1">
              <a:defRPr sz="1700" b="0">
                <a:latin typeface="Segoe UI"/>
              </a:defRPr>
            </a:pPr>
            <a:r>
              <a:rPr lang="de-DE" sz="1700" b="0">
                <a:latin typeface="Segoe UI"/>
              </a:rPr>
              <a:t>nur eine Basisklasse möglich, Template wird nicht geerbt</a:t>
            </a:r>
          </a:p>
          <a:p>
            <a:pPr>
              <a:defRPr sz="2000" b="0">
                <a:latin typeface="Segoe UI"/>
              </a:defRPr>
            </a:pPr>
            <a:r>
              <a:rPr lang="de-DE" sz="2000" b="0">
                <a:latin typeface="Segoe UI"/>
              </a:rPr>
              <a:t>Faustregel: Verhalten hineinholen statt erben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Vererbung (meiden)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BaseList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a:p>
            <a:pPr algn="ctr"/>
            <a:r>
              <a:rPr sz="1400" b="0">
                <a:solidFill>
                  <a:srgbClr val="2B3A42"/>
                </a:solidFill>
                <a:latin typeface="Segoe UI"/>
              </a:rPr>
              <a:t>extends BaseList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Kopplung an Basis</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Komposition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Service per inject()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hostDirectives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&lt;ng-content&gt;</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Vererbung: so sieht es aus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Basisklasse mit Angular-Funktionen braucht einen eigenen Dekorator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@Directive()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abstract class BaseListComponent&lt;T&gt;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selected = signal&lt;T | undefined&gt;(undefined);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select(item: T) { this.selected.set(item);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isSelected(item: T) { return item === this.selected();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 selector: 'customer-list', templateUrl: './customer-list.component.html'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extends BaseListComponent&lt;Customer&gt;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erbt selected, select, isSelected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Probleme: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Template und Styles werden nicht geerbt, nur Klassenlogik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Konstruktor-Parameter der Basis müssen per super(...) durchgereicht werden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Jede Änderung an BaseListComponent trifft alle Listen der Anwendung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Eine zweite Basisklasse (z. B. für Sortierung) ist nicht möglich</a:t>
            </a:r>
            <a:endParaRPr lang="de-DE" sz="1400" b="0" u="none" strike="noStrike">
              <a:solidFill>
                <a:srgbClr val="000000"/>
              </a:solidFill>
              <a:uFillTx/>
              <a:latin typeface="Arial"/>
            </a:endParaRP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Komposition: Verhalten als Service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Gemeinsames Verhalten in einer eigenen Klasse, ohne providedIn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@Injectable()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Selection&lt;T&gt;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selected = signal&lt;T | undefined&gt;(undefined);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select(item: T) { this.selected.set(item);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isSelected(item: T) { return item === this.selected();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'customer-list', templateUrl: './customer-list.component.html',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[Selection]             // jede Liste bekommt ihre eigene Instanz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selection = inject&lt;Selection&lt;Customer&gt;&gt;(Selection);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[selected]="selection.isSelected(customer)"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Weitere Bausteine (Sortierung, Paging) einfach zusätzlich injizieren</a:t>
            </a:r>
            <a:endParaRPr lang="de-DE" sz="1400" b="0" u="none" strike="noStrike">
              <a:solidFill>
                <a:srgbClr val="000000"/>
              </a:solidFill>
              <a:uFillTx/>
              <a:latin typeface="Arial"/>
            </a:endParaRP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hostDirectives: Direktiven mitbringen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 fügt einem Element Verhalten hinzu (z. B. Hervorheben)</a:t>
            </a:r>
          </a:p>
          <a:p>
            <a:pPr>
              <a:defRPr sz="2000" b="0">
                <a:latin typeface="Segoe UI"/>
              </a:defRPr>
            </a:pPr>
            <a:r>
              <a:rPr lang="de-DE" sz="2000" b="0">
                <a:latin typeface="Segoe UI"/>
              </a:rPr>
              <a:t>Normal: Nutzer schreibt sie ins Template: &lt;li appHighlight&gt;</a:t>
            </a:r>
          </a:p>
          <a:p>
            <a:pPr>
              <a:defRPr sz="2000" b="0">
                <a:latin typeface="Segoe UI"/>
              </a:defRPr>
            </a:pPr>
            <a:r>
              <a:rPr lang="de-DE" sz="2000" b="0">
                <a:latin typeface="Segoe UI"/>
              </a:rPr>
              <a:t>hostDirectives: Komponente bringt die Direktive selbst mit</a:t>
            </a:r>
          </a:p>
          <a:p>
            <a:pPr lvl="1">
              <a:defRPr sz="1700" b="0">
                <a:latin typeface="Segoe UI"/>
              </a:defRPr>
            </a:pPr>
            <a:r>
              <a:rPr lang="de-DE" sz="1700" b="0">
                <a:latin typeface="Segoe UI"/>
              </a:rPr>
              <a:t>Angular erzeugt sie automatisch am Host-Element</a:t>
            </a:r>
          </a:p>
          <a:p>
            <a:pPr>
              <a:defRPr sz="2000" b="0">
                <a:latin typeface="Segoe UI"/>
              </a:defRPr>
            </a:pPr>
            <a:r>
              <a:rPr lang="de-DE" sz="2000" b="0">
                <a:latin typeface="Segoe UI"/>
              </a:rPr>
              <a:t>Inputs und Outputs der Direktive nur, wenn ausdrücklich freigegeben</a:t>
            </a:r>
          </a:p>
          <a:p>
            <a:pPr>
              <a:defRPr sz="2000" b="0">
                <a:latin typeface="Segoe UI"/>
              </a:defRPr>
            </a:pPr>
            <a:r>
              <a:rPr lang="de-DE" sz="2000" b="0">
                <a:latin typeface="Segoe UI"/>
              </a:rPr>
              <a:t>Komponente kann die Direktive per inject() nutzen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&lt;li customer-list-item&gt;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erzeugt zuerst</a:t>
            </a:r>
          </a:p>
          <a:p>
            <a:pPr algn="ctr"/>
            <a:r>
              <a:rPr sz="1700" b="0">
                <a:solidFill>
                  <a:srgbClr val="2B3A42"/>
                </a:solidFill>
                <a:latin typeface="Segoe UI"/>
              </a:rPr>
              <a:t>Highlight (Direktive)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dann CustomerListItem</a:t>
            </a:r>
          </a:p>
          <a:p>
            <a:pPr algn="ctr"/>
            <a:r>
              <a:rPr sz="1700" b="0">
                <a:solidFill>
                  <a:srgbClr val="2B3A42"/>
                </a:solidFill>
                <a:latin typeface="Segoe UI"/>
              </a:rPr>
              <a:t>(Komponente)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Beide wirken am</a:t>
            </a:r>
          </a:p>
          <a:p>
            <a:pPr algn="ctr"/>
            <a:r>
              <a:rPr sz="1700" b="1">
                <a:solidFill>
                  <a:srgbClr val="FFFFFF"/>
                </a:solidFill>
                <a:latin typeface="Segoe UI"/>
              </a:rPr>
              <a:t>selben &lt;li&gt;</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Host-Direktiven laufen vor der Komponente</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hostDirectives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@Directive({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'[appHighlight]',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host: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'[style.background]': 'active() ? color() : 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'(mouseenter)': 'active.set(true)',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'(mouseleave)': 'active.set(false)'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Highlight { color = input('lightyellow'); active = signal(false);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'li[customer-list-item]',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hostDirectives: [{ directive: Highlight, inputs: ['color: highlightColor']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CustomerListItemComponent { /* wie bisher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Nutzung: &lt;li customer-list-item highlightColor="lightblue" [customer]="c"&gt;</a:t>
            </a:r>
            <a:endParaRPr lang="de-DE" sz="1600" b="0" u="none" strike="noStrike">
              <a:solidFill>
                <a:srgbClr val="000000"/>
              </a:solidFill>
              <a:uFillTx/>
              <a:latin typeface="Arial"/>
            </a:endParaRP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Host-Direktive am &lt;li&gt;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Ein Host-Element, zwei Klassen: Highlight und CustomerListItemComponent am selben &lt;li&gt;.</a:t>
            </a:r>
          </a:p>
        </p:txBody>
      </p:sp>
      <p:sp>
        <p:nvSpPr>
          <p:cNvPr id="4" name="Rectangle 3"/>
          <p:cNvSpPr/>
          <p:nvPr/>
        </p:nvSpPr>
        <p:spPr>
          <a:xfrm>
            <a:off x="838080" y="1650000"/>
            <a:ext cx="10514160" cy="340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&lt;li customer-list-item highlightColor="lightblue" [customer]="c"&gt;</a:t>
            </a:r>
          </a:p>
          <a:p>
            <a:pPr algn="l"/>
            <a:r>
              <a:rPr sz="1300" b="1">
                <a:solidFill>
                  <a:srgbClr val="2B3A42"/>
                </a:solidFill>
                <a:latin typeface="Segoe UI"/>
              </a:rPr>
              <a:t>Host-Element im Template von CustomerListComponent</a:t>
            </a:r>
          </a:p>
        </p:txBody>
      </p:sp>
      <p:sp>
        <p:nvSpPr>
          <p:cNvPr id="6" name="Rectangle 5"/>
          <p:cNvSpPr/>
          <p:nvPr/>
        </p:nvSpPr>
        <p:spPr>
          <a:xfrm>
            <a:off x="948080" y="2210000"/>
            <a:ext cx="488708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5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Highlight (Host-Direktive)</a:t>
            </a:r>
          </a:p>
          <a:p>
            <a:pPr algn="l"/>
            <a:r>
              <a:rPr sz="1300" b="1">
                <a:solidFill>
                  <a:srgbClr val="2B3A42"/>
                </a:solidFill>
                <a:latin typeface="Segoe UI"/>
              </a:rPr>
              <a:t>1. wird zuerst erzeugt</a:t>
            </a:r>
          </a:p>
        </p:txBody>
      </p:sp>
      <p:sp>
        <p:nvSpPr>
          <p:cNvPr id="8" name="Rounded Rectangle 7"/>
          <p:cNvSpPr/>
          <p:nvPr/>
        </p:nvSpPr>
        <p:spPr>
          <a:xfrm>
            <a:off x="1058080" y="2770000"/>
            <a:ext cx="46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color = input('lightyellow')</a:t>
            </a:r>
          </a:p>
          <a:p>
            <a:pPr algn="ctr"/>
            <a:r>
              <a:rPr sz="1300" b="0">
                <a:solidFill>
                  <a:srgbClr val="2B3A42"/>
                </a:solidFill>
                <a:latin typeface="Segoe UI"/>
              </a:rPr>
              <a:t>außen als highlightColor</a:t>
            </a:r>
          </a:p>
        </p:txBody>
      </p:sp>
      <p:sp>
        <p:nvSpPr>
          <p:cNvPr id="9" name="Rounded Rectangle 8"/>
          <p:cNvSpPr/>
          <p:nvPr/>
        </p:nvSpPr>
        <p:spPr>
          <a:xfrm>
            <a:off x="1058080" y="4010000"/>
            <a:ext cx="46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host: [style.background]</a:t>
            </a:r>
          </a:p>
          <a:p>
            <a:pPr algn="ctr"/>
            <a:r>
              <a:rPr sz="1300" b="0">
                <a:solidFill>
                  <a:srgbClr val="2B3A42"/>
                </a:solidFill>
                <a:latin typeface="Segoe UI"/>
              </a:rPr>
              <a:t>(mouseenter), (mouseleave)</a:t>
            </a:r>
          </a:p>
        </p:txBody>
      </p:sp>
      <p:sp>
        <p:nvSpPr>
          <p:cNvPr id="10" name="Rectangle 9"/>
          <p:cNvSpPr/>
          <p:nvPr/>
        </p:nvSpPr>
        <p:spPr>
          <a:xfrm>
            <a:off x="6355160" y="2210000"/>
            <a:ext cx="488708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1" name="TextBox 10"/>
          <p:cNvSpPr txBox="1"/>
          <p:nvPr/>
        </p:nvSpPr>
        <p:spPr>
          <a:xfrm>
            <a:off x="6415160" y="225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CustomerListItemComponent</a:t>
            </a:r>
          </a:p>
          <a:p>
            <a:pPr algn="l"/>
            <a:r>
              <a:rPr sz="1300" b="1">
                <a:solidFill>
                  <a:srgbClr val="2B3A42"/>
                </a:solidFill>
                <a:latin typeface="Segoe UI"/>
              </a:rPr>
              <a:t>2. danach erzeugt</a:t>
            </a:r>
          </a:p>
        </p:txBody>
      </p:sp>
      <p:sp>
        <p:nvSpPr>
          <p:cNvPr id="12" name="Rounded Rectangle 11"/>
          <p:cNvSpPr/>
          <p:nvPr/>
        </p:nvSpPr>
        <p:spPr>
          <a:xfrm>
            <a:off x="6465160" y="2770000"/>
            <a:ext cx="466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customer = input.required()</a:t>
            </a:r>
          </a:p>
          <a:p>
            <a:pPr algn="ctr"/>
            <a:r>
              <a:rPr sz="1300" b="1">
                <a:solidFill>
                  <a:srgbClr val="FFFFFF"/>
                </a:solidFill>
                <a:latin typeface="Segoe UI"/>
              </a:rPr>
              <a:t>aus [customer]="c"</a:t>
            </a:r>
          </a:p>
        </p:txBody>
      </p:sp>
      <p:sp>
        <p:nvSpPr>
          <p:cNvPr id="13" name="Rounded Rectangle 12"/>
          <p:cNvSpPr/>
          <p:nvPr/>
        </p:nvSpPr>
        <p:spPr>
          <a:xfrm>
            <a:off x="6465160" y="4010000"/>
            <a:ext cx="466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host: [class.selected]</a:t>
            </a:r>
          </a:p>
          <a:p>
            <a:pPr algn="ctr"/>
            <a:r>
              <a:rPr sz="1300" b="1">
                <a:solidFill>
                  <a:srgbClr val="FFFFFF"/>
                </a:solidFill>
                <a:latin typeface="Segoe UI"/>
              </a:rPr>
              <a:t>(click) → chosen.emit()</a:t>
            </a:r>
          </a:p>
        </p:txBody>
      </p:sp>
      <p:cxnSp>
        <p:nvCxnSpPr>
          <p:cNvPr id="14" name="Connector 13"/>
          <p:cNvCxnSpPr/>
          <p:nvPr/>
        </p:nvCxnSpPr>
        <p:spPr>
          <a:xfrm flipH="1">
            <a:off x="5835160" y="3575000"/>
            <a:ext cx="520000" cy="0"/>
          </a:xfrm>
          <a:prstGeom prst="line">
            <a:avLst/>
          </a:prstGeom>
          <a:ln w="25400">
            <a:solidFill>
              <a:srgbClr val="1E9E7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99672" y="3245000"/>
            <a:ext cx="119097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inject()</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hostDirectives: 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Nur Standalone-Direktiven (in Angular 21 der Standard)</a:t>
            </a:r>
          </a:p>
          <a:p>
            <a:pPr>
              <a:defRPr sz="2000" b="0">
                <a:latin typeface="Segoe UI"/>
              </a:defRPr>
            </a:pPr>
            <a:r>
              <a:rPr lang="de-DE" sz="2000" b="0">
                <a:latin typeface="Segoe UI"/>
              </a:rPr>
              <a:t>Der Selektor der Direktive spielt keine Rolle</a:t>
            </a:r>
          </a:p>
          <a:p>
            <a:pPr>
              <a:defRPr sz="2000" b="0">
                <a:latin typeface="Segoe UI"/>
              </a:defRPr>
            </a:pPr>
            <a:r>
              <a:rPr lang="de-DE" sz="2000" b="0">
                <a:latin typeface="Segoe UI"/>
              </a:rPr>
              <a:t>Inputs und Outputs: inputs: ['name'] oder ['name: alias']</a:t>
            </a:r>
          </a:p>
          <a:p>
            <a:pPr>
              <a:defRPr sz="2000" b="0">
                <a:latin typeface="Segoe UI"/>
              </a:defRPr>
            </a:pPr>
            <a:r>
              <a:rPr lang="de-DE" sz="2000" b="0">
                <a:latin typeface="Segoe UI"/>
              </a:rPr>
              <a:t>Reihenfolge: erst Host-Direktiven, dann die Komponente</a:t>
            </a:r>
          </a:p>
          <a:p>
            <a:pPr>
              <a:defRPr sz="2000" b="0">
                <a:latin typeface="Segoe UI"/>
              </a:defRPr>
            </a:pPr>
            <a:r>
              <a:rPr lang="de-DE" sz="2000" b="0">
                <a:latin typeface="Segoe UI"/>
              </a:rPr>
              <a:t>Zugriff aus der Komponente: inject(Highlight)</a:t>
            </a:r>
          </a:p>
          <a:p>
            <a:pPr>
              <a:defRPr sz="2000" b="0">
                <a:latin typeface="Segoe UI"/>
              </a:defRPr>
            </a:pPr>
            <a:r>
              <a:rPr lang="de-DE" sz="2000" b="0">
                <a:latin typeface="Segoe UI"/>
              </a:rPr>
              <a:t>Nutzen: gemeinsames Verhalten ohne Basisklasse, mehrere kombinierbar</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als pure Funktion oder Pipe: ohne Angular testbar</a:t>
            </a:r>
          </a:p>
          <a:p>
            <a:pPr>
              <a:defRPr sz="2000" b="0">
                <a:latin typeface="Segoe UI"/>
              </a:defRPr>
            </a:pPr>
            <a:r>
              <a:rPr lang="de-DE" sz="2000" b="0">
                <a:latin typeface="Segoe UI"/>
              </a:rPr>
              <a:t>Keine Fachregeln im Template: lieber computed oder Pipe</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a:t>
            </a:r>
          </a:p>
          <a:p>
            <a:pPr algn="ctr"/>
            <a:r>
              <a:rPr sz="1700" b="1">
                <a:solidFill>
                  <a:srgbClr val="FFFFFF"/>
                </a:solidFill>
                <a:latin typeface="Segoe UI"/>
              </a:rPr>
              <a:t>Darstellung, Eingaben</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Service oder Store</a:t>
            </a:r>
          </a:p>
          <a:p>
            <a:pPr algn="ctr"/>
            <a:r>
              <a:rPr sz="1700" b="1">
                <a:solidFill>
                  <a:srgbClr val="FFFFFF"/>
                </a:solidFill>
                <a:latin typeface="Segoe UI"/>
              </a:rPr>
              <a:t>Fachlogik, Zustand</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API-Client (HttpClient)</a:t>
            </a:r>
          </a:p>
          <a:p>
            <a:pPr algn="ctr"/>
            <a:r>
              <a:rPr sz="1700" b="0">
                <a:solidFill>
                  <a:srgbClr val="2B3A42"/>
                </a:solidFill>
                <a:latin typeface="Segoe UI"/>
              </a:rPr>
              <a:t>Zugriff nach außen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Abhängigkeiten zeigen nur nach unten</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Wartbarkeit: Merkmale stabiler Codebasen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Kleine Komponente mit klaren Inputs und Outputs: Test in wenigen Zeilen</a:t>
            </a:r>
          </a:p>
          <a:p>
            <a:pPr>
              <a:defRPr sz="2000" b="0">
                <a:latin typeface="Segoe UI"/>
              </a:defRPr>
            </a:pPr>
            <a:r>
              <a:rPr lang="de-DE" sz="2000" b="0">
                <a:latin typeface="Segoe UI"/>
              </a:rPr>
              <a:t>Viele versteckte Abhängigkeiten: Test braucht viel Mocking</a:t>
            </a:r>
          </a:p>
          <a:p>
            <a:pPr>
              <a:defRPr sz="2000" b="0">
                <a:latin typeface="Segoe UI"/>
              </a:defRPr>
            </a:pPr>
            <a:r>
              <a:rPr lang="de-DE" sz="2000" b="0">
                <a:latin typeface="Segoe UI"/>
              </a:rPr>
              <a:t>Pflicht-Input vor dem ersten Rendern setzen: setInput(...)</a:t>
            </a:r>
          </a:p>
          <a:p>
            <a:pPr>
              <a:defRPr sz="2000" b="0">
                <a:latin typeface="Segoe UI"/>
              </a:defRPr>
            </a:pPr>
            <a:r>
              <a:rPr lang="de-DE" sz="2000" b="0">
                <a:latin typeface="Segoe UI"/>
              </a:rPr>
              <a:t>Output prüfen: abonnieren und Wert vergleichen</a:t>
            </a:r>
          </a:p>
          <a:p>
            <a:pPr>
              <a:defRPr sz="2000" b="0">
                <a:latin typeface="Segoe UI"/>
              </a:defRPr>
            </a:pPr>
            <a:r>
              <a:rPr lang="de-DE" sz="2000" b="0">
                <a:latin typeface="Segoe UI"/>
              </a:rPr>
              <a:t>Faustregel: Schwer zu testen heißt oft schlecht geschnitten</a:t>
            </a:r>
          </a:p>
          <a:p>
            <a:pPr>
              <a:defRPr sz="2000" b="0">
                <a:latin typeface="Segoe UI"/>
              </a:defRPr>
            </a:pPr>
            <a:r>
              <a:rPr lang="de-DE" sz="2000" b="0">
                <a:latin typeface="Segoe UI"/>
              </a:rPr>
              <a:t>Vertiefung im Kapitel zur Testbarkeit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customer-list-item.spec.ts</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f = TestBed.createComponent(</a:t>
            </a:r>
          </a:p>
          <a:p>
            <a:pPr algn="l"/>
            <a:r>
              <a:rPr sz="1300" b="0">
                <a:solidFill>
                  <a:srgbClr val="2B3A42"/>
                </a:solidFill>
                <a:latin typeface="Consolas"/>
              </a:rPr>
              <a:t>  CustomerListItemComponent);</a:t>
            </a:r>
          </a:p>
          <a:p>
            <a:pPr algn="l"/>
            <a:r>
              <a:rPr sz="1300" b="0">
                <a:solidFill>
                  <a:srgbClr val="2B3A42"/>
                </a:solidFill>
                <a:latin typeface="Consolas"/>
              </a:rPr>
              <a:t>f.componentRef.setInput(</a:t>
            </a:r>
          </a:p>
          <a:p>
            <a:pPr algn="l"/>
            <a:r>
              <a:rPr sz="1300" b="0">
                <a:solidFill>
                  <a:srgbClr val="2B3A42"/>
                </a:solidFill>
                <a:latin typeface="Consolas"/>
              </a:rPr>
              <a:t>  'customer', anna);</a:t>
            </a:r>
          </a:p>
          <a:p>
            <a:pPr algn="l"/>
            <a:r>
              <a:rPr sz="1300" b="0">
                <a:solidFill>
                  <a:srgbClr val="2B3A42"/>
                </a:solidFill>
                <a:latin typeface="Consolas"/>
              </a:rPr>
              <a:t>f.detectChanges();</a:t>
            </a:r>
          </a:p>
          <a:p>
            <a:pPr algn="l"/>
            <a:r>
              <a:rPr sz="1300" b="0">
                <a:solidFill>
                  <a:srgbClr val="2B3A42"/>
                </a:solidFill>
                <a:latin typeface="Consolas"/>
              </a:rPr>
              <a:t/>
            </a:r>
          </a:p>
          <a:p>
            <a:pPr algn="l"/>
            <a:r>
              <a:rPr sz="1300" b="0">
                <a:solidFill>
                  <a:srgbClr val="2B3A42"/>
                </a:solidFill>
                <a:latin typeface="Consolas"/>
              </a:rPr>
              <a:t>let got: Customer | undefined;</a:t>
            </a:r>
          </a:p>
          <a:p>
            <a:pPr algn="l"/>
            <a:r>
              <a:rPr sz="1300" b="0">
                <a:solidFill>
                  <a:srgbClr val="2B3A42"/>
                </a:solidFill>
                <a:latin typeface="Consolas"/>
              </a:rPr>
              <a:t>f.componentInstance.chosen</a:t>
            </a:r>
          </a:p>
          <a:p>
            <a:pPr algn="l"/>
            <a:r>
              <a:rPr sz="1300" b="0">
                <a:solidFill>
                  <a:srgbClr val="2B3A42"/>
                </a:solidFill>
                <a:latin typeface="Consolas"/>
              </a:rPr>
              <a:t>  .subscribe(c =&gt; got = c);</a:t>
            </a:r>
          </a:p>
          <a:p>
            <a:pPr algn="l"/>
            <a:r>
              <a:rPr sz="1300" b="0">
                <a:solidFill>
                  <a:srgbClr val="2B3A42"/>
                </a:solidFill>
                <a:latin typeface="Consolas"/>
              </a:rPr>
              <a:t>f.nativeElement.click();</a:t>
            </a:r>
          </a:p>
          <a:p>
            <a:pPr algn="l"/>
            <a:r>
              <a:rPr sz="1300" b="0">
                <a:solidFill>
                  <a:srgbClr val="2B3A42"/>
                </a:solidFill>
                <a:latin typeface="Consolas"/>
              </a:rPr>
              <a:t>expect(got).toBe(anna);</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beim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Kind ändert Eingabedaten selbst: input() ist schreibgeschützt</a:t>
            </a:r>
          </a:p>
          <a:p>
            <a:pPr lvl="1">
              <a:defRPr sz="1700" b="0">
                <a:latin typeface="Segoe UI"/>
              </a:defRPr>
            </a:pPr>
            <a:r>
              <a:rPr lang="de-DE" sz="1700" b="0">
                <a:latin typeface="Segoe UI"/>
              </a:rPr>
              <a:t>Stattdessen Ereignis per output() melden</a:t>
            </a:r>
          </a:p>
          <a:p>
            <a:pPr>
              <a:defRPr sz="2000" b="0">
                <a:latin typeface="Segoe UI"/>
              </a:defRPr>
            </a:pPr>
            <a:r>
              <a:rPr lang="de-DE" sz="2000" b="0">
                <a:latin typeface="Segoe UI"/>
              </a:rPr>
              <a:t>Werte durch viele Ebenen durchreichen: lieber Service oder Store</a:t>
            </a:r>
          </a:p>
          <a:p>
            <a:pPr>
              <a:defRPr sz="2000" b="0">
                <a:latin typeface="Segoe UI"/>
              </a:defRPr>
            </a:pPr>
            <a:r>
              <a:rPr lang="de-DE" sz="2000" b="0">
                <a:latin typeface="Segoe UI"/>
              </a:rPr>
              <a:t>Ungültiges HTML durch Komponenten-Tags in &lt;ul&gt; oder &lt;table&gt;</a:t>
            </a:r>
          </a:p>
          <a:p>
            <a:pPr lvl="1">
              <a:defRPr sz="1700" b="0">
                <a:latin typeface="Segoe UI"/>
              </a:defRPr>
            </a:pPr>
            <a:r>
              <a:rPr lang="de-DE" sz="1700" b="0">
                <a:latin typeface="Segoe UI"/>
              </a:rPr>
              <a:t>Lösung: Attribut-Selektor wie li[customer-list-item]</a:t>
            </a:r>
          </a:p>
          <a:p>
            <a:pPr>
              <a:defRPr sz="2000" b="0">
                <a:latin typeface="Segoe UI"/>
              </a:defRPr>
            </a:pPr>
            <a:r>
              <a:rPr lang="de-DE" sz="2000" b="0">
                <a:latin typeface="Segoe UI"/>
              </a:rPr>
              <a:t>Zu fein zerlegt: Komponenten ohne eigene Aufgabe wieder zusammenlegen</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CustomerFilterComponent: Eingabefeld und Button „Filter leeren &amp; fokussieren“</a:t>
            </a:r>
          </a:p>
          <a:p>
            <a:pPr lvl="1">
              <a:defRPr sz="1700" b="0">
                <a:latin typeface="Segoe UI"/>
              </a:defRPr>
            </a:pPr>
            <a:r>
              <a:rPr lang="de-DE" sz="1700" b="0">
                <a:latin typeface="Segoe UI"/>
              </a:rPr>
              <a:t>value = input(''), changed = output&lt;string&gt;(), cleared = output&lt;void&gt;(); viewChild wandert mit</a:t>
            </a:r>
          </a:p>
          <a:p>
            <a:pPr>
              <a:defRPr sz="2000" b="1">
                <a:latin typeface="Segoe UI"/>
              </a:defRPr>
            </a:pPr>
            <a:r>
              <a:rPr lang="de-DE" sz="2000" b="1">
                <a:latin typeface="Segoe UI"/>
              </a:rPr>
              <a:t>2. CustomerListItemComponent für eine Zeile (Stile discontinued und selected wandern mit)</a:t>
            </a:r>
          </a:p>
          <a:p>
            <a:pPr lvl="1">
              <a:defRPr sz="1700" b="0">
                <a:latin typeface="Segoe UI"/>
              </a:defRPr>
            </a:pPr>
            <a:r>
              <a:rPr lang="de-DE" sz="1700" b="0">
                <a:latin typeface="Segoe UI"/>
              </a:rPr>
              <a:t>customer = input.required&lt;Customer&gt;(), selected = input(false), 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Smoke-Test: Laden, Filtern, Fokus, Markieren, Details; ng build und ng test grün</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Grundsatz: Frontend ist nicht vertrauenswürdig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Code läuft im Browser des Nutzers</a:t>
            </a:r>
          </a:p>
          <a:p>
            <a:pPr lvl="1">
              <a:defRPr sz="1700" b="0">
                <a:latin typeface="Segoe UI"/>
              </a:defRPr>
            </a:pPr>
            <a:r>
              <a:rPr lang="de-DE" sz="1700" b="0">
                <a:latin typeface="Segoe UI"/>
              </a:rPr>
              <a:t>Er kann ihn lesen, ändern, umgehen (Entwicklertools)</a:t>
            </a:r>
          </a:p>
          <a:p>
            <a:pPr>
              <a:defRPr sz="2000" b="0">
                <a:latin typeface="Segoe UI"/>
              </a:defRPr>
            </a:pPr>
            <a:r>
              <a:rPr lang="de-DE" sz="2000" b="0">
                <a:latin typeface="Segoe UI"/>
              </a:rPr>
              <a:t>Keine Geheimnisse im Frontend: Passwörter, Schlüssel</a:t>
            </a:r>
          </a:p>
          <a:p>
            <a:pPr>
              <a:defRPr sz="2000" b="0">
                <a:latin typeface="Segoe UI"/>
              </a:defRPr>
            </a:pPr>
            <a:r>
              <a:rPr lang="de-DE" sz="2000" b="0">
                <a:latin typeface="Segoe UI"/>
              </a:rPr>
              <a:t>Berechtigungen setzt das Backend durch</a:t>
            </a:r>
          </a:p>
          <a:p>
            <a:pPr lvl="1">
              <a:defRPr sz="1700" b="0">
                <a:latin typeface="Segoe UI"/>
              </a:defRPr>
            </a:pPr>
            <a:r>
              <a:rPr lang="de-DE" sz="1700" b="0">
                <a:latin typeface="Segoe UI"/>
              </a:rPr>
              <a:t>Guards (Übung 25) verbessern nur die Bedienung</a:t>
            </a:r>
          </a:p>
          <a:p>
            <a:pPr>
              <a:defRPr sz="2000" b="0">
                <a:latin typeface="Segoe UI"/>
              </a:defRPr>
            </a:pPr>
            <a:r>
              <a:rPr lang="de-DE" sz="2000" b="0">
                <a:latin typeface="Segoe UI"/>
              </a:rPr>
              <a:t>Validierung im Client: Komfort</a:t>
            </a:r>
          </a:p>
          <a:p>
            <a:pPr>
              <a:defRPr sz="2000" b="0">
                <a:latin typeface="Segoe UI"/>
              </a:defRPr>
            </a:pPr>
            <a:r>
              <a:rPr lang="de-DE" sz="2000" b="0">
                <a:latin typeface="Segoe UI"/>
              </a:rPr>
              <a:t>Validierung im Server: Sicherheit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 Komfort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Guard blendet Seite aus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 prüft Pflichtfeld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Button ist deaktiviert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Schutz</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Rechte bei jeder Anfrage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Eingaben erneut prüfen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erlaubte Daten senden</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Vertrauensgrenze: Stelle, an der Daten den Bereich wechseln</a:t>
            </a:r>
          </a:p>
          <a:p>
            <a:pPr>
              <a:defRPr sz="2000" b="0">
                <a:latin typeface="Segoe UI"/>
              </a:defRPr>
            </a:pPr>
            <a:r>
              <a:rPr lang="de-DE" sz="2000" b="0">
                <a:latin typeface="Segoe UI"/>
              </a:rPr>
              <a:t>Benutzer und Browser: alles ist manipulierbar</a:t>
            </a:r>
          </a:p>
          <a:p>
            <a:pPr>
              <a:defRPr sz="2000" b="0">
                <a:latin typeface="Segoe UI"/>
              </a:defRPr>
            </a:pPr>
            <a:r>
              <a:rPr lang="de-DE" sz="2000" b="0">
                <a:latin typeface="Segoe UI"/>
              </a:rPr>
              <a:t>Frontend: zeigt Daten an, muss sie richtig kodieren</a:t>
            </a:r>
          </a:p>
          <a:p>
            <a:pPr>
              <a:defRPr sz="2000" b="0">
                <a:latin typeface="Segoe UI"/>
              </a:defRPr>
            </a:pPr>
            <a:r>
              <a:rPr lang="de-DE" sz="2000" b="0">
                <a:latin typeface="Segoe UI"/>
              </a:rPr>
              <a:t>API: prüft Anmeldung, Rechte und Eingaben</a:t>
            </a:r>
          </a:p>
          <a:p>
            <a:pPr>
              <a:defRPr sz="2000" b="0">
                <a:latin typeface="Segoe UI"/>
              </a:defRPr>
            </a:pPr>
            <a:r>
              <a:rPr lang="de-DE" sz="2000" b="0">
                <a:latin typeface="Segoe UI"/>
              </a:rPr>
              <a:t>Datenbank: nur über die API erreichbar</a:t>
            </a:r>
          </a:p>
          <a:p>
            <a:pPr>
              <a:defRPr sz="2000" b="0">
                <a:latin typeface="Segoe UI"/>
              </a:defRPr>
            </a:pPr>
            <a:r>
              <a:rPr lang="de-DE" sz="2000" b="0">
                <a:latin typeface="Segoe UI"/>
              </a:rPr>
              <a:t>An jeder Grenze gilt: Daten von außen sind Eingabe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und Browser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Angular-Frontend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 (Backend)</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Datenbank</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An jeder Grenze prüfen</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alles „Eingabe“ ist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Formularfelder und Dateiuploads</a:t>
            </a:r>
          </a:p>
          <a:p>
            <a:pPr>
              <a:defRPr sz="2000" b="0">
                <a:latin typeface="Segoe UI"/>
              </a:defRPr>
            </a:pPr>
            <a:r>
              <a:rPr lang="de-DE" sz="2000" b="0">
                <a:latin typeface="Segoe UI"/>
              </a:rPr>
              <a:t>URL: Pfad, Query-Parameter, Fragment nach #</a:t>
            </a:r>
          </a:p>
          <a:p>
            <a:pPr>
              <a:defRPr sz="2000" b="0">
                <a:latin typeface="Segoe UI"/>
              </a:defRPr>
            </a:pPr>
            <a:r>
              <a:rPr lang="de-DE" sz="2000" b="0">
                <a:latin typeface="Segoe UI"/>
              </a:rPr>
              <a:t>Antworten von APIs, auch vom eigenen Backend</a:t>
            </a:r>
          </a:p>
          <a:p>
            <a:pPr>
              <a:defRPr sz="2000" b="0">
                <a:latin typeface="Segoe UI"/>
              </a:defRPr>
            </a:pPr>
            <a:r>
              <a:rPr lang="de-DE" sz="2000" b="0">
                <a:latin typeface="Segoe UI"/>
              </a:rPr>
              <a:t>localStorage, sessionStorage, Cookies</a:t>
            </a:r>
          </a:p>
          <a:p>
            <a:pPr>
              <a:defRPr sz="2000" b="0">
                <a:latin typeface="Segoe UI"/>
              </a:defRPr>
            </a:pPr>
            <a:r>
              <a:rPr lang="de-DE" sz="2000" b="0">
                <a:latin typeface="Segoe UI"/>
              </a:rPr>
              <a:t>Nachrichten anderer Fenster (postMessage)</a:t>
            </a:r>
          </a:p>
          <a:p>
            <a:pPr>
              <a:defRPr sz="2000" b="0">
                <a:latin typeface="Segoe UI"/>
              </a:defRPr>
            </a:pPr>
            <a:r>
              <a:rPr lang="de-DE" sz="2000" b="0">
                <a:latin typeface="Segoe UI"/>
              </a:rPr>
              <a:t>Vertrauenswürdig: nur eigener Quelltext und Konstanten</a:t>
            </a:r>
          </a:p>
          <a:p>
            <a:pPr>
              <a:defRPr sz="2000" b="0">
                <a:latin typeface="Segoe UI"/>
              </a:defRPr>
            </a:pPr>
            <a:r>
              <a:rPr lang="de-DE" sz="2000" b="0">
                <a:latin typeface="Segoe UI"/>
              </a:rPr>
              <a:t>Angezeigte Daten je nach Kontext schützen: HTML, URL</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Eingabe von außen</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 Upload</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 Query, #</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API-Antworten</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Storage, Cookies</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postMessage</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Cross-Site Scripting (XSS): fremdes Script läuft in der Seite</a:t>
            </a:r>
          </a:p>
          <a:p>
            <a:pPr>
              <a:defRPr sz="2000" b="0">
                <a:latin typeface="Segoe UI"/>
              </a:defRPr>
            </a:pPr>
            <a:r>
              <a:rPr lang="de-DE" sz="2000" b="0">
                <a:latin typeface="Segoe UI"/>
              </a:rPr>
              <a:t>Es hat die Rechte des angemeldeten Nutzers</a:t>
            </a:r>
          </a:p>
          <a:p>
            <a:pPr>
              <a:defRPr sz="2000" b="0">
                <a:latin typeface="Segoe UI"/>
              </a:defRPr>
            </a:pPr>
            <a:r>
              <a:rPr lang="de-DE" sz="2000" b="0">
                <a:latin typeface="Segoe UI"/>
              </a:rPr>
              <a:t>Gespeichert: Script steht in der Datenbank (Notiz)</a:t>
            </a:r>
          </a:p>
          <a:p>
            <a:pPr>
              <a:defRPr sz="2000" b="0">
                <a:latin typeface="Segoe UI"/>
              </a:defRPr>
            </a:pPr>
            <a:r>
              <a:rPr lang="de-DE" sz="2000" b="0">
                <a:latin typeface="Segoe UI"/>
              </a:rPr>
              <a:t>Reflektiert: Script steht im Link (Query-Parameter)</a:t>
            </a:r>
          </a:p>
          <a:p>
            <a:pPr>
              <a:defRPr sz="2000" b="0">
                <a:latin typeface="Segoe UI"/>
              </a:defRPr>
            </a:pPr>
            <a:r>
              <a:rPr lang="de-DE" sz="2000" b="0">
                <a:latin typeface="Segoe UI"/>
              </a:rPr>
              <a:t>DOM-basiert: eigener Code setzt Eingabe als HTML ein</a:t>
            </a:r>
          </a:p>
          <a:p>
            <a:pPr>
              <a:defRPr sz="2000" b="0">
                <a:latin typeface="Segoe UI"/>
              </a:defRPr>
            </a:pPr>
            <a:r>
              <a:rPr lang="de-DE" sz="2000" b="0">
                <a:latin typeface="Segoe UI"/>
              </a:rPr>
              <a:t>Ursache immer: Daten werden als Code behandelt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Kunden-Notiz (Eingabe)</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&lt;b&gt;wichtig&lt;/b&gt;</a:t>
            </a:r>
          </a:p>
          <a:p>
            <a:pPr algn="l"/>
            <a:r>
              <a:rPr sz="1500" b="0">
                <a:solidFill>
                  <a:srgbClr val="2B3A42"/>
                </a:solidFill>
                <a:latin typeface="Consolas"/>
              </a:rPr>
              <a:t>&lt;img src=x</a:t>
            </a:r>
          </a:p>
          <a:p>
            <a:pPr algn="l"/>
            <a:r>
              <a:rPr sz="1500" b="0">
                <a:solidFill>
                  <a:srgbClr val="2B3A42"/>
                </a:solidFill>
                <a:latin typeface="Consolas"/>
              </a:rPr>
              <a:t>  onerror="alert('XSS')"&gt;</a:t>
            </a:r>
          </a:p>
          <a:p>
            <a:pPr algn="l"/>
            <a:r>
              <a:rPr sz="1500" b="0">
                <a:solidFill>
                  <a:srgbClr val="2B3A42"/>
                </a:solidFill>
                <a:latin typeface="Consolas"/>
              </a:rPr>
              <a:t/>
            </a:r>
          </a:p>
          <a:p>
            <a:pPr algn="l"/>
            <a:r>
              <a:rPr sz="1500" b="0">
                <a:solidFill>
                  <a:srgbClr val="2B3A42"/>
                </a:solidFill>
                <a:latin typeface="Consolas"/>
              </a:rPr>
              <a:t>// src=x lädt nicht</a:t>
            </a:r>
          </a:p>
          <a:p>
            <a:pPr algn="l"/>
            <a:r>
              <a:rPr sz="1500" b="0">
                <a:solidFill>
                  <a:srgbClr val="2B3A42"/>
                </a:solidFill>
                <a:latin typeface="Consolas"/>
              </a:rPr>
              <a:t>// -&gt; Browser ruft</a:t>
            </a:r>
          </a:p>
          <a:p>
            <a:pPr algn="l"/>
            <a:r>
              <a:rPr sz="1500" b="0">
                <a:solidFill>
                  <a:srgbClr val="2B3A42"/>
                </a:solidFill>
                <a:latin typeface="Consolas"/>
              </a:rPr>
              <a:t>//    onerror auf</a:t>
            </a:r>
          </a:p>
          <a:p>
            <a:pPr algn="l"/>
            <a:r>
              <a:rPr sz="1500" b="0">
                <a:solidFill>
                  <a:srgbClr val="2B3A42"/>
                </a:solidFill>
                <a:latin typeface="Consolas"/>
              </a:rPr>
              <a:t>// -&gt; Script läuft</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 XSS-Angriff Schritt für Schritt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Angreifer speichert Notiz mit &lt;img onerror=…&gt;</a:t>
            </a:r>
          </a:p>
          <a:p>
            <a:pPr>
              <a:defRPr sz="2000" b="0">
                <a:latin typeface="Segoe UI"/>
              </a:defRPr>
            </a:pPr>
            <a:r>
              <a:rPr lang="de-DE" sz="2000" b="0">
                <a:latin typeface="Segoe UI"/>
              </a:rPr>
              <a:t>2. Server speichert den Text unverändert</a:t>
            </a:r>
          </a:p>
          <a:p>
            <a:pPr>
              <a:defRPr sz="2000" b="0">
                <a:latin typeface="Segoe UI"/>
              </a:defRPr>
            </a:pPr>
            <a:r>
              <a:rPr lang="de-DE" sz="2000" b="0">
                <a:latin typeface="Segoe UI"/>
              </a:rPr>
              <a:t>3. Opfer öffnet die Kundenseite</a:t>
            </a:r>
          </a:p>
          <a:p>
            <a:pPr>
              <a:defRPr sz="2000" b="0">
                <a:latin typeface="Segoe UI"/>
              </a:defRPr>
            </a:pPr>
            <a:r>
              <a:rPr lang="de-DE" sz="2000" b="0">
                <a:latin typeface="Segoe UI"/>
              </a:rPr>
              <a:t>4. Seite setzt die Notiz ungeschützt als HTML ein</a:t>
            </a:r>
          </a:p>
          <a:p>
            <a:pPr>
              <a:defRPr sz="2000" b="0">
                <a:latin typeface="Segoe UI"/>
              </a:defRPr>
            </a:pPr>
            <a:r>
              <a:rPr lang="de-DE" sz="2000" b="0">
                <a:latin typeface="Segoe UI"/>
              </a:rPr>
              <a:t>5. Browser führt das Script des Angreifers aus</a:t>
            </a:r>
          </a:p>
          <a:p>
            <a:pPr>
              <a:defRPr sz="2000" b="0">
                <a:latin typeface="Segoe UI"/>
              </a:defRPr>
            </a:pPr>
            <a:r>
              <a:rPr lang="de-DE" sz="2000" b="0">
                <a:latin typeface="Segoe UI"/>
              </a:rPr>
              <a:t>Folge: Token lesen, Anfragen senden, Seite fälschen</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Angreifer speichert Notiz</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Server speichert unverändert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Opfer öffnet Kundenseite</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Notiz wird als HTML eingesetzt</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 führt Script aus</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Schritt 4 verhindert Angular</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XSS im Ablauf: wer gibt die Notiz weiter?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Schadcode läuft unverändert durch API und Datenbank – erst der Sanitizer hält ihn auf</a:t>
            </a:r>
          </a:p>
        </p:txBody>
      </p:sp>
      <p:sp>
        <p:nvSpPr>
          <p:cNvPr id="4" name="Rectangle 3"/>
          <p:cNvSpPr/>
          <p:nvPr/>
        </p:nvSpPr>
        <p:spPr>
          <a:xfrm>
            <a:off x="8830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Angreifer</a:t>
            </a:r>
          </a:p>
        </p:txBody>
      </p:sp>
      <p:sp>
        <p:nvSpPr>
          <p:cNvPr id="5" name="Rectangle 4"/>
          <p:cNvSpPr/>
          <p:nvPr/>
        </p:nvSpPr>
        <p:spPr>
          <a:xfrm>
            <a:off x="263544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API</a:t>
            </a:r>
          </a:p>
          <a:p>
            <a:pPr algn="ctr"/>
            <a:r>
              <a:rPr sz="1400" b="1">
                <a:solidFill>
                  <a:srgbClr val="FFFFFF"/>
                </a:solidFill>
                <a:latin typeface="Segoe UI"/>
              </a:rPr>
              <a:t>(Backend)</a:t>
            </a:r>
          </a:p>
        </p:txBody>
      </p:sp>
      <p:sp>
        <p:nvSpPr>
          <p:cNvPr id="6" name="Rectangle 5"/>
          <p:cNvSpPr/>
          <p:nvPr/>
        </p:nvSpPr>
        <p:spPr>
          <a:xfrm>
            <a:off x="438780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Datenbank</a:t>
            </a:r>
          </a:p>
        </p:txBody>
      </p:sp>
      <p:sp>
        <p:nvSpPr>
          <p:cNvPr id="7" name="Rectangle 6"/>
          <p:cNvSpPr/>
          <p:nvPr/>
        </p:nvSpPr>
        <p:spPr>
          <a:xfrm>
            <a:off x="614016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Angular-App</a:t>
            </a:r>
          </a:p>
          <a:p>
            <a:pPr algn="ctr"/>
            <a:r>
              <a:rPr sz="1400" b="1">
                <a:solidFill>
                  <a:srgbClr val="FFFFFF"/>
                </a:solidFill>
                <a:latin typeface="Segoe UI"/>
              </a:rPr>
              <a:t>beim Opfer</a:t>
            </a:r>
          </a:p>
        </p:txBody>
      </p:sp>
      <p:sp>
        <p:nvSpPr>
          <p:cNvPr id="8" name="Rectangle 7"/>
          <p:cNvSpPr/>
          <p:nvPr/>
        </p:nvSpPr>
        <p:spPr>
          <a:xfrm>
            <a:off x="789252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Sanitizer</a:t>
            </a:r>
          </a:p>
        </p:txBody>
      </p:sp>
      <p:sp>
        <p:nvSpPr>
          <p:cNvPr id="9" name="Rectangle 8"/>
          <p:cNvSpPr/>
          <p:nvPr/>
        </p:nvSpPr>
        <p:spPr>
          <a:xfrm>
            <a:off x="96448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DOM</a:t>
            </a:r>
          </a:p>
        </p:txBody>
      </p:sp>
      <p:cxnSp>
        <p:nvCxnSpPr>
          <p:cNvPr id="10" name="Connector 9"/>
          <p:cNvCxnSpPr/>
          <p:nvPr/>
        </p:nvCxnSpPr>
        <p:spPr>
          <a:xfrm>
            <a:off x="17142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6662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89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713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72370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760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714260" y="26540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76170" y="2304000"/>
            <a:ext cx="2628540" cy="330000"/>
          </a:xfrm>
          <a:prstGeom prst="rect">
            <a:avLst/>
          </a:prstGeom>
          <a:noFill/>
        </p:spPr>
        <p:txBody>
          <a:bodyPr wrap="square" anchor="b" lIns="70000" rIns="70000" tIns="0" bIns="0">
            <a:spAutoFit/>
          </a:bodyPr>
          <a:lstStyle/>
          <a:p>
            <a:pPr algn="ctr"/>
            <a:r>
              <a:rPr sz="1300" b="0">
                <a:solidFill>
                  <a:srgbClr val="2B3A42"/>
                </a:solidFill>
                <a:latin typeface="Segoe UI"/>
              </a:rPr>
              <a:t>1. PUT: note mit &lt;img onerror&gt;</a:t>
            </a:r>
          </a:p>
        </p:txBody>
      </p:sp>
      <p:cxnSp>
        <p:nvCxnSpPr>
          <p:cNvPr id="18" name="Connector 17"/>
          <p:cNvCxnSpPr/>
          <p:nvPr/>
        </p:nvCxnSpPr>
        <p:spPr>
          <a:xfrm>
            <a:off x="3466620" y="31040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28530" y="2754000"/>
            <a:ext cx="2628540" cy="330000"/>
          </a:xfrm>
          <a:prstGeom prst="rect">
            <a:avLst/>
          </a:prstGeom>
          <a:noFill/>
        </p:spPr>
        <p:txBody>
          <a:bodyPr wrap="square" anchor="b" lIns="70000" rIns="70000" tIns="0" bIns="0">
            <a:spAutoFit/>
          </a:bodyPr>
          <a:lstStyle/>
          <a:p>
            <a:pPr algn="ctr"/>
            <a:r>
              <a:rPr sz="1300" b="0">
                <a:solidFill>
                  <a:srgbClr val="2B3A42"/>
                </a:solidFill>
                <a:latin typeface="Segoe UI"/>
              </a:rPr>
              <a:t>2. unverändert speichern</a:t>
            </a:r>
          </a:p>
        </p:txBody>
      </p:sp>
      <p:cxnSp>
        <p:nvCxnSpPr>
          <p:cNvPr id="20" name="Connector 19"/>
          <p:cNvCxnSpPr/>
          <p:nvPr/>
        </p:nvCxnSpPr>
        <p:spPr>
          <a:xfrm flipH="1">
            <a:off x="3486620" y="355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96620" y="3204000"/>
            <a:ext cx="3444720" cy="330000"/>
          </a:xfrm>
          <a:prstGeom prst="rect">
            <a:avLst/>
          </a:prstGeom>
          <a:noFill/>
        </p:spPr>
        <p:txBody>
          <a:bodyPr wrap="square" anchor="b" lIns="70000" rIns="70000" tIns="0" bIns="0">
            <a:spAutoFit/>
          </a:bodyPr>
          <a:lstStyle/>
          <a:p>
            <a:pPr algn="ctr"/>
            <a:r>
              <a:rPr sz="1300" b="0">
                <a:solidFill>
                  <a:srgbClr val="2B3A42"/>
                </a:solidFill>
                <a:latin typeface="Segoe UI"/>
              </a:rPr>
              <a:t>3. GET api/customer/7</a:t>
            </a:r>
          </a:p>
        </p:txBody>
      </p:sp>
      <p:cxnSp>
        <p:nvCxnSpPr>
          <p:cNvPr id="22" name="Connector 21"/>
          <p:cNvCxnSpPr/>
          <p:nvPr/>
        </p:nvCxnSpPr>
        <p:spPr>
          <a:xfrm>
            <a:off x="3466620" y="40040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28530" y="3654000"/>
            <a:ext cx="2628540" cy="330000"/>
          </a:xfrm>
          <a:prstGeom prst="rect">
            <a:avLst/>
          </a:prstGeom>
          <a:noFill/>
        </p:spPr>
        <p:txBody>
          <a:bodyPr wrap="square" anchor="b" lIns="70000" rIns="70000" tIns="0" bIns="0">
            <a:spAutoFit/>
          </a:bodyPr>
          <a:lstStyle/>
          <a:p>
            <a:pPr algn="ctr"/>
            <a:r>
              <a:rPr sz="1300" b="0">
                <a:solidFill>
                  <a:srgbClr val="2B3A42"/>
                </a:solidFill>
                <a:latin typeface="Segoe UI"/>
              </a:rPr>
              <a:t>4. Kunde 7 lesen</a:t>
            </a:r>
          </a:p>
        </p:txBody>
      </p:sp>
      <p:cxnSp>
        <p:nvCxnSpPr>
          <p:cNvPr id="24" name="Connector 23"/>
          <p:cNvCxnSpPr/>
          <p:nvPr/>
        </p:nvCxnSpPr>
        <p:spPr>
          <a:xfrm>
            <a:off x="3466620" y="4454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96620" y="4104000"/>
            <a:ext cx="3444720" cy="330000"/>
          </a:xfrm>
          <a:prstGeom prst="rect">
            <a:avLst/>
          </a:prstGeom>
          <a:noFill/>
        </p:spPr>
        <p:txBody>
          <a:bodyPr wrap="square" anchor="b" lIns="70000" rIns="70000" tIns="0" bIns="0">
            <a:spAutoFit/>
          </a:bodyPr>
          <a:lstStyle/>
          <a:p>
            <a:pPr algn="ctr"/>
            <a:r>
              <a:rPr sz="1300" b="0">
                <a:solidFill>
                  <a:srgbClr val="404B52"/>
                </a:solidFill>
                <a:latin typeface="Segoe UI"/>
              </a:rPr>
              <a:t>5. { note: '&lt;img onerror=…&gt;' }</a:t>
            </a:r>
          </a:p>
        </p:txBody>
      </p:sp>
      <p:cxnSp>
        <p:nvCxnSpPr>
          <p:cNvPr id="26" name="Connector 25"/>
          <p:cNvCxnSpPr/>
          <p:nvPr/>
        </p:nvCxnSpPr>
        <p:spPr>
          <a:xfrm>
            <a:off x="6971340" y="49040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33250" y="4554000"/>
            <a:ext cx="2628540" cy="330000"/>
          </a:xfrm>
          <a:prstGeom prst="rect">
            <a:avLst/>
          </a:prstGeom>
          <a:noFill/>
        </p:spPr>
        <p:txBody>
          <a:bodyPr wrap="square" anchor="b" lIns="70000" rIns="70000" tIns="0" bIns="0">
            <a:spAutoFit/>
          </a:bodyPr>
          <a:lstStyle/>
          <a:p>
            <a:pPr algn="ctr"/>
            <a:r>
              <a:rPr sz="1300" b="0">
                <a:solidFill>
                  <a:srgbClr val="2B3A42"/>
                </a:solidFill>
                <a:latin typeface="Segoe UI"/>
              </a:rPr>
              <a:t>6. [innerHTML]="note"</a:t>
            </a:r>
          </a:p>
        </p:txBody>
      </p:sp>
      <p:cxnSp>
        <p:nvCxnSpPr>
          <p:cNvPr id="28" name="Connector 27"/>
          <p:cNvCxnSpPr/>
          <p:nvPr/>
        </p:nvCxnSpPr>
        <p:spPr>
          <a:xfrm>
            <a:off x="8723700" y="51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103700" y="51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8743700" y="53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53700" y="5018000"/>
            <a:ext cx="1252360" cy="330000"/>
          </a:xfrm>
          <a:prstGeom prst="rect">
            <a:avLst/>
          </a:prstGeom>
          <a:noFill/>
        </p:spPr>
        <p:txBody>
          <a:bodyPr wrap="square" anchor="ctr" lIns="70000" rIns="70000" tIns="0" bIns="0">
            <a:spAutoFit/>
          </a:bodyPr>
          <a:lstStyle/>
          <a:p>
            <a:pPr algn="l"/>
            <a:r>
              <a:rPr sz="1300" b="0">
                <a:solidFill>
                  <a:srgbClr val="2B3A42"/>
                </a:solidFill>
                <a:latin typeface="Segoe UI"/>
              </a:rPr>
              <a:t>7. onerror entfernen</a:t>
            </a:r>
          </a:p>
        </p:txBody>
      </p:sp>
      <p:cxnSp>
        <p:nvCxnSpPr>
          <p:cNvPr id="32" name="Connector 31"/>
          <p:cNvCxnSpPr/>
          <p:nvPr/>
        </p:nvCxnSpPr>
        <p:spPr>
          <a:xfrm>
            <a:off x="8723700" y="58040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285610" y="5454000"/>
            <a:ext cx="2628540" cy="330000"/>
          </a:xfrm>
          <a:prstGeom prst="rect">
            <a:avLst/>
          </a:prstGeom>
          <a:noFill/>
        </p:spPr>
        <p:txBody>
          <a:bodyPr wrap="square" anchor="b" lIns="70000" rIns="70000" tIns="0" bIns="0">
            <a:spAutoFit/>
          </a:bodyPr>
          <a:lstStyle/>
          <a:p>
            <a:pPr algn="ctr"/>
            <a:r>
              <a:rPr sz="1300" b="0">
                <a:solidFill>
                  <a:srgbClr val="2B3A42"/>
                </a:solidFill>
                <a:latin typeface="Segoe UI"/>
              </a:rPr>
              <a:t>8. &lt;img src="x"&gt; ohne Script</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Interpolation {{ }}: Wert wird als Text ausgegeben</a:t>
            </a:r>
          </a:p>
          <a:p>
            <a:pPr lvl="1">
              <a:defRPr sz="1700" b="0">
                <a:latin typeface="Segoe UI"/>
              </a:defRPr>
            </a:pPr>
            <a:r>
              <a:rPr lang="de-DE" sz="1700" b="0">
                <a:latin typeface="Segoe UI"/>
              </a:rPr>
              <a:t>Zeichen wie &lt; und &gt; erscheinen sichtbar (escaped)</a:t>
            </a:r>
          </a:p>
          <a:p>
            <a:pPr>
              <a:defRPr sz="2000" b="0">
                <a:latin typeface="Segoe UI"/>
              </a:defRPr>
            </a:pPr>
            <a:r>
              <a:rPr lang="de-DE" sz="2000" b="0">
                <a:latin typeface="Segoe UI"/>
              </a:rPr>
              <a:t>[innerHTML]: HTML wird bereinigt (Sanitizing)</a:t>
            </a:r>
          </a:p>
          <a:p>
            <a:pPr lvl="1">
              <a:defRPr sz="1700" b="0">
                <a:latin typeface="Segoe UI"/>
              </a:defRPr>
            </a:pPr>
            <a:r>
              <a:rPr lang="de-DE" sz="1700" b="0">
                <a:latin typeface="Segoe UI"/>
              </a:rPr>
              <a:t>script, onerror, onclick werden entfernt</a:t>
            </a:r>
          </a:p>
          <a:p>
            <a:pPr>
              <a:defRPr sz="2000" b="0">
                <a:latin typeface="Segoe UI"/>
              </a:defRPr>
            </a:pPr>
            <a:r>
              <a:rPr lang="de-DE" sz="2000" b="0">
                <a:latin typeface="Segoe UI"/>
              </a:rPr>
              <a:t>[href], [src]: javascript:-URLs erhalten „unsafe:“</a:t>
            </a:r>
          </a:p>
          <a:p>
            <a:pPr>
              <a:defRPr sz="2000" b="0">
                <a:latin typeface="Segoe UI"/>
              </a:defRPr>
            </a:pPr>
            <a:r>
              <a:rPr lang="de-DE" sz="2000" b="0">
                <a:latin typeface="Segoe UI"/>
              </a:rPr>
              <a:t>Templates werden beim Build kompiliert</a:t>
            </a:r>
          </a:p>
          <a:p>
            <a:pPr lvl="1">
              <a:defRPr sz="1700" b="0">
                <a:latin typeface="Segoe UI"/>
              </a:defRPr>
            </a:pPr>
            <a:r>
              <a:rPr lang="de-DE" sz="1700" b="0">
                <a:latin typeface="Segoe UI"/>
              </a:rPr>
              <a:t>Nutzertext wird nie als Template ausgewertet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Angular schützt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 wert }} escaped</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[innerHTML] bereinigt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[href] entschärft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Selbst prüfen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bypassSecurityTrust…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eigener DOM-Zugriff</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HTML-Bibliotheken</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Komponente: note = '&lt;b&gt;wichtig&lt;/b&gt; &lt;img src=x onerror="alert(\'XSS\')"&gt;'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&lt;!-- 1. Interpolation: Ausgabe als Text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&lt;p&gt;{{ customer.note }}&lt;/p&gt;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Anzeige: alle Zeichen sichtbar, z. B. &lt;b&gt;wichtig&lt;/b&gt; &lt;img src=x onerror=…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&lt;!-- 2. innerHTML: Ausgabe als HTML, vorher bereinigt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&lt;div [innerHTML]="customer.note"&gt;&lt;/div&gt;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Im DOM bleibt: &lt;b&gt;wichtig&lt;/b&gt; &lt;img src="x"&gt;  (fett, onerror entfernt, kein alert)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Konsole im Entwicklungsmodus: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WARNING: sanitizing HTML stripped some content, see https://g.co/ng/security#xss --&gt;</a:t>
            </a:r>
            <a:endParaRPr lang="de-DE" sz="1400" b="0" u="none" strike="noStrike">
              <a:solidFill>
                <a:srgbClr val="000000"/>
              </a:solidFill>
              <a:uFillTx/>
              <a:latin typeface="Arial"/>
            </a:endParaRP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So arbeitet Angulars Sanitizer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kennt für jede Bindung den Sicherheitskontext</a:t>
            </a:r>
          </a:p>
          <a:p>
            <a:pPr lvl="1">
              <a:defRPr sz="1700" b="0">
                <a:latin typeface="Segoe UI"/>
              </a:defRPr>
            </a:pPr>
            <a:r>
              <a:rPr lang="de-DE" sz="1700" b="0">
                <a:latin typeface="Segoe UI"/>
              </a:rPr>
              <a:t>Er ergibt sich aus Element und Attribut</a:t>
            </a:r>
          </a:p>
          <a:p>
            <a:pPr>
              <a:defRPr sz="2000" b="0">
                <a:latin typeface="Segoe UI"/>
              </a:defRPr>
            </a:pPr>
            <a:r>
              <a:rPr lang="de-DE" sz="2000" b="0">
                <a:latin typeface="Segoe UI"/>
              </a:rPr>
              <a:t>Der Sanitizer prüft den Wert passend zum Kontext</a:t>
            </a:r>
          </a:p>
          <a:p>
            <a:pPr>
              <a:defRPr sz="2000" b="0">
                <a:latin typeface="Segoe UI"/>
              </a:defRPr>
            </a:pPr>
            <a:r>
              <a:rPr lang="de-DE" sz="2000" b="0">
                <a:latin typeface="Segoe UI"/>
              </a:rPr>
              <a:t>Ungefährliches bleibt, Gefährliches wird entfernt</a:t>
            </a:r>
          </a:p>
          <a:p>
            <a:pPr lvl="1">
              <a:defRPr sz="1700" b="0">
                <a:latin typeface="Segoe UI"/>
              </a:defRPr>
            </a:pPr>
            <a:r>
              <a:rPr lang="de-DE" sz="1700" b="0">
                <a:latin typeface="Segoe UI"/>
              </a:rPr>
              <a:t>oder die Bindung wird mit Fehler abgelehnt</a:t>
            </a:r>
          </a:p>
          <a:p>
            <a:pPr>
              <a:defRPr sz="2000" b="0">
                <a:latin typeface="Segoe UI"/>
              </a:defRPr>
            </a:pPr>
            <a:r>
              <a:rPr lang="de-DE" sz="2000" b="0">
                <a:latin typeface="Segoe UI"/>
              </a:rPr>
              <a:t>Werte mit „SafeValue“-Markierung werden durchgelassen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Wert aus Komponente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Kontext bestimmen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Sanitizer prüft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 den DOM schreiben</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Markierte SafeValues: ohne Prüfung</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Bindung, Sanitizer und DOM</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Schritte 1–6: normaler Weg mit Prüfung. Schritte 7–10: SafeValue ohne Prüfung</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NoteDemo-</a:t>
            </a:r>
          </a:p>
          <a:p>
            <a:pPr algn="ctr"/>
            <a:r>
              <a:rPr sz="1600" b="1">
                <a:solidFill>
                  <a:srgbClr val="FFFFFF"/>
                </a:solidFill>
                <a:latin typeface="Segoe UI"/>
              </a:rPr>
              <a:t>Component</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a:p>
            <a:pPr algn="ctr"/>
            <a:r>
              <a:rPr sz="1600" b="1">
                <a:solidFill>
                  <a:srgbClr val="FFFFFF"/>
                </a:solidFill>
                <a:latin typeface="Segoe UI"/>
              </a:rPr>
              <a:t>(Template-Bindung)</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DomSanitizer</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DOM</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58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26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1. neuer Wert von note()</a:t>
            </a:r>
          </a:p>
        </p:txBody>
      </p:sp>
      <p:cxnSp>
        <p:nvCxnSpPr>
          <p:cNvPr id="14" name="Connector 13"/>
          <p:cNvCxnSpPr/>
          <p:nvPr/>
        </p:nvCxnSpPr>
        <p:spPr>
          <a:xfrm>
            <a:off x="4780890" y="281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60890" y="281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800890" y="294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0890" y="2662400"/>
            <a:ext cx="2128540" cy="300000"/>
          </a:xfrm>
          <a:prstGeom prst="rect">
            <a:avLst/>
          </a:prstGeom>
          <a:noFill/>
        </p:spPr>
        <p:txBody>
          <a:bodyPr wrap="square" anchor="ctr" lIns="70000" rIns="70000" tIns="0" bIns="0">
            <a:spAutoFit/>
          </a:bodyPr>
          <a:lstStyle/>
          <a:p>
            <a:pPr algn="l"/>
            <a:r>
              <a:rPr sz="1500" b="0">
                <a:solidFill>
                  <a:srgbClr val="2B3A42"/>
                </a:solidFill>
                <a:latin typeface="Segoe UI"/>
              </a:rPr>
              <a:t>2. Kontext: HTML</a:t>
            </a:r>
          </a:p>
        </p:txBody>
      </p:sp>
      <p:cxnSp>
        <p:nvCxnSpPr>
          <p:cNvPr id="18" name="Connector 17"/>
          <p:cNvCxnSpPr/>
          <p:nvPr/>
        </p:nvCxnSpPr>
        <p:spPr>
          <a:xfrm>
            <a:off x="4780890" y="330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298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3. sanitize(HTML, wert)</a:t>
            </a:r>
          </a:p>
        </p:txBody>
      </p:sp>
      <p:cxnSp>
        <p:nvCxnSpPr>
          <p:cNvPr id="20" name="Connector 19"/>
          <p:cNvCxnSpPr/>
          <p:nvPr/>
        </p:nvCxnSpPr>
        <p:spPr>
          <a:xfrm>
            <a:off x="7409430" y="353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789430" y="353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429430" y="366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839430" y="3382400"/>
            <a:ext cx="2128540" cy="300000"/>
          </a:xfrm>
          <a:prstGeom prst="rect">
            <a:avLst/>
          </a:prstGeom>
          <a:noFill/>
        </p:spPr>
        <p:txBody>
          <a:bodyPr wrap="square" anchor="ctr" lIns="70000" rIns="70000" tIns="0" bIns="0">
            <a:spAutoFit/>
          </a:bodyPr>
          <a:lstStyle/>
          <a:p>
            <a:pPr algn="l"/>
            <a:r>
              <a:rPr sz="1500" b="0">
                <a:solidFill>
                  <a:srgbClr val="2B3A42"/>
                </a:solidFill>
                <a:latin typeface="Segoe UI"/>
              </a:rPr>
              <a:t>4. onerror entfernen</a:t>
            </a:r>
          </a:p>
        </p:txBody>
      </p:sp>
      <p:cxnSp>
        <p:nvCxnSpPr>
          <p:cNvPr id="24" name="Connector 23"/>
          <p:cNvCxnSpPr/>
          <p:nvPr/>
        </p:nvCxnSpPr>
        <p:spPr>
          <a:xfrm flipH="1">
            <a:off x="4800890" y="402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123755" y="370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5. bereinigter String</a:t>
            </a:r>
          </a:p>
        </p:txBody>
      </p:sp>
      <p:cxnSp>
        <p:nvCxnSpPr>
          <p:cNvPr id="26" name="Connector 25"/>
          <p:cNvCxnSpPr/>
          <p:nvPr/>
        </p:nvCxnSpPr>
        <p:spPr>
          <a:xfrm>
            <a:off x="4780890" y="43892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810890" y="4069200"/>
            <a:ext cx="5197080" cy="300000"/>
          </a:xfrm>
          <a:prstGeom prst="rect">
            <a:avLst/>
          </a:prstGeom>
          <a:noFill/>
        </p:spPr>
        <p:txBody>
          <a:bodyPr wrap="square" anchor="b" lIns="70000" rIns="70000" tIns="0" bIns="0">
            <a:spAutoFit/>
          </a:bodyPr>
          <a:lstStyle/>
          <a:p>
            <a:pPr algn="ctr"/>
            <a:r>
              <a:rPr sz="1500" b="0">
                <a:solidFill>
                  <a:srgbClr val="2B3A42"/>
                </a:solidFill>
                <a:latin typeface="Segoe UI"/>
              </a:rPr>
              <a:t>6. div.innerHTML = '&lt;b&gt;Hallo&lt;/b&gt;&lt;img&gt;'</a:t>
            </a:r>
          </a:p>
        </p:txBody>
      </p:sp>
      <p:cxnSp>
        <p:nvCxnSpPr>
          <p:cNvPr id="28" name="Connector 27"/>
          <p:cNvCxnSpPr/>
          <p:nvPr/>
        </p:nvCxnSpPr>
        <p:spPr>
          <a:xfrm>
            <a:off x="2152350" y="474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495215" y="442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7. unsafeNote(): SafeHtml</a:t>
            </a:r>
          </a:p>
        </p:txBody>
      </p:sp>
      <p:cxnSp>
        <p:nvCxnSpPr>
          <p:cNvPr id="30" name="Connector 29"/>
          <p:cNvCxnSpPr/>
          <p:nvPr/>
        </p:nvCxnSpPr>
        <p:spPr>
          <a:xfrm>
            <a:off x="4780890" y="510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23755" y="478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8. sanitize(HTML, safeHtml)</a:t>
            </a:r>
          </a:p>
        </p:txBody>
      </p:sp>
      <p:cxnSp>
        <p:nvCxnSpPr>
          <p:cNvPr id="32" name="Connector 31"/>
          <p:cNvCxnSpPr/>
          <p:nvPr/>
        </p:nvCxnSpPr>
        <p:spPr>
          <a:xfrm flipH="1">
            <a:off x="4800890" y="546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123755" y="514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9. Wert unverändert – keine Prüfung!</a:t>
            </a:r>
          </a:p>
        </p:txBody>
      </p:sp>
      <p:cxnSp>
        <p:nvCxnSpPr>
          <p:cNvPr id="34" name="Connector 33"/>
          <p:cNvCxnSpPr/>
          <p:nvPr/>
        </p:nvCxnSpPr>
        <p:spPr>
          <a:xfrm>
            <a:off x="4780890" y="58292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810890" y="5509200"/>
            <a:ext cx="5197080" cy="300000"/>
          </a:xfrm>
          <a:prstGeom prst="rect">
            <a:avLst/>
          </a:prstGeom>
          <a:noFill/>
        </p:spPr>
        <p:txBody>
          <a:bodyPr wrap="square" anchor="b" lIns="70000" rIns="70000" tIns="0" bIns="0">
            <a:spAutoFit/>
          </a:bodyPr>
          <a:lstStyle/>
          <a:p>
            <a:pPr algn="ctr"/>
            <a:r>
              <a:rPr sz="1500" b="0">
                <a:solidFill>
                  <a:srgbClr val="2B3A42"/>
                </a:solidFill>
                <a:latin typeface="Segoe UI"/>
              </a:rPr>
              <a:t>10. innerHTML mit onerror → Script läuft</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Sicherheitskontexte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HTML: [innerHTML] – Allowlist harmloser Elemente</a:t>
            </a:r>
          </a:p>
          <a:p>
            <a:pPr>
              <a:defRPr sz="2000" b="0">
                <a:latin typeface="Segoe UI"/>
              </a:defRPr>
            </a:pPr>
            <a:r>
              <a:rPr lang="de-DE" sz="2000" b="0">
                <a:latin typeface="Segoe UI"/>
              </a:rPr>
              <a:t>Style: [style] – wird nicht verändert</a:t>
            </a:r>
          </a:p>
          <a:p>
            <a:pPr lvl="1">
              <a:defRPr sz="1700" b="0">
                <a:latin typeface="Segoe UI"/>
              </a:defRPr>
            </a:pPr>
            <a:r>
              <a:rPr lang="de-DE" sz="1700" b="0">
                <a:latin typeface="Segoe UI"/>
              </a:rPr>
              <a:t>CSS führt in heutigen Browsern kein Script aus</a:t>
            </a:r>
          </a:p>
          <a:p>
            <a:pPr>
              <a:defRPr sz="2000" b="0">
                <a:latin typeface="Segoe UI"/>
              </a:defRPr>
            </a:pPr>
            <a:r>
              <a:rPr lang="de-DE" sz="2000" b="0">
                <a:latin typeface="Segoe UI"/>
              </a:rPr>
              <a:t>URL: [href], img [src] – javascript: wird entschärft</a:t>
            </a:r>
          </a:p>
          <a:p>
            <a:pPr>
              <a:defRPr sz="2000" b="0">
                <a:latin typeface="Segoe UI"/>
              </a:defRPr>
            </a:pPr>
            <a:r>
              <a:rPr lang="de-DE" sz="2000" b="0">
                <a:latin typeface="Segoe UI"/>
              </a:rPr>
              <a:t>Resource-URL: iframe [src], script [src]</a:t>
            </a:r>
          </a:p>
          <a:p>
            <a:pPr lvl="1">
              <a:defRPr sz="1700" b="0">
                <a:latin typeface="Segoe UI"/>
              </a:defRPr>
            </a:pPr>
            <a:r>
              <a:rPr lang="de-DE" sz="1700" b="0">
                <a:latin typeface="Segoe UI"/>
              </a:rPr>
              <a:t>lädt fremden Code: Angular lehnt ab (Fehler)</a:t>
            </a:r>
          </a:p>
          <a:p>
            <a:pPr>
              <a:defRPr sz="2000" b="0">
                <a:latin typeface="Segoe UI"/>
              </a:defRPr>
            </a:pPr>
            <a:r>
              <a:rPr lang="de-DE" sz="2000" b="0">
                <a:latin typeface="Segoe UI"/>
              </a:rPr>
              <a:t>Script: Bindungen an Script-Inhalt sind nie erlaubt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SecurityContext</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STYLE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RESOURCE_URL</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SCRIPT</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URL und Resource-URL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website = 'javascript:alert(1)';                  // z. B. aus Kundendaten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videoUrl = 'https://www.youtube.com/embed/abc';    // Adresse für ein eingebettetes Video</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URL-Kontext: Angular entschärft gefährliche Schemata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&lt;a [href]="website"&gt;Webseite&lt;/a&gt;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Ergebnis: href="unsafe:javascript:alert(1)"  Klick bewirkt nichts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Resource-URL-Kontext: Angular lehnt einen normalen String ab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&lt;iframe [src]="videoUrl"&gt;&lt;/iframe&gt;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Fehler: NG0904 unsafe value used in a resource URL context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Lösung nur nach Prüfung gegen eine Allowlist (nächste Folien):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sanitizer.bypassSecurityTrustResourceUrl(geprüfteUrl)</a:t>
            </a:r>
            <a:endParaRPr lang="de-DE" sz="1400" b="0" u="none" strike="noStrike">
              <a:solidFill>
                <a:srgbClr val="000000"/>
              </a:solidFill>
              <a:uFillTx/>
              <a:latin typeface="Arial"/>
            </a:endParaRP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DomSanitizer und bypassSecurityTrust…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DomSanitizer: Dienst von Angular, per inject() holen</a:t>
            </a:r>
          </a:p>
          <a:p>
            <a:pPr>
              <a:defRPr sz="2000" b="0">
                <a:latin typeface="Segoe UI"/>
              </a:defRPr>
            </a:pPr>
            <a:r>
              <a:rPr lang="de-DE" sz="2000" b="0">
                <a:latin typeface="Segoe UI"/>
              </a:rPr>
              <a:t>sanitize(kontext, wert): Wert selbst bereinigen</a:t>
            </a:r>
          </a:p>
          <a:p>
            <a:pPr>
              <a:defRPr sz="2000" b="0">
                <a:latin typeface="Segoe UI"/>
              </a:defRPr>
            </a:pPr>
            <a:r>
              <a:rPr lang="de-DE" sz="2000" b="0">
                <a:latin typeface="Segoe UI"/>
              </a:rPr>
              <a:t>bypassSecurityTrustHtml/Style/Url/ResourceUrl/Script</a:t>
            </a:r>
          </a:p>
          <a:p>
            <a:pPr lvl="1">
              <a:defRPr sz="1700" b="0">
                <a:latin typeface="Segoe UI"/>
              </a:defRPr>
            </a:pPr>
            <a:r>
              <a:rPr lang="de-DE" sz="1700" b="0">
                <a:latin typeface="Segoe UI"/>
              </a:rPr>
              <a:t>Bekommt einen String, gibt einen SafeValue zurück</a:t>
            </a:r>
          </a:p>
          <a:p>
            <a:pPr lvl="1">
              <a:defRPr sz="1700" b="0">
                <a:latin typeface="Segoe UI"/>
              </a:defRPr>
            </a:pPr>
            <a:r>
              <a:rPr lang="de-DE" sz="1700" b="0">
                <a:latin typeface="Segoe UI"/>
              </a:rPr>
              <a:t>Angular prüft diesen Wert danach nicht mehr</a:t>
            </a:r>
          </a:p>
          <a:p>
            <a:pPr>
              <a:defRPr sz="2000" b="0">
                <a:latin typeface="Segoe UI"/>
              </a:defRPr>
            </a:pPr>
            <a:r>
              <a:rPr lang="de-DE" sz="2000" b="0">
                <a:latin typeface="Segoe UI"/>
              </a:rPr>
              <a:t>Der Entwickler übernimmt die volle Verantwortung</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DomSanitizer</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sanitize(ctx, value)</a:t>
            </a:r>
          </a:p>
          <a:p>
            <a:pPr algn="l"/>
            <a:r>
              <a:rPr sz="1300" b="0">
                <a:solidFill>
                  <a:srgbClr val="2B3A42"/>
                </a:solidFill>
                <a:latin typeface="Consolas"/>
              </a:rPr>
              <a:t>  : string | null</a:t>
            </a:r>
          </a:p>
          <a:p>
            <a:pPr algn="l"/>
            <a:r>
              <a:rPr sz="1300" b="0">
                <a:solidFill>
                  <a:srgbClr val="2B3A42"/>
                </a:solidFill>
                <a:latin typeface="Consolas"/>
              </a:rPr>
              <a:t/>
            </a:r>
          </a:p>
          <a:p>
            <a:pPr algn="l"/>
            <a:r>
              <a:rPr sz="1300" b="0">
                <a:solidFill>
                  <a:srgbClr val="2B3A42"/>
                </a:solidFill>
                <a:latin typeface="Consolas"/>
              </a:rPr>
              <a:t>bypassSecurityTrustHtml(</a:t>
            </a:r>
          </a:p>
          <a:p>
            <a:pPr algn="l"/>
            <a:r>
              <a:rPr sz="1300" b="0">
                <a:solidFill>
                  <a:srgbClr val="2B3A42"/>
                </a:solidFill>
                <a:latin typeface="Consolas"/>
              </a:rPr>
              <a:t>  value: string): SafeHtml</a:t>
            </a:r>
          </a:p>
          <a:p>
            <a:pPr algn="l"/>
            <a:r>
              <a:rPr sz="1300" b="0">
                <a:solidFill>
                  <a:srgbClr val="2B3A42"/>
                </a:solidFill>
                <a:latin typeface="Consolas"/>
              </a:rPr>
              <a:t>bypassSecurityTrustUrl(</a:t>
            </a:r>
          </a:p>
          <a:p>
            <a:pPr algn="l"/>
            <a:r>
              <a:rPr sz="1300" b="0">
                <a:solidFill>
                  <a:srgbClr val="2B3A42"/>
                </a:solidFill>
                <a:latin typeface="Consolas"/>
              </a:rPr>
              <a:t>  value: string): SafeUrl</a:t>
            </a:r>
          </a:p>
          <a:p>
            <a:pPr algn="l"/>
            <a:r>
              <a:rPr sz="1300" b="0">
                <a:solidFill>
                  <a:srgbClr val="2B3A42"/>
                </a:solidFill>
                <a:latin typeface="Consolas"/>
              </a:rPr>
              <a:t>bypassSecurityTrustResourceUrl(</a:t>
            </a:r>
          </a:p>
          <a:p>
            <a:pPr algn="l"/>
            <a:r>
              <a:rPr sz="1300" b="0">
                <a:solidFill>
                  <a:srgbClr val="2B3A42"/>
                </a:solidFill>
                <a:latin typeface="Consolas"/>
              </a:rPr>
              <a:t>  value: string)</a:t>
            </a:r>
          </a:p>
          <a:p>
            <a:pPr algn="l"/>
            <a:r>
              <a:rPr sz="1300" b="0">
                <a:solidFill>
                  <a:srgbClr val="2B3A42"/>
                </a:solidFill>
                <a:latin typeface="Consolas"/>
              </a:rPr>
              <a:t>  : SafeResourceUrl</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bypassSecurityTrust…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Component, computed, inject, input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DomSanitizer, SafeHtml } from '@angular/platform-browser';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 selector: 'note-demo', template: `&lt;div [innerHTML]="unsafeNote()"&gt;&lt;/div&gt;`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NoteDemoComponent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note = input&lt;string&gt;();                          // kommt aus dem Backend = Eingabe!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sanitizer = inject(DomSanitizer);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REVIEW-ALARM: Angular prüft diesen Wert NICHT mehr. Bewusst unsicheres Gegenbeispiel.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unsafeNote = computed&lt;SafeHtml&gt;(()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this.sanitizer.bypassSecurityTrustHtml(this.note()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Ergebnis mit der Notiz aus Übung 36: Das alert erscheint.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Sichere Alternative: [innerHTML]="note()" ohne bypass, Angular bereinigt selbst.</a:t>
            </a:r>
            <a:endParaRPr lang="de-DE" sz="1400" b="0" u="none" strike="noStrike">
              <a:solidFill>
                <a:srgbClr val="000000"/>
              </a:solidFill>
              <a:uFillTx/>
              <a:latin typeface="Arial"/>
            </a:endParaRP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bypassSecurityTrust…: Risiko einschätzen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Vertretbar nur bei vollständig kontrollierten Inhalten</a:t>
            </a:r>
          </a:p>
          <a:p>
            <a:pPr lvl="1">
              <a:defRPr sz="1700" b="0">
                <a:latin typeface="Segoe UI"/>
              </a:defRPr>
            </a:pPr>
            <a:r>
              <a:rPr lang="de-DE" sz="1700" b="0">
                <a:latin typeface="Segoe UI"/>
              </a:rPr>
              <a:t>Konstante im Code, eigene Build-Dateien</a:t>
            </a:r>
          </a:p>
          <a:p>
            <a:pPr lvl="1">
              <a:defRPr sz="1700" b="0">
                <a:latin typeface="Segoe UI"/>
              </a:defRPr>
            </a:pPr>
            <a:r>
              <a:rPr lang="de-DE" sz="1700" b="0">
                <a:latin typeface="Segoe UI"/>
              </a:rPr>
              <a:t>URL, die vorher gegen eine Allowlist geprüft wurde</a:t>
            </a:r>
          </a:p>
          <a:p>
            <a:pPr>
              <a:defRPr sz="2000" b="0">
                <a:latin typeface="Segoe UI"/>
              </a:defRPr>
            </a:pPr>
            <a:r>
              <a:rPr lang="de-DE" sz="2000" b="0">
                <a:latin typeface="Segoe UI"/>
              </a:rPr>
              <a:t>Niemals bei Nutzereingaben, API-Daten, URL-Parametern</a:t>
            </a:r>
          </a:p>
          <a:p>
            <a:pPr>
              <a:defRPr sz="2000" b="0">
                <a:latin typeface="Segoe UI"/>
              </a:defRPr>
            </a:pPr>
            <a:r>
              <a:rPr lang="de-DE" sz="2000" b="0">
                <a:latin typeface="Segoe UI"/>
              </a:rPr>
              <a:t>Jeder Einsatz: Kommentar mit Begründung im Code</a:t>
            </a:r>
          </a:p>
          <a:p>
            <a:pPr>
              <a:defRPr sz="2000" b="0">
                <a:latin typeface="Segoe UI"/>
              </a:defRPr>
            </a:pPr>
            <a:r>
              <a:rPr lang="de-DE" sz="2000" b="0">
                <a:latin typeface="Segoe UI"/>
              </a:rPr>
              <a:t>Im Review gezielt suchen: bypassSecurityTrust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Vertretbar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 Konstante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Eigenes SVG aus Build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 nach Allowlist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Niemals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Nutzereingabe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Daten aus der API</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Query-Parameter</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Wege am Schutz vorbei</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Direkter DOM-Zugriff ohne Sanitizer:</a:t>
            </a:r>
          </a:p>
          <a:p>
            <a:pPr lvl="1">
              <a:defRPr sz="1700" b="0">
                <a:latin typeface="Segoe UI"/>
              </a:defRPr>
            </a:pPr>
            <a:r>
              <a:rPr lang="de-DE" sz="1700" b="0">
                <a:latin typeface="Segoe UI"/>
              </a:rPr>
              <a:t>elementRef.nativeElement.innerHTML = …</a:t>
            </a:r>
          </a:p>
          <a:p>
            <a:pPr lvl="1">
              <a:defRPr sz="1700" b="0">
                <a:latin typeface="Segoe UI"/>
              </a:defRPr>
            </a:pPr>
            <a:r>
              <a:rPr lang="de-DE" sz="1700" b="0">
                <a:latin typeface="Segoe UI"/>
              </a:rPr>
              <a:t>document.write, insertAdjacentHTML</a:t>
            </a:r>
          </a:p>
          <a:p>
            <a:pPr>
              <a:defRPr sz="2000" b="0">
                <a:latin typeface="Segoe UI"/>
              </a:defRPr>
            </a:pPr>
            <a:r>
              <a:rPr lang="de-DE" sz="2000" b="0">
                <a:latin typeface="Segoe UI"/>
              </a:rPr>
              <a:t>Code aus Strings: eval, new Function, setTimeout('…')</a:t>
            </a:r>
          </a:p>
          <a:p>
            <a:pPr>
              <a:defRPr sz="2000" b="0">
                <a:latin typeface="Segoe UI"/>
              </a:defRPr>
            </a:pPr>
            <a:r>
              <a:rPr lang="de-DE" sz="2000" b="0">
                <a:latin typeface="Segoe UI"/>
              </a:rPr>
              <a:t>Templates zur Laufzeit aus Nutzertext erzeugen</a:t>
            </a:r>
          </a:p>
          <a:p>
            <a:pPr>
              <a:defRPr sz="2000" b="0">
                <a:latin typeface="Segoe UI"/>
              </a:defRPr>
            </a:pPr>
            <a:r>
              <a:rPr lang="de-DE" sz="2000" b="0">
                <a:latin typeface="Segoe UI"/>
              </a:rPr>
              <a:t>Bibliotheken, die HTML erzeugen (Markdown, Editoren)</a:t>
            </a:r>
          </a:p>
          <a:p>
            <a:pPr lvl="1">
              <a:defRPr sz="1700" b="0">
                <a:latin typeface="Segoe UI"/>
              </a:defRPr>
            </a:pPr>
            <a:r>
              <a:rPr lang="de-DE" sz="1700" b="0">
                <a:latin typeface="Segoe UI"/>
              </a:rPr>
              <a:t>Ausgabe trotzdem über [innerHTML] oder sanitize()</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 speichere ich das Token?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Token: Nachweis der Anmeldung bei jeder Anfrage</a:t>
            </a:r>
          </a:p>
          <a:p>
            <a:pPr>
              <a:defRPr sz="2000" b="0">
                <a:latin typeface="Segoe UI"/>
              </a:defRPr>
            </a:pPr>
            <a:r>
              <a:rPr lang="de-DE" sz="2000" b="0">
                <a:latin typeface="Segoe UI"/>
              </a:rPr>
              <a:t>localStorage: bleibt nach Reload, per Script lesbar</a:t>
            </a:r>
          </a:p>
          <a:p>
            <a:pPr lvl="1">
              <a:defRPr sz="1700" b="0">
                <a:latin typeface="Segoe UI"/>
              </a:defRPr>
            </a:pPr>
            <a:r>
              <a:rPr lang="de-DE" sz="1700" b="0">
                <a:latin typeface="Segoe UI"/>
              </a:rPr>
              <a:t>Bei XSS kann der Angreifer es stehlen</a:t>
            </a:r>
          </a:p>
          <a:p>
            <a:pPr>
              <a:defRPr sz="2000" b="0">
                <a:latin typeface="Segoe UI"/>
              </a:defRPr>
            </a:pPr>
            <a:r>
              <a:rPr lang="de-DE" sz="2000" b="0">
                <a:latin typeface="Segoe UI"/>
              </a:rPr>
              <a:t>HttpOnly-Cookie: setzt das Backend</a:t>
            </a:r>
          </a:p>
          <a:p>
            <a:pPr lvl="1">
              <a:defRPr sz="1700" b="0">
                <a:latin typeface="Segoe UI"/>
              </a:defRPr>
            </a:pPr>
            <a:r>
              <a:rPr lang="de-DE" sz="1700" b="0">
                <a:latin typeface="Segoe UI"/>
              </a:rPr>
              <a:t>Kein Script kommt heran, Browser sendet es mit</a:t>
            </a:r>
          </a:p>
          <a:p>
            <a:pPr lvl="1">
              <a:defRPr sz="1700" b="0">
                <a:latin typeface="Segoe UI"/>
              </a:defRPr>
            </a:pPr>
            <a:r>
              <a:rPr lang="de-DE" sz="1700" b="0">
                <a:latin typeface="Segoe UI"/>
              </a:rPr>
              <a:t>Dafür CSRF beachten (nächste Folien)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localStorage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Per Script lesbar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XSS stiehlt Token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CSRF-Risiko</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HttpOnly-Cookie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Nicht per Script lesbar</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Automatisch mitgesendet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CSRF-Schutz nötig</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Token-Speicherung: Empfehlung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Sitzung über Cookie mit HttpOnly, Secure, SameSite</a:t>
            </a:r>
          </a:p>
          <a:p>
            <a:pPr lvl="1">
              <a:defRPr sz="1700" b="0">
                <a:latin typeface="Segoe UI"/>
              </a:defRPr>
            </a:pPr>
            <a:r>
              <a:rPr lang="de-DE" sz="1700" b="0">
                <a:latin typeface="Segoe UI"/>
              </a:rPr>
              <a:t>Secure: nur über HTTPS; SameSite: nicht von fremden Seiten</a:t>
            </a:r>
          </a:p>
          <a:p>
            <a:pPr>
              <a:defRPr sz="2000" b="0">
                <a:latin typeface="Segoe UI"/>
              </a:defRPr>
            </a:pPr>
            <a:r>
              <a:rPr lang="de-DE" sz="2000" b="0">
                <a:latin typeface="Segoe UI"/>
              </a:rPr>
              <a:t>Cookie ohne HttpOnly: so unsicher wie localStorage</a:t>
            </a:r>
          </a:p>
          <a:p>
            <a:pPr>
              <a:defRPr sz="2000" b="0">
                <a:latin typeface="Segoe UI"/>
              </a:defRPr>
            </a:pPr>
            <a:r>
              <a:rPr lang="de-DE" sz="2000" b="0">
                <a:latin typeface="Segoe UI"/>
              </a:rPr>
              <a:t>Variable im Speicher: weg beim Reload, schwerer zu stehlen</a:t>
            </a:r>
          </a:p>
          <a:p>
            <a:pPr>
              <a:defRPr sz="2000" b="0">
                <a:latin typeface="Segoe UI"/>
              </a:defRPr>
            </a:pPr>
            <a:r>
              <a:rPr lang="de-DE" sz="2000" b="0">
                <a:latin typeface="Segoe UI"/>
              </a:rPr>
              <a:t>Tokens mit kurzer Laufzeit, Erneuerung über das Backend</a:t>
            </a:r>
          </a:p>
          <a:p>
            <a:pPr>
              <a:defRPr sz="2000" b="0">
                <a:latin typeface="Segoe UI"/>
              </a:defRPr>
            </a:pPr>
            <a:r>
              <a:rPr lang="de-DE" sz="2000" b="0">
                <a:latin typeface="Segoe UI"/>
              </a:rPr>
              <a:t>Login über erprobte Bibliothek oder Identity Provider</a:t>
            </a:r>
          </a:p>
          <a:p>
            <a:pPr>
              <a:defRPr sz="2000" b="0">
                <a:latin typeface="Segoe UI"/>
              </a:defRPr>
            </a:pPr>
            <a:r>
              <a:rPr lang="de-DE" sz="2000" b="0">
                <a:latin typeface="Segoe UI"/>
              </a:rPr>
              <a:t>AuthService aus Übung 25 (Signal isLoggedIn) ist nur Demo</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Kurzlebiges Token: Erneuerung im Interceptor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Typisches Muster mit catchError und switchMap – das Token selbst sieht das Frontend nie</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a:t>
            </a:r>
          </a:p>
          <a:p>
            <a:pPr algn="ctr"/>
            <a:r>
              <a:rPr sz="1600" b="1">
                <a:solidFill>
                  <a:srgbClr val="FFFFFF"/>
                </a:solidFill>
                <a:latin typeface="Segoe UI"/>
              </a:rPr>
              <a:t>Service</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HttpClient</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authInterceptor</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Backend</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58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26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1. get('api/customer')</a:t>
            </a:r>
          </a:p>
        </p:txBody>
      </p:sp>
      <p:cxnSp>
        <p:nvCxnSpPr>
          <p:cNvPr id="14" name="Connector 13"/>
          <p:cNvCxnSpPr/>
          <p:nvPr/>
        </p:nvCxnSpPr>
        <p:spPr>
          <a:xfrm>
            <a:off x="4780890" y="294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23755" y="262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2. authInterceptor(req, next)</a:t>
            </a:r>
          </a:p>
        </p:txBody>
      </p:sp>
      <p:cxnSp>
        <p:nvCxnSpPr>
          <p:cNvPr id="16" name="Connector 15"/>
          <p:cNvCxnSpPr/>
          <p:nvPr/>
        </p:nvCxnSpPr>
        <p:spPr>
          <a:xfrm>
            <a:off x="7409430" y="330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52295" y="298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3. GET api/customer + Cookie</a:t>
            </a:r>
          </a:p>
        </p:txBody>
      </p:sp>
      <p:cxnSp>
        <p:nvCxnSpPr>
          <p:cNvPr id="18" name="Connector 17"/>
          <p:cNvCxnSpPr/>
          <p:nvPr/>
        </p:nvCxnSpPr>
        <p:spPr>
          <a:xfrm flipH="1">
            <a:off x="7429430" y="366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2295" y="334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4. 401: Token abgelaufen</a:t>
            </a:r>
          </a:p>
        </p:txBody>
      </p:sp>
      <p:cxnSp>
        <p:nvCxnSpPr>
          <p:cNvPr id="20" name="Connector 19"/>
          <p:cNvCxnSpPr/>
          <p:nvPr/>
        </p:nvCxnSpPr>
        <p:spPr>
          <a:xfrm>
            <a:off x="7409430" y="402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52295" y="370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5. POST api/auth/refresh</a:t>
            </a:r>
          </a:p>
        </p:txBody>
      </p:sp>
      <p:cxnSp>
        <p:nvCxnSpPr>
          <p:cNvPr id="22" name="Connector 21"/>
          <p:cNvCxnSpPr/>
          <p:nvPr/>
        </p:nvCxnSpPr>
        <p:spPr>
          <a:xfrm flipH="1">
            <a:off x="7429430" y="438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2295" y="406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6. 200 + neues Cookie</a:t>
            </a:r>
          </a:p>
        </p:txBody>
      </p:sp>
      <p:cxnSp>
        <p:nvCxnSpPr>
          <p:cNvPr id="24" name="Connector 23"/>
          <p:cNvCxnSpPr/>
          <p:nvPr/>
        </p:nvCxnSpPr>
        <p:spPr>
          <a:xfrm>
            <a:off x="7409430" y="474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752295" y="442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7. Anfrage wiederholen</a:t>
            </a:r>
          </a:p>
        </p:txBody>
      </p:sp>
      <p:cxnSp>
        <p:nvCxnSpPr>
          <p:cNvPr id="26" name="Connector 25"/>
          <p:cNvCxnSpPr/>
          <p:nvPr/>
        </p:nvCxnSpPr>
        <p:spPr>
          <a:xfrm flipH="1">
            <a:off x="7429430" y="510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2295" y="478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8. 200: Kundenliste</a:t>
            </a:r>
          </a:p>
        </p:txBody>
      </p:sp>
      <p:cxnSp>
        <p:nvCxnSpPr>
          <p:cNvPr id="28" name="Connector 27"/>
          <p:cNvCxnSpPr/>
          <p:nvPr/>
        </p:nvCxnSpPr>
        <p:spPr>
          <a:xfrm flipH="1">
            <a:off x="4800890" y="546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23755" y="514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9. Antwort weiterreichen</a:t>
            </a:r>
          </a:p>
        </p:txBody>
      </p:sp>
      <p:cxnSp>
        <p:nvCxnSpPr>
          <p:cNvPr id="30" name="Connector 29"/>
          <p:cNvCxnSpPr/>
          <p:nvPr/>
        </p:nvCxnSpPr>
        <p:spPr>
          <a:xfrm flipH="1">
            <a:off x="2172350" y="582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495215" y="550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10. Observable liefert die Kunden</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CSRF: Angriff über eine fremde Seite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Cross-Site Request Forgery: gefälschte Anfrage</a:t>
            </a:r>
          </a:p>
          <a:p>
            <a:pPr>
              <a:defRPr sz="2000" b="0">
                <a:latin typeface="Segoe UI"/>
              </a:defRPr>
            </a:pPr>
            <a:r>
              <a:rPr lang="de-DE" sz="2000" b="0">
                <a:latin typeface="Segoe UI"/>
              </a:rPr>
              <a:t>Nutzer ist in der App angemeldet (Cookie)</a:t>
            </a:r>
          </a:p>
          <a:p>
            <a:pPr>
              <a:defRPr sz="2000" b="0">
                <a:latin typeface="Segoe UI"/>
              </a:defRPr>
            </a:pPr>
            <a:r>
              <a:rPr lang="de-DE" sz="2000" b="0">
                <a:latin typeface="Segoe UI"/>
              </a:rPr>
              <a:t>Er besucht eine präparierte fremde Seite</a:t>
            </a:r>
          </a:p>
          <a:p>
            <a:pPr>
              <a:defRPr sz="2000" b="0">
                <a:latin typeface="Segoe UI"/>
              </a:defRPr>
            </a:pPr>
            <a:r>
              <a:rPr lang="de-DE" sz="2000" b="0">
                <a:latin typeface="Segoe UI"/>
              </a:rPr>
              <a:t>Diese schickt ein Formular an die App-API</a:t>
            </a:r>
          </a:p>
          <a:p>
            <a:pPr>
              <a:defRPr sz="2000" b="0">
                <a:latin typeface="Segoe UI"/>
              </a:defRPr>
            </a:pPr>
            <a:r>
              <a:rPr lang="de-DE" sz="2000" b="0">
                <a:latin typeface="Segoe UI"/>
              </a:rPr>
              <a:t>Browser hängt das Cookie automatisch an</a:t>
            </a:r>
          </a:p>
          <a:p>
            <a:pPr>
              <a:defRPr sz="2000" b="0">
                <a:latin typeface="Segoe UI"/>
              </a:defRPr>
            </a:pPr>
            <a:r>
              <a:rPr lang="de-DE" sz="2000" b="0">
                <a:latin typeface="Segoe UI"/>
              </a:rPr>
              <a:t>Server hält die Anfrage für echt</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Nutzer angemeldet (Cookie)</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Besucht fremde Seite</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Seite sendet POST an API</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Browser hängt Cookie an</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führt Aktion aus</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Cookie allein beweist nichts</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CSRF im Ablauf: Browser, Cookie, fremde Seite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fremde Seite kennt das Cookie nicht – der Browser hängt es selbst an</a:t>
            </a:r>
          </a:p>
        </p:txBody>
      </p:sp>
      <p:sp>
        <p:nvSpPr>
          <p:cNvPr id="4" name="Rectangle 3"/>
          <p:cNvSpPr/>
          <p:nvPr/>
        </p:nvSpPr>
        <p:spPr>
          <a:xfrm>
            <a:off x="144044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a:t>
            </a:r>
          </a:p>
          <a:p>
            <a:pPr algn="ctr"/>
            <a:r>
              <a:rPr sz="1600" b="1">
                <a:solidFill>
                  <a:srgbClr val="FFFFFF"/>
                </a:solidFill>
                <a:latin typeface="Segoe UI"/>
              </a:rPr>
              <a:t>des Nutzers</a:t>
            </a:r>
          </a:p>
        </p:txBody>
      </p:sp>
      <p:sp>
        <p:nvSpPr>
          <p:cNvPr id="5" name="Rectangle 4"/>
          <p:cNvSpPr/>
          <p:nvPr/>
        </p:nvSpPr>
        <p:spPr>
          <a:xfrm>
            <a:off x="494516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App-Server</a:t>
            </a:r>
          </a:p>
          <a:p>
            <a:pPr algn="ctr"/>
            <a:r>
              <a:rPr sz="1600" b="1">
                <a:solidFill>
                  <a:srgbClr val="FFFFFF"/>
                </a:solidFill>
                <a:latin typeface="Segoe UI"/>
              </a:rPr>
              <a:t>app.example</a:t>
            </a:r>
          </a:p>
        </p:txBody>
      </p:sp>
      <p:sp>
        <p:nvSpPr>
          <p:cNvPr id="6" name="Rectangle 5"/>
          <p:cNvSpPr/>
          <p:nvPr/>
        </p:nvSpPr>
        <p:spPr>
          <a:xfrm>
            <a:off x="844988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Fremde Seite</a:t>
            </a:r>
          </a:p>
          <a:p>
            <a:pPr algn="ctr"/>
            <a:r>
              <a:rPr sz="1600" b="1">
                <a:solidFill>
                  <a:srgbClr val="FFFFFF"/>
                </a:solidFill>
                <a:latin typeface="Segoe UI"/>
              </a:rPr>
              <a:t>evil.example</a:t>
            </a:r>
          </a:p>
        </p:txBody>
      </p:sp>
      <p:cxnSp>
        <p:nvCxnSpPr>
          <p:cNvPr id="7" name="Connector 6"/>
          <p:cNvCxnSpPr/>
          <p:nvPr/>
        </p:nvCxnSpPr>
        <p:spPr>
          <a:xfrm>
            <a:off x="25904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5998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590440" y="2762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714260" y="2412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1. POST /login (Name, Passwort)</a:t>
            </a:r>
          </a:p>
        </p:txBody>
      </p:sp>
      <p:cxnSp>
        <p:nvCxnSpPr>
          <p:cNvPr id="12" name="Connector 11"/>
          <p:cNvCxnSpPr/>
          <p:nvPr/>
        </p:nvCxnSpPr>
        <p:spPr>
          <a:xfrm flipH="1">
            <a:off x="2610440" y="3362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714260" y="3012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2. Set-Cookie: session=abc (HttpOnly)</a:t>
            </a:r>
          </a:p>
        </p:txBody>
      </p:sp>
      <p:cxnSp>
        <p:nvCxnSpPr>
          <p:cNvPr id="14" name="Connector 13"/>
          <p:cNvCxnSpPr/>
          <p:nvPr/>
        </p:nvCxnSpPr>
        <p:spPr>
          <a:xfrm>
            <a:off x="2590440" y="3962000"/>
            <a:ext cx="69894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20440" y="3612000"/>
            <a:ext cx="6949440" cy="330000"/>
          </a:xfrm>
          <a:prstGeom prst="rect">
            <a:avLst/>
          </a:prstGeom>
          <a:noFill/>
        </p:spPr>
        <p:txBody>
          <a:bodyPr wrap="square" anchor="b" lIns="70000" rIns="70000" tIns="0" bIns="0">
            <a:spAutoFit/>
          </a:bodyPr>
          <a:lstStyle/>
          <a:p>
            <a:pPr algn="ctr"/>
            <a:r>
              <a:rPr sz="1500" b="0">
                <a:solidFill>
                  <a:srgbClr val="2B3A42"/>
                </a:solidFill>
                <a:latin typeface="Segoe UI"/>
              </a:rPr>
              <a:t>3. Nutzer öffnet einen Link auf evil.example</a:t>
            </a:r>
          </a:p>
        </p:txBody>
      </p:sp>
      <p:cxnSp>
        <p:nvCxnSpPr>
          <p:cNvPr id="16" name="Connector 15"/>
          <p:cNvCxnSpPr/>
          <p:nvPr/>
        </p:nvCxnSpPr>
        <p:spPr>
          <a:xfrm flipH="1">
            <a:off x="2610440" y="4562000"/>
            <a:ext cx="69894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620440" y="4212000"/>
            <a:ext cx="6949440" cy="330000"/>
          </a:xfrm>
          <a:prstGeom prst="rect">
            <a:avLst/>
          </a:prstGeom>
          <a:noFill/>
        </p:spPr>
        <p:txBody>
          <a:bodyPr wrap="square" anchor="b" lIns="70000" rIns="70000" tIns="0" bIns="0">
            <a:spAutoFit/>
          </a:bodyPr>
          <a:lstStyle/>
          <a:p>
            <a:pPr algn="ctr"/>
            <a:r>
              <a:rPr sz="1500" b="0">
                <a:solidFill>
                  <a:srgbClr val="404B52"/>
                </a:solidFill>
                <a:latin typeface="Segoe UI"/>
              </a:rPr>
              <a:t>4. HTML mit verstecktem Formular, sendet sich selbst ab</a:t>
            </a:r>
          </a:p>
        </p:txBody>
      </p:sp>
      <p:cxnSp>
        <p:nvCxnSpPr>
          <p:cNvPr id="18" name="Connector 17"/>
          <p:cNvCxnSpPr/>
          <p:nvPr/>
        </p:nvCxnSpPr>
        <p:spPr>
          <a:xfrm>
            <a:off x="2590440" y="5162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714260" y="4812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5. POST /api/customer/7/delete  +  Cookie session=abc</a:t>
            </a:r>
          </a:p>
        </p:txBody>
      </p:sp>
      <p:cxnSp>
        <p:nvCxnSpPr>
          <p:cNvPr id="20" name="Connector 19"/>
          <p:cNvCxnSpPr/>
          <p:nvPr/>
        </p:nvCxnSpPr>
        <p:spPr>
          <a:xfrm>
            <a:off x="6095160" y="5534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475160" y="5534000"/>
            <a:ext cx="0" cy="228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115160" y="5762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25160" y="5369000"/>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6. Cookie gültig → Kunde wird gelöscht</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Schutz: CSRF-Token (Double Submit)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Backend setzt Cookie XSRF-TOKEN (zufälliger Wert)</a:t>
            </a:r>
          </a:p>
          <a:p>
            <a:pPr>
              <a:defRPr sz="2000" b="0">
                <a:latin typeface="Segoe UI"/>
              </a:defRPr>
            </a:pPr>
            <a:r>
              <a:rPr lang="de-DE" sz="2000" b="0">
                <a:latin typeface="Segoe UI"/>
              </a:rPr>
              <a:t>HttpClient liest das Cookie per Script</a:t>
            </a:r>
          </a:p>
          <a:p>
            <a:pPr>
              <a:defRPr sz="2000" b="0">
                <a:latin typeface="Segoe UI"/>
              </a:defRPr>
            </a:pPr>
            <a:r>
              <a:rPr lang="de-DE" sz="2000" b="0">
                <a:latin typeface="Segoe UI"/>
              </a:rPr>
              <a:t>und sendet den Wert als Header X-XSRF-TOKEN</a:t>
            </a:r>
          </a:p>
          <a:p>
            <a:pPr>
              <a:defRPr sz="2000" b="0">
                <a:latin typeface="Segoe UI"/>
              </a:defRPr>
            </a:pPr>
            <a:r>
              <a:rPr lang="de-DE" sz="2000" b="0">
                <a:latin typeface="Segoe UI"/>
              </a:rPr>
              <a:t>Backend vergleicht Cookie und Header</a:t>
            </a:r>
          </a:p>
          <a:p>
            <a:pPr>
              <a:defRPr sz="2000" b="0">
                <a:latin typeface="Segoe UI"/>
              </a:defRPr>
            </a:pPr>
            <a:r>
              <a:rPr lang="de-DE" sz="2000" b="0">
                <a:latin typeface="Segoe UI"/>
              </a:rPr>
              <a:t>Fremde Seite kann das Cookie nicht lesen</a:t>
            </a:r>
          </a:p>
          <a:p>
            <a:pPr lvl="1">
              <a:defRPr sz="1700" b="0">
                <a:latin typeface="Segoe UI"/>
              </a:defRPr>
            </a:pPr>
            <a:r>
              <a:rPr lang="de-DE" sz="1700" b="0">
                <a:latin typeface="Segoe UI"/>
              </a:rPr>
              <a:t>also kann sie den Header nicht setzen</a:t>
            </a:r>
          </a:p>
          <a:p>
            <a:pPr>
              <a:defRPr sz="2000" b="0">
                <a:latin typeface="Segoe UI"/>
              </a:defRPr>
            </a:pPr>
            <a:r>
              <a:rPr lang="de-DE" sz="2000" b="0">
                <a:latin typeface="Segoe UI"/>
              </a:rPr>
              <a:t>Zusätzlich: SameSite-Cookies</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Backend setzt Cookie XSRF-TOKEN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HttpClient liest Cookie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Header X-XSRF-TOKEN senden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Backend vergleicht beide</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Fremde Seite kennt den Wert nicht</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withXsrfConfiguration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app.config.ts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provideHttpClient, withInterceptors, withXsrfConfiguration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from '@angular/common/http';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appConfig: ApplicationConfig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provideHttpClient(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withInterceptors([loggingInterceptor]),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Ohne diese Zeile gilt: Cookie "XSRF-TOKEN", Header "X-XSRF-TOKEN"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withXsrfConfiguration({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cookieName: 'MY-XSRF-COOKIE',   // Name des Cookies, das das Backend setzt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headerName: 'X-MY-XSRF',        // Name des Headers, den das Backend erwartet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Abschalten (nur wenn das Backend anders schützt): withNoXsrfProtection()</a:t>
            </a:r>
            <a:endParaRPr lang="de-DE" sz="1400" b="0" u="none" strike="noStrike">
              <a:solidFill>
                <a:srgbClr val="000000"/>
              </a:solidFill>
              <a:uFillTx/>
              <a:latin typeface="Arial"/>
            </a:endParaRP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der HttpClient genau tut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Header nur bei verändernden Anfragen</a:t>
            </a:r>
          </a:p>
          <a:p>
            <a:pPr lvl="1">
              <a:defRPr sz="1700" b="0">
                <a:latin typeface="Segoe UI"/>
              </a:defRPr>
            </a:pPr>
            <a:r>
              <a:rPr lang="de-DE" sz="1700" b="0">
                <a:latin typeface="Segoe UI"/>
              </a:rPr>
              <a:t>POST, PUT, PATCH, DELETE – nicht bei GET und HEAD</a:t>
            </a:r>
          </a:p>
          <a:p>
            <a:pPr>
              <a:defRPr sz="2000" b="0">
                <a:latin typeface="Segoe UI"/>
              </a:defRPr>
            </a:pPr>
            <a:r>
              <a:rPr lang="de-DE" sz="2000" b="0">
                <a:latin typeface="Segoe UI"/>
              </a:rPr>
              <a:t>Nur bei relativen URLs wie /api/customer</a:t>
            </a:r>
          </a:p>
          <a:p>
            <a:pPr lvl="1">
              <a:defRPr sz="1700" b="0">
                <a:latin typeface="Segoe UI"/>
              </a:defRPr>
            </a:pPr>
            <a:r>
              <a:rPr lang="de-DE" sz="1700" b="0">
                <a:latin typeface="Segoe UI"/>
              </a:rPr>
              <a:t>Kein Token an fremde Server (absolute URL)</a:t>
            </a:r>
          </a:p>
          <a:p>
            <a:pPr>
              <a:defRPr sz="2000" b="0">
                <a:latin typeface="Segoe UI"/>
              </a:defRPr>
            </a:pPr>
            <a:r>
              <a:rPr lang="de-DE" sz="2000" b="0">
                <a:latin typeface="Segoe UI"/>
              </a:rPr>
              <a:t>Kein Cookie vorhanden: kein Header</a:t>
            </a:r>
          </a:p>
          <a:p>
            <a:pPr>
              <a:defRPr sz="2000" b="0">
                <a:latin typeface="Segoe UI"/>
              </a:defRPr>
            </a:pPr>
            <a:r>
              <a:rPr lang="de-DE" sz="2000" b="0">
                <a:latin typeface="Segoe UI"/>
              </a:rPr>
              <a:t>Prüfen muss immer das Backend</a:t>
            </a:r>
          </a:p>
          <a:p>
            <a:pPr>
              <a:defRPr sz="2000" b="0">
                <a:latin typeface="Segoe UI"/>
              </a:defRPr>
            </a:pPr>
            <a:r>
              <a:rPr lang="de-DE" sz="2000" b="0">
                <a:latin typeface="Segoe UI"/>
              </a:rPr>
              <a:t>GET-Anfragen dürfen deshalb nie etwas verändern</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Double Submit: wer liest und vergleicht was?</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Eine fremde Seite kann Schritt 3 nicht ausführen: Sie darf das Cookie nicht lesen</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a:t>
            </a:r>
          </a:p>
          <a:p>
            <a:pPr algn="ctr"/>
            <a:r>
              <a:rPr sz="1600" b="1">
                <a:solidFill>
                  <a:srgbClr val="FFFFFF"/>
                </a:solidFill>
                <a:latin typeface="Segoe UI"/>
              </a:rPr>
              <a:t>Service</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HttpClient</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Cookies</a:t>
            </a:r>
          </a:p>
          <a:p>
            <a:pPr algn="ctr"/>
            <a:r>
              <a:rPr sz="1600" b="1">
                <a:solidFill>
                  <a:srgbClr val="FFFFFF"/>
                </a:solidFill>
                <a:latin typeface="Segoe UI"/>
              </a:rPr>
              <a:t>(Browser)</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Backend</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7429430" y="26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752295" y="23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Set-Cookie: XSRF-TOKEN=k7f2</a:t>
            </a:r>
          </a:p>
        </p:txBody>
      </p:sp>
      <p:cxnSp>
        <p:nvCxnSpPr>
          <p:cNvPr id="14" name="Connector 13"/>
          <p:cNvCxnSpPr/>
          <p:nvPr/>
        </p:nvCxnSpPr>
        <p:spPr>
          <a:xfrm>
            <a:off x="2152350" y="31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495215" y="27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post('api/customer', kunde)</a:t>
            </a:r>
          </a:p>
        </p:txBody>
      </p:sp>
      <p:cxnSp>
        <p:nvCxnSpPr>
          <p:cNvPr id="16" name="Connector 15"/>
          <p:cNvCxnSpPr/>
          <p:nvPr/>
        </p:nvCxnSpPr>
        <p:spPr>
          <a:xfrm>
            <a:off x="4780890" y="35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23755" y="32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Cookie XSRF-TOKEN lesen</a:t>
            </a:r>
          </a:p>
        </p:txBody>
      </p:sp>
      <p:cxnSp>
        <p:nvCxnSpPr>
          <p:cNvPr id="18" name="Connector 17"/>
          <p:cNvCxnSpPr/>
          <p:nvPr/>
        </p:nvCxnSpPr>
        <p:spPr>
          <a:xfrm flipH="1">
            <a:off x="4800890" y="400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65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4. 'k7f2'</a:t>
            </a:r>
          </a:p>
        </p:txBody>
      </p:sp>
      <p:cxnSp>
        <p:nvCxnSpPr>
          <p:cNvPr id="20" name="Connector 19"/>
          <p:cNvCxnSpPr/>
          <p:nvPr/>
        </p:nvCxnSpPr>
        <p:spPr>
          <a:xfrm>
            <a:off x="4780890" y="44540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810890" y="41040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5. POST + Header X-XSRF-TOKEN: k7f2</a:t>
            </a:r>
          </a:p>
        </p:txBody>
      </p:sp>
      <p:cxnSp>
        <p:nvCxnSpPr>
          <p:cNvPr id="22" name="Connector 21"/>
          <p:cNvCxnSpPr/>
          <p:nvPr/>
        </p:nvCxnSpPr>
        <p:spPr>
          <a:xfrm>
            <a:off x="7409430" y="49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2295" y="45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6. Cookie XSRF-TOKEN=k7f2</a:t>
            </a:r>
          </a:p>
        </p:txBody>
      </p:sp>
      <p:cxnSp>
        <p:nvCxnSpPr>
          <p:cNvPr id="24" name="Connector 23"/>
          <p:cNvCxnSpPr/>
          <p:nvPr/>
        </p:nvCxnSpPr>
        <p:spPr>
          <a:xfrm flipH="1">
            <a:off x="4800890" y="5354000"/>
            <a:ext cx="523708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810890" y="5004000"/>
            <a:ext cx="5197080" cy="330000"/>
          </a:xfrm>
          <a:prstGeom prst="rect">
            <a:avLst/>
          </a:prstGeom>
          <a:noFill/>
        </p:spPr>
        <p:txBody>
          <a:bodyPr wrap="square" anchor="b" lIns="70000" rIns="70000" tIns="0" bIns="0">
            <a:spAutoFit/>
          </a:bodyPr>
          <a:lstStyle/>
          <a:p>
            <a:pPr algn="ctr"/>
            <a:r>
              <a:rPr sz="1500" b="0">
                <a:solidFill>
                  <a:srgbClr val="404B52"/>
                </a:solidFill>
                <a:latin typeface="Segoe UI"/>
              </a:rPr>
              <a:t>7. Header = Cookie → 201 Created</a:t>
            </a:r>
          </a:p>
        </p:txBody>
      </p:sp>
      <p:cxnSp>
        <p:nvCxnSpPr>
          <p:cNvPr id="26" name="Connector 25"/>
          <p:cNvCxnSpPr/>
          <p:nvPr/>
        </p:nvCxnSpPr>
        <p:spPr>
          <a:xfrm flipH="1">
            <a:off x="2172350" y="580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95215" y="545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8. Observable liefert den neuen Kunden</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CORS, HTTPS und URLs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Es regelt, welche Seiten Antworten lesen dürfen</a:t>
            </a:r>
          </a:p>
          <a:p>
            <a:pPr lvl="1">
              <a:defRPr sz="1700" b="0">
                <a:latin typeface="Segoe UI"/>
              </a:defRPr>
            </a:pPr>
            <a:r>
              <a:rPr lang="de-DE" sz="1700" b="0">
                <a:latin typeface="Segoe UI"/>
              </a:rPr>
              <a:t>Anfragen kommen trotzdem beim Server an</a:t>
            </a:r>
          </a:p>
          <a:p>
            <a:pPr>
              <a:defRPr sz="2000" b="0">
                <a:latin typeface="Segoe UI"/>
              </a:defRPr>
            </a:pPr>
            <a:r>
              <a:rPr lang="de-DE" sz="2000" b="0">
                <a:latin typeface="Segoe UI"/>
              </a:rPr>
              <a:t>Immer HTTPS, auch in internen Netzen</a:t>
            </a:r>
          </a:p>
          <a:p>
            <a:pPr>
              <a:defRPr sz="2000" b="0">
                <a:latin typeface="Segoe UI"/>
              </a:defRPr>
            </a:pPr>
            <a:r>
              <a:rPr lang="de-DE" sz="2000" b="0">
                <a:latin typeface="Segoe UI"/>
              </a:rPr>
              <a:t>Keine sensiblen Daten in URLs</a:t>
            </a:r>
          </a:p>
          <a:p>
            <a:pPr lvl="1">
              <a:defRPr sz="1700" b="0">
                <a:latin typeface="Segoe UI"/>
              </a:defRPr>
            </a:pPr>
            <a:r>
              <a:rPr lang="de-DE" sz="1700" b="0">
                <a:latin typeface="Segoe UI"/>
              </a:rPr>
              <a:t>Sie landen in Logs, Verlauf und Referrer-Header</a:t>
            </a:r>
          </a:p>
          <a:p>
            <a:pPr>
              <a:defRPr sz="2000" b="0">
                <a:latin typeface="Segoe UI"/>
              </a:defRPr>
            </a:pPr>
            <a:r>
              <a:rPr lang="de-DE" sz="2000" b="0">
                <a:latin typeface="Segoe UI"/>
              </a:rPr>
              <a:t>Werte in URLs kodieren: encodeURIComponent(id)</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Content Security Policy (CSP)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HTTP-Header, den der Server mit der Seite sendet</a:t>
            </a:r>
          </a:p>
          <a:p>
            <a:pPr>
              <a:defRPr sz="2000" b="0">
                <a:latin typeface="Segoe UI"/>
              </a:defRPr>
            </a:pPr>
            <a:r>
              <a:rPr lang="de-DE" sz="2000" b="0">
                <a:latin typeface="Segoe UI"/>
              </a:rPr>
              <a:t>Legt fest, woher Skripte, Styles, Bilder kommen dürfen</a:t>
            </a:r>
          </a:p>
          <a:p>
            <a:pPr>
              <a:defRPr sz="2000" b="0">
                <a:latin typeface="Segoe UI"/>
              </a:defRPr>
            </a:pPr>
            <a:r>
              <a:rPr lang="de-DE" sz="2000" b="0">
                <a:latin typeface="Segoe UI"/>
              </a:rPr>
              <a:t>Browser blockiert alles andere, auch eingeschleuste Skripte</a:t>
            </a:r>
          </a:p>
          <a:p>
            <a:pPr>
              <a:defRPr sz="2000" b="0">
                <a:latin typeface="Segoe UI"/>
              </a:defRPr>
            </a:pPr>
            <a:r>
              <a:rPr lang="de-DE" sz="2000" b="0">
                <a:latin typeface="Segoe UI"/>
              </a:rPr>
              <a:t>Begrenzt den Schaden, wenn XSS doch gelingt</a:t>
            </a:r>
          </a:p>
          <a:p>
            <a:pPr>
              <a:defRPr sz="2000" b="0">
                <a:latin typeface="Segoe UI"/>
              </a:defRPr>
            </a:pPr>
            <a:r>
              <a:rPr lang="de-DE" sz="2000" b="0">
                <a:latin typeface="Segoe UI"/>
              </a:rPr>
              <a:t>Zusätzliche Schicht (Defense in Depth)</a:t>
            </a:r>
          </a:p>
          <a:p>
            <a:pPr lvl="1">
              <a:defRPr sz="1700" b="0">
                <a:latin typeface="Segoe UI"/>
              </a:defRPr>
            </a:pPr>
            <a:r>
              <a:rPr lang="de-DE" sz="1700" b="0">
                <a:latin typeface="Segoe UI"/>
              </a:rPr>
              <a:t>ersetzt kein sauberes Escaping</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CSP und Trusted Types</a:t>
            </a:r>
          </a:p>
          <a:p>
            <a:pPr algn="ctr"/>
            <a:r>
              <a:rPr sz="1700" b="1">
                <a:solidFill>
                  <a:srgbClr val="FFFFFF"/>
                </a:solidFill>
                <a:latin typeface="Segoe UI"/>
              </a:rPr>
              <a:t>begrenzen den Schaden</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Angular: Escaping, Sanitizing</a:t>
            </a:r>
          </a:p>
          <a:p>
            <a:pPr algn="ctr"/>
            <a:r>
              <a:rPr sz="1700" b="1">
                <a:solidFill>
                  <a:srgbClr val="FFFFFF"/>
                </a:solidFill>
                <a:latin typeface="Segoe UI"/>
              </a:rPr>
              <a:t>verhindert XSS</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Eigener Code</a:t>
            </a:r>
          </a:p>
          <a:p>
            <a:pPr algn="ctr"/>
            <a:r>
              <a:rPr sz="1700" b="0">
                <a:solidFill>
                  <a:srgbClr val="2B3A42"/>
                </a:solidFill>
                <a:latin typeface="Segoe UI"/>
              </a:rPr>
              <a:t>prüft Eingaben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Mehrere Schutzschichten</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CSP-Header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Content-Security-Policy: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default-src 'self';                          # Standard: nur eigene Origin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script-src  'self' 'nonce-r4nd0m';           # Skripte: eigene Dateien + passende Nonce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style-src   'self' 'nonce-r4nd0m';           # Styles: Angular erzeugt &lt;style&gt;-Elemente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img-src     'self' data:;                    # Bilder: eigene und eingebettete (data:)</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connect-src 'self' https://api.example.com;  # Ziele für HttpClient/fetch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object-src  'none';                          # keine Plugins (object, embed)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base-uri    'self';                          # &lt;base&gt; darf nicht umgebogen werden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frame-ancestors 'none';                      # Seite darf in keinem iframe laufen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Die Nonce ist ein Zufallswert, den der Server bei JEDER Auslieferung neu erzeugt.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Kommentare mit # dienen nur der Erklärung; ein echter Header steht in einer Zeile.</a:t>
            </a:r>
            <a:endParaRPr lang="de-DE" sz="1400" b="0" u="none" strike="noStrike">
              <a:solidFill>
                <a:srgbClr val="000000"/>
              </a:solidFill>
              <a:uFillTx/>
              <a:latin typeface="Arial"/>
            </a:endParaRP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CSP mit Angular nutzen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Angular schreibt Komponenten-Styles als &lt;style&gt; in die Seite</a:t>
            </a:r>
          </a:p>
          <a:p>
            <a:pPr lvl="1">
              <a:defRPr sz="1700" b="0">
                <a:latin typeface="Segoe UI"/>
              </a:defRPr>
            </a:pPr>
            <a:r>
              <a:rPr lang="de-DE" sz="1700" b="0">
                <a:latin typeface="Segoe UI"/>
              </a:rPr>
              <a:t>Diese brauchen die Nonce, sonst blockiert die CSP</a:t>
            </a:r>
          </a:p>
          <a:p>
            <a:pPr>
              <a:defRPr sz="2000" b="0">
                <a:latin typeface="Segoe UI"/>
              </a:defRPr>
            </a:pPr>
            <a:r>
              <a:rPr lang="de-DE" sz="2000" b="0">
                <a:latin typeface="Segoe UI"/>
              </a:rPr>
              <a:t>Nonce angeben: Attribut ngCspNonce am Root-Element</a:t>
            </a:r>
          </a:p>
          <a:p>
            <a:pPr lvl="1">
              <a:defRPr sz="1700" b="0">
                <a:latin typeface="Segoe UI"/>
              </a:defRPr>
            </a:pPr>
            <a:r>
              <a:rPr lang="de-DE" sz="1700" b="0">
                <a:latin typeface="Segoe UI"/>
              </a:rPr>
              <a:t>oder Provider für das Token CSP_NONCE</a:t>
            </a:r>
          </a:p>
          <a:p>
            <a:pPr>
              <a:defRPr sz="2000" b="0">
                <a:latin typeface="Segoe UI"/>
              </a:defRPr>
            </a:pPr>
            <a:r>
              <a:rPr lang="de-DE" sz="2000" b="0">
                <a:latin typeface="Segoe UI"/>
              </a:rPr>
              <a:t>Server ersetzt den Platzhalter bei jeder Auslieferung</a:t>
            </a:r>
          </a:p>
          <a:p>
            <a:pPr>
              <a:defRPr sz="2000" b="0">
                <a:latin typeface="Segoe UI"/>
              </a:defRPr>
            </a:pPr>
            <a:r>
              <a:rPr lang="de-DE" sz="2000" b="0">
                <a:latin typeface="Segoe UI"/>
              </a:rPr>
              <a:t>angular.json: security.autoCsp erzeugt Hash-CSP</a:t>
            </a:r>
          </a:p>
          <a:p>
            <a:pPr>
              <a:defRPr sz="2000" b="0">
                <a:latin typeface="Segoe UI"/>
              </a:defRPr>
            </a:pPr>
            <a:r>
              <a:rPr lang="de-DE" sz="2000" b="0">
                <a:latin typeface="Segoe UI"/>
              </a:rPr>
              <a:t>Erst im Report-Only-Modus testen, dann scharf schalten</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Nonce in index.html und app.config.ts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&lt;!-- index.html: der Server ersetzt RANDOM_NONCE bei jeder Auslieferung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&lt;body&gt;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&lt;app-root ngCspNonce="RANDOM_NONCE"&gt;&lt;/app-root&gt;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&lt;/body&gt;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Alternative: app.config.ts (Wert z. B. aus einem Meta-Tag, das der Server setzt)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CSP_NONCE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nonce = document.querySelector('meta[name="csp-nonce"]')?.getAttribute('content');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appConfig: ApplicationConfig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provide: CSP_NONCE, useValue: nonce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Server-Header dazu: script-src 'self' 'nonce-&lt;derselbe Wert&gt;'; style-src ...</a:t>
            </a:r>
            <a:endParaRPr lang="de-DE" sz="1400" b="0" u="none" strike="noStrike">
              <a:solidFill>
                <a:srgbClr val="000000"/>
              </a:solidFill>
              <a:uFillTx/>
              <a:latin typeface="Arial"/>
            </a:endParaRP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CSP im Ablauf: Nonce und Blockade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CSP kommt als Header vom Server – der Browser setzt sie durch, nicht Angular</a:t>
            </a:r>
          </a:p>
        </p:txBody>
      </p:sp>
      <p:sp>
        <p:nvSpPr>
          <p:cNvPr id="4" name="Rectangle 3"/>
          <p:cNvSpPr/>
          <p:nvPr/>
        </p:nvSpPr>
        <p:spPr>
          <a:xfrm>
            <a:off x="144044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Server</a:t>
            </a:r>
          </a:p>
        </p:txBody>
      </p:sp>
      <p:sp>
        <p:nvSpPr>
          <p:cNvPr id="5" name="Rectangle 4"/>
          <p:cNvSpPr/>
          <p:nvPr/>
        </p:nvSpPr>
        <p:spPr>
          <a:xfrm>
            <a:off x="494516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a:t>
            </a:r>
          </a:p>
        </p:txBody>
      </p:sp>
      <p:sp>
        <p:nvSpPr>
          <p:cNvPr id="6" name="Rectangle 5"/>
          <p:cNvSpPr/>
          <p:nvPr/>
        </p:nvSpPr>
        <p:spPr>
          <a:xfrm>
            <a:off x="844988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Angular-App</a:t>
            </a:r>
          </a:p>
        </p:txBody>
      </p:sp>
      <p:cxnSp>
        <p:nvCxnSpPr>
          <p:cNvPr id="7" name="Connector 6"/>
          <p:cNvCxnSpPr/>
          <p:nvPr/>
        </p:nvCxnSpPr>
        <p:spPr>
          <a:xfrm>
            <a:off x="25904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5998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610440" y="265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714260" y="230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1. GET /customer (index.html)</a:t>
            </a:r>
          </a:p>
        </p:txBody>
      </p:sp>
      <p:cxnSp>
        <p:nvCxnSpPr>
          <p:cNvPr id="12" name="Connector 11"/>
          <p:cNvCxnSpPr/>
          <p:nvPr/>
        </p:nvCxnSpPr>
        <p:spPr>
          <a:xfrm>
            <a:off x="2590440" y="29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70440" y="29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610440" y="31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20440" y="2768000"/>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2. neue Nonce: r4nd0m</a:t>
            </a:r>
          </a:p>
        </p:txBody>
      </p:sp>
      <p:cxnSp>
        <p:nvCxnSpPr>
          <p:cNvPr id="16" name="Connector 15"/>
          <p:cNvCxnSpPr/>
          <p:nvPr/>
        </p:nvCxnSpPr>
        <p:spPr>
          <a:xfrm>
            <a:off x="2590440" y="3554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14260" y="3204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3. HTML mit ngCspNonce="r4nd0m" + Header CSP</a:t>
            </a:r>
          </a:p>
        </p:txBody>
      </p:sp>
      <p:cxnSp>
        <p:nvCxnSpPr>
          <p:cNvPr id="18" name="Connector 17"/>
          <p:cNvCxnSpPr/>
          <p:nvPr/>
        </p:nvCxnSpPr>
        <p:spPr>
          <a:xfrm flipH="1">
            <a:off x="2610440" y="400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714260" y="365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4. GET main.js – script-src 'self' erlaubt es</a:t>
            </a:r>
          </a:p>
        </p:txBody>
      </p:sp>
      <p:cxnSp>
        <p:nvCxnSpPr>
          <p:cNvPr id="20" name="Connector 19"/>
          <p:cNvCxnSpPr/>
          <p:nvPr/>
        </p:nvCxnSpPr>
        <p:spPr>
          <a:xfrm>
            <a:off x="6095160" y="445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18980" y="410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5. main.js ausführen: Angular startet</a:t>
            </a:r>
          </a:p>
        </p:txBody>
      </p:sp>
      <p:cxnSp>
        <p:nvCxnSpPr>
          <p:cNvPr id="22" name="Connector 21"/>
          <p:cNvCxnSpPr/>
          <p:nvPr/>
        </p:nvCxnSpPr>
        <p:spPr>
          <a:xfrm flipH="1">
            <a:off x="6115160" y="490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18980" y="455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6. &lt;style nonce="r4nd0m"&gt; für Komponenten einfügen</a:t>
            </a:r>
          </a:p>
        </p:txBody>
      </p:sp>
      <p:cxnSp>
        <p:nvCxnSpPr>
          <p:cNvPr id="24" name="Connector 23"/>
          <p:cNvCxnSpPr/>
          <p:nvPr/>
        </p:nvCxnSpPr>
        <p:spPr>
          <a:xfrm>
            <a:off x="6095160" y="51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75160" y="51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115160" y="53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25160" y="5018000"/>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7. Nonce passt → Style aktiv</a:t>
            </a:r>
          </a:p>
        </p:txBody>
      </p:sp>
      <p:cxnSp>
        <p:nvCxnSpPr>
          <p:cNvPr id="28" name="Connector 27"/>
          <p:cNvCxnSpPr/>
          <p:nvPr/>
        </p:nvCxnSpPr>
        <p:spPr>
          <a:xfrm>
            <a:off x="6095160" y="56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475160" y="56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115160" y="58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25160" y="5468000"/>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8. &lt;script&gt; ohne Nonce → blockiert</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Trusted Types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Browser-Funktion, die die CSP aktiviert</a:t>
            </a:r>
          </a:p>
          <a:p>
            <a:pPr>
              <a:defRPr sz="2000" b="0">
                <a:latin typeface="Segoe UI"/>
              </a:defRPr>
            </a:pPr>
            <a:r>
              <a:rPr lang="de-DE" sz="2000" b="0">
                <a:latin typeface="Segoe UI"/>
              </a:rPr>
              <a:t>Gefährliche DOM-Stellen nehmen keine Strings mehr an</a:t>
            </a:r>
          </a:p>
          <a:p>
            <a:pPr lvl="1">
              <a:defRPr sz="1700" b="0">
                <a:latin typeface="Segoe UI"/>
              </a:defRPr>
            </a:pPr>
            <a:r>
              <a:rPr lang="de-DE" sz="1700" b="0">
                <a:latin typeface="Segoe UI"/>
              </a:rPr>
              <a:t>z. B. innerHTML, script.src, eval</a:t>
            </a:r>
          </a:p>
          <a:p>
            <a:pPr>
              <a:defRPr sz="2000" b="0">
                <a:latin typeface="Segoe UI"/>
              </a:defRPr>
            </a:pPr>
            <a:r>
              <a:rPr lang="de-DE" sz="2000" b="0">
                <a:latin typeface="Segoe UI"/>
              </a:rPr>
              <a:t>Nur Werte aus einer erlaubten Policy werden akzeptiert</a:t>
            </a:r>
          </a:p>
          <a:p>
            <a:pPr>
              <a:defRPr sz="2000" b="0">
                <a:latin typeface="Segoe UI"/>
              </a:defRPr>
            </a:pPr>
            <a:r>
              <a:rPr lang="de-DE" sz="2000" b="0">
                <a:latin typeface="Segoe UI"/>
              </a:rPr>
              <a:t>Angular bringt eigene Policies mit</a:t>
            </a:r>
          </a:p>
          <a:p>
            <a:pPr lvl="1">
              <a:defRPr sz="1700" b="0">
                <a:latin typeface="Segoe UI"/>
              </a:defRPr>
            </a:pPr>
            <a:r>
              <a:rPr lang="de-DE" sz="1700" b="0">
                <a:latin typeface="Segoe UI"/>
              </a:rPr>
              <a:t>angular, angular#unsafe-bypass (für bypass…)</a:t>
            </a:r>
          </a:p>
          <a:p>
            <a:pPr>
              <a:defRPr sz="2000" b="0">
                <a:latin typeface="Segoe UI"/>
              </a:defRPr>
            </a:pPr>
            <a:r>
              <a:rPr lang="de-DE" sz="2000" b="0">
                <a:latin typeface="Segoe UI"/>
              </a:rPr>
              <a:t>Fehlt angular#unsafe-bypass, scheitert jedes bypass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CSP-Header</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Content-Security-Policy:</a:t>
            </a:r>
          </a:p>
          <a:p>
            <a:pPr algn="l"/>
            <a:r>
              <a:rPr sz="1500" b="0">
                <a:solidFill>
                  <a:srgbClr val="2B3A42"/>
                </a:solidFill>
                <a:latin typeface="Consolas"/>
              </a:rPr>
              <a:t>  trusted-types angular;</a:t>
            </a:r>
          </a:p>
          <a:p>
            <a:pPr algn="l"/>
            <a:r>
              <a:rPr sz="1500" b="0">
                <a:solidFill>
                  <a:srgbClr val="2B3A42"/>
                </a:solidFill>
                <a:latin typeface="Consolas"/>
              </a:rPr>
              <a:t>  require-trusted-types-for</a:t>
            </a:r>
          </a:p>
          <a:p>
            <a:pPr algn="l"/>
            <a:r>
              <a:rPr sz="1500" b="0">
                <a:solidFill>
                  <a:srgbClr val="2B3A42"/>
                </a:solidFill>
                <a:latin typeface="Consolas"/>
              </a:rPr>
              <a:t>    'script';</a:t>
            </a:r>
          </a:p>
          <a:p>
            <a:pPr algn="l"/>
            <a:r>
              <a:rPr sz="1500" b="0">
                <a:solidFill>
                  <a:srgbClr val="2B3A42"/>
                </a:solidFill>
                <a:latin typeface="Consolas"/>
              </a:rPr>
              <a:t/>
            </a:r>
          </a:p>
          <a:p>
            <a:pPr algn="l"/>
            <a:r>
              <a:rPr sz="1500" b="0">
                <a:solidFill>
                  <a:srgbClr val="2B3A42"/>
                </a:solidFill>
                <a:latin typeface="Consolas"/>
              </a:rPr>
              <a:t># mit bypass-Ausnahme:</a:t>
            </a:r>
          </a:p>
          <a:p>
            <a:pPr algn="l"/>
            <a:r>
              <a:rPr sz="1500" b="0">
                <a:solidFill>
                  <a:srgbClr val="2B3A42"/>
                </a:solidFill>
                <a:latin typeface="Consolas"/>
              </a:rPr>
              <a:t>  trusted-types angular</a:t>
            </a:r>
          </a:p>
          <a:p>
            <a:pPr algn="l"/>
            <a:r>
              <a:rPr sz="1500" b="0">
                <a:solidFill>
                  <a:srgbClr val="2B3A42"/>
                </a:solidFill>
                <a:latin typeface="Consolas"/>
              </a:rPr>
              <a:t>    angular#unsafe-bypass;</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Abhängigkeiten: die Lieferkette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Jedes npm-Paket läuft mit vollen Rechten in der App</a:t>
            </a:r>
          </a:p>
          <a:p>
            <a:pPr>
              <a:defRPr sz="2000" b="0">
                <a:latin typeface="Segoe UI"/>
              </a:defRPr>
            </a:pPr>
            <a:r>
              <a:rPr lang="de-DE" sz="2000" b="0">
                <a:latin typeface="Segoe UI"/>
              </a:rPr>
              <a:t>npm audit: vergleicht Lockfile mit bekannten Lücken</a:t>
            </a:r>
          </a:p>
          <a:p>
            <a:pPr>
              <a:defRPr sz="2000" b="0">
                <a:latin typeface="Segoe UI"/>
              </a:defRPr>
            </a:pPr>
            <a:r>
              <a:rPr lang="de-DE" sz="2000" b="0">
                <a:latin typeface="Segoe UI"/>
              </a:rPr>
              <a:t>npm audit fix: hebt auf sichere Versionen an</a:t>
            </a:r>
          </a:p>
          <a:p>
            <a:pPr>
              <a:defRPr sz="2000" b="0">
                <a:latin typeface="Segoe UI"/>
              </a:defRPr>
            </a:pPr>
            <a:r>
              <a:rPr lang="de-DE" sz="2000" b="0">
                <a:latin typeface="Segoe UI"/>
              </a:rPr>
              <a:t>ng update: Angular und seine Pakete aktualisieren</a:t>
            </a:r>
          </a:p>
          <a:p>
            <a:pPr>
              <a:defRPr sz="2000" b="0">
                <a:latin typeface="Segoe UI"/>
              </a:defRPr>
            </a:pPr>
            <a:r>
              <a:rPr lang="de-DE" sz="2000" b="0">
                <a:latin typeface="Segoe UI"/>
              </a:rPr>
              <a:t>package-lock.json committen, im CI mit npm ci bauen</a:t>
            </a:r>
          </a:p>
          <a:p>
            <a:pPr>
              <a:defRPr sz="2000" b="0">
                <a:latin typeface="Segoe UI"/>
              </a:defRPr>
            </a:pPr>
            <a:r>
              <a:rPr lang="de-DE" sz="2000" b="0">
                <a:latin typeface="Segoe UI"/>
              </a:rPr>
              <a:t>Neue Pakete prüfen: Pflege, Verbreitung, echter Name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npm audit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Bericht lesen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audit fix / ng update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Tests und Build</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Regelmäßig, z. B. im CI</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audit in der Praxis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 alle Pakete prüfen, Bericht nach Schweregrad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--omit=dev           # nur Pakete, die in die ausgelieferte App gelangen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--audit-level=high   # Exit-Code ungleich 0 erst ab "high" (für das CI)</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fix                  # sichere Updates ohne neue Hauptversion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ng update                      # zeigt verfügbare Angular-Updates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ng update @angular/core @angular/cli   # aktualisiert und passt Code per Migration an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ci                         # installiert exakt nach package-lock.json (CI)</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Beispiel-Ausgabe (gekürzt):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some-package  &lt;2.4.1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Severity: high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Prototype Pollution - https://github.com/advisories/GHSA-...</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 available via `npm audit fix`</a:t>
            </a:r>
            <a:endParaRPr lang="de-DE" sz="1400" b="0" u="none" strike="noStrike">
              <a:solidFill>
                <a:srgbClr val="000000"/>
              </a:solidFill>
              <a:uFillTx/>
              <a:latin typeface="Arial"/>
            </a:endParaRP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Secrets im Frontend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environment.ts wird in das JavaScript-Bundle kompiliert</a:t>
            </a:r>
          </a:p>
          <a:p>
            <a:pPr>
              <a:defRPr sz="2000" b="0">
                <a:latin typeface="Segoe UI"/>
              </a:defRPr>
            </a:pPr>
            <a:r>
              <a:rPr lang="de-DE" sz="2000" b="0">
                <a:latin typeface="Segoe UI"/>
              </a:rPr>
              <a:t>Jeder kann das Bundle laden und lesen</a:t>
            </a:r>
          </a:p>
          <a:p>
            <a:pPr lvl="1">
              <a:defRPr sz="1700" b="0">
                <a:latin typeface="Segoe UI"/>
              </a:defRPr>
            </a:pPr>
            <a:r>
              <a:rPr lang="de-DE" sz="1700" b="0">
                <a:latin typeface="Segoe UI"/>
              </a:rPr>
              <a:t>Entwicklertools, Quelltext, Netzwerk-Tab</a:t>
            </a:r>
          </a:p>
          <a:p>
            <a:pPr>
              <a:defRPr sz="2000" b="0">
                <a:latin typeface="Segoe UI"/>
              </a:defRPr>
            </a:pPr>
            <a:r>
              <a:rPr lang="de-DE" sz="2000" b="0">
                <a:latin typeface="Segoe UI"/>
              </a:rPr>
              <a:t>Also: kein API-Key mit Rechten, kein Passwort im Client</a:t>
            </a:r>
          </a:p>
          <a:p>
            <a:pPr>
              <a:defRPr sz="2000" b="0">
                <a:latin typeface="Segoe UI"/>
              </a:defRPr>
            </a:pPr>
            <a:r>
              <a:rPr lang="de-DE" sz="2000" b="0">
                <a:latin typeface="Segoe UI"/>
              </a:rPr>
              <a:t>Lösung: Backend ruft den fremden Dienst auf</a:t>
            </a:r>
          </a:p>
          <a:p>
            <a:pPr>
              <a:defRPr sz="2000" b="0">
                <a:latin typeface="Segoe UI"/>
              </a:defRPr>
            </a:pPr>
            <a:r>
              <a:rPr lang="de-DE" sz="2000" b="0">
                <a:latin typeface="Segoe UI"/>
              </a:rPr>
              <a:t>Öffentliche Schlüssel (z. B. Karten): nur mit Domain-Sperre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environment.ts</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build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main-XYZ.js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Jeder Besucher liest mit</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Alles im Bundle ist öffentlich</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Offene Weiterleitung: returnUrl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Guard hängt Ziel an: /login?returnUrl=/customer/7</a:t>
            </a:r>
          </a:p>
          <a:p>
            <a:pPr>
              <a:defRPr sz="2000" b="0">
                <a:latin typeface="Segoe UI"/>
              </a:defRPr>
            </a:pPr>
            <a:r>
              <a:rPr lang="de-DE" sz="2000" b="0">
                <a:latin typeface="Segoe UI"/>
              </a:rPr>
              <a:t>Nach dem Login navigiert die App dorthin</a:t>
            </a:r>
          </a:p>
          <a:p>
            <a:pPr>
              <a:defRPr sz="2000" b="0">
                <a:latin typeface="Segoe UI"/>
              </a:defRPr>
            </a:pPr>
            <a:r>
              <a:rPr lang="de-DE" sz="2000" b="0">
                <a:latin typeface="Segoe UI"/>
              </a:rPr>
              <a:t>Angreifer verschickt: /login?returnUrl=//evil.example</a:t>
            </a:r>
          </a:p>
          <a:p>
            <a:pPr lvl="1">
              <a:defRPr sz="1700" b="0">
                <a:latin typeface="Segoe UI"/>
              </a:defRPr>
            </a:pPr>
            <a:r>
              <a:rPr lang="de-DE" sz="1700" b="0">
                <a:latin typeface="Segoe UI"/>
              </a:rPr>
              <a:t>Opfer meldet sich echt an und landet beim Angreifer</a:t>
            </a:r>
          </a:p>
          <a:p>
            <a:pPr>
              <a:defRPr sz="2000" b="0">
                <a:latin typeface="Segoe UI"/>
              </a:defRPr>
            </a:pPr>
            <a:r>
              <a:rPr lang="de-DE" sz="2000" b="0">
                <a:latin typeface="Segoe UI"/>
              </a:rPr>
              <a:t>Gegenmaßnahme: Ziel gegen Allowlist prüfen</a:t>
            </a:r>
          </a:p>
          <a:p>
            <a:pPr lvl="1">
              <a:defRPr sz="1700" b="0">
                <a:latin typeface="Segoe UI"/>
              </a:defRPr>
            </a:pPr>
            <a:r>
              <a:rPr lang="de-DE" sz="1700" b="0">
                <a:latin typeface="Segoe UI"/>
              </a:rPr>
              <a:t>nur eigene Origin, nur erlaubte Pfade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Link mit returnUrl</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Echter Login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Prüfung: Allowlist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Ziel oder /customer</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Wird in Übung 36 gebaut</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safeReturnUrl: Prüfung gegen eine Allowlist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const ALLOWED_PREFIXES = ['/customer'];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function safeReturnUrl(value: string | null |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origin: string = window.location.origin): string | undefined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(!value) return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let url: URL;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url = new URL(value, origin);    // relativ: gegen eigene Origin aufgelöst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catch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undefined;                // kein gültiger Wert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(url.origin !== origin) return undefined;  // //evil.example, javascript: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allowed = ALLOWED_PREFIXES.some(p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url.pathname === p || url.pathname.startsWith(p + '/'));   // Pfad ist normalisiert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allowed ? url.pathname + url.search :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Login: router.navigateByUrl(safeReturnUrl(this.returnUrl()) ?? '/customer')</a:t>
            </a:r>
            <a:endParaRPr lang="de-DE" sz="1400" b="0" u="none" strike="noStrike">
              <a:solidFill>
                <a:srgbClr val="000000"/>
              </a:solidFill>
              <a:uFillTx/>
              <a:latin typeface="Arial"/>
            </a:endParaRP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returnUrl im Ablauf: über /login zurück</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Bei returnUrl=//evil.example liefert Schritt 7 undefined – Ziel ist dann /customer</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a:t>
            </a:r>
          </a:p>
          <a:p>
            <a:pPr algn="ctr"/>
            <a:r>
              <a:rPr sz="1400" b="1">
                <a:solidFill>
                  <a:srgbClr val="FFFFFF"/>
                </a:solidFill>
                <a:latin typeface="Segoe UI"/>
              </a:rPr>
              <a:t>(URL)</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authGuard</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LoginComponent</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safeReturnUrl</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Nutzer öffnet /customer/7</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canActivate: angemeldet?</a:t>
            </a:r>
          </a:p>
        </p:txBody>
      </p:sp>
      <p:cxnSp>
        <p:nvCxnSpPr>
          <p:cNvPr id="18" name="Connector 17"/>
          <p:cNvCxnSpPr/>
          <p:nvPr/>
        </p:nvCxnSpPr>
        <p:spPr>
          <a:xfrm flipH="1">
            <a:off x="4012328" y="330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66620" y="298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3. nein: navigate(['/login'], returnUrl)</a:t>
            </a:r>
          </a:p>
        </p:txBody>
      </p:sp>
      <p:cxnSp>
        <p:nvCxnSpPr>
          <p:cNvPr id="20" name="Connector 19"/>
          <p:cNvCxnSpPr/>
          <p:nvPr/>
        </p:nvCxnSpPr>
        <p:spPr>
          <a:xfrm>
            <a:off x="3992328" y="366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22328" y="334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4. /login?returnUrl=%2Fcustomer%2F7</a:t>
            </a:r>
          </a:p>
        </p:txBody>
      </p:sp>
      <p:cxnSp>
        <p:nvCxnSpPr>
          <p:cNvPr id="22" name="Connector 21"/>
          <p:cNvCxnSpPr/>
          <p:nvPr/>
        </p:nvCxnSpPr>
        <p:spPr>
          <a:xfrm>
            <a:off x="8197992" y="389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77992" y="389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8217992" y="402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27992" y="374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5. login()</a:t>
            </a:r>
          </a:p>
        </p:txBody>
      </p:sp>
      <p:cxnSp>
        <p:nvCxnSpPr>
          <p:cNvPr id="26" name="Connector 25"/>
          <p:cNvCxnSpPr/>
          <p:nvPr/>
        </p:nvCxnSpPr>
        <p:spPr>
          <a:xfrm>
            <a:off x="8197992" y="43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672284" y="40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6. safeReturnUrl('/customer/7')</a:t>
            </a:r>
          </a:p>
        </p:txBody>
      </p:sp>
      <p:cxnSp>
        <p:nvCxnSpPr>
          <p:cNvPr id="28" name="Connector 27"/>
          <p:cNvCxnSpPr/>
          <p:nvPr/>
        </p:nvCxnSpPr>
        <p:spPr>
          <a:xfrm flipH="1">
            <a:off x="8217992" y="474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72284" y="442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7. '/customer/7' (erlaubt)</a:t>
            </a:r>
          </a:p>
        </p:txBody>
      </p:sp>
      <p:cxnSp>
        <p:nvCxnSpPr>
          <p:cNvPr id="30" name="Connector 29"/>
          <p:cNvCxnSpPr/>
          <p:nvPr/>
        </p:nvCxnSpPr>
        <p:spPr>
          <a:xfrm flipH="1">
            <a:off x="4012328" y="510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22328" y="478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8. navigateByUrl('/customer/7')</a:t>
            </a:r>
          </a:p>
        </p:txBody>
      </p:sp>
      <p:cxnSp>
        <p:nvCxnSpPr>
          <p:cNvPr id="32" name="Connector 31"/>
          <p:cNvCxnSpPr/>
          <p:nvPr/>
        </p:nvCxnSpPr>
        <p:spPr>
          <a:xfrm>
            <a:off x="3992328" y="546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466620" y="514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9. canActivate: angemeldet?</a:t>
            </a:r>
          </a:p>
        </p:txBody>
      </p:sp>
      <p:cxnSp>
        <p:nvCxnSpPr>
          <p:cNvPr id="34" name="Connector 33"/>
          <p:cNvCxnSpPr/>
          <p:nvPr/>
        </p:nvCxnSpPr>
        <p:spPr>
          <a:xfrm flipH="1">
            <a:off x="4012328" y="582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66620" y="550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10. ja → CustomerDetails anzeigen</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typische Risikoquellen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Zu viele Daten im Client: Backend liefert nur erlaubte Felder</a:t>
            </a:r>
          </a:p>
          <a:p>
            <a:pPr>
              <a:defRPr sz="2000" b="0">
                <a:latin typeface="Segoe UI"/>
              </a:defRPr>
            </a:pPr>
            <a:r>
              <a:rPr lang="de-DE" sz="2000" b="0">
                <a:latin typeface="Segoe UI"/>
              </a:rPr>
              <a:t>Sensible Daten in Logs: keine Header, Bodies, Tokens</a:t>
            </a:r>
          </a:p>
          <a:p>
            <a:pPr lvl="1">
              <a:defRPr sz="1700" b="0">
                <a:latin typeface="Segoe UI"/>
              </a:defRPr>
            </a:pPr>
            <a:r>
              <a:rPr lang="de-DE" sz="1700" b="0">
                <a:latin typeface="Segoe UI"/>
              </a:rPr>
              <a:t>loggingInterceptor (Übung 25): nur Methode, URL, Status</a:t>
            </a:r>
          </a:p>
          <a:p>
            <a:pPr>
              <a:defRPr sz="2000" b="0">
                <a:latin typeface="Segoe UI"/>
              </a:defRPr>
            </a:pPr>
            <a:r>
              <a:rPr lang="de-DE" sz="2000" b="0">
                <a:latin typeface="Segoe UI"/>
              </a:rPr>
              <a:t>Clickjacking: Seite in fremdem iframe, unsichtbar überlagert</a:t>
            </a:r>
          </a:p>
          <a:p>
            <a:pPr lvl="1">
              <a:defRPr sz="1700" b="0">
                <a:latin typeface="Segoe UI"/>
              </a:defRPr>
            </a:pPr>
            <a:r>
              <a:rPr lang="de-DE" sz="1700" b="0">
                <a:latin typeface="Segoe UI"/>
              </a:rPr>
              <a:t>Schutz: frame-ancestors oder X-Frame-Options</a:t>
            </a:r>
          </a:p>
          <a:p>
            <a:pPr>
              <a:defRPr sz="2000" b="0">
                <a:latin typeface="Segoe UI"/>
              </a:defRPr>
            </a:pPr>
            <a:r>
              <a:rPr lang="de-DE" sz="2000" b="0">
                <a:latin typeface="Segoe UI"/>
              </a:rPr>
              <a:t>Fremde Skripte (Tracking, Widgets): wirklich nötig?</a:t>
            </a:r>
          </a:p>
          <a:p>
            <a:pPr lvl="1">
              <a:defRPr sz="1700" b="0">
                <a:latin typeface="Segoe UI"/>
              </a:defRPr>
            </a:pPr>
            <a:r>
              <a:rPr lang="de-DE" sz="1700" b="0">
                <a:latin typeface="Segoe UI"/>
              </a:rPr>
              <a:t>Subresource Integrity (integrity-Attribut) und CSP</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Datensparsamkeit: nur anzeigen und speichern, was nötig ist (DSGVO)</a:t>
            </a:r>
          </a:p>
          <a:p>
            <a:pPr>
              <a:defRPr sz="2000" b="0">
                <a:latin typeface="Segoe UI"/>
              </a:defRPr>
            </a:pPr>
            <a:r>
              <a:rPr lang="de-DE" sz="2000" b="0">
                <a:latin typeface="Segoe UI"/>
              </a:rPr>
              <a:t>Kontextgerecht ausgeben: Text per {{ }}, HTML per Sanitizing, URL validieren</a:t>
            </a:r>
          </a:p>
          <a:p>
            <a:pPr>
              <a:defRPr sz="2000" b="0">
                <a:latin typeface="Segoe UI"/>
              </a:defRPr>
            </a:pPr>
            <a:r>
              <a:rPr lang="de-DE" sz="2000" b="0">
                <a:latin typeface="Segoe UI"/>
              </a:rPr>
              <a:t>Client-Validierung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ohne technische Details, keine Stacktraces für Endnutzer</a:t>
            </a:r>
          </a:p>
          <a:p>
            <a:pPr>
              <a:defRPr sz="2000" b="0">
                <a:latin typeface="Segoe UI"/>
              </a:defRPr>
            </a:pPr>
            <a:r>
              <a:rPr lang="de-DE" sz="2000" b="0">
                <a:latin typeface="Segoe UI"/>
              </a:rPr>
              <a:t>Nach dem Logout: Zustand im Speicher (Stores, Signals) zurücksetzen</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Sicherheit ist Teamaufgabe: Review-Checkliste für jede Änderung</a:t>
            </a:r>
          </a:p>
          <a:p>
            <a:pPr>
              <a:defRPr sz="2000" b="0">
                <a:latin typeface="Segoe UI"/>
              </a:defRPr>
            </a:pPr>
            <a:r>
              <a:rPr lang="de-DE" sz="2000" b="0">
                <a:latin typeface="Segoe UI"/>
              </a:rPr>
              <a:t>Automatische Prüfungen im CI: Lint, Tests, npm audit</a:t>
            </a:r>
          </a:p>
          <a:p>
            <a:pPr>
              <a:defRPr sz="2000" b="0">
                <a:latin typeface="Segoe UI"/>
              </a:defRPr>
            </a:pPr>
            <a:r>
              <a:rPr lang="de-DE" sz="2000" b="0">
                <a:latin typeface="Segoe UI"/>
              </a:rPr>
              <a:t>Updates zeitnah mit ng update: Sicherheitsfixes in Minor- und Patch-Versionen</a:t>
            </a:r>
          </a:p>
          <a:p>
            <a:pPr>
              <a:defRPr sz="2000" b="0">
                <a:latin typeface="Segoe UI"/>
              </a:defRPr>
            </a:pPr>
            <a:r>
              <a:rPr lang="de-DE" sz="2000" b="0">
                <a:latin typeface="Segoe UI"/>
              </a:rPr>
              <a:t>Dokumentierte Ausnahmen: Wo steht bypassSecurityTrust* oder innerHTML, und warum?</a:t>
            </a:r>
          </a:p>
          <a:p>
            <a:pPr>
              <a:defRPr sz="2000" b="0">
                <a:latin typeface="Segoe UI"/>
              </a:defRPr>
            </a:pPr>
            <a:r>
              <a:rPr lang="de-DE" sz="2000" b="0">
                <a:latin typeface="Segoe UI"/>
              </a:rPr>
              <a:t>Vorfälle offen und lernorientiert besprechen, ohne Schuldzuweisung</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Requests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36: XSS erleben und beheben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36_sicherheit; Lastgenerator aus Übung 35 abschalten (LOAD_TEST_SIZE = 0)</a:t>
            </a:r>
          </a:p>
          <a:p>
            <a:pPr>
              <a:defRPr sz="2000" b="1">
                <a:latin typeface="Segoe UI"/>
              </a:defRPr>
            </a:pPr>
            <a:r>
              <a:rPr lang="de-DE" sz="2000" b="1">
                <a:latin typeface="Segoe UI"/>
              </a:rPr>
              <a:t>1. Customer erhält note?: string; der CustomerService setzt für Kunde 1 die Notiz</a:t>
            </a:r>
          </a:p>
          <a:p>
            <a:pPr lvl="1">
              <a:defRPr sz="1700" b="0">
                <a:latin typeface="Segoe UI"/>
              </a:defRPr>
            </a:pPr>
            <a:r>
              <a:rPr lang="de-DE" sz="1700" b="0">
                <a:latin typeface="Segoe UI"/>
              </a:rPr>
              <a:t>&lt;b&gt;wichtig&lt;/b&gt; &lt;img src=x onerror="alert('XSS')"&gt;  (Konstante, nur für die Übung)</a:t>
            </a:r>
          </a:p>
          <a:p>
            <a:pPr>
              <a:defRPr sz="2000" b="1">
                <a:latin typeface="Segoe UI"/>
              </a:defRPr>
            </a:pPr>
            <a:r>
              <a:rPr lang="de-DE" sz="2000" b="1">
                <a:latin typeface="Segoe UI"/>
              </a:rPr>
              <a:t>2. In CustomerDetailsComponent per Interpolation {{ c.note }} ausgeben: Was siehst du?</a:t>
            </a:r>
          </a:p>
          <a:p>
            <a:pPr>
              <a:defRPr sz="2000" b="1">
                <a:latin typeface="Segoe UI"/>
              </a:defRPr>
            </a:pPr>
            <a:r>
              <a:rPr lang="de-DE" sz="2000" b="1">
                <a:latin typeface="Segoe UI"/>
              </a:rPr>
              <a:t>3. Per [innerHTML] ausgeben und in den Entwicklertools (Elements) prüfen, was bleibt</a:t>
            </a:r>
          </a:p>
          <a:p>
            <a:pPr>
              <a:defRPr sz="2000" b="1">
                <a:latin typeface="Segoe UI"/>
              </a:defRPr>
            </a:pPr>
            <a:r>
              <a:rPr lang="de-DE" sz="2000" b="1">
                <a:latin typeface="Segoe UI"/>
              </a:rPr>
              <a:t>4. Gegenbeispiel mit bypassSecurityTrustHtml: Das alert erscheint</a:t>
            </a:r>
          </a:p>
          <a:p>
            <a:pPr lvl="1">
              <a:defRPr sz="1700" b="0">
                <a:latin typeface="Segoe UI"/>
              </a:defRPr>
            </a:pPr>
            <a:r>
              <a:rPr lang="de-DE" sz="1700" b="0">
                <a:latin typeface="Segoe UI"/>
              </a:rPr>
              <a:t>Nur in einer getrennten Demo-Komponente hinter einem Schalter; wann wäre es akzeptabel?</a:t>
            </a:r>
          </a:p>
          <a:p>
            <a:pPr>
              <a:defRPr sz="2000" b="1">
                <a:latin typeface="Segoe UI"/>
              </a:defRPr>
            </a:pPr>
            <a:r>
              <a:rPr lang="de-DE" sz="2000" b="1">
                <a:latin typeface="Segoe UI"/>
              </a:rPr>
              <a:t>Musterlösung: 36_sicherheit (baut auf 35_performance auf)</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36: XSS erleben und beheben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5. Login: returnUrl gegen eine Allowlist prüfen</a:t>
            </a:r>
          </a:p>
          <a:p>
            <a:pPr lvl="1">
              <a:defRPr sz="1700" b="0">
                <a:latin typeface="Segoe UI"/>
              </a:defRPr>
            </a:pPr>
            <a:r>
              <a:rPr lang="de-DE" sz="1700" b="0">
                <a:latin typeface="Segoe UI"/>
              </a:rPr>
              <a:t>Nur Pfade /customer oder /customer/…; absolute URLs und fremde Hosts verwerfen</a:t>
            </a:r>
          </a:p>
          <a:p>
            <a:pPr lvl="1">
              <a:defRPr sz="1700" b="0">
                <a:latin typeface="Segoe UI"/>
              </a:defRPr>
            </a:pPr>
            <a:r>
              <a:rPr lang="de-DE" sz="1700" b="0">
                <a:latin typeface="Segoe UI"/>
              </a:rPr>
              <a:t>Tipp: new URL(value, window.location.origin), dann origin und pathname prüfen</a:t>
            </a:r>
          </a:p>
          <a:p>
            <a:pPr>
              <a:defRPr sz="2000" b="1">
                <a:latin typeface="Segoe UI"/>
              </a:defRPr>
            </a:pPr>
            <a:r>
              <a:rPr lang="de-DE" sz="2000" b="1">
                <a:latin typeface="Segoe UI"/>
              </a:rPr>
              <a:t>6. loggingInterceptor darf Header wie Authorization nie ausgeben (Test oder Kommentar)</a:t>
            </a:r>
          </a:p>
          <a:p>
            <a:pPr>
              <a:defRPr sz="2000" b="1">
                <a:latin typeface="Segoe UI"/>
              </a:defRPr>
            </a:pPr>
            <a:r>
              <a:rPr lang="de-DE" sz="2000" b="1">
                <a:latin typeface="Segoe UI"/>
              </a:rPr>
              <a:t>7. Wo fließt ein Wert aus der Adresszeile in eine Request-URL? encodeURIComponent nutzen</a:t>
            </a:r>
          </a:p>
          <a:p>
            <a:pPr>
              <a:defRPr sz="2000" b="1">
                <a:latin typeface="Segoe UI"/>
              </a:defRPr>
            </a:pPr>
            <a:r>
              <a:rPr lang="de-DE" sz="2000" b="1">
                <a:latin typeface="Segoe UI"/>
              </a:rPr>
              <a:t>8. Review-Checkliste (material/review-checkliste.md) für die ganze App durchgehen</a:t>
            </a:r>
          </a:p>
          <a:p>
            <a:pPr lvl="1">
              <a:defRPr sz="1700" b="0">
                <a:latin typeface="Segoe UI"/>
              </a:defRPr>
            </a:pPr>
            <a:r>
              <a:rPr lang="de-DE" sz="1700" b="0">
                <a:latin typeface="Segoe UI"/>
              </a:rPr>
              <a:t>Funde in der Tabelle dokumentieren</a:t>
            </a:r>
          </a:p>
          <a:p>
            <a:pPr>
              <a:defRPr sz="2000" b="1">
                <a:latin typeface="Segoe UI"/>
              </a:defRPr>
            </a:pPr>
            <a:r>
              <a:rPr lang="de-DE" sz="2000" b="1">
                <a:latin typeface="Segoe UI"/>
              </a:rPr>
              <a:t>Musterlösung: 36_sicherheit (baut auf 35_performance auf)</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Anhang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node.js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node.js?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Laufzeitumgebung für JavaScript außerhalb des Browsers</a:t>
            </a:r>
          </a:p>
          <a:p>
            <a:pPr>
              <a:defRPr sz="2000" b="0">
                <a:latin typeface="Segoe UI"/>
              </a:defRPr>
            </a:pPr>
            <a:r>
              <a:rPr lang="de-DE" sz="2000" b="0">
                <a:latin typeface="Segoe UI"/>
              </a:rPr>
              <a:t>Kern: Google V8 – dieselbe JavaScript-Engine wie in Chrome</a:t>
            </a:r>
          </a:p>
          <a:p>
            <a:pPr>
              <a:defRPr sz="2000" b="0">
                <a:latin typeface="Segoe UI"/>
              </a:defRPr>
            </a:pPr>
            <a:r>
              <a:rPr lang="de-DE" sz="2000" b="0">
                <a:latin typeface="Segoe UI"/>
              </a:rPr>
              <a:t>libuv: Event Loop und Thread-Pool für Dateien, Netzwerk, Timer</a:t>
            </a:r>
          </a:p>
          <a:p>
            <a:pPr>
              <a:defRPr sz="2000" b="0">
                <a:latin typeface="Segoe UI"/>
              </a:defRPr>
            </a:pPr>
            <a:r>
              <a:rPr lang="de-DE" sz="2000" b="0">
                <a:latin typeface="Segoe UI"/>
              </a:rPr>
              <a:t>Eigene Bibliotheken (Module): fs, http, path, crypto, …</a:t>
            </a:r>
          </a:p>
          <a:p>
            <a:pPr>
              <a:defRPr sz="2000" b="0">
                <a:latin typeface="Segoe UI"/>
              </a:defRPr>
            </a:pPr>
            <a:r>
              <a:rPr lang="de-DE" sz="2000" b="0">
                <a:latin typeface="Segoe UI"/>
              </a:rPr>
              <a:t>Einsatz: Server, Kommandozeilen-Werkzeuge, Build-Tools</a:t>
            </a:r>
          </a:p>
          <a:p>
            <a:pPr>
              <a:defRPr sz="2000" b="0">
                <a:latin typeface="Segoe UI"/>
              </a:defRPr>
            </a:pPr>
            <a:r>
              <a:rPr lang="de-DE" sz="2000" b="0">
                <a:latin typeface="Segoe UI"/>
              </a:rPr>
              <a:t>Doku: nodejs.org/docs</a:t>
            </a:r>
          </a:p>
        </p:txBody>
      </p:sp>
      <p:sp>
        <p:nvSpPr>
          <p:cNvPr id="4" name="Rounded Rectangle 3"/>
          <p:cNvSpPr/>
          <p:nvPr/>
        </p:nvSpPr>
        <p:spPr>
          <a:xfrm>
            <a:off x="7000000" y="1850000"/>
            <a:ext cx="4350000" cy="798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Dein JavaScript-Code</a:t>
            </a:r>
          </a:p>
        </p:txBody>
      </p:sp>
      <p:sp>
        <p:nvSpPr>
          <p:cNvPr id="5" name="Rounded Rectangle 4"/>
          <p:cNvSpPr/>
          <p:nvPr/>
        </p:nvSpPr>
        <p:spPr>
          <a:xfrm>
            <a:off x="7000000" y="2738000"/>
            <a:ext cx="4350000" cy="798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node-Module</a:t>
            </a:r>
          </a:p>
          <a:p>
            <a:pPr algn="ctr"/>
            <a:r>
              <a:rPr sz="1700" b="1">
                <a:solidFill>
                  <a:srgbClr val="FFFFFF"/>
                </a:solidFill>
                <a:latin typeface="Segoe UI"/>
              </a:rPr>
              <a:t>fs, http, path, …</a:t>
            </a:r>
          </a:p>
        </p:txBody>
      </p:sp>
      <p:sp>
        <p:nvSpPr>
          <p:cNvPr id="6" name="Rounded Rectangle 5"/>
          <p:cNvSpPr/>
          <p:nvPr/>
        </p:nvSpPr>
        <p:spPr>
          <a:xfrm>
            <a:off x="7000000" y="3626000"/>
            <a:ext cx="4350000" cy="798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libuv</a:t>
            </a:r>
          </a:p>
          <a:p>
            <a:pPr algn="ctr"/>
            <a:r>
              <a:rPr sz="1700" b="0">
                <a:solidFill>
                  <a:srgbClr val="2B3A42"/>
                </a:solidFill>
                <a:latin typeface="Segoe UI"/>
              </a:rPr>
              <a:t>Event Loop, Thread-Pool</a:t>
            </a:r>
          </a:p>
        </p:txBody>
      </p:sp>
      <p:sp>
        <p:nvSpPr>
          <p:cNvPr id="7" name="Rounded Rectangle 6"/>
          <p:cNvSpPr/>
          <p:nvPr/>
        </p:nvSpPr>
        <p:spPr>
          <a:xfrm>
            <a:off x="7000000" y="4514000"/>
            <a:ext cx="4350000" cy="798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V8-Engine</a:t>
            </a:r>
          </a:p>
          <a:p>
            <a:pPr algn="ctr"/>
            <a:r>
              <a:rPr sz="1700" b="0">
                <a:solidFill>
                  <a:srgbClr val="2B3A42"/>
                </a:solidFill>
                <a:latin typeface="Segoe UI"/>
              </a:rPr>
              <a:t>führt JavaScript aus</a:t>
            </a:r>
          </a:p>
        </p:txBody>
      </p:sp>
      <p:sp>
        <p:nvSpPr>
          <p:cNvPr id="8" name="Rounded Rectangle 7"/>
          <p:cNvSpPr/>
          <p:nvPr/>
        </p:nvSpPr>
        <p:spPr>
          <a:xfrm>
            <a:off x="7000000" y="5402000"/>
            <a:ext cx="4350000" cy="798000"/>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Betriebssystem</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node.js und Browser im Vergleich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Gleiche Sprache, andere Umgebung</a:t>
            </a:r>
          </a:p>
          <a:p>
            <a:pPr>
              <a:defRPr sz="2000" b="0">
                <a:latin typeface="Segoe UI"/>
              </a:defRPr>
            </a:pPr>
            <a:r>
              <a:rPr lang="de-DE" sz="2000" b="0">
                <a:latin typeface="Segoe UI"/>
              </a:rPr>
              <a:t>node.js hat kein Fenster, kein HTML-Dokument, kein DOM</a:t>
            </a:r>
          </a:p>
          <a:p>
            <a:pPr>
              <a:defRPr sz="2000" b="0">
                <a:latin typeface="Segoe UI"/>
              </a:defRPr>
            </a:pPr>
            <a:r>
              <a:rPr lang="de-DE" sz="2000" b="0">
                <a:latin typeface="Segoe UI"/>
              </a:rPr>
              <a:t>Keine Browser-APIs wie window, document, localStorage</a:t>
            </a:r>
          </a:p>
          <a:p>
            <a:pPr>
              <a:defRPr sz="2000" b="0">
                <a:latin typeface="Segoe UI"/>
              </a:defRPr>
            </a:pPr>
            <a:r>
              <a:rPr lang="de-DE" sz="2000" b="0">
                <a:latin typeface="Segoe UI"/>
              </a:rPr>
              <a:t>Dafür Zugriff auf Dateien, Prozesse, Netzwerk-Ports</a:t>
            </a:r>
          </a:p>
          <a:p>
            <a:pPr>
              <a:defRPr sz="2000" b="0">
                <a:latin typeface="Segoe UI"/>
              </a:defRPr>
            </a:pPr>
            <a:r>
              <a:rPr lang="de-DE" sz="2000" b="0">
                <a:latin typeface="Segoe UI"/>
              </a:rPr>
              <a:t>Gemeinsam: console, setTimeout, fetch, Promise, JSON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DOM, window, document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Benutzer-Ereignisse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Sandbox: kein Dateizugriff</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node.js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DOM, keine Oberfläche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Dateien, Prozesse, Ports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Module: fs, http, path</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Nicht blockierendes I/O</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I/O = Ein- und Ausgabe: Datei lesen, Netzwerk, Datenbank</a:t>
            </a:r>
          </a:p>
          <a:p>
            <a:pPr>
              <a:defRPr sz="2000" b="0">
                <a:latin typeface="Segoe UI"/>
              </a:defRPr>
            </a:pPr>
            <a:r>
              <a:rPr lang="de-DE" sz="2000" b="0">
                <a:latin typeface="Segoe UI"/>
              </a:rPr>
              <a:t>Blockierend: Programm wartet, bis die Daten da sind</a:t>
            </a:r>
          </a:p>
          <a:p>
            <a:pPr>
              <a:defRPr sz="2000" b="0">
                <a:latin typeface="Segoe UI"/>
              </a:defRPr>
            </a:pPr>
            <a:r>
              <a:rPr lang="de-DE" sz="2000" b="0">
                <a:latin typeface="Segoe UI"/>
              </a:rPr>
              <a:t>Nicht blockierend: Auftrag abgeben, sofort weiterarbeiten</a:t>
            </a:r>
          </a:p>
          <a:p>
            <a:pPr>
              <a:defRPr sz="2000" b="0">
                <a:latin typeface="Segoe UI"/>
              </a:defRPr>
            </a:pPr>
            <a:r>
              <a:rPr lang="de-DE" sz="2000" b="0">
                <a:latin typeface="Segoe UI"/>
              </a:rPr>
              <a:t>Ergebnis kommt später über einen Callback oder ein Promise</a:t>
            </a:r>
          </a:p>
          <a:p>
            <a:pPr>
              <a:defRPr sz="2000" b="0">
                <a:latin typeface="Segoe UI"/>
              </a:defRPr>
            </a:pPr>
            <a:r>
              <a:rPr lang="de-DE" sz="2000" b="0">
                <a:latin typeface="Segoe UI"/>
              </a:rPr>
              <a:t>Ein JavaScript-Thread bedient so viele Anfragen gleichzeitig</a:t>
            </a:r>
          </a:p>
          <a:p>
            <a:pPr>
              <a:defRPr sz="2000" b="0">
                <a:latin typeface="Segoe UI"/>
              </a:defRPr>
            </a:pPr>
            <a:r>
              <a:rPr lang="de-DE" sz="2000" b="0">
                <a:latin typeface="Segoe UI"/>
              </a:rPr>
              <a:t>Rechenintensive Aufgaben blockieren dagegen alles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Blockierend</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readFileSync()</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wartet auf die Datei</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nichts anderes läuft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Nicht blockierend</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readFile(…, callback)</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läuft sofort weiter</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Callback bei Ergebnis</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Event Loop: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Code läuft von oben nach unten durch</a:t>
            </a:r>
          </a:p>
          <a:p>
            <a:pPr>
              <a:defRPr sz="2000" b="0">
                <a:latin typeface="Segoe UI"/>
              </a:defRPr>
            </a:pPr>
            <a:r>
              <a:rPr lang="de-DE" sz="2000" b="0">
                <a:latin typeface="Segoe UI"/>
              </a:rPr>
              <a:t>2. Asynchrone Aufträge gehen an libuv bzw. das Betriebssystem</a:t>
            </a:r>
          </a:p>
          <a:p>
            <a:pPr>
              <a:defRPr sz="2000" b="0">
                <a:latin typeface="Segoe UI"/>
              </a:defRPr>
            </a:pPr>
            <a:r>
              <a:rPr lang="de-DE" sz="2000" b="0">
                <a:latin typeface="Segoe UI"/>
              </a:rPr>
              <a:t>3. Fertige Aufträge landen in einer Warteschlange</a:t>
            </a:r>
          </a:p>
          <a:p>
            <a:pPr>
              <a:defRPr sz="2000" b="0">
                <a:latin typeface="Segoe UI"/>
              </a:defRPr>
            </a:pPr>
            <a:r>
              <a:rPr lang="de-DE" sz="2000" b="0">
                <a:latin typeface="Segoe UI"/>
              </a:rPr>
              <a:t>4. Ist der Stapel leer, holt die Event Loop den nächsten Callback</a:t>
            </a:r>
          </a:p>
          <a:p>
            <a:pPr>
              <a:defRPr sz="2000" b="0">
                <a:latin typeface="Segoe UI"/>
              </a:defRPr>
            </a:pPr>
            <a:r>
              <a:rPr lang="de-DE" sz="2000" b="0">
                <a:latin typeface="Segoe UI"/>
              </a:rPr>
              <a:t>5. Der Callback läuft vollständig, dann der nächste</a:t>
            </a:r>
          </a:p>
          <a:p>
            <a:pPr>
              <a:defRPr sz="2000" b="0">
                <a:latin typeface="Segoe UI"/>
              </a:defRPr>
            </a:pPr>
            <a:r>
              <a:rPr lang="de-DE" sz="2000" b="0">
                <a:latin typeface="Segoe UI"/>
              </a:rPr>
              <a:t>Programm endet, wenn nichts mehr aussteht</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Code ausführen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Auftrag an libuv / OS</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Fertig: Callback in Queue</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Event Loop holt Callback</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Datei asynchron lesen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lesen.js – starten mit: node lesen.js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fs = require('node:fs');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console.log('1: Auftrag wird abgegeben');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fs.readFile('daten.txt', 'utf8', (err, inhalt)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(err)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console.error('Fehler beim Lesen:', err.message);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console.log('3: Datei gelesen, Länge:', inhalt.length);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console.log('2: Programm läuft weiter');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Ausgabe: 1, 2, 3 – der Callback kommt erst später dran</a:t>
            </a:r>
            <a:endParaRPr lang="de-DE" sz="1600" b="0" u="none" strike="noStrike">
              <a:solidFill>
                <a:srgbClr val="000000"/>
              </a:solidFill>
              <a:uFillTx/>
              <a:latin typeface="Arial"/>
            </a:endParaRP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Callback: wer ruft wann was 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Wir übergeben die Funktion, node.js ruft sie auf</a:t>
            </a:r>
          </a:p>
          <a:p>
            <a:pPr>
              <a:defRPr sz="2000" b="0">
                <a:latin typeface="Segoe UI"/>
              </a:defRPr>
            </a:pPr>
            <a:r>
              <a:rPr lang="de-DE" sz="2000" b="0">
                <a:latin typeface="Segoe UI"/>
              </a:rPr>
              <a:t>Zeitpunkt: wenn die Datei gelesen ist – nicht sofort</a:t>
            </a:r>
          </a:p>
          <a:p>
            <a:pPr>
              <a:defRPr sz="2000" b="0">
                <a:latin typeface="Segoe UI"/>
              </a:defRPr>
            </a:pPr>
            <a:r>
              <a:rPr lang="de-DE" sz="2000" b="0">
                <a:latin typeface="Segoe UI"/>
              </a:rPr>
              <a:t>1. Parameter err: Fehlerobjekt oder null</a:t>
            </a:r>
          </a:p>
          <a:p>
            <a:pPr>
              <a:defRPr sz="2000" b="0">
                <a:latin typeface="Segoe UI"/>
              </a:defRPr>
            </a:pPr>
            <a:r>
              <a:rPr lang="de-DE" sz="2000" b="0">
                <a:latin typeface="Segoe UI"/>
              </a:rPr>
              <a:t>2. Parameter inhalt: die Daten (hier ein String)</a:t>
            </a:r>
          </a:p>
          <a:p>
            <a:pPr>
              <a:defRPr sz="2000" b="0">
                <a:latin typeface="Segoe UI"/>
              </a:defRPr>
            </a:pPr>
            <a:r>
              <a:rPr lang="de-DE" sz="2000" b="0">
                <a:latin typeface="Segoe UI"/>
              </a:rPr>
              <a:t>Regel „error first“: immer zuerst err prüfen</a:t>
            </a:r>
          </a:p>
          <a:p>
            <a:pPr>
              <a:defRPr sz="2000" b="0">
                <a:latin typeface="Segoe UI"/>
              </a:defRPr>
            </a:pPr>
            <a:r>
              <a:rPr lang="de-DE" sz="2000" b="0">
                <a:latin typeface="Segoe UI"/>
              </a:rPr>
              <a:t>Rückgabewert des Callbacks wird ignoriert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Wir: readFile(name, cb)</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 liest im Hintergrund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 cb(err, inhalt)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 err prüfen, Daten nutzen</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readFile im Ablauf mit Event Loop</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Callback läuft erst, wenn die Event Loop ihn holt – nie mitten im laufenden Code</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lesen.js</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node:fs</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Betriebssystem</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Event Loop</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4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532350" y="24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172350" y="26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582350" y="231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1. log('1: …')</a:t>
            </a:r>
          </a:p>
        </p:txBody>
      </p:sp>
      <p:cxnSp>
        <p:nvCxnSpPr>
          <p:cNvPr id="16" name="Connector 15"/>
          <p:cNvCxnSpPr/>
          <p:nvPr/>
        </p:nvCxnSpPr>
        <p:spPr>
          <a:xfrm>
            <a:off x="2152350" y="31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95215" y="27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readFile('daten.txt', 'utf8', cb)</a:t>
            </a:r>
          </a:p>
        </p:txBody>
      </p:sp>
      <p:cxnSp>
        <p:nvCxnSpPr>
          <p:cNvPr id="18" name="Connector 17"/>
          <p:cNvCxnSpPr/>
          <p:nvPr/>
        </p:nvCxnSpPr>
        <p:spPr>
          <a:xfrm>
            <a:off x="4780890" y="35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2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Datei im Hintergrund lesen</a:t>
            </a:r>
          </a:p>
        </p:txBody>
      </p:sp>
      <p:cxnSp>
        <p:nvCxnSpPr>
          <p:cNvPr id="20" name="Connector 19"/>
          <p:cNvCxnSpPr/>
          <p:nvPr/>
        </p:nvCxnSpPr>
        <p:spPr>
          <a:xfrm flipH="1">
            <a:off x="2172350" y="400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95215" y="365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4. kehrt sofort zurück</a:t>
            </a:r>
          </a:p>
        </p:txBody>
      </p:sp>
      <p:cxnSp>
        <p:nvCxnSpPr>
          <p:cNvPr id="22" name="Connector 21"/>
          <p:cNvCxnSpPr/>
          <p:nvPr/>
        </p:nvCxnSpPr>
        <p:spPr>
          <a:xfrm>
            <a:off x="2152350" y="42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532350" y="42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72350" y="44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582350" y="411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5. log('2: …')</a:t>
            </a:r>
          </a:p>
        </p:txBody>
      </p:sp>
      <p:cxnSp>
        <p:nvCxnSpPr>
          <p:cNvPr id="26" name="Connector 25"/>
          <p:cNvCxnSpPr/>
          <p:nvPr/>
        </p:nvCxnSpPr>
        <p:spPr>
          <a:xfrm>
            <a:off x="7409430" y="49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2295" y="45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6. fertig: Ereignis in die Warteschlange</a:t>
            </a:r>
          </a:p>
        </p:txBody>
      </p:sp>
      <p:cxnSp>
        <p:nvCxnSpPr>
          <p:cNvPr id="28" name="Connector 27"/>
          <p:cNvCxnSpPr/>
          <p:nvPr/>
        </p:nvCxnSpPr>
        <p:spPr>
          <a:xfrm flipH="1">
            <a:off x="2172350" y="535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182350" y="500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7. cb(null, inhalt)</a:t>
            </a:r>
          </a:p>
        </p:txBody>
      </p:sp>
      <p:cxnSp>
        <p:nvCxnSpPr>
          <p:cNvPr id="30" name="Connector 29"/>
          <p:cNvCxnSpPr/>
          <p:nvPr/>
        </p:nvCxnSpPr>
        <p:spPr>
          <a:xfrm>
            <a:off x="2152350" y="56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532350" y="56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2172350" y="58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582350" y="546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8. log('3: …')</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Dasselbe mit Promise und await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lesen.mjs – ES-Modul, starten mit: node lesen.mjs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readFile } from 'node:fs/promises';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try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inhalt = await readFile('daten.txt', 'utf8');</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console.log('Datei gelesen, Länge:', inhalt.length);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catch (err)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console.error('Fehler beim Lesen:', err.message);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readFile liefert hier ein Promise statt einen Callback zu erwarten.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await wartet auf das Ergebnis, ohne node.js zu blockieren.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Fehler kommen als Exception und landen im catch-Block.</a:t>
            </a:r>
            <a:endParaRPr lang="de-DE" sz="1800" b="0" u="none" strike="noStrike">
              <a:solidFill>
                <a:srgbClr val="000000"/>
              </a:solidFill>
              <a:uFillTx/>
              <a:latin typeface="Arial"/>
            </a:endParaRP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server.js – starten mit: node server.js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http = require('node:http');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server = http.createServer((req, res)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(req.method === 'GET' &amp;&amp; req.url === '/api/hallo')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res.writeHead(200, { 'Content-Type': 'application/json'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res.end(JSON.stringify({ text: 'Hallo von node.js'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else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res.writeHead(404, { 'Content-Type': 'text/plain; charset=utf-8'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res.end('Nicht gefunden');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server.listen(6061, '127.0.0.1',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console.log('Server läuft auf http://127.0.0.1:6061');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HTTP-Server: was bei einer Anfrage passiert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createServer(handler) registriert den Handler, ruft ihn noch nicht auf</a:t>
            </a:r>
          </a:p>
          <a:p>
            <a:pPr>
              <a:defRPr sz="2000" b="0">
                <a:latin typeface="Segoe UI"/>
              </a:defRPr>
            </a:pPr>
            <a:r>
              <a:rPr lang="de-DE" sz="2000" b="0">
                <a:latin typeface="Segoe UI"/>
              </a:rPr>
              <a:t>listen() öffnet den Port, das Programm läuft dauerhaft</a:t>
            </a:r>
          </a:p>
          <a:p>
            <a:pPr>
              <a:defRPr sz="2000" b="0">
                <a:latin typeface="Segoe UI"/>
              </a:defRPr>
            </a:pPr>
            <a:r>
              <a:rPr lang="de-DE" sz="2000" b="0">
                <a:latin typeface="Segoe UI"/>
              </a:rPr>
              <a:t>Pro Anfrage ruft node.js handler(req, res) auf</a:t>
            </a:r>
          </a:p>
          <a:p>
            <a:pPr>
              <a:defRPr sz="2000" b="0">
                <a:latin typeface="Segoe UI"/>
              </a:defRPr>
            </a:pPr>
            <a:r>
              <a:rPr lang="de-DE" sz="2000" b="0">
                <a:latin typeface="Segoe UI"/>
              </a:rPr>
              <a:t>Der Handler wertet req aus und schreibt in res</a:t>
            </a:r>
          </a:p>
          <a:p>
            <a:pPr>
              <a:defRPr sz="2000" b="0">
                <a:latin typeface="Segoe UI"/>
              </a:defRPr>
            </a:pPr>
            <a:r>
              <a:rPr lang="de-DE" sz="2000" b="0">
                <a:latin typeface="Segoe UI"/>
              </a:rPr>
              <a:t>res.end() schickt die Antwort ab – Pflicht!</a:t>
            </a:r>
          </a:p>
          <a:p>
            <a:pPr>
              <a:defRPr sz="2000" b="0">
                <a:latin typeface="Segoe UI"/>
              </a:defRPr>
            </a:pPr>
            <a:r>
              <a:rPr lang="de-DE" sz="2000" b="0">
                <a:latin typeface="Segoe UI"/>
              </a:rPr>
              <a:t>Callback von listen(): einmal, wenn der Server bereit ist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 GET /api/hallo</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node.js: handler(req, res)</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Handler: req lesen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res.end(Antwort)</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 zeigt Antwort</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Parameter req und res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req (IncomingMessage) – die Anfrage, nur lesen</a:t>
            </a:r>
          </a:p>
          <a:p>
            <a:pPr lvl="1">
              <a:defRPr sz="1700" b="0">
                <a:latin typeface="Segoe UI"/>
              </a:defRPr>
            </a:pPr>
            <a:r>
              <a:rPr lang="de-DE" sz="1700" b="0">
                <a:latin typeface="Segoe UI"/>
              </a:rPr>
              <a:t>req.method: GET, POST, …   req.url: Pfad mit Query</a:t>
            </a:r>
          </a:p>
          <a:p>
            <a:pPr lvl="1">
              <a:defRPr sz="1700" b="0">
                <a:latin typeface="Segoe UI"/>
              </a:defRPr>
            </a:pPr>
            <a:r>
              <a:rPr lang="de-DE" sz="1700" b="0">
                <a:latin typeface="Segoe UI"/>
              </a:rPr>
              <a:t>req.headers: Kopfzeilen; Body kommt als Stream</a:t>
            </a:r>
          </a:p>
          <a:p>
            <a:pPr>
              <a:defRPr sz="2000" b="0">
                <a:latin typeface="Segoe UI"/>
              </a:defRPr>
            </a:pPr>
            <a:r>
              <a:rPr lang="de-DE" sz="2000" b="0">
                <a:latin typeface="Segoe UI"/>
              </a:rPr>
              <a:t>res (ServerResponse) – die Antwort, wird befüllt</a:t>
            </a:r>
          </a:p>
          <a:p>
            <a:pPr lvl="1">
              <a:defRPr sz="1700" b="0">
                <a:latin typeface="Segoe UI"/>
              </a:defRPr>
            </a:pPr>
            <a:r>
              <a:rPr lang="de-DE" sz="1700" b="0">
                <a:latin typeface="Segoe UI"/>
              </a:rPr>
              <a:t>res.writeHead(status, headers) oder res.statusCode / setHeader()</a:t>
            </a:r>
          </a:p>
          <a:p>
            <a:pPr lvl="1">
              <a:defRPr sz="1700" b="0">
                <a:latin typeface="Segoe UI"/>
              </a:defRPr>
            </a:pPr>
            <a:r>
              <a:rPr lang="de-DE" sz="1700" b="0">
                <a:latin typeface="Segoe UI"/>
              </a:rPr>
              <a:t>res.write(teil): Daten senden, beliebig oft</a:t>
            </a:r>
          </a:p>
          <a:p>
            <a:pPr lvl="1">
              <a:defRPr sz="1700" b="0">
                <a:latin typeface="Segoe UI"/>
              </a:defRPr>
            </a:pPr>
            <a:r>
              <a:rPr lang="de-DE" sz="1700" b="0">
                <a:latin typeface="Segoe UI"/>
              </a:rPr>
              <a:t>res.end(letzterTeil?): Antwort abschließen, genau einmal</a:t>
            </a:r>
          </a:p>
          <a:p>
            <a:pPr>
              <a:defRPr sz="2000" b="0">
                <a:latin typeface="Segoe UI"/>
              </a:defRPr>
            </a:pPr>
            <a:r>
              <a:rPr lang="de-DE" sz="2000" b="0">
                <a:latin typeface="Segoe UI"/>
              </a:rPr>
              <a:t>Für jede Anfrage gibt es ein neues Paar req / res</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Statische Dateien ausliefern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http = require('node:http');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fs = require('node:fs');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path = require('node:path');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ROOT = path.join(__dirname, 'static-content');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TYPES = { '.html': 'text/html', '.css': 'text/css',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'.js': 'text/javascript'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http.createServer((req, res)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name = path.basename(req.url) || 'index.html'; // kein ../ möglich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datei = path.join(ROOT,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typ = TYPES[path.extname(datei)] ?? 'text/plain';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stream = fs.createReadStream(datei);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stream.on('open', () =&gt; res.writeHead(200, { 'Content-Type': typ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stream.on('error', () =&gt; { res.writeHead(404); res.end();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stream.pipe(res);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}).listen(6061, '127.0.0.1');</a:t>
            </a:r>
            <a:endParaRPr lang="de-DE" sz="1600" b="0" u="none" strike="noStrike">
              <a:solidFill>
                <a:srgbClr val="000000"/>
              </a:solidFill>
              <a:uFillTx/>
              <a:latin typeface="Arial"/>
            </a:endParaRP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Streams, pipe und Frameworks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Stream: Daten kommen in Stücken, nicht alles auf einmal</a:t>
            </a:r>
          </a:p>
          <a:p>
            <a:pPr>
              <a:defRPr sz="2000" b="0">
                <a:latin typeface="Segoe UI"/>
              </a:defRPr>
            </a:pPr>
            <a:r>
              <a:rPr lang="de-DE" sz="2000" b="0">
                <a:latin typeface="Segoe UI"/>
              </a:rPr>
              <a:t>pipe() leitet Lese-Stream in Schreib-Stream (hier: res)</a:t>
            </a:r>
          </a:p>
          <a:p>
            <a:pPr>
              <a:defRPr sz="2000" b="0">
                <a:latin typeface="Segoe UI"/>
              </a:defRPr>
            </a:pPr>
            <a:r>
              <a:rPr lang="de-DE" sz="2000" b="0">
                <a:latin typeface="Segoe UI"/>
              </a:rPr>
              <a:t>Vorteil: wenig Speicher, auch bei großen Dateien</a:t>
            </a:r>
          </a:p>
          <a:p>
            <a:pPr>
              <a:defRPr sz="2000" b="0">
                <a:latin typeface="Segoe UI"/>
              </a:defRPr>
            </a:pPr>
            <a:r>
              <a:rPr lang="de-DE" sz="2000" b="0">
                <a:latin typeface="Segoe UI"/>
              </a:rPr>
              <a:t>Sicherheit: Pfade aus der URL nie ungeprüft verwenden</a:t>
            </a:r>
          </a:p>
          <a:p>
            <a:pPr>
              <a:defRPr sz="2000" b="0">
                <a:latin typeface="Segoe UI"/>
              </a:defRPr>
            </a:pPr>
            <a:r>
              <a:rPr lang="de-DE" sz="2000" b="0">
                <a:latin typeface="Segoe UI"/>
              </a:rPr>
              <a:t>In der Praxis: Framework wie Express statt reinem http</a:t>
            </a:r>
          </a:p>
          <a:p>
            <a:pPr>
              <a:defRPr sz="2000" b="0">
                <a:latin typeface="Segoe UI"/>
              </a:defRPr>
            </a:pPr>
            <a:r>
              <a:rPr lang="de-DE" sz="2000" b="0">
                <a:latin typeface="Segoe UI"/>
              </a:rPr>
              <a:t>Unser Kurs-Backend server/server.js nutzt Express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Express (Kurs-Backend)</a:t>
            </a:r>
          </a:p>
        </p:txBody>
      </p:sp>
      <p:sp>
        <p:nvSpPr>
          <p:cNvPr id="5" name="Rectangle 4"/>
          <p:cNvSpPr/>
          <p:nvPr/>
        </p:nvSpPr>
        <p:spPr>
          <a:xfrm>
            <a:off x="7000000" y="2230000"/>
            <a:ext cx="4350000" cy="200308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express = require('express');</a:t>
            </a:r>
          </a:p>
          <a:p>
            <a:pPr algn="l"/>
            <a:r>
              <a:rPr sz="1300" b="0">
                <a:solidFill>
                  <a:srgbClr val="2B3A42"/>
                </a:solidFill>
                <a:latin typeface="Consolas"/>
              </a:rPr>
              <a:t>const app = express();</a:t>
            </a:r>
          </a:p>
          <a:p>
            <a:pPr algn="l"/>
            <a:r>
              <a:rPr sz="1300" b="0">
                <a:solidFill>
                  <a:srgbClr val="2B3A42"/>
                </a:solidFill>
                <a:latin typeface="Consolas"/>
              </a:rPr>
              <a:t/>
            </a:r>
          </a:p>
          <a:p>
            <a:pPr algn="l"/>
            <a:r>
              <a:rPr sz="1300" b="0">
                <a:solidFill>
                  <a:srgbClr val="2B3A42"/>
                </a:solidFill>
                <a:latin typeface="Consolas"/>
              </a:rPr>
              <a:t>app.get('/api/pigs', (req, res) =&gt; {</a:t>
            </a:r>
          </a:p>
          <a:p>
            <a:pPr algn="l"/>
            <a:r>
              <a:rPr sz="1300" b="0">
                <a:solidFill>
                  <a:srgbClr val="2B3A42"/>
                </a:solidFill>
                <a:latin typeface="Consolas"/>
              </a:rPr>
              <a:t>  res.send({ data: pigArray });</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app.listen(3000);</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Das Kurs-Backend im Zusammenspiel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Terminal 1: cd server, npm install, node server.js</a:t>
            </a:r>
          </a:p>
          <a:p>
            <a:pPr lvl="1">
              <a:defRPr sz="1700" b="0">
                <a:latin typeface="Segoe UI"/>
              </a:defRPr>
            </a:pPr>
            <a:r>
              <a:rPr lang="de-DE" sz="1700" b="0">
                <a:latin typeface="Segoe UI"/>
              </a:rPr>
              <a:t>Express-Server auf Port 3000, Daten unter /api/…</a:t>
            </a:r>
          </a:p>
          <a:p>
            <a:pPr>
              <a:defRPr sz="2000" b="0">
                <a:latin typeface="Segoe UI"/>
              </a:defRPr>
            </a:pPr>
            <a:r>
              <a:rPr lang="de-DE" sz="2000" b="0">
                <a:latin typeface="Segoe UI"/>
              </a:rPr>
              <a:t>Terminal 2: ng serve --proxy-config dev.proxy.json</a:t>
            </a:r>
          </a:p>
          <a:p>
            <a:pPr lvl="1">
              <a:defRPr sz="1700" b="0">
                <a:latin typeface="Segoe UI"/>
              </a:defRPr>
            </a:pPr>
            <a:r>
              <a:rPr lang="de-DE" sz="1700" b="0">
                <a:latin typeface="Segoe UI"/>
              </a:rPr>
              <a:t>Dev-Server auf Port 4200, liefert die Angular-App</a:t>
            </a:r>
          </a:p>
          <a:p>
            <a:pPr>
              <a:defRPr sz="2000" b="0">
                <a:latin typeface="Segoe UI"/>
              </a:defRPr>
            </a:pPr>
            <a:r>
              <a:rPr lang="de-DE" sz="2000" b="0">
                <a:latin typeface="Segoe UI"/>
              </a:rPr>
              <a:t>Browser fragt nur Port 4200 an</a:t>
            </a:r>
          </a:p>
          <a:p>
            <a:pPr>
              <a:defRPr sz="2000" b="0">
                <a:latin typeface="Segoe UI"/>
              </a:defRPr>
            </a:pPr>
            <a:r>
              <a:rPr lang="de-DE" sz="2000" b="0">
                <a:latin typeface="Segoe UI"/>
              </a:rPr>
              <a:t>Proxy leitet /api/… an Port 3000 weiter</a:t>
            </a:r>
          </a:p>
          <a:p>
            <a:pPr>
              <a:defRPr sz="2000" b="0">
                <a:latin typeface="Segoe UI"/>
              </a:defRPr>
            </a:pPr>
            <a:r>
              <a:rPr lang="de-DE" sz="2000" b="0">
                <a:latin typeface="Segoe UI"/>
              </a:rPr>
              <a:t>Zwei node-Prozesse laufen gleichzeitig</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serve :4200</a:t>
            </a:r>
          </a:p>
          <a:p>
            <a:pPr algn="ctr"/>
            <a:r>
              <a:rPr sz="1700" b="0">
                <a:solidFill>
                  <a:srgbClr val="2B3A42"/>
                </a:solidFill>
                <a:latin typeface="Segoe UI"/>
              </a:rPr>
              <a:t>(Proxy für /api)</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 server.js :3000</a:t>
            </a:r>
          </a:p>
          <a:p>
            <a:pPr algn="ctr"/>
            <a:r>
              <a:rPr sz="1700" b="0">
                <a:solidFill>
                  <a:srgbClr val="2B3A42"/>
                </a:solidFill>
                <a:latin typeface="Segoe UI"/>
              </a:rPr>
              <a:t>(Express)</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dev.proxy.json: /api → localhost:3000</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Eine API-Anfrage über den Proxy im Ablauf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Browser spricht nur mit Port 4200 – den Weg zu Port 3000 übernimmt der Proxy</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CustomerService</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ng serve :4200</a:t>
            </a:r>
          </a:p>
          <a:p>
            <a:pPr algn="ctr"/>
            <a:r>
              <a:rPr sz="1600" b="1">
                <a:solidFill>
                  <a:srgbClr val="FFFFFF"/>
                </a:solidFill>
                <a:latin typeface="Segoe UI"/>
              </a:rPr>
              <a:t>(Proxy)</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server.js :3000</a:t>
            </a:r>
          </a:p>
          <a:p>
            <a:pPr algn="ctr"/>
            <a:r>
              <a:rPr sz="1600" b="1">
                <a:solidFill>
                  <a:srgbClr val="FFFFFF"/>
                </a:solidFill>
                <a:latin typeface="Segoe UI"/>
              </a:rPr>
              <a:t>(Express)</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0890" y="26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23755" y="22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GET localhost:4200/</a:t>
            </a:r>
          </a:p>
        </p:txBody>
      </p:sp>
      <p:cxnSp>
        <p:nvCxnSpPr>
          <p:cNvPr id="14" name="Connector 13"/>
          <p:cNvCxnSpPr/>
          <p:nvPr/>
        </p:nvCxnSpPr>
        <p:spPr>
          <a:xfrm flipH="1">
            <a:off x="4800890" y="30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23755" y="26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2. index.html, main.js: Angular-App</a:t>
            </a:r>
          </a:p>
        </p:txBody>
      </p:sp>
      <p:cxnSp>
        <p:nvCxnSpPr>
          <p:cNvPr id="16" name="Connector 15"/>
          <p:cNvCxnSpPr/>
          <p:nvPr/>
        </p:nvCxnSpPr>
        <p:spPr>
          <a:xfrm>
            <a:off x="2152350" y="34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95215" y="30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http.get('api/customer')</a:t>
            </a:r>
          </a:p>
        </p:txBody>
      </p:sp>
      <p:cxnSp>
        <p:nvCxnSpPr>
          <p:cNvPr id="18" name="Connector 17"/>
          <p:cNvCxnSpPr/>
          <p:nvPr/>
        </p:nvCxnSpPr>
        <p:spPr>
          <a:xfrm>
            <a:off x="4780890" y="38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4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4. GET localhost:4200/api/customer</a:t>
            </a:r>
          </a:p>
        </p:txBody>
      </p:sp>
      <p:cxnSp>
        <p:nvCxnSpPr>
          <p:cNvPr id="20" name="Connector 19"/>
          <p:cNvCxnSpPr/>
          <p:nvPr/>
        </p:nvCxnSpPr>
        <p:spPr>
          <a:xfrm>
            <a:off x="7409430" y="40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789430" y="40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429430" y="42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839430" y="3901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5. beginnt mit /api → dev.proxy.json</a:t>
            </a:r>
          </a:p>
        </p:txBody>
      </p:sp>
      <p:cxnSp>
        <p:nvCxnSpPr>
          <p:cNvPr id="24" name="Connector 23"/>
          <p:cNvCxnSpPr/>
          <p:nvPr/>
        </p:nvCxnSpPr>
        <p:spPr>
          <a:xfrm>
            <a:off x="7409430" y="46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752295" y="42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6. GET localhost:3000/api/customer</a:t>
            </a:r>
          </a:p>
        </p:txBody>
      </p:sp>
      <p:cxnSp>
        <p:nvCxnSpPr>
          <p:cNvPr id="26" name="Connector 25"/>
          <p:cNvCxnSpPr/>
          <p:nvPr/>
        </p:nvCxnSpPr>
        <p:spPr>
          <a:xfrm flipH="1">
            <a:off x="7429430" y="50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2295" y="46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7. app.get-Handler: 200 { data }</a:t>
            </a:r>
          </a:p>
        </p:txBody>
      </p:sp>
      <p:cxnSp>
        <p:nvCxnSpPr>
          <p:cNvPr id="28" name="Connector 27"/>
          <p:cNvCxnSpPr/>
          <p:nvPr/>
        </p:nvCxnSpPr>
        <p:spPr>
          <a:xfrm flipH="1">
            <a:off x="4800890" y="54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23755" y="50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8. Antwort, scheinbar von :4200</a:t>
            </a:r>
          </a:p>
        </p:txBody>
      </p:sp>
      <p:cxnSp>
        <p:nvCxnSpPr>
          <p:cNvPr id="30" name="Connector 29"/>
          <p:cNvCxnSpPr/>
          <p:nvPr/>
        </p:nvCxnSpPr>
        <p:spPr>
          <a:xfrm flipH="1">
            <a:off x="2172350" y="58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495215" y="54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9. Observable liefert die Kunden</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Installation von node.js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Download: nodejs.org – Version mit „LTS“ wählen</a:t>
            </a:r>
          </a:p>
          <a:p>
            <a:pPr>
              <a:defRPr sz="2000" b="0">
                <a:latin typeface="Segoe UI"/>
              </a:defRPr>
            </a:pPr>
            <a:r>
              <a:rPr lang="de-DE" sz="2000" b="0">
                <a:latin typeface="Segoe UI"/>
              </a:rPr>
              <a:t>LTS = Long Term Support: gerade Nummern, ca. 30 Monate gepflegt</a:t>
            </a:r>
          </a:p>
          <a:p>
            <a:pPr>
              <a:defRPr sz="2000" b="0">
                <a:latin typeface="Segoe UI"/>
              </a:defRPr>
            </a:pPr>
            <a:r>
              <a:rPr lang="de-DE" sz="2000" b="0">
                <a:latin typeface="Segoe UI"/>
              </a:rPr>
              <a:t>Ungerade Nummern (Current) nur kurz unterstützt</a:t>
            </a:r>
          </a:p>
          <a:p>
            <a:pPr>
              <a:defRPr sz="2000" b="0">
                <a:latin typeface="Segoe UI"/>
              </a:defRPr>
            </a:pPr>
            <a:r>
              <a:rPr lang="de-DE" sz="2000" b="0">
                <a:latin typeface="Segoe UI"/>
              </a:rPr>
              <a:t>Angular 21 braucht node ^20.19, ^22.12 oder ^24</a:t>
            </a:r>
          </a:p>
          <a:p>
            <a:pPr>
              <a:defRPr sz="2000" b="0">
                <a:latin typeface="Segoe UI"/>
              </a:defRPr>
            </a:pPr>
            <a:r>
              <a:rPr lang="de-DE" sz="2000" b="0">
                <a:latin typeface="Segoe UI"/>
              </a:rPr>
              <a:t>node 20 wird seit April 2026 nicht mehr gepflegt</a:t>
            </a:r>
          </a:p>
          <a:p>
            <a:pPr>
              <a:defRPr sz="2000" b="0">
                <a:latin typeface="Segoe UI"/>
              </a:defRPr>
            </a:pPr>
            <a:r>
              <a:rPr lang="de-DE" sz="2000" b="0">
                <a:latin typeface="Segoe UI"/>
              </a:rPr>
              <a:t>Empfehlung: aktuelle LTS, die Angular unterstützt (z. B. 24)</a:t>
            </a:r>
          </a:p>
          <a:p>
            <a:pPr>
              <a:defRPr sz="2000" b="0">
                <a:latin typeface="Segoe UI"/>
              </a:defRPr>
            </a:pPr>
            <a:r>
              <a:rPr lang="de-DE" sz="2000" b="0">
                <a:latin typeface="Segoe UI"/>
              </a:rPr>
              <a:t>npm wird automatisch mitinstalliert</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Mehrere Versionen mit nvm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Problem: Projekte brauchen verschiedene node-Versionen</a:t>
            </a:r>
          </a:p>
          <a:p>
            <a:pPr>
              <a:defRPr sz="2000" b="0">
                <a:latin typeface="Segoe UI"/>
              </a:defRPr>
            </a:pPr>
            <a:r>
              <a:rPr lang="de-DE" sz="2000" b="0">
                <a:latin typeface="Segoe UI"/>
              </a:rPr>
              <a:t>nvm = Node Version Manager (macOS, Linux)</a:t>
            </a:r>
          </a:p>
          <a:p>
            <a:pPr>
              <a:defRPr sz="2000" b="0">
                <a:latin typeface="Segoe UI"/>
              </a:defRPr>
            </a:pPr>
            <a:r>
              <a:rPr lang="de-DE" sz="2000" b="0">
                <a:latin typeface="Segoe UI"/>
              </a:rPr>
              <a:t>Windows: nvm-windows oder fnm (eigene Projekte)</a:t>
            </a:r>
          </a:p>
          <a:p>
            <a:pPr>
              <a:defRPr sz="2000" b="0">
                <a:latin typeface="Segoe UI"/>
              </a:defRPr>
            </a:pPr>
            <a:r>
              <a:rPr lang="de-DE" sz="2000" b="0">
                <a:latin typeface="Segoe UI"/>
              </a:rPr>
              <a:t>Datei .nvmrc im Projekt hält die Version fest</a:t>
            </a:r>
          </a:p>
          <a:p>
            <a:pPr>
              <a:defRPr sz="2000" b="0">
                <a:latin typeface="Segoe UI"/>
              </a:defRPr>
            </a:pPr>
            <a:r>
              <a:rPr lang="de-DE" sz="2000" b="0">
                <a:latin typeface="Segoe UI"/>
              </a:rPr>
              <a:t>nvm use liest .nvmrc und schaltet um</a:t>
            </a:r>
          </a:p>
          <a:p>
            <a:pPr>
              <a:defRPr sz="2000" b="0">
                <a:latin typeface="Segoe UI"/>
              </a:defRPr>
            </a:pPr>
            <a:r>
              <a:rPr lang="de-DE" sz="2000" b="0">
                <a:latin typeface="Segoe UI"/>
              </a:rPr>
              <a:t>Globale Pakete gelten pro node-Version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nvm install 24</a:t>
            </a:r>
          </a:p>
          <a:p>
            <a:pPr algn="l"/>
            <a:r>
              <a:rPr sz="1500" b="0">
                <a:solidFill>
                  <a:srgbClr val="2B3A42"/>
                </a:solidFill>
                <a:latin typeface="Consolas"/>
              </a:rPr>
              <a:t>nvm use 24</a:t>
            </a:r>
          </a:p>
          <a:p>
            <a:pPr algn="l"/>
            <a:r>
              <a:rPr sz="1500" b="0">
                <a:solidFill>
                  <a:srgbClr val="2B3A42"/>
                </a:solidFill>
                <a:latin typeface="Consolas"/>
              </a:rPr>
              <a:t>nvm alias default 24</a:t>
            </a:r>
          </a:p>
          <a:p>
            <a:pPr algn="l"/>
            <a:r>
              <a:rPr sz="1500" b="0">
                <a:solidFill>
                  <a:srgbClr val="2B3A42"/>
                </a:solidFill>
                <a:latin typeface="Consolas"/>
              </a:rPr>
              <a:t>nvm ls</a:t>
            </a:r>
          </a:p>
          <a:p>
            <a:pPr algn="l"/>
            <a:r>
              <a:rPr sz="1500" b="0">
                <a:solidFill>
                  <a:srgbClr val="2B3A42"/>
                </a:solidFill>
                <a:latin typeface="Consolas"/>
              </a:rPr>
              <a:t/>
            </a:r>
          </a:p>
          <a:p>
            <a:pPr algn="l"/>
            <a:r>
              <a:rPr sz="1500" b="0">
                <a:solidFill>
                  <a:srgbClr val="2B3A42"/>
                </a:solidFill>
                <a:latin typeface="Consolas"/>
              </a:rPr>
              <a:t># .nvmrc im Projekt:</a:t>
            </a:r>
          </a:p>
          <a:p>
            <a:pPr algn="l"/>
            <a:r>
              <a:rPr sz="1500" b="0">
                <a:solidFill>
                  <a:srgbClr val="2B3A42"/>
                </a:solidFill>
                <a:latin typeface="Consolas"/>
              </a:rPr>
              <a:t>24</a:t>
            </a:r>
          </a:p>
          <a:p>
            <a:pPr algn="l"/>
            <a:r>
              <a:rPr sz="1500" b="0">
                <a:solidFill>
                  <a:srgbClr val="2B3A42"/>
                </a:solidFill>
                <a:latin typeface="Consolas"/>
              </a:rPr>
              <a:t/>
            </a:r>
          </a:p>
          <a:p>
            <a:pPr algn="l"/>
            <a:r>
              <a:rPr sz="1500" b="0">
                <a:solidFill>
                  <a:srgbClr val="2B3A42"/>
                </a:solidFill>
                <a:latin typeface="Consolas"/>
              </a:rPr>
              <a:t>nvm use   # liest .nvmrc</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Testen der Installation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node -v</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v24.11.0                  # Beispiel – die genaue Nummer kann abweichen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npm -v</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11.6.1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node -e "console.log('Hallo von node', process.version)"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Hallo von node v24.11.0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node                    # interaktive Konsole (REPL)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&gt; 1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&gt; .exit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 version              # zeigt Angular CLI, node- und Paketversionen</a:t>
            </a:r>
            <a:endParaRPr lang="de-DE" sz="1600" b="0" u="none" strike="noStrike">
              <a:solidFill>
                <a:srgbClr val="000000"/>
              </a:solidFill>
              <a:uFillTx/>
              <a:latin typeface="Arial"/>
            </a:endParaRP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Angular node.js braucht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node.js läuft nur auf dem Entwickler-Rechner bzw. im Build-Server</a:t>
            </a:r>
          </a:p>
          <a:p>
            <a:pPr>
              <a:defRPr sz="2000" b="0">
                <a:latin typeface="Segoe UI"/>
              </a:defRPr>
            </a:pPr>
            <a:r>
              <a:rPr lang="de-DE" sz="2000" b="0">
                <a:latin typeface="Segoe UI"/>
              </a:rPr>
              <a:t>Angular CLI (ng new, ng generate, ng serve, ng build)</a:t>
            </a:r>
          </a:p>
          <a:p>
            <a:pPr>
              <a:defRPr sz="2000" b="0">
                <a:latin typeface="Segoe UI"/>
              </a:defRPr>
            </a:pPr>
            <a:r>
              <a:rPr lang="de-DE" sz="2000" b="0">
                <a:latin typeface="Segoe UI"/>
              </a:rPr>
              <a:t>Build: TypeScript und Templates übersetzen mit esbuild</a:t>
            </a:r>
          </a:p>
          <a:p>
            <a:pPr>
              <a:defRPr sz="2000" b="0">
                <a:latin typeface="Segoe UI"/>
              </a:defRPr>
            </a:pPr>
            <a:r>
              <a:rPr lang="de-DE" sz="2000" b="0">
                <a:latin typeface="Segoe UI"/>
              </a:rPr>
              <a:t>Dev-Server: Vite liefert die App aus, lädt bei Änderungen neu</a:t>
            </a:r>
          </a:p>
          <a:p>
            <a:pPr>
              <a:defRPr sz="2000" b="0">
                <a:latin typeface="Segoe UI"/>
              </a:defRPr>
            </a:pPr>
            <a:r>
              <a:rPr lang="de-DE" sz="2000" b="0">
                <a:latin typeface="Segoe UI"/>
              </a:rPr>
              <a:t>Tests: ng test startet Vitest</a:t>
            </a:r>
          </a:p>
          <a:p>
            <a:pPr>
              <a:defRPr sz="2000" b="0">
                <a:latin typeface="Segoe UI"/>
              </a:defRPr>
            </a:pPr>
            <a:r>
              <a:rPr lang="de-DE" sz="2000" b="0">
                <a:latin typeface="Segoe UI"/>
              </a:rPr>
              <a:t>Im Browser läuft nur das Ergebnis: JavaScript, HTML, CSS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Entwicklung (node.js)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 CLI</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esbuild: Build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 Dev-Server</a:t>
            </a:r>
          </a:p>
        </p:txBody>
      </p:sp>
      <p:sp>
        <p:nvSpPr>
          <p:cNvPr id="8" name="Rounded Rectangle 7"/>
          <p:cNvSpPr/>
          <p:nvPr/>
        </p:nvSpPr>
        <p:spPr>
          <a:xfrm>
            <a:off x="7000000" y="468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Vitest: Tests</a:t>
            </a:r>
          </a:p>
        </p:txBody>
      </p:sp>
      <p:sp>
        <p:nvSpPr>
          <p:cNvPr id="9" name="Rounded Rectangle 8"/>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Laufzeit (Browser)</a:t>
            </a:r>
          </a:p>
        </p:txBody>
      </p:sp>
      <p:sp>
        <p:nvSpPr>
          <p:cNvPr id="10" name="Rounded Rectangle 9"/>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JS- und CSS-Dateien</a:t>
            </a:r>
          </a:p>
        </p:txBody>
      </p:sp>
      <p:sp>
        <p:nvSpPr>
          <p:cNvPr id="11" name="Rounded Rectangle 10"/>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index.html</a:t>
            </a:r>
          </a:p>
        </p:txBody>
      </p:sp>
      <p:sp>
        <p:nvSpPr>
          <p:cNvPr id="12" name="Rounded Rectangle 11"/>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DOM, HTTP</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von ng serve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 serve startet die CLI als node-Prozess</a:t>
            </a:r>
          </a:p>
          <a:p>
            <a:pPr>
              <a:defRPr sz="2000" b="0">
                <a:latin typeface="Segoe UI"/>
              </a:defRPr>
            </a:pPr>
            <a:r>
              <a:rPr lang="de-DE" sz="2000" b="0">
                <a:latin typeface="Segoe UI"/>
              </a:rPr>
              <a:t>esbuild übersetzt *.ts und Templates nach JavaScript</a:t>
            </a:r>
          </a:p>
          <a:p>
            <a:pPr>
              <a:defRPr sz="2000" b="0">
                <a:latin typeface="Segoe UI"/>
              </a:defRPr>
            </a:pPr>
            <a:r>
              <a:rPr lang="de-DE" sz="2000" b="0">
                <a:latin typeface="Segoe UI"/>
              </a:rPr>
              <a:t>Vite-Dev-Server liefert die Dateien aus dem Speicher</a:t>
            </a:r>
          </a:p>
          <a:p>
            <a:pPr>
              <a:defRPr sz="2000" b="0">
                <a:latin typeface="Segoe UI"/>
              </a:defRPr>
            </a:pPr>
            <a:r>
              <a:rPr lang="de-DE" sz="2000" b="0">
                <a:latin typeface="Segoe UI"/>
              </a:rPr>
              <a:t>Browser lädt localhost:4200</a:t>
            </a:r>
          </a:p>
          <a:p>
            <a:pPr>
              <a:defRPr sz="2000" b="0">
                <a:latin typeface="Segoe UI"/>
              </a:defRPr>
            </a:pPr>
            <a:r>
              <a:rPr lang="de-DE" sz="2000" b="0">
                <a:latin typeface="Segoe UI"/>
              </a:rPr>
              <a:t>Datei geändert: nur betroffene Teile neu bauen</a:t>
            </a:r>
          </a:p>
          <a:p>
            <a:pPr>
              <a:defRPr sz="2000" b="0">
                <a:latin typeface="Segoe UI"/>
              </a:defRPr>
            </a:pPr>
            <a:r>
              <a:rPr lang="de-DE" sz="2000" b="0">
                <a:latin typeface="Segoe UI"/>
              </a:rPr>
              <a:t>Browser lädt neu bzw. tauscht Teile aus (HMR)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serve (node)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esbuild: TS → JS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Vite-Dev-Server :4200</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Änderung → neu bauen → neu laden</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 serve im Ablauf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Kein dist-Ordner: ng serve hält alles im Speicher und baut bei Änderungen nach</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Entwickler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Angular CLI</a:t>
            </a:r>
          </a:p>
          <a:p>
            <a:pPr algn="ctr"/>
            <a:r>
              <a:rPr sz="1400" b="1">
                <a:solidFill>
                  <a:srgbClr val="FFFFFF"/>
                </a:solidFill>
                <a:latin typeface="Segoe UI"/>
              </a:rPr>
              <a:t>(node)</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esbuild</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Vite-Dev-Server</a:t>
            </a:r>
          </a:p>
          <a:p>
            <a:pPr algn="ctr"/>
            <a:r>
              <a:rPr sz="1400" b="1">
                <a:solidFill>
                  <a:srgbClr val="FFFFFF"/>
                </a:solidFill>
                <a:latin typeface="Segoe UI"/>
              </a:rPr>
              <a:t>:4200</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ng serve</a:t>
            </a:r>
          </a:p>
        </p:txBody>
      </p:sp>
      <p:cxnSp>
        <p:nvCxnSpPr>
          <p:cNvPr id="16" name="Connector 15"/>
          <p:cNvCxnSpPr/>
          <p:nvPr/>
        </p:nvCxnSpPr>
        <p:spPr>
          <a:xfrm>
            <a:off x="3992328" y="281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72328" y="281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012328" y="294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22328" y="266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2. angular.json lesen</a:t>
            </a:r>
          </a:p>
        </p:txBody>
      </p:sp>
      <p:cxnSp>
        <p:nvCxnSpPr>
          <p:cNvPr id="20" name="Connector 19"/>
          <p:cNvCxnSpPr/>
          <p:nvPr/>
        </p:nvCxnSpPr>
        <p:spPr>
          <a:xfrm>
            <a:off x="3992328"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main.ts, Komponenten übersetzen</a:t>
            </a:r>
          </a:p>
        </p:txBody>
      </p:sp>
      <p:cxnSp>
        <p:nvCxnSpPr>
          <p:cNvPr id="22" name="Connector 21"/>
          <p:cNvCxnSpPr/>
          <p:nvPr/>
        </p:nvCxnSpPr>
        <p:spPr>
          <a:xfrm flipH="1">
            <a:off x="4012328" y="36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466620" y="33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4. JavaScript-Bundles im Speicher</a:t>
            </a:r>
          </a:p>
        </p:txBody>
      </p:sp>
      <p:cxnSp>
        <p:nvCxnSpPr>
          <p:cNvPr id="24" name="Connector 23"/>
          <p:cNvCxnSpPr/>
          <p:nvPr/>
        </p:nvCxnSpPr>
        <p:spPr>
          <a:xfrm>
            <a:off x="3992328" y="402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22328" y="370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5. Dateien bereitstellen, Port öffnen</a:t>
            </a:r>
          </a:p>
        </p:txBody>
      </p:sp>
      <p:cxnSp>
        <p:nvCxnSpPr>
          <p:cNvPr id="26" name="Connector 25"/>
          <p:cNvCxnSpPr/>
          <p:nvPr/>
        </p:nvCxnSpPr>
        <p:spPr>
          <a:xfrm flipH="1">
            <a:off x="8217992" y="43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672284" y="40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6. GET localhost:4200</a:t>
            </a:r>
          </a:p>
        </p:txBody>
      </p:sp>
      <p:cxnSp>
        <p:nvCxnSpPr>
          <p:cNvPr id="28" name="Connector 27"/>
          <p:cNvCxnSpPr/>
          <p:nvPr/>
        </p:nvCxnSpPr>
        <p:spPr>
          <a:xfrm>
            <a:off x="8197992" y="474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72284" y="442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7. index.html, main.js, styles.css</a:t>
            </a:r>
          </a:p>
        </p:txBody>
      </p:sp>
      <p:cxnSp>
        <p:nvCxnSpPr>
          <p:cNvPr id="30" name="Connector 29"/>
          <p:cNvCxnSpPr/>
          <p:nvPr/>
        </p:nvCxnSpPr>
        <p:spPr>
          <a:xfrm>
            <a:off x="1889496" y="51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63788" y="47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8. Datei speichern (Watcher merkt es)</a:t>
            </a:r>
          </a:p>
        </p:txBody>
      </p:sp>
      <p:cxnSp>
        <p:nvCxnSpPr>
          <p:cNvPr id="32" name="Connector 31"/>
          <p:cNvCxnSpPr/>
          <p:nvPr/>
        </p:nvCxnSpPr>
        <p:spPr>
          <a:xfrm>
            <a:off x="3992328" y="546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466620" y="514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9. nur Geändertes neu bauen</a:t>
            </a:r>
          </a:p>
        </p:txBody>
      </p:sp>
      <p:cxnSp>
        <p:nvCxnSpPr>
          <p:cNvPr id="34" name="Connector 33"/>
          <p:cNvCxnSpPr/>
          <p:nvPr/>
        </p:nvCxnSpPr>
        <p:spPr>
          <a:xfrm>
            <a:off x="8197992" y="58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672284" y="55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10. neu laden oder austauschen (HMR)</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 build und der Betrieb</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 build erzeugt dist/&lt;projekt&gt;/browser/</a:t>
            </a:r>
          </a:p>
          <a:p>
            <a:pPr>
              <a:defRPr sz="2000" b="0">
                <a:latin typeface="Segoe UI"/>
              </a:defRPr>
            </a:pPr>
            <a:r>
              <a:rPr lang="de-DE" sz="2000" b="0">
                <a:latin typeface="Segoe UI"/>
              </a:rPr>
              <a:t>Inhalt: index.html, JavaScript- und CSS-Dateien, Assets</a:t>
            </a:r>
          </a:p>
          <a:p>
            <a:pPr>
              <a:defRPr sz="2000" b="0">
                <a:latin typeface="Segoe UI"/>
              </a:defRPr>
            </a:pPr>
            <a:r>
              <a:rPr lang="de-DE" sz="2000" b="0">
                <a:latin typeface="Segoe UI"/>
              </a:rPr>
              <a:t>Dateien sind statisch: jeder Webserver kann sie ausliefern</a:t>
            </a:r>
          </a:p>
          <a:p>
            <a:pPr lvl="1">
              <a:defRPr sz="1700" b="0">
                <a:latin typeface="Segoe UI"/>
              </a:defRPr>
            </a:pPr>
            <a:r>
              <a:rPr lang="de-DE" sz="1700" b="0">
                <a:latin typeface="Segoe UI"/>
              </a:rPr>
              <a:t>z. B. nginx, Apache, IIS, CDN</a:t>
            </a:r>
          </a:p>
          <a:p>
            <a:pPr>
              <a:defRPr sz="2000" b="0">
                <a:latin typeface="Segoe UI"/>
              </a:defRPr>
            </a:pPr>
            <a:r>
              <a:rPr lang="de-DE" sz="2000" b="0">
                <a:latin typeface="Segoe UI"/>
              </a:rPr>
              <a:t>Im Betrieb ist dafür kein node.js nötig</a:t>
            </a:r>
          </a:p>
          <a:p>
            <a:pPr>
              <a:defRPr sz="2000" b="0">
                <a:latin typeface="Segoe UI"/>
              </a:defRPr>
            </a:pPr>
            <a:r>
              <a:rPr lang="de-DE" sz="2000" b="0">
                <a:latin typeface="Segoe UI"/>
              </a:rPr>
              <a:t>Ausnahme: Server-Side Rendering (SSR) läuft auf node.js</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Quellcode: *.ts, *.html, *.css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ng build (node.js, esbuild)</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dist/…/browser: statische Dateien</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Webserver → Browser</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node.js nur beim Bauen (außer SSR)</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npm – Der Node Package Manager</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npm?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Paketmanager: lädt Bibliotheken und Werkzeuge (Pakete)</a:t>
            </a:r>
          </a:p>
          <a:p>
            <a:pPr>
              <a:defRPr sz="2000" b="0">
                <a:latin typeface="Segoe UI"/>
              </a:defRPr>
            </a:pPr>
            <a:r>
              <a:rPr lang="de-DE" sz="2000" b="0">
                <a:latin typeface="Segoe UI"/>
              </a:rPr>
              <a:t>Wird mit node.js installiert, prüfen mit npm -v</a:t>
            </a:r>
          </a:p>
          <a:p>
            <a:pPr>
              <a:defRPr sz="2000" b="0">
                <a:latin typeface="Segoe UI"/>
              </a:defRPr>
            </a:pPr>
            <a:r>
              <a:rPr lang="de-DE" sz="2000" b="0">
                <a:latin typeface="Segoe UI"/>
              </a:rPr>
              <a:t>Öffentliche Registry: registry.npmjs.org</a:t>
            </a:r>
          </a:p>
          <a:p>
            <a:pPr lvl="1">
              <a:defRPr sz="1700" b="0">
                <a:latin typeface="Segoe UI"/>
              </a:defRPr>
            </a:pPr>
            <a:r>
              <a:rPr lang="de-DE" sz="1700" b="0">
                <a:latin typeface="Segoe UI"/>
              </a:rPr>
              <a:t>Größte Sammlung von Software-Paketen</a:t>
            </a:r>
          </a:p>
          <a:p>
            <a:pPr>
              <a:defRPr sz="2000" b="0">
                <a:latin typeface="Segoe UI"/>
              </a:defRPr>
            </a:pPr>
            <a:r>
              <a:rPr lang="de-DE" sz="2000" b="0">
                <a:latin typeface="Segoe UI"/>
              </a:rPr>
              <a:t>Firmen: eigene Registry, z. B. Nexus, Artifactory</a:t>
            </a:r>
          </a:p>
          <a:p>
            <a:pPr lvl="1">
              <a:defRPr sz="1700" b="0">
                <a:latin typeface="Segoe UI"/>
              </a:defRPr>
            </a:pPr>
            <a:r>
              <a:rPr lang="de-DE" sz="1700" b="0">
                <a:latin typeface="Segoe UI"/>
              </a:rPr>
              <a:t>Einstellung in der Datei .npmrc (registry=…)</a:t>
            </a:r>
          </a:p>
          <a:p>
            <a:pPr>
              <a:defRPr sz="2000" b="0">
                <a:latin typeface="Segoe UI"/>
              </a:defRPr>
            </a:pPr>
            <a:r>
              <a:rPr lang="de-DE" sz="2000" b="0">
                <a:latin typeface="Segoe UI"/>
              </a:rPr>
              <a:t>Alternativen mit gleicher Idee: pnpm, Yarn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Registry</a:t>
            </a:r>
          </a:p>
          <a:p>
            <a:pPr algn="ctr"/>
            <a:r>
              <a:rPr sz="1700" b="0">
                <a:solidFill>
                  <a:srgbClr val="2B3A42"/>
                </a:solidFill>
                <a:latin typeface="Segoe UI"/>
              </a:rPr>
              <a:t>(Internet / Firma)</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npm install</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Cache auf dem Rechner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node_modules/ im Projekt</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npm-Befehle im Überblick</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npm install – Abhängigkeiten installieren oder Paket hinzufügen</a:t>
            </a:r>
          </a:p>
          <a:p>
            <a:pPr>
              <a:defRPr sz="2000" b="0">
                <a:latin typeface="Segoe UI"/>
              </a:defRPr>
            </a:pPr>
            <a:r>
              <a:rPr lang="de-DE" sz="2000" b="0">
                <a:latin typeface="Segoe UI"/>
              </a:rPr>
              <a:t>npm ci – exakt nach package-lock.json installieren (CI, Build)</a:t>
            </a:r>
          </a:p>
          <a:p>
            <a:pPr>
              <a:defRPr sz="2000" b="0">
                <a:latin typeface="Segoe UI"/>
              </a:defRPr>
            </a:pPr>
            <a:r>
              <a:rPr lang="de-DE" sz="2000" b="0">
                <a:latin typeface="Segoe UI"/>
              </a:rPr>
              <a:t>npm run &lt;name&gt; – Script aus package.json ausführen</a:t>
            </a:r>
          </a:p>
          <a:p>
            <a:pPr>
              <a:defRPr sz="2000" b="0">
                <a:latin typeface="Segoe UI"/>
              </a:defRPr>
            </a:pPr>
            <a:r>
              <a:rPr lang="de-DE" sz="2000" b="0">
                <a:latin typeface="Segoe UI"/>
              </a:rPr>
              <a:t>npm outdated – zeigt veraltete Pakete</a:t>
            </a:r>
          </a:p>
          <a:p>
            <a:pPr>
              <a:defRPr sz="2000" b="0">
                <a:latin typeface="Segoe UI"/>
              </a:defRPr>
            </a:pPr>
            <a:r>
              <a:rPr lang="de-DE" sz="2000" b="0">
                <a:latin typeface="Segoe UI"/>
              </a:rPr>
              <a:t>npm update – aktualisiert im erlaubten Versionsbereich</a:t>
            </a:r>
          </a:p>
          <a:p>
            <a:pPr>
              <a:defRPr sz="2000" b="0">
                <a:latin typeface="Segoe UI"/>
              </a:defRPr>
            </a:pPr>
            <a:r>
              <a:rPr lang="de-DE" sz="2000" b="0">
                <a:latin typeface="Segoe UI"/>
              </a:rPr>
              <a:t>npm audit – prüft auf bekannte Sicherheitslücken</a:t>
            </a:r>
          </a:p>
          <a:p>
            <a:pPr>
              <a:defRPr sz="2000" b="0">
                <a:latin typeface="Segoe UI"/>
              </a:defRPr>
            </a:pPr>
            <a:r>
              <a:rPr lang="de-DE" sz="2000" b="0">
                <a:latin typeface="Segoe UI"/>
              </a:rPr>
              <a:t>npx &lt;paket&gt; – Werkzeug ausführen, ohne global zu installieren</a:t>
            </a:r>
          </a:p>
          <a:p>
            <a:pPr>
              <a:defRPr sz="2000" b="0">
                <a:latin typeface="Segoe UI"/>
              </a:defRPr>
            </a:pPr>
            <a:r>
              <a:rPr lang="de-DE" sz="2000" b="0">
                <a:latin typeface="Segoe UI"/>
              </a:rPr>
              <a:t>Hilfe: npm help &lt;befehl&gt;, npm &lt;befehl&gt; -h, docs.npmjs.com</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install: Varianten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 alle Abhängigkeiten aus package.json installieren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                           # Kurzform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rxjs                # Paket hinzufügen → "dependencies"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-D vitest           # nur zum Entwickeln → "devDependencies"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lodash@4.17.21      # bestimmte Version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@angular/core@21    # neueste 21.x.x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uninstall lodash            # Paket entfernen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-g @angular/cli     # global: Befehl "ng" überall verfügbar</a:t>
            </a:r>
            <a:endParaRPr lang="de-DE" sz="1600" b="0" u="none" strike="noStrike">
              <a:solidFill>
                <a:srgbClr val="000000"/>
              </a:solidFill>
              <a:uFillTx/>
              <a:latin typeface="Arial"/>
            </a:endParaRP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npm install im Detail macht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package.json lesen: welche Pakete, welche Bereiche?</a:t>
            </a:r>
          </a:p>
          <a:p>
            <a:pPr>
              <a:defRPr sz="2000" b="0">
                <a:latin typeface="Segoe UI"/>
              </a:defRPr>
            </a:pPr>
            <a:r>
              <a:rPr lang="de-DE" sz="2000" b="0">
                <a:latin typeface="Segoe UI"/>
              </a:rPr>
              <a:t>2. Mit package-lock.json abgleichen bzw. Versionen auflösen</a:t>
            </a:r>
          </a:p>
          <a:p>
            <a:pPr>
              <a:defRPr sz="2000" b="0">
                <a:latin typeface="Segoe UI"/>
              </a:defRPr>
            </a:pPr>
            <a:r>
              <a:rPr lang="de-DE" sz="2000" b="0">
                <a:latin typeface="Segoe UI"/>
              </a:rPr>
              <a:t>3. Pakete laden (oder aus dem Cache nehmen)</a:t>
            </a:r>
          </a:p>
          <a:p>
            <a:pPr>
              <a:defRPr sz="2000" b="0">
                <a:latin typeface="Segoe UI"/>
              </a:defRPr>
            </a:pPr>
            <a:r>
              <a:rPr lang="de-DE" sz="2000" b="0">
                <a:latin typeface="Segoe UI"/>
              </a:rPr>
              <a:t>4. Nach node_modules/ entpacken, Abhängigkeiten der Pakete mit</a:t>
            </a:r>
          </a:p>
          <a:p>
            <a:pPr>
              <a:defRPr sz="2000" b="0">
                <a:latin typeface="Segoe UI"/>
              </a:defRPr>
            </a:pPr>
            <a:r>
              <a:rPr lang="de-DE" sz="2000" b="0">
                <a:latin typeface="Segoe UI"/>
              </a:rPr>
              <a:t>5. package-lock.json schreiben oder aktualisieren</a:t>
            </a:r>
          </a:p>
          <a:p>
            <a:pPr>
              <a:defRPr sz="2000" b="0">
                <a:latin typeface="Segoe UI"/>
              </a:defRPr>
            </a:pPr>
            <a:r>
              <a:rPr lang="de-DE" sz="2000" b="0">
                <a:latin typeface="Segoe UI"/>
              </a:rPr>
              <a:t>Danach: offline arbeiten möglich</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package.json</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package-lock.json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Registry / Cache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Lock-Datei aktualisiert</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 install im Ablauf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package.json nennt Bereiche, die Lock-Datei die genaue Version</a:t>
            </a:r>
          </a:p>
        </p:txBody>
      </p:sp>
      <p:sp>
        <p:nvSpPr>
          <p:cNvPr id="4" name="Rectangle 3"/>
          <p:cNvSpPr/>
          <p:nvPr/>
        </p:nvSpPr>
        <p:spPr>
          <a:xfrm>
            <a:off x="8830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npm</a:t>
            </a:r>
          </a:p>
        </p:txBody>
      </p:sp>
      <p:sp>
        <p:nvSpPr>
          <p:cNvPr id="5" name="Rectangle 4"/>
          <p:cNvSpPr/>
          <p:nvPr/>
        </p:nvSpPr>
        <p:spPr>
          <a:xfrm>
            <a:off x="263544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package.json</a:t>
            </a:r>
          </a:p>
        </p:txBody>
      </p:sp>
      <p:sp>
        <p:nvSpPr>
          <p:cNvPr id="6" name="Rectangle 5"/>
          <p:cNvSpPr/>
          <p:nvPr/>
        </p:nvSpPr>
        <p:spPr>
          <a:xfrm>
            <a:off x="438780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package-lock.json</a:t>
            </a:r>
          </a:p>
        </p:txBody>
      </p:sp>
      <p:sp>
        <p:nvSpPr>
          <p:cNvPr id="7" name="Rectangle 6"/>
          <p:cNvSpPr/>
          <p:nvPr/>
        </p:nvSpPr>
        <p:spPr>
          <a:xfrm>
            <a:off x="614016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Cache</a:t>
            </a:r>
          </a:p>
          <a:p>
            <a:pPr algn="ctr"/>
            <a:r>
              <a:rPr sz="1400" b="1">
                <a:solidFill>
                  <a:srgbClr val="FFFFFF"/>
                </a:solidFill>
                <a:latin typeface="Segoe UI"/>
              </a:rPr>
              <a:t>(~/.npm)</a:t>
            </a:r>
          </a:p>
        </p:txBody>
      </p:sp>
      <p:sp>
        <p:nvSpPr>
          <p:cNvPr id="8" name="Rectangle 7"/>
          <p:cNvSpPr/>
          <p:nvPr/>
        </p:nvSpPr>
        <p:spPr>
          <a:xfrm>
            <a:off x="789252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Registry</a:t>
            </a:r>
          </a:p>
        </p:txBody>
      </p:sp>
      <p:sp>
        <p:nvSpPr>
          <p:cNvPr id="9" name="Rectangle 8"/>
          <p:cNvSpPr/>
          <p:nvPr/>
        </p:nvSpPr>
        <p:spPr>
          <a:xfrm>
            <a:off x="96448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node_modules/</a:t>
            </a:r>
          </a:p>
        </p:txBody>
      </p:sp>
      <p:cxnSp>
        <p:nvCxnSpPr>
          <p:cNvPr id="10" name="Connector 9"/>
          <p:cNvCxnSpPr/>
          <p:nvPr/>
        </p:nvCxnSpPr>
        <p:spPr>
          <a:xfrm>
            <a:off x="17142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6662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89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713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72370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760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714260" y="25892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76170" y="2269200"/>
            <a:ext cx="2628540" cy="300000"/>
          </a:xfrm>
          <a:prstGeom prst="rect">
            <a:avLst/>
          </a:prstGeom>
          <a:noFill/>
        </p:spPr>
        <p:txBody>
          <a:bodyPr wrap="square" anchor="b" lIns="70000" rIns="70000" tIns="0" bIns="0">
            <a:spAutoFit/>
          </a:bodyPr>
          <a:lstStyle/>
          <a:p>
            <a:pPr algn="ctr"/>
            <a:r>
              <a:rPr sz="1300" b="0">
                <a:solidFill>
                  <a:srgbClr val="2B3A42"/>
                </a:solidFill>
                <a:latin typeface="Segoe UI"/>
              </a:rPr>
              <a:t>1. lesen: "rxjs": "~7.8.0"</a:t>
            </a:r>
          </a:p>
        </p:txBody>
      </p:sp>
      <p:cxnSp>
        <p:nvCxnSpPr>
          <p:cNvPr id="18" name="Connector 17"/>
          <p:cNvCxnSpPr/>
          <p:nvPr/>
        </p:nvCxnSpPr>
        <p:spPr>
          <a:xfrm>
            <a:off x="1714260" y="29492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744260" y="2629200"/>
            <a:ext cx="3444720" cy="300000"/>
          </a:xfrm>
          <a:prstGeom prst="rect">
            <a:avLst/>
          </a:prstGeom>
          <a:noFill/>
        </p:spPr>
        <p:txBody>
          <a:bodyPr wrap="square" anchor="b" lIns="70000" rIns="70000" tIns="0" bIns="0">
            <a:spAutoFit/>
          </a:bodyPr>
          <a:lstStyle/>
          <a:p>
            <a:pPr algn="ctr"/>
            <a:r>
              <a:rPr sz="1300" b="0">
                <a:solidFill>
                  <a:srgbClr val="2B3A42"/>
                </a:solidFill>
                <a:latin typeface="Segoe UI"/>
              </a:rPr>
              <a:t>2. lesen: festgelegte Version?</a:t>
            </a:r>
          </a:p>
        </p:txBody>
      </p:sp>
      <p:cxnSp>
        <p:nvCxnSpPr>
          <p:cNvPr id="20" name="Connector 19"/>
          <p:cNvCxnSpPr/>
          <p:nvPr/>
        </p:nvCxnSpPr>
        <p:spPr>
          <a:xfrm flipH="1">
            <a:off x="1734260" y="33092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44260" y="2989200"/>
            <a:ext cx="3444720" cy="300000"/>
          </a:xfrm>
          <a:prstGeom prst="rect">
            <a:avLst/>
          </a:prstGeom>
          <a:noFill/>
        </p:spPr>
        <p:txBody>
          <a:bodyPr wrap="square" anchor="b" lIns="70000" rIns="70000" tIns="0" bIns="0">
            <a:spAutoFit/>
          </a:bodyPr>
          <a:lstStyle/>
          <a:p>
            <a:pPr algn="ctr"/>
            <a:r>
              <a:rPr sz="1300" b="0">
                <a:solidFill>
                  <a:srgbClr val="404B52"/>
                </a:solidFill>
                <a:latin typeface="Segoe UI"/>
              </a:rPr>
              <a:t>3. rxjs 7.8.2, resolved, integrity</a:t>
            </a:r>
          </a:p>
        </p:txBody>
      </p:sp>
      <p:cxnSp>
        <p:nvCxnSpPr>
          <p:cNvPr id="22" name="Connector 21"/>
          <p:cNvCxnSpPr/>
          <p:nvPr/>
        </p:nvCxnSpPr>
        <p:spPr>
          <a:xfrm>
            <a:off x="1714260" y="36692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44260" y="3349200"/>
            <a:ext cx="5197080" cy="300000"/>
          </a:xfrm>
          <a:prstGeom prst="rect">
            <a:avLst/>
          </a:prstGeom>
          <a:noFill/>
        </p:spPr>
        <p:txBody>
          <a:bodyPr wrap="square" anchor="b" lIns="70000" rIns="70000" tIns="0" bIns="0">
            <a:spAutoFit/>
          </a:bodyPr>
          <a:lstStyle/>
          <a:p>
            <a:pPr algn="ctr"/>
            <a:r>
              <a:rPr sz="1300" b="0">
                <a:solidFill>
                  <a:srgbClr val="2B3A42"/>
                </a:solidFill>
                <a:latin typeface="Segoe UI"/>
              </a:rPr>
              <a:t>4. rxjs-7.8.2.tgz vorhanden?</a:t>
            </a:r>
          </a:p>
        </p:txBody>
      </p:sp>
      <p:cxnSp>
        <p:nvCxnSpPr>
          <p:cNvPr id="24" name="Connector 23"/>
          <p:cNvCxnSpPr/>
          <p:nvPr/>
        </p:nvCxnSpPr>
        <p:spPr>
          <a:xfrm flipH="1">
            <a:off x="1734260" y="4029200"/>
            <a:ext cx="523708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744260" y="3709200"/>
            <a:ext cx="5197080" cy="300000"/>
          </a:xfrm>
          <a:prstGeom prst="rect">
            <a:avLst/>
          </a:prstGeom>
          <a:noFill/>
        </p:spPr>
        <p:txBody>
          <a:bodyPr wrap="square" anchor="b" lIns="70000" rIns="70000" tIns="0" bIns="0">
            <a:spAutoFit/>
          </a:bodyPr>
          <a:lstStyle/>
          <a:p>
            <a:pPr algn="ctr"/>
            <a:r>
              <a:rPr sz="1300" b="0">
                <a:solidFill>
                  <a:srgbClr val="404B52"/>
                </a:solidFill>
                <a:latin typeface="Segoe UI"/>
              </a:rPr>
              <a:t>5. nein</a:t>
            </a:r>
          </a:p>
        </p:txBody>
      </p:sp>
      <p:cxnSp>
        <p:nvCxnSpPr>
          <p:cNvPr id="26" name="Connector 25"/>
          <p:cNvCxnSpPr/>
          <p:nvPr/>
        </p:nvCxnSpPr>
        <p:spPr>
          <a:xfrm>
            <a:off x="1714260" y="4389200"/>
            <a:ext cx="69894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744260" y="4069200"/>
            <a:ext cx="6949440" cy="300000"/>
          </a:xfrm>
          <a:prstGeom prst="rect">
            <a:avLst/>
          </a:prstGeom>
          <a:noFill/>
        </p:spPr>
        <p:txBody>
          <a:bodyPr wrap="square" anchor="b" lIns="70000" rIns="70000" tIns="0" bIns="0">
            <a:spAutoFit/>
          </a:bodyPr>
          <a:lstStyle/>
          <a:p>
            <a:pPr algn="ctr"/>
            <a:r>
              <a:rPr sz="1300" b="0">
                <a:solidFill>
                  <a:srgbClr val="2B3A42"/>
                </a:solidFill>
                <a:latin typeface="Segoe UI"/>
              </a:rPr>
              <a:t>6. GET rxjs-7.8.2.tgz</a:t>
            </a:r>
          </a:p>
        </p:txBody>
      </p:sp>
      <p:cxnSp>
        <p:nvCxnSpPr>
          <p:cNvPr id="28" name="Connector 27"/>
          <p:cNvCxnSpPr/>
          <p:nvPr/>
        </p:nvCxnSpPr>
        <p:spPr>
          <a:xfrm flipH="1">
            <a:off x="1734260" y="4749200"/>
            <a:ext cx="69894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744260" y="4429200"/>
            <a:ext cx="6949440" cy="300000"/>
          </a:xfrm>
          <a:prstGeom prst="rect">
            <a:avLst/>
          </a:prstGeom>
          <a:noFill/>
        </p:spPr>
        <p:txBody>
          <a:bodyPr wrap="square" anchor="b" lIns="70000" rIns="70000" tIns="0" bIns="0">
            <a:spAutoFit/>
          </a:bodyPr>
          <a:lstStyle/>
          <a:p>
            <a:pPr algn="ctr"/>
            <a:r>
              <a:rPr sz="1300" b="0">
                <a:solidFill>
                  <a:srgbClr val="404B52"/>
                </a:solidFill>
                <a:latin typeface="Segoe UI"/>
              </a:rPr>
              <a:t>7. Paket; Prüfsumme stimmt</a:t>
            </a:r>
          </a:p>
        </p:txBody>
      </p:sp>
      <p:cxnSp>
        <p:nvCxnSpPr>
          <p:cNvPr id="30" name="Connector 29"/>
          <p:cNvCxnSpPr/>
          <p:nvPr/>
        </p:nvCxnSpPr>
        <p:spPr>
          <a:xfrm>
            <a:off x="1714260" y="51092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744260" y="4789200"/>
            <a:ext cx="5197080" cy="300000"/>
          </a:xfrm>
          <a:prstGeom prst="rect">
            <a:avLst/>
          </a:prstGeom>
          <a:noFill/>
        </p:spPr>
        <p:txBody>
          <a:bodyPr wrap="square" anchor="b" lIns="70000" rIns="70000" tIns="0" bIns="0">
            <a:spAutoFit/>
          </a:bodyPr>
          <a:lstStyle/>
          <a:p>
            <a:pPr algn="ctr"/>
            <a:r>
              <a:rPr sz="1300" b="0">
                <a:solidFill>
                  <a:srgbClr val="2B3A42"/>
                </a:solidFill>
                <a:latin typeface="Segoe UI"/>
              </a:rPr>
              <a:t>8. Kopie für später ablegen</a:t>
            </a:r>
          </a:p>
        </p:txBody>
      </p:sp>
      <p:cxnSp>
        <p:nvCxnSpPr>
          <p:cNvPr id="32" name="Connector 31"/>
          <p:cNvCxnSpPr/>
          <p:nvPr/>
        </p:nvCxnSpPr>
        <p:spPr>
          <a:xfrm>
            <a:off x="1714260" y="5469200"/>
            <a:ext cx="87418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744260" y="5149200"/>
            <a:ext cx="8701800" cy="300000"/>
          </a:xfrm>
          <a:prstGeom prst="rect">
            <a:avLst/>
          </a:prstGeom>
          <a:noFill/>
        </p:spPr>
        <p:txBody>
          <a:bodyPr wrap="square" anchor="b" lIns="70000" rIns="70000" tIns="0" bIns="0">
            <a:spAutoFit/>
          </a:bodyPr>
          <a:lstStyle/>
          <a:p>
            <a:pPr algn="ctr"/>
            <a:r>
              <a:rPr sz="1300" b="0">
                <a:solidFill>
                  <a:srgbClr val="2B3A42"/>
                </a:solidFill>
                <a:latin typeface="Segoe UI"/>
              </a:rPr>
              <a:t>9. entpacken, auch Abhängigkeit tslib</a:t>
            </a:r>
          </a:p>
        </p:txBody>
      </p:sp>
      <p:cxnSp>
        <p:nvCxnSpPr>
          <p:cNvPr id="34" name="Connector 33"/>
          <p:cNvCxnSpPr/>
          <p:nvPr/>
        </p:nvCxnSpPr>
        <p:spPr>
          <a:xfrm>
            <a:off x="1714260" y="58292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744260" y="5509200"/>
            <a:ext cx="3444720" cy="300000"/>
          </a:xfrm>
          <a:prstGeom prst="rect">
            <a:avLst/>
          </a:prstGeom>
          <a:noFill/>
        </p:spPr>
        <p:txBody>
          <a:bodyPr wrap="square" anchor="b" lIns="70000" rIns="70000" tIns="0" bIns="0">
            <a:spAutoFit/>
          </a:bodyPr>
          <a:lstStyle/>
          <a:p>
            <a:pPr algn="ctr"/>
            <a:r>
              <a:rPr sz="1300" b="0">
                <a:solidFill>
                  <a:srgbClr val="2B3A42"/>
                </a:solidFill>
                <a:latin typeface="Segoe UI"/>
              </a:rPr>
              <a:t>10. nur bei Änderungen schreiben</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Lokal oder global installieren?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Lokal (Standard): ./node_modules im Projekt</a:t>
            </a:r>
          </a:p>
          <a:p>
            <a:pPr lvl="1">
              <a:defRPr sz="1700" b="0">
                <a:latin typeface="Segoe UI"/>
              </a:defRPr>
            </a:pPr>
            <a:r>
              <a:rPr lang="de-DE" sz="1700" b="0">
                <a:latin typeface="Segoe UI"/>
              </a:rPr>
              <a:t>Für Bibliotheken und Werkzeuge des Projekts</a:t>
            </a:r>
          </a:p>
          <a:p>
            <a:pPr lvl="1">
              <a:defRPr sz="1700" b="0">
                <a:latin typeface="Segoe UI"/>
              </a:defRPr>
            </a:pPr>
            <a:r>
              <a:rPr lang="de-DE" sz="1700" b="0">
                <a:latin typeface="Segoe UI"/>
              </a:rPr>
              <a:t>Version steht in package.json, alle nutzen dieselbe</a:t>
            </a:r>
          </a:p>
          <a:p>
            <a:pPr>
              <a:defRPr sz="2000" b="0">
                <a:latin typeface="Segoe UI"/>
              </a:defRPr>
            </a:pPr>
            <a:r>
              <a:rPr lang="de-DE" sz="2000" b="0">
                <a:latin typeface="Segoe UI"/>
              </a:rPr>
              <a:t>Global (-g): einmal pro Rechner bzw. node-Version</a:t>
            </a:r>
          </a:p>
          <a:p>
            <a:pPr lvl="1">
              <a:defRPr sz="1700" b="0">
                <a:latin typeface="Segoe UI"/>
              </a:defRPr>
            </a:pPr>
            <a:r>
              <a:rPr lang="de-DE" sz="1700" b="0">
                <a:latin typeface="Segoe UI"/>
              </a:rPr>
              <a:t>Für allgemeine Werkzeuge, z. B. @angular/cli</a:t>
            </a:r>
          </a:p>
          <a:p>
            <a:pPr>
              <a:defRPr sz="2000" b="0">
                <a:latin typeface="Segoe UI"/>
              </a:defRPr>
            </a:pPr>
            <a:r>
              <a:rPr lang="de-DE" sz="2000" b="0">
                <a:latin typeface="Segoe UI"/>
              </a:rPr>
              <a:t>ng im Projekt nutzt trotzdem die lokale CLI-Version</a:t>
            </a:r>
          </a:p>
          <a:p>
            <a:pPr>
              <a:defRPr sz="2000" b="0">
                <a:latin typeface="Segoe UI"/>
              </a:defRPr>
            </a:pPr>
            <a:r>
              <a:rPr lang="de-DE" sz="2000" b="0">
                <a:latin typeface="Segoe UI"/>
              </a:rPr>
              <a:t>Alternative zu global: npx</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Lokal</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npm install rxjs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./node_modules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 package.json</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Global</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npm install -g @angular/cli</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Ordner der node-Version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nicht in package.json</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 ci oder npm install?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npm install: darf Lock-Datei anpassen, behält node_modules</a:t>
            </a:r>
          </a:p>
          <a:p>
            <a:pPr>
              <a:defRPr sz="2000" b="0">
                <a:latin typeface="Segoe UI"/>
              </a:defRPr>
            </a:pPr>
            <a:r>
              <a:rPr lang="de-DE" sz="2000" b="0">
                <a:latin typeface="Segoe UI"/>
              </a:rPr>
              <a:t>npm ci (clean install): löscht node_modules zuerst</a:t>
            </a:r>
          </a:p>
          <a:p>
            <a:pPr lvl="1">
              <a:defRPr sz="1700" b="0">
                <a:latin typeface="Segoe UI"/>
              </a:defRPr>
            </a:pPr>
            <a:r>
              <a:rPr lang="de-DE" sz="1700" b="0">
                <a:latin typeface="Segoe UI"/>
              </a:rPr>
              <a:t>Installiert exakt package-lock.json</a:t>
            </a:r>
          </a:p>
          <a:p>
            <a:pPr lvl="1">
              <a:defRPr sz="1700" b="0">
                <a:latin typeface="Segoe UI"/>
              </a:defRPr>
            </a:pPr>
            <a:r>
              <a:rPr lang="de-DE" sz="1700" b="0">
                <a:latin typeface="Segoe UI"/>
              </a:rPr>
              <a:t>Bricht ab, wenn package.json und Lock nicht passen</a:t>
            </a:r>
          </a:p>
          <a:p>
            <a:pPr>
              <a:defRPr sz="2000" b="0">
                <a:latin typeface="Segoe UI"/>
              </a:defRPr>
            </a:pPr>
            <a:r>
              <a:rPr lang="de-DE" sz="2000" b="0">
                <a:latin typeface="Segoe UI"/>
              </a:rPr>
              <a:t>Einsatz von npm ci: Build-Server, Pipeline, frischer Checkout</a:t>
            </a:r>
          </a:p>
          <a:p>
            <a:pPr>
              <a:defRPr sz="2000" b="0">
                <a:latin typeface="Segoe UI"/>
              </a:defRPr>
            </a:pPr>
            <a:r>
              <a:rPr lang="de-DE" sz="2000" b="0">
                <a:latin typeface="Segoe UI"/>
              </a:rPr>
              <a:t>Beim Entwickeln: npm install</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npm install</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Entwicklung</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darf Lock ändern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behält node_modules</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npm ci</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Build / Pipeline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Lock ist Gesetz</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löscht node_modules</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run: Scripts ausführen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package.json von 26_resourceApi/invoice-app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"scripts":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 "ng",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"start": "ng serve",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"build": "ng build",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"watch": "ng build --watch --configuration development",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 "ng 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start                       # Kurzform von: npm run start  → ng serve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test                        # Kurzform von: npm run test   → ng 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build                   # → ng build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watch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build -- --configuration development   # nach "--": Argumente an 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 listet alle Scripts</a:t>
            </a:r>
            <a:endParaRPr lang="de-DE" sz="1600" b="0" u="none" strike="noStrike">
              <a:solidFill>
                <a:srgbClr val="000000"/>
              </a:solidFill>
              <a:uFillTx/>
              <a:latin typeface="Arial"/>
            </a:endParaRP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Scripts den lokalen ng finden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npm run ergänzt den Suchpfad um node_modules/.bin</a:t>
            </a:r>
          </a:p>
          <a:p>
            <a:pPr>
              <a:defRPr sz="2000" b="0">
                <a:latin typeface="Segoe UI"/>
              </a:defRPr>
            </a:pPr>
            <a:r>
              <a:rPr lang="de-DE" sz="2000" b="0">
                <a:latin typeface="Segoe UI"/>
              </a:rPr>
              <a:t>Dort liegen Befehle der installierten Pakete: ng, vitest, tsc</a:t>
            </a:r>
          </a:p>
          <a:p>
            <a:pPr>
              <a:defRPr sz="2000" b="0">
                <a:latin typeface="Segoe UI"/>
              </a:defRPr>
            </a:pPr>
            <a:r>
              <a:rPr lang="de-DE" sz="2000" b="0">
                <a:latin typeface="Segoe UI"/>
              </a:rPr>
              <a:t>Also läuft immer die Projekt-Version – ohne globale Installation</a:t>
            </a:r>
          </a:p>
          <a:p>
            <a:pPr>
              <a:defRPr sz="2000" b="0">
                <a:latin typeface="Segoe UI"/>
              </a:defRPr>
            </a:pPr>
            <a:r>
              <a:rPr lang="de-DE" sz="2000" b="0">
                <a:latin typeface="Segoe UI"/>
              </a:rPr>
              <a:t>Einheitliche Befehle im Team: npm start, npm test</a:t>
            </a:r>
          </a:p>
          <a:p>
            <a:pPr>
              <a:defRPr sz="2000" b="0">
                <a:latin typeface="Segoe UI"/>
              </a:defRPr>
            </a:pPr>
            <a:r>
              <a:rPr lang="de-DE" sz="2000" b="0">
                <a:latin typeface="Segoe UI"/>
              </a:rPr>
              <a:t>Pipeline ruft dieselben Scripts auf</a:t>
            </a:r>
          </a:p>
          <a:p>
            <a:pPr>
              <a:defRPr sz="2000" b="0">
                <a:latin typeface="Segoe UI"/>
              </a:defRPr>
            </a:pPr>
            <a:r>
              <a:rPr lang="de-DE" sz="2000" b="0">
                <a:latin typeface="Segoe UI"/>
              </a:rPr>
              <a:t>Eigene Scripts möglich, z. B. "lint": "ng lint"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npm start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Script "start": ng serve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node_modules/.bin/ng</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lokale Angular CLI</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outdated und npm update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npm outdated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Package       Current   Wanted   Latest   Location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@angular/core  21.0.1   21.0.6   21.0.6   node_modules/@angular/core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rxjs            7.8.1    7.8.2    7.8.2   node_modules/rxjs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jsdom          28.0.0   28.1.0   29.0.0   node_modules/jsdom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Current: installiert   Wanted: höchste im erlaubten Bereich   Latest: neueste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npm update                    # aktualisiert bis "Wanted", passt Lock-Datei an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npm install -D jsdom@29       # Sprung auf neue Hauptversion: bewusst und einzeln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Für Angular-Pakete besser das Angular-Werkzeug (passt auch Code an):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 update @angular/core @angular/cli</a:t>
            </a:r>
            <a:endParaRPr lang="de-DE" sz="1600" b="0" u="none" strike="noStrike">
              <a:solidFill>
                <a:srgbClr val="000000"/>
              </a:solidFill>
              <a:uFillTx/>
              <a:latin typeface="Arial"/>
            </a:endParaRP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 audit: Sicherheitslücken finden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Gleicht installierte Versionen mit einer Datenbank bekannter Lücken ab</a:t>
            </a:r>
          </a:p>
          <a:p>
            <a:pPr>
              <a:defRPr sz="2000" b="0">
                <a:latin typeface="Segoe UI"/>
              </a:defRPr>
            </a:pPr>
            <a:r>
              <a:rPr lang="de-DE" sz="2000" b="0">
                <a:latin typeface="Segoe UI"/>
              </a:rPr>
              <a:t>Ausgabe: Paket, Schweregrad (low … critical), Abhilfe</a:t>
            </a:r>
          </a:p>
          <a:p>
            <a:pPr>
              <a:defRPr sz="2000" b="0">
                <a:latin typeface="Segoe UI"/>
              </a:defRPr>
            </a:pPr>
            <a:r>
              <a:rPr lang="de-DE" sz="2000" b="0">
                <a:latin typeface="Segoe UI"/>
              </a:rPr>
              <a:t>npm audit fix: aktualisiert im erlaubten Versionsbereich</a:t>
            </a:r>
          </a:p>
          <a:p>
            <a:pPr>
              <a:defRPr sz="2000" b="0">
                <a:latin typeface="Segoe UI"/>
              </a:defRPr>
            </a:pPr>
            <a:r>
              <a:rPr lang="de-DE" sz="2000" b="0">
                <a:latin typeface="Segoe UI"/>
              </a:rPr>
              <a:t>npm audit fix --force: auch neue Hauptversionen – Vorsicht!</a:t>
            </a:r>
          </a:p>
          <a:p>
            <a:pPr>
              <a:defRPr sz="2000" b="0">
                <a:latin typeface="Segoe UI"/>
              </a:defRPr>
            </a:pPr>
            <a:r>
              <a:rPr lang="de-DE" sz="2000" b="0">
                <a:latin typeface="Segoe UI"/>
              </a:rPr>
              <a:t>Lücken in devDependencies betreffen meist nur die Entwicklung</a:t>
            </a:r>
          </a:p>
          <a:p>
            <a:pPr>
              <a:defRPr sz="2000" b="0">
                <a:latin typeface="Segoe UI"/>
              </a:defRPr>
            </a:pPr>
            <a:r>
              <a:rPr lang="de-DE" sz="2000" b="0">
                <a:latin typeface="Segoe UI"/>
              </a:rPr>
              <a:t>Regelmäßig prüfen, z. B. automatisch in der Pipeline</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npx: Werkzeuge ohne Installation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npx führt den Befehl eines Pakets aus</a:t>
            </a:r>
          </a:p>
          <a:p>
            <a:pPr>
              <a:defRPr sz="2000" b="0">
                <a:latin typeface="Segoe UI"/>
              </a:defRPr>
            </a:pPr>
            <a:r>
              <a:rPr lang="de-DE" sz="2000" b="0">
                <a:latin typeface="Segoe UI"/>
              </a:rPr>
              <a:t>Sucht zuerst in node_modules/.bin, sonst lädt es temporär</a:t>
            </a:r>
          </a:p>
          <a:p>
            <a:pPr>
              <a:defRPr sz="2000" b="0">
                <a:latin typeface="Segoe UI"/>
              </a:defRPr>
            </a:pPr>
            <a:r>
              <a:rPr lang="de-DE" sz="2000" b="0">
                <a:latin typeface="Segoe UI"/>
              </a:rPr>
              <a:t>Neues Projekt ohne globale CLI</a:t>
            </a:r>
          </a:p>
          <a:p>
            <a:pPr>
              <a:defRPr sz="2000" b="0">
                <a:latin typeface="Segoe UI"/>
              </a:defRPr>
            </a:pPr>
            <a:r>
              <a:rPr lang="de-DE" sz="2000" b="0">
                <a:latin typeface="Segoe UI"/>
              </a:rPr>
              <a:t>Bestimmte Version gezielt verwenden: paket@version</a:t>
            </a:r>
          </a:p>
          <a:p>
            <a:pPr>
              <a:defRPr sz="2000" b="0">
                <a:latin typeface="Segoe UI"/>
              </a:defRPr>
            </a:pPr>
            <a:r>
              <a:rPr lang="de-DE" sz="2000" b="0">
                <a:latin typeface="Segoe UI"/>
              </a:rPr>
              <a:t>Bei unbekannten Paketen fragt npx vor dem Download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 neues Projekt mit CLI 21</a:t>
            </a:r>
          </a:p>
          <a:p>
            <a:pPr algn="l"/>
            <a:r>
              <a:rPr sz="1500" b="0">
                <a:solidFill>
                  <a:srgbClr val="2B3A42"/>
                </a:solidFill>
                <a:latin typeface="Consolas"/>
              </a:rPr>
              <a:t>npx @angular/cli@21 new shop</a:t>
            </a:r>
          </a:p>
          <a:p>
            <a:pPr algn="l"/>
            <a:r>
              <a:rPr sz="1500" b="0">
                <a:solidFill>
                  <a:srgbClr val="2B3A42"/>
                </a:solidFill>
                <a:latin typeface="Consolas"/>
              </a:rPr>
              <a:t/>
            </a:r>
          </a:p>
          <a:p>
            <a:pPr algn="l"/>
            <a:r>
              <a:rPr sz="1500" b="0">
                <a:solidFill>
                  <a:srgbClr val="2B3A42"/>
                </a:solidFill>
                <a:latin typeface="Consolas"/>
              </a:rPr>
              <a:t># lokale CLI des Projekts</a:t>
            </a:r>
          </a:p>
          <a:p>
            <a:pPr algn="l"/>
            <a:r>
              <a:rPr sz="1500" b="0">
                <a:solidFill>
                  <a:srgbClr val="2B3A42"/>
                </a:solidFill>
                <a:latin typeface="Consolas"/>
              </a:rPr>
              <a:t>npx ng version</a:t>
            </a:r>
          </a:p>
          <a:p>
            <a:pPr algn="l"/>
            <a:r>
              <a:rPr sz="1500" b="0">
                <a:solidFill>
                  <a:srgbClr val="2B3A42"/>
                </a:solidFill>
                <a:latin typeface="Consolas"/>
              </a:rPr>
              <a:t/>
            </a:r>
          </a:p>
          <a:p>
            <a:pPr algn="l"/>
            <a:r>
              <a:rPr sz="1500" b="0">
                <a:solidFill>
                  <a:srgbClr val="2B3A42"/>
                </a:solidFill>
                <a:latin typeface="Consolas"/>
              </a:rPr>
              <a:t># lokales Vitest direkt</a:t>
            </a:r>
          </a:p>
          <a:p>
            <a:pPr algn="l"/>
            <a:r>
              <a:rPr sz="1500" b="0">
                <a:solidFill>
                  <a:srgbClr val="2B3A42"/>
                </a:solidFill>
                <a:latin typeface="Consolas"/>
              </a:rPr>
              <a:t>npx vitest --version</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Node-Modules und package.json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package.json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Beschreibt Projekt bzw. Paket im JSON-Format</a:t>
            </a:r>
          </a:p>
          <a:p>
            <a:pPr>
              <a:defRPr sz="2000" b="0">
                <a:latin typeface="Segoe UI"/>
              </a:defRPr>
            </a:pPr>
            <a:r>
              <a:rPr lang="de-DE" sz="2000" b="0">
                <a:latin typeface="Segoe UI"/>
              </a:rPr>
              <a:t>name, version: Name und Version (SemVer)</a:t>
            </a:r>
          </a:p>
          <a:p>
            <a:pPr>
              <a:defRPr sz="2000" b="0">
                <a:latin typeface="Segoe UI"/>
              </a:defRPr>
            </a:pPr>
            <a:r>
              <a:rPr lang="de-DE" sz="2000" b="0">
                <a:latin typeface="Segoe UI"/>
              </a:rPr>
              <a:t>private: true – verhindert versehentliches Veröffentlichen</a:t>
            </a:r>
          </a:p>
          <a:p>
            <a:pPr>
              <a:defRPr sz="2000" b="0">
                <a:latin typeface="Segoe UI"/>
              </a:defRPr>
            </a:pPr>
            <a:r>
              <a:rPr lang="de-DE" sz="2000" b="0">
                <a:latin typeface="Segoe UI"/>
              </a:rPr>
              <a:t>scripts: Kurzbefehle für npm run</a:t>
            </a:r>
          </a:p>
          <a:p>
            <a:pPr>
              <a:defRPr sz="2000" b="0">
                <a:latin typeface="Segoe UI"/>
              </a:defRPr>
            </a:pPr>
            <a:r>
              <a:rPr lang="de-DE" sz="2000" b="0">
                <a:latin typeface="Segoe UI"/>
              </a:rPr>
              <a:t>dependencies / devDependencies: benötigte Pakete</a:t>
            </a:r>
          </a:p>
          <a:p>
            <a:pPr>
              <a:defRPr sz="2000" b="0">
                <a:latin typeface="Segoe UI"/>
              </a:defRPr>
            </a:pPr>
            <a:r>
              <a:rPr lang="de-DE" sz="2000" b="0">
                <a:latin typeface="Segoe UI"/>
              </a:rPr>
              <a:t>Weitere: description, author, license, main, type, engines</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package.json</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name, version</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scripts</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dependencies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devDependencies</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main, type, engines</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package.json eines Übungsprojekts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"name": "invoice-app",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"version": "0.0.0",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true,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"scripts": { "start": "ng serve", "build": "ng build", "test": "ng test"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"dependencies":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"@angular/core": "^21.0.0", "@angular/router": "^21.0.0",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"rxjs": "^7.8.0", "tslib": "^2.1.0"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"devDependencies":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"@angular/build": "^21.0.0", "@angular/cli": "^21.0.0",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"typescript": "~5.9.0", "vitest": "~4.0.18"</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dependencies oder devDependencies?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dependencies: Code, der später im Browser läuft</a:t>
            </a:r>
          </a:p>
          <a:p>
            <a:pPr lvl="1">
              <a:defRPr sz="1700" b="0">
                <a:latin typeface="Segoe UI"/>
              </a:defRPr>
            </a:pPr>
            <a:r>
              <a:rPr lang="de-DE" sz="1700" b="0">
                <a:latin typeface="Segoe UI"/>
              </a:rPr>
              <a:t>@angular/core, @angular/router, rxjs, tslib</a:t>
            </a:r>
          </a:p>
          <a:p>
            <a:pPr>
              <a:defRPr sz="2000" b="0">
                <a:latin typeface="Segoe UI"/>
              </a:defRPr>
            </a:pPr>
            <a:r>
              <a:rPr lang="de-DE" sz="2000" b="0">
                <a:latin typeface="Segoe UI"/>
              </a:rPr>
              <a:t>devDependencies: nur zum Bauen, Testen, Prüfen</a:t>
            </a:r>
          </a:p>
          <a:p>
            <a:pPr lvl="1">
              <a:defRPr sz="1700" b="0">
                <a:latin typeface="Segoe UI"/>
              </a:defRPr>
            </a:pPr>
            <a:r>
              <a:rPr lang="de-DE" sz="1700" b="0">
                <a:latin typeface="Segoe UI"/>
              </a:rPr>
              <a:t>@angular/cli, @angular/build, typescript, vitest</a:t>
            </a:r>
          </a:p>
          <a:p>
            <a:pPr>
              <a:defRPr sz="2000" b="0">
                <a:latin typeface="Segoe UI"/>
              </a:defRPr>
            </a:pPr>
            <a:r>
              <a:rPr lang="de-DE" sz="2000" b="0">
                <a:latin typeface="Segoe UI"/>
              </a:rPr>
              <a:t>npm install installiert beide</a:t>
            </a:r>
          </a:p>
          <a:p>
            <a:pPr>
              <a:defRPr sz="2000" b="0">
                <a:latin typeface="Segoe UI"/>
              </a:defRPr>
            </a:pPr>
            <a:r>
              <a:rPr lang="de-DE" sz="2000" b="0">
                <a:latin typeface="Segoe UI"/>
              </a:rPr>
              <a:t>npm install --omit=dev lässt devDependencies weg</a:t>
            </a:r>
          </a:p>
          <a:p>
            <a:pPr>
              <a:defRPr sz="2000" b="0">
                <a:latin typeface="Segoe UI"/>
              </a:defRPr>
            </a:pPr>
            <a:r>
              <a:rPr lang="de-DE" sz="2000" b="0">
                <a:latin typeface="Segoe UI"/>
              </a:rPr>
              <a:t>Bei Angular entscheidet der Build, was ins Bundle kommt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dependencies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@angular/core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@angular/router</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rxjs, tslib</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devDependencies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@angular/cli</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@angular/build</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typescript, vitest</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Versionsnummern: Semantic Versioning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Aufbau: MAJOR.MINOR.PATCH, z. B. 21.0.6</a:t>
            </a:r>
          </a:p>
          <a:p>
            <a:pPr>
              <a:defRPr sz="2000" b="0">
                <a:latin typeface="Segoe UI"/>
              </a:defRPr>
            </a:pPr>
            <a:r>
              <a:rPr lang="de-DE" sz="2000" b="0">
                <a:latin typeface="Segoe UI"/>
              </a:rPr>
              <a:t>MAJOR: inkompatible Änderungen (Breaking Changes)</a:t>
            </a:r>
          </a:p>
          <a:p>
            <a:pPr>
              <a:defRPr sz="2000" b="0">
                <a:latin typeface="Segoe UI"/>
              </a:defRPr>
            </a:pPr>
            <a:r>
              <a:rPr lang="de-DE" sz="2000" b="0">
                <a:latin typeface="Segoe UI"/>
              </a:rPr>
              <a:t>MINOR: neue Funktionen, abwärtskompatibel</a:t>
            </a:r>
          </a:p>
          <a:p>
            <a:pPr>
              <a:defRPr sz="2000" b="0">
                <a:latin typeface="Segoe UI"/>
              </a:defRPr>
            </a:pPr>
            <a:r>
              <a:rPr lang="de-DE" sz="2000" b="0">
                <a:latin typeface="Segoe UI"/>
              </a:rPr>
              <a:t>PATCH: nur Fehlerkorrekturen</a:t>
            </a:r>
          </a:p>
          <a:p>
            <a:pPr>
              <a:defRPr sz="2000" b="0">
                <a:latin typeface="Segoe UI"/>
              </a:defRPr>
            </a:pPr>
            <a:r>
              <a:rPr lang="de-DE" sz="2000" b="0">
                <a:latin typeface="Segoe UI"/>
              </a:rPr>
              <a:t>Vorabversionen: 22.0.0-next.1, 22.0.0-rc.0</a:t>
            </a:r>
          </a:p>
          <a:p>
            <a:pPr>
              <a:defRPr sz="2000" b="0">
                <a:latin typeface="Segoe UI"/>
              </a:defRPr>
            </a:pPr>
            <a:r>
              <a:rPr lang="de-DE" sz="2000" b="0">
                <a:latin typeface="Segoe UI"/>
              </a:rPr>
              <a:t>Angular: alle 6 Monate eine neue Hauptversion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21 = MAJOR</a:t>
            </a:r>
          </a:p>
          <a:p>
            <a:pPr algn="ctr"/>
            <a:r>
              <a:rPr sz="1700" b="1">
                <a:solidFill>
                  <a:srgbClr val="FFFFFF"/>
                </a:solidFill>
                <a:latin typeface="Segoe UI"/>
              </a:rPr>
              <a:t>Breaking Changes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0 = MINOR</a:t>
            </a:r>
          </a:p>
          <a:p>
            <a:pPr algn="ctr"/>
            <a:r>
              <a:rPr sz="1700" b="1">
                <a:solidFill>
                  <a:srgbClr val="FFFFFF"/>
                </a:solidFill>
                <a:latin typeface="Segoe UI"/>
              </a:rPr>
              <a:t>neue Funktionen</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6 = PATCH</a:t>
            </a:r>
          </a:p>
          <a:p>
            <a:pPr algn="ctr"/>
            <a:r>
              <a:rPr sz="1700" b="0">
                <a:solidFill>
                  <a:srgbClr val="2B3A42"/>
                </a:solidFill>
                <a:latin typeface="Segoe UI"/>
              </a:rPr>
              <a:t>Fehlerkorrekturen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21.0.6</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Versionsbereiche: ^ und ~</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^21.0.0 (Dach): gleiche Hauptversion</a:t>
            </a:r>
          </a:p>
          <a:p>
            <a:pPr lvl="1">
              <a:defRPr sz="1700" b="0">
                <a:latin typeface="Segoe UI"/>
              </a:defRPr>
            </a:pPr>
            <a:r>
              <a:rPr lang="de-DE" sz="1700" b="0">
                <a:latin typeface="Segoe UI"/>
              </a:rPr>
              <a:t>&gt;= 21.0.0 und &lt; 22.0.0 – erlaubt Minor- und Patch-Updates</a:t>
            </a:r>
          </a:p>
          <a:p>
            <a:pPr>
              <a:defRPr sz="2000" b="0">
                <a:latin typeface="Segoe UI"/>
              </a:defRPr>
            </a:pPr>
            <a:r>
              <a:rPr lang="de-DE" sz="2000" b="0">
                <a:latin typeface="Segoe UI"/>
              </a:rPr>
              <a:t>~5.9.0 (Tilde): gleiche Minor-Version</a:t>
            </a:r>
          </a:p>
          <a:p>
            <a:pPr lvl="1">
              <a:defRPr sz="1700" b="0">
                <a:latin typeface="Segoe UI"/>
              </a:defRPr>
            </a:pPr>
            <a:r>
              <a:rPr lang="de-DE" sz="1700" b="0">
                <a:latin typeface="Segoe UI"/>
              </a:rPr>
              <a:t>&gt;= 5.9.0 und &lt; 5.10.0 – nur Patch-Updates</a:t>
            </a:r>
          </a:p>
          <a:p>
            <a:pPr>
              <a:defRPr sz="2000" b="0">
                <a:latin typeface="Segoe UI"/>
              </a:defRPr>
            </a:pPr>
            <a:r>
              <a:rPr lang="de-DE" sz="2000" b="0">
                <a:latin typeface="Segoe UI"/>
              </a:rPr>
              <a:t>21.0.6 ohne Zeichen: genau diese Version</a:t>
            </a:r>
          </a:p>
          <a:p>
            <a:pPr>
              <a:defRPr sz="2000" b="0">
                <a:latin typeface="Segoe UI"/>
              </a:defRPr>
            </a:pPr>
            <a:r>
              <a:rPr lang="de-DE" sz="2000" b="0">
                <a:latin typeface="Segoe UI"/>
              </a:rPr>
              <a:t>Sonderfall ^0.x: ^0.2.3 erlaubt nur &lt; 0.3.0</a:t>
            </a:r>
          </a:p>
          <a:p>
            <a:pPr>
              <a:defRPr sz="2000" b="0">
                <a:latin typeface="Segoe UI"/>
              </a:defRPr>
            </a:pPr>
            <a:r>
              <a:rPr lang="de-DE" sz="2000" b="0">
                <a:latin typeface="Segoe UI"/>
              </a:rPr>
              <a:t>TypeScript mit ~: Angular unterstützt nur bestimmte Minor-Versionen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Was ist erlaubt?</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^21.0.0</a:t>
            </a:r>
          </a:p>
          <a:p>
            <a:pPr algn="l"/>
            <a:r>
              <a:rPr sz="1500" b="0">
                <a:solidFill>
                  <a:srgbClr val="2B3A42"/>
                </a:solidFill>
                <a:latin typeface="Consolas"/>
              </a:rPr>
              <a:t>  21.0.6  ja</a:t>
            </a:r>
          </a:p>
          <a:p>
            <a:pPr algn="l"/>
            <a:r>
              <a:rPr sz="1500" b="0">
                <a:solidFill>
                  <a:srgbClr val="2B3A42"/>
                </a:solidFill>
                <a:latin typeface="Consolas"/>
              </a:rPr>
              <a:t>  21.2.0  ja</a:t>
            </a:r>
          </a:p>
          <a:p>
            <a:pPr algn="l"/>
            <a:r>
              <a:rPr sz="1500" b="0">
                <a:solidFill>
                  <a:srgbClr val="2B3A42"/>
                </a:solidFill>
                <a:latin typeface="Consolas"/>
              </a:rPr>
              <a:t>  22.0.0  nein</a:t>
            </a:r>
          </a:p>
          <a:p>
            <a:pPr algn="l"/>
            <a:r>
              <a:rPr sz="1500" b="0">
                <a:solidFill>
                  <a:srgbClr val="2B3A42"/>
                </a:solidFill>
                <a:latin typeface="Consolas"/>
              </a:rPr>
              <a:t/>
            </a:r>
          </a:p>
          <a:p>
            <a:pPr algn="l"/>
            <a:r>
              <a:rPr sz="1500" b="0">
                <a:solidFill>
                  <a:srgbClr val="2B3A42"/>
                </a:solidFill>
                <a:latin typeface="Consolas"/>
              </a:rPr>
              <a:t>~5.9.0</a:t>
            </a:r>
          </a:p>
          <a:p>
            <a:pPr algn="l"/>
            <a:r>
              <a:rPr sz="1500" b="0">
                <a:solidFill>
                  <a:srgbClr val="2B3A42"/>
                </a:solidFill>
                <a:latin typeface="Consolas"/>
              </a:rPr>
              <a:t>  5.9.3   ja</a:t>
            </a:r>
          </a:p>
          <a:p>
            <a:pPr algn="l"/>
            <a:r>
              <a:rPr sz="1500" b="0">
                <a:solidFill>
                  <a:srgbClr val="2B3A42"/>
                </a:solidFill>
                <a:latin typeface="Consolas"/>
              </a:rPr>
              <a:t>  5.10.0  nein</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package-lock.json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Hält den exakten Stand aller installierten Pakete fest</a:t>
            </a:r>
          </a:p>
          <a:p>
            <a:pPr lvl="1">
              <a:defRPr sz="1700" b="0">
                <a:latin typeface="Segoe UI"/>
              </a:defRPr>
            </a:pPr>
            <a:r>
              <a:rPr lang="de-DE" sz="1700" b="0">
                <a:latin typeface="Segoe UI"/>
              </a:rPr>
              <a:t>Version, Download-Adresse (resolved), Prüfsumme (integrity)</a:t>
            </a:r>
          </a:p>
          <a:p>
            <a:pPr lvl="1">
              <a:defRPr sz="1700" b="0">
                <a:latin typeface="Segoe UI"/>
              </a:defRPr>
            </a:pPr>
            <a:r>
              <a:rPr lang="de-DE" sz="1700" b="0">
                <a:latin typeface="Segoe UI"/>
              </a:rPr>
              <a:t>Auch alle indirekten Abhängigkeiten</a:t>
            </a:r>
          </a:p>
          <a:p>
            <a:pPr>
              <a:defRPr sz="2000" b="0">
                <a:latin typeface="Segoe UI"/>
              </a:defRPr>
            </a:pPr>
            <a:r>
              <a:rPr lang="de-DE" sz="2000" b="0">
                <a:latin typeface="Segoe UI"/>
              </a:rPr>
              <a:t>Wird von npm geschrieben – nicht von Hand bearbeiten</a:t>
            </a:r>
          </a:p>
          <a:p>
            <a:pPr>
              <a:defRPr sz="2000" b="0">
                <a:latin typeface="Segoe UI"/>
              </a:defRPr>
            </a:pPr>
            <a:r>
              <a:rPr lang="de-DE" sz="2000" b="0">
                <a:latin typeface="Segoe UI"/>
              </a:rPr>
              <a:t>Immer mit einchecken (Git)</a:t>
            </a:r>
          </a:p>
          <a:p>
            <a:pPr>
              <a:defRPr sz="2000" b="0">
                <a:latin typeface="Segoe UI"/>
              </a:defRPr>
            </a:pPr>
            <a:r>
              <a:rPr lang="de-DE" sz="2000" b="0">
                <a:latin typeface="Segoe UI"/>
              </a:rPr>
              <a:t>Grund: alle bauen mit identischen Versionen, npm ci braucht sie</a:t>
            </a:r>
          </a:p>
          <a:p>
            <a:pPr>
              <a:defRPr sz="2000" b="0">
                <a:latin typeface="Segoe UI"/>
              </a:defRPr>
            </a:pPr>
            <a:r>
              <a:rPr lang="de-DE" sz="2000" b="0">
                <a:latin typeface="Segoe UI"/>
              </a:rPr>
              <a:t>Merge-Konflikt: Datei aus Ziel-Branch nehmen, npm install</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package.json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Bereiche: ^21.0.0</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direkte Pakete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von Hand gepflegt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package-lock.json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exakt: 21.0.6</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alle Pakete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von npm erzeugt</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 eigenes Projekt anlegen: npm init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Jedes npm-Projekt ist selbst ein Paket (Node-Module)</a:t>
            </a:r>
          </a:p>
          <a:p>
            <a:pPr>
              <a:defRPr sz="2000" b="0">
                <a:latin typeface="Segoe UI"/>
              </a:defRPr>
            </a:pPr>
            <a:r>
              <a:rPr lang="de-DE" sz="2000" b="0">
                <a:latin typeface="Segoe UI"/>
              </a:rPr>
              <a:t>npm init fragt Name, Version, Beschreibung, … ab</a:t>
            </a:r>
          </a:p>
          <a:p>
            <a:pPr>
              <a:defRPr sz="2000" b="0">
                <a:latin typeface="Segoe UI"/>
              </a:defRPr>
            </a:pPr>
            <a:r>
              <a:rPr lang="de-DE" sz="2000" b="0">
                <a:latin typeface="Segoe UI"/>
              </a:rPr>
              <a:t>npm init -y übernimmt alle Vorgaben ohne Fragen</a:t>
            </a:r>
          </a:p>
          <a:p>
            <a:pPr>
              <a:defRPr sz="2000" b="0">
                <a:latin typeface="Segoe UI"/>
              </a:defRPr>
            </a:pPr>
            <a:r>
              <a:rPr lang="de-DE" sz="2000" b="0">
                <a:latin typeface="Segoe UI"/>
              </a:rPr>
              <a:t>Ergebnis: eine neue package.json</a:t>
            </a:r>
          </a:p>
          <a:p>
            <a:pPr>
              <a:defRPr sz="2000" b="0">
                <a:latin typeface="Segoe UI"/>
              </a:defRPr>
            </a:pPr>
            <a:r>
              <a:rPr lang="de-DE" sz="2000" b="0">
                <a:latin typeface="Segoe UI"/>
              </a:rPr>
              <a:t>Bei Angular übernimmt ng new diesen Schritt</a:t>
            </a:r>
          </a:p>
          <a:p>
            <a:pPr lvl="1">
              <a:defRPr sz="1700" b="0">
                <a:latin typeface="Segoe UI"/>
              </a:defRPr>
            </a:pPr>
            <a:r>
              <a:rPr lang="de-DE" sz="1700" b="0">
                <a:latin typeface="Segoe UI"/>
              </a:rPr>
              <a:t>inklusive Abhängigkeiten, Scripts und npm install</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202022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mkdir npm-sample</a:t>
            </a:r>
          </a:p>
          <a:p>
            <a:pPr algn="l"/>
            <a:r>
              <a:rPr sz="1500" b="0">
                <a:solidFill>
                  <a:srgbClr val="2B3A42"/>
                </a:solidFill>
                <a:latin typeface="Consolas"/>
              </a:rPr>
              <a:t>cd npm-sample</a:t>
            </a:r>
          </a:p>
          <a:p>
            <a:pPr algn="l"/>
            <a:r>
              <a:rPr sz="1500" b="0">
                <a:solidFill>
                  <a:srgbClr val="2B3A42"/>
                </a:solidFill>
                <a:latin typeface="Consolas"/>
              </a:rPr>
              <a:t>npm init -y</a:t>
            </a:r>
          </a:p>
          <a:p>
            <a:pPr algn="l"/>
            <a:r>
              <a:rPr sz="1500" b="0">
                <a:solidFill>
                  <a:srgbClr val="2B3A42"/>
                </a:solidFill>
                <a:latin typeface="Consolas"/>
              </a:rPr>
              <a:t>npm install express</a:t>
            </a:r>
          </a:p>
          <a:p>
            <a:pPr algn="l"/>
            <a:r>
              <a:rPr sz="1500" b="0">
                <a:solidFill>
                  <a:srgbClr val="2B3A42"/>
                </a:solidFill>
                <a:latin typeface="Consolas"/>
              </a:rPr>
              <a:t/>
            </a:r>
          </a:p>
          <a:p>
            <a:pPr algn="l"/>
            <a:r>
              <a:rPr sz="1500" b="0">
                <a:solidFill>
                  <a:srgbClr val="2B3A42"/>
                </a:solidFill>
                <a:latin typeface="Consolas"/>
              </a:rPr>
              <a:t># Angular:</a:t>
            </a:r>
          </a:p>
          <a:p>
            <a:pPr algn="l"/>
            <a:r>
              <a:rPr sz="1500" b="0">
                <a:solidFill>
                  <a:srgbClr val="2B3A42"/>
                </a:solidFill>
                <a:latin typeface="Consolas"/>
              </a:rPr>
              <a:t>ng new shop</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package.json nach npm init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"name": "npm-sample",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"version": "1.0.0",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"description": "a simple training project",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"main": "index.js",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 "commonjs",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"scripts":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"start": "node index.js",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 "echo \"Error: no test specified\" &amp;&amp; exit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"keywords": ["training"],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"author": "theAuthor",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"license": "ISC",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"engines": { "node": "&gt;=22.12"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Ordner node_modules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Enthält alle installierten Pakete, je mit eigener package.json</a:t>
            </a:r>
          </a:p>
          <a:p>
            <a:pPr>
              <a:defRPr sz="2000" b="0">
                <a:latin typeface="Segoe UI"/>
              </a:defRPr>
            </a:pPr>
            <a:r>
              <a:rPr lang="de-DE" sz="2000" b="0">
                <a:latin typeface="Segoe UI"/>
              </a:rPr>
              <a:t>Flach: Abhängigkeiten von Abhängigkeiten liegen meist oben</a:t>
            </a:r>
          </a:p>
          <a:p>
            <a:pPr>
              <a:defRPr sz="2000" b="0">
                <a:latin typeface="Segoe UI"/>
              </a:defRPr>
            </a:pPr>
            <a:r>
              <a:rPr lang="de-DE" sz="2000" b="0">
                <a:latin typeface="Segoe UI"/>
              </a:rPr>
              <a:t>Verschachtelt nur bei Versionskonflikten</a:t>
            </a:r>
          </a:p>
          <a:p>
            <a:pPr>
              <a:defRPr sz="2000" b="0">
                <a:latin typeface="Segoe UI"/>
              </a:defRPr>
            </a:pPr>
            <a:r>
              <a:rPr lang="de-DE" sz="2000" b="0">
                <a:latin typeface="Segoe UI"/>
              </a:rPr>
              <a:t>.bin/ enthält die Befehle (ng, vitest, tsc)</a:t>
            </a:r>
          </a:p>
          <a:p>
            <a:pPr>
              <a:defRPr sz="2000" b="0">
                <a:latin typeface="Segoe UI"/>
              </a:defRPr>
            </a:pPr>
            <a:r>
              <a:rPr lang="de-DE" sz="2000" b="0">
                <a:latin typeface="Segoe UI"/>
              </a:rPr>
              <a:t>Groß (oft Hunderte MB) – nie einchecken (.gitignore)</a:t>
            </a:r>
          </a:p>
          <a:p>
            <a:pPr>
              <a:defRPr sz="2000" b="0">
                <a:latin typeface="Segoe UI"/>
              </a:defRPr>
            </a:pPr>
            <a:r>
              <a:rPr lang="de-DE" sz="2000" b="0">
                <a:latin typeface="Segoe UI"/>
              </a:rPr>
              <a:t>Kaputt? Ordner löschen und npm install bzw. npm ci</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node_modules/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.bin/</a:t>
            </a:r>
          </a:p>
          <a:p>
            <a:pPr algn="ctr"/>
            <a:r>
              <a:rPr sz="1400" b="0">
                <a:solidFill>
                  <a:srgbClr val="2B3A42"/>
                </a:solidFill>
                <a:latin typeface="Segoe UI"/>
              </a:rPr>
              <a:t>ng, vitest</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a:t>
            </a:r>
          </a:p>
          <a:p>
            <a:pPr algn="ctr"/>
            <a:r>
              <a:rPr sz="1400" b="0">
                <a:solidFill>
                  <a:srgbClr val="2B3A42"/>
                </a:solidFill>
                <a:latin typeface="Segoe UI"/>
              </a:rPr>
              <a:t>core, router, …</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rxjs/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tslib/</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.package-lock.json</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Aufbau eines Pakets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package.json: Name, Version, eigene Abhängigkeiten</a:t>
            </a:r>
          </a:p>
          <a:p>
            <a:pPr>
              <a:defRPr sz="2000" b="0">
                <a:latin typeface="Segoe UI"/>
              </a:defRPr>
            </a:pPr>
            <a:r>
              <a:rPr lang="de-DE" sz="2000" b="0">
                <a:latin typeface="Segoe UI"/>
              </a:rPr>
              <a:t>Einstiegspunkt: main oder exports</a:t>
            </a:r>
          </a:p>
          <a:p>
            <a:pPr lvl="1">
              <a:defRPr sz="1700" b="0">
                <a:latin typeface="Segoe UI"/>
              </a:defRPr>
            </a:pPr>
            <a:r>
              <a:rPr lang="de-DE" sz="1700" b="0">
                <a:latin typeface="Segoe UI"/>
              </a:rPr>
              <a:t>Datei, die beim Import des Paketnamens geladen wird</a:t>
            </a:r>
          </a:p>
          <a:p>
            <a:pPr>
              <a:defRPr sz="2000" b="0">
                <a:latin typeface="Segoe UI"/>
              </a:defRPr>
            </a:pPr>
            <a:r>
              <a:rPr lang="de-DE" sz="2000" b="0">
                <a:latin typeface="Segoe UI"/>
              </a:rPr>
              <a:t>types: TypeScript-Typen (*.d.ts) für den Editor</a:t>
            </a:r>
          </a:p>
          <a:p>
            <a:pPr>
              <a:defRPr sz="2000" b="0">
                <a:latin typeface="Segoe UI"/>
              </a:defRPr>
            </a:pPr>
            <a:r>
              <a:rPr lang="de-DE" sz="2000" b="0">
                <a:latin typeface="Segoe UI"/>
              </a:rPr>
              <a:t>Abhängigkeiten werden mit installiert</a:t>
            </a:r>
          </a:p>
          <a:p>
            <a:pPr>
              <a:defRPr sz="2000" b="0">
                <a:latin typeface="Segoe UI"/>
              </a:defRPr>
            </a:pPr>
            <a:r>
              <a:rPr lang="de-DE" sz="2000" b="0">
                <a:latin typeface="Segoe UI"/>
              </a:rPr>
              <a:t>Beispiel: node_modules/rxjs/package.json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rxjs/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package.json</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dist/cjs/ (require)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dist/esm/ (import)</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dist/types/ (*.d.ts)</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CommonJS und ES-Module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CommonJS (CJS): das klassische Modulsystem von node.js</a:t>
            </a:r>
          </a:p>
          <a:p>
            <a:pPr lvl="1">
              <a:defRPr sz="1700" b="0">
                <a:latin typeface="Segoe UI"/>
              </a:defRPr>
            </a:pPr>
            <a:r>
              <a:rPr lang="de-DE" sz="1700" b="0">
                <a:latin typeface="Segoe UI"/>
              </a:rPr>
              <a:t>require() lädt, module.exports gibt frei – synchron</a:t>
            </a:r>
          </a:p>
          <a:p>
            <a:pPr>
              <a:defRPr sz="2000" b="0">
                <a:latin typeface="Segoe UI"/>
              </a:defRPr>
            </a:pPr>
            <a:r>
              <a:rPr lang="de-DE" sz="2000" b="0">
                <a:latin typeface="Segoe UI"/>
              </a:rPr>
              <a:t>ES-Module (ESM): Standard von JavaScript seit ES2015</a:t>
            </a:r>
          </a:p>
          <a:p>
            <a:pPr lvl="1">
              <a:defRPr sz="1700" b="0">
                <a:latin typeface="Segoe UI"/>
              </a:defRPr>
            </a:pPr>
            <a:r>
              <a:rPr lang="de-DE" sz="1700" b="0">
                <a:latin typeface="Segoe UI"/>
              </a:rPr>
              <a:t>import / export – Browser, TypeScript, Angular</a:t>
            </a:r>
          </a:p>
          <a:p>
            <a:pPr>
              <a:defRPr sz="2000" b="0">
                <a:latin typeface="Segoe UI"/>
              </a:defRPr>
            </a:pPr>
            <a:r>
              <a:rPr lang="de-DE" sz="2000" b="0">
                <a:latin typeface="Segoe UI"/>
              </a:rPr>
              <a:t>Neue node-Projekte nutzen zunehmend ESM</a:t>
            </a:r>
          </a:p>
          <a:p>
            <a:pPr>
              <a:defRPr sz="2000" b="0">
                <a:latin typeface="Segoe UI"/>
              </a:defRPr>
            </a:pPr>
            <a:r>
              <a:rPr lang="de-DE" sz="2000" b="0">
                <a:latin typeface="Segoe UI"/>
              </a:rPr>
              <a:t>Im Angular-Code schreibt man immer import / export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CommonJS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require('./x')</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module.exports = …</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.js / .cjs</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ES-Module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 { a } from './x.js'</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export function a()</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.mjs oder "type": "module"</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Woran node.js das Modulsystem erkennt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Endung .mjs: immer ES-Modul</a:t>
            </a:r>
          </a:p>
          <a:p>
            <a:pPr>
              <a:defRPr sz="2000" b="0">
                <a:latin typeface="Segoe UI"/>
              </a:defRPr>
            </a:pPr>
            <a:r>
              <a:rPr lang="de-DE" sz="2000" b="0">
                <a:latin typeface="Segoe UI"/>
              </a:rPr>
              <a:t>Endung .cjs: immer CommonJS</a:t>
            </a:r>
          </a:p>
          <a:p>
            <a:pPr>
              <a:defRPr sz="2000" b="0">
                <a:latin typeface="Segoe UI"/>
              </a:defRPr>
            </a:pPr>
            <a:r>
              <a:rPr lang="de-DE" sz="2000" b="0">
                <a:latin typeface="Segoe UI"/>
              </a:rPr>
              <a:t>Endung .js: entscheidet "type" in der nächsten package.json</a:t>
            </a:r>
          </a:p>
          <a:p>
            <a:pPr lvl="1">
              <a:defRPr sz="1700" b="0">
                <a:latin typeface="Segoe UI"/>
              </a:defRPr>
            </a:pPr>
            <a:r>
              <a:rPr lang="de-DE" sz="1700" b="0">
                <a:latin typeface="Segoe UI"/>
              </a:rPr>
              <a:t>"type": "module" → ESM, sonst CommonJS</a:t>
            </a:r>
          </a:p>
          <a:p>
            <a:pPr>
              <a:defRPr sz="2000" b="0">
                <a:latin typeface="Segoe UI"/>
              </a:defRPr>
            </a:pPr>
            <a:r>
              <a:rPr lang="de-DE" sz="2000" b="0">
                <a:latin typeface="Segoe UI"/>
              </a:rPr>
              <a:t>Bei ESM in node: Dateiendung im Pfad angeben (./x.js)</a:t>
            </a:r>
          </a:p>
          <a:p>
            <a:pPr>
              <a:defRPr sz="2000" b="0">
                <a:latin typeface="Segoe UI"/>
              </a:defRPr>
            </a:pPr>
            <a:r>
              <a:rPr lang="de-DE" sz="2000" b="0">
                <a:latin typeface="Segoe UI"/>
              </a:rPr>
              <a:t>Neuere node-Versionen laden ESM auch per require()</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Eigenes Modul mit CommonJS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gruss.js – das Modul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anrede = 'Hallo';                        // privat: nicht exportiert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gruesse(name)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`${anrede},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module.exports = { gruesse, version: '1.0.0' };   // Freigabe nach außen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app.js – das Programm, starten mit: node app.js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gruss = require('./gruss.js');           // Rückgabe = module.exports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console.log(gruss.gruesse('Angular'));         // Hallo,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console.log(gruss.version);                    // 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Kurzform mit Destrukturierung: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gruesse } = require('./gruss.js');</a:t>
            </a:r>
            <a:endParaRPr lang="de-DE" sz="1600" b="0" u="none" strike="noStrike">
              <a:solidFill>
                <a:srgbClr val="000000"/>
              </a:solidFill>
              <a:uFillTx/>
              <a:latin typeface="Arial"/>
            </a:endParaRP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Dasselbe Modul als ES-Modul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gruss.mjs – das Modul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anrede = 'Hallo';                        // privat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function gruesse(name) {                // benannter Export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`${anrede},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version = '1.0.0';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app.mjs – das Programm, starten mit: node app.mjs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gruesse, version } from './gruss.mjs';   // Endung angeben!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console.log(gruesse('Angular'));               // Hallo,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console.log(version);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Eingebaute Module und Pakete: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readFile } from 'node:fs/promises';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map } from 'rxjs';</a:t>
            </a:r>
            <a:endParaRPr lang="de-DE" sz="1600" b="0" u="none" strike="noStrike">
              <a:solidFill>
                <a:srgbClr val="000000"/>
              </a:solidFill>
              <a:uFillTx/>
              <a:latin typeface="Arial"/>
            </a:endParaRP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beim Laden eines Moduls passiert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Code des Moduls läuft beim ersten Laden genau einmal</a:t>
            </a:r>
          </a:p>
          <a:p>
            <a:pPr>
              <a:defRPr sz="2000" b="0">
                <a:latin typeface="Segoe UI"/>
              </a:defRPr>
            </a:pPr>
            <a:r>
              <a:rPr lang="de-DE" sz="2000" b="0">
                <a:latin typeface="Segoe UI"/>
              </a:rPr>
              <a:t>Das Ergebnis wird zwischengespeichert</a:t>
            </a:r>
          </a:p>
          <a:p>
            <a:pPr lvl="1">
              <a:defRPr sz="1700" b="0">
                <a:latin typeface="Segoe UI"/>
              </a:defRPr>
            </a:pPr>
            <a:r>
              <a:rPr lang="de-DE" sz="1700" b="0">
                <a:latin typeface="Segoe UI"/>
              </a:rPr>
              <a:t>Jedes weitere require/import bekommt dasselbe Objekt</a:t>
            </a:r>
          </a:p>
          <a:p>
            <a:pPr>
              <a:defRPr sz="2000" b="0">
                <a:latin typeface="Segoe UI"/>
              </a:defRPr>
            </a:pPr>
            <a:r>
              <a:rPr lang="de-DE" sz="2000" b="0">
                <a:latin typeface="Segoe UI"/>
              </a:rPr>
              <a:t>Jedes Modul hat einen eigenen Gültigkeitsbereich</a:t>
            </a:r>
          </a:p>
          <a:p>
            <a:pPr lvl="1">
              <a:defRPr sz="1700" b="0">
                <a:latin typeface="Segoe UI"/>
              </a:defRPr>
            </a:pPr>
            <a:r>
              <a:rPr lang="de-DE" sz="1700" b="0">
                <a:latin typeface="Segoe UI"/>
              </a:rPr>
              <a:t>Variablen sind privat, solange sie nicht exportiert werden</a:t>
            </a:r>
          </a:p>
          <a:p>
            <a:pPr>
              <a:defRPr sz="2000" b="0">
                <a:latin typeface="Segoe UI"/>
              </a:defRPr>
            </a:pPr>
            <a:r>
              <a:rPr lang="de-DE" sz="2000" b="0">
                <a:latin typeface="Segoe UI"/>
              </a:rPr>
              <a:t>Ähnlich in Angular: eine Datei = ein Modul mit Exporten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require / import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Schon im Cache?</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Nein: Code einmal ausführen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Exporte speichern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Exporte zurückgeben</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require im Ablauf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Code eines Moduls läuft nur einmal – danach kommt das Objekt aus dem Cache</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app.js</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require</a:t>
            </a:r>
          </a:p>
          <a:p>
            <a:pPr algn="ctr"/>
            <a:r>
              <a:rPr sz="1400" b="1">
                <a:solidFill>
                  <a:srgbClr val="FFFFFF"/>
                </a:solidFill>
                <a:latin typeface="Segoe UI"/>
              </a:rPr>
              <a:t>(node.js)</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Modul-Cache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Dateisystem</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gruss.js</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require('./gruss.js')</a:t>
            </a:r>
          </a:p>
        </p:txBody>
      </p:sp>
      <p:cxnSp>
        <p:nvCxnSpPr>
          <p:cNvPr id="16" name="Connector 15"/>
          <p:cNvCxnSpPr/>
          <p:nvPr/>
        </p:nvCxnSpPr>
        <p:spPr>
          <a:xfrm>
            <a:off x="3992328" y="294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022328" y="262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2. Pfad relativ zu app.js auflösen</a:t>
            </a:r>
          </a:p>
        </p:txBody>
      </p:sp>
      <p:cxnSp>
        <p:nvCxnSpPr>
          <p:cNvPr id="18" name="Connector 17"/>
          <p:cNvCxnSpPr/>
          <p:nvPr/>
        </p:nvCxnSpPr>
        <p:spPr>
          <a:xfrm>
            <a:off x="3992328"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66620"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schon geladen?</a:t>
            </a:r>
          </a:p>
        </p:txBody>
      </p:sp>
      <p:cxnSp>
        <p:nvCxnSpPr>
          <p:cNvPr id="20" name="Connector 19"/>
          <p:cNvCxnSpPr/>
          <p:nvPr/>
        </p:nvCxnSpPr>
        <p:spPr>
          <a:xfrm flipH="1">
            <a:off x="4012328" y="36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33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4. nein</a:t>
            </a:r>
          </a:p>
        </p:txBody>
      </p:sp>
      <p:cxnSp>
        <p:nvCxnSpPr>
          <p:cNvPr id="22" name="Connector 21"/>
          <p:cNvCxnSpPr/>
          <p:nvPr/>
        </p:nvCxnSpPr>
        <p:spPr>
          <a:xfrm>
            <a:off x="3992328" y="40292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022328" y="3709200"/>
            <a:ext cx="6248496" cy="300000"/>
          </a:xfrm>
          <a:prstGeom prst="rect">
            <a:avLst/>
          </a:prstGeom>
          <a:noFill/>
        </p:spPr>
        <p:txBody>
          <a:bodyPr wrap="square" anchor="b" lIns="70000" rIns="70000" tIns="0" bIns="0">
            <a:spAutoFit/>
          </a:bodyPr>
          <a:lstStyle/>
          <a:p>
            <a:pPr algn="ctr"/>
            <a:r>
              <a:rPr sz="1300" b="0">
                <a:solidFill>
                  <a:srgbClr val="2B3A42"/>
                </a:solidFill>
                <a:latin typeface="Segoe UI"/>
              </a:rPr>
              <a:t>5. Code einmal ausführen</a:t>
            </a:r>
          </a:p>
        </p:txBody>
      </p:sp>
      <p:cxnSp>
        <p:nvCxnSpPr>
          <p:cNvPr id="24" name="Connector 23"/>
          <p:cNvCxnSpPr/>
          <p:nvPr/>
        </p:nvCxnSpPr>
        <p:spPr>
          <a:xfrm flipH="1">
            <a:off x="4012328" y="4389200"/>
            <a:ext cx="6288496"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22328" y="4069200"/>
            <a:ext cx="6248496" cy="300000"/>
          </a:xfrm>
          <a:prstGeom prst="rect">
            <a:avLst/>
          </a:prstGeom>
          <a:noFill/>
        </p:spPr>
        <p:txBody>
          <a:bodyPr wrap="square" anchor="b" lIns="70000" rIns="70000" tIns="0" bIns="0">
            <a:spAutoFit/>
          </a:bodyPr>
          <a:lstStyle/>
          <a:p>
            <a:pPr algn="ctr"/>
            <a:r>
              <a:rPr sz="1300" b="0">
                <a:solidFill>
                  <a:srgbClr val="404B52"/>
                </a:solidFill>
                <a:latin typeface="Segoe UI"/>
              </a:rPr>
              <a:t>6. module.exports = { gruesse, version }</a:t>
            </a:r>
          </a:p>
        </p:txBody>
      </p:sp>
      <p:cxnSp>
        <p:nvCxnSpPr>
          <p:cNvPr id="26" name="Connector 25"/>
          <p:cNvCxnSpPr/>
          <p:nvPr/>
        </p:nvCxnSpPr>
        <p:spPr>
          <a:xfrm>
            <a:off x="3992328" y="47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466620" y="44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7. Exporte speichern</a:t>
            </a:r>
          </a:p>
        </p:txBody>
      </p:sp>
      <p:cxnSp>
        <p:nvCxnSpPr>
          <p:cNvPr id="28" name="Connector 27"/>
          <p:cNvCxnSpPr/>
          <p:nvPr/>
        </p:nvCxnSpPr>
        <p:spPr>
          <a:xfrm flipH="1">
            <a:off x="1909496" y="510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63788" y="478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8. Exporte-Objekt</a:t>
            </a:r>
          </a:p>
        </p:txBody>
      </p:sp>
      <p:cxnSp>
        <p:nvCxnSpPr>
          <p:cNvPr id="30" name="Connector 29"/>
          <p:cNvCxnSpPr/>
          <p:nvPr/>
        </p:nvCxnSpPr>
        <p:spPr>
          <a:xfrm>
            <a:off x="1889496" y="546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63788" y="514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9. noch einmal: im Cache gefunden</a:t>
            </a:r>
          </a:p>
        </p:txBody>
      </p:sp>
      <p:cxnSp>
        <p:nvCxnSpPr>
          <p:cNvPr id="32" name="Connector 31"/>
          <p:cNvCxnSpPr/>
          <p:nvPr/>
        </p:nvCxnSpPr>
        <p:spPr>
          <a:xfrm flipH="1">
            <a:off x="1909496" y="582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63788" y="550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10. dasselbe Objekt, Code läuft nicht</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node.js ein Modul findet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Pfad mit ./ oder ../ – eigene Datei relativ zur aktuellen Datei</a:t>
            </a:r>
          </a:p>
          <a:p>
            <a:pPr>
              <a:defRPr sz="2000" b="0">
                <a:latin typeface="Segoe UI"/>
              </a:defRPr>
            </a:pPr>
            <a:r>
              <a:rPr lang="de-DE" sz="2000" b="0">
                <a:latin typeface="Segoe UI"/>
              </a:rPr>
              <a:t>Präfix „node:“ – eingebautes Modul (node:fs, node:http)</a:t>
            </a:r>
          </a:p>
          <a:p>
            <a:pPr>
              <a:defRPr sz="2000" b="0">
                <a:latin typeface="Segoe UI"/>
              </a:defRPr>
            </a:pPr>
            <a:r>
              <a:rPr lang="de-DE" sz="2000" b="0">
                <a:latin typeface="Segoe UI"/>
              </a:rPr>
              <a:t>Nur ein Name (rxjs, express) – Paket in node_modules</a:t>
            </a:r>
          </a:p>
          <a:p>
            <a:pPr lvl="1">
              <a:defRPr sz="1700" b="0">
                <a:latin typeface="Segoe UI"/>
              </a:defRPr>
            </a:pPr>
            <a:r>
              <a:rPr lang="de-DE" sz="1700" b="0">
                <a:latin typeface="Segoe UI"/>
              </a:rPr>
              <a:t>Sucht im eigenen Ordner, dann in übergeordneten Ordnern</a:t>
            </a:r>
          </a:p>
          <a:p>
            <a:pPr lvl="1">
              <a:defRPr sz="1700" b="0">
                <a:latin typeface="Segoe UI"/>
              </a:defRPr>
            </a:pPr>
            <a:r>
              <a:rPr lang="de-DE" sz="1700" b="0">
                <a:latin typeface="Segoe UI"/>
              </a:rPr>
              <a:t>Im Paket bestimmen exports bzw. main die Datei</a:t>
            </a:r>
          </a:p>
          <a:p>
            <a:pPr>
              <a:defRPr sz="2000" b="0">
                <a:latin typeface="Segoe UI"/>
              </a:defRPr>
            </a:pPr>
            <a:r>
              <a:rPr lang="de-DE" sz="2000" b="0">
                <a:latin typeface="Segoe UI"/>
              </a:rPr>
              <a:t>Nicht gefunden: Fehler „Cannot find module“</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require('rxjs')</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./node_modules/rxjs?</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../node_modules/rxjs?</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package.json: exports / main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Einstiegsdatei laden</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Zusammenfassung Anhang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node.js: JavaScript außerhalb des Browsers, V8 + Event Loop</a:t>
            </a:r>
          </a:p>
          <a:p>
            <a:pPr>
              <a:defRPr sz="2000" b="0">
                <a:latin typeface="Segoe UI"/>
              </a:defRPr>
            </a:pPr>
            <a:r>
              <a:rPr lang="de-DE" sz="2000" b="0">
                <a:latin typeface="Segoe UI"/>
              </a:rPr>
              <a:t>Für Angular: CLI, Build (esbuild), Dev-Server (Vite), Tests (Vitest)</a:t>
            </a:r>
          </a:p>
          <a:p>
            <a:pPr>
              <a:defRPr sz="2000" b="0">
                <a:latin typeface="Segoe UI"/>
              </a:defRPr>
            </a:pPr>
            <a:r>
              <a:rPr lang="de-DE" sz="2000" b="0">
                <a:latin typeface="Segoe UI"/>
              </a:rPr>
              <a:t>Im Browser läuft nur das gebaute Ergebnis</a:t>
            </a:r>
          </a:p>
          <a:p>
            <a:pPr>
              <a:defRPr sz="2000" b="0">
                <a:latin typeface="Segoe UI"/>
              </a:defRPr>
            </a:pPr>
            <a:r>
              <a:rPr lang="de-DE" sz="2000" b="0">
                <a:latin typeface="Segoe UI"/>
              </a:rPr>
              <a:t>npm: Pakete aus der Registry, Befehle install, ci, run, update, audit, npx</a:t>
            </a:r>
          </a:p>
          <a:p>
            <a:pPr>
              <a:defRPr sz="2000" b="0">
                <a:latin typeface="Segoe UI"/>
              </a:defRPr>
            </a:pPr>
            <a:r>
              <a:rPr lang="de-DE" sz="2000" b="0">
                <a:latin typeface="Segoe UI"/>
              </a:rPr>
              <a:t>package.json: Bereiche (^, ~), Scripts, dependencies / devDependencies</a:t>
            </a:r>
          </a:p>
          <a:p>
            <a:pPr>
              <a:defRPr sz="2000" b="0">
                <a:latin typeface="Segoe UI"/>
              </a:defRPr>
            </a:pPr>
            <a:r>
              <a:rPr lang="de-DE" sz="2000" b="0">
                <a:latin typeface="Segoe UI"/>
              </a:rPr>
              <a:t>package-lock.json: exakter Stand, immer einchecken</a:t>
            </a:r>
          </a:p>
          <a:p>
            <a:pPr>
              <a:defRPr sz="2000" b="0">
                <a:latin typeface="Segoe UI"/>
              </a:defRPr>
            </a:pPr>
            <a:r>
              <a:rPr lang="de-DE" sz="2000" b="0">
                <a:latin typeface="Segoe UI"/>
              </a:rPr>
              <a:t>node_modules: nie einchecken, jederzeit neu erzeugbar</a:t>
            </a:r>
          </a:p>
          <a:p>
            <a:pPr>
              <a:defRPr sz="2000" b="0">
                <a:latin typeface="Segoe UI"/>
              </a:defRPr>
            </a:pPr>
            <a:r>
              <a:rPr lang="de-DE" sz="2000" b="0">
                <a:latin typeface="Segoe UI"/>
              </a:rPr>
              <a:t>Module: CommonJS (require) und ES-Module (import / export)</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Vom Quelltext zum Browser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Wir schreiben TypeScript-Dateien mit der Endung .ts</a:t>
            </a:r>
          </a:p>
          <a:p>
            <a:pPr>
              <a:defRPr sz="2000" b="0">
                <a:latin typeface="Segoe UI"/>
              </a:defRPr>
            </a:pPr>
            <a:r>
              <a:rPr lang="de-DE" sz="2000" b="0">
                <a:latin typeface="Segoe UI"/>
              </a:rPr>
              <a:t>Der Compiler „tsc“ übersetzt sie in JavaScript-Dateien (.js)</a:t>
            </a:r>
          </a:p>
          <a:p>
            <a:pPr>
              <a:defRPr sz="2000" b="0">
                <a:latin typeface="Segoe UI"/>
              </a:defRPr>
            </a:pPr>
            <a:r>
              <a:rPr lang="de-DE" sz="2000" b="0">
                <a:latin typeface="Segoe UI"/>
              </a:rPr>
              <a:t>Browser und Node.js verstehen nur JavaScript, kein TypeScript</a:t>
            </a:r>
          </a:p>
          <a:p>
            <a:pPr>
              <a:defRPr sz="2000" b="0">
                <a:latin typeface="Segoe UI"/>
              </a:defRPr>
            </a:pPr>
            <a:r>
              <a:rPr lang="de-DE" sz="2000" b="0">
                <a:latin typeface="Segoe UI"/>
              </a:rPr>
              <a:t>Beim Übersetzen verschwinden alle Typen: Im fertigen Programm gibt es sie nicht mehr</a:t>
            </a:r>
          </a:p>
          <a:p>
            <a:pPr>
              <a:defRPr sz="2000" b="0">
                <a:latin typeface="Segoe UI"/>
              </a:defRPr>
            </a:pPr>
            <a:r>
              <a:rPr lang="de-DE" sz="2000" b="0">
                <a:latin typeface="Segoe UI"/>
              </a:rPr>
              <a:t>Die Angular CLI übernimmt das Übersetzen für uns</a:t>
            </a:r>
          </a:p>
          <a:p>
            <a:pPr>
              <a:defRPr sz="2000" b="0">
                <a:latin typeface="Segoe UI"/>
              </a:defRPr>
            </a:pPr>
            <a:r>
              <a:rPr lang="de-DE" sz="2000" b="0">
                <a:latin typeface="Segoe UI"/>
              </a:rPr>
              <a:t>Typen prüfen ist nicht dasselbe wie das Programm ausführen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customer.ts (mit Typen)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tsc oder Angular CLI</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customer.js (ohne Typen)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 oder Node.js</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Typen gibt es nur beim Entwickeln</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Kursordner und die Befehle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Ordner: 01_typescript_primer, darin einmalig: npm install</a:t>
            </a:r>
          </a:p>
          <a:p>
            <a:pPr>
              <a:defRPr sz="2000" b="0">
                <a:latin typeface="Segoe UI"/>
              </a:defRPr>
            </a:pPr>
            <a:r>
              <a:rPr lang="de-DE" sz="2000" b="0">
                <a:latin typeface="Segoe UI"/>
              </a:rPr>
              <a:t>npm run check: prüft alle Typen in src/ und meldet Fehler</a:t>
            </a:r>
          </a:p>
          <a:p>
            <a:pPr>
              <a:defRPr sz="2000" b="0">
                <a:latin typeface="Segoe UI"/>
              </a:defRPr>
            </a:pPr>
            <a:r>
              <a:rPr lang="de-DE" sz="2000" b="0">
                <a:latin typeface="Segoe UI"/>
              </a:rPr>
              <a:t>npm run watch: wie check, prüft bei jeder Änderung neu</a:t>
            </a:r>
          </a:p>
          <a:p>
            <a:pPr>
              <a:defRPr sz="2000" b="0">
                <a:latin typeface="Segoe UI"/>
              </a:defRPr>
            </a:pPr>
            <a:r>
              <a:rPr lang="de-DE" sz="2000" b="0">
                <a:latin typeface="Segoe UI"/>
              </a:rPr>
              <a:t>npm start -- src/&lt;datei&gt;.ts: führt eine Datei aus</a:t>
            </a:r>
          </a:p>
          <a:p>
            <a:pPr>
              <a:defRPr sz="2000" b="0">
                <a:latin typeface="Segoe UI"/>
              </a:defRPr>
            </a:pPr>
            <a:r>
              <a:rPr lang="de-DE" sz="2000" b="0">
                <a:latin typeface="Segoe UI"/>
              </a:rPr>
              <a:t>Achtung: npm start prüft die Typen NICHT</a:t>
            </a:r>
          </a:p>
          <a:p>
            <a:pPr>
              <a:defRPr sz="2000" b="0">
                <a:latin typeface="Segoe UI"/>
              </a:defRPr>
            </a:pPr>
            <a:r>
              <a:rPr lang="de-DE" sz="2000" b="0">
                <a:latin typeface="Segoe UI"/>
              </a:rPr>
              <a:t>Fehler zeigen der Editor (rote Wellenlinien) und npm run check</a:t>
            </a:r>
          </a:p>
          <a:p>
            <a:pPr>
              <a:defRPr sz="2000" b="0">
                <a:latin typeface="Segoe UI"/>
              </a:defRPr>
            </a:pPr>
            <a:r>
              <a:rPr lang="de-DE" sz="2000" b="0">
                <a:latin typeface="Segoe UI"/>
              </a:rPr>
              <a:t>Aufgaben liegen in src/, Musterlösungen in loesung/</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tsconfig.json der Invoice-App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"noImplicitReturns":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"noFallthroughCasesInSwitch":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"target": "ES2022",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"experimentalDecorators":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"angularCompilerOptions":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"strictTemplates":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erster Typfehler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greet(firstname: string, lastname: string):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`Hallo ${firstname} ${lastname}`;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"Simpson");   // richtig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Fehler TS2345: Argument of type 'number' is not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assignable to parameter of type 'string'.</a:t>
            </a:r>
            <a:endParaRPr lang="de-DE" sz="2000" b="0" u="none" strike="noStrike">
              <a:solidFill>
                <a:srgbClr val="000000"/>
              </a:solidFill>
              <a:uFillTx/>
              <a:latin typeface="Arial"/>
            </a:endParaRP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Quellen neue Werte</a:t>
            </a:r>
          </a:p>
          <a:p>
            <a:pPr>
              <a:defRPr sz="2000" b="0">
                <a:latin typeface="Segoe UI"/>
              </a:defRPr>
            </a:pPr>
            <a:r>
              <a:rPr lang="de-DE" sz="2000" b="0">
                <a:latin typeface="Segoe UI"/>
              </a:rPr>
              <a:t>Wirkung (Template oder effect): greift nach außen</a:t>
            </a:r>
          </a:p>
          <a:p>
            <a:pPr lvl="1">
              <a:defRPr sz="1700" b="0">
                <a:latin typeface="Segoe UI"/>
              </a:defRPr>
            </a:pPr>
            <a:r>
              <a:rPr lang="de-DE" sz="1700" b="0">
                <a:latin typeface="Segoe UI"/>
              </a:rPr>
              <a:t>Oberfläche, Browser-Speicher, Logging</a:t>
            </a:r>
          </a:p>
          <a:p>
            <a:pPr>
              <a:defRPr sz="2000" b="0">
                <a:latin typeface="Segoe UI"/>
              </a:defRPr>
            </a:pPr>
            <a:r>
              <a:rPr lang="de-DE" sz="2000" b="0">
                <a:latin typeface="Segoe UI"/>
              </a:rPr>
              <a:t>Angular verfolgt selbst, wer welches Signal liest</a:t>
            </a:r>
          </a:p>
          <a:p>
            <a:pPr>
              <a:defRPr sz="2000" b="0">
                <a:latin typeface="Segoe UI"/>
              </a:defRPr>
            </a:pPr>
            <a:r>
              <a:rPr lang="de-DE" sz="2000" b="0">
                <a:latin typeface="Segoe UI"/>
              </a:rPr>
              <a:t>Nichts muss von Hand abonniert oder abgemeldet werden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Quelle: filterText</a:t>
            </a:r>
          </a:p>
          <a:p>
            <a:pPr algn="ctr"/>
            <a:r>
              <a:rPr sz="1700" b="0">
                <a:solidFill>
                  <a:srgbClr val="2B3A42"/>
                </a:solidFill>
                <a:latin typeface="Segoe UI"/>
              </a:rPr>
              <a:t>signal('')</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Ableitung: visible</a:t>
            </a:r>
          </a:p>
          <a:p>
            <a:pPr algn="ctr"/>
            <a:r>
              <a:rPr sz="1700" b="0">
                <a:solidFill>
                  <a:srgbClr val="2B3A42"/>
                </a:solidFill>
                <a:latin typeface="Segoe UI"/>
              </a:rPr>
              <a:t>computed(...)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Wirkung: Template</a:t>
            </a:r>
          </a:p>
          <a:p>
            <a:pPr algn="ctr"/>
            <a:r>
              <a:rPr sz="1700" b="1">
                <a:solidFill>
                  <a:srgbClr val="FFFFFF"/>
                </a:solidFill>
                <a:latin typeface="Segoe UI"/>
              </a:rPr>
              <a:t>oder effect(...)</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Änderungen fließen in Pfeilrichtung</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Grundmodell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CustomerListComponent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Quellen: halten Zustand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Ableitung: liest zwei Quellen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visible = computed(()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this.customers().filter(c =&gt; c.lastname.includes(this.filter()))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Wirkung: liest die Ableitung, schreibt nach außen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console.log('Treffer:', this.visible().length));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Template (ebenfalls eine Wirkung):  @for (c of visible(); track c.id) { ... }</a:t>
            </a:r>
            <a:endParaRPr lang="de-DE" sz="1600" b="0" u="none" strike="noStrike">
              <a:solidFill>
                <a:srgbClr val="000000"/>
              </a:solidFill>
              <a:uFillTx/>
              <a:latin typeface="Arial"/>
            </a:endParaRP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Angular Abhängigkeiten erkennt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Ein Signal lesen heißt: es aufrufen, z. B. filter()</a:t>
            </a:r>
          </a:p>
          <a:p>
            <a:pPr>
              <a:defRPr sz="2000" b="0">
                <a:latin typeface="Segoe UI"/>
              </a:defRPr>
            </a:pPr>
            <a:r>
              <a:rPr lang="de-DE" sz="2000" b="0">
                <a:latin typeface="Segoe UI"/>
              </a:rPr>
              <a:t>Reaktiver Kontext: computed, effect, Template, linkedSignal</a:t>
            </a:r>
          </a:p>
          <a:p>
            <a:pPr>
              <a:defRPr sz="2000" b="0">
                <a:latin typeface="Segoe UI"/>
              </a:defRPr>
            </a:pPr>
            <a:r>
              <a:rPr lang="de-DE" sz="2000" b="0">
                <a:latin typeface="Segoe UI"/>
              </a:rPr>
              <a:t>Angular merkt sich den gerade laufenden Leser</a:t>
            </a:r>
          </a:p>
          <a:p>
            <a:pPr>
              <a:defRPr sz="2000" b="0">
                <a:latin typeface="Segoe UI"/>
              </a:defRPr>
            </a:pPr>
            <a:r>
              <a:rPr lang="de-DE" sz="2000" b="0">
                <a:latin typeface="Segoe UI"/>
              </a:rPr>
              <a:t>Jedes gelesene Signal meldet sich bei diesem Leser an</a:t>
            </a:r>
          </a:p>
          <a:p>
            <a:pPr>
              <a:defRPr sz="2000" b="0">
                <a:latin typeface="Segoe UI"/>
              </a:defRPr>
            </a:pPr>
            <a:r>
              <a:rPr lang="de-DE" sz="2000" b="0">
                <a:latin typeface="Segoe UI"/>
              </a:rPr>
              <a:t>Kein reaktiver Kontext: Konstruktor, Event-Handler, setTimeout</a:t>
            </a:r>
          </a:p>
          <a:p>
            <a:pPr lvl="1">
              <a:defRPr sz="1700" b="0">
                <a:latin typeface="Segoe UI"/>
              </a:defRPr>
            </a:pPr>
            <a:r>
              <a:rPr lang="de-DE" sz="1700" b="0">
                <a:latin typeface="Segoe UI"/>
              </a:rPr>
              <a:t>Dort gelesen: nur der aktuelle Wert, keine Abhängigkeit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computed startet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aktueller</a:t>
            </a:r>
          </a:p>
          <a:p>
            <a:pPr algn="ctr"/>
            <a:r>
              <a:rPr sz="1700" b="0">
                <a:solidFill>
                  <a:srgbClr val="2B3A42"/>
                </a:solidFill>
                <a:latin typeface="Segoe UI"/>
              </a:rPr>
              <a:t>Leser = computed</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 wird gelesen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Abhängigkeit:</a:t>
            </a:r>
          </a:p>
          <a:p>
            <a:pPr algn="ctr"/>
            <a:r>
              <a:rPr sz="1700" b="0">
                <a:solidFill>
                  <a:srgbClr val="2B3A42"/>
                </a:solidFill>
                <a:latin typeface="Segoe UI"/>
              </a:rPr>
              <a:t>filter → computed</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computed fertig</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Push und Pull: wie Änderungen ankommen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set() ändert den Wert der Quelle</a:t>
            </a:r>
          </a:p>
          <a:p>
            <a:pPr>
              <a:defRPr sz="2000" b="0">
                <a:latin typeface="Segoe UI"/>
              </a:defRPr>
            </a:pPr>
            <a:r>
              <a:rPr lang="de-DE" sz="2000" b="0">
                <a:latin typeface="Segoe UI"/>
              </a:rPr>
              <a:t>Push: Angular benachrichtigt alle Leser „du bist veraltet“</a:t>
            </a:r>
          </a:p>
          <a:p>
            <a:pPr lvl="1">
              <a:defRPr sz="1700" b="0">
                <a:latin typeface="Segoe UI"/>
              </a:defRPr>
            </a:pPr>
            <a:r>
              <a:rPr lang="de-DE" sz="1700" b="0">
                <a:latin typeface="Segoe UI"/>
              </a:rPr>
              <a:t>Es wird dabei noch nichts berechnet</a:t>
            </a:r>
          </a:p>
          <a:p>
            <a:pPr>
              <a:defRPr sz="2000" b="0">
                <a:latin typeface="Segoe UI"/>
              </a:defRPr>
            </a:pPr>
            <a:r>
              <a:rPr lang="de-DE" sz="2000" b="0">
                <a:latin typeface="Segoe UI"/>
              </a:rPr>
              <a:t>Template und effect werden zur Ausführung eingeplant</a:t>
            </a:r>
          </a:p>
          <a:p>
            <a:pPr>
              <a:defRPr sz="2000" b="0">
                <a:latin typeface="Segoe UI"/>
              </a:defRPr>
            </a:pPr>
            <a:r>
              <a:rPr lang="de-DE" sz="2000" b="0">
                <a:latin typeface="Segoe UI"/>
              </a:rPr>
              <a:t>Pull: Ein computed rechnet erst, wenn jemand es liest</a:t>
            </a:r>
          </a:p>
          <a:p>
            <a:pPr>
              <a:defRPr sz="2000" b="0">
                <a:latin typeface="Segoe UI"/>
              </a:defRPr>
            </a:pPr>
            <a:r>
              <a:rPr lang="de-DE" sz="2000" b="0">
                <a:latin typeface="Segoe UI"/>
              </a:rPr>
              <a:t>Gleiches Ergebnis wie vorher: Kette stoppt hier</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filter.set('M')</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Push: Leser als</a:t>
            </a:r>
          </a:p>
          <a:p>
            <a:pPr algn="ctr"/>
            <a:r>
              <a:rPr sz="1700" b="0">
                <a:solidFill>
                  <a:srgbClr val="2B3A42"/>
                </a:solidFill>
                <a:latin typeface="Segoe UI"/>
              </a:rPr>
              <a:t>veraltet markieren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Template / effect</a:t>
            </a:r>
          </a:p>
          <a:p>
            <a:pPr algn="ctr"/>
            <a:r>
              <a:rPr sz="1700" b="0">
                <a:solidFill>
                  <a:srgbClr val="2B3A42"/>
                </a:solidFill>
                <a:latin typeface="Segoe UI"/>
              </a:rPr>
              <a:t>eingeplant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Pull: computed rechnet</a:t>
            </a:r>
          </a:p>
          <a:p>
            <a:pPr algn="ctr"/>
            <a:r>
              <a:rPr sz="1700" b="0">
                <a:solidFill>
                  <a:srgbClr val="2B3A42"/>
                </a:solidFill>
                <a:latin typeface="Segoe UI"/>
              </a:rPr>
              <a:t>beim Lesen neu</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Ergebnis gleich?</a:t>
            </a:r>
          </a:p>
          <a:p>
            <a:pPr algn="ctr"/>
            <a:r>
              <a:rPr sz="1700" b="0">
                <a:solidFill>
                  <a:srgbClr val="2B3A42"/>
                </a:solidFill>
                <a:latin typeface="Segoe UI"/>
              </a:rPr>
              <a:t>Dann Stopp</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Push und Pull im Signal-Graphen</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Beispiel aus „Grundmodell im Code“: filter (signal) → visible (computed) → Template und effect.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Event-Handler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filter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visible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Template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effect</a:t>
            </a:r>
          </a:p>
        </p:txBody>
      </p:sp>
      <p:cxnSp>
        <p:nvCxnSpPr>
          <p:cNvPr id="9" name="Connector 8"/>
          <p:cNvCxnSpPr/>
          <p:nvPr/>
        </p:nvCxnSpPr>
        <p:spPr>
          <a:xfrm>
            <a:off x="1889496"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58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80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1. filter.set('M')</a:t>
            </a:r>
          </a:p>
        </p:txBody>
      </p:sp>
      <p:cxnSp>
        <p:nvCxnSpPr>
          <p:cNvPr id="16" name="Connector 15"/>
          <p:cNvCxnSpPr/>
          <p:nvPr/>
        </p:nvCxnSpPr>
        <p:spPr>
          <a:xfrm>
            <a:off x="3992328" y="2876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598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2. Push: du bist veraltet</a:t>
            </a:r>
          </a:p>
        </p:txBody>
      </p:sp>
      <p:cxnSp>
        <p:nvCxnSpPr>
          <p:cNvPr id="18" name="Connector 17"/>
          <p:cNvCxnSpPr/>
          <p:nvPr/>
        </p:nvCxnSpPr>
        <p:spPr>
          <a:xfrm>
            <a:off x="6095160" y="3194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9452" y="2916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3. Push: veraltet, eingeplant</a:t>
            </a:r>
          </a:p>
        </p:txBody>
      </p:sp>
      <p:cxnSp>
        <p:nvCxnSpPr>
          <p:cNvPr id="20" name="Connector 19"/>
          <p:cNvCxnSpPr/>
          <p:nvPr/>
        </p:nvCxnSpPr>
        <p:spPr>
          <a:xfrm>
            <a:off x="6095160" y="351296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25160" y="3234960"/>
            <a:ext cx="4145664" cy="258000"/>
          </a:xfrm>
          <a:prstGeom prst="rect">
            <a:avLst/>
          </a:prstGeom>
          <a:noFill/>
        </p:spPr>
        <p:txBody>
          <a:bodyPr wrap="square" anchor="b" lIns="70000" rIns="70000" tIns="0" bIns="0">
            <a:spAutoFit/>
          </a:bodyPr>
          <a:lstStyle/>
          <a:p>
            <a:pPr algn="ctr"/>
            <a:r>
              <a:rPr sz="1300" b="0">
                <a:solidFill>
                  <a:srgbClr val="2B3A42"/>
                </a:solidFill>
                <a:latin typeface="Segoe UI"/>
              </a:rPr>
              <a:t>4. Push: veraltet, eingeplant</a:t>
            </a:r>
          </a:p>
        </p:txBody>
      </p:sp>
      <p:cxnSp>
        <p:nvCxnSpPr>
          <p:cNvPr id="22" name="Connector 21"/>
          <p:cNvCxnSpPr/>
          <p:nvPr/>
        </p:nvCxnSpPr>
        <p:spPr>
          <a:xfrm flipH="1">
            <a:off x="6115160" y="3830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552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5. Pull: visible() lesen</a:t>
            </a:r>
          </a:p>
        </p:txBody>
      </p:sp>
      <p:cxnSp>
        <p:nvCxnSpPr>
          <p:cNvPr id="24" name="Connector 23"/>
          <p:cNvCxnSpPr/>
          <p:nvPr/>
        </p:nvCxnSpPr>
        <p:spPr>
          <a:xfrm flipH="1">
            <a:off x="4012328" y="414896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66620" y="3870960"/>
            <a:ext cx="3154248" cy="258000"/>
          </a:xfrm>
          <a:prstGeom prst="rect">
            <a:avLst/>
          </a:prstGeom>
          <a:noFill/>
        </p:spPr>
        <p:txBody>
          <a:bodyPr wrap="square" anchor="b" lIns="70000" rIns="70000" tIns="0" bIns="0">
            <a:spAutoFit/>
          </a:bodyPr>
          <a:lstStyle/>
          <a:p>
            <a:pPr algn="ctr"/>
            <a:r>
              <a:rPr sz="1300" b="0">
                <a:solidFill>
                  <a:srgbClr val="2B3A42"/>
                </a:solidFill>
                <a:latin typeface="Segoe UI"/>
              </a:rPr>
              <a:t>6. filter() lesen</a:t>
            </a:r>
          </a:p>
        </p:txBody>
      </p:sp>
      <p:cxnSp>
        <p:nvCxnSpPr>
          <p:cNvPr id="26" name="Connector 25"/>
          <p:cNvCxnSpPr/>
          <p:nvPr/>
        </p:nvCxnSpPr>
        <p:spPr>
          <a:xfrm>
            <a:off x="3992328" y="446696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466620" y="4188960"/>
            <a:ext cx="3154248" cy="258000"/>
          </a:xfrm>
          <a:prstGeom prst="rect">
            <a:avLst/>
          </a:prstGeom>
          <a:noFill/>
        </p:spPr>
        <p:txBody>
          <a:bodyPr wrap="square" anchor="b" lIns="70000" rIns="70000" tIns="0" bIns="0">
            <a:spAutoFit/>
          </a:bodyPr>
          <a:lstStyle/>
          <a:p>
            <a:pPr algn="ctr"/>
            <a:r>
              <a:rPr sz="1300" b="0">
                <a:solidFill>
                  <a:srgbClr val="404B52"/>
                </a:solidFill>
                <a:latin typeface="Segoe UI"/>
              </a:rPr>
              <a:t>7. 'M'</a:t>
            </a:r>
          </a:p>
        </p:txBody>
      </p:sp>
      <p:cxnSp>
        <p:nvCxnSpPr>
          <p:cNvPr id="28" name="Connector 27"/>
          <p:cNvCxnSpPr/>
          <p:nvPr/>
        </p:nvCxnSpPr>
        <p:spPr>
          <a:xfrm>
            <a:off x="6095160" y="4664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475160" y="4664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115160" y="4784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25160" y="4535120"/>
            <a:ext cx="1602832" cy="258000"/>
          </a:xfrm>
          <a:prstGeom prst="rect">
            <a:avLst/>
          </a:prstGeom>
          <a:noFill/>
        </p:spPr>
        <p:txBody>
          <a:bodyPr wrap="square" anchor="ctr" lIns="70000" rIns="70000" tIns="0" bIns="0">
            <a:spAutoFit/>
          </a:bodyPr>
          <a:lstStyle/>
          <a:p>
            <a:pPr algn="l"/>
            <a:r>
              <a:rPr sz="1300" b="0">
                <a:solidFill>
                  <a:srgbClr val="2B3A42"/>
                </a:solidFill>
                <a:latin typeface="Segoe UI"/>
              </a:rPr>
              <a:t>8. neu filtern, Ergebnis merken</a:t>
            </a:r>
          </a:p>
        </p:txBody>
      </p:sp>
      <p:cxnSp>
        <p:nvCxnSpPr>
          <p:cNvPr id="32" name="Connector 31"/>
          <p:cNvCxnSpPr/>
          <p:nvPr/>
        </p:nvCxnSpPr>
        <p:spPr>
          <a:xfrm>
            <a:off x="6095160" y="510296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569452" y="4824960"/>
            <a:ext cx="3154248" cy="258000"/>
          </a:xfrm>
          <a:prstGeom prst="rect">
            <a:avLst/>
          </a:prstGeom>
          <a:noFill/>
        </p:spPr>
        <p:txBody>
          <a:bodyPr wrap="square" anchor="b" lIns="70000" rIns="70000" tIns="0" bIns="0">
            <a:spAutoFit/>
          </a:bodyPr>
          <a:lstStyle/>
          <a:p>
            <a:pPr algn="ctr"/>
            <a:r>
              <a:rPr sz="1300" b="0">
                <a:solidFill>
                  <a:srgbClr val="404B52"/>
                </a:solidFill>
                <a:latin typeface="Segoe UI"/>
              </a:rPr>
              <a:t>9. neue Liste</a:t>
            </a:r>
          </a:p>
        </p:txBody>
      </p:sp>
      <p:cxnSp>
        <p:nvCxnSpPr>
          <p:cNvPr id="34" name="Connector 33"/>
          <p:cNvCxnSpPr/>
          <p:nvPr/>
        </p:nvCxnSpPr>
        <p:spPr>
          <a:xfrm flipH="1">
            <a:off x="6115160" y="542096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125160" y="5142960"/>
            <a:ext cx="4145664" cy="258000"/>
          </a:xfrm>
          <a:prstGeom prst="rect">
            <a:avLst/>
          </a:prstGeom>
          <a:noFill/>
        </p:spPr>
        <p:txBody>
          <a:bodyPr wrap="square" anchor="b" lIns="70000" rIns="70000" tIns="0" bIns="0">
            <a:spAutoFit/>
          </a:bodyPr>
          <a:lstStyle/>
          <a:p>
            <a:pPr algn="ctr"/>
            <a:r>
              <a:rPr sz="1300" b="0">
                <a:solidFill>
                  <a:srgbClr val="2B3A42"/>
                </a:solidFill>
                <a:latin typeface="Segoe UI"/>
              </a:rPr>
              <a:t>10. visible(): gemerktes Ergebnis</a:t>
            </a:r>
          </a:p>
        </p:txBody>
      </p:sp>
      <p:sp>
        <p:nvSpPr>
          <p:cNvPr id="36" name="TextBox 35"/>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Push rechnet nichts, Pull rechnet nur einmal – auch bei mehreren Lesern</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Glitch-Freiheit: keine Zwischenzustände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Glitch: kurzer, falscher Mischwert aus alt und neu</a:t>
            </a:r>
          </a:p>
          <a:p>
            <a:pPr>
              <a:defRPr sz="2000" b="0">
                <a:latin typeface="Segoe UI"/>
              </a:defRPr>
            </a:pPr>
            <a:r>
              <a:rPr lang="de-DE" sz="2000" b="0">
                <a:latin typeface="Segoe UI"/>
              </a:rPr>
              <a:t>Beispiel rechts: c hängt direkt und über b von a ab</a:t>
            </a:r>
          </a:p>
          <a:p>
            <a:pPr>
              <a:defRPr sz="2000" b="0">
                <a:latin typeface="Segoe UI"/>
              </a:defRPr>
            </a:pPr>
            <a:r>
              <a:rPr lang="de-DE" sz="2000" b="0">
                <a:latin typeface="Segoe UI"/>
              </a:rPr>
              <a:t>Signals: Werte werden erst beim Lesen geholt (Pull)</a:t>
            </a:r>
          </a:p>
          <a:p>
            <a:pPr lvl="1">
              <a:defRPr sz="1700" b="0">
                <a:latin typeface="Segoe UI"/>
              </a:defRPr>
            </a:pPr>
            <a:r>
              <a:rPr lang="de-DE" sz="1700" b="0">
                <a:latin typeface="Segoe UI"/>
              </a:rPr>
              <a:t>c sieht immer a und b im selben Stand</a:t>
            </a:r>
          </a:p>
          <a:p>
            <a:pPr>
              <a:defRPr sz="2000" b="0">
                <a:latin typeface="Segoe UI"/>
              </a:defRPr>
            </a:pPr>
            <a:r>
              <a:rPr lang="de-DE" sz="2000" b="0">
                <a:latin typeface="Segoe UI"/>
              </a:rPr>
              <a:t>effect gibt nur 3 und danach 6 aus, nie 4</a:t>
            </a:r>
          </a:p>
          <a:p>
            <a:pPr>
              <a:defRPr sz="2000" b="0">
                <a:latin typeface="Segoe UI"/>
              </a:defRPr>
            </a:pPr>
            <a:r>
              <a:rPr lang="de-DE" sz="2000" b="0">
                <a:latin typeface="Segoe UI"/>
              </a:rPr>
              <a:t>Mehrere set() hintereinander: ein einziger Lauf</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Diamant-Abhängigkeit</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a = signal(1);</a:t>
            </a:r>
          </a:p>
          <a:p>
            <a:pPr algn="l"/>
            <a:r>
              <a:rPr sz="1300" b="0">
                <a:solidFill>
                  <a:srgbClr val="2B3A42"/>
                </a:solidFill>
                <a:latin typeface="Consolas"/>
              </a:rPr>
              <a:t>const b = computed(() =&gt; a() * 2);</a:t>
            </a:r>
          </a:p>
          <a:p>
            <a:pPr algn="l"/>
            <a:r>
              <a:rPr sz="1300" b="0">
                <a:solidFill>
                  <a:srgbClr val="2B3A42"/>
                </a:solidFill>
                <a:latin typeface="Consolas"/>
              </a:rPr>
              <a:t>const c = computed(() =&gt;</a:t>
            </a:r>
          </a:p>
          <a:p>
            <a:pPr algn="l"/>
            <a:r>
              <a:rPr sz="1300" b="0">
                <a:solidFill>
                  <a:srgbClr val="2B3A42"/>
                </a:solidFill>
                <a:latin typeface="Consolas"/>
              </a:rPr>
              <a:t>  a() + b());</a:t>
            </a:r>
          </a:p>
          <a:p>
            <a:pPr algn="l"/>
            <a:r>
              <a:rPr sz="1300" b="0">
                <a:solidFill>
                  <a:srgbClr val="2B3A42"/>
                </a:solidFill>
                <a:latin typeface="Consolas"/>
              </a:rPr>
              <a:t/>
            </a:r>
          </a:p>
          <a:p>
            <a:pPr algn="l"/>
            <a:r>
              <a:rPr sz="1300" b="0">
                <a:solidFill>
                  <a:srgbClr val="2B3A42"/>
                </a:solidFill>
                <a:latin typeface="Consolas"/>
              </a:rPr>
              <a:t>effect(() =&gt; console.log(c()));</a:t>
            </a:r>
          </a:p>
          <a:p>
            <a:pPr algn="l"/>
            <a:r>
              <a:rPr sz="1300" b="0">
                <a:solidFill>
                  <a:srgbClr val="2B3A42"/>
                </a:solidFill>
                <a:latin typeface="Consolas"/>
              </a:rPr>
              <a:t>// Ausgabe: 3</a:t>
            </a:r>
          </a:p>
          <a:p>
            <a:pPr algn="l"/>
            <a:r>
              <a:rPr sz="1300" b="0">
                <a:solidFill>
                  <a:srgbClr val="2B3A42"/>
                </a:solidFill>
                <a:latin typeface="Consolas"/>
              </a:rPr>
              <a:t/>
            </a:r>
          </a:p>
          <a:p>
            <a:pPr algn="l"/>
            <a:r>
              <a:rPr sz="1300" b="0">
                <a:solidFill>
                  <a:srgbClr val="2B3A42"/>
                </a:solidFill>
                <a:latin typeface="Consolas"/>
              </a:rPr>
              <a:t>a.set(2);</a:t>
            </a:r>
          </a:p>
          <a:p>
            <a:pPr algn="l"/>
            <a:r>
              <a:rPr sz="1300" b="0">
                <a:solidFill>
                  <a:srgbClr val="2B3A42"/>
                </a:solidFill>
                <a:latin typeface="Consolas"/>
              </a:rPr>
              <a:t>// Ausgabe: 6  (nie 4)</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Zustand halten, schreibbar – Filtertext, Auswahl</a:t>
            </a:r>
          </a:p>
          <a:p>
            <a:pPr>
              <a:defRPr sz="2000" b="0">
                <a:latin typeface="Segoe UI"/>
              </a:defRPr>
            </a:pPr>
            <a:r>
              <a:rPr lang="de-DE" sz="2000" b="0">
                <a:latin typeface="Segoe UI"/>
              </a:rPr>
              <a:t>computed(): Wert ableiten, nur lesbar – gefilterte Liste, Summen</a:t>
            </a:r>
          </a:p>
          <a:p>
            <a:pPr>
              <a:defRPr sz="2000" b="0">
                <a:latin typeface="Segoe UI"/>
              </a:defRPr>
            </a:pPr>
            <a:r>
              <a:rPr lang="de-DE" sz="2000" b="0">
                <a:latin typeface="Segoe UI"/>
              </a:rPr>
              <a:t>linkedSignal(): abgeleitet, aber überschreibbar – Auswahl mit Rücksprung</a:t>
            </a:r>
          </a:p>
          <a:p>
            <a:pPr>
              <a:defRPr sz="2000" b="0">
                <a:latin typeface="Segoe UI"/>
              </a:defRPr>
            </a:pPr>
            <a:r>
              <a:rPr lang="de-DE" sz="2000" b="0">
                <a:latin typeface="Segoe UI"/>
              </a:rPr>
              <a:t>effect(): Nebenwirkung – localStorage, Logging, Drittbibliothek</a:t>
            </a:r>
          </a:p>
          <a:p>
            <a:pPr>
              <a:defRPr sz="2000" b="0">
                <a:latin typeface="Segoe UI"/>
              </a:defRPr>
            </a:pPr>
            <a:r>
              <a:rPr lang="de-DE" sz="2000" b="0">
                <a:latin typeface="Segoe UI"/>
              </a:rPr>
              <a:t>resource() / httpResource(): asynchron laden – Daten vom Server</a:t>
            </a:r>
          </a:p>
          <a:p>
            <a:pPr>
              <a:defRPr sz="2000" b="0">
                <a:latin typeface="Segoe UI"/>
              </a:defRPr>
            </a:pPr>
            <a:r>
              <a:rPr lang="de-DE" sz="2000" b="0">
                <a:latin typeface="Segoe UI"/>
              </a:rPr>
              <a:t>toSignal() / toObservable(): Brücke zu RxJS – z. B. Router-Ereignisse</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Wirkung: effect(), Template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Ableitung: computed(), linkedSignal()</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Quelle: signal(), resource(), toSignal()</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Daten fließen von unten nach oben</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 die vollständige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signal, isSignal, Signal, WritableSignal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count: WritableSignal&lt;number&gt; = signal(0);    // Startwert 0, Typ wird abgeleitet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selected = signal&lt;Customer | undefined&gt;(undefined);   // Typ ausdrücklich angeben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                      // lesen: 0</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count.set(5);                 // neuen Wert setzen: 5</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count.update(n =&gt; n + 1);     // aus dem alten Wert berechnen: 6</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ro: Signal&lt;number&gt; = count.asReadonly();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ro();                         // lesen geht: 6</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ro.set(1);                 // Fehler beim Kompilieren: Signal hat kein set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isSignal(count);              // 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Optionen als zweiter Parameter: signal(0, { equal: ..., debugName: 'count' })</a:t>
            </a:r>
            <a:endParaRPr lang="de-DE" sz="1400" b="0" u="none" strike="noStrike">
              <a:solidFill>
                <a:srgbClr val="000000"/>
              </a:solidFill>
              <a:uFillTx/>
              <a:latin typeface="Arial"/>
            </a:endParaRP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set, update und asReadonly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set(wert): ersetzt den Wert, Leser werden benachrichtigt</a:t>
            </a:r>
          </a:p>
          <a:p>
            <a:pPr>
              <a:defRPr sz="2000" b="0">
                <a:latin typeface="Segoe UI"/>
              </a:defRPr>
            </a:pPr>
            <a:r>
              <a:rPr lang="de-DE" sz="2000" b="0">
                <a:latin typeface="Segoe UI"/>
              </a:rPr>
              <a:t>update(fn): Angular ruft fn mit dem aktuellen Wert auf</a:t>
            </a:r>
          </a:p>
          <a:p>
            <a:pPr lvl="1">
              <a:defRPr sz="1700" b="0">
                <a:latin typeface="Segoe UI"/>
              </a:defRPr>
            </a:pPr>
            <a:r>
              <a:rPr lang="de-DE" sz="1700" b="0">
                <a:latin typeface="Segoe UI"/>
              </a:rPr>
              <a:t>Rückgabewert von fn wird der neue Wert</a:t>
            </a:r>
          </a:p>
          <a:p>
            <a:pPr>
              <a:defRPr sz="2000" b="0">
                <a:latin typeface="Segoe UI"/>
              </a:defRPr>
            </a:pPr>
            <a:r>
              <a:rPr lang="de-DE" sz="2000" b="0">
                <a:latin typeface="Segoe UI"/>
              </a:rPr>
              <a:t>Gleicher Wert wie vorher: keine Benachrichtigung</a:t>
            </a:r>
          </a:p>
          <a:p>
            <a:pPr>
              <a:defRPr sz="2000" b="0">
                <a:latin typeface="Segoe UI"/>
              </a:defRPr>
            </a:pPr>
            <a:r>
              <a:rPr lang="de-DE" sz="2000" b="0">
                <a:latin typeface="Segoe UI"/>
              </a:rPr>
              <a:t>asReadonly(): gleiche Daten, aber ohne set und update</a:t>
            </a:r>
          </a:p>
          <a:p>
            <a:pPr lvl="1">
              <a:defRPr sz="1700" b="0">
                <a:latin typeface="Segoe UI"/>
              </a:defRPr>
            </a:pPr>
            <a:r>
              <a:rPr lang="de-DE" sz="1700" b="0">
                <a:latin typeface="Segoe UI"/>
              </a:rPr>
              <a:t>Muster: privat schreiben, öffentlich nur lesen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cart.store.ts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@Injectable({providedIn:'root'})</a:t>
            </a:r>
          </a:p>
          <a:p>
            <a:pPr algn="l"/>
            <a:r>
              <a:rPr sz="1300" b="0">
                <a:solidFill>
                  <a:srgbClr val="2B3A42"/>
                </a:solidFill>
                <a:latin typeface="Consolas"/>
              </a:rPr>
              <a:t>export class CartStore {</a:t>
            </a:r>
          </a:p>
          <a:p>
            <a:pPr algn="l"/>
            <a:r>
              <a:rPr sz="1300" b="0">
                <a:solidFill>
                  <a:srgbClr val="2B3A42"/>
                </a:solidFill>
                <a:latin typeface="Consolas"/>
              </a:rPr>
              <a:t>  private _items =</a:t>
            </a:r>
          </a:p>
          <a:p>
            <a:pPr algn="l"/>
            <a:r>
              <a:rPr sz="1300" b="0">
                <a:solidFill>
                  <a:srgbClr val="2B3A42"/>
                </a:solidFill>
                <a:latin typeface="Consolas"/>
              </a:rPr>
              <a:t>    signal&lt;Item[]&gt;([]);</a:t>
            </a:r>
          </a:p>
          <a:p>
            <a:pPr algn="l"/>
            <a:r>
              <a:rPr sz="1300" b="0">
                <a:solidFill>
                  <a:srgbClr val="2B3A42"/>
                </a:solidFill>
                <a:latin typeface="Consolas"/>
              </a:rPr>
              <a:t>  items =</a:t>
            </a:r>
          </a:p>
          <a:p>
            <a:pPr algn="l"/>
            <a:r>
              <a:rPr sz="1300" b="0">
                <a:solidFill>
                  <a:srgbClr val="2B3A42"/>
                </a:solidFill>
                <a:latin typeface="Consolas"/>
              </a:rPr>
              <a:t>    this._items.asReadonly();</a:t>
            </a:r>
          </a:p>
          <a:p>
            <a:pPr algn="l"/>
            <a:r>
              <a:rPr sz="1300" b="0">
                <a:solidFill>
                  <a:srgbClr val="2B3A42"/>
                </a:solidFill>
                <a:latin typeface="Consolas"/>
              </a:rPr>
              <a:t/>
            </a:r>
          </a:p>
          <a:p>
            <a:pPr algn="l"/>
            <a:r>
              <a:rPr sz="1300" b="0">
                <a:solidFill>
                  <a:srgbClr val="2B3A42"/>
                </a:solidFill>
                <a:latin typeface="Consolas"/>
              </a:rPr>
              <a:t>  add(item: Item) {</a:t>
            </a:r>
          </a:p>
          <a:p>
            <a:pPr algn="l"/>
            <a:r>
              <a:rPr sz="1300" b="0">
                <a:solidFill>
                  <a:srgbClr val="2B3A42"/>
                </a:solidFill>
                <a:latin typeface="Consolas"/>
              </a:rPr>
              <a:t>    this._items.update(list =&gt;</a:t>
            </a:r>
          </a:p>
          <a:p>
            <a:pPr algn="l"/>
            <a:r>
              <a:rPr sz="1300" b="0">
                <a:solidFill>
                  <a:srgbClr val="2B3A42"/>
                </a:solidFill>
                <a:latin typeface="Consolas"/>
              </a:rPr>
              <a:t>      [...list, item]);</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Option equal: wann gilt ein Wert als neu?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Standard: Vergleich mit Object.is (fast wie ===)</a:t>
            </a:r>
          </a:p>
          <a:p>
            <a:pPr lvl="1">
              <a:defRPr sz="1700" b="0">
                <a:latin typeface="Segoe UI"/>
              </a:defRPr>
            </a:pPr>
            <a:r>
              <a:rPr lang="de-DE" sz="1700" b="0">
                <a:latin typeface="Segoe UI"/>
              </a:rPr>
              <a:t>Objekte und Arrays: nur neue Referenz zählt als Änderung</a:t>
            </a:r>
          </a:p>
          <a:p>
            <a:pPr>
              <a:defRPr sz="2000" b="0">
                <a:latin typeface="Segoe UI"/>
              </a:defRPr>
            </a:pPr>
            <a:r>
              <a:rPr lang="de-DE" sz="2000" b="0">
                <a:latin typeface="Segoe UI"/>
              </a:rPr>
              <a:t>equal: eigene Funktion (a, b) =&gt; boolean</a:t>
            </a:r>
          </a:p>
          <a:p>
            <a:pPr lvl="1">
              <a:defRPr sz="1700" b="0">
                <a:latin typeface="Segoe UI"/>
              </a:defRPr>
            </a:pPr>
            <a:r>
              <a:rPr lang="de-DE" sz="1700" b="0">
                <a:latin typeface="Segoe UI"/>
              </a:rPr>
              <a:t>Angular ruft sie mit altem und neuem Wert auf</a:t>
            </a:r>
          </a:p>
          <a:p>
            <a:pPr lvl="1">
              <a:defRPr sz="1700" b="0">
                <a:latin typeface="Segoe UI"/>
              </a:defRPr>
            </a:pPr>
            <a:r>
              <a:rPr lang="de-DE" sz="1700" b="0">
                <a:latin typeface="Segoe UI"/>
              </a:rPr>
              <a:t>true: gilt als gleich, keine Benachrichtigung</a:t>
            </a:r>
          </a:p>
          <a:p>
            <a:pPr>
              <a:defRPr sz="2000" b="0">
                <a:latin typeface="Segoe UI"/>
              </a:defRPr>
            </a:pPr>
            <a:r>
              <a:rPr lang="de-DE" sz="2000" b="0">
                <a:latin typeface="Segoe UI"/>
              </a:rPr>
              <a:t>Gibt es bei signal, computed und linkedSignal</a:t>
            </a:r>
          </a:p>
          <a:p>
            <a:pPr>
              <a:defRPr sz="2000" b="0">
                <a:latin typeface="Segoe UI"/>
              </a:defRPr>
            </a:pPr>
            <a:r>
              <a:rPr lang="de-DE" sz="2000" b="0">
                <a:latin typeface="Segoe UI"/>
              </a:rPr>
              <a:t>Vorsicht: falsches equal verschluckt echte Änderungen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equal-Option</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const current = signal&lt;Customer&gt;(</a:t>
            </a:r>
          </a:p>
          <a:p>
            <a:pPr algn="l"/>
            <a:r>
              <a:rPr sz="1500" b="0">
                <a:solidFill>
                  <a:srgbClr val="2B3A42"/>
                </a:solidFill>
                <a:latin typeface="Consolas"/>
              </a:rPr>
              <a:t>  anna,</a:t>
            </a:r>
          </a:p>
          <a:p>
            <a:pPr algn="l"/>
            <a:r>
              <a:rPr sz="1500" b="0">
                <a:solidFill>
                  <a:srgbClr val="2B3A42"/>
                </a:solidFill>
                <a:latin typeface="Consolas"/>
              </a:rPr>
              <a:t>  { equal: (a, b) =&gt;</a:t>
            </a:r>
          </a:p>
          <a:p>
            <a:pPr algn="l"/>
            <a:r>
              <a:rPr sz="1500" b="0">
                <a:solidFill>
                  <a:srgbClr val="2B3A42"/>
                </a:solidFill>
                <a:latin typeface="Consolas"/>
              </a:rPr>
              <a:t>      a.id === b.id });</a:t>
            </a:r>
          </a:p>
          <a:p>
            <a:pPr algn="l"/>
            <a:r>
              <a:rPr sz="1500" b="0">
                <a:solidFill>
                  <a:srgbClr val="2B3A42"/>
                </a:solidFill>
                <a:latin typeface="Consolas"/>
              </a:rPr>
              <a:t/>
            </a:r>
          </a:p>
          <a:p>
            <a:pPr algn="l"/>
            <a:r>
              <a:rPr sz="1500" b="0">
                <a:solidFill>
                  <a:srgbClr val="2B3A42"/>
                </a:solidFill>
                <a:latin typeface="Consolas"/>
              </a:rPr>
              <a:t>current.set({ ...anna });</a:t>
            </a:r>
          </a:p>
          <a:p>
            <a:pPr algn="l"/>
            <a:r>
              <a:rPr sz="1500" b="0">
                <a:solidFill>
                  <a:srgbClr val="2B3A42"/>
                </a:solidFill>
                <a:latin typeface="Consolas"/>
              </a:rPr>
              <a:t>// gleiche id: keine</a:t>
            </a:r>
          </a:p>
          <a:p>
            <a:pPr algn="l"/>
            <a:r>
              <a:rPr sz="1500" b="0">
                <a:solidFill>
                  <a:srgbClr val="2B3A42"/>
                </a:solidFill>
                <a:latin typeface="Consolas"/>
              </a:rPr>
              <a:t>// Benachrichtigung</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Lokaler Zustand (Quelle): Benutzer oder Ereignis ändert ihn direkt</a:t>
            </a:r>
          </a:p>
          <a:p>
            <a:pPr lvl="1">
              <a:defRPr sz="1700" b="0">
                <a:latin typeface="Segoe UI"/>
              </a:defRPr>
            </a:pPr>
            <a:r>
              <a:rPr lang="de-DE" sz="1700" b="0">
                <a:latin typeface="Segoe UI"/>
              </a:rPr>
              <a:t>Beispiele: Filtertext, ausgewählter Kunde</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Beispiele: gefilterte Liste, Anzahl der Treffer</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wird nur an einer Stelle gespeichert</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onFilterChanged(text: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this.filterText.set(text);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this.filtered.set(this.customers().filter(...));   // vergessen = Fehler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32</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Startstand nach Übung 31 (CustomerListComponent)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Pfeilfunktion statt computed: kein Zwischenspeicher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 =&gt; this.customerResource.value()?.data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Normale Methode: läuft bei jeder Change Detection neu</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filteredCustomers()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filter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Das funktioniert, aber: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das Ergebnis wird nicht zwischengespeichert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jeder Aufruf im Template rechnet erneut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Abhängigkeiten sind nicht als Graph sichtbar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Umbau zu computed ist Teil A von Übung 32</a:t>
            </a:r>
            <a:endParaRPr lang="de-DE" sz="1600" b="0" u="none" strike="noStrike">
              <a:solidFill>
                <a:srgbClr val="000000"/>
              </a:solidFill>
              <a:uFillTx/>
              <a:latin typeface="Arial"/>
            </a:endParaRP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Lazy: rechnet erst, wenn der Wert zum ersten Mal gelesen wird</a:t>
            </a:r>
          </a:p>
          <a:p>
            <a:pPr>
              <a:defRPr sz="2000" b="0">
                <a:latin typeface="Segoe UI"/>
              </a:defRPr>
            </a:pPr>
            <a:r>
              <a:rPr lang="de-DE" sz="2000" b="0">
                <a:latin typeface="Segoe UI"/>
              </a:rPr>
              <a:t>Memoized: liefert den gespeicherten Wert, solange nichts sich ändert</a:t>
            </a:r>
          </a:p>
          <a:p>
            <a:pPr>
              <a:defRPr sz="2000" b="0">
                <a:latin typeface="Segoe UI"/>
              </a:defRPr>
            </a:pPr>
            <a:r>
              <a:rPr lang="de-DE" sz="2000" b="0">
                <a:latin typeface="Segoe UI"/>
              </a:rPr>
              <a:t>Rein: keine Nebenwirkungen, kein Schreiben auf Signals</a:t>
            </a:r>
          </a:p>
          <a:p>
            <a:pPr lvl="1">
              <a:defRPr sz="1700" b="0">
                <a:latin typeface="Segoe UI"/>
              </a:defRPr>
            </a:pPr>
            <a:r>
              <a:rPr lang="de-DE" sz="1700" b="0">
                <a:latin typeface="Segoe UI"/>
              </a:rPr>
              <a:t>Schreiben im computed: Fehler NG0600</a:t>
            </a:r>
          </a:p>
          <a:p>
            <a:pPr>
              <a:defRPr sz="2000" b="0">
                <a:latin typeface="Segoe UI"/>
              </a:defRPr>
            </a:pPr>
            <a:r>
              <a:rPr lang="de-DE" sz="2000" b="0">
                <a:latin typeface="Segoe UI"/>
              </a:rPr>
              <a:t>Ergebnis ist Signal&lt;T&gt;: nur lesbar, kein set</a:t>
            </a:r>
          </a:p>
          <a:p>
            <a:pPr>
              <a:defRPr sz="2000" b="0">
                <a:latin typeface="Segoe UI"/>
              </a:defRPr>
            </a:pPr>
            <a:r>
              <a:rPr lang="de-DE" sz="2000" b="0">
                <a:latin typeface="Segoe UI"/>
              </a:rPr>
              <a:t>Option equal wie bei signal</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computed</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count = signal(2);</a:t>
            </a:r>
          </a:p>
          <a:p>
            <a:pPr algn="l"/>
            <a:r>
              <a:rPr sz="1300" b="0">
                <a:solidFill>
                  <a:srgbClr val="2B3A42"/>
                </a:solidFill>
                <a:latin typeface="Consolas"/>
              </a:rPr>
              <a:t/>
            </a:r>
          </a:p>
          <a:p>
            <a:pPr algn="l"/>
            <a:r>
              <a:rPr sz="1300" b="0">
                <a:solidFill>
                  <a:srgbClr val="2B3A42"/>
                </a:solidFill>
                <a:latin typeface="Consolas"/>
              </a:rPr>
              <a:t>const double = computed(() =&gt; {</a:t>
            </a:r>
          </a:p>
          <a:p>
            <a:pPr algn="l"/>
            <a:r>
              <a:rPr sz="1300" b="0">
                <a:solidFill>
                  <a:srgbClr val="2B3A42"/>
                </a:solidFill>
                <a:latin typeface="Consolas"/>
              </a:rPr>
              <a:t>  console.log('rechne');</a:t>
            </a:r>
          </a:p>
          <a:p>
            <a:pPr algn="l"/>
            <a:r>
              <a:rPr sz="1300" b="0">
                <a:solidFill>
                  <a:srgbClr val="2B3A42"/>
                </a:solidFill>
                <a:latin typeface="Consolas"/>
              </a:rPr>
              <a:t>  return count() * 2;</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double(); // rechnet: 4</a:t>
            </a:r>
          </a:p>
          <a:p>
            <a:pPr algn="l"/>
            <a:r>
              <a:rPr sz="1300" b="0">
                <a:solidFill>
                  <a:srgbClr val="2B3A42"/>
                </a:solidFill>
                <a:latin typeface="Consolas"/>
              </a:rPr>
              <a:t>double(); // aus dem Speicher</a:t>
            </a:r>
          </a:p>
          <a:p>
            <a:pPr algn="l"/>
            <a:r>
              <a:rPr sz="1300" b="0">
                <a:solidFill>
                  <a:srgbClr val="2B3A42"/>
                </a:solidFill>
                <a:latin typeface="Consolas"/>
              </a:rPr>
              <a:t>count.set(3);</a:t>
            </a:r>
          </a:p>
          <a:p>
            <a:pPr algn="l"/>
            <a:r>
              <a:rPr sz="1300" b="0">
                <a:solidFill>
                  <a:srgbClr val="2B3A42"/>
                </a:solidFill>
                <a:latin typeface="Consolas"/>
              </a:rPr>
              <a:t>double(); // rechnet neu: 6</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computed: dynamische Abhängigkeiten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Abhängigkeiten werden bei jedem Lauf neu ermittelt</a:t>
            </a:r>
          </a:p>
          <a:p>
            <a:pPr>
              <a:defRPr sz="2000" b="0">
                <a:latin typeface="Segoe UI"/>
              </a:defRPr>
            </a:pPr>
            <a:r>
              <a:rPr lang="de-DE" sz="2000" b="0">
                <a:latin typeface="Segoe UI"/>
              </a:rPr>
              <a:t>Es zählt nur, was im letzten Lauf wirklich gelesen wurde</a:t>
            </a:r>
          </a:p>
          <a:p>
            <a:pPr lvl="1">
              <a:defRPr sz="1700" b="0">
                <a:latin typeface="Segoe UI"/>
              </a:defRPr>
            </a:pPr>
            <a:r>
              <a:rPr lang="de-DE" sz="1700" b="0">
                <a:latin typeface="Segoe UI"/>
              </a:rPr>
              <a:t>Signal in nicht ausgeführtem Zweig: keine Abhängigkeit</a:t>
            </a:r>
          </a:p>
          <a:p>
            <a:pPr>
              <a:defRPr sz="2000" b="0">
                <a:latin typeface="Segoe UI"/>
              </a:defRPr>
            </a:pPr>
            <a:r>
              <a:rPr lang="de-DE" sz="2000" b="0">
                <a:latin typeface="Segoe UI"/>
              </a:rPr>
              <a:t>Fehler in der Funktion: wird gespeichert und beim Lesen geworfen</a:t>
            </a:r>
          </a:p>
          <a:p>
            <a:pPr>
              <a:defRPr sz="2000" b="0">
                <a:latin typeface="Segoe UI"/>
              </a:defRPr>
            </a:pPr>
            <a:r>
              <a:rPr lang="de-DE" sz="2000" b="0">
                <a:latin typeface="Segoe UI"/>
              </a:rPr>
              <a:t>Kein async: Signals nach await werden nicht erfasst</a:t>
            </a:r>
          </a:p>
          <a:p>
            <a:pPr lvl="1">
              <a:defRPr sz="1700" b="0">
                <a:latin typeface="Segoe UI"/>
              </a:defRPr>
            </a:pPr>
            <a:r>
              <a:rPr lang="de-DE" sz="1700" b="0">
                <a:latin typeface="Segoe UI"/>
              </a:rPr>
              <a:t>Asynchrones Laden: resource oder httpResource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dynamische Abhängigkeit</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showDetails = signal(false);</a:t>
            </a:r>
          </a:p>
          <a:p>
            <a:pPr algn="l"/>
            <a:r>
              <a:rPr sz="1300" b="0">
                <a:solidFill>
                  <a:srgbClr val="2B3A42"/>
                </a:solidFill>
                <a:latin typeface="Consolas"/>
              </a:rPr>
              <a:t>const name = signal('Ada');</a:t>
            </a:r>
          </a:p>
          <a:p>
            <a:pPr algn="l"/>
            <a:r>
              <a:rPr sz="1300" b="0">
                <a:solidFill>
                  <a:srgbClr val="2B3A42"/>
                </a:solidFill>
                <a:latin typeface="Consolas"/>
              </a:rPr>
              <a:t/>
            </a:r>
          </a:p>
          <a:p>
            <a:pPr algn="l"/>
            <a:r>
              <a:rPr sz="1300" b="0">
                <a:solidFill>
                  <a:srgbClr val="2B3A42"/>
                </a:solidFill>
                <a:latin typeface="Consolas"/>
              </a:rPr>
              <a:t>const label = computed(() =&gt;</a:t>
            </a:r>
          </a:p>
          <a:p>
            <a:pPr algn="l"/>
            <a:r>
              <a:rPr sz="1300" b="0">
                <a:solidFill>
                  <a:srgbClr val="2B3A42"/>
                </a:solidFill>
                <a:latin typeface="Consolas"/>
              </a:rPr>
              <a:t>  showDetails() ? name() : '-');</a:t>
            </a:r>
          </a:p>
          <a:p>
            <a:pPr algn="l"/>
            <a:r>
              <a:rPr sz="1300" b="0">
                <a:solidFill>
                  <a:srgbClr val="2B3A42"/>
                </a:solidFill>
                <a:latin typeface="Consolas"/>
              </a:rPr>
              <a:t/>
            </a:r>
          </a:p>
          <a:p>
            <a:pPr algn="l"/>
            <a:r>
              <a:rPr sz="1300" b="0">
                <a:solidFill>
                  <a:srgbClr val="2B3A42"/>
                </a:solidFill>
                <a:latin typeface="Consolas"/>
              </a:rPr>
              <a:t>label();          // '-'</a:t>
            </a:r>
          </a:p>
          <a:p>
            <a:pPr algn="l"/>
            <a:r>
              <a:rPr sz="1300" b="0">
                <a:solidFill>
                  <a:srgbClr val="2B3A42"/>
                </a:solidFill>
                <a:latin typeface="Consolas"/>
              </a:rPr>
              <a:t>name.set('Bob'); // kein Lauf</a:t>
            </a:r>
          </a:p>
          <a:p>
            <a:pPr algn="l"/>
            <a:r>
              <a:rPr sz="1300" b="0">
                <a:solidFill>
                  <a:srgbClr val="2B3A42"/>
                </a:solidFill>
                <a:latin typeface="Consolas"/>
              </a:rPr>
              <a:t>showDetails.set(true);</a:t>
            </a:r>
          </a:p>
          <a:p>
            <a:pPr algn="l"/>
            <a:r>
              <a:rPr sz="1300" b="0">
                <a:solidFill>
                  <a:srgbClr val="2B3A42"/>
                </a:solidFill>
                <a:latin typeface="Consolas"/>
              </a:rPr>
              <a:t>label();          // 'Bob'</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linkedSignal: abgeleitet, aber änderbar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Problem: Auswahl hängt von der Liste ab</a:t>
            </a:r>
          </a:p>
          <a:p>
            <a:pPr lvl="1">
              <a:defRPr sz="1700" b="0">
                <a:latin typeface="Segoe UI"/>
              </a:defRPr>
            </a:pPr>
            <a:r>
              <a:rPr lang="de-DE" sz="1700" b="0">
                <a:latin typeface="Segoe UI"/>
              </a:rPr>
              <a:t>Neue Liste: Auswahl soll zurückspringen</a:t>
            </a:r>
          </a:p>
          <a:p>
            <a:pPr lvl="1">
              <a:defRPr sz="1700" b="0">
                <a:latin typeface="Segoe UI"/>
              </a:defRPr>
            </a:pPr>
            <a:r>
              <a:rPr lang="de-DE" sz="1700" b="0">
                <a:latin typeface="Segoe UI"/>
              </a:rPr>
              <a:t>Benutzer soll trotzdem selbst wählen können</a:t>
            </a:r>
          </a:p>
          <a:p>
            <a:pPr>
              <a:defRPr sz="2000" b="0">
                <a:latin typeface="Segoe UI"/>
              </a:defRPr>
            </a:pPr>
            <a:r>
              <a:rPr lang="de-DE" sz="2000" b="0">
                <a:latin typeface="Segoe UI"/>
              </a:rPr>
              <a:t>computed: nicht schreibbar – signal: folgt der Liste nicht</a:t>
            </a:r>
          </a:p>
          <a:p>
            <a:pPr>
              <a:defRPr sz="2000" b="0">
                <a:latin typeface="Segoe UI"/>
              </a:defRPr>
            </a:pPr>
            <a:r>
              <a:rPr lang="de-DE" sz="2000" b="0">
                <a:latin typeface="Segoe UI"/>
              </a:rPr>
              <a:t>linkedSignal verbindet beides: berechnet und mit set() änderbar</a:t>
            </a:r>
          </a:p>
          <a:p>
            <a:pPr>
              <a:defRPr sz="2000" b="0">
                <a:latin typeface="Segoe UI"/>
              </a:defRPr>
            </a:pPr>
            <a:r>
              <a:rPr lang="de-DE" sz="2000" b="0">
                <a:latin typeface="Segoe UI"/>
              </a:rPr>
              <a:t>Ein gesetzter Wert gilt bis zur nächsten Änderung der Quelle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Liste ändert sich</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linkedSignal rechnet:</a:t>
            </a:r>
          </a:p>
          <a:p>
            <a:pPr algn="ctr"/>
            <a:r>
              <a:rPr sz="1700" b="0">
                <a:solidFill>
                  <a:srgbClr val="2B3A42"/>
                </a:solidFill>
                <a:latin typeface="Segoe UI"/>
              </a:rPr>
              <a:t>erstes Element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wählt:</a:t>
            </a:r>
          </a:p>
          <a:p>
            <a:pPr algn="ctr"/>
            <a:r>
              <a:rPr sz="1700" b="0">
                <a:solidFill>
                  <a:srgbClr val="2B3A42"/>
                </a:solidFill>
                <a:latin typeface="Segoe UI"/>
              </a:rPr>
              <a:t>selected.set(c)</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Wert gilt bis zur</a:t>
            </a:r>
          </a:p>
          <a:p>
            <a:pPr algn="ctr"/>
            <a:r>
              <a:rPr sz="1700" b="1">
                <a:solidFill>
                  <a:srgbClr val="FFFFFF"/>
                </a:solidFill>
                <a:latin typeface="Segoe UI"/>
              </a:rPr>
              <a:t>nächsten Liste</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Kurzform</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Kurzform: nur eine Berechnungsfunktion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          // Benutzer überschreibt den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 WritableSignal&lt;Customer&gt; – lesen mit selected(), schreiben mit set/update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 = signal&lt;Customer | undefined&gt;(undefined);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this.selected.set(this.customers()[0]));   // effect setzt Signal</a:t>
            </a:r>
            <a:endParaRPr lang="de-DE" sz="1600" b="0" u="none" strike="noStrike">
              <a:solidFill>
                <a:srgbClr val="000000"/>
              </a:solidFill>
              <a:uFillTx/>
              <a:latin typeface="Arial"/>
            </a:endParaRP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Langform</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 = linkedSignal&lt;Customer[], Customer | undefined&gt;({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source: was beobachtet wird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source: this.customers,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computation: Angular ruft sie auf, wenn sich source 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computation: (newList, previous)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previous ist beim ersten Lauf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danach { source: alte Liste, value: bisherige Auswahl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keep = newList.find(c =&gt; c.id === previous?.value?.id);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keep ?? newList[0];    // Auswahl behalten, sonst erstes Element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optional: equal: (a, b) =&gt; a?.id === b?.id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Parameter von computation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Aufrufer: Angular, beim ersten Lesen und nach Änderung von source</a:t>
            </a:r>
          </a:p>
          <a:p>
            <a:pPr>
              <a:defRPr sz="2000" b="0">
                <a:latin typeface="Segoe UI"/>
              </a:defRPr>
            </a:pPr>
            <a:r>
              <a:rPr lang="de-DE" sz="2000" b="0">
                <a:latin typeface="Segoe UI"/>
              </a:rPr>
              <a:t>1. Parameter: aktueller Wert von source (hier die neue Liste)</a:t>
            </a:r>
          </a:p>
          <a:p>
            <a:pPr>
              <a:defRPr sz="2000" b="0">
                <a:latin typeface="Segoe UI"/>
              </a:defRPr>
            </a:pPr>
            <a:r>
              <a:rPr lang="de-DE" sz="2000" b="0">
                <a:latin typeface="Segoe UI"/>
              </a:rPr>
              <a:t>2. Parameter previous: vorheriger Stand oder undefined</a:t>
            </a:r>
          </a:p>
          <a:p>
            <a:pPr lvl="1">
              <a:defRPr sz="1700" b="0">
                <a:latin typeface="Segoe UI"/>
              </a:defRPr>
            </a:pPr>
            <a:r>
              <a:rPr lang="de-DE" sz="1700" b="0">
                <a:latin typeface="Segoe UI"/>
              </a:rPr>
              <a:t>previous.source: alter Wert der Quelle</a:t>
            </a:r>
          </a:p>
          <a:p>
            <a:pPr lvl="1">
              <a:defRPr sz="1700" b="0">
                <a:latin typeface="Segoe UI"/>
              </a:defRPr>
            </a:pPr>
            <a:r>
              <a:rPr lang="de-DE" sz="1700" b="0">
                <a:latin typeface="Segoe UI"/>
              </a:rPr>
              <a:t>previous.value: letzter Wert, auch einer per set()</a:t>
            </a:r>
          </a:p>
          <a:p>
            <a:pPr>
              <a:defRPr sz="2000" b="0">
                <a:latin typeface="Segoe UI"/>
              </a:defRPr>
            </a:pPr>
            <a:r>
              <a:rPr lang="de-DE" sz="2000" b="0">
                <a:latin typeface="Segoe UI"/>
              </a:rPr>
              <a:t>Rückgabe: neuer Wert des linkedSignal</a:t>
            </a:r>
          </a:p>
          <a:p>
            <a:pPr>
              <a:defRPr sz="2000" b="0">
                <a:latin typeface="Segoe UI"/>
              </a:defRPr>
            </a:pPr>
            <a:r>
              <a:rPr lang="de-DE" sz="2000" b="0">
                <a:latin typeface="Segoe UI"/>
              </a:rPr>
              <a:t>Namen frei wählbar, Reihenfolge ist fest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source ändert sich</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ruft auf:</a:t>
            </a:r>
          </a:p>
          <a:p>
            <a:pPr algn="ctr"/>
            <a:r>
              <a:rPr sz="1700" b="0">
                <a:solidFill>
                  <a:srgbClr val="2B3A42"/>
                </a:solidFill>
                <a:latin typeface="Segoe UI"/>
              </a:rPr>
              <a:t>computation(neu, previous)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previous = { source,</a:t>
            </a:r>
          </a:p>
          <a:p>
            <a:pPr algn="ctr"/>
            <a:r>
              <a:rPr sz="1700" b="0">
                <a:solidFill>
                  <a:srgbClr val="2B3A42"/>
                </a:solidFill>
                <a:latin typeface="Segoe UI"/>
              </a:rPr>
              <a:t>value } oder undefined</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Rückgabe = neuer Wert</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a:p>
            <a:pPr>
              <a:defRPr sz="2000" b="0">
                <a:latin typeface="Segoe UI"/>
              </a:defRPr>
            </a:pPr>
            <a:r>
              <a:rPr lang="de-DE" sz="2000" b="0">
                <a:latin typeface="Segoe UI"/>
              </a:rPr>
              <a:t>Kein guter Grund: ein anderes Signal setzen</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Grundbeispiel aus Übung 32</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const FILTER_STORAGE_KEY = 'customerFilter';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function saveFilter(text: string): void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localStorage.setItem(FILTER_STORAGE_KEY, 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catch { /* localStorage fehlt oder ist gesperrt: ignorieren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filterText = signal(loadFilter());       // Startwert aus dem Speicher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Angular ruft die Funktion einmal auf und danach bei jeder Änderung von 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saveFilter(this.filterText()));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effect(): Signatur und Rückgabewert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Parameter 1: die Effekt-Funktion, Angular ruft sie auf</a:t>
            </a:r>
          </a:p>
          <a:p>
            <a:pPr lvl="1">
              <a:defRPr sz="1700" b="0">
                <a:latin typeface="Segoe UI"/>
              </a:defRPr>
            </a:pPr>
            <a:r>
              <a:rPr lang="de-DE" sz="1700" b="0">
                <a:latin typeface="Segoe UI"/>
              </a:rPr>
              <a:t>Sie bekommt einen Parameter: onCleanup</a:t>
            </a:r>
          </a:p>
          <a:p>
            <a:pPr>
              <a:defRPr sz="2000" b="0">
                <a:latin typeface="Segoe UI"/>
              </a:defRPr>
            </a:pPr>
            <a:r>
              <a:rPr lang="de-DE" sz="2000" b="0">
                <a:latin typeface="Segoe UI"/>
              </a:rPr>
              <a:t>Parameter 2: Optionen (injector, manualCleanup, debugName)</a:t>
            </a:r>
          </a:p>
          <a:p>
            <a:pPr>
              <a:defRPr sz="2000" b="0">
                <a:latin typeface="Segoe UI"/>
              </a:defRPr>
            </a:pPr>
            <a:r>
              <a:rPr lang="de-DE" sz="2000" b="0">
                <a:latin typeface="Segoe UI"/>
              </a:rPr>
              <a:t>Rückgabe: EffectRef mit der Methode destroy()</a:t>
            </a:r>
          </a:p>
          <a:p>
            <a:pPr>
              <a:defRPr sz="2000" b="0">
                <a:latin typeface="Segoe UI"/>
              </a:defRPr>
            </a:pPr>
            <a:r>
              <a:rPr lang="de-DE" sz="2000" b="0">
                <a:latin typeface="Segoe UI"/>
              </a:rPr>
              <a:t>Erster Lauf: kurz nach dem Erzeugen, nicht sofort</a:t>
            </a:r>
          </a:p>
          <a:p>
            <a:pPr>
              <a:defRPr sz="2000" b="0">
                <a:latin typeface="Segoe UI"/>
              </a:defRPr>
            </a:pPr>
            <a:r>
              <a:rPr lang="de-DE" sz="2000" b="0">
                <a:latin typeface="Segoe UI"/>
              </a:rPr>
              <a:t>Weitere Läufe: nach Änderung eines gelesenen Signals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Signatur (vereinfacht)</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function effect(</a:t>
            </a:r>
          </a:p>
          <a:p>
            <a:pPr algn="l"/>
            <a:r>
              <a:rPr sz="1300" b="0">
                <a:solidFill>
                  <a:srgbClr val="2B3A42"/>
                </a:solidFill>
                <a:latin typeface="Consolas"/>
              </a:rPr>
              <a:t>  effectFn: (onCleanup:</a:t>
            </a:r>
          </a:p>
          <a:p>
            <a:pPr algn="l"/>
            <a:r>
              <a:rPr sz="1300" b="0">
                <a:solidFill>
                  <a:srgbClr val="2B3A42"/>
                </a:solidFill>
                <a:latin typeface="Consolas"/>
              </a:rPr>
              <a:t>    EffectCleanupRegisterFn)</a:t>
            </a:r>
          </a:p>
          <a:p>
            <a:pPr algn="l"/>
            <a:r>
              <a:rPr sz="1300" b="0">
                <a:solidFill>
                  <a:srgbClr val="2B3A42"/>
                </a:solidFill>
                <a:latin typeface="Consolas"/>
              </a:rPr>
              <a:t>    =&gt; void,</a:t>
            </a:r>
          </a:p>
          <a:p>
            <a:pPr algn="l"/>
            <a:r>
              <a:rPr sz="1300" b="0">
                <a:solidFill>
                  <a:srgbClr val="2B3A42"/>
                </a:solidFill>
                <a:latin typeface="Consolas"/>
              </a:rPr>
              <a:t>  options?: CreateEffectOptions</a:t>
            </a:r>
          </a:p>
          <a:p>
            <a:pPr algn="l"/>
            <a:r>
              <a:rPr sz="1300" b="0">
                <a:solidFill>
                  <a:srgbClr val="2B3A42"/>
                </a:solidFill>
                <a:latin typeface="Consolas"/>
              </a:rPr>
              <a:t>): EffectRef;</a:t>
            </a:r>
          </a:p>
          <a:p>
            <a:pPr algn="l"/>
            <a:r>
              <a:rPr sz="1300" b="0">
                <a:solidFill>
                  <a:srgbClr val="2B3A42"/>
                </a:solidFill>
                <a:latin typeface="Consolas"/>
              </a:rPr>
              <a:t/>
            </a:r>
          </a:p>
          <a:p>
            <a:pPr algn="l"/>
            <a:r>
              <a:rPr sz="1300" b="0">
                <a:solidFill>
                  <a:srgbClr val="2B3A42"/>
                </a:solidFill>
                <a:latin typeface="Consolas"/>
              </a:rPr>
              <a:t>type EffectCleanupRegisterFn =</a:t>
            </a:r>
          </a:p>
          <a:p>
            <a:pPr algn="l"/>
            <a:r>
              <a:rPr sz="1300" b="0">
                <a:solidFill>
                  <a:srgbClr val="2B3A42"/>
                </a:solidFill>
                <a:latin typeface="Consolas"/>
              </a:rPr>
              <a:t>  (cleanupFn: () =&gt; void)</a:t>
            </a:r>
          </a:p>
          <a:p>
            <a:pPr algn="l"/>
            <a:r>
              <a:rPr sz="1300" b="0">
                <a:solidFill>
                  <a:srgbClr val="2B3A42"/>
                </a:solidFill>
                <a:latin typeface="Consolas"/>
              </a:rPr>
              <a:t>    =&gt; void;</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onCleanup?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ruft die Effekt-Funktion auf und übergibt onCleanup</a:t>
            </a:r>
          </a:p>
          <a:p>
            <a:pPr>
              <a:defRPr sz="2000" b="0">
                <a:latin typeface="Segoe UI"/>
              </a:defRPr>
            </a:pPr>
            <a:r>
              <a:rPr lang="de-DE" sz="2000" b="0">
                <a:latin typeface="Segoe UI"/>
              </a:rPr>
              <a:t>onCleanup ist selbst eine Funktion (EffectCleanupRegisterFn)</a:t>
            </a:r>
          </a:p>
          <a:p>
            <a:pPr>
              <a:defRPr sz="2000" b="0">
                <a:latin typeface="Segoe UI"/>
              </a:defRPr>
            </a:pPr>
            <a:r>
              <a:rPr lang="de-DE" sz="2000" b="0">
                <a:latin typeface="Segoe UI"/>
              </a:rPr>
              <a:t>Aufruf onCleanup(fn): meldet eine Aufräumfunktion fn an</a:t>
            </a:r>
          </a:p>
          <a:p>
            <a:pPr>
              <a:defRPr sz="2000" b="0">
                <a:latin typeface="Segoe UI"/>
              </a:defRPr>
            </a:pPr>
            <a:r>
              <a:rPr lang="de-DE" sz="2000" b="0">
                <a:latin typeface="Segoe UI"/>
              </a:rPr>
              <a:t>Angular ruft fn auf:</a:t>
            </a:r>
          </a:p>
          <a:p>
            <a:pPr lvl="1">
              <a:defRPr sz="1700" b="0">
                <a:latin typeface="Segoe UI"/>
              </a:defRPr>
            </a:pPr>
            <a:r>
              <a:rPr lang="de-DE" sz="1700" b="0">
                <a:latin typeface="Segoe UI"/>
              </a:rPr>
              <a:t>vor dem nächsten Lauf des effect</a:t>
            </a:r>
          </a:p>
          <a:p>
            <a:pPr lvl="1">
              <a:defRPr sz="1700" b="0">
                <a:latin typeface="Segoe UI"/>
              </a:defRPr>
            </a:pPr>
            <a:r>
              <a:rPr lang="de-DE" sz="1700" b="0">
                <a:latin typeface="Segoe UI"/>
              </a:rPr>
              <a:t>beim Zerstören (Komponente weg oder destroy())</a:t>
            </a:r>
          </a:p>
          <a:p>
            <a:pPr>
              <a:defRPr sz="2000" b="0">
                <a:latin typeface="Segoe UI"/>
              </a:defRPr>
            </a:pPr>
            <a:r>
              <a:rPr lang="de-DE" sz="2000" b="0">
                <a:latin typeface="Segoe UI"/>
              </a:rPr>
              <a:t>Name frei wählbar, Parameter darf auch fehlen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Wer ruft wen?</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effect((onCleanup) =&gt; {</a:t>
            </a:r>
          </a:p>
          <a:p>
            <a:pPr algn="l"/>
            <a:r>
              <a:rPr sz="1300" b="0">
                <a:solidFill>
                  <a:srgbClr val="2B3A42"/>
                </a:solidFill>
                <a:latin typeface="Consolas"/>
              </a:rPr>
              <a:t>  // Angular hat diese</a:t>
            </a:r>
          </a:p>
          <a:p>
            <a:pPr algn="l"/>
            <a:r>
              <a:rPr sz="1300" b="0">
                <a:solidFill>
                  <a:srgbClr val="2B3A42"/>
                </a:solidFill>
                <a:latin typeface="Consolas"/>
              </a:rPr>
              <a:t>  // Funktion aufgerufen und</a:t>
            </a:r>
          </a:p>
          <a:p>
            <a:pPr algn="l"/>
            <a:r>
              <a:rPr sz="1300" b="0">
                <a:solidFill>
                  <a:srgbClr val="2B3A42"/>
                </a:solidFill>
                <a:latin typeface="Consolas"/>
              </a:rPr>
              <a:t>  // onCleanup übergeben</a:t>
            </a:r>
          </a:p>
          <a:p>
            <a:pPr algn="l"/>
            <a:r>
              <a:rPr sz="1300" b="0">
                <a:solidFill>
                  <a:srgbClr val="2B3A42"/>
                </a:solidFill>
                <a:latin typeface="Consolas"/>
              </a:rPr>
              <a:t/>
            </a:r>
          </a:p>
          <a:p>
            <a:pPr algn="l"/>
            <a:r>
              <a:rPr sz="1300" b="0">
                <a:solidFill>
                  <a:srgbClr val="2B3A42"/>
                </a:solidFill>
                <a:latin typeface="Consolas"/>
              </a:rPr>
              <a:t>  onCleanup(() =&gt; {</a:t>
            </a:r>
          </a:p>
          <a:p>
            <a:pPr algn="l"/>
            <a:r>
              <a:rPr sz="1300" b="0">
                <a:solidFill>
                  <a:srgbClr val="2B3A42"/>
                </a:solidFill>
                <a:latin typeface="Consolas"/>
              </a:rPr>
              <a:t>    // Angular ruft das</a:t>
            </a:r>
          </a:p>
          <a:p>
            <a:pPr algn="l"/>
            <a:r>
              <a:rPr sz="1300" b="0">
                <a:solidFill>
                  <a:srgbClr val="2B3A42"/>
                </a:solidFill>
                <a:latin typeface="Consolas"/>
              </a:rPr>
              <a:t>    // später auf</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onCleanup im Einsatz: Polling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DashboardComponent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pollMs = signal(5000);                 // Abfrage-Intervall in Millisekunden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effect((onCleanup)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ms = this.pollMs();                            // Abhängigkeit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id = setInterval(() =&gt; this.refresh(), ms);    // Nebenwirkung starten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console.log('Timer gestartet', id, ms);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onCleanup(() =&gt; {                                    // Aufräumen anmelden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clearInterval(id);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console.log('Timer gestoppt', 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refresh() { /* Daten neu laden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Läufe und Aufräumen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Lauf 1: Timer A starten, Cleanup A anmelden</a:t>
            </a:r>
          </a:p>
          <a:p>
            <a:pPr>
              <a:defRPr sz="2000" b="0">
                <a:latin typeface="Segoe UI"/>
              </a:defRPr>
            </a:pPr>
            <a:r>
              <a:rPr lang="de-DE" sz="2000" b="0">
                <a:latin typeface="Segoe UI"/>
              </a:rPr>
              <a:t>pollMs.set(1000): effect ist veraltet</a:t>
            </a:r>
          </a:p>
          <a:p>
            <a:pPr>
              <a:defRPr sz="2000" b="0">
                <a:latin typeface="Segoe UI"/>
              </a:defRPr>
            </a:pPr>
            <a:r>
              <a:rPr lang="de-DE" sz="2000" b="0">
                <a:latin typeface="Segoe UI"/>
              </a:rPr>
              <a:t>Vor Lauf 2: Angular ruft Cleanup A, Timer A stoppt</a:t>
            </a:r>
          </a:p>
          <a:p>
            <a:pPr>
              <a:defRPr sz="2000" b="0">
                <a:latin typeface="Segoe UI"/>
              </a:defRPr>
            </a:pPr>
            <a:r>
              <a:rPr lang="de-DE" sz="2000" b="0">
                <a:latin typeface="Segoe UI"/>
              </a:rPr>
              <a:t>Lauf 2: Timer B starten, Cleanup B anmelden</a:t>
            </a:r>
          </a:p>
          <a:p>
            <a:pPr>
              <a:defRPr sz="2000" b="0">
                <a:latin typeface="Segoe UI"/>
              </a:defRPr>
            </a:pPr>
            <a:r>
              <a:rPr lang="de-DE" sz="2000" b="0">
                <a:latin typeface="Segoe UI"/>
              </a:rPr>
              <a:t>Komponente wird zerstört: Angular ruft Cleanup B</a:t>
            </a:r>
          </a:p>
          <a:p>
            <a:pPr>
              <a:defRPr sz="2000" b="0">
                <a:latin typeface="Segoe UI"/>
              </a:defRPr>
            </a:pPr>
            <a:r>
              <a:rPr lang="de-DE" sz="2000" b="0">
                <a:latin typeface="Segoe UI"/>
              </a:rPr>
              <a:t>Ergebnis: nie zwei Timer gleichzeitig, kein Leck</a:t>
            </a:r>
          </a:p>
        </p:txBody>
      </p:sp>
      <p:sp>
        <p:nvSpPr>
          <p:cNvPr id="4" name="Rounded Rectangle 3"/>
          <p:cNvSpPr/>
          <p:nvPr/>
        </p:nvSpPr>
        <p:spPr>
          <a:xfrm>
            <a:off x="7000000" y="1850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Lauf 1: Timer A</a:t>
            </a:r>
          </a:p>
        </p:txBody>
      </p:sp>
      <p:cxnSp>
        <p:nvCxnSpPr>
          <p:cNvPr id="5" name="Connector 4"/>
          <p:cNvCxnSpPr/>
          <p:nvPr/>
        </p:nvCxnSpPr>
        <p:spPr>
          <a:xfrm>
            <a:off x="9175000" y="2425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05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pollMs ändert sich</a:t>
            </a:r>
          </a:p>
        </p:txBody>
      </p:sp>
      <p:cxnSp>
        <p:nvCxnSpPr>
          <p:cNvPr id="7" name="Connector 6"/>
          <p:cNvCxnSpPr/>
          <p:nvPr/>
        </p:nvCxnSpPr>
        <p:spPr>
          <a:xfrm>
            <a:off x="9175000" y="3180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360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Cleanup A: Timer A stoppt</a:t>
            </a:r>
          </a:p>
        </p:txBody>
      </p:sp>
      <p:cxnSp>
        <p:nvCxnSpPr>
          <p:cNvPr id="9" name="Connector 8"/>
          <p:cNvCxnSpPr/>
          <p:nvPr/>
        </p:nvCxnSpPr>
        <p:spPr>
          <a:xfrm>
            <a:off x="9175000" y="3935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115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Lauf 2: Timer B</a:t>
            </a:r>
          </a:p>
        </p:txBody>
      </p:sp>
      <p:cxnSp>
        <p:nvCxnSpPr>
          <p:cNvPr id="11" name="Connector 10"/>
          <p:cNvCxnSpPr/>
          <p:nvPr/>
        </p:nvCxnSpPr>
        <p:spPr>
          <a:xfrm>
            <a:off x="9175000" y="4690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4870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Komponente zerstört</a:t>
            </a:r>
          </a:p>
        </p:txBody>
      </p:sp>
      <p:cxnSp>
        <p:nvCxnSpPr>
          <p:cNvPr id="13" name="Connector 12"/>
          <p:cNvCxnSpPr/>
          <p:nvPr/>
        </p:nvCxnSpPr>
        <p:spPr>
          <a:xfrm>
            <a:off x="9175000" y="5445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00000" y="5625000"/>
            <a:ext cx="4350000" cy="575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Cleanup B: Timer B stoppt</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Wer ruft effect und onCleanup 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DashboardComponent mit Polling: Angular ruft Effekt-Funktion und Aufräumfunktion auf.</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pollMs (signal)</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Effekt-Funktion</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Browser-Timer</a:t>
            </a:r>
          </a:p>
        </p:txBody>
      </p:sp>
      <p:cxnSp>
        <p:nvCxnSpPr>
          <p:cNvPr id="8" name="Connector 7"/>
          <p:cNvCxnSpPr/>
          <p:nvPr/>
        </p:nvCxnSpPr>
        <p:spPr>
          <a:xfrm>
            <a:off x="215235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0890" y="2558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23755" y="2280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1. Lauf 1: effectFn(onCleanup)</a:t>
            </a:r>
          </a:p>
        </p:txBody>
      </p:sp>
      <p:cxnSp>
        <p:nvCxnSpPr>
          <p:cNvPr id="14" name="Connector 13"/>
          <p:cNvCxnSpPr/>
          <p:nvPr/>
        </p:nvCxnSpPr>
        <p:spPr>
          <a:xfrm flipH="1">
            <a:off x="2172350" y="287696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350" y="2598960"/>
            <a:ext cx="5197080" cy="258000"/>
          </a:xfrm>
          <a:prstGeom prst="rect">
            <a:avLst/>
          </a:prstGeom>
          <a:noFill/>
        </p:spPr>
        <p:txBody>
          <a:bodyPr wrap="square" anchor="b" lIns="70000" rIns="70000" tIns="0" bIns="0">
            <a:spAutoFit/>
          </a:bodyPr>
          <a:lstStyle/>
          <a:p>
            <a:pPr algn="ctr"/>
            <a:r>
              <a:rPr sz="1500" b="0">
                <a:solidFill>
                  <a:srgbClr val="2B3A42"/>
                </a:solidFill>
                <a:latin typeface="Segoe UI"/>
              </a:rPr>
              <a:t>2. pollMs() lesen: 5000</a:t>
            </a:r>
          </a:p>
        </p:txBody>
      </p:sp>
      <p:cxnSp>
        <p:nvCxnSpPr>
          <p:cNvPr id="16" name="Connector 15"/>
          <p:cNvCxnSpPr/>
          <p:nvPr/>
        </p:nvCxnSpPr>
        <p:spPr>
          <a:xfrm>
            <a:off x="7409430" y="3194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52295" y="2916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3. setInterval(refresh, 5000): Timer A</a:t>
            </a:r>
          </a:p>
        </p:txBody>
      </p:sp>
      <p:cxnSp>
        <p:nvCxnSpPr>
          <p:cNvPr id="18" name="Connector 17"/>
          <p:cNvCxnSpPr/>
          <p:nvPr/>
        </p:nvCxnSpPr>
        <p:spPr>
          <a:xfrm flipH="1">
            <a:off x="4800890" y="3512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234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4. onCleanup(Aufräumen A) anmelden</a:t>
            </a:r>
          </a:p>
        </p:txBody>
      </p:sp>
      <p:cxnSp>
        <p:nvCxnSpPr>
          <p:cNvPr id="20" name="Connector 19"/>
          <p:cNvCxnSpPr/>
          <p:nvPr/>
        </p:nvCxnSpPr>
        <p:spPr>
          <a:xfrm>
            <a:off x="2152350" y="3830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95215" y="3552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5. set(1000): effect ist veraltet</a:t>
            </a:r>
          </a:p>
        </p:txBody>
      </p:sp>
      <p:cxnSp>
        <p:nvCxnSpPr>
          <p:cNvPr id="22" name="Connector 21"/>
          <p:cNvCxnSpPr/>
          <p:nvPr/>
        </p:nvCxnSpPr>
        <p:spPr>
          <a:xfrm>
            <a:off x="4780890" y="4148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3755" y="3870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6. Aufräumen A aufrufen</a:t>
            </a:r>
          </a:p>
        </p:txBody>
      </p:sp>
      <p:cxnSp>
        <p:nvCxnSpPr>
          <p:cNvPr id="24" name="Connector 23"/>
          <p:cNvCxnSpPr/>
          <p:nvPr/>
        </p:nvCxnSpPr>
        <p:spPr>
          <a:xfrm>
            <a:off x="7409430" y="4466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752295" y="4188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7. clearInterval(Timer A)</a:t>
            </a:r>
          </a:p>
        </p:txBody>
      </p:sp>
      <p:cxnSp>
        <p:nvCxnSpPr>
          <p:cNvPr id="26" name="Connector 25"/>
          <p:cNvCxnSpPr/>
          <p:nvPr/>
        </p:nvCxnSpPr>
        <p:spPr>
          <a:xfrm>
            <a:off x="4780890" y="4784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23755" y="4506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8. Lauf 2: effectFn(onCleanup)</a:t>
            </a:r>
          </a:p>
        </p:txBody>
      </p:sp>
      <p:cxnSp>
        <p:nvCxnSpPr>
          <p:cNvPr id="28" name="Connector 27"/>
          <p:cNvCxnSpPr/>
          <p:nvPr/>
        </p:nvCxnSpPr>
        <p:spPr>
          <a:xfrm>
            <a:off x="7409430" y="5102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52295" y="4824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9. setInterval(refresh, 1000): Timer B</a:t>
            </a:r>
          </a:p>
        </p:txBody>
      </p:sp>
      <p:cxnSp>
        <p:nvCxnSpPr>
          <p:cNvPr id="30" name="Connector 29"/>
          <p:cNvCxnSpPr/>
          <p:nvPr/>
        </p:nvCxnSpPr>
        <p:spPr>
          <a:xfrm>
            <a:off x="4780890" y="542096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23755" y="5142960"/>
            <a:ext cx="3942810" cy="258000"/>
          </a:xfrm>
          <a:prstGeom prst="rect">
            <a:avLst/>
          </a:prstGeom>
          <a:noFill/>
        </p:spPr>
        <p:txBody>
          <a:bodyPr wrap="square" anchor="b" lIns="70000" rIns="70000" tIns="0" bIns="0">
            <a:spAutoFit/>
          </a:bodyPr>
          <a:lstStyle/>
          <a:p>
            <a:pPr algn="ctr"/>
            <a:r>
              <a:rPr sz="1500" b="0">
                <a:solidFill>
                  <a:srgbClr val="2B3A42"/>
                </a:solidFill>
                <a:latin typeface="Segoe UI"/>
              </a:rPr>
              <a:t>10. Komponente zerstört: Aufräumen B</a:t>
            </a:r>
          </a:p>
        </p:txBody>
      </p:sp>
      <p:sp>
        <p:nvSpPr>
          <p:cNvPr id="32" name="TextBox 31"/>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Aufräumen B stoppt Timer B – es läuft nie mehr als ein Timer</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Läuft mindestens einmal, danach bei Änderung gelesener Signals</a:t>
            </a:r>
          </a:p>
          <a:p>
            <a:pPr>
              <a:defRPr sz="2000" b="0">
                <a:latin typeface="Segoe UI"/>
              </a:defRPr>
            </a:pPr>
            <a:r>
              <a:rPr lang="de-DE" sz="2000" b="0">
                <a:latin typeface="Segoe UI"/>
              </a:rPr>
              <a:t>Läuft asynchron, nicht direkt nach set()</a:t>
            </a:r>
          </a:p>
          <a:p>
            <a:pPr lvl="1">
              <a:defRPr sz="1700" b="0">
                <a:latin typeface="Segoe UI"/>
              </a:defRPr>
            </a:pPr>
            <a:r>
              <a:rPr lang="de-DE" sz="1700" b="0">
                <a:latin typeface="Segoe UI"/>
              </a:rPr>
              <a:t>Angular plant ihn ein und führt ihn im nächsten Durchlauf aus</a:t>
            </a:r>
          </a:p>
          <a:p>
            <a:pPr>
              <a:defRPr sz="2000" b="0">
                <a:latin typeface="Segoe UI"/>
              </a:defRPr>
            </a:pPr>
            <a:r>
              <a:rPr lang="de-DE" sz="2000" b="0">
                <a:latin typeface="Segoe UI"/>
              </a:rPr>
              <a:t>Mehrere Änderungen hintereinander: nur ein Lauf</a:t>
            </a:r>
          </a:p>
          <a:p>
            <a:pPr>
              <a:defRPr sz="2000" b="0">
                <a:latin typeface="Segoe UI"/>
              </a:defRPr>
            </a:pPr>
            <a:r>
              <a:rPr lang="de-DE" sz="2000" b="0">
                <a:latin typeface="Segoe UI"/>
              </a:rPr>
              <a:t>Effect einer Komponente: lebt so lange wie die Komponente</a:t>
            </a:r>
          </a:p>
          <a:p>
            <a:pPr>
              <a:defRPr sz="2000" b="0">
                <a:latin typeface="Segoe UI"/>
              </a:defRPr>
            </a:pPr>
            <a:r>
              <a:rPr lang="de-DE" sz="2000" b="0">
                <a:latin typeface="Segoe UI"/>
              </a:rPr>
              <a:t>Effect in einem Service (root): lebt so lange wie die Anwendung</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set(1); set(2); set(3)</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effect</a:t>
            </a:r>
          </a:p>
          <a:p>
            <a:pPr algn="ctr"/>
            <a:r>
              <a:rPr sz="1700" b="0">
                <a:solidFill>
                  <a:srgbClr val="2B3A42"/>
                </a:solidFill>
                <a:latin typeface="Segoe UI"/>
              </a:rPr>
              <a:t>ist veraltet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nächster Durchlauf</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effect läuft einmal</a:t>
            </a:r>
          </a:p>
          <a:p>
            <a:pPr algn="ctr"/>
            <a:r>
              <a:rPr sz="1700" b="1">
                <a:solidFill>
                  <a:srgbClr val="FFFFFF"/>
                </a:solidFill>
                <a:latin typeface="Segoe UI"/>
              </a:rPr>
              <a:t>mit Wert 3</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Mehrere set() ergeben einen Lauf</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Injection Context: wo effect() erlaubt ist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Injection Context: Phase, in der inject() funktioniert</a:t>
            </a:r>
          </a:p>
          <a:p>
            <a:pPr>
              <a:defRPr sz="2000" b="0">
                <a:latin typeface="Segoe UI"/>
              </a:defRPr>
            </a:pPr>
            <a:r>
              <a:rPr lang="de-DE" sz="2000" b="0">
                <a:latin typeface="Segoe UI"/>
              </a:rPr>
              <a:t>effect braucht ihn: holt sich den Injector</a:t>
            </a:r>
          </a:p>
          <a:p>
            <a:pPr lvl="1">
              <a:defRPr sz="1700" b="0">
                <a:latin typeface="Segoe UI"/>
              </a:defRPr>
            </a:pPr>
            <a:r>
              <a:rPr lang="de-DE" sz="1700" b="0">
                <a:latin typeface="Segoe UI"/>
              </a:rPr>
              <a:t>daraus: wann aufräumen (DestroyRef) und Zeitplanung</a:t>
            </a:r>
          </a:p>
          <a:p>
            <a:pPr>
              <a:defRPr sz="2000" b="0">
                <a:latin typeface="Segoe UI"/>
              </a:defRPr>
            </a:pPr>
            <a:r>
              <a:rPr lang="de-DE" sz="2000" b="0">
                <a:latin typeface="Segoe UI"/>
              </a:rPr>
              <a:t>Erlaubt: Konstruktor, Feldinitialisierer, Provider-Factory</a:t>
            </a:r>
          </a:p>
          <a:p>
            <a:pPr>
              <a:defRPr sz="2000" b="0">
                <a:latin typeface="Segoe UI"/>
              </a:defRPr>
            </a:pPr>
            <a:r>
              <a:rPr lang="de-DE" sz="2000" b="0">
                <a:latin typeface="Segoe UI"/>
              </a:rPr>
              <a:t>Nicht erlaubt: ngOnInit, Klick-Handler, setTimeout, subscribe</a:t>
            </a:r>
          </a:p>
          <a:p>
            <a:pPr lvl="1">
              <a:defRPr sz="1700" b="0">
                <a:latin typeface="Segoe UI"/>
              </a:defRPr>
            </a:pPr>
            <a:r>
              <a:rPr lang="de-DE" sz="1700" b="0">
                <a:latin typeface="Segoe UI"/>
              </a:rPr>
              <a:t>Fehler NG0203</a:t>
            </a:r>
          </a:p>
          <a:p>
            <a:pPr>
              <a:defRPr sz="2000" b="0">
                <a:latin typeface="Segoe UI"/>
              </a:defRPr>
            </a:pPr>
            <a:r>
              <a:rPr lang="de-DE" sz="2000" b="0">
                <a:latin typeface="Segoe UI"/>
              </a:rPr>
              <a:t>Ausweg: Option injector oder runInInjectionContext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Erlaubt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constructor()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Feld = effect(...)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Provider-Factory</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Fehler NG0203</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ngOnInit()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(click)-Handler</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setTimeout / subscribe</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Optionen und destroy()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@Injectable({ providedIn: 'root'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FilterLogger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store = inject(FilterStore);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injector = inject(Injector);      // im Injection Context merken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ref?: EffectRef;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start() {                                 // normale Methode: kein Injection Context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this.ref = effect(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=&gt; console.log('Filter:', this.store.filter()),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injector: this.injector, debugName: 'filterLog'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stop()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this.ref?.destroy();                    // effect sofort beenden, Cleanup läuft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manualCleanup: true – effect endet nur durch destroy(), nicht mit der Komponente</a:t>
            </a:r>
            <a:endParaRPr lang="de-DE" sz="1400" b="0" u="none" strike="noStrike">
              <a:solidFill>
                <a:srgbClr val="000000"/>
              </a:solidFill>
              <a:uFillTx/>
              <a:latin typeface="Arial"/>
            </a:endParaRP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untracked(): lesen ohne Abhängigkeit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AuditComponent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currentUser = input.required&lt;User&gt;();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settings = signal({ verbose: 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logger = inject(Logger);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user = this.currentUser();              // Abhängigkeit: Lauf bei neuem User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untracked(() =&gt; {   // Lesen ohne Abhängigkeit: settings löst KEINEN Lauf aus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verbose = this.settings().verbose;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this.logger.log(`Benutzer: ${user.name}`, verbose);  // liest evtl. selbst Signals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Kurzform für einen einzelnen Wert: const v = untracked(this.settings);</a:t>
            </a:r>
            <a:endParaRPr lang="de-DE" sz="1400" b="0" u="none" strike="noStrike">
              <a:solidFill>
                <a:srgbClr val="000000"/>
              </a:solidFill>
              <a:uFillTx/>
              <a:latin typeface="Arial"/>
            </a:endParaRP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afterRenderEffect: nach dem Zeichnen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Für DOM-Arbeit, die das fertig gezeichnete Element braucht</a:t>
            </a:r>
          </a:p>
          <a:p>
            <a:pPr lvl="1">
              <a:defRPr sz="1700" b="0">
                <a:latin typeface="Segoe UI"/>
              </a:defRPr>
            </a:pPr>
            <a:r>
              <a:rPr lang="de-DE" sz="1700" b="0">
                <a:latin typeface="Segoe UI"/>
              </a:rPr>
              <a:t>Größen messen, Canvas zeichnen, Drittbibliothek</a:t>
            </a:r>
          </a:p>
          <a:p>
            <a:pPr>
              <a:defRPr sz="2000" b="0">
                <a:latin typeface="Segoe UI"/>
              </a:defRPr>
            </a:pPr>
            <a:r>
              <a:rPr lang="de-DE" sz="2000" b="0">
                <a:latin typeface="Segoe UI"/>
              </a:rPr>
              <a:t>Läuft nach dem Rendern und nur, wenn gelesene Signals sich ändern</a:t>
            </a:r>
          </a:p>
          <a:p>
            <a:pPr>
              <a:defRPr sz="2000" b="0">
                <a:latin typeface="Segoe UI"/>
              </a:defRPr>
            </a:pPr>
            <a:r>
              <a:rPr lang="de-DE" sz="2000" b="0">
                <a:latin typeface="Segoe UI"/>
              </a:rPr>
              <a:t>Läuft nur im Browser, nicht beim Server-Rendering</a:t>
            </a:r>
          </a:p>
          <a:p>
            <a:pPr>
              <a:defRPr sz="2000" b="0">
                <a:latin typeface="Segoe UI"/>
              </a:defRPr>
            </a:pPr>
            <a:r>
              <a:rPr lang="de-DE" sz="2000" b="0">
                <a:latin typeface="Segoe UI"/>
              </a:rPr>
              <a:t>Für einmalige Arbeit: afterNextRender</a:t>
            </a:r>
          </a:p>
          <a:p>
            <a:pPr>
              <a:defRPr sz="2000" b="0">
                <a:latin typeface="Segoe UI"/>
              </a:defRPr>
            </a:pPr>
            <a:r>
              <a:rPr lang="de-DE" sz="2000" b="0">
                <a:latin typeface="Segoe UI"/>
              </a:rPr>
              <a:t>Normale Nebenwirkungen ohne DOM: effect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chart.component.ts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canvas = viewChild.required&lt;</a:t>
            </a:r>
          </a:p>
          <a:p>
            <a:pPr algn="l"/>
            <a:r>
              <a:rPr sz="1300" b="0">
                <a:solidFill>
                  <a:srgbClr val="2B3A42"/>
                </a:solidFill>
                <a:latin typeface="Consolas"/>
              </a:rPr>
              <a:t>  ElementRef&lt;HTMLCanvasElement&gt;</a:t>
            </a:r>
          </a:p>
          <a:p>
            <a:pPr algn="l"/>
            <a:r>
              <a:rPr sz="1300" b="0">
                <a:solidFill>
                  <a:srgbClr val="2B3A42"/>
                </a:solidFill>
                <a:latin typeface="Consolas"/>
              </a:rPr>
              <a:t>&gt;('c');</a:t>
            </a:r>
          </a:p>
          <a:p>
            <a:pPr algn="l"/>
            <a:r>
              <a:rPr sz="1300" b="0">
                <a:solidFill>
                  <a:srgbClr val="2B3A42"/>
                </a:solidFill>
                <a:latin typeface="Consolas"/>
              </a:rPr>
              <a:t>data = input.required&lt;number[]&gt;();</a:t>
            </a:r>
          </a:p>
          <a:p>
            <a:pPr algn="l"/>
            <a:r>
              <a:rPr sz="1300" b="0">
                <a:solidFill>
                  <a:srgbClr val="2B3A42"/>
                </a:solidFill>
                <a:latin typeface="Consolas"/>
              </a:rPr>
              <a:t/>
            </a:r>
          </a:p>
          <a:p>
            <a:pPr algn="l"/>
            <a:r>
              <a:rPr sz="1300" b="0">
                <a:solidFill>
                  <a:srgbClr val="2B3A42"/>
                </a:solidFill>
                <a:latin typeface="Consolas"/>
              </a:rPr>
              <a:t>constructor() {</a:t>
            </a:r>
          </a:p>
          <a:p>
            <a:pPr algn="l"/>
            <a:r>
              <a:rPr sz="1300" b="0">
                <a:solidFill>
                  <a:srgbClr val="2B3A42"/>
                </a:solidFill>
                <a:latin typeface="Consolas"/>
              </a:rPr>
              <a:t>  afterRenderEffect(() =&gt; {</a:t>
            </a:r>
          </a:p>
          <a:p>
            <a:pPr algn="l"/>
            <a:r>
              <a:rPr sz="1300" b="0">
                <a:solidFill>
                  <a:srgbClr val="2B3A42"/>
                </a:solidFill>
                <a:latin typeface="Consolas"/>
              </a:rPr>
              <a:t>    drawChart(</a:t>
            </a:r>
          </a:p>
          <a:p>
            <a:pPr algn="l"/>
            <a:r>
              <a:rPr sz="1300" b="0">
                <a:solidFill>
                  <a:srgbClr val="2B3A42"/>
                </a:solidFill>
                <a:latin typeface="Consolas"/>
              </a:rPr>
              <a:t>      this.canvas().nativeElement,</a:t>
            </a:r>
          </a:p>
          <a:p>
            <a:pPr algn="l"/>
            <a:r>
              <a:rPr sz="1300" b="0">
                <a:solidFill>
                  <a:srgbClr val="2B3A42"/>
                </a:solidFill>
                <a:latin typeface="Consolas"/>
              </a:rPr>
              <a:t>      this.data());</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Wert aus anderen Signals berechnen: computed</a:t>
            </a:r>
          </a:p>
          <a:p>
            <a:pPr>
              <a:defRPr sz="2000" b="0">
                <a:latin typeface="Segoe UI"/>
              </a:defRPr>
            </a:pPr>
            <a:r>
              <a:rPr lang="de-DE" sz="2000" b="0">
                <a:latin typeface="Segoe UI"/>
              </a:rPr>
              <a:t>Signal bei Änderung einer Quelle zurücksetzen: linkedSignal</a:t>
            </a:r>
          </a:p>
          <a:p>
            <a:pPr>
              <a:defRPr sz="2000" b="0">
                <a:latin typeface="Segoe UI"/>
              </a:defRPr>
            </a:pPr>
            <a:r>
              <a:rPr lang="de-DE" sz="2000" b="0">
                <a:latin typeface="Segoe UI"/>
              </a:rPr>
              <a:t>Auf Klick oder Eingabe reagieren: Event-Handler, z. B. (click)</a:t>
            </a:r>
          </a:p>
          <a:p>
            <a:pPr>
              <a:defRPr sz="2000" b="0">
                <a:latin typeface="Segoe UI"/>
              </a:defRPr>
            </a:pPr>
            <a:r>
              <a:rPr lang="de-DE" sz="2000" b="0">
                <a:latin typeface="Segoe UI"/>
              </a:rPr>
              <a:t>Daten laden, wenn sich eine id ändert: resource oder httpResource</a:t>
            </a:r>
          </a:p>
          <a:p>
            <a:pPr>
              <a:defRPr sz="2000" b="0">
                <a:latin typeface="Segoe UI"/>
              </a:defRPr>
            </a:pPr>
            <a:r>
              <a:rPr lang="de-DE" sz="2000" b="0">
                <a:latin typeface="Segoe UI"/>
              </a:rPr>
              <a:t>Beim Start einmal etwas tun: Konstruktor oder afterNextRender</a:t>
            </a:r>
          </a:p>
          <a:p>
            <a:pPr>
              <a:defRPr sz="2000" b="0">
                <a:latin typeface="Segoe UI"/>
              </a:defRPr>
            </a:pPr>
            <a:r>
              <a:rPr lang="de-DE" sz="2000" b="0">
                <a:latin typeface="Segoe UI"/>
              </a:rPr>
              <a:t>Faustregel: effect schreibt ein Signal? Fast immer gibt es Besseres</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ersetzen: vorher und nachher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Vorher: effect setzt ein Signal (abgeleiteter Zustand in Verkleidung)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fullName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this.fullName.set(`${this.first()} ${this.last()}`));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Nachher: computed – kein zusätzlicher Lauf, nichts aufzuräumen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fullName = computed(() =&gt; `${this.first()} ${this.last()}`);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Vorher: Seite bei neuem Suchbegriff per effect zurücksetzen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page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 this.query(); this.page.set(1);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Nachher: linkedSignal – folgt query, bleibt mit set() änderbar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page = linkedSignal({ source: this.query, computation: () =&gt; 1 });</a:t>
            </a:r>
            <a:endParaRPr lang="de-DE" sz="1600" b="0" u="none" strike="noStrike">
              <a:solidFill>
                <a:srgbClr val="000000"/>
              </a:solidFill>
              <a:uFillTx/>
              <a:latin typeface="Arial"/>
            </a:endParaRP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toSignal(): Observable wird Signal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Observable: Datenstrom aus RxJS (Router, Formulare, HttpClient)</a:t>
            </a:r>
          </a:p>
          <a:p>
            <a:pPr>
              <a:defRPr sz="2000" b="0">
                <a:latin typeface="Segoe UI"/>
              </a:defRPr>
            </a:pPr>
            <a:r>
              <a:rPr lang="de-DE" sz="2000" b="0">
                <a:latin typeface="Segoe UI"/>
              </a:rPr>
              <a:t>toSignal(obs$) abonniert sofort beim Aufruf</a:t>
            </a:r>
          </a:p>
          <a:p>
            <a:pPr>
              <a:defRPr sz="2000" b="0">
                <a:latin typeface="Segoe UI"/>
              </a:defRPr>
            </a:pPr>
            <a:r>
              <a:rPr lang="de-DE" sz="2000" b="0">
                <a:latin typeface="Segoe UI"/>
              </a:rPr>
              <a:t>Jeder neue Wert des Stroms wird der Wert des Signals</a:t>
            </a:r>
          </a:p>
          <a:p>
            <a:pPr>
              <a:defRPr sz="2000" b="0">
                <a:latin typeface="Segoe UI"/>
              </a:defRPr>
            </a:pPr>
            <a:r>
              <a:rPr lang="de-DE" sz="2000" b="0">
                <a:latin typeface="Segoe UI"/>
              </a:rPr>
              <a:t>Abmelden automatisch, wenn die Komponente zerstört wird</a:t>
            </a:r>
          </a:p>
          <a:p>
            <a:pPr lvl="1">
              <a:defRPr sz="1700" b="0">
                <a:latin typeface="Segoe UI"/>
              </a:defRPr>
            </a:pPr>
            <a:r>
              <a:rPr lang="de-DE" sz="1700" b="0">
                <a:latin typeface="Segoe UI"/>
              </a:rPr>
              <a:t>dafür nötig: Injection Context</a:t>
            </a:r>
          </a:p>
          <a:p>
            <a:pPr>
              <a:defRPr sz="2000" b="0">
                <a:latin typeface="Segoe UI"/>
              </a:defRPr>
            </a:pPr>
            <a:r>
              <a:rPr lang="de-DE" sz="2000" b="0">
                <a:latin typeface="Segoe UI"/>
              </a:rPr>
              <a:t>Ohne Startwert: Typ T | undefined</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Observable</a:t>
            </a:r>
          </a:p>
          <a:p>
            <a:pPr algn="ctr"/>
            <a:r>
              <a:rPr sz="1700" b="0">
                <a:solidFill>
                  <a:srgbClr val="2B3A42"/>
                </a:solidFill>
                <a:latin typeface="Segoe UI"/>
              </a:rPr>
              <a:t>(z. B. paramMap)</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toSignal: abonniert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neuer Wert → Signal</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Template liest Signal</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 zerstört:</a:t>
            </a:r>
          </a:p>
          <a:p>
            <a:pPr algn="ctr"/>
            <a:r>
              <a:rPr sz="1700" b="0">
                <a:solidFill>
                  <a:srgbClr val="2B3A42"/>
                </a:solidFill>
                <a:latin typeface="Segoe UI"/>
              </a:rPr>
              <a:t>abmelden</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toSignal(): die Optionen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route = inject(ActivatedRoute);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http = inject(HttpClient);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1) ohne Option: Typ Signal&lt;ParamMap | undefined&gt;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params = toSignal(this.route.paramMap);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2) initialValue: gilt, bis der erste Wert kommt -&gt; Signal&lt;Customer[]&gt;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toSignal(this.http.get&lt;Customer[]&gt;('api/customer'), { initialValue: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3) requireSync: Observable liefert sofort beim Abonnieren -&gt; kein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state$ = new BehaviorSubject&lt;string&gt;('start');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state = toSignal(this.state$, { requireSync: true });      // Signal&lt;string&gt;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4) außerhalb des Injection Context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load()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toSignal(this.http.get&lt;Customer[]&gt;('api/customer'), { injector: this.injector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toSignal()-Optionen erklärt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initialValue: Startwert bis zum ersten Wert des Stroms</a:t>
            </a:r>
          </a:p>
          <a:p>
            <a:pPr>
              <a:defRPr sz="2000" b="0">
                <a:latin typeface="Segoe UI"/>
              </a:defRPr>
            </a:pPr>
            <a:r>
              <a:rPr lang="de-DE" sz="2000" b="0">
                <a:latin typeface="Segoe UI"/>
              </a:rPr>
              <a:t>requireSync: true – Strom liefert sofort synchron</a:t>
            </a:r>
          </a:p>
          <a:p>
            <a:pPr lvl="1">
              <a:defRPr sz="1700" b="0">
                <a:latin typeface="Segoe UI"/>
              </a:defRPr>
            </a:pPr>
            <a:r>
              <a:rPr lang="de-DE" sz="1700" b="0">
                <a:latin typeface="Segoe UI"/>
              </a:rPr>
              <a:t>Liefert er nicht sofort: Fehler NG0601</a:t>
            </a:r>
          </a:p>
          <a:p>
            <a:pPr>
              <a:defRPr sz="2000" b="0">
                <a:latin typeface="Segoe UI"/>
              </a:defRPr>
            </a:pPr>
            <a:r>
              <a:rPr lang="de-DE" sz="2000" b="0">
                <a:latin typeface="Segoe UI"/>
              </a:rPr>
              <a:t>injector: für Aufrufe außerhalb des Injection Context</a:t>
            </a:r>
          </a:p>
          <a:p>
            <a:pPr>
              <a:defRPr sz="2000" b="0">
                <a:latin typeface="Segoe UI"/>
              </a:defRPr>
            </a:pPr>
            <a:r>
              <a:rPr lang="de-DE" sz="2000" b="0">
                <a:latin typeface="Segoe UI"/>
              </a:rPr>
              <a:t>manualCleanup: true – Abo endet erst mit dem Strom selbst</a:t>
            </a:r>
          </a:p>
          <a:p>
            <a:pPr>
              <a:defRPr sz="2000" b="0">
                <a:latin typeface="Segoe UI"/>
              </a:defRPr>
            </a:pPr>
            <a:r>
              <a:rPr lang="de-DE" sz="2000" b="0">
                <a:latin typeface="Segoe UI"/>
              </a:rPr>
              <a:t>equal: eigene Vergleichsfunktion wie bei signal</a:t>
            </a:r>
          </a:p>
          <a:p>
            <a:pPr>
              <a:defRPr sz="2000" b="0">
                <a:latin typeface="Segoe UI"/>
              </a:defRPr>
            </a:pPr>
            <a:r>
              <a:rPr lang="de-DE" sz="2000" b="0">
                <a:latin typeface="Segoe UI"/>
              </a:rPr>
              <a:t>Fehler im Strom: werden beim Lesen des Signals geworfen</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toObservable(): Signal wird Observable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Für RxJS-Operatoren: debounceTime, switchMap, retry</a:t>
            </a:r>
          </a:p>
          <a:p>
            <a:pPr>
              <a:defRPr sz="2000" b="0">
                <a:latin typeface="Segoe UI"/>
              </a:defRPr>
            </a:pPr>
            <a:r>
              <a:rPr lang="de-DE" sz="2000" b="0">
                <a:latin typeface="Segoe UI"/>
              </a:rPr>
              <a:t>Intern ein effect: braucht den Injection Context</a:t>
            </a:r>
          </a:p>
          <a:p>
            <a:pPr>
              <a:defRPr sz="2000" b="0">
                <a:latin typeface="Segoe UI"/>
              </a:defRPr>
            </a:pPr>
            <a:r>
              <a:rPr lang="de-DE" sz="2000" b="0">
                <a:latin typeface="Segoe UI"/>
              </a:rPr>
              <a:t>Erster Wert: der aktuelle Wert des Signals</a:t>
            </a:r>
          </a:p>
          <a:p>
            <a:pPr>
              <a:defRPr sz="2000" b="0">
                <a:latin typeface="Segoe UI"/>
              </a:defRPr>
            </a:pPr>
            <a:r>
              <a:rPr lang="de-DE" sz="2000" b="0">
                <a:latin typeface="Segoe UI"/>
              </a:rPr>
              <a:t>Werte kommen asynchron, nicht direkt nach set()</a:t>
            </a:r>
          </a:p>
          <a:p>
            <a:pPr lvl="1">
              <a:defRPr sz="1700" b="0">
                <a:latin typeface="Segoe UI"/>
              </a:defRPr>
            </a:pPr>
            <a:r>
              <a:rPr lang="de-DE" sz="1700" b="0">
                <a:latin typeface="Segoe UI"/>
              </a:rPr>
              <a:t>Mehrere set() hintereinander: nur der letzte Wert</a:t>
            </a:r>
          </a:p>
          <a:p>
            <a:pPr>
              <a:defRPr sz="2000" b="0">
                <a:latin typeface="Segoe UI"/>
              </a:defRPr>
            </a:pPr>
            <a:r>
              <a:rPr lang="de-DE" sz="2000" b="0">
                <a:latin typeface="Segoe UI"/>
              </a:rPr>
              <a:t>Option injector wie bei effect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toObservable</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count = signal(0);</a:t>
            </a:r>
          </a:p>
          <a:p>
            <a:pPr algn="l"/>
            <a:r>
              <a:rPr sz="1300" b="0">
                <a:solidFill>
                  <a:srgbClr val="2B3A42"/>
                </a:solidFill>
                <a:latin typeface="Consolas"/>
              </a:rPr>
              <a:t>const count$ =</a:t>
            </a:r>
          </a:p>
          <a:p>
            <a:pPr algn="l"/>
            <a:r>
              <a:rPr sz="1300" b="0">
                <a:solidFill>
                  <a:srgbClr val="2B3A42"/>
                </a:solidFill>
                <a:latin typeface="Consolas"/>
              </a:rPr>
              <a:t>  toObservable(count);</a:t>
            </a:r>
          </a:p>
          <a:p>
            <a:pPr algn="l"/>
            <a:r>
              <a:rPr sz="1300" b="0">
                <a:solidFill>
                  <a:srgbClr val="2B3A42"/>
                </a:solidFill>
                <a:latin typeface="Consolas"/>
              </a:rPr>
              <a:t/>
            </a:r>
          </a:p>
          <a:p>
            <a:pPr algn="l"/>
            <a:r>
              <a:rPr sz="1300" b="0">
                <a:solidFill>
                  <a:srgbClr val="2B3A42"/>
                </a:solidFill>
                <a:latin typeface="Consolas"/>
              </a:rPr>
              <a:t>count$.subscribe(v =&gt;</a:t>
            </a:r>
          </a:p>
          <a:p>
            <a:pPr algn="l"/>
            <a:r>
              <a:rPr sz="1300" b="0">
                <a:solidFill>
                  <a:srgbClr val="2B3A42"/>
                </a:solidFill>
                <a:latin typeface="Consolas"/>
              </a:rPr>
              <a:t>  console.log(v));</a:t>
            </a:r>
          </a:p>
          <a:p>
            <a:pPr algn="l"/>
            <a:r>
              <a:rPr sz="1300" b="0">
                <a:solidFill>
                  <a:srgbClr val="2B3A42"/>
                </a:solidFill>
                <a:latin typeface="Consolas"/>
              </a:rPr>
              <a:t>// später: 0</a:t>
            </a:r>
          </a:p>
          <a:p>
            <a:pPr algn="l"/>
            <a:r>
              <a:rPr sz="1300" b="0">
                <a:solidFill>
                  <a:srgbClr val="2B3A42"/>
                </a:solidFill>
                <a:latin typeface="Consolas"/>
              </a:rPr>
              <a:t/>
            </a:r>
          </a:p>
          <a:p>
            <a:pPr algn="l"/>
            <a:r>
              <a:rPr sz="1300" b="0">
                <a:solidFill>
                  <a:srgbClr val="2B3A42"/>
                </a:solidFill>
                <a:latin typeface="Consolas"/>
              </a:rPr>
              <a:t>count.set(1);</a:t>
            </a:r>
          </a:p>
          <a:p>
            <a:pPr algn="l"/>
            <a:r>
              <a:rPr sz="1300" b="0">
                <a:solidFill>
                  <a:srgbClr val="2B3A42"/>
                </a:solidFill>
                <a:latin typeface="Consolas"/>
              </a:rPr>
              <a:t>count.set(2);</a:t>
            </a:r>
          </a:p>
          <a:p>
            <a:pPr algn="l"/>
            <a:r>
              <a:rPr sz="1300" b="0">
                <a:solidFill>
                  <a:srgbClr val="2B3A42"/>
                </a:solidFill>
                <a:latin typeface="Consolas"/>
              </a:rPr>
              <a:t>// später nur: 2</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filterText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private 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 erst weiterreichen, wenn 300 ms keine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 gleiche Werte hintereinander ignorieren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Treffer: rechnet erst nach der Tipp-Pause neu</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visible = computed(()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this.customers().filter(c =&gt; c.lastname.includes(this.debounced()))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Signal → Observable → Signal</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Code der vorigen Folie: toObservable → debounceTime(300) → toSignal → computed visible.</a:t>
            </a:r>
          </a:p>
        </p:txBody>
      </p:sp>
      <p:sp>
        <p:nvSpPr>
          <p:cNvPr id="4" name="Rectangle 3"/>
          <p:cNvSpPr/>
          <p:nvPr/>
        </p:nvSpPr>
        <p:spPr>
          <a:xfrm>
            <a:off x="8830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Eingabe</a:t>
            </a:r>
          </a:p>
        </p:txBody>
      </p:sp>
      <p:sp>
        <p:nvSpPr>
          <p:cNvPr id="5" name="Rectangle 4"/>
          <p:cNvSpPr/>
          <p:nvPr/>
        </p:nvSpPr>
        <p:spPr>
          <a:xfrm>
            <a:off x="263544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filterText</a:t>
            </a:r>
          </a:p>
        </p:txBody>
      </p:sp>
      <p:sp>
        <p:nvSpPr>
          <p:cNvPr id="6" name="Rectangle 5"/>
          <p:cNvSpPr/>
          <p:nvPr/>
        </p:nvSpPr>
        <p:spPr>
          <a:xfrm>
            <a:off x="438780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toObservable</a:t>
            </a:r>
          </a:p>
        </p:txBody>
      </p:sp>
      <p:sp>
        <p:nvSpPr>
          <p:cNvPr id="7" name="Rectangle 6"/>
          <p:cNvSpPr/>
          <p:nvPr/>
        </p:nvSpPr>
        <p:spPr>
          <a:xfrm>
            <a:off x="614016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debounceTime</a:t>
            </a:r>
          </a:p>
        </p:txBody>
      </p:sp>
      <p:sp>
        <p:nvSpPr>
          <p:cNvPr id="8" name="Rectangle 7"/>
          <p:cNvSpPr/>
          <p:nvPr/>
        </p:nvSpPr>
        <p:spPr>
          <a:xfrm>
            <a:off x="789252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debounced</a:t>
            </a:r>
          </a:p>
        </p:txBody>
      </p:sp>
      <p:sp>
        <p:nvSpPr>
          <p:cNvPr id="9" name="Rectangle 8"/>
          <p:cNvSpPr/>
          <p:nvPr/>
        </p:nvSpPr>
        <p:spPr>
          <a:xfrm>
            <a:off x="96448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visible</a:t>
            </a:r>
          </a:p>
        </p:txBody>
      </p:sp>
      <p:cxnSp>
        <p:nvCxnSpPr>
          <p:cNvPr id="10" name="Connector 9"/>
          <p:cNvCxnSpPr/>
          <p:nvPr/>
        </p:nvCxnSpPr>
        <p:spPr>
          <a:xfrm>
            <a:off x="17142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6662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898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7134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72370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76060" y="2210000"/>
            <a:ext cx="0" cy="330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714260" y="2558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76170" y="2280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1. set('M'), set('Mü'), …</a:t>
            </a:r>
          </a:p>
        </p:txBody>
      </p:sp>
      <p:cxnSp>
        <p:nvCxnSpPr>
          <p:cNvPr id="18" name="Connector 17"/>
          <p:cNvCxnSpPr/>
          <p:nvPr/>
        </p:nvCxnSpPr>
        <p:spPr>
          <a:xfrm>
            <a:off x="3466620" y="2876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28530" y="2598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2. interner effect liest Wert</a:t>
            </a:r>
          </a:p>
        </p:txBody>
      </p:sp>
      <p:cxnSp>
        <p:nvCxnSpPr>
          <p:cNvPr id="20" name="Connector 19"/>
          <p:cNvCxnSpPr/>
          <p:nvPr/>
        </p:nvCxnSpPr>
        <p:spPr>
          <a:xfrm>
            <a:off x="5218980" y="3194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780890" y="2916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3. next('M'), next('Mü'), …</a:t>
            </a:r>
          </a:p>
        </p:txBody>
      </p:sp>
      <p:cxnSp>
        <p:nvCxnSpPr>
          <p:cNvPr id="22" name="Connector 21"/>
          <p:cNvCxnSpPr/>
          <p:nvPr/>
        </p:nvCxnSpPr>
        <p:spPr>
          <a:xfrm>
            <a:off x="6971340" y="3392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51340" y="3392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991340" y="3512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01340" y="3263120"/>
            <a:ext cx="1252360" cy="258000"/>
          </a:xfrm>
          <a:prstGeom prst="rect">
            <a:avLst/>
          </a:prstGeom>
          <a:noFill/>
        </p:spPr>
        <p:txBody>
          <a:bodyPr wrap="square" anchor="ctr" lIns="70000" rIns="70000" tIns="0" bIns="0">
            <a:spAutoFit/>
          </a:bodyPr>
          <a:lstStyle/>
          <a:p>
            <a:pPr algn="l"/>
            <a:r>
              <a:rPr sz="1300" b="0">
                <a:solidFill>
                  <a:srgbClr val="2B3A42"/>
                </a:solidFill>
                <a:latin typeface="Segoe UI"/>
              </a:rPr>
              <a:t>4. 300 ms warten</a:t>
            </a:r>
          </a:p>
        </p:txBody>
      </p:sp>
      <p:cxnSp>
        <p:nvCxnSpPr>
          <p:cNvPr id="26" name="Connector 25"/>
          <p:cNvCxnSpPr/>
          <p:nvPr/>
        </p:nvCxnSpPr>
        <p:spPr>
          <a:xfrm>
            <a:off x="1714260" y="3830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276170" y="3552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5. set('Müller'), dann Pause</a:t>
            </a:r>
          </a:p>
        </p:txBody>
      </p:sp>
      <p:cxnSp>
        <p:nvCxnSpPr>
          <p:cNvPr id="28" name="Connector 27"/>
          <p:cNvCxnSpPr/>
          <p:nvPr/>
        </p:nvCxnSpPr>
        <p:spPr>
          <a:xfrm>
            <a:off x="6971340" y="4148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533250" y="3870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6. next('Müller')</a:t>
            </a:r>
          </a:p>
        </p:txBody>
      </p:sp>
      <p:cxnSp>
        <p:nvCxnSpPr>
          <p:cNvPr id="30" name="Connector 29"/>
          <p:cNvCxnSpPr/>
          <p:nvPr/>
        </p:nvCxnSpPr>
        <p:spPr>
          <a:xfrm>
            <a:off x="8723700" y="4346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103700" y="4346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8743700" y="4466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153700" y="4217120"/>
            <a:ext cx="1252360" cy="258000"/>
          </a:xfrm>
          <a:prstGeom prst="rect">
            <a:avLst/>
          </a:prstGeom>
          <a:noFill/>
        </p:spPr>
        <p:txBody>
          <a:bodyPr wrap="square" anchor="ctr" lIns="70000" rIns="70000" tIns="0" bIns="0">
            <a:spAutoFit/>
          </a:bodyPr>
          <a:lstStyle/>
          <a:p>
            <a:pPr algn="l"/>
            <a:r>
              <a:rPr sz="1300" b="0">
                <a:solidFill>
                  <a:srgbClr val="2B3A42"/>
                </a:solidFill>
                <a:latin typeface="Segoe UI"/>
              </a:rPr>
              <a:t>7. set('Müller')</a:t>
            </a:r>
          </a:p>
        </p:txBody>
      </p:sp>
      <p:cxnSp>
        <p:nvCxnSpPr>
          <p:cNvPr id="34" name="Connector 33"/>
          <p:cNvCxnSpPr/>
          <p:nvPr/>
        </p:nvCxnSpPr>
        <p:spPr>
          <a:xfrm>
            <a:off x="8723700" y="4784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85610" y="4506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8. Push: veraltet</a:t>
            </a:r>
          </a:p>
        </p:txBody>
      </p:sp>
      <p:cxnSp>
        <p:nvCxnSpPr>
          <p:cNvPr id="36" name="Connector 35"/>
          <p:cNvCxnSpPr/>
          <p:nvPr/>
        </p:nvCxnSpPr>
        <p:spPr>
          <a:xfrm flipH="1">
            <a:off x="8743700" y="510296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285610" y="4824960"/>
            <a:ext cx="2628540" cy="258000"/>
          </a:xfrm>
          <a:prstGeom prst="rect">
            <a:avLst/>
          </a:prstGeom>
          <a:noFill/>
        </p:spPr>
        <p:txBody>
          <a:bodyPr wrap="square" anchor="b" lIns="70000" rIns="70000" tIns="0" bIns="0">
            <a:spAutoFit/>
          </a:bodyPr>
          <a:lstStyle/>
          <a:p>
            <a:pPr algn="ctr"/>
            <a:r>
              <a:rPr sz="1300" b="0">
                <a:solidFill>
                  <a:srgbClr val="2B3A42"/>
                </a:solidFill>
                <a:latin typeface="Segoe UI"/>
              </a:rPr>
              <a:t>9. Pull: debounced() lesen</a:t>
            </a:r>
          </a:p>
        </p:txBody>
      </p:sp>
      <p:cxnSp>
        <p:nvCxnSpPr>
          <p:cNvPr id="38" name="Connector 37"/>
          <p:cNvCxnSpPr/>
          <p:nvPr/>
        </p:nvCxnSpPr>
        <p:spPr>
          <a:xfrm flipH="1">
            <a:off x="10096060" y="530012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096060" y="5300120"/>
            <a:ext cx="0" cy="12084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096060" y="542096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793700" y="5171120"/>
            <a:ext cx="1252360" cy="258000"/>
          </a:xfrm>
          <a:prstGeom prst="rect">
            <a:avLst/>
          </a:prstGeom>
          <a:noFill/>
        </p:spPr>
        <p:txBody>
          <a:bodyPr wrap="square" anchor="ctr" lIns="70000" rIns="70000" tIns="0" bIns="0">
            <a:spAutoFit/>
          </a:bodyPr>
          <a:lstStyle/>
          <a:p>
            <a:pPr algn="r"/>
            <a:r>
              <a:rPr sz="1300" b="0">
                <a:solidFill>
                  <a:srgbClr val="2B3A42"/>
                </a:solidFill>
                <a:latin typeface="Segoe UI"/>
              </a:rPr>
              <a:t>10. neu filtern</a:t>
            </a:r>
          </a:p>
        </p:txBody>
      </p:sp>
      <p:sp>
        <p:nvSpPr>
          <p:cNvPr id="42" name="TextBox 41"/>
          <p:cNvSpPr txBox="1"/>
          <p:nvPr/>
        </p:nvSpPr>
        <p:spPr>
          <a:xfrm>
            <a:off x="838080" y="5570000"/>
            <a:ext cx="10514160" cy="380000"/>
          </a:xfrm>
          <a:prstGeom prst="rect">
            <a:avLst/>
          </a:prstGeom>
          <a:noFill/>
        </p:spPr>
        <p:txBody>
          <a:bodyPr wrap="square" anchor="t" lIns="70000" rIns="70000" tIns="30000" bIns="30000">
            <a:spAutoFit/>
          </a:bodyPr>
          <a:lstStyle/>
          <a:p>
            <a:pPr algn="ctr"/>
            <a:r>
              <a:rPr sz="1200" b="0">
                <a:solidFill>
                  <a:srgbClr val="595959"/>
                </a:solidFill>
                <a:latin typeface="Segoe UI"/>
              </a:rPr>
              <a:t>Signal → Observable: toObservable, Observable → Signal: toSignal (beide im Injection Context)</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der Brücke zu RxJS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toSignal ohne initialValue: T | undefined im Template behandeln</a:t>
            </a:r>
          </a:p>
          <a:p>
            <a:pPr>
              <a:defRPr sz="2000" b="0">
                <a:latin typeface="Segoe UI"/>
              </a:defRPr>
            </a:pPr>
            <a:r>
              <a:rPr lang="de-DE" sz="2000" b="0">
                <a:latin typeface="Segoe UI"/>
              </a:rPr>
              <a:t>toSignal in ngOnInit oder Methode: NG0203 ohne injector</a:t>
            </a:r>
          </a:p>
          <a:p>
            <a:pPr>
              <a:defRPr sz="2000" b="0">
                <a:latin typeface="Segoe UI"/>
              </a:defRPr>
            </a:pPr>
            <a:r>
              <a:rPr lang="de-DE" sz="2000" b="0">
                <a:latin typeface="Segoe UI"/>
              </a:rPr>
              <a:t>Fehler im Strom: Signal wirft beim Lesen – vorher catchError</a:t>
            </a:r>
          </a:p>
          <a:p>
            <a:pPr>
              <a:defRPr sz="2000" b="0">
                <a:latin typeface="Segoe UI"/>
              </a:defRPr>
            </a:pPr>
            <a:r>
              <a:rPr lang="de-DE" sz="2000" b="0">
                <a:latin typeface="Segoe UI"/>
              </a:rPr>
              <a:t>toSignal abonniert sofort: HTTP-Anfrage startet beim Erzeugen</a:t>
            </a:r>
          </a:p>
          <a:p>
            <a:pPr>
              <a:defRPr sz="2000" b="0">
                <a:latin typeface="Segoe UI"/>
              </a:defRPr>
            </a:pPr>
            <a:r>
              <a:rPr lang="de-DE" sz="2000" b="0">
                <a:latin typeface="Segoe UI"/>
              </a:rPr>
              <a:t>Zeit und Ereignisströme: RxJS – Zustand: Signals</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Kopie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list = signal&lt;Customer[]&gt;([]);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this.list().push(c);                   // Falsch: gleiches Array, Signal merkt nichts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this.list.update(l =&gt; [...l, c]);      // Richtig: neues Array, neue Referenz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Eintrag ändern, ebenfalls mit neuer Referenz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this.list.update(l =&gt; l.map(x =&gt; x.id === c.id ? { ...x, ...changes } : x));</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Eintrag entfernen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this.list.update(l =&gt; l.filter(x =&gt; x.id !== 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Warum? Signals vergleichen mit Object.is: gleiches Array = "keine Änderung".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push ändert den Inhalt, aber nicht die Referenz -&gt; keine Benachrichtigung,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computed und Template behalten ihren alten Stand.</a:t>
            </a:r>
            <a:endParaRPr lang="de-DE" sz="1400" b="0" u="none" strike="noStrike">
              <a:solidFill>
                <a:srgbClr val="000000"/>
              </a:solidFill>
              <a:uFillTx/>
              <a:latin typeface="Arial"/>
            </a:endParaRP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b, der zweite liest b und schreibt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Warum? Jeder Schreibvorgang macht den anderen effect veraltet,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beide planen sich gegenseitig immer wieder ein.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b2 = computed(() =&gt; { this.a.set(5); return 1; });      // NG0600</a:t>
            </a:r>
            <a:endParaRPr lang="de-DE" sz="1600" b="0" u="none" strike="noStrike">
              <a:solidFill>
                <a:srgbClr val="000000"/>
              </a:solidFill>
              <a:uFillTx/>
              <a:latin typeface="Arial"/>
            </a:endParaRP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&lt;p&gt;Summe: {{ expensiveSum()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&lt;p&gt;Summe: {{ total()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Klasse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expensiveSum() { return this.items().reduce((s, i) =&gt; s + i.price, 0);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computed(() =&gt; this.items().reduce((s, i) =&gt; s + i.price, 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Warum? Angular weiß nicht, ob eine Methode ihr Ergebnis geändert hat,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also ruft es sie bei jeder Prüfung erneut auf.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computed weiß es: Es kennt seine Abhängigkeiten und hat einen Speicher.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Ausnahme: reine, sehr billige Aufrufe. Im Zweifel computed oder reine Pipe.</a:t>
            </a:r>
            <a:endParaRPr lang="de-DE" sz="1600" b="0" u="none" strike="noStrike">
              <a:solidFill>
                <a:srgbClr val="000000"/>
              </a:solidFill>
              <a:uFillTx/>
              <a:latin typeface="Arial"/>
            </a:endParaRP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4: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Ein großes Signal für alles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 [] as Customer[], filter: '', selectedId: 0, loading: 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state.update(s =&gt; ({ ...s, loading: true }));    // nur loading geändert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aber JEDER, der state() liest, gilt als veraltet: Liste, Filter, Auswahl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Warum? Die Abhängigkeit hängt am ganzen Signal, nicht an einzelnen Feldern.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mehrere kleine Signals, daraus computed für Ausschnitte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signal&lt;number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loading = signal(false);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 5: kleine Fehler, große Wirkung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Klammern vergessen: if (this.loading) ist immer wahr</a:t>
            </a:r>
          </a:p>
          <a:p>
            <a:pPr lvl="1">
              <a:defRPr sz="1700" b="0">
                <a:latin typeface="Segoe UI"/>
              </a:defRPr>
            </a:pPr>
            <a:r>
              <a:rPr lang="de-DE" sz="1700" b="0">
                <a:latin typeface="Segoe UI"/>
              </a:rPr>
              <a:t>Richtig: if (this.loading())</a:t>
            </a:r>
          </a:p>
          <a:p>
            <a:pPr>
              <a:defRPr sz="2000" b="0">
                <a:latin typeface="Segoe UI"/>
              </a:defRPr>
            </a:pPr>
            <a:r>
              <a:rPr lang="de-DE" sz="2000" b="0">
                <a:latin typeface="Segoe UI"/>
              </a:rPr>
              <a:t>Lesen nach await im effect: keine Abhängigkeit mehr</a:t>
            </a:r>
          </a:p>
          <a:p>
            <a:pPr lvl="1">
              <a:defRPr sz="1700" b="0">
                <a:latin typeface="Segoe UI"/>
              </a:defRPr>
            </a:pPr>
            <a:r>
              <a:rPr lang="de-DE" sz="1700" b="0">
                <a:latin typeface="Segoe UI"/>
              </a:rPr>
              <a:t>Signals vor dem ersten await lesen</a:t>
            </a:r>
          </a:p>
          <a:p>
            <a:pPr>
              <a:defRPr sz="2000" b="0">
                <a:latin typeface="Segoe UI"/>
              </a:defRPr>
            </a:pPr>
            <a:r>
              <a:rPr lang="de-DE" sz="2000" b="0">
                <a:latin typeface="Segoe UI"/>
              </a:rPr>
              <a:t>input() setzen wollen: input ist schreibgeschützt</a:t>
            </a:r>
          </a:p>
          <a:p>
            <a:pPr lvl="1">
              <a:defRPr sz="1700" b="0">
                <a:latin typeface="Segoe UI"/>
              </a:defRPr>
            </a:pPr>
            <a:r>
              <a:rPr lang="de-DE" sz="1700" b="0">
                <a:latin typeface="Segoe UI"/>
              </a:rPr>
              <a:t>lokalen Zustand mit linkedSignal ableiten</a:t>
            </a:r>
          </a:p>
          <a:p>
            <a:pPr>
              <a:defRPr sz="2000" b="0">
                <a:latin typeface="Segoe UI"/>
              </a:defRPr>
            </a:pPr>
            <a:r>
              <a:rPr lang="de-DE" sz="2000" b="0">
                <a:latin typeface="Segoe UI"/>
              </a:rPr>
              <a:t>effect in ngOnInit: Fehler NG0203</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Eltern zu Kind: input(), Daten nach unten</a:t>
            </a:r>
          </a:p>
          <a:p>
            <a:pPr>
              <a:defRPr sz="2000" b="0">
                <a:latin typeface="Segoe UI"/>
              </a:defRPr>
            </a:pPr>
            <a:r>
              <a:rPr lang="de-DE" sz="2000" b="0">
                <a:latin typeface="Segoe UI"/>
              </a:rPr>
              <a:t>Kind zu Eltern: output(), Ereignisse nach oben</a:t>
            </a:r>
          </a:p>
          <a:p>
            <a:pPr>
              <a:defRPr sz="2000" b="0">
                <a:latin typeface="Segoe UI"/>
              </a:defRPr>
            </a:pPr>
            <a:r>
              <a:rPr lang="de-DE" sz="2000" b="0">
                <a:latin typeface="Segoe UI"/>
              </a:rPr>
              <a:t>Gemeinsamer Zustand: Service oder Store</a:t>
            </a:r>
          </a:p>
          <a:p>
            <a:pPr>
              <a:defRPr sz="2000" b="0">
                <a:latin typeface="Segoe UI"/>
              </a:defRPr>
            </a:pPr>
            <a:r>
              <a:rPr lang="de-DE" sz="2000" b="0">
                <a:latin typeface="Segoe UI"/>
              </a:rPr>
              <a:t>Eine Richtung, ein Besitzer pro Zustand</a:t>
            </a:r>
          </a:p>
          <a:p>
            <a:pPr>
              <a:defRPr sz="2000" b="0">
                <a:latin typeface="Segoe UI"/>
              </a:defRPr>
            </a:pPr>
            <a:r>
              <a:rPr lang="de-DE" sz="2000" b="0">
                <a:latin typeface="Segoe UI"/>
              </a:rPr>
              <a:t>Ändern nur über benannte Methoden</a:t>
            </a:r>
          </a:p>
          <a:p>
            <a:pPr>
              <a:defRPr sz="2000" b="0">
                <a:latin typeface="Segoe UI"/>
              </a:defRPr>
            </a:pPr>
            <a:r>
              <a:rPr lang="de-DE" sz="2000" b="0">
                <a:latin typeface="Segoe UI"/>
              </a:rPr>
              <a:t>Fehlersuche: Angular DevTools zeigen den Signal-Graphen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Eltern-Komponente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input() ↓    ↑ output()</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Kind-Komponente</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 Store (Signals)</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eine Richtung, ein Besitzer</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trotzdem überschreibbar sein? Dann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lvl="1">
              <a:defRPr sz="1700" b="0">
                <a:latin typeface="Segoe UI"/>
              </a:defRPr>
            </a:pPr>
            <a:r>
              <a:rPr lang="de-DE" sz="1700" b="0">
                <a:latin typeface="Segoe UI"/>
              </a:rPr>
              <a:t>Braucht es das gezeichnete DOM? Dann afterRenderEffect</a:t>
            </a:r>
          </a:p>
          <a:p>
            <a:pPr>
              <a:defRPr sz="2000" b="0">
                <a:latin typeface="Segoe UI"/>
              </a:defRPr>
            </a:pPr>
            <a:r>
              <a:rPr lang="de-DE" sz="2000" b="0">
                <a:latin typeface="Segoe UI"/>
              </a:rPr>
              <a:t>5. Geht es um Zeit und Ereignisströme?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Teil A: customers und filteredCustomers() in CustomerListComponent zu computed umbauen</a:t>
            </a:r>
          </a:p>
          <a:p>
            <a:pPr lvl="1">
              <a:defRPr sz="1700" b="0">
                <a:latin typeface="Segoe UI"/>
              </a:defRPr>
            </a:pPr>
            <a:r>
              <a:rPr lang="de-DE" sz="1700" b="0">
                <a:latin typeface="Segoe UI"/>
              </a:rPr>
              <a:t>Prüfen: console.log im computed erscheint nur bei geänderten Abhängigkeiten</a:t>
            </a:r>
          </a:p>
          <a:p>
            <a:pPr>
              <a:defRPr sz="2000" b="0">
                <a:latin typeface="Segoe UI"/>
              </a:defRPr>
            </a:pPr>
            <a:r>
              <a:rPr lang="de-DE" sz="2000" b="0">
                <a:latin typeface="Segoe UI"/>
              </a:rPr>
              <a:t>Teil B: Filtertext per effect in localStorage sichern (Schlüssel customerFilter)</a:t>
            </a:r>
          </a:p>
          <a:p>
            <a:pPr lvl="1">
              <a:defRPr sz="1700" b="0">
                <a:latin typeface="Segoe UI"/>
              </a:defRPr>
            </a:pPr>
            <a:r>
              <a:rPr lang="de-DE" sz="1700" b="0">
                <a:latin typeface="Segoe UI"/>
              </a:rPr>
              <a:t>Beim Start als Startwert des Signals wiederherstellen, Zugriff mit try/catch</a:t>
            </a:r>
          </a:p>
          <a:p>
            <a:pPr>
              <a:defRPr sz="2000" b="0">
                <a:latin typeface="Segoe UI"/>
              </a:defRPr>
            </a:pPr>
            <a:r>
              <a:rPr lang="de-DE" sz="2000" b="0">
                <a:latin typeface="Segoe UI"/>
              </a:rPr>
              <a:t>Teil C: Patch von der nächsten Folie einfügen, Button „Demo-Kunde hinzufügen“ testen</a:t>
            </a:r>
          </a:p>
          <a:p>
            <a:pPr lvl="1">
              <a:defRPr sz="1700" b="0">
                <a:latin typeface="Segoe UI"/>
              </a:defRPr>
            </a:pPr>
            <a:r>
              <a:rPr lang="de-DE" sz="1700" b="0">
                <a:latin typeface="Segoe UI"/>
              </a:rPr>
              <a:t>Je Nummer benennen: Was ist falsch? Welche Regel wird verletzt?</a:t>
            </a:r>
          </a:p>
          <a:p>
            <a:pPr lvl="1">
              <a:defRPr sz="1700" b="0">
                <a:latin typeface="Segoe UI"/>
              </a:defRPr>
            </a:pPr>
            <a:r>
              <a:rPr lang="de-DE" sz="1700" b="0">
                <a:latin typeface="Segoe UI"/>
              </a:rPr>
              <a:t>Beheben: (1) und (3) mit computed, (2) mit signal plus update und Spread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 Klassenfelder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selectedName = signal('');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total = signal(0);</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Konstruktor (der effect aus Teil B steht dort schon)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this.selectedName.set(this.selectedCustomer()?.firstname ?? ''));  // (1)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this.total.set(this.filteredCustomers().length));                   // (3)</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Methode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addDemo() { this.customers().push(new Customer('Neu', 'Demo')); }                  // (2)</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Template, nach &lt;/ul&gt;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&lt;p&gt;Treffer: {{ total() }} · Ausgewählt: {{ selectedName() || '-' }}&lt;/p&gt;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&lt;button (click)="addDemo()"&gt;Demo-Kunde hinzufügen&lt;/button&gt;</a:t>
            </a:r>
            <a:endParaRPr lang="de-DE" sz="1400" b="0" u="none" strike="noStrike">
              <a:solidFill>
                <a:srgbClr val="000000"/>
              </a:solidFill>
              <a:uFillTx/>
              <a:latin typeface="Arial"/>
            </a:endParaRP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im Editor: Zeilen oder Blöcke ergänzen</a:t>
            </a:r>
          </a:p>
          <a:p>
            <a:pPr>
              <a:defRPr sz="2000" b="0">
                <a:latin typeface="Segoe UI"/>
              </a:defRPr>
            </a:pPr>
            <a:r>
              <a:rPr lang="de-DE" sz="2000" b="0">
                <a:latin typeface="Segoe UI"/>
              </a:rPr>
              <a:t>Agenten: lesen das Projekt, ändern mehrere Dateien</a:t>
            </a:r>
          </a:p>
          <a:p>
            <a:pPr lvl="1">
              <a:defRPr sz="1700" b="0">
                <a:latin typeface="Segoe UI"/>
              </a:defRPr>
            </a:pPr>
            <a:r>
              <a:rPr lang="de-DE" sz="1700" b="0">
                <a:latin typeface="Segoe UI"/>
              </a:rPr>
              <a:t>führen Befehle aus, z. B. ng build, ng test</a:t>
            </a:r>
          </a:p>
          <a:p>
            <a:pPr>
              <a:defRPr sz="2000" b="0">
                <a:latin typeface="Segoe UI"/>
              </a:defRPr>
            </a:pPr>
            <a:r>
              <a:rPr lang="de-DE" sz="2000" b="0">
                <a:latin typeface="Segoe UI"/>
              </a:rPr>
              <a:t>Je selbstständiger das Werkzeug,</a:t>
            </a:r>
          </a:p>
          <a:p>
            <a:pPr lvl="1">
              <a:defRPr sz="1700" b="0">
                <a:latin typeface="Segoe UI"/>
              </a:defRPr>
            </a:pPr>
            <a:r>
              <a:rPr lang="de-DE" sz="1700" b="0">
                <a:latin typeface="Segoe UI"/>
              </a:rPr>
              <a:t>desto größer Prüfaufwand und möglicher Schaden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Agent: ändert Dateien, testet</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Vorschläge im Editor</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Chat: Fragen und Erklärungen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 Selbstständigkeit = mehr Prüfaufwand</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Arbeitsablauf mit KI: ein Kreislauf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Kontext geben: Ziel, Dateien, Regeln, Beispiele</a:t>
            </a:r>
          </a:p>
          <a:p>
            <a:pPr>
              <a:defRPr sz="2000" b="0">
                <a:latin typeface="Segoe UI"/>
              </a:defRPr>
            </a:pPr>
            <a:r>
              <a:rPr lang="de-DE" sz="2000" b="0">
                <a:latin typeface="Segoe UI"/>
              </a:rPr>
              <a:t>Vorschlag: Plan oder Code der KI</a:t>
            </a:r>
          </a:p>
          <a:p>
            <a:pPr>
              <a:defRPr sz="2000" b="0">
                <a:latin typeface="Segoe UI"/>
              </a:defRPr>
            </a:pPr>
            <a:r>
              <a:rPr lang="de-DE" sz="2000" b="0">
                <a:latin typeface="Segoe UI"/>
              </a:rPr>
              <a:t>Prüfen: lesen, mit Checkliste vergleichen</a:t>
            </a:r>
          </a:p>
          <a:p>
            <a:pPr>
              <a:defRPr sz="2000" b="0">
                <a:latin typeface="Segoe UI"/>
              </a:defRPr>
            </a:pPr>
            <a:r>
              <a:rPr lang="de-DE" sz="2000" b="0">
                <a:latin typeface="Segoe UI"/>
              </a:rPr>
              <a:t>Testen: Build, Lint, Tests, im Browser ausprobieren</a:t>
            </a:r>
          </a:p>
          <a:p>
            <a:pPr>
              <a:defRPr sz="2000" b="0">
                <a:latin typeface="Segoe UI"/>
              </a:defRPr>
            </a:pPr>
            <a:r>
              <a:rPr lang="de-DE" sz="2000" b="0">
                <a:latin typeface="Segoe UI"/>
              </a:rPr>
              <a:t>Befunde als neuen Kontext zurückgeben</a:t>
            </a:r>
          </a:p>
          <a:p>
            <a:pPr>
              <a:defRPr sz="2000" b="0">
                <a:latin typeface="Segoe UI"/>
              </a:defRPr>
            </a:pPr>
            <a:r>
              <a:rPr lang="de-DE" sz="2000" b="0">
                <a:latin typeface="Segoe UI"/>
              </a:rPr>
              <a:t>Erst wenn alles passt: Commit</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Kontext geben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Vorschlag</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Prüfen</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Testen</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Kontext ist alles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Aufgabe klar und klein:</a:t>
            </a:r>
          </a:p>
          <a:p>
            <a:pPr lvl="1">
              <a:defRPr sz="1700" b="0">
                <a:latin typeface="Segoe UI"/>
              </a:defRPr>
            </a:pPr>
            <a:r>
              <a:rPr lang="de-DE" sz="1700" b="0">
                <a:latin typeface="Segoe UI"/>
              </a:rPr>
              <a:t>„Erstelle CustomerFilter mit input()/output()“</a:t>
            </a:r>
          </a:p>
          <a:p>
            <a:pPr lvl="1">
              <a:defRPr sz="1700" b="0">
                <a:latin typeface="Segoe UI"/>
              </a:defRPr>
            </a:pPr>
            <a:r>
              <a:rPr lang="de-DE" sz="1700" b="0">
                <a:latin typeface="Segoe UI"/>
              </a:rPr>
              <a:t>nicht: „Baue die App um“</a:t>
            </a:r>
          </a:p>
          <a:p>
            <a:pPr>
              <a:defRPr sz="2000" b="0">
                <a:latin typeface="Segoe UI"/>
              </a:defRPr>
            </a:pPr>
            <a:r>
              <a:rPr lang="de-DE" sz="2000" b="0">
                <a:latin typeface="Segoe UI"/>
              </a:rPr>
              <a:t>Betroffene Dateien nennen oder anhängen</a:t>
            </a:r>
          </a:p>
          <a:p>
            <a:pPr>
              <a:defRPr sz="2000" b="0">
                <a:latin typeface="Segoe UI"/>
              </a:defRPr>
            </a:pPr>
            <a:r>
              <a:rPr lang="de-DE" sz="2000" b="0">
                <a:latin typeface="Segoe UI"/>
              </a:rPr>
              <a:t>Beispiele zeigen: „analog zu CustomerListComponent“</a:t>
            </a:r>
          </a:p>
          <a:p>
            <a:pPr>
              <a:defRPr sz="2000" b="0">
                <a:latin typeface="Segoe UI"/>
              </a:defRPr>
            </a:pPr>
            <a:r>
              <a:rPr lang="de-DE" sz="2000" b="0">
                <a:latin typeface="Segoe UI"/>
              </a:rPr>
              <a:t>Projektregeln mitgeben (nächste Folie)</a:t>
            </a:r>
          </a:p>
          <a:p>
            <a:pPr>
              <a:defRPr sz="2000" b="0">
                <a:latin typeface="Segoe UI"/>
              </a:defRPr>
            </a:pPr>
            <a:r>
              <a:rPr lang="de-DE" sz="2000" b="0">
                <a:latin typeface="Segoe UI"/>
              </a:rPr>
              <a:t>Version nennen: „Angular 21, zoneless, Vitest“</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Projektregeln als Datei: AGENTS.md, CLAUDE.md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Textdatei im Repository, die das Werkzeug automatisch liest</a:t>
            </a:r>
          </a:p>
          <a:p>
            <a:pPr>
              <a:defRPr sz="2000" b="0">
                <a:latin typeface="Segoe UI"/>
              </a:defRPr>
            </a:pPr>
            <a:r>
              <a:rPr lang="de-DE" sz="2000" b="0">
                <a:latin typeface="Segoe UI"/>
              </a:rPr>
              <a:t>Name je nach Werkzeug, z. B.:</a:t>
            </a:r>
          </a:p>
          <a:p>
            <a:pPr lvl="1">
              <a:defRPr sz="1700" b="0">
                <a:latin typeface="Segoe UI"/>
              </a:defRPr>
            </a:pPr>
            <a:r>
              <a:rPr lang="de-DE" sz="1700" b="0">
                <a:latin typeface="Segoe UI"/>
              </a:rPr>
              <a:t>AGENTS.md (werkzeugübergreifend), CLAUDE.md</a:t>
            </a:r>
          </a:p>
          <a:p>
            <a:pPr lvl="1">
              <a:defRPr sz="1700" b="0">
                <a:latin typeface="Segoe UI"/>
              </a:defRPr>
            </a:pPr>
            <a:r>
              <a:rPr lang="de-DE" sz="1700" b="0">
                <a:latin typeface="Segoe UI"/>
              </a:rPr>
              <a:t>.github/copilot-instructions.md</a:t>
            </a:r>
          </a:p>
          <a:p>
            <a:pPr>
              <a:defRPr sz="2000" b="0">
                <a:latin typeface="Segoe UI"/>
              </a:defRPr>
            </a:pPr>
            <a:r>
              <a:rPr lang="de-DE" sz="2000" b="0">
                <a:latin typeface="Segoe UI"/>
              </a:rPr>
              <a:t>Inhalt: Version, Stil, Verbote, Befehle für Build und Test</a:t>
            </a:r>
          </a:p>
          <a:p>
            <a:pPr>
              <a:defRPr sz="2000" b="0">
                <a:latin typeface="Segoe UI"/>
              </a:defRPr>
            </a:pPr>
            <a:r>
              <a:rPr lang="de-DE" sz="2000" b="0">
                <a:latin typeface="Segoe UI"/>
              </a:rPr>
              <a:t>Kurz und konkret, mit dem Code mitpflegen</a:t>
            </a:r>
          </a:p>
          <a:p>
            <a:pPr>
              <a:defRPr sz="2000" b="0">
                <a:latin typeface="Segoe UI"/>
              </a:defRPr>
            </a:pPr>
            <a:r>
              <a:rPr lang="de-DE" sz="2000" b="0">
                <a:latin typeface="Segoe UI"/>
              </a:rPr>
              <a:t>Wirkt wie eine Einarbeitung für jede neue Sitzung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AGENTS.md</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Version, Technik</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Stilregeln</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Verbote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Build und Test</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 (AGENTS.md)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Technik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ChangeDetectionStrategy.OnPush.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 *ngIf/*ngFor, kein CommonModule.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statt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Verbote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innerHTML mit zusammengebautem HTML.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Keine neuen npm-Pakete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Befehle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Build: ng build | Tests (Vitest): ng test | Lint: ng lint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Neue Logik immer mit Tests, die Verhalten prüfen (nicht nur toBeTruthy).</a:t>
            </a:r>
            <a:endParaRPr lang="de-DE" sz="1600" b="0" u="none" strike="noStrike">
              <a:solidFill>
                <a:srgbClr val="000000"/>
              </a:solidFill>
              <a:uFillTx/>
              <a:latin typeface="Arial"/>
            </a:endParaRP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Angular-Hilfen für KI-Werkzeuge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angular.dev/ai: offizielle Seite zu KI und Angular</a:t>
            </a:r>
          </a:p>
          <a:p>
            <a:pPr lvl="1">
              <a:defRPr sz="1700" b="0">
                <a:latin typeface="Segoe UI"/>
              </a:defRPr>
            </a:pPr>
            <a:r>
              <a:rPr lang="de-DE" sz="1700" b="0">
                <a:latin typeface="Segoe UI"/>
              </a:rPr>
              <a:t>Best-Practices-Regeln zum Kopieren in die Regeldatei</a:t>
            </a:r>
          </a:p>
          <a:p>
            <a:pPr>
              <a:defRPr sz="2000" b="0">
                <a:latin typeface="Segoe UI"/>
              </a:defRPr>
            </a:pPr>
            <a:r>
              <a:rPr lang="de-DE" sz="2000" b="0">
                <a:latin typeface="Segoe UI"/>
              </a:rPr>
              <a:t>ng new fragt nach Regeldateien für KI-Werkzeuge</a:t>
            </a:r>
          </a:p>
          <a:p>
            <a:pPr lvl="1">
              <a:defRPr sz="1700" b="0">
                <a:latin typeface="Segoe UI"/>
              </a:defRPr>
            </a:pPr>
            <a:r>
              <a:rPr lang="de-DE" sz="1700" b="0">
                <a:latin typeface="Segoe UI"/>
              </a:rPr>
              <a:t>Option --ai-config, z. B. für Claude, Copilot, Cursor</a:t>
            </a:r>
          </a:p>
          <a:p>
            <a:pPr>
              <a:defRPr sz="2000" b="0">
                <a:latin typeface="Segoe UI"/>
              </a:defRPr>
            </a:pPr>
            <a:r>
              <a:rPr lang="de-DE" sz="2000" b="0">
                <a:latin typeface="Segoe UI"/>
              </a:rPr>
              <a:t>llms.txt: Übersicht der Doku für Sprachmodelle</a:t>
            </a:r>
          </a:p>
          <a:p>
            <a:pPr>
              <a:defRPr sz="2000" b="0">
                <a:latin typeface="Segoe UI"/>
              </a:defRPr>
            </a:pPr>
            <a:r>
              <a:rPr lang="de-DE" sz="2000" b="0">
                <a:latin typeface="Segoe UI"/>
              </a:rPr>
              <a:t>Angular CLI MCP-Server: ng mcp (nächste Folie)</a:t>
            </a:r>
          </a:p>
        </p:txBody>
      </p: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Angular CLI MCP-Server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MCP: Model Context Protocol, Standard für Werkzeuge</a:t>
            </a:r>
          </a:p>
          <a:p>
            <a:pPr>
              <a:defRPr sz="2000" b="0">
                <a:latin typeface="Segoe UI"/>
              </a:defRPr>
            </a:pPr>
            <a:r>
              <a:rPr lang="de-DE" sz="2000" b="0">
                <a:latin typeface="Segoe UI"/>
              </a:rPr>
              <a:t>Das KI-Werkzeug ruft Funktionen eines Servers auf</a:t>
            </a:r>
          </a:p>
          <a:p>
            <a:pPr>
              <a:defRPr sz="2000" b="0">
                <a:latin typeface="Segoe UI"/>
              </a:defRPr>
            </a:pPr>
            <a:r>
              <a:rPr lang="de-DE" sz="2000" b="0">
                <a:latin typeface="Segoe UI"/>
              </a:rPr>
              <a:t>ng mcp startet den Server der Angular CLI</a:t>
            </a:r>
          </a:p>
          <a:p>
            <a:pPr>
              <a:defRPr sz="2000" b="0">
                <a:latin typeface="Segoe UI"/>
              </a:defRPr>
            </a:pPr>
            <a:r>
              <a:rPr lang="de-DE" sz="2000" b="0">
                <a:latin typeface="Segoe UI"/>
              </a:rPr>
              <a:t>Bietet z. B. aktuelle Best Practices, Doku-Suche,</a:t>
            </a:r>
          </a:p>
          <a:p>
            <a:pPr lvl="1">
              <a:defRPr sz="1700" b="0">
                <a:latin typeface="Segoe UI"/>
              </a:defRPr>
            </a:pPr>
            <a:r>
              <a:rPr lang="de-DE" sz="1700" b="0">
                <a:latin typeface="Segoe UI"/>
              </a:rPr>
              <a:t>Übersicht der Projekte im Workspace</a:t>
            </a:r>
          </a:p>
          <a:p>
            <a:pPr>
              <a:defRPr sz="2000" b="0">
                <a:latin typeface="Segoe UI"/>
              </a:defRPr>
            </a:pPr>
            <a:r>
              <a:rPr lang="de-DE" sz="2000" b="0">
                <a:latin typeface="Segoe UI"/>
              </a:rPr>
              <a:t>Konfiguration im KI-Werkzeug (Beispiel rechts)</a:t>
            </a:r>
          </a:p>
          <a:p>
            <a:pPr>
              <a:defRPr sz="2000" b="0">
                <a:latin typeface="Segoe UI"/>
              </a:defRPr>
            </a:pPr>
            <a:r>
              <a:rPr lang="de-DE" sz="2000" b="0">
                <a:latin typeface="Segoe UI"/>
              </a:rPr>
              <a:t>Ergebnisse trotzdem prüfen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MCP-Konfiguration</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a:t>
            </a:r>
          </a:p>
          <a:p>
            <a:pPr algn="l"/>
            <a:r>
              <a:rPr sz="1300" b="0">
                <a:solidFill>
                  <a:srgbClr val="2B3A42"/>
                </a:solidFill>
                <a:latin typeface="Consolas"/>
              </a:rPr>
              <a:t>  "mcpServers": {</a:t>
            </a:r>
          </a:p>
          <a:p>
            <a:pPr algn="l"/>
            <a:r>
              <a:rPr sz="1300" b="0">
                <a:solidFill>
                  <a:srgbClr val="2B3A42"/>
                </a:solidFill>
                <a:latin typeface="Consolas"/>
              </a:rPr>
              <a:t>    "angular-cli": {</a:t>
            </a:r>
          </a:p>
          <a:p>
            <a:pPr algn="l"/>
            <a:r>
              <a:rPr sz="1300" b="0">
                <a:solidFill>
                  <a:srgbClr val="2B3A42"/>
                </a:solidFill>
                <a:latin typeface="Consolas"/>
              </a:rPr>
              <a:t>      "command": "npx",</a:t>
            </a:r>
          </a:p>
          <a:p>
            <a:pPr algn="l"/>
            <a:r>
              <a:rPr sz="1300" b="0">
                <a:solidFill>
                  <a:srgbClr val="2B3A42"/>
                </a:solidFill>
                <a:latin typeface="Consolas"/>
              </a:rPr>
              <a:t>      "args": ["-y",</a:t>
            </a:r>
          </a:p>
          <a:p>
            <a:pPr algn="l"/>
            <a:r>
              <a:rPr sz="1300" b="0">
                <a:solidFill>
                  <a:srgbClr val="2B3A42"/>
                </a:solidFill>
                <a:latin typeface="Consolas"/>
              </a:rPr>
              <a:t>        "@angular/cli",</a:t>
            </a:r>
          </a:p>
          <a:p>
            <a:pPr algn="l"/>
            <a:r>
              <a:rPr sz="1300" b="0">
                <a:solidFill>
                  <a:srgbClr val="2B3A42"/>
                </a:solidFill>
                <a:latin typeface="Consolas"/>
              </a:rPr>
              <a:t>        "mcp"]</a:t>
            </a:r>
          </a:p>
          <a:p>
            <a:pPr algn="l"/>
            <a:r>
              <a:rPr sz="1300" b="0">
                <a:solidFill>
                  <a:srgbClr val="2B3A42"/>
                </a:solidFill>
                <a:latin typeface="Consolas"/>
              </a:rPr>
              <a:t>    }</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KI-Werkzeuge: wer ist beteiligt?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Agent ist die Zentrale: Er liest Regeln, fragt das Modell und ruft Werkzeuge auf</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39130"/>
          </a:xfrm>
          <a:prstGeom prst="rect">
            <a:avLst/>
          </a:prstGeom>
          <a:noFill/>
        </p:spPr>
        <p:txBody>
          <a:bodyPr wrap="square" anchor="t" lIns="70000" rIns="70000" tIns="0" bIns="0">
            <a:spAutoFit/>
          </a:bodyPr>
          <a:lstStyle/>
          <a:p>
            <a:pPr algn="l"/>
            <a:r>
              <a:rPr sz="1300" b="1">
                <a:solidFill>
                  <a:srgbClr val="2B3A42"/>
                </a:solidFill>
                <a:latin typeface="Segoe UI"/>
              </a:rPr>
              <a:t>Arbeitsumgebung</a:t>
            </a:r>
          </a:p>
        </p:txBody>
      </p:sp>
      <p:sp>
        <p:nvSpPr>
          <p:cNvPr id="6" name="Rectangle 5"/>
          <p:cNvSpPr/>
          <p:nvPr/>
        </p:nvSpPr>
        <p:spPr>
          <a:xfrm>
            <a:off x="948080" y="1929130"/>
            <a:ext cx="10294160" cy="2486799"/>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1969130"/>
            <a:ext cx="10174160" cy="239130"/>
          </a:xfrm>
          <a:prstGeom prst="rect">
            <a:avLst/>
          </a:prstGeom>
          <a:noFill/>
        </p:spPr>
        <p:txBody>
          <a:bodyPr wrap="square" anchor="t" lIns="70000" rIns="70000" tIns="0" bIns="0">
            <a:spAutoFit/>
          </a:bodyPr>
          <a:lstStyle/>
          <a:p>
            <a:pPr algn="l"/>
            <a:r>
              <a:rPr sz="1300" b="1">
                <a:solidFill>
                  <a:srgbClr val="2B3A42"/>
                </a:solidFill>
                <a:latin typeface="Segoe UI"/>
              </a:rPr>
              <a:t>Rechner des Entwicklers</a:t>
            </a:r>
          </a:p>
        </p:txBody>
      </p:sp>
      <p:sp>
        <p:nvSpPr>
          <p:cNvPr id="8" name="Rectangle 7"/>
          <p:cNvSpPr/>
          <p:nvPr/>
        </p:nvSpPr>
        <p:spPr>
          <a:xfrm>
            <a:off x="1058080" y="2208260"/>
            <a:ext cx="3011386" cy="2114626"/>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9" name="TextBox 8"/>
          <p:cNvSpPr txBox="1"/>
          <p:nvPr/>
        </p:nvSpPr>
        <p:spPr>
          <a:xfrm>
            <a:off x="1118080" y="2248260"/>
            <a:ext cx="2891386" cy="239130"/>
          </a:xfrm>
          <a:prstGeom prst="rect">
            <a:avLst/>
          </a:prstGeom>
          <a:noFill/>
        </p:spPr>
        <p:txBody>
          <a:bodyPr wrap="square" anchor="t" lIns="70000" rIns="70000" tIns="0" bIns="0">
            <a:spAutoFit/>
          </a:bodyPr>
          <a:lstStyle/>
          <a:p>
            <a:pPr algn="l"/>
            <a:r>
              <a:rPr sz="1300" b="1">
                <a:solidFill>
                  <a:srgbClr val="2B3A42"/>
                </a:solidFill>
                <a:latin typeface="Segoe UI"/>
              </a:rPr>
              <a:t>Repository</a:t>
            </a:r>
          </a:p>
        </p:txBody>
      </p:sp>
      <p:sp>
        <p:nvSpPr>
          <p:cNvPr id="10" name="Rounded Rectangle 9"/>
          <p:cNvSpPr/>
          <p:nvPr/>
        </p:nvSpPr>
        <p:spPr>
          <a:xfrm>
            <a:off x="1168080" y="2487390"/>
            <a:ext cx="2791386" cy="693596"/>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AGENTS.md</a:t>
            </a:r>
          </a:p>
          <a:p>
            <a:pPr algn="ctr"/>
            <a:r>
              <a:rPr sz="1300" b="0">
                <a:solidFill>
                  <a:srgbClr val="2B3A42"/>
                </a:solidFill>
                <a:latin typeface="Segoe UI"/>
              </a:rPr>
              <a:t>Projektregeln</a:t>
            </a:r>
          </a:p>
        </p:txBody>
      </p:sp>
      <p:sp>
        <p:nvSpPr>
          <p:cNvPr id="11" name="Rounded Rectangle 10"/>
          <p:cNvSpPr/>
          <p:nvPr/>
        </p:nvSpPr>
        <p:spPr>
          <a:xfrm>
            <a:off x="1168080" y="3536242"/>
            <a:ext cx="2791386" cy="693596"/>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src/app/…</a:t>
            </a:r>
          </a:p>
          <a:p>
            <a:pPr algn="ctr"/>
            <a:r>
              <a:rPr sz="1300" b="0">
                <a:solidFill>
                  <a:srgbClr val="2B3A42"/>
                </a:solidFill>
                <a:latin typeface="Segoe UI"/>
              </a:rPr>
              <a:t>Code, Tests</a:t>
            </a:r>
          </a:p>
        </p:txBody>
      </p:sp>
      <p:sp>
        <p:nvSpPr>
          <p:cNvPr id="12" name="Rectangle 11"/>
          <p:cNvSpPr/>
          <p:nvPr/>
        </p:nvSpPr>
        <p:spPr>
          <a:xfrm>
            <a:off x="4589466" y="2208260"/>
            <a:ext cx="3011386" cy="2114626"/>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3" name="TextBox 12"/>
          <p:cNvSpPr txBox="1"/>
          <p:nvPr/>
        </p:nvSpPr>
        <p:spPr>
          <a:xfrm>
            <a:off x="4649466" y="2248260"/>
            <a:ext cx="2891386" cy="239130"/>
          </a:xfrm>
          <a:prstGeom prst="rect">
            <a:avLst/>
          </a:prstGeom>
          <a:noFill/>
        </p:spPr>
        <p:txBody>
          <a:bodyPr wrap="square" anchor="t" lIns="70000" rIns="70000" tIns="0" bIns="0">
            <a:spAutoFit/>
          </a:bodyPr>
          <a:lstStyle/>
          <a:p>
            <a:pPr algn="l"/>
            <a:r>
              <a:rPr sz="1300" b="1">
                <a:solidFill>
                  <a:srgbClr val="2B3A42"/>
                </a:solidFill>
                <a:latin typeface="Segoe UI"/>
              </a:rPr>
              <a:t>Editor (z. B. VS Code)</a:t>
            </a:r>
          </a:p>
        </p:txBody>
      </p:sp>
      <p:sp>
        <p:nvSpPr>
          <p:cNvPr id="14" name="Rounded Rectangle 13"/>
          <p:cNvSpPr/>
          <p:nvPr/>
        </p:nvSpPr>
        <p:spPr>
          <a:xfrm>
            <a:off x="4699466" y="2487390"/>
            <a:ext cx="2791386" cy="693596"/>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KI-Agent</a:t>
            </a:r>
          </a:p>
          <a:p>
            <a:pPr algn="ctr"/>
            <a:r>
              <a:rPr sz="1300" b="1">
                <a:solidFill>
                  <a:srgbClr val="FFFFFF"/>
                </a:solidFill>
                <a:latin typeface="Segoe UI"/>
              </a:rPr>
              <a:t>Chat, Agent-Modus</a:t>
            </a:r>
          </a:p>
        </p:txBody>
      </p:sp>
      <p:sp>
        <p:nvSpPr>
          <p:cNvPr id="15" name="Rounded Rectangle 14"/>
          <p:cNvSpPr/>
          <p:nvPr/>
        </p:nvSpPr>
        <p:spPr>
          <a:xfrm>
            <a:off x="8120852" y="2208260"/>
            <a:ext cx="3011386" cy="693596"/>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ng mcp</a:t>
            </a:r>
          </a:p>
          <a:p>
            <a:pPr algn="ctr"/>
            <a:r>
              <a:rPr sz="1300" b="0">
                <a:solidFill>
                  <a:srgbClr val="2B3A42"/>
                </a:solidFill>
                <a:latin typeface="Segoe UI"/>
              </a:rPr>
              <a:t>MCP-Server der CLI</a:t>
            </a:r>
          </a:p>
        </p:txBody>
      </p:sp>
      <p:sp>
        <p:nvSpPr>
          <p:cNvPr id="16" name="Rectangle 15"/>
          <p:cNvSpPr/>
          <p:nvPr/>
        </p:nvSpPr>
        <p:spPr>
          <a:xfrm>
            <a:off x="948080" y="4771185"/>
            <a:ext cx="10294160" cy="106577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7" name="TextBox 16"/>
          <p:cNvSpPr txBox="1"/>
          <p:nvPr/>
        </p:nvSpPr>
        <p:spPr>
          <a:xfrm>
            <a:off x="1008080" y="4811185"/>
            <a:ext cx="10174160" cy="239130"/>
          </a:xfrm>
          <a:prstGeom prst="rect">
            <a:avLst/>
          </a:prstGeom>
          <a:noFill/>
        </p:spPr>
        <p:txBody>
          <a:bodyPr wrap="square" anchor="t" lIns="70000" rIns="70000" tIns="0" bIns="0">
            <a:spAutoFit/>
          </a:bodyPr>
          <a:lstStyle/>
          <a:p>
            <a:pPr algn="l"/>
            <a:r>
              <a:rPr sz="1300" b="1">
                <a:solidFill>
                  <a:srgbClr val="2B3A42"/>
                </a:solidFill>
                <a:latin typeface="Segoe UI"/>
              </a:rPr>
              <a:t>Anbieter im Internet</a:t>
            </a:r>
          </a:p>
        </p:txBody>
      </p:sp>
      <p:sp>
        <p:nvSpPr>
          <p:cNvPr id="18" name="Rounded Rectangle 17"/>
          <p:cNvSpPr/>
          <p:nvPr/>
        </p:nvSpPr>
        <p:spPr>
          <a:xfrm>
            <a:off x="1058080" y="5050315"/>
            <a:ext cx="10074160" cy="693596"/>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Sprachmodell</a:t>
            </a:r>
          </a:p>
          <a:p>
            <a:pPr algn="ctr"/>
            <a:r>
              <a:rPr sz="1300" b="0">
                <a:solidFill>
                  <a:srgbClr val="2B3A42"/>
                </a:solidFill>
                <a:latin typeface="Segoe UI"/>
              </a:rPr>
              <a:t>erzeugt Text und Code</a:t>
            </a:r>
          </a:p>
        </p:txBody>
      </p:sp>
      <p:cxnSp>
        <p:nvCxnSpPr>
          <p:cNvPr id="19" name="Connector 18"/>
          <p:cNvCxnSpPr/>
          <p:nvPr/>
        </p:nvCxnSpPr>
        <p:spPr>
          <a:xfrm>
            <a:off x="3959466" y="2834188"/>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912286" y="2504188"/>
            <a:ext cx="834360"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liest</a:t>
            </a:r>
          </a:p>
        </p:txBody>
      </p:sp>
      <p:cxnSp>
        <p:nvCxnSpPr>
          <p:cNvPr id="21" name="Connector 20"/>
          <p:cNvCxnSpPr/>
          <p:nvPr/>
        </p:nvCxnSpPr>
        <p:spPr>
          <a:xfrm>
            <a:off x="7490852" y="2694623"/>
            <a:ext cx="63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07544" y="2364623"/>
            <a:ext cx="59661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MCP</a:t>
            </a:r>
          </a:p>
        </p:txBody>
      </p:sp>
      <p:cxnSp>
        <p:nvCxnSpPr>
          <p:cNvPr id="23" name="Connector 22"/>
          <p:cNvCxnSpPr/>
          <p:nvPr/>
        </p:nvCxnSpPr>
        <p:spPr>
          <a:xfrm>
            <a:off x="6095159" y="3180986"/>
            <a:ext cx="1" cy="1869329"/>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024183" y="3785650"/>
            <a:ext cx="2141952"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Prompt + Kontext</a:t>
            </a: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Eine Anfrage an den KI-Agenten im Ablauf</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Regeldatei und MCP-Server verbessern den Kontext – prüfen muss am Ende der Entwickler</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Entwickler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KI-Agent</a:t>
            </a:r>
          </a:p>
          <a:p>
            <a:pPr algn="ctr"/>
            <a:r>
              <a:rPr sz="1400" b="1">
                <a:solidFill>
                  <a:srgbClr val="FFFFFF"/>
                </a:solidFill>
                <a:latin typeface="Segoe UI"/>
              </a:rPr>
              <a:t>(Editor)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Repository</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Sprachmodell</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ng mcp</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„Erstelle CustomerFilter …“</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AGENTS.md + Dateien lesen</a:t>
            </a:r>
          </a:p>
        </p:txBody>
      </p:sp>
      <p:cxnSp>
        <p:nvCxnSpPr>
          <p:cNvPr id="18" name="Connector 17"/>
          <p:cNvCxnSpPr/>
          <p:nvPr/>
        </p:nvCxnSpPr>
        <p:spPr>
          <a:xfrm>
            <a:off x="3992328" y="330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022328" y="298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3. Auftrag + Regeln + Code</a:t>
            </a:r>
          </a:p>
        </p:txBody>
      </p:sp>
      <p:cxnSp>
        <p:nvCxnSpPr>
          <p:cNvPr id="20" name="Connector 19"/>
          <p:cNvCxnSpPr/>
          <p:nvPr/>
        </p:nvCxnSpPr>
        <p:spPr>
          <a:xfrm flipH="1">
            <a:off x="4012328" y="36692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22328" y="3349200"/>
            <a:ext cx="4145664" cy="300000"/>
          </a:xfrm>
          <a:prstGeom prst="rect">
            <a:avLst/>
          </a:prstGeom>
          <a:noFill/>
        </p:spPr>
        <p:txBody>
          <a:bodyPr wrap="square" anchor="b" lIns="70000" rIns="70000" tIns="0" bIns="0">
            <a:spAutoFit/>
          </a:bodyPr>
          <a:lstStyle/>
          <a:p>
            <a:pPr algn="ctr"/>
            <a:r>
              <a:rPr sz="1300" b="0">
                <a:solidFill>
                  <a:srgbClr val="404B52"/>
                </a:solidFill>
                <a:latin typeface="Segoe UI"/>
              </a:rPr>
              <a:t>4. Werkzeug aufrufen: get_best_practices</a:t>
            </a:r>
          </a:p>
        </p:txBody>
      </p:sp>
      <p:cxnSp>
        <p:nvCxnSpPr>
          <p:cNvPr id="22" name="Connector 21"/>
          <p:cNvCxnSpPr/>
          <p:nvPr/>
        </p:nvCxnSpPr>
        <p:spPr>
          <a:xfrm>
            <a:off x="3992328" y="40292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022328" y="3709200"/>
            <a:ext cx="6248496" cy="300000"/>
          </a:xfrm>
          <a:prstGeom prst="rect">
            <a:avLst/>
          </a:prstGeom>
          <a:noFill/>
        </p:spPr>
        <p:txBody>
          <a:bodyPr wrap="square" anchor="b" lIns="70000" rIns="70000" tIns="0" bIns="0">
            <a:spAutoFit/>
          </a:bodyPr>
          <a:lstStyle/>
          <a:p>
            <a:pPr algn="ctr"/>
            <a:r>
              <a:rPr sz="1300" b="0">
                <a:solidFill>
                  <a:srgbClr val="2B3A42"/>
                </a:solidFill>
                <a:latin typeface="Segoe UI"/>
              </a:rPr>
              <a:t>5. get_best_practices</a:t>
            </a:r>
          </a:p>
        </p:txBody>
      </p:sp>
      <p:cxnSp>
        <p:nvCxnSpPr>
          <p:cNvPr id="24" name="Connector 23"/>
          <p:cNvCxnSpPr/>
          <p:nvPr/>
        </p:nvCxnSpPr>
        <p:spPr>
          <a:xfrm flipH="1">
            <a:off x="4012328" y="4389200"/>
            <a:ext cx="6288496"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22328" y="4069200"/>
            <a:ext cx="6248496" cy="300000"/>
          </a:xfrm>
          <a:prstGeom prst="rect">
            <a:avLst/>
          </a:prstGeom>
          <a:noFill/>
        </p:spPr>
        <p:txBody>
          <a:bodyPr wrap="square" anchor="b" lIns="70000" rIns="70000" tIns="0" bIns="0">
            <a:spAutoFit/>
          </a:bodyPr>
          <a:lstStyle/>
          <a:p>
            <a:pPr algn="ctr"/>
            <a:r>
              <a:rPr sz="1300" b="0">
                <a:solidFill>
                  <a:srgbClr val="404B52"/>
                </a:solidFill>
                <a:latin typeface="Segoe UI"/>
              </a:rPr>
              <a:t>6. aktuelle Angular-Regeln</a:t>
            </a:r>
          </a:p>
        </p:txBody>
      </p:sp>
      <p:cxnSp>
        <p:nvCxnSpPr>
          <p:cNvPr id="26" name="Connector 25"/>
          <p:cNvCxnSpPr/>
          <p:nvPr/>
        </p:nvCxnSpPr>
        <p:spPr>
          <a:xfrm>
            <a:off x="3992328" y="474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22328" y="442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7. Ergebnis des Werkzeugs</a:t>
            </a:r>
          </a:p>
        </p:txBody>
      </p:sp>
      <p:cxnSp>
        <p:nvCxnSpPr>
          <p:cNvPr id="28" name="Connector 27"/>
          <p:cNvCxnSpPr/>
          <p:nvPr/>
        </p:nvCxnSpPr>
        <p:spPr>
          <a:xfrm flipH="1">
            <a:off x="4012328" y="51092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022328" y="4789200"/>
            <a:ext cx="4145664" cy="300000"/>
          </a:xfrm>
          <a:prstGeom prst="rect">
            <a:avLst/>
          </a:prstGeom>
          <a:noFill/>
        </p:spPr>
        <p:txBody>
          <a:bodyPr wrap="square" anchor="b" lIns="70000" rIns="70000" tIns="0" bIns="0">
            <a:spAutoFit/>
          </a:bodyPr>
          <a:lstStyle/>
          <a:p>
            <a:pPr algn="ctr"/>
            <a:r>
              <a:rPr sz="1300" b="0">
                <a:solidFill>
                  <a:srgbClr val="404B52"/>
                </a:solidFill>
                <a:latin typeface="Segoe UI"/>
              </a:rPr>
              <a:t>8. Codevorschlag</a:t>
            </a:r>
          </a:p>
        </p:txBody>
      </p:sp>
      <p:cxnSp>
        <p:nvCxnSpPr>
          <p:cNvPr id="30" name="Connector 29"/>
          <p:cNvCxnSpPr/>
          <p:nvPr/>
        </p:nvCxnSpPr>
        <p:spPr>
          <a:xfrm>
            <a:off x="3992328" y="546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466620" y="514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9. Dateien ändern, ng test ausführen</a:t>
            </a:r>
          </a:p>
        </p:txBody>
      </p:sp>
      <p:cxnSp>
        <p:nvCxnSpPr>
          <p:cNvPr id="32" name="Connector 31"/>
          <p:cNvCxnSpPr/>
          <p:nvPr/>
        </p:nvCxnSpPr>
        <p:spPr>
          <a:xfrm flipH="1">
            <a:off x="1909496" y="582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63788" y="550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10. Änderungen zum Review (Diff)</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Prompt-Beispiele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Erklären: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"Erkläre die Fehlermeldung NG0904 und zeige, wo sie in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customer-video.component.ts entsteht. Ändere noch nichts."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Tests vorschlagen: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"Schlage für safeReturnUrl() in auth/return-url.ts Testfälle vor: erlaubte Pfade,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fremde Hosts, //evil.example, javascript:, /customer/../admin. Nur Liste, kein Code."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Review anfordern: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"Prüfe den Diff mit unserer Checkliste in AGENTS.md. Nenne Befunde mit Datei, Zeile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und verletzter Regel. Schreibe keinen Code."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Befunde zurückgeben (zweite Runde):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"Behebe: 1. *ngIf in Zeile 8 durch @if ersetzen. 2. any bei customers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Customer[] ersetzen. 3. effect in Zeile 20 durch computed ersetzen."</a:t>
            </a:r>
            <a:endParaRPr lang="de-DE" sz="1400" b="0" u="none" strike="noStrike">
              <a:solidFill>
                <a:srgbClr val="000000"/>
              </a:solidFill>
              <a:uFillTx/>
              <a:latin typeface="Arial"/>
            </a:endParaRP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Erst Plan, dann Code: Schritte besprechen</a:t>
            </a:r>
          </a:p>
          <a:p>
            <a:pPr>
              <a:defRPr sz="2000" b="0">
                <a:latin typeface="Segoe UI"/>
              </a:defRPr>
            </a:pPr>
            <a:r>
              <a:rPr lang="de-DE" sz="2000" b="0">
                <a:latin typeface="Segoe UI"/>
              </a:rPr>
              <a:t>Kleine, überprüfbare Schritte, ein Commit pro Schritt</a:t>
            </a:r>
          </a:p>
          <a:p>
            <a:pPr>
              <a:defRPr sz="2000" b="0">
                <a:latin typeface="Segoe UI"/>
              </a:defRPr>
            </a:pPr>
            <a:r>
              <a:rPr lang="de-DE" sz="2000" b="0">
                <a:latin typeface="Segoe UI"/>
              </a:rPr>
              <a:t>Ergebnisse zurückspiegeln: Fehlermeldung, Testausgabe</a:t>
            </a:r>
          </a:p>
          <a:p>
            <a:pPr>
              <a:defRPr sz="2000" b="0">
                <a:latin typeface="Segoe UI"/>
              </a:defRPr>
            </a:pPr>
            <a:r>
              <a:rPr lang="de-DE" sz="2000" b="0">
                <a:latin typeface="Segoe UI"/>
              </a:rPr>
              <a:t>Bei langen Sitzungen Regeln wiederholen</a:t>
            </a:r>
          </a:p>
          <a:p>
            <a:pPr lvl="1">
              <a:defRPr sz="1700" b="0">
                <a:latin typeface="Segoe UI"/>
              </a:defRPr>
            </a:pPr>
            <a:r>
              <a:rPr lang="de-DE" sz="1700" b="0">
                <a:latin typeface="Segoe UI"/>
              </a:rPr>
              <a:t>oder neu starten mit kurzer Zusammenfassung</a:t>
            </a:r>
          </a:p>
          <a:p>
            <a:pPr>
              <a:defRPr sz="2000" b="0">
                <a:latin typeface="Segoe UI"/>
              </a:defRPr>
            </a:pPr>
            <a:r>
              <a:rPr lang="de-DE" sz="2000" b="0">
                <a:latin typeface="Segoe UI"/>
              </a:rPr>
              <a:t>Bei Abweichung vom Plan sofort stoppen</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Ziel nennen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Plan prüfen</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Kleiner Schritt</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Review und Tests</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Commit</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Dann nächste Runde</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Fehlerbeispiel: veralteter KI-Vorschlag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@NgModule({                                         // (1) 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declarations: [CustomerBadgeComponent],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imports: [CommonModule],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exports: [CustomerBadgeComponent],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CustomerBadgeModule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'customer-badge',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`&lt;span *ngIf="customer"&gt;{{ label }}&lt;/span&gt;`,  // (2) *ngIf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CustomerBadgeComponent implements OnInit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@Input() customer: any;                          // (3) @Input und any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label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constructor(private store: CustomerStore) {}     // (4) Konstruktor-Injection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ngOnInit() { this.label = this.customer.lastname + ' (' + this.store.total() +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(5) label wird nie aktualisiert</a:t>
            </a:r>
            <a:endParaRPr lang="de-DE" sz="1400" b="0" u="none" strike="noStrike">
              <a:solidFill>
                <a:srgbClr val="000000"/>
              </a:solidFill>
              <a:uFillTx/>
              <a:latin typeface="Arial"/>
            </a:endParaRP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Korrektur: dasselbe in Angular 21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ChangeDetectionStrategy, Component, computed, inject, input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Customer } from '../customer.model';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CustomerStore } from '../customer.store';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                                       // (1) standalone, kein 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'customer-badge',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changeDetection: ChangeDetectionStrategy.OnPush,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(customer(); as c) {                       &lt;!-- (2) Control Flow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&lt;span&gt;{{ label() }}&lt;/span&gt;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CustomerBadgeComponent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 = input&lt;Customer&gt;();                    // (3) Signal-Input, echter Typ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store = inject(CustomerStore);  // (4) inject()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label = computed(() =&gt;                           // (5) immer aktuell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`${this.customer()?.lastname} (${this.store.total()})`);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Fehlerbeispiel: effect statt computed, any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KI-Vorschlag (aus Übung 37, gekürzt)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@Input() customers: any;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 = signal(0);</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message = signal('');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this.count.set(this.customers ? this.customers.length : 0)); // nie wieder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this.message.set('&lt;b&gt;' + this.count() + '&lt;/b&gt; Kunden exportiert'));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&lt;div *ngIf="message()" [innerHTML]="message()"&gt;&lt;/div&gt;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Korrektur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input.required&lt;readonly 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 = computed(() =&gt; this.customers().length);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(count() &gt; 0) { &lt;p&gt;&lt;b&gt;{{ count() }}&lt;/b&gt; Kunden exportiert&lt;/p&gt; }</a:t>
            </a:r>
            <a:endParaRPr lang="de-DE" sz="1400" b="0" u="none" strike="noStrike">
              <a:solidFill>
                <a:srgbClr val="000000"/>
              </a:solidFill>
              <a:uFillTx/>
              <a:latin typeface="Arial"/>
            </a:endParaRP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KI-Tests prüfen: aussagelos oder aussagekräftig?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Aussagelos (KI-Vorschlag aus Übung 37)</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export customers',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csv = exportCustomers([{ id: '1', firstname: 'Hans', lastname: 'Meyer'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expect(csv).toBeTruthy();                 // jeder nicht leere Text besteht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Aussagekräftig: prüft konkretes Verhalten und einen Randfall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it('setzt Werte mit Komma in Anführungszeichen',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csv = toCsv([{ id: '1', firstname: 'Hans', lastname: 'Meyer, Jr.' } as 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expect(csv.split('\r\n')[1]).toContain('"Meyer, Jr."');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it('schützt vor Formeln in Excel (CSV-Injection)',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expect(escapeCsvField('=SUMME(A1)')).toBe("'=SUMME(A1)");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Doku oder MCP-Server nutzen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Keine Geheimnisse, Zugangsdaten oder Kundendaten in Prompts oder Regeldateien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Agenten: Rechte begrenzen, Befehle vor dem Ausführen bestätigen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Vorgeschlagene Pakete prüfen (Existenz, Pflege, Sicherheit): Namen werden manchmal erfunden</a:t>
            </a:r>
          </a:p>
          <a:p>
            <a:pPr>
              <a:defRPr sz="2000" b="0">
                <a:latin typeface="Segoe UI"/>
              </a:defRPr>
            </a:pPr>
            <a:r>
              <a:rPr lang="de-DE" sz="2000" b="0">
                <a:latin typeface="Segoe UI"/>
              </a:rPr>
              <a:t>Verantwortlich ist der Entwickler, der den Code committet</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37_ki_review; Auftrag: „Kunden als CSV exportieren“ + Komponente CustomerExportButton</a:t>
            </a:r>
          </a:p>
          <a:p>
            <a:pPr lvl="1">
              <a:defRPr sz="1700" b="0">
                <a:latin typeface="Segoe UI"/>
              </a:defRPr>
            </a:pPr>
            <a:r>
              <a:rPr lang="de-DE" sz="1700" b="0">
                <a:latin typeface="Segoe UI"/>
              </a:rPr>
              <a:t>Eigenes KI-Werkzeug (wenn erlaubt) oder Beispielergebnis material/ki-vorschlag.md</a:t>
            </a:r>
          </a:p>
          <a:p>
            <a:pPr>
              <a:defRPr sz="2000" b="1">
                <a:latin typeface="Segoe UI"/>
              </a:defRPr>
            </a:pPr>
            <a:r>
              <a:rPr lang="de-DE" sz="2000" b="1">
                <a:latin typeface="Segoe UI"/>
              </a:rPr>
              <a:t>1. Mit der Review-Checkliste prüfen: mindestens 5 Befunde (Stelle, Problem, Regel)</a:t>
            </a:r>
          </a:p>
          <a:p>
            <a:pPr lvl="1">
              <a:defRPr sz="1700" b="0">
                <a:latin typeface="Segoe UI"/>
              </a:defRPr>
            </a:pPr>
            <a:r>
              <a:rPr lang="de-DE" sz="1700" b="0">
                <a:latin typeface="Segoe UI"/>
              </a:rPr>
              <a:t>Enthalten u. a.: *ngIf, any, effect schreibt Signal, innerHTML, toBeTruthy; suche weitere</a:t>
            </a:r>
          </a:p>
          <a:p>
            <a:pPr>
              <a:defRPr sz="2000" b="1">
                <a:latin typeface="Segoe UI"/>
              </a:defRPr>
            </a:pPr>
            <a:r>
              <a:rPr lang="de-DE" sz="2000" b="1">
                <a:latin typeface="Segoe UI"/>
              </a:rPr>
              <a:t>2. Befunde in einem zweiten Prompt konkret zurückgeben („Behebe: …“), erneut prüfen</a:t>
            </a:r>
          </a:p>
          <a:p>
            <a:pPr>
              <a:defRPr sz="2000" b="1">
                <a:latin typeface="Segoe UI"/>
              </a:defRPr>
            </a:pPr>
            <a:r>
              <a:rPr lang="de-DE" sz="2000" b="1">
                <a:latin typeface="Segoe UI"/>
              </a:rPr>
              <a:t>3. Korrigiertes Feature einbauen: CSV-Funktion, Button in der Kundenliste, Tests</a:t>
            </a:r>
          </a:p>
          <a:p>
            <a:pPr lvl="1">
              <a:defRPr sz="1700" b="0">
                <a:latin typeface="Segoe UI"/>
              </a:defRPr>
            </a:pPr>
            <a:r>
              <a:rPr lang="de-DE" sz="1700" b="0">
                <a:latin typeface="Segoe UI"/>
              </a:rPr>
              <a:t>Download im Browser ausprobieren</a:t>
            </a:r>
          </a:p>
          <a:p>
            <a:pPr>
              <a:defRPr sz="2000" b="1">
                <a:latin typeface="Segoe UI"/>
              </a:defRPr>
            </a:pPr>
            <a:r>
              <a:rPr lang="de-DE" sz="2000" b="1">
                <a:latin typeface="Segoe UI"/>
              </a:rPr>
              <a:t>4. Auswertung: Was hat die KI nicht erkannt? Was war in Runde 2 neu kaputt?</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38: Abschlussprojekt Dashboard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(Bestellung in den letzten 7 Tagen); Kunden pro Stadt</a:t>
            </a:r>
          </a:p>
          <a:p>
            <a:pPr>
              <a:defRPr sz="2000" b="1">
                <a:latin typeface="Segoe UI"/>
              </a:defRPr>
            </a:pPr>
            <a:r>
              <a:rPr lang="de-DE" sz="2000" b="1">
                <a:latin typeface="Segoe UI"/>
              </a:rPr>
              <a:t>1. Plan mit 5 Schritten schreiben und im Team abstimmen, bevor Code entsteht</a:t>
            </a:r>
          </a:p>
          <a:p>
            <a:pPr>
              <a:defRPr sz="2000" b="1">
                <a:latin typeface="Segoe UI"/>
              </a:defRPr>
            </a:pPr>
            <a:r>
              <a:rPr lang="de-DE" sz="2000" b="1">
                <a:latin typeface="Segoe UI"/>
              </a:rPr>
              <a:t>2. In kleinen Schritten umsetzen, je Schritt ein Commit</a:t>
            </a:r>
          </a:p>
          <a:p>
            <a:pPr>
              <a:defRPr sz="2000" b="0">
                <a:latin typeface="Segoe UI"/>
              </a:defRPr>
            </a:pPr>
            <a:r>
              <a:rPr lang="de-DE" sz="2000" b="0">
                <a:latin typeface="Segoe UI"/>
              </a:rPr>
              <a:t>Bewertet werden: Architektur, Reaktivität, Tests, Sicherheit, Nachvollziehbarkeit</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38: Abschlussprojekt Dashboard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3. Anforderungen:</a:t>
            </a:r>
          </a:p>
          <a:p>
            <a:pPr lvl="1">
              <a:defRPr sz="1700" b="0">
                <a:latin typeface="Segoe UI"/>
              </a:defRPr>
            </a:pPr>
            <a:r>
              <a:rPr lang="de-DE" sz="1700" b="0">
                <a:latin typeface="Segoe UI"/>
              </a:rPr>
              <a:t>Kennzahlen als computed; Daten über den CustomerStore, kein HTTP in der Komponente</a:t>
            </a:r>
          </a:p>
          <a:p>
            <a:pPr lvl="1">
              <a:defRPr sz="1700" b="0">
                <a:latin typeface="Segoe UI"/>
              </a:defRPr>
            </a:pPr>
            <a:r>
              <a:rPr lang="de-DE" sz="1700" b="0">
                <a:latin typeface="Segoe UI"/>
              </a:rPr>
              <a:t>Lazy Route /dashboard, geschützt durch authGuard; /dashboard in die returnUrl-Allowlist</a:t>
            </a:r>
          </a:p>
          <a:p>
            <a:pPr lvl="1">
              <a:defRPr sz="1700" b="0">
                <a:latin typeface="Segoe UI"/>
              </a:defRPr>
            </a:pPr>
            <a:r>
              <a:rPr lang="de-DE" sz="1700" b="0">
                <a:latin typeface="Segoe UI"/>
              </a:rPr>
              <a:t>Aktiv-Logik der CurrentActiveCustomersPipe wiederverwenden</a:t>
            </a:r>
          </a:p>
          <a:p>
            <a:pPr lvl="1">
              <a:defRPr sz="1700" b="0">
                <a:latin typeface="Segoe UI"/>
              </a:defRPr>
            </a:pPr>
            <a:r>
              <a:rPr lang="de-DE" sz="1700" b="0">
                <a:latin typeface="Segoe UI"/>
              </a:rPr>
              <a:t>Kein innerHTML, keine ungeprüften Parameter; mindestens 3 sinnvolle Tests</a:t>
            </a:r>
          </a:p>
          <a:p>
            <a:pPr>
              <a:defRPr sz="2000" b="1">
                <a:latin typeface="Segoe UI"/>
              </a:defRPr>
            </a:pPr>
            <a:r>
              <a:rPr lang="de-DE" sz="2000" b="1">
                <a:latin typeface="Segoe UI"/>
              </a:rPr>
              <a:t>4. Selbst-Review mit den Checklisten (Sicherheit und KI-Review)</a:t>
            </a:r>
          </a:p>
          <a:p>
            <a:pPr>
              <a:defRPr sz="2000" b="1">
                <a:latin typeface="Segoe UI"/>
              </a:defRPr>
            </a:pPr>
            <a:r>
              <a:rPr lang="de-DE" sz="2000" b="1">
                <a:latin typeface="Segoe UI"/>
              </a:rPr>
              <a:t>5. Kurzvorstellung (5 Min. je Gruppe): Was hat die KI gut gemacht, was wurde korrigiert?</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Typen und Typableitung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firstname: string = "Lisa";</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age: number =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active: boolean = true;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since: Date = new Date(2024, 0, 15);</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names: string[] = ["Lisa", "Hans", "Ned"];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Typableitung: Der Compiler erkennt den Typ selbst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city = "Springfield";   //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count = names.length;   // number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ids = [1, 2, 3];        // number[]</a:t>
            </a:r>
            <a:endParaRPr lang="de-DE" sz="2000" b="0" u="none" strike="noStrike">
              <a:solidFill>
                <a:srgbClr val="000000"/>
              </a:solidFill>
              <a:uFillTx/>
              <a:latin typeface="Arial"/>
            </a:endParaRP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const und let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company = "Simpson GmbH";   // Standard: const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let counter = 0;                 // let nur, wenn sich der Wert 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counter = counter + 1;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company = "Andere GmbH";      // Fehler: const nicht neu zuweisbar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string[]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names.push("Hans");              // erlaubt: der Inhalt ändert sich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names = [];                   // Fehler: die Variable bleibt fest</a:t>
            </a:r>
            <a:endParaRPr lang="de-DE" sz="1800" b="0" u="none" strike="noStrike">
              <a:solidFill>
                <a:srgbClr val="000000"/>
              </a:solidFill>
              <a:uFillTx/>
              <a:latin typeface="Arial"/>
            </a:endParaRP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Warum nicht mehr var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for (var i = 0; i &lt; 10; i++)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console.log("var:", i),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zehnmal "var: 10"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(let j = 0; j &lt; 10; j++)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console.log("let:", j),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"let: 0" bis "let: 9"</a:t>
            </a:r>
            <a:endParaRPr lang="de-DE" sz="2000" b="0" u="none" strike="noStrike">
              <a:solidFill>
                <a:srgbClr val="000000"/>
              </a:solidFill>
              <a:uFillTx/>
              <a:latin typeface="Arial"/>
            </a:endParaRP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any, unknown und never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let anything: any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anything.toUpperCase();     // kein Fehler, auch wenn es knallen kann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show(value: unknown):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(typeof value ===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value.toUpperCase();   // hier ist value ein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String(value);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fail(message: string): never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throw new Error(message);       // kehrt nie zurück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null und undefined im strikten Modus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Fehler TS18048: 'city' is possibly 'undefined'.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safeCityLabel(city: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if (city === undefined)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"unbekannt";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   // hier ist city sicher ein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Sicher mit fehlenden Werten: ?., ?? und !</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customer = customers.find(c =&gt; c.id === "3");  //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city = customer?.city;                  // ?. : stoppt bei fehlendem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label = customer?.city ?? "unbekannt";  // ?? : Ersatzwert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customers.find(c =&gt; c.id === "1")!;  // ! : "ich weiß es sicher"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console.log(lisa.firstname);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 Kurs:  customer()?.firstname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customer()!.imageUrl!</a:t>
            </a:r>
            <a:endParaRPr lang="de-DE" sz="1600" b="0" u="none" strike="noStrike">
              <a:solidFill>
                <a:srgbClr val="000000"/>
              </a:solidFill>
              <a:uFillTx/>
              <a:latin typeface="Arial"/>
            </a:endParaRP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1: Typfehler beheben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src/uebung-1-typfehler.ts</a:t>
            </a:r>
          </a:p>
          <a:p>
            <a:pPr>
              <a:defRPr sz="2000" b="1">
                <a:latin typeface="Segoe UI"/>
              </a:defRPr>
            </a:pPr>
            <a:r>
              <a:rPr lang="de-DE" sz="2000" b="1">
                <a:latin typeface="Segoe UI"/>
              </a:rPr>
              <a:t>1. Führe npm run check aus und lies die 6 Fehlermeldungen</a:t>
            </a:r>
          </a:p>
          <a:p>
            <a:pPr>
              <a:defRPr sz="2000" b="1">
                <a:latin typeface="Segoe UI"/>
              </a:defRPr>
            </a:pPr>
            <a:r>
              <a:rPr lang="de-DE" sz="2000" b="1">
                <a:latin typeface="Segoe UI"/>
              </a:rPr>
              <a:t>2. Behebe jeden Fehler, ohne any zu benutzen</a:t>
            </a:r>
          </a:p>
          <a:p>
            <a:pPr>
              <a:defRPr sz="2000" b="1">
                <a:latin typeface="Segoe UI"/>
              </a:defRPr>
            </a:pPr>
            <a:r>
              <a:rPr lang="de-DE" sz="2000" b="1">
                <a:latin typeface="Segoe UI"/>
              </a:rPr>
              <a:t>3. Manche Fehler behebst du im Code, bei anderen musst du den Typ anpassen</a:t>
            </a:r>
          </a:p>
          <a:p>
            <a:pPr>
              <a:defRPr sz="2000" b="1">
                <a:latin typeface="Segoe UI"/>
              </a:defRPr>
            </a:pPr>
            <a:r>
              <a:rPr lang="de-DE" sz="2000" b="1">
                <a:latin typeface="Segoe UI"/>
              </a:rPr>
              <a:t>4. Starte das Programm: npm start -- src/uebung-1-typfehler.ts</a:t>
            </a:r>
          </a:p>
          <a:p>
            <a:pPr>
              <a:defRPr sz="2000" b="0">
                <a:latin typeface="Segoe UI"/>
              </a:defRPr>
            </a:pPr>
            <a:r>
              <a:rPr lang="de-DE" sz="2000" b="0">
                <a:latin typeface="Segoe UI"/>
              </a:rPr>
              <a:t>Tipp: string | undefined, customer.city?.toUpperCase() ?? "UNBEKANNT"</a:t>
            </a:r>
          </a:p>
          <a:p>
            <a:pPr>
              <a:defRPr sz="2000" b="1">
                <a:latin typeface="Segoe UI"/>
              </a:defRPr>
            </a:pPr>
            <a:r>
              <a:rPr lang="de-DE" sz="2000" b="1">
                <a:latin typeface="Segoe UI"/>
              </a:rPr>
              <a:t>Musterlösung: loesung/uebung-1-typfehler.ts</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Phase 1: eine Komponente, wenige Felder</a:t>
            </a:r>
          </a:p>
          <a:p>
            <a:pPr lvl="1">
              <a:defRPr sz="1700" b="0">
                <a:latin typeface="Segoe UI"/>
              </a:defRPr>
            </a:pPr>
            <a:r>
              <a:rPr lang="de-DE" sz="1700" b="0">
                <a:latin typeface="Segoe UI"/>
              </a:rPr>
              <a:t>signal() direkt in der Komponente genügt</a:t>
            </a:r>
          </a:p>
          <a:p>
            <a:pPr>
              <a:defRPr sz="2000" b="0">
                <a:latin typeface="Segoe UI"/>
              </a:defRPr>
            </a:pPr>
            <a:r>
              <a:rPr lang="de-DE" sz="2000" b="0">
                <a:latin typeface="Segoe UI"/>
              </a:rPr>
              <a:t>Phase 2: mehrere Komponenten teilen Daten</a:t>
            </a:r>
          </a:p>
          <a:p>
            <a:pPr lvl="1">
              <a:defRPr sz="1700" b="0">
                <a:latin typeface="Segoe UI"/>
              </a:defRPr>
            </a:pPr>
            <a:r>
              <a:rPr lang="de-DE" sz="1700" b="0">
                <a:latin typeface="Segoe UI"/>
              </a:rPr>
              <a:t>Service mit Signals</a:t>
            </a:r>
          </a:p>
          <a:p>
            <a:pPr>
              <a:defRPr sz="2000" b="0">
                <a:latin typeface="Segoe UI"/>
              </a:defRPr>
            </a:pPr>
            <a:r>
              <a:rPr lang="de-DE" sz="2000" b="0">
                <a:latin typeface="Segoe UI"/>
              </a:rPr>
              <a:t>Phase 3: Daten, Filter, Auswahl, Laden, Fehler</a:t>
            </a:r>
          </a:p>
          <a:p>
            <a:pPr lvl="1">
              <a:defRPr sz="1700" b="0">
                <a:latin typeface="Segoe UI"/>
              </a:defRPr>
            </a:pPr>
            <a:r>
              <a:rPr lang="de-DE" sz="1700" b="0">
                <a:latin typeface="Segoe UI"/>
              </a:rPr>
              <a:t>Store-Muster: Zustand und Aktionen gebündelt</a:t>
            </a:r>
          </a:p>
          <a:p>
            <a:pPr>
              <a:defRPr sz="2000" b="0">
                <a:latin typeface="Segoe UI"/>
              </a:defRPr>
            </a:pPr>
            <a:r>
              <a:rPr lang="de-DE" sz="2000" b="0">
                <a:latin typeface="Segoe UI"/>
              </a:rPr>
              <a:t>Phase 4: viele Teams, Nachvollziehbarkeit</a:t>
            </a:r>
          </a:p>
          <a:p>
            <a:pPr lvl="1">
              <a:defRPr sz="1700" b="0">
                <a:latin typeface="Segoe UI"/>
              </a:defRPr>
            </a:pPr>
            <a:r>
              <a:rPr lang="de-DE" sz="1700" b="0">
                <a:latin typeface="Segoe UI"/>
              </a:rPr>
              <a:t>Redux-Muster mit NgRx</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in Komponente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mit Signals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Store-Muster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Redux-Muster (NgRx)</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Nur so weit gehen, wie nötig</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 früh oder zu spät strukturieren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Zu früh: viel Boilerplate für wenig Nutzen</a:t>
            </a:r>
          </a:p>
          <a:p>
            <a:pPr lvl="1">
              <a:defRPr sz="1700" b="0">
                <a:latin typeface="Segoe UI"/>
              </a:defRPr>
            </a:pPr>
            <a:r>
              <a:rPr lang="de-DE" sz="1700" b="0">
                <a:latin typeface="Segoe UI"/>
              </a:rPr>
              <a:t>Actions, Reducer, Selektoren für drei Felder</a:t>
            </a:r>
          </a:p>
          <a:p>
            <a:pPr>
              <a:defRPr sz="2000" b="0">
                <a:latin typeface="Segoe UI"/>
              </a:defRPr>
            </a:pPr>
            <a:r>
              <a:rPr lang="de-DE" sz="2000" b="0">
                <a:latin typeface="Segoe UI"/>
              </a:rPr>
              <a:t>Zu spät: Zustand liegt verstreut in Komponenten</a:t>
            </a:r>
          </a:p>
          <a:p>
            <a:pPr lvl="1">
              <a:defRPr sz="1700" b="0">
                <a:latin typeface="Segoe UI"/>
              </a:defRPr>
            </a:pPr>
            <a:r>
              <a:rPr lang="de-DE" sz="1700" b="0">
                <a:latin typeface="Segoe UI"/>
              </a:rPr>
              <a:t>Kopien, widersprüchliche Daten, schwerer Umbau</a:t>
            </a:r>
          </a:p>
          <a:p>
            <a:pPr>
              <a:defRPr sz="2000" b="0">
                <a:latin typeface="Segoe UI"/>
              </a:defRPr>
            </a:pPr>
            <a:r>
              <a:rPr lang="de-DE" sz="2000" b="0">
                <a:latin typeface="Segoe UI"/>
              </a:rPr>
              <a:t>Warnzeichen für den nächsten Schritt:</a:t>
            </a:r>
          </a:p>
          <a:p>
            <a:pPr lvl="1">
              <a:defRPr sz="1700" b="0">
                <a:latin typeface="Segoe UI"/>
              </a:defRPr>
            </a:pPr>
            <a:r>
              <a:rPr lang="de-DE" sz="1700" b="0">
                <a:latin typeface="Segoe UI"/>
              </a:rPr>
              <a:t>gleiche Daten in mehreren Komponenten kopiert</a:t>
            </a:r>
          </a:p>
          <a:p>
            <a:pPr lvl="1">
              <a:defRPr sz="1700" b="0">
                <a:latin typeface="Segoe UI"/>
              </a:defRPr>
            </a:pPr>
            <a:r>
              <a:rPr lang="de-DE" sz="1700" b="0">
                <a:latin typeface="Segoe UI"/>
              </a:rPr>
              <a:t>Fehler wie „Liste zeigt alten Stand“</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Zu früh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 Boilerplate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langsame Entwicklung</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Zu spät</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verstreute Kopien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teurer Umbau</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Welche Arten von Zustand gibt 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Server-Zustand: Daten vom Backend</a:t>
            </a:r>
          </a:p>
          <a:p>
            <a:pPr lvl="1">
              <a:defRPr sz="1700" b="0">
                <a:latin typeface="Segoe UI"/>
              </a:defRPr>
            </a:pPr>
            <a:r>
              <a:rPr lang="de-DE" sz="1700" b="0">
                <a:latin typeface="Segoe UI"/>
              </a:rPr>
              <a:t>haben ein Alter, können veralten oder fehlen</a:t>
            </a:r>
          </a:p>
          <a:p>
            <a:pPr>
              <a:defRPr sz="2000" b="0">
                <a:latin typeface="Segoe UI"/>
              </a:defRPr>
            </a:pPr>
            <a:r>
              <a:rPr lang="de-DE" sz="2000" b="0">
                <a:latin typeface="Segoe UI"/>
              </a:rPr>
              <a:t>UI-Zustand: offener Dialog, aktiver Reiter</a:t>
            </a:r>
          </a:p>
          <a:p>
            <a:pPr>
              <a:defRPr sz="2000" b="0">
                <a:latin typeface="Segoe UI"/>
              </a:defRPr>
            </a:pPr>
            <a:r>
              <a:rPr lang="de-DE" sz="2000" b="0">
                <a:latin typeface="Segoe UI"/>
              </a:rPr>
              <a:t>URL-Zustand: Route, Parameter, Query</a:t>
            </a:r>
          </a:p>
          <a:p>
            <a:pPr>
              <a:defRPr sz="2000" b="0">
                <a:latin typeface="Segoe UI"/>
              </a:defRPr>
            </a:pPr>
            <a:r>
              <a:rPr lang="de-DE" sz="2000" b="0">
                <a:latin typeface="Segoe UI"/>
              </a:rPr>
              <a:t>Formular-Zustand: Eingaben, Gültigkeit</a:t>
            </a:r>
          </a:p>
          <a:p>
            <a:pPr>
              <a:defRPr sz="2000" b="0">
                <a:latin typeface="Segoe UI"/>
              </a:defRPr>
            </a:pPr>
            <a:r>
              <a:rPr lang="de-DE" sz="2000" b="0">
                <a:latin typeface="Segoe UI"/>
              </a:rPr>
              <a:t>Jede Art hat einen natürlichen Ort</a:t>
            </a:r>
          </a:p>
          <a:p>
            <a:pPr lvl="1">
              <a:defRPr sz="1700" b="0">
                <a:latin typeface="Segoe UI"/>
              </a:defRPr>
            </a:pPr>
            <a:r>
              <a:rPr lang="de-DE" sz="1700" b="0">
                <a:latin typeface="Segoe UI"/>
              </a:rPr>
              <a:t>nicht alles gehört in den Store</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Zustand</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UI</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Feature-Ordnerstruktur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src/app/</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                 &lt;- Feature (Fachbereich)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customer-list/          &lt;- Container-Komponente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customer-details/       &lt;- Container-Komponente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ui/                     &lt;- Darstellungskomponenten (nur input/output)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customer-card/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customer.store.ts       &lt;- Zustand und Aktionen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customer.service.ts     &lt;- HTTP-Zugriff (API-Schicht)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customer.model.ts       &lt;- Typen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customer.routes.ts      &lt;- Routen des Features (lazy)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auth/                     &lt;- weiteres Feature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shared/                   &lt;- nur wirklich Allgemeines (Card, Pipes)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app.routes.ts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app.config.ts</a:t>
            </a:r>
            <a:endParaRPr lang="de-DE" sz="1800" b="0" u="none" strike="noStrike">
              <a:solidFill>
                <a:srgbClr val="000000"/>
              </a:solidFill>
              <a:uFillTx/>
              <a:latin typeface="Arial"/>
            </a:endParaRP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Regeln für die Ordnerstruktur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Nach Fachlichkeit gliedern, nicht nach Technik</a:t>
            </a:r>
          </a:p>
          <a:p>
            <a:pPr lvl="1">
              <a:defRPr sz="1700" b="0">
                <a:latin typeface="Segoe UI"/>
              </a:defRPr>
            </a:pPr>
            <a:r>
              <a:rPr lang="de-DE" sz="1700" b="0">
                <a:latin typeface="Segoe UI"/>
              </a:rPr>
              <a:t>nicht: components/, services/, models/</a:t>
            </a:r>
          </a:p>
          <a:p>
            <a:pPr>
              <a:defRPr sz="2000" b="0">
                <a:latin typeface="Segoe UI"/>
              </a:defRPr>
            </a:pPr>
            <a:r>
              <a:rPr lang="de-DE" sz="2000" b="0">
                <a:latin typeface="Segoe UI"/>
              </a:rPr>
              <a:t>Features nutzen shared, nie umgekehrt</a:t>
            </a:r>
          </a:p>
          <a:p>
            <a:pPr>
              <a:defRPr sz="2000" b="0">
                <a:latin typeface="Segoe UI"/>
              </a:defRPr>
            </a:pPr>
            <a:r>
              <a:rPr lang="de-DE" sz="2000" b="0">
                <a:latin typeface="Segoe UI"/>
              </a:rPr>
              <a:t>Features kennen sich nur über Schnittstellen</a:t>
            </a:r>
          </a:p>
          <a:p>
            <a:pPr lvl="1">
              <a:defRPr sz="1700" b="0">
                <a:latin typeface="Segoe UI"/>
              </a:defRPr>
            </a:pPr>
            <a:r>
              <a:rPr lang="de-DE" sz="1700" b="0">
                <a:latin typeface="Segoe UI"/>
              </a:rPr>
              <a:t>Route, öffentlicher Service oder Store</a:t>
            </a:r>
          </a:p>
          <a:p>
            <a:pPr>
              <a:defRPr sz="2000" b="0">
                <a:latin typeface="Segoe UI"/>
              </a:defRPr>
            </a:pPr>
            <a:r>
              <a:rPr lang="de-DE" sz="2000" b="0">
                <a:latin typeface="Segoe UI"/>
              </a:rPr>
              <a:t>Pro Feature ein Store, kein Gesamt-Store</a:t>
            </a:r>
          </a:p>
          <a:p>
            <a:pPr>
              <a:defRPr sz="2000" b="0">
                <a:latin typeface="Segoe UI"/>
              </a:defRPr>
            </a:pPr>
            <a:r>
              <a:rPr lang="de-DE" sz="2000" b="0">
                <a:latin typeface="Segoe UI"/>
              </a:rPr>
              <a:t>Lazy Loading pro Feature über die Routen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invoice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auth</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shared</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Drei Schichten: Darstellung, Logik, Zustand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Darstellung: Komponenten und Templates</a:t>
            </a:r>
          </a:p>
          <a:p>
            <a:pPr lvl="1">
              <a:defRPr sz="1700" b="0">
                <a:latin typeface="Segoe UI"/>
              </a:defRPr>
            </a:pPr>
            <a:r>
              <a:rPr lang="de-DE" sz="1700" b="0">
                <a:latin typeface="Segoe UI"/>
              </a:rPr>
              <a:t>anzeigen, Eingaben weitergeben</a:t>
            </a:r>
          </a:p>
          <a:p>
            <a:pPr>
              <a:defRPr sz="2000" b="0">
                <a:latin typeface="Segoe UI"/>
              </a:defRPr>
            </a:pPr>
            <a:r>
              <a:rPr lang="de-DE" sz="2000" b="0">
                <a:latin typeface="Segoe UI"/>
              </a:rPr>
              <a:t>Logik: Methoden im Store</a:t>
            </a:r>
          </a:p>
          <a:p>
            <a:pPr lvl="1">
              <a:defRPr sz="1700" b="0">
                <a:latin typeface="Segoe UI"/>
              </a:defRPr>
            </a:pPr>
            <a:r>
              <a:rPr lang="de-DE" sz="1700" b="0">
                <a:latin typeface="Segoe UI"/>
              </a:rPr>
              <a:t>Regeln, Befehle, Laden über die API-Schicht</a:t>
            </a:r>
          </a:p>
          <a:p>
            <a:pPr>
              <a:defRPr sz="2000" b="0">
                <a:latin typeface="Segoe UI"/>
              </a:defRPr>
            </a:pPr>
            <a:r>
              <a:rPr lang="de-DE" sz="2000" b="0">
                <a:latin typeface="Segoe UI"/>
              </a:rPr>
              <a:t>Zustand: Signals im Store</a:t>
            </a:r>
          </a:p>
          <a:p>
            <a:pPr lvl="1">
              <a:defRPr sz="1700" b="0">
                <a:latin typeface="Segoe UI"/>
              </a:defRPr>
            </a:pPr>
            <a:r>
              <a:rPr lang="de-DE" sz="1700" b="0">
                <a:latin typeface="Segoe UI"/>
              </a:rPr>
              <a:t>Daten halten und ableiten (computed)</a:t>
            </a:r>
          </a:p>
          <a:p>
            <a:pPr>
              <a:defRPr sz="2000" b="0">
                <a:latin typeface="Segoe UI"/>
              </a:defRPr>
            </a:pPr>
            <a:r>
              <a:rPr lang="de-DE" sz="2000" b="0">
                <a:latin typeface="Segoe UI"/>
              </a:rPr>
              <a:t>Abhängigkeiten zeigen nur nach unten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Darstellung</a:t>
            </a:r>
          </a:p>
          <a:p>
            <a:pPr algn="ctr"/>
            <a:r>
              <a:rPr sz="1700" b="1">
                <a:solidFill>
                  <a:srgbClr val="FFFFFF"/>
                </a:solidFill>
                <a:latin typeface="Segoe UI"/>
              </a:rPr>
              <a:t>Komponente, Template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Logik</a:t>
            </a:r>
          </a:p>
          <a:p>
            <a:pPr algn="ctr"/>
            <a:r>
              <a:rPr sz="1700" b="1">
                <a:solidFill>
                  <a:srgbClr val="FFFFFF"/>
                </a:solidFill>
                <a:latin typeface="Segoe UI"/>
              </a:rPr>
              <a:t>Methoden im Store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Zustand</a:t>
            </a:r>
          </a:p>
          <a:p>
            <a:pPr algn="ctr"/>
            <a:r>
              <a:rPr sz="1700" b="0">
                <a:solidFill>
                  <a:srgbClr val="2B3A42"/>
                </a:solidFill>
                <a:latin typeface="Segoe UI"/>
              </a:rPr>
              <a:t>Signals, computed</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API-Schicht</a:t>
            </a:r>
          </a:p>
          <a:p>
            <a:pPr algn="ctr"/>
            <a:r>
              <a:rPr sz="1700" b="0">
                <a:solidFill>
                  <a:srgbClr val="2B3A42"/>
                </a:solidFill>
                <a:latin typeface="Segoe UI"/>
              </a:rPr>
              <a:t>CustomerService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Abhängigkeiten nur nach unten</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Einseitiger Datenfluss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Daten fließen nach unten: Store zu Template</a:t>
            </a:r>
          </a:p>
          <a:p>
            <a:pPr lvl="1">
              <a:defRPr sz="1700" b="0">
                <a:latin typeface="Segoe UI"/>
              </a:defRPr>
            </a:pPr>
            <a:r>
              <a:rPr lang="de-DE" sz="1700" b="0">
                <a:latin typeface="Segoe UI"/>
              </a:rPr>
              <a:t>Template liest Signals, z. B. store.filtered()</a:t>
            </a:r>
          </a:p>
          <a:p>
            <a:pPr>
              <a:defRPr sz="2000" b="0">
                <a:latin typeface="Segoe UI"/>
              </a:defRPr>
            </a:pPr>
            <a:r>
              <a:rPr lang="de-DE" sz="2000" b="0">
                <a:latin typeface="Segoe UI"/>
              </a:rPr>
              <a:t>Ereignisse fließen nach oben: Template zu Store</a:t>
            </a:r>
          </a:p>
          <a:p>
            <a:pPr lvl="1">
              <a:defRPr sz="1700" b="0">
                <a:latin typeface="Segoe UI"/>
              </a:defRPr>
            </a:pPr>
            <a:r>
              <a:rPr lang="de-DE" sz="1700" b="0">
                <a:latin typeface="Segoe UI"/>
              </a:rPr>
              <a:t>Klick oder Eingabe ruft eine Store-Methode</a:t>
            </a:r>
          </a:p>
          <a:p>
            <a:pPr>
              <a:defRPr sz="2000" b="0">
                <a:latin typeface="Segoe UI"/>
              </a:defRPr>
            </a:pPr>
            <a:r>
              <a:rPr lang="de-DE" sz="2000" b="0">
                <a:latin typeface="Segoe UI"/>
              </a:rPr>
              <a:t>Komponente ändert nie direkt den Zustand</a:t>
            </a:r>
          </a:p>
          <a:p>
            <a:pPr>
              <a:defRPr sz="2000" b="0">
                <a:latin typeface="Segoe UI"/>
              </a:defRPr>
            </a:pPr>
            <a:r>
              <a:rPr lang="de-DE" sz="2000" b="0">
                <a:latin typeface="Segoe UI"/>
              </a:rPr>
              <a:t>Ergebnis: eine Quelle der Wahrheit</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Template zeigt an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Nutzer handelt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Store-Methode</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Signal ändert sich</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Problem: Zustand in Komponenten verteilt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 Komponente lädt und filtert selbst</a:t>
            </a:r>
          </a:p>
          <a:p>
            <a:pPr>
              <a:defRPr sz="2000" b="0">
                <a:latin typeface="Segoe UI"/>
              </a:defRPr>
            </a:pPr>
            <a:r>
              <a:rPr lang="de-DE" sz="2000" b="0">
                <a:latin typeface="Segoe UI"/>
              </a:rPr>
              <a:t>Auswahl liegt in der Liste, Details brauchen sie</a:t>
            </a:r>
          </a:p>
          <a:p>
            <a:pPr>
              <a:defRPr sz="2000" b="0">
                <a:latin typeface="Segoe UI"/>
              </a:defRPr>
            </a:pPr>
            <a:r>
              <a:rPr lang="de-DE" sz="2000" b="0">
                <a:latin typeface="Segoe UI"/>
              </a:rPr>
              <a:t>Gleiche Logik mehrfach, leicht widersprüchlich</a:t>
            </a:r>
          </a:p>
          <a:p>
            <a:pPr>
              <a:defRPr sz="2000" b="0">
                <a:latin typeface="Segoe UI"/>
              </a:defRPr>
            </a:pPr>
            <a:r>
              <a:rPr lang="de-DE" sz="2000" b="0">
                <a:latin typeface="Segoe UI"/>
              </a:rPr>
              <a:t>Lösung: Store als Service</a:t>
            </a:r>
          </a:p>
          <a:p>
            <a:pPr lvl="1">
              <a:defRPr sz="1700" b="0">
                <a:latin typeface="Segoe UI"/>
              </a:defRPr>
            </a:pPr>
            <a:r>
              <a:rPr lang="de-DE" sz="1700" b="0">
                <a:latin typeface="Segoe UI"/>
              </a:rPr>
              <a:t>hält den Zustand an einer Stelle</a:t>
            </a:r>
          </a:p>
          <a:p>
            <a:pPr lvl="1">
              <a:defRPr sz="1700" b="0">
                <a:latin typeface="Segoe UI"/>
              </a:defRPr>
            </a:pPr>
            <a:r>
              <a:rPr lang="de-DE" sz="1700" b="0">
                <a:latin typeface="Segoe UI"/>
              </a:rPr>
              <a:t>bietet Aktionen als Methoden an</a:t>
            </a:r>
          </a:p>
          <a:p>
            <a:pPr lvl="1">
              <a:defRPr sz="1700" b="0">
                <a:latin typeface="Segoe UI"/>
              </a:defRPr>
            </a:pPr>
            <a:r>
              <a:rPr lang="de-DE" sz="1700" b="0">
                <a:latin typeface="Segoe UI"/>
              </a:rPr>
              <a:t>wird mit inject() geholt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Ohne Store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Liste lädt selbst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Details lädt selbst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Kopien der Daten</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Mit Store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 CustomerStore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Komponenten lesen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Methoden ändern</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Store als Service (1/2):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customerService = inject(CustomerService);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und schreibbar: nur der Store darf ändern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_selectedId = signal&lt;string | undefined&gt;(undefined);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_loading = signal(false);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_error = signal&lt;string | undefined&gt;(undefined);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öffentlich und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selectedId = this._selectedId.asReadonly();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loading = this._loading.asReadonly();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error = this._error.asReadonly();</a:t>
            </a:r>
            <a:endParaRPr lang="de-DE" sz="1600" b="0" u="none" strike="noStrike">
              <a:solidFill>
                <a:srgbClr val="000000"/>
              </a:solidFill>
              <a:uFillTx/>
              <a:latin typeface="Arial"/>
            </a:endParaRPr>
          </a:p>
        </p:txBody>
      </p:sp>
    </p:spTree>
  </p:cSld>
  <p:clrMapOvr>
    <a:masterClrMapping/>
  </p:clrMapOvr>
</p:sld>
</file>

<file path=ppt/slides/slide6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Store als Service (2/2): Aktionen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filtered = computed(()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f = this._filter().toLowerCase();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this._customers().filter(c =&gt; c.firstname?.toLowerCase().includes(f));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selected = computed(()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this._customers().find(c =&gt; c.id === this._selectedId()));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total = computed(() =&gt; this.filtered().length);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async load(): Promise&lt;void&gt;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this._loading.set(true);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this._error.set(undefined);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 this._customers.set(await firstValueFrom(this.customerService.getAll()));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catch { this._error.set('Fehler beim Laden der Kunden.');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finally { this._loading.set(false);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setFilter(text: string): void { this._filter.set(text);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select(id: string | undefined): void { this._selectedId.set(id);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Wer stellt den CustomerStore bereit?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Eine Store-Instanz im Root-Injector; die Liste im &lt;router-outlet&gt; holt sie sich mit inject().</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497399"/>
          </a:xfrm>
          <a:prstGeom prst="rect">
            <a:avLst/>
          </a:prstGeom>
          <a:noFill/>
        </p:spPr>
        <p:txBody>
          <a:bodyPr wrap="square" anchor="t" lIns="70000" rIns="70000" tIns="0" bIns="0">
            <a:spAutoFit/>
          </a:bodyPr>
          <a:lstStyle/>
          <a:p>
            <a:pPr algn="l"/>
            <a:r>
              <a:rPr sz="1300" b="1">
                <a:solidFill>
                  <a:srgbClr val="2B3A42"/>
                </a:solidFill>
                <a:latin typeface="Segoe UI"/>
              </a:rPr>
              <a:t>Anwendung</a:t>
            </a:r>
          </a:p>
          <a:p>
            <a:pPr algn="l"/>
            <a:r>
              <a:rPr sz="1300" b="1">
                <a:solidFill>
                  <a:srgbClr val="2B3A42"/>
                </a:solidFill>
                <a:latin typeface="Segoe UI"/>
              </a:rPr>
              <a:t>bootstrapApplication(AppComponent)</a:t>
            </a:r>
          </a:p>
        </p:txBody>
      </p:sp>
      <p:sp>
        <p:nvSpPr>
          <p:cNvPr id="6" name="Rectangle 5"/>
          <p:cNvSpPr/>
          <p:nvPr/>
        </p:nvSpPr>
        <p:spPr>
          <a:xfrm>
            <a:off x="948080" y="2187399"/>
            <a:ext cx="4887080" cy="363704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27399"/>
            <a:ext cx="4767080" cy="497399"/>
          </a:xfrm>
          <a:prstGeom prst="rect">
            <a:avLst/>
          </a:prstGeom>
          <a:noFill/>
        </p:spPr>
        <p:txBody>
          <a:bodyPr wrap="square" anchor="t" lIns="70000" rIns="70000" tIns="0" bIns="0">
            <a:spAutoFit/>
          </a:bodyPr>
          <a:lstStyle/>
          <a:p>
            <a:pPr algn="l"/>
            <a:r>
              <a:rPr sz="1300" b="1">
                <a:solidFill>
                  <a:srgbClr val="2B3A42"/>
                </a:solidFill>
                <a:latin typeface="Segoe UI"/>
              </a:rPr>
              <a:t>AppComponent</a:t>
            </a:r>
          </a:p>
          <a:p>
            <a:pPr algn="l"/>
            <a:r>
              <a:rPr sz="1300" b="1">
                <a:solidFill>
                  <a:srgbClr val="2B3A42"/>
                </a:solidFill>
                <a:latin typeface="Segoe UI"/>
              </a:rPr>
              <a:t>app-root</a:t>
            </a:r>
          </a:p>
        </p:txBody>
      </p:sp>
      <p:sp>
        <p:nvSpPr>
          <p:cNvPr id="8" name="Rectangle 7"/>
          <p:cNvSpPr/>
          <p:nvPr/>
        </p:nvSpPr>
        <p:spPr>
          <a:xfrm>
            <a:off x="1058080" y="2724798"/>
            <a:ext cx="4667080" cy="2994082"/>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9" name="TextBox 8"/>
          <p:cNvSpPr txBox="1"/>
          <p:nvPr/>
        </p:nvSpPr>
        <p:spPr>
          <a:xfrm>
            <a:off x="1118080" y="2764798"/>
            <a:ext cx="4547080" cy="497399"/>
          </a:xfrm>
          <a:prstGeom prst="rect">
            <a:avLst/>
          </a:prstGeom>
          <a:noFill/>
        </p:spPr>
        <p:txBody>
          <a:bodyPr wrap="square" anchor="t" lIns="70000" rIns="70000" tIns="0" bIns="0">
            <a:spAutoFit/>
          </a:bodyPr>
          <a:lstStyle/>
          <a:p>
            <a:pPr algn="l"/>
            <a:r>
              <a:rPr sz="1300" b="1">
                <a:solidFill>
                  <a:srgbClr val="2B3A42"/>
                </a:solidFill>
                <a:latin typeface="Segoe UI"/>
              </a:rPr>
              <a:t>&lt;router-outlet&gt;</a:t>
            </a:r>
          </a:p>
          <a:p>
            <a:pPr algn="l"/>
            <a:r>
              <a:rPr sz="1300" b="1">
                <a:solidFill>
                  <a:srgbClr val="2B3A42"/>
                </a:solidFill>
                <a:latin typeface="Segoe UI"/>
              </a:rPr>
              <a:t>URL /customer</a:t>
            </a:r>
          </a:p>
        </p:txBody>
      </p:sp>
      <p:sp>
        <p:nvSpPr>
          <p:cNvPr id="10" name="Rounded Rectangle 9"/>
          <p:cNvSpPr/>
          <p:nvPr/>
        </p:nvSpPr>
        <p:spPr>
          <a:xfrm>
            <a:off x="1168080" y="3262197"/>
            <a:ext cx="4447080" cy="786905"/>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CustomerListComponent</a:t>
            </a:r>
          </a:p>
          <a:p>
            <a:pPr algn="ctr"/>
            <a:r>
              <a:rPr sz="1300" b="1">
                <a:solidFill>
                  <a:srgbClr val="FFFFFF"/>
                </a:solidFill>
                <a:latin typeface="Segoe UI"/>
              </a:rPr>
              <a:t>store = inject(CustomerStore)</a:t>
            </a:r>
          </a:p>
        </p:txBody>
      </p:sp>
      <p:sp>
        <p:nvSpPr>
          <p:cNvPr id="11" name="Rectangle 10"/>
          <p:cNvSpPr/>
          <p:nvPr/>
        </p:nvSpPr>
        <p:spPr>
          <a:xfrm>
            <a:off x="6355160" y="2187399"/>
            <a:ext cx="4887080" cy="3637041"/>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227399"/>
            <a:ext cx="4767080" cy="497399"/>
          </a:xfrm>
          <a:prstGeom prst="rect">
            <a:avLst/>
          </a:prstGeom>
          <a:noFill/>
        </p:spPr>
        <p:txBody>
          <a:bodyPr wrap="square" anchor="t" lIns="70000" rIns="70000" tIns="0" bIns="0">
            <a:spAutoFit/>
          </a:bodyPr>
          <a:lstStyle/>
          <a:p>
            <a:pPr algn="l"/>
            <a:r>
              <a:rPr sz="1300" b="1">
                <a:solidFill>
                  <a:srgbClr val="2B3A42"/>
                </a:solidFill>
                <a:latin typeface="Segoe UI"/>
              </a:rPr>
              <a:t>Root-Injector</a:t>
            </a:r>
          </a:p>
          <a:p>
            <a:pPr algn="l"/>
            <a:r>
              <a:rPr sz="1300" b="1">
                <a:solidFill>
                  <a:srgbClr val="2B3A42"/>
                </a:solidFill>
                <a:latin typeface="Segoe UI"/>
              </a:rPr>
              <a:t>providedIn: 'root'</a:t>
            </a:r>
          </a:p>
        </p:txBody>
      </p:sp>
      <p:sp>
        <p:nvSpPr>
          <p:cNvPr id="13" name="Rounded Rectangle 12"/>
          <p:cNvSpPr/>
          <p:nvPr/>
        </p:nvSpPr>
        <p:spPr>
          <a:xfrm>
            <a:off x="6465160" y="2724798"/>
            <a:ext cx="4667080" cy="786905"/>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CustomerStore</a:t>
            </a:r>
          </a:p>
          <a:p>
            <a:pPr algn="ctr"/>
            <a:r>
              <a:rPr sz="1300" b="1">
                <a:solidFill>
                  <a:srgbClr val="FFFFFF"/>
                </a:solidFill>
                <a:latin typeface="Segoe UI"/>
              </a:rPr>
              <a:t>eine Instanz für alle</a:t>
            </a:r>
          </a:p>
        </p:txBody>
      </p:sp>
      <p:sp>
        <p:nvSpPr>
          <p:cNvPr id="14" name="Rounded Rectangle 13"/>
          <p:cNvSpPr/>
          <p:nvPr/>
        </p:nvSpPr>
        <p:spPr>
          <a:xfrm>
            <a:off x="6465160" y="3914752"/>
            <a:ext cx="4667080" cy="786905"/>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CustomerService</a:t>
            </a:r>
          </a:p>
          <a:p>
            <a:pPr algn="ctr"/>
            <a:r>
              <a:rPr sz="1300" b="0">
                <a:solidFill>
                  <a:srgbClr val="2B3A42"/>
                </a:solidFill>
                <a:latin typeface="Segoe UI"/>
              </a:rPr>
              <a:t>nur API-Aufrufe</a:t>
            </a:r>
          </a:p>
        </p:txBody>
      </p:sp>
      <p:sp>
        <p:nvSpPr>
          <p:cNvPr id="15" name="Rounded Rectangle 14"/>
          <p:cNvSpPr/>
          <p:nvPr/>
        </p:nvSpPr>
        <p:spPr>
          <a:xfrm>
            <a:off x="6465160" y="5104706"/>
            <a:ext cx="4667080" cy="61417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HttpClient</a:t>
            </a:r>
          </a:p>
        </p:txBody>
      </p:sp>
      <p:cxnSp>
        <p:nvCxnSpPr>
          <p:cNvPr id="16" name="Connector 15"/>
          <p:cNvCxnSpPr/>
          <p:nvPr/>
        </p:nvCxnSpPr>
        <p:spPr>
          <a:xfrm>
            <a:off x="5615160" y="3386950"/>
            <a:ext cx="85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44672" y="3056950"/>
            <a:ext cx="1190976"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inject()</a:t>
            </a:r>
          </a:p>
        </p:txBody>
      </p:sp>
      <p:cxnSp>
        <p:nvCxnSpPr>
          <p:cNvPr id="18" name="Connector 17"/>
          <p:cNvCxnSpPr/>
          <p:nvPr/>
        </p:nvCxnSpPr>
        <p:spPr>
          <a:xfrm>
            <a:off x="8798700" y="3511703"/>
            <a:ext cx="0" cy="403049"/>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858700" y="3573227"/>
            <a:ext cx="1190976"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inject()</a:t>
            </a:r>
          </a:p>
        </p:txBody>
      </p:sp>
      <p:cxnSp>
        <p:nvCxnSpPr>
          <p:cNvPr id="20" name="Connector 19"/>
          <p:cNvCxnSpPr/>
          <p:nvPr/>
        </p:nvCxnSpPr>
        <p:spPr>
          <a:xfrm>
            <a:off x="8798700" y="4701657"/>
            <a:ext cx="0" cy="403049"/>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858700" y="4763181"/>
            <a:ext cx="2498568"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get('api/customer')</a:t>
            </a: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Privat schreibbar, öffentlich lesbar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liefert ein WritableSignal&lt;T&gt;</a:t>
            </a:r>
          </a:p>
          <a:p>
            <a:pPr lvl="1">
              <a:defRPr sz="1700" b="0">
                <a:latin typeface="Segoe UI"/>
              </a:defRPr>
            </a:pPr>
            <a:r>
              <a:rPr lang="de-DE" sz="1700" b="0">
                <a:latin typeface="Segoe UI"/>
              </a:rPr>
              <a:t>mit set() und update()</a:t>
            </a:r>
          </a:p>
          <a:p>
            <a:pPr>
              <a:defRPr sz="2000" b="0">
                <a:latin typeface="Segoe UI"/>
              </a:defRPr>
            </a:pPr>
            <a:r>
              <a:rPr lang="de-DE" sz="2000" b="0">
                <a:latin typeface="Segoe UI"/>
              </a:rPr>
              <a:t>asReadonly() liefert ein Signal&lt;T&gt;</a:t>
            </a:r>
          </a:p>
          <a:p>
            <a:pPr lvl="1">
              <a:defRPr sz="1700" b="0">
                <a:latin typeface="Segoe UI"/>
              </a:defRPr>
            </a:pPr>
            <a:r>
              <a:rPr lang="de-DE" sz="1700" b="0">
                <a:latin typeface="Segoe UI"/>
              </a:rPr>
              <a:t>nur lesen: filter(), kein set()</a:t>
            </a:r>
          </a:p>
          <a:p>
            <a:pPr lvl="1">
              <a:defRPr sz="1700" b="0">
                <a:latin typeface="Segoe UI"/>
              </a:defRPr>
            </a:pPr>
            <a:r>
              <a:rPr lang="de-DE" sz="1700" b="0">
                <a:latin typeface="Segoe UI"/>
              </a:rPr>
              <a:t>kein Kopieren: gleicher Wert, gleiche Quelle</a:t>
            </a:r>
          </a:p>
          <a:p>
            <a:pPr>
              <a:defRPr sz="2000" b="0">
                <a:latin typeface="Segoe UI"/>
              </a:defRPr>
            </a:pPr>
            <a:r>
              <a:rPr lang="de-DE" sz="2000" b="0">
                <a:latin typeface="Segoe UI"/>
              </a:rPr>
              <a:t>Fehler beim Übersetzen, nicht erst zur Laufzeit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Kapselung</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 im Store</a:t>
            </a:r>
          </a:p>
          <a:p>
            <a:pPr algn="l"/>
            <a:r>
              <a:rPr sz="1300" b="0">
                <a:solidFill>
                  <a:srgbClr val="2B3A42"/>
                </a:solidFill>
                <a:latin typeface="Consolas"/>
              </a:rPr>
              <a:t>private _filter = signal('');</a:t>
            </a:r>
          </a:p>
          <a:p>
            <a:pPr algn="l"/>
            <a:r>
              <a:rPr sz="1300" b="0">
                <a:solidFill>
                  <a:srgbClr val="2B3A42"/>
                </a:solidFill>
                <a:latin typeface="Consolas"/>
              </a:rPr>
              <a:t>readonly filter =</a:t>
            </a:r>
          </a:p>
          <a:p>
            <a:pPr algn="l"/>
            <a:r>
              <a:rPr sz="1300" b="0">
                <a:solidFill>
                  <a:srgbClr val="2B3A42"/>
                </a:solidFill>
                <a:latin typeface="Consolas"/>
              </a:rPr>
              <a:t>  this._filter.asReadonly();</a:t>
            </a:r>
          </a:p>
          <a:p>
            <a:pPr algn="l"/>
            <a:r>
              <a:rPr sz="1300" b="0">
                <a:solidFill>
                  <a:srgbClr val="2B3A42"/>
                </a:solidFill>
                <a:latin typeface="Consolas"/>
              </a:rPr>
              <a:t/>
            </a:r>
          </a:p>
          <a:p>
            <a:pPr algn="l"/>
            <a:r>
              <a:rPr sz="1300" b="0">
                <a:solidFill>
                  <a:srgbClr val="2B3A42"/>
                </a:solidFill>
                <a:latin typeface="Consolas"/>
              </a:rPr>
              <a:t>// in der Komponente</a:t>
            </a:r>
          </a:p>
          <a:p>
            <a:pPr algn="l"/>
            <a:r>
              <a:rPr sz="1300" b="0">
                <a:solidFill>
                  <a:srgbClr val="2B3A42"/>
                </a:solidFill>
                <a:latin typeface="Consolas"/>
              </a:rPr>
              <a:t>store.filter();       // ok</a:t>
            </a:r>
          </a:p>
          <a:p>
            <a:pPr algn="l"/>
            <a:r>
              <a:rPr sz="1300" b="0">
                <a:solidFill>
                  <a:srgbClr val="2B3A42"/>
                </a:solidFill>
                <a:latin typeface="Consolas"/>
              </a:rPr>
              <a:t>store.filter.set('x');</a:t>
            </a:r>
          </a:p>
          <a:p>
            <a:pPr algn="l"/>
            <a:r>
              <a:rPr sz="1300" b="0">
                <a:solidFill>
                  <a:srgbClr val="2B3A42"/>
                </a:solidFill>
                <a:latin typeface="Consolas"/>
              </a:rPr>
              <a:t>// Fehler: set gibt es</a:t>
            </a:r>
          </a:p>
          <a:p>
            <a:pPr algn="l"/>
            <a:r>
              <a:rPr sz="1300" b="0">
                <a:solidFill>
                  <a:srgbClr val="2B3A42"/>
                </a:solidFill>
                <a:latin typeface="Consolas"/>
              </a:rPr>
              <a:t>// auf Signal nicht</a:t>
            </a:r>
          </a:p>
          <a:p>
            <a:pPr algn="l"/>
            <a:r>
              <a:rPr sz="1300" b="0">
                <a:solidFill>
                  <a:srgbClr val="2B3A42"/>
                </a:solidFill>
                <a:latin typeface="Consolas"/>
              </a:rPr>
              <a:t>store.setFilter('x'); // ok</a:t>
            </a: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Aktionen als Methoden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 Änderung hat einen fachlichen Namen</a:t>
            </a:r>
          </a:p>
          <a:p>
            <a:pPr lvl="1">
              <a:defRPr sz="1700" b="0">
                <a:latin typeface="Segoe UI"/>
              </a:defRPr>
            </a:pPr>
            <a:r>
              <a:rPr lang="de-DE" sz="1700" b="0">
                <a:latin typeface="Segoe UI"/>
              </a:rPr>
              <a:t>setFilter, select, load statt set() überall</a:t>
            </a:r>
          </a:p>
          <a:p>
            <a:pPr>
              <a:defRPr sz="2000" b="0">
                <a:latin typeface="Segoe UI"/>
              </a:defRPr>
            </a:pPr>
            <a:r>
              <a:rPr lang="de-DE" sz="2000" b="0">
                <a:latin typeface="Segoe UI"/>
              </a:rPr>
              <a:t>Parameter: nur was die Aktion braucht</a:t>
            </a:r>
          </a:p>
          <a:p>
            <a:pPr>
              <a:defRPr sz="2000" b="0">
                <a:latin typeface="Segoe UI"/>
              </a:defRPr>
            </a:pPr>
            <a:r>
              <a:rPr lang="de-DE" sz="2000" b="0">
                <a:latin typeface="Segoe UI"/>
              </a:rPr>
              <a:t>Rückgabe: meist void, load() ein Promise</a:t>
            </a:r>
          </a:p>
          <a:p>
            <a:pPr lvl="1">
              <a:defRPr sz="1700" b="0">
                <a:latin typeface="Segoe UI"/>
              </a:defRPr>
            </a:pPr>
            <a:r>
              <a:rPr lang="de-DE" sz="1700" b="0">
                <a:latin typeface="Segoe UI"/>
              </a:rPr>
              <a:t>Aufrufer kann await store.load() schreiben</a:t>
            </a:r>
          </a:p>
          <a:p>
            <a:pPr>
              <a:defRPr sz="2000" b="0">
                <a:latin typeface="Segoe UI"/>
              </a:defRPr>
            </a:pPr>
            <a:r>
              <a:rPr lang="de-DE" sz="2000" b="0">
                <a:latin typeface="Segoe UI"/>
              </a:rPr>
              <a:t>Regeln an einer Stelle, z. B. Filter kürzen</a:t>
            </a:r>
          </a:p>
          <a:p>
            <a:pPr>
              <a:defRPr sz="2000" b="0">
                <a:latin typeface="Segoe UI"/>
              </a:defRPr>
            </a:pPr>
            <a:r>
              <a:rPr lang="de-DE" sz="2000" b="0">
                <a:latin typeface="Segoe UI"/>
              </a:rPr>
              <a:t>Leicht zu testen und zu protokollieren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Aktion mit Regel</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setFilter(text: string): void {</a:t>
            </a:r>
          </a:p>
          <a:p>
            <a:pPr algn="l"/>
            <a:r>
              <a:rPr sz="1300" b="0">
                <a:solidFill>
                  <a:srgbClr val="2B3A42"/>
                </a:solidFill>
                <a:latin typeface="Consolas"/>
              </a:rPr>
              <a:t>  this._filter.set(text.trim());</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select(id?: string): void {</a:t>
            </a:r>
          </a:p>
          <a:p>
            <a:pPr algn="l"/>
            <a:r>
              <a:rPr sz="1300" b="0">
                <a:solidFill>
                  <a:srgbClr val="2B3A42"/>
                </a:solidFill>
                <a:latin typeface="Consolas"/>
              </a:rPr>
              <a:t>  this._selectedId.set(id);</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 Aufrufer</a:t>
            </a:r>
          </a:p>
          <a:p>
            <a:pPr algn="l"/>
            <a:r>
              <a:rPr sz="1300" b="0">
                <a:solidFill>
                  <a:srgbClr val="2B3A42"/>
                </a:solidFill>
                <a:latin typeface="Consolas"/>
              </a:rPr>
              <a:t>await store.load();</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vom Tippen bis zur Anzeige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Filter-Komponente meldet Text per output</a:t>
            </a:r>
          </a:p>
          <a:p>
            <a:pPr>
              <a:defRPr sz="2000" b="0">
                <a:latin typeface="Segoe UI"/>
              </a:defRPr>
            </a:pPr>
            <a:r>
              <a:rPr lang="de-DE" sz="2000" b="0">
                <a:latin typeface="Segoe UI"/>
              </a:rPr>
              <a:t>2. Liste ruft store.setFilter(text)</a:t>
            </a:r>
          </a:p>
          <a:p>
            <a:pPr>
              <a:defRPr sz="2000" b="0">
                <a:latin typeface="Segoe UI"/>
              </a:defRPr>
            </a:pPr>
            <a:r>
              <a:rPr lang="de-DE" sz="2000" b="0">
                <a:latin typeface="Segoe UI"/>
              </a:rPr>
              <a:t>3. _filter.set() ändert das Signal</a:t>
            </a:r>
          </a:p>
          <a:p>
            <a:pPr>
              <a:defRPr sz="2000" b="0">
                <a:latin typeface="Segoe UI"/>
              </a:defRPr>
            </a:pPr>
            <a:r>
              <a:rPr lang="de-DE" sz="2000" b="0">
                <a:latin typeface="Segoe UI"/>
              </a:rPr>
              <a:t>4. filtered und total sind nun veraltet</a:t>
            </a:r>
          </a:p>
          <a:p>
            <a:pPr>
              <a:defRPr sz="2000" b="0">
                <a:latin typeface="Segoe UI"/>
              </a:defRPr>
            </a:pPr>
            <a:r>
              <a:rPr lang="de-DE" sz="2000" b="0">
                <a:latin typeface="Segoe UI"/>
              </a:rPr>
              <a:t>5. Template liest filtered() neu</a:t>
            </a:r>
          </a:p>
          <a:p>
            <a:pPr lvl="1">
              <a:defRPr sz="1700" b="0">
                <a:latin typeface="Segoe UI"/>
              </a:defRPr>
            </a:pPr>
            <a:r>
              <a:rPr lang="de-DE" sz="1700" b="0">
                <a:latin typeface="Segoe UI"/>
              </a:rPr>
              <a:t>computed rechnet erst jetzt (lazy)</a:t>
            </a:r>
          </a:p>
          <a:p>
            <a:pPr>
              <a:defRPr sz="2000" b="0">
                <a:latin typeface="Segoe UI"/>
              </a:defRPr>
            </a:pPr>
            <a:r>
              <a:rPr lang="de-DE" sz="2000" b="0">
                <a:latin typeface="Segoe UI"/>
              </a:rPr>
              <a:t>Kein subscribe, kein manuelles Neuzeichnen</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Filter: changed.emit()</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Liste: store.setFilter()</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_filter.set(text)</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filtered (computed)</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Template: filtered()</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Angular verfolgt die Abhängigkeiten</a:t>
            </a:r>
          </a:p>
        </p:txBody>
      </p:sp>
    </p:spTree>
  </p:cSld>
  <p:clrMapOvr>
    <a:masterClrMapping/>
  </p:clrMapOvr>
</p:sld>
</file>

<file path=ppt/slides/slide6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Filter tippen bis zur neuen Liste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Komponenten rufen nur Methoden auf; neu gerechnet wird erst, wenn das Template filtered() liest.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Eingabefeld</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CustomerFilter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CustomerStore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Angular</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input-Ereignis: onInput()</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changed.emit('li')</a:t>
            </a:r>
          </a:p>
        </p:txBody>
      </p:sp>
      <p:cxnSp>
        <p:nvCxnSpPr>
          <p:cNvPr id="18" name="Connector 17"/>
          <p:cNvCxnSpPr/>
          <p:nvPr/>
        </p:nvCxnSpPr>
        <p:spPr>
          <a:xfrm>
            <a:off x="6095160"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9452"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store.setFilter('li')</a:t>
            </a:r>
          </a:p>
        </p:txBody>
      </p:sp>
      <p:cxnSp>
        <p:nvCxnSpPr>
          <p:cNvPr id="20" name="Connector 19"/>
          <p:cNvCxnSpPr/>
          <p:nvPr/>
        </p:nvCxnSpPr>
        <p:spPr>
          <a:xfrm>
            <a:off x="8197992" y="353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77992" y="353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17992" y="366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627992" y="338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4. _filter.set('li')</a:t>
            </a:r>
          </a:p>
        </p:txBody>
      </p:sp>
      <p:cxnSp>
        <p:nvCxnSpPr>
          <p:cNvPr id="24" name="Connector 23"/>
          <p:cNvCxnSpPr/>
          <p:nvPr/>
        </p:nvCxnSpPr>
        <p:spPr>
          <a:xfrm>
            <a:off x="8197992" y="40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672284" y="37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5. Leser markiert, Durchlauf geplant</a:t>
            </a:r>
          </a:p>
        </p:txBody>
      </p:sp>
      <p:cxnSp>
        <p:nvCxnSpPr>
          <p:cNvPr id="26" name="Connector 25"/>
          <p:cNvCxnSpPr/>
          <p:nvPr/>
        </p:nvCxnSpPr>
        <p:spPr>
          <a:xfrm flipH="1">
            <a:off x="6115160" y="438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125160" y="406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6. Template der Liste prüfen</a:t>
            </a:r>
          </a:p>
        </p:txBody>
      </p:sp>
      <p:cxnSp>
        <p:nvCxnSpPr>
          <p:cNvPr id="28" name="Connector 27"/>
          <p:cNvCxnSpPr/>
          <p:nvPr/>
        </p:nvCxnSpPr>
        <p:spPr>
          <a:xfrm>
            <a:off x="6095160" y="47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69452" y="44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7. filtered(), total()</a:t>
            </a:r>
          </a:p>
        </p:txBody>
      </p:sp>
      <p:cxnSp>
        <p:nvCxnSpPr>
          <p:cNvPr id="30" name="Connector 29"/>
          <p:cNvCxnSpPr/>
          <p:nvPr/>
        </p:nvCxnSpPr>
        <p:spPr>
          <a:xfrm>
            <a:off x="8197992" y="497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77992" y="497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8217992" y="510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627992" y="482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8. neu berechnen</a:t>
            </a:r>
          </a:p>
        </p:txBody>
      </p:sp>
      <p:cxnSp>
        <p:nvCxnSpPr>
          <p:cNvPr id="34" name="Connector 33"/>
          <p:cNvCxnSpPr/>
          <p:nvPr/>
        </p:nvCxnSpPr>
        <p:spPr>
          <a:xfrm flipH="1">
            <a:off x="6115160" y="54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569452" y="51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9. gefilterte Liste, Treffer</a:t>
            </a:r>
          </a:p>
        </p:txBody>
      </p:sp>
      <p:cxnSp>
        <p:nvCxnSpPr>
          <p:cNvPr id="36" name="Connector 35"/>
          <p:cNvCxnSpPr/>
          <p:nvPr/>
        </p:nvCxnSpPr>
        <p:spPr>
          <a:xfrm>
            <a:off x="6095160" y="569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475160" y="569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115160" y="582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525160" y="554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10. @for: neue &lt;li&gt;</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nutzt nur den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CustomerListComponent implements OnInit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protected readonly store = 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customerSelected = output&lt;Customer&gt;();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ngOnInit(): void { this.store.load(); }   // beim Öffnen neu laden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onFilterChanged(text: string) { this.store.setFilter(text);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listItemClicked(c: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this.store.select(c.id);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this.customerSelected.emit(c);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Template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(store.loading()) { &lt;p&gt;Lade Kunden...&lt;/p&gt;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@for (customer of store.filtered(); track customer.id) {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&lt;p&gt;Treffer: {{ store.total() }}&lt;/p&gt;</a:t>
            </a:r>
            <a:endParaRPr lang="de-DE" sz="1600" b="0" u="none" strike="noStrike">
              <a:solidFill>
                <a:srgbClr val="000000"/>
              </a:solidFill>
              <a:uFillTx/>
              <a:latin typeface="Arial"/>
            </a:endParaRP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Kunden laden mit store.load()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Vorher: Liste leer, loading() ist true. Nachher: _customers enthält die Kunden, loading() ist false.</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CustomerStore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HttpClient</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/customer: erzeugen</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ngOnInit: store.load()</a:t>
            </a:r>
          </a:p>
        </p:txBody>
      </p:sp>
      <p:cxnSp>
        <p:nvCxnSpPr>
          <p:cNvPr id="18" name="Connector 17"/>
          <p:cNvCxnSpPr/>
          <p:nvPr/>
        </p:nvCxnSpPr>
        <p:spPr>
          <a:xfrm>
            <a:off x="6095160" y="317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75160" y="317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115160" y="330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25160" y="302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3. _loading: true</a:t>
            </a:r>
          </a:p>
        </p:txBody>
      </p:sp>
      <p:cxnSp>
        <p:nvCxnSpPr>
          <p:cNvPr id="22" name="Connector 21"/>
          <p:cNvCxnSpPr/>
          <p:nvPr/>
        </p:nvCxnSpPr>
        <p:spPr>
          <a:xfrm>
            <a:off x="6095160" y="366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34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4. getAll()</a:t>
            </a:r>
          </a:p>
        </p:txBody>
      </p:sp>
      <p:cxnSp>
        <p:nvCxnSpPr>
          <p:cNvPr id="24" name="Connector 23"/>
          <p:cNvCxnSpPr/>
          <p:nvPr/>
        </p:nvCxnSpPr>
        <p:spPr>
          <a:xfrm>
            <a:off x="8197992" y="40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672284" y="37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5. get('api/customer')</a:t>
            </a:r>
          </a:p>
        </p:txBody>
      </p:sp>
      <p:cxnSp>
        <p:nvCxnSpPr>
          <p:cNvPr id="26" name="Connector 25"/>
          <p:cNvCxnSpPr/>
          <p:nvPr/>
        </p:nvCxnSpPr>
        <p:spPr>
          <a:xfrm flipH="1">
            <a:off x="8217992" y="438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672284" y="406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6. Antwort { data: [...] }</a:t>
            </a:r>
          </a:p>
        </p:txBody>
      </p:sp>
      <p:cxnSp>
        <p:nvCxnSpPr>
          <p:cNvPr id="28" name="Connector 27"/>
          <p:cNvCxnSpPr/>
          <p:nvPr/>
        </p:nvCxnSpPr>
        <p:spPr>
          <a:xfrm flipH="1">
            <a:off x="6115160" y="474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69452" y="442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7. Customer[] (firstValueFrom)</a:t>
            </a:r>
          </a:p>
        </p:txBody>
      </p:sp>
      <p:cxnSp>
        <p:nvCxnSpPr>
          <p:cNvPr id="30" name="Connector 29"/>
          <p:cNvCxnSpPr/>
          <p:nvPr/>
        </p:nvCxnSpPr>
        <p:spPr>
          <a:xfrm>
            <a:off x="6095160" y="497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475160" y="497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6115160" y="510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525160" y="482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8. _customers.set</a:t>
            </a:r>
          </a:p>
        </p:txBody>
      </p:sp>
      <p:cxnSp>
        <p:nvCxnSpPr>
          <p:cNvPr id="34" name="Connector 33"/>
          <p:cNvCxnSpPr/>
          <p:nvPr/>
        </p:nvCxnSpPr>
        <p:spPr>
          <a:xfrm>
            <a:off x="6095160" y="533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475160" y="533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115160" y="546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25160" y="518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9. _loading: false</a:t>
            </a:r>
          </a:p>
        </p:txBody>
      </p:sp>
      <p:cxnSp>
        <p:nvCxnSpPr>
          <p:cNvPr id="38" name="Connector 37"/>
          <p:cNvCxnSpPr/>
          <p:nvPr/>
        </p:nvCxnSpPr>
        <p:spPr>
          <a:xfrm flipH="1">
            <a:off x="4012328" y="582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466620" y="550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10. Template liest filtered(), loading()</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Nebenwirkung im Store: effect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Filter soll im localStorage gespeichert werden</a:t>
            </a:r>
          </a:p>
          <a:p>
            <a:pPr>
              <a:defRPr sz="2000" b="0">
                <a:latin typeface="Segoe UI"/>
              </a:defRPr>
            </a:pPr>
            <a:r>
              <a:rPr lang="de-DE" sz="2000" b="0">
                <a:latin typeface="Segoe UI"/>
              </a:rPr>
              <a:t>effect() im Konstruktor des Stores</a:t>
            </a:r>
          </a:p>
          <a:p>
            <a:pPr lvl="1">
              <a:defRPr sz="1700" b="0">
                <a:latin typeface="Segoe UI"/>
              </a:defRPr>
            </a:pPr>
            <a:r>
              <a:rPr lang="de-DE" sz="1700" b="0">
                <a:latin typeface="Segoe UI"/>
              </a:rPr>
              <a:t>läuft einmal sofort, dann bei jeder Änderung</a:t>
            </a:r>
          </a:p>
          <a:p>
            <a:pPr>
              <a:defRPr sz="2000" b="0">
                <a:latin typeface="Segoe UI"/>
              </a:defRPr>
            </a:pPr>
            <a:r>
              <a:rPr lang="de-DE" sz="2000" b="0">
                <a:latin typeface="Segoe UI"/>
              </a:rPr>
              <a:t>Konstruktor = Injection Context</a:t>
            </a:r>
          </a:p>
          <a:p>
            <a:pPr lvl="1">
              <a:defRPr sz="1700" b="0">
                <a:latin typeface="Segoe UI"/>
              </a:defRPr>
            </a:pPr>
            <a:r>
              <a:rPr lang="de-DE" sz="1700" b="0">
                <a:latin typeface="Segoe UI"/>
              </a:rPr>
              <a:t>dort darf effect() erzeugt werden</a:t>
            </a:r>
          </a:p>
          <a:p>
            <a:pPr>
              <a:defRPr sz="2000" b="0">
                <a:latin typeface="Segoe UI"/>
              </a:defRPr>
            </a:pPr>
            <a:r>
              <a:rPr lang="de-DE" sz="2000" b="0">
                <a:latin typeface="Segoe UI"/>
              </a:rPr>
              <a:t>Warum im Store? Der Zustand gehört dorthin</a:t>
            </a:r>
          </a:p>
          <a:p>
            <a:pPr lvl="1">
              <a:defRPr sz="1700" b="0">
                <a:latin typeface="Segoe UI"/>
              </a:defRPr>
            </a:pPr>
            <a:r>
              <a:rPr lang="de-DE" sz="1700" b="0">
                <a:latin typeface="Segoe UI"/>
              </a:rPr>
              <a:t>jede Komponente bekommt das Speichern mit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customer.store.ts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private readonly _filter =</a:t>
            </a:r>
          </a:p>
          <a:p>
            <a:pPr algn="l"/>
            <a:r>
              <a:rPr sz="1300" b="0">
                <a:solidFill>
                  <a:srgbClr val="2B3A42"/>
                </a:solidFill>
                <a:latin typeface="Consolas"/>
              </a:rPr>
              <a:t>  signal(loadFilter());</a:t>
            </a:r>
          </a:p>
          <a:p>
            <a:pPr algn="l"/>
            <a:r>
              <a:rPr sz="1300" b="0">
                <a:solidFill>
                  <a:srgbClr val="2B3A42"/>
                </a:solidFill>
                <a:latin typeface="Consolas"/>
              </a:rPr>
              <a:t/>
            </a:r>
          </a:p>
          <a:p>
            <a:pPr algn="l"/>
            <a:r>
              <a:rPr sz="1300" b="0">
                <a:solidFill>
                  <a:srgbClr val="2B3A42"/>
                </a:solidFill>
                <a:latin typeface="Consolas"/>
              </a:rPr>
              <a:t>constructor() {</a:t>
            </a:r>
          </a:p>
          <a:p>
            <a:pPr algn="l"/>
            <a:r>
              <a:rPr sz="1300" b="0">
                <a:solidFill>
                  <a:srgbClr val="2B3A42"/>
                </a:solidFill>
                <a:latin typeface="Consolas"/>
              </a:rPr>
              <a:t>  effect(() =&gt;</a:t>
            </a:r>
          </a:p>
          <a:p>
            <a:pPr algn="l"/>
            <a:r>
              <a:rPr sz="1300" b="0">
                <a:solidFill>
                  <a:srgbClr val="2B3A42"/>
                </a:solidFill>
                <a:latin typeface="Consolas"/>
              </a:rPr>
              <a:t>    saveFilter(this._filter()));</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 saveFilter: localStorage</a:t>
            </a:r>
          </a:p>
          <a:p>
            <a:pPr algn="l"/>
            <a:r>
              <a:rPr sz="1300" b="0">
                <a:solidFill>
                  <a:srgbClr val="2B3A42"/>
                </a:solidFill>
                <a:latin typeface="Consolas"/>
              </a:rPr>
              <a:t>// .setItem in try/catch</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Laden mit resource im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@Injectable({ providedIn: 'root'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CustomerStore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api = inject(CustomerService);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_selectedId = signal&lt;string | undefined&gt;(undefined);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Liste: Observable direkt verwenden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listRes = rxResource({ stream: () =&gt; this.api.getAll()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customers = computed(()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this.listRes.hasValue() ? this.listRes.value()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loading = this.listRes.isLoading;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error = this.listRes.error;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Details: lädt neu, sobald sich selectedId ändert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detailsRes = 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params: () =&gt; this._selectedId(),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loader: ({ params: id }) =&gt; firstValueFrom(this.api.getById(id)),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reload() { this.listRes.reload();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resource: Parameter und Rückgabe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params: Funktion, liest Signals</a:t>
            </a:r>
          </a:p>
          <a:p>
            <a:pPr lvl="1">
              <a:defRPr sz="1700" b="0">
                <a:latin typeface="Segoe UI"/>
              </a:defRPr>
            </a:pPr>
            <a:r>
              <a:rPr lang="de-DE" sz="1700" b="0">
                <a:latin typeface="Segoe UI"/>
              </a:rPr>
              <a:t>Änderung startet den loader neu</a:t>
            </a:r>
          </a:p>
          <a:p>
            <a:pPr lvl="1">
              <a:defRPr sz="1700" b="0">
                <a:latin typeface="Segoe UI"/>
              </a:defRPr>
            </a:pPr>
            <a:r>
              <a:rPr lang="de-DE" sz="1700" b="0">
                <a:latin typeface="Segoe UI"/>
              </a:rPr>
              <a:t>undefined: kein Laden, Status idle</a:t>
            </a:r>
          </a:p>
          <a:p>
            <a:pPr>
              <a:defRPr sz="2000" b="0">
                <a:latin typeface="Segoe UI"/>
              </a:defRPr>
            </a:pPr>
            <a:r>
              <a:rPr lang="de-DE" sz="2000" b="0">
                <a:latin typeface="Segoe UI"/>
              </a:rPr>
              <a:t>loader: von Angular aufgerufen mit Objekt</a:t>
            </a:r>
          </a:p>
          <a:p>
            <a:pPr lvl="1">
              <a:defRPr sz="1700" b="0">
                <a:latin typeface="Segoe UI"/>
              </a:defRPr>
            </a:pPr>
            <a:r>
              <a:rPr lang="de-DE" sz="1700" b="0">
                <a:latin typeface="Segoe UI"/>
              </a:rPr>
              <a:t>params, abortSignal, previous</a:t>
            </a:r>
          </a:p>
          <a:p>
            <a:pPr lvl="1">
              <a:defRPr sz="1700" b="0">
                <a:latin typeface="Segoe UI"/>
              </a:defRPr>
            </a:pPr>
            <a:r>
              <a:rPr lang="de-DE" sz="1700" b="0">
                <a:latin typeface="Segoe UI"/>
              </a:rPr>
              <a:t>muss ein Promise liefern</a:t>
            </a:r>
          </a:p>
          <a:p>
            <a:pPr>
              <a:defRPr sz="2000" b="0">
                <a:latin typeface="Segoe UI"/>
              </a:defRPr>
            </a:pPr>
            <a:r>
              <a:rPr lang="de-DE" sz="2000" b="0">
                <a:latin typeface="Segoe UI"/>
              </a:rPr>
              <a:t>Ergebnis: value(), isLoading(), error(),</a:t>
            </a:r>
          </a:p>
          <a:p>
            <a:pPr lvl="1">
              <a:defRPr sz="1700" b="0">
                <a:latin typeface="Segoe UI"/>
              </a:defRPr>
            </a:pPr>
            <a:r>
              <a:rPr lang="de-DE" sz="1700" b="0">
                <a:latin typeface="Segoe UI"/>
              </a:rPr>
              <a:t>status(), hasValue(), reload()</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Signal ändert sich</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params() neu berechnet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loader({ params, ... })</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Promise erfüllt</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value() aktualisiert</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Alte Anfrage wird abgebrochen</a:t>
            </a: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als Union-Typ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type LoadState&lt;T&gt;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'idle'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'loading'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'error'; message: string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'loaded'; data: 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_state = signal&lt;LoadState&lt;Customer[]&gt;&gt;({ status: 'idle'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readonly state = this._state.asReadonly();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async load()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this._state.set({ status: 'loading'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data = await firstValueFrom(this.api.getAll());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this._state.set({ status: 'loaded', data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catch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this._state.set({ status: 'error', message: 'Laden fehlgeschlagen'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der Union-Typ funktioniert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status ist das Unterscheidungsmerkmal</a:t>
            </a:r>
          </a:p>
          <a:p>
            <a:pPr>
              <a:defRPr sz="2000" b="0">
                <a:latin typeface="Segoe UI"/>
              </a:defRPr>
            </a:pPr>
            <a:r>
              <a:rPr lang="de-DE" sz="2000" b="0">
                <a:latin typeface="Segoe UI"/>
              </a:rPr>
              <a:t>TypeScript grenzt nach einer Prüfung ein</a:t>
            </a:r>
          </a:p>
          <a:p>
            <a:pPr lvl="1">
              <a:defRPr sz="1700" b="0">
                <a:latin typeface="Segoe UI"/>
              </a:defRPr>
            </a:pPr>
            <a:r>
              <a:rPr lang="de-DE" sz="1700" b="0">
                <a:latin typeface="Segoe UI"/>
              </a:rPr>
              <a:t>nach status === 'loaded' gibt es data</a:t>
            </a:r>
          </a:p>
          <a:p>
            <a:pPr>
              <a:defRPr sz="2000" b="0">
                <a:latin typeface="Segoe UI"/>
              </a:defRPr>
            </a:pPr>
            <a:r>
              <a:rPr lang="de-DE" sz="2000" b="0">
                <a:latin typeface="Segoe UI"/>
              </a:rPr>
              <a:t>Unmögliche Kombinationen sind nicht darstellbar</a:t>
            </a:r>
          </a:p>
          <a:p>
            <a:pPr lvl="1">
              <a:defRPr sz="1700" b="0">
                <a:latin typeface="Segoe UI"/>
              </a:defRPr>
            </a:pPr>
            <a:r>
              <a:rPr lang="de-DE" sz="1700" b="0">
                <a:latin typeface="Segoe UI"/>
              </a:rPr>
              <a:t>nicht gleichzeitig loading und error</a:t>
            </a:r>
          </a:p>
          <a:p>
            <a:pPr>
              <a:defRPr sz="2000" b="0">
                <a:latin typeface="Segoe UI"/>
              </a:defRPr>
            </a:pPr>
            <a:r>
              <a:rPr lang="de-DE" sz="2000" b="0">
                <a:latin typeface="Segoe UI"/>
              </a:rPr>
              <a:t>Fehlender Fall: Prüfung mit never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Narrowing</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s = store.state();</a:t>
            </a:r>
          </a:p>
          <a:p>
            <a:pPr algn="l"/>
            <a:r>
              <a:rPr sz="1300" b="0">
                <a:solidFill>
                  <a:srgbClr val="2B3A42"/>
                </a:solidFill>
                <a:latin typeface="Consolas"/>
              </a:rPr>
              <a:t/>
            </a:r>
          </a:p>
          <a:p>
            <a:pPr algn="l"/>
            <a:r>
              <a:rPr sz="1300" b="0">
                <a:solidFill>
                  <a:srgbClr val="2B3A42"/>
                </a:solidFill>
                <a:latin typeface="Consolas"/>
              </a:rPr>
              <a:t>if (s.status === 'loaded') {</a:t>
            </a:r>
          </a:p>
          <a:p>
            <a:pPr algn="l"/>
            <a:r>
              <a:rPr sz="1300" b="0">
                <a:solidFill>
                  <a:srgbClr val="2B3A42"/>
                </a:solidFill>
                <a:latin typeface="Consolas"/>
              </a:rPr>
              <a:t>  s.data.length; // ok</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if (s.status === 'loading') {</a:t>
            </a:r>
          </a:p>
          <a:p>
            <a:pPr algn="l"/>
            <a:r>
              <a:rPr sz="1300" b="0">
                <a:solidFill>
                  <a:srgbClr val="2B3A42"/>
                </a:solidFill>
                <a:latin typeface="Consolas"/>
              </a:rPr>
              <a:t>  s.data; // Fehler:</a:t>
            </a:r>
          </a:p>
          <a:p>
            <a:pPr algn="l"/>
            <a:r>
              <a:rPr sz="1300" b="0">
                <a:solidFill>
                  <a:srgbClr val="2B3A42"/>
                </a:solidFill>
                <a:latin typeface="Consolas"/>
              </a:rPr>
              <a:t>  // data gibt es hier nicht</a:t>
            </a:r>
          </a:p>
          <a:p>
            <a:pPr algn="l"/>
            <a:r>
              <a:rPr sz="1300" b="0">
                <a:solidFill>
                  <a:srgbClr val="2B3A42"/>
                </a:solidFill>
                <a:latin typeface="Consolas"/>
              </a:rPr>
              <a:t>}</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Union-Typ im Template mit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@let s = store.state();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@switch (s.status)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(click)="store.load()"&gt;Kunden laden&lt;/button&gt;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&lt;p&gt;Lade Kunden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('error')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 s.message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(click)="store.load()"&gt;Erneut versuchen&lt;/button&gt;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@for (c of s.data; track c.id) { &lt;customer-card [customer]="c"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Server-Daten und UI-Zustand trennen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Server-Daten: geladen, gecacht, veralten</a:t>
            </a:r>
          </a:p>
          <a:p>
            <a:pPr lvl="1">
              <a:defRPr sz="1700" b="0">
                <a:latin typeface="Segoe UI"/>
              </a:defRPr>
            </a:pPr>
            <a:r>
              <a:rPr lang="de-DE" sz="1700" b="0">
                <a:latin typeface="Segoe UI"/>
              </a:rPr>
              <a:t>resource oder LoadState im Store</a:t>
            </a:r>
          </a:p>
          <a:p>
            <a:pPr>
              <a:defRPr sz="2000" b="0">
                <a:latin typeface="Segoe UI"/>
              </a:defRPr>
            </a:pPr>
            <a:r>
              <a:rPr lang="de-DE" sz="2000" b="0">
                <a:latin typeface="Segoe UI"/>
              </a:rPr>
              <a:t>UI-Zustand: Dialog offen, aktiver Reiter</a:t>
            </a:r>
          </a:p>
          <a:p>
            <a:pPr lvl="1">
              <a:defRPr sz="1700" b="0">
                <a:latin typeface="Segoe UI"/>
              </a:defRPr>
            </a:pPr>
            <a:r>
              <a:rPr lang="de-DE" sz="1700" b="0">
                <a:latin typeface="Segoe UI"/>
              </a:rPr>
              <a:t>signal() in der Komponente</a:t>
            </a:r>
          </a:p>
          <a:p>
            <a:pPr>
              <a:defRPr sz="2000" b="0">
                <a:latin typeface="Segoe UI"/>
              </a:defRPr>
            </a:pPr>
            <a:r>
              <a:rPr lang="de-DE" sz="2000" b="0">
                <a:latin typeface="Segoe UI"/>
              </a:rPr>
              <a:t>Gemeinsam genutzte Auswahl und Filter</a:t>
            </a:r>
          </a:p>
          <a:p>
            <a:pPr lvl="1">
              <a:defRPr sz="1700" b="0">
                <a:latin typeface="Segoe UI"/>
              </a:defRPr>
            </a:pPr>
            <a:r>
              <a:rPr lang="de-DE" sz="1700" b="0">
                <a:latin typeface="Segoe UI"/>
              </a:rPr>
              <a:t>in den Store des Features</a:t>
            </a:r>
          </a:p>
          <a:p>
            <a:pPr>
              <a:defRPr sz="2000" b="0">
                <a:latin typeface="Segoe UI"/>
              </a:defRPr>
            </a:pPr>
            <a:r>
              <a:rPr lang="de-DE" sz="2000" b="0">
                <a:latin typeface="Segoe UI"/>
              </a:rPr>
              <a:t>Faustregel: wer braucht den Wert noch?</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Store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Kundenliste (Server)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Filter, Auswahl</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Komponente</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Dialog offen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aktiver Reiter</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Normalisierung: das Problem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Gleicher Kunde in mehreren Listen gespeichert</a:t>
            </a:r>
          </a:p>
          <a:p>
            <a:pPr lvl="1">
              <a:defRPr sz="1700" b="0">
                <a:latin typeface="Segoe UI"/>
              </a:defRPr>
            </a:pPr>
            <a:r>
              <a:rPr lang="de-DE" sz="1700" b="0">
                <a:latin typeface="Segoe UI"/>
              </a:rPr>
              <a:t>alle Kunden, Favoriten, letzte Aufrufe</a:t>
            </a:r>
          </a:p>
          <a:p>
            <a:pPr>
              <a:defRPr sz="2000" b="0">
                <a:latin typeface="Segoe UI"/>
              </a:defRPr>
            </a:pPr>
            <a:r>
              <a:rPr lang="de-DE" sz="2000" b="0">
                <a:latin typeface="Segoe UI"/>
              </a:rPr>
              <a:t>Umbenennen muss jede Kopie ändern</a:t>
            </a:r>
          </a:p>
          <a:p>
            <a:pPr lvl="1">
              <a:defRPr sz="1700" b="0">
                <a:latin typeface="Segoe UI"/>
              </a:defRPr>
            </a:pPr>
            <a:r>
              <a:rPr lang="de-DE" sz="1700" b="0">
                <a:latin typeface="Segoe UI"/>
              </a:rPr>
              <a:t>eine vergessene Kopie zeigt alten Namen</a:t>
            </a:r>
          </a:p>
          <a:p>
            <a:pPr>
              <a:defRPr sz="2000" b="0">
                <a:latin typeface="Segoe UI"/>
              </a:defRPr>
            </a:pPr>
            <a:r>
              <a:rPr lang="de-DE" sz="2000" b="0">
                <a:latin typeface="Segoe UI"/>
              </a:rPr>
              <a:t>Lösung: jede Entität genau einmal speichern</a:t>
            </a:r>
          </a:p>
          <a:p>
            <a:pPr lvl="1">
              <a:defRPr sz="1700" b="0">
                <a:latin typeface="Segoe UI"/>
              </a:defRPr>
            </a:pPr>
            <a:r>
              <a:rPr lang="de-DE" sz="1700" b="0">
                <a:latin typeface="Segoe UI"/>
              </a:rPr>
              <a:t>Listen enthalten nur noch IDs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Kopien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all: [Anna, Ben]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favs: [Anna]</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Normalisiert</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entities: {a1: Anna}</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favIds: ['a1']</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Normalisierter Zustand im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interface CustomerState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entities: Record&lt;string, Customer&gt;;   // id -&gt; Kunde, jeder genau einmal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ids: string[];                        // Reihenfolge der Liste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favoriteIds: string[];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_state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signal&lt;CustomerState&gt;({ entities: {}, ids: [], favoriteIds: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readonly all = computed(()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 = this._state();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s.ids.map(id =&gt; s.entities[id]);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readonly favorites = computed(()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this._state().favoriteIds.map(id =&gt; this._state().entities[id]));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rename(id: string, firstname: string) {   // nur eine Stelle ändern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this._state.update(s =&gt; ({ ...s,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entities: { ...s.entities, [id]: { ...s.entities[id], firstname }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Regeln für wachsenden Zustand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Ableiten statt kopieren</a:t>
            </a:r>
          </a:p>
          <a:p>
            <a:pPr lvl="1">
              <a:defRPr sz="1700" b="0">
                <a:latin typeface="Segoe UI"/>
              </a:defRPr>
            </a:pPr>
            <a:r>
              <a:rPr lang="de-DE" sz="1700" b="0">
                <a:latin typeface="Segoe UI"/>
              </a:rPr>
              <a:t>selected = computed aus selectedId</a:t>
            </a:r>
          </a:p>
          <a:p>
            <a:pPr>
              <a:defRPr sz="2000" b="0">
                <a:latin typeface="Segoe UI"/>
              </a:defRPr>
            </a:pPr>
            <a:r>
              <a:rPr lang="de-DE" sz="2000" b="0">
                <a:latin typeface="Segoe UI"/>
              </a:rPr>
              <a:t>Unveränderlich aktualisieren</a:t>
            </a:r>
          </a:p>
          <a:p>
            <a:pPr lvl="1">
              <a:defRPr sz="1700" b="0">
                <a:latin typeface="Segoe UI"/>
              </a:defRPr>
            </a:pPr>
            <a:r>
              <a:rPr lang="de-DE" sz="1700" b="0">
                <a:latin typeface="Segoe UI"/>
              </a:rPr>
              <a:t>update(list =&gt; [...list, neu]) statt push</a:t>
            </a:r>
          </a:p>
          <a:p>
            <a:pPr>
              <a:defRPr sz="2000" b="0">
                <a:latin typeface="Segoe UI"/>
              </a:defRPr>
            </a:pPr>
            <a:r>
              <a:rPr lang="de-DE" sz="2000" b="0">
                <a:latin typeface="Segoe UI"/>
              </a:rPr>
              <a:t>Zustand klein halten</a:t>
            </a:r>
          </a:p>
          <a:p>
            <a:pPr lvl="1">
              <a:defRPr sz="1700" b="0">
                <a:latin typeface="Segoe UI"/>
              </a:defRPr>
            </a:pPr>
            <a:r>
              <a:rPr lang="de-DE" sz="1700" b="0">
                <a:latin typeface="Segoe UI"/>
              </a:rPr>
              <a:t>nur speichern, was nicht berechenbar ist</a:t>
            </a:r>
          </a:p>
          <a:p>
            <a:pPr>
              <a:defRPr sz="2000" b="0">
                <a:latin typeface="Segoe UI"/>
              </a:defRPr>
            </a:pPr>
            <a:r>
              <a:rPr lang="de-DE" sz="2000" b="0">
                <a:latin typeface="Segoe UI"/>
              </a:rPr>
              <a:t>Ein Store pro Feature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Neue Referenz</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 falsch: gleiche Liste</a:t>
            </a:r>
          </a:p>
          <a:p>
            <a:pPr algn="l"/>
            <a:r>
              <a:rPr sz="1500" b="0">
                <a:solidFill>
                  <a:srgbClr val="2B3A42"/>
                </a:solidFill>
                <a:latin typeface="Consolas"/>
              </a:rPr>
              <a:t>this._customers.update(l =&gt; {</a:t>
            </a:r>
          </a:p>
          <a:p>
            <a:pPr algn="l"/>
            <a:r>
              <a:rPr sz="1500" b="0">
                <a:solidFill>
                  <a:srgbClr val="2B3A42"/>
                </a:solidFill>
                <a:latin typeface="Consolas"/>
              </a:rPr>
              <a:t>  l.push(neu); return l;</a:t>
            </a:r>
          </a:p>
          <a:p>
            <a:pPr algn="l"/>
            <a:r>
              <a:rPr sz="1500" b="0">
                <a:solidFill>
                  <a:srgbClr val="2B3A42"/>
                </a:solidFill>
                <a:latin typeface="Consolas"/>
              </a:rPr>
              <a:t>});</a:t>
            </a:r>
          </a:p>
          <a:p>
            <a:pPr algn="l"/>
            <a:r>
              <a:rPr sz="1500" b="0">
                <a:solidFill>
                  <a:srgbClr val="2B3A42"/>
                </a:solidFill>
                <a:latin typeface="Consolas"/>
              </a:rPr>
              <a:t/>
            </a:r>
          </a:p>
          <a:p>
            <a:pPr algn="l"/>
            <a:r>
              <a:rPr sz="1500" b="0">
                <a:solidFill>
                  <a:srgbClr val="2B3A42"/>
                </a:solidFill>
                <a:latin typeface="Consolas"/>
              </a:rPr>
              <a:t>// richtig: neue Liste</a:t>
            </a:r>
          </a:p>
          <a:p>
            <a:pPr algn="l"/>
            <a:r>
              <a:rPr sz="1500" b="0">
                <a:solidFill>
                  <a:srgbClr val="2B3A42"/>
                </a:solidFill>
                <a:latin typeface="Consolas"/>
              </a:rPr>
              <a:t>this._customers.update(l =&gt;</a:t>
            </a:r>
          </a:p>
          <a:p>
            <a:pPr algn="l"/>
            <a:r>
              <a:rPr sz="1500" b="0">
                <a:solidFill>
                  <a:srgbClr val="2B3A42"/>
                </a:solidFill>
                <a:latin typeface="Consolas"/>
              </a:rPr>
              <a:t>  [...l, neu]);</a:t>
            </a: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NgRx Signal Store: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Paket @ngrx/signals: npm install @ngrx/signals</a:t>
            </a:r>
          </a:p>
          <a:p>
            <a:pPr>
              <a:defRPr sz="2000" b="0">
                <a:latin typeface="Segoe UI"/>
              </a:defRPr>
            </a:pPr>
            <a:r>
              <a:rPr lang="de-DE" sz="2000" b="0">
                <a:latin typeface="Segoe UI"/>
              </a:rPr>
              <a:t>Gleiches Muster wie der eigene Store</a:t>
            </a:r>
          </a:p>
          <a:p>
            <a:pPr lvl="1">
              <a:defRPr sz="1700" b="0">
                <a:latin typeface="Segoe UI"/>
              </a:defRPr>
            </a:pPr>
            <a:r>
              <a:rPr lang="de-DE" sz="1700" b="0">
                <a:latin typeface="Segoe UI"/>
              </a:rPr>
              <a:t>aber standardisiert und erweiterbar</a:t>
            </a:r>
          </a:p>
          <a:p>
            <a:pPr>
              <a:defRPr sz="2000" b="0">
                <a:latin typeface="Segoe UI"/>
              </a:defRPr>
            </a:pPr>
            <a:r>
              <a:rPr lang="de-DE" sz="2000" b="0">
                <a:latin typeface="Segoe UI"/>
              </a:rPr>
              <a:t>signalStore() setzt Bausteine zusammen</a:t>
            </a:r>
          </a:p>
          <a:p>
            <a:pPr lvl="1">
              <a:defRPr sz="1700" b="0">
                <a:latin typeface="Segoe UI"/>
              </a:defRPr>
            </a:pPr>
            <a:r>
              <a:rPr lang="de-DE" sz="1700" b="0">
                <a:latin typeface="Segoe UI"/>
              </a:rPr>
              <a:t>withState, withComputed, withMethods</a:t>
            </a:r>
          </a:p>
          <a:p>
            <a:pPr>
              <a:defRPr sz="2000" b="0">
                <a:latin typeface="Segoe UI"/>
              </a:defRPr>
            </a:pPr>
            <a:r>
              <a:rPr lang="de-DE" sz="2000" b="0">
                <a:latin typeface="Segoe UI"/>
              </a:rPr>
              <a:t>patchState() ändert den Zustand</a:t>
            </a:r>
          </a:p>
          <a:p>
            <a:pPr>
              <a:defRPr sz="2000" b="0">
                <a:latin typeface="Segoe UI"/>
              </a:defRPr>
            </a:pPr>
            <a:r>
              <a:rPr lang="de-DE" sz="2000" b="0">
                <a:latin typeface="Segoe UI"/>
              </a:rPr>
              <a:t>Ergebnis: eine injizierbare Klasse</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withState</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withComputed</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withMethods</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withHooks (optional)</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fertige Store-Klasse</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Reihenfolge zählt</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 Store: CustomerSignalStore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CustomerSignalStore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selectedId: undefined as string | undefined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selectedId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 computed(() =&gt; customers().find(c =&gt; c.id === 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service = inject(CustomerService))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select(selectedId: string | undefined) { patchState(store, { selectedId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firstValueFrom(service.getAll())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Bausteine erklärt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signalStore(config, ...features)</a:t>
            </a:r>
          </a:p>
          <a:p>
            <a:pPr lvl="1">
              <a:defRPr sz="1700" b="0">
                <a:latin typeface="Segoe UI"/>
              </a:defRPr>
            </a:pPr>
            <a:r>
              <a:rPr lang="de-DE" sz="1700" b="0">
                <a:latin typeface="Segoe UI"/>
              </a:rPr>
              <a:t>liefert eine Klasse, kein Objekt</a:t>
            </a:r>
          </a:p>
          <a:p>
            <a:pPr>
              <a:defRPr sz="2000" b="0">
                <a:latin typeface="Segoe UI"/>
              </a:defRPr>
            </a:pPr>
            <a:r>
              <a:rPr lang="de-DE" sz="2000" b="0">
                <a:latin typeface="Segoe UI"/>
              </a:rPr>
              <a:t>withState(anfangszustand)</a:t>
            </a:r>
          </a:p>
          <a:p>
            <a:pPr lvl="1">
              <a:defRPr sz="1700" b="0">
                <a:latin typeface="Segoe UI"/>
              </a:defRPr>
            </a:pPr>
            <a:r>
              <a:rPr lang="de-DE" sz="1700" b="0">
                <a:latin typeface="Segoe UI"/>
              </a:rPr>
              <a:t>jede Eigenschaft wird ein lesbares Signal</a:t>
            </a:r>
          </a:p>
          <a:p>
            <a:pPr lvl="1">
              <a:defRPr sz="1700" b="0">
                <a:latin typeface="Segoe UI"/>
              </a:defRPr>
            </a:pPr>
            <a:r>
              <a:rPr lang="de-DE" sz="1700" b="0">
                <a:latin typeface="Segoe UI"/>
              </a:rPr>
              <a:t>store.filter() liest den Filter</a:t>
            </a:r>
          </a:p>
          <a:p>
            <a:pPr>
              <a:defRPr sz="2000" b="0">
                <a:latin typeface="Segoe UI"/>
              </a:defRPr>
            </a:pPr>
            <a:r>
              <a:rPr lang="de-DE" sz="2000" b="0">
                <a:latin typeface="Segoe UI"/>
              </a:rPr>
              <a:t>withComputed(store =&gt; ({ ... }))</a:t>
            </a:r>
          </a:p>
          <a:p>
            <a:pPr lvl="1">
              <a:defRPr sz="1700" b="0">
                <a:latin typeface="Segoe UI"/>
              </a:defRPr>
            </a:pPr>
            <a:r>
              <a:rPr lang="de-DE" sz="1700" b="0">
                <a:latin typeface="Segoe UI"/>
              </a:rPr>
              <a:t>bekommt die bisherigen Signals</a:t>
            </a:r>
          </a:p>
          <a:p>
            <a:pPr lvl="1">
              <a:defRPr sz="1700" b="0">
                <a:latin typeface="Segoe UI"/>
              </a:defRPr>
            </a:pPr>
            <a:r>
              <a:rPr lang="de-DE" sz="1700" b="0">
                <a:latin typeface="Segoe UI"/>
              </a:rPr>
              <a:t>gibt ein Objekt mit computed-Werten zurück</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Was entsteht</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withState({ filter: '' })</a:t>
            </a:r>
          </a:p>
          <a:p>
            <a:pPr algn="l"/>
            <a:r>
              <a:rPr sz="1500" b="0">
                <a:solidFill>
                  <a:srgbClr val="2B3A42"/>
                </a:solidFill>
                <a:latin typeface="Consolas"/>
              </a:rPr>
              <a:t>// -&gt; store.filter: Signal</a:t>
            </a:r>
          </a:p>
          <a:p>
            <a:pPr algn="l"/>
            <a:r>
              <a:rPr sz="1500" b="0">
                <a:solidFill>
                  <a:srgbClr val="2B3A42"/>
                </a:solidFill>
                <a:latin typeface="Consolas"/>
              </a:rPr>
              <a:t/>
            </a:r>
          </a:p>
          <a:p>
            <a:pPr algn="l"/>
            <a:r>
              <a:rPr sz="1500" b="0">
                <a:solidFill>
                  <a:srgbClr val="2B3A42"/>
                </a:solidFill>
                <a:latin typeface="Consolas"/>
              </a:rPr>
              <a:t>withComputed(({ filter }) =&gt; ({</a:t>
            </a:r>
          </a:p>
          <a:p>
            <a:pPr algn="l"/>
            <a:r>
              <a:rPr sz="1500" b="0">
                <a:solidFill>
                  <a:srgbClr val="2B3A42"/>
                </a:solidFill>
                <a:latin typeface="Consolas"/>
              </a:rPr>
              <a:t>  upper: computed(() =&gt;</a:t>
            </a:r>
          </a:p>
          <a:p>
            <a:pPr algn="l"/>
            <a:r>
              <a:rPr sz="1500" b="0">
                <a:solidFill>
                  <a:srgbClr val="2B3A42"/>
                </a:solidFill>
                <a:latin typeface="Consolas"/>
              </a:rPr>
              <a:t>    filter().toUpperCase())</a:t>
            </a:r>
          </a:p>
          <a:p>
            <a:pPr algn="l"/>
            <a:r>
              <a:rPr sz="1500" b="0">
                <a:solidFill>
                  <a:srgbClr val="2B3A42"/>
                </a:solidFill>
                <a:latin typeface="Consolas"/>
              </a:rPr>
              <a:t>}))</a:t>
            </a:r>
          </a:p>
          <a:p>
            <a:pPr algn="l"/>
            <a:r>
              <a:rPr sz="1500" b="0">
                <a:solidFill>
                  <a:srgbClr val="2B3A42"/>
                </a:solidFill>
                <a:latin typeface="Consolas"/>
              </a:rPr>
              <a:t>// -&gt; store.upper: Signal</a:t>
            </a: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Bausteine erklärt (2/2)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withMethods((store, service = inject(X)) =&gt; …)</a:t>
            </a:r>
          </a:p>
          <a:p>
            <a:pPr lvl="1">
              <a:defRPr sz="1700" b="0">
                <a:latin typeface="Segoe UI"/>
              </a:defRPr>
            </a:pPr>
            <a:r>
              <a:rPr lang="de-DE" sz="1700" b="0">
                <a:latin typeface="Segoe UI"/>
              </a:rPr>
              <a:t>läuft im Injection Context: inject() erlaubt</a:t>
            </a:r>
          </a:p>
          <a:p>
            <a:pPr lvl="1">
              <a:defRPr sz="1700" b="0">
                <a:latin typeface="Segoe UI"/>
              </a:defRPr>
            </a:pPr>
            <a:r>
              <a:rPr lang="de-DE" sz="1700" b="0">
                <a:latin typeface="Segoe UI"/>
              </a:rPr>
              <a:t>gibt ein Objekt mit Methoden zurück</a:t>
            </a:r>
          </a:p>
          <a:p>
            <a:pPr>
              <a:defRPr sz="2000" b="0">
                <a:latin typeface="Segoe UI"/>
              </a:defRPr>
            </a:pPr>
            <a:r>
              <a:rPr lang="de-DE" sz="2000" b="0">
                <a:latin typeface="Segoe UI"/>
              </a:rPr>
              <a:t>patchState(store, teil)</a:t>
            </a:r>
          </a:p>
          <a:p>
            <a:pPr lvl="1">
              <a:defRPr sz="1700" b="0">
                <a:latin typeface="Segoe UI"/>
              </a:defRPr>
            </a:pPr>
            <a:r>
              <a:rPr lang="de-DE" sz="1700" b="0">
                <a:latin typeface="Segoe UI"/>
              </a:rPr>
              <a:t>ersetzt nur die genannten Eigenschaften</a:t>
            </a:r>
          </a:p>
          <a:p>
            <a:pPr lvl="1">
              <a:defRPr sz="1700" b="0">
                <a:latin typeface="Segoe UI"/>
              </a:defRPr>
            </a:pPr>
            <a:r>
              <a:rPr lang="de-DE" sz="1700" b="0">
                <a:latin typeface="Segoe UI"/>
              </a:rPr>
              <a:t>auch mit Funktion: s =&gt; ({ filter: '' })</a:t>
            </a:r>
          </a:p>
          <a:p>
            <a:pPr>
              <a:defRPr sz="2000" b="0">
                <a:latin typeface="Segoe UI"/>
              </a:defRPr>
            </a:pPr>
            <a:r>
              <a:rPr lang="de-DE" sz="2000" b="0">
                <a:latin typeface="Segoe UI"/>
              </a:rPr>
              <a:t>Zustand von außen nur lesbar (protectedState)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patchState</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patchState(store, { filter: 'a' });</a:t>
            </a:r>
          </a:p>
          <a:p>
            <a:pPr algn="l"/>
            <a:r>
              <a:rPr sz="1300" b="0">
                <a:solidFill>
                  <a:srgbClr val="2B3A42"/>
                </a:solidFill>
                <a:latin typeface="Consolas"/>
              </a:rPr>
              <a:t/>
            </a:r>
          </a:p>
          <a:p>
            <a:pPr algn="l"/>
            <a:r>
              <a:rPr sz="1300" b="0">
                <a:solidFill>
                  <a:srgbClr val="2B3A42"/>
                </a:solidFill>
                <a:latin typeface="Consolas"/>
              </a:rPr>
              <a:t>patchState(store, s =&gt; ({</a:t>
            </a:r>
          </a:p>
          <a:p>
            <a:pPr algn="l"/>
            <a:r>
              <a:rPr sz="1300" b="0">
                <a:solidFill>
                  <a:srgbClr val="2B3A42"/>
                </a:solidFill>
                <a:latin typeface="Consolas"/>
              </a:rPr>
              <a:t>  customers: [...s.customers,</a:t>
            </a:r>
          </a:p>
          <a:p>
            <a:pPr algn="l"/>
            <a:r>
              <a:rPr sz="1300" b="0">
                <a:solidFill>
                  <a:srgbClr val="2B3A42"/>
                </a:solidFill>
                <a:latin typeface="Consolas"/>
              </a:rPr>
              <a:t>    neu]</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 in Komponente: Fehler</a:t>
            </a:r>
          </a:p>
          <a:p>
            <a:pPr algn="l"/>
            <a:r>
              <a:rPr sz="1300" b="0">
                <a:solidFill>
                  <a:srgbClr val="2B3A42"/>
                </a:solidFill>
                <a:latin typeface="Consolas"/>
              </a:rPr>
              <a:t>// patchState(store, ...)</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 Store verwenden und erweitern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 store = inject(CustomerSignalStore)</a:t>
            </a:r>
          </a:p>
          <a:p>
            <a:pPr lvl="1">
              <a:defRPr sz="1700" b="0">
                <a:latin typeface="Segoe UI"/>
              </a:defRPr>
            </a:pPr>
            <a:r>
              <a:rPr lang="de-DE" sz="1700" b="0">
                <a:latin typeface="Segoe UI"/>
              </a:rPr>
              <a:t>store.filtered(), store.setFilter('a')</a:t>
            </a:r>
          </a:p>
          <a:p>
            <a:pPr>
              <a:defRPr sz="2000" b="0">
                <a:latin typeface="Segoe UI"/>
              </a:defRPr>
            </a:pPr>
            <a:r>
              <a:rPr lang="de-DE" sz="2000" b="0">
                <a:latin typeface="Segoe UI"/>
              </a:rPr>
              <a:t>Ohne providedIn: in providers einer Komponente</a:t>
            </a:r>
          </a:p>
          <a:p>
            <a:pPr lvl="1">
              <a:defRPr sz="1700" b="0">
                <a:latin typeface="Segoe UI"/>
              </a:defRPr>
            </a:pPr>
            <a:r>
              <a:rPr lang="de-DE" sz="1700" b="0">
                <a:latin typeface="Segoe UI"/>
              </a:rPr>
              <a:t>eigene Instanz pro Komponente</a:t>
            </a:r>
          </a:p>
          <a:p>
            <a:pPr>
              <a:defRPr sz="2000" b="0">
                <a:latin typeface="Segoe UI"/>
              </a:defRPr>
            </a:pPr>
            <a:r>
              <a:rPr lang="de-DE" sz="2000" b="0">
                <a:latin typeface="Segoe UI"/>
              </a:rPr>
              <a:t>withHooks: onInit, z. B. load() beim Start</a:t>
            </a:r>
          </a:p>
          <a:p>
            <a:pPr>
              <a:defRPr sz="2000" b="0">
                <a:latin typeface="Segoe UI"/>
              </a:defRPr>
            </a:pPr>
            <a:r>
              <a:rPr lang="de-DE" sz="2000" b="0">
                <a:latin typeface="Segoe UI"/>
              </a:rPr>
              <a:t>withEntities: Normalisierung fertig</a:t>
            </a:r>
          </a:p>
          <a:p>
            <a:pPr>
              <a:defRPr sz="2000" b="0">
                <a:latin typeface="Segoe UI"/>
              </a:defRPr>
            </a:pPr>
            <a:r>
              <a:rPr lang="de-DE" sz="2000" b="0">
                <a:latin typeface="Segoe UI"/>
              </a:rPr>
              <a:t>rxMethod: Methoden mit RxJS-Operatoren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withHooks</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withHooks({</a:t>
            </a:r>
          </a:p>
          <a:p>
            <a:pPr algn="l"/>
            <a:r>
              <a:rPr sz="1500" b="0">
                <a:solidFill>
                  <a:srgbClr val="2B3A42"/>
                </a:solidFill>
                <a:latin typeface="Consolas"/>
              </a:rPr>
              <a:t>  onInit(store) {</a:t>
            </a:r>
          </a:p>
          <a:p>
            <a:pPr algn="l"/>
            <a:r>
              <a:rPr sz="1500" b="0">
                <a:solidFill>
                  <a:srgbClr val="2B3A42"/>
                </a:solidFill>
                <a:latin typeface="Consolas"/>
              </a:rPr>
              <a:t>    store.load();</a:t>
            </a:r>
          </a:p>
          <a:p>
            <a:pPr algn="l"/>
            <a:r>
              <a:rPr sz="1500" b="0">
                <a:solidFill>
                  <a:srgbClr val="2B3A42"/>
                </a:solidFill>
                <a:latin typeface="Consolas"/>
              </a:rPr>
              <a:t>  },</a:t>
            </a:r>
          </a:p>
          <a:p>
            <a:pPr algn="l"/>
            <a:r>
              <a:rPr sz="1500" b="0">
                <a:solidFill>
                  <a:srgbClr val="2B3A42"/>
                </a:solidFill>
                <a:latin typeface="Consolas"/>
              </a:rPr>
              <a:t>})</a:t>
            </a:r>
          </a:p>
          <a:p>
            <a:pPr algn="l"/>
            <a:r>
              <a:rPr sz="1500" b="0">
                <a:solidFill>
                  <a:srgbClr val="2B3A42"/>
                </a:solidFill>
                <a:latin typeface="Consolas"/>
              </a:rPr>
              <a:t/>
            </a:r>
          </a:p>
          <a:p>
            <a:pPr algn="l"/>
            <a:r>
              <a:rPr sz="1500" b="0">
                <a:solidFill>
                  <a:srgbClr val="2B3A42"/>
                </a:solidFill>
                <a:latin typeface="Consolas"/>
              </a:rPr>
              <a:t>// Komponente</a:t>
            </a:r>
          </a:p>
          <a:p>
            <a:pPr algn="l"/>
            <a:r>
              <a:rPr sz="1500" b="0">
                <a:solidFill>
                  <a:srgbClr val="2B3A42"/>
                </a:solidFill>
                <a:latin typeface="Consolas"/>
              </a:rPr>
              <a:t>store = inject(</a:t>
            </a:r>
          </a:p>
          <a:p>
            <a:pPr algn="l"/>
            <a:r>
              <a:rPr sz="1500" b="0">
                <a:solidFill>
                  <a:srgbClr val="2B3A42"/>
                </a:solidFill>
                <a:latin typeface="Consolas"/>
              </a:rPr>
              <a:t>  CustomerSignalStore);</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setFilter im NgRx Signal Store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Gleicher Ablauf wie beim eigenen Store: Methode, patchState, Signal, computed, Template.</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withMethods</a:t>
            </a:r>
          </a:p>
          <a:p>
            <a:pPr algn="ctr"/>
            <a:r>
              <a:rPr sz="1400" b="1">
                <a:solidFill>
                  <a:srgbClr val="FFFFFF"/>
                </a:solidFill>
                <a:latin typeface="Segoe UI"/>
              </a:rPr>
              <a:t>setFilter()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withState</a:t>
            </a:r>
          </a:p>
          <a:p>
            <a:pPr algn="ctr"/>
            <a:r>
              <a:rPr sz="1400" b="1">
                <a:solidFill>
                  <a:srgbClr val="FFFFFF"/>
                </a:solidFill>
                <a:latin typeface="Segoe UI"/>
              </a:rPr>
              <a:t>filter-Signal</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withComputed</a:t>
            </a:r>
          </a:p>
          <a:p>
            <a:pPr algn="ctr"/>
            <a:r>
              <a:rPr sz="1400" b="1">
                <a:solidFill>
                  <a:srgbClr val="FFFFFF"/>
                </a:solidFill>
                <a:latin typeface="Segoe UI"/>
              </a:rPr>
              <a:t>filtered</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Template</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5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30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store.setFilter('li')</a:t>
            </a:r>
          </a:p>
        </p:txBody>
      </p:sp>
      <p:cxnSp>
        <p:nvCxnSpPr>
          <p:cNvPr id="16" name="Connector 15"/>
          <p:cNvCxnSpPr/>
          <p:nvPr/>
        </p:nvCxnSpPr>
        <p:spPr>
          <a:xfrm>
            <a:off x="3992328" y="31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7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patchState(store, { filter })</a:t>
            </a:r>
          </a:p>
        </p:txBody>
      </p:sp>
      <p:cxnSp>
        <p:nvCxnSpPr>
          <p:cNvPr id="18" name="Connector 17"/>
          <p:cNvCxnSpPr/>
          <p:nvPr/>
        </p:nvCxnSpPr>
        <p:spPr>
          <a:xfrm>
            <a:off x="6095160" y="33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75160" y="33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115160" y="35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25160" y="3218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3. neuer Wert</a:t>
            </a:r>
          </a:p>
        </p:txBody>
      </p:sp>
      <p:cxnSp>
        <p:nvCxnSpPr>
          <p:cNvPr id="22" name="Connector 21"/>
          <p:cNvCxnSpPr/>
          <p:nvPr/>
        </p:nvCxnSpPr>
        <p:spPr>
          <a:xfrm>
            <a:off x="6095160" y="40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6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filtered ist veraltet</a:t>
            </a:r>
          </a:p>
        </p:txBody>
      </p:sp>
      <p:cxnSp>
        <p:nvCxnSpPr>
          <p:cNvPr id="24" name="Connector 23"/>
          <p:cNvCxnSpPr/>
          <p:nvPr/>
        </p:nvCxnSpPr>
        <p:spPr>
          <a:xfrm>
            <a:off x="6095160" y="4454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5160" y="4104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5. Leser markiert</a:t>
            </a:r>
          </a:p>
        </p:txBody>
      </p:sp>
      <p:cxnSp>
        <p:nvCxnSpPr>
          <p:cNvPr id="26" name="Connector 25"/>
          <p:cNvCxnSpPr/>
          <p:nvPr/>
        </p:nvCxnSpPr>
        <p:spPr>
          <a:xfrm flipH="1">
            <a:off x="8217992" y="49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672284" y="45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6. store.filtered()</a:t>
            </a:r>
          </a:p>
        </p:txBody>
      </p:sp>
      <p:cxnSp>
        <p:nvCxnSpPr>
          <p:cNvPr id="28" name="Connector 27"/>
          <p:cNvCxnSpPr/>
          <p:nvPr/>
        </p:nvCxnSpPr>
        <p:spPr>
          <a:xfrm flipH="1">
            <a:off x="6115160" y="535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69452" y="500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7. customers(), filter() lesen</a:t>
            </a:r>
          </a:p>
        </p:txBody>
      </p:sp>
      <p:cxnSp>
        <p:nvCxnSpPr>
          <p:cNvPr id="30" name="Connector 29"/>
          <p:cNvCxnSpPr/>
          <p:nvPr/>
        </p:nvCxnSpPr>
        <p:spPr>
          <a:xfrm>
            <a:off x="8197992" y="5804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672284" y="5454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8. gefilterte Liste</a:t>
            </a: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Klassisches NgRx: Redux-Muster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Action: beschreibt, was passiert ist</a:t>
            </a:r>
          </a:p>
          <a:p>
            <a:pPr>
              <a:defRPr sz="2000" b="0">
                <a:latin typeface="Segoe UI"/>
              </a:defRPr>
            </a:pPr>
            <a:r>
              <a:rPr lang="de-DE" sz="2000" b="0">
                <a:latin typeface="Segoe UI"/>
              </a:rPr>
              <a:t>Reducer: reine Funktion (state, action) =&gt; neu</a:t>
            </a:r>
          </a:p>
          <a:p>
            <a:pPr>
              <a:defRPr sz="2000" b="0">
                <a:latin typeface="Segoe UI"/>
              </a:defRPr>
            </a:pPr>
            <a:r>
              <a:rPr lang="de-DE" sz="2000" b="0">
                <a:latin typeface="Segoe UI"/>
              </a:rPr>
              <a:t>Store: hält einen unveränderlichen Zustandsbaum</a:t>
            </a:r>
          </a:p>
          <a:p>
            <a:pPr>
              <a:defRPr sz="2000" b="0">
                <a:latin typeface="Segoe UI"/>
              </a:defRPr>
            </a:pPr>
            <a:r>
              <a:rPr lang="de-DE" sz="2000" b="0">
                <a:latin typeface="Segoe UI"/>
              </a:rPr>
              <a:t>Selector: liest und leitet ab</a:t>
            </a:r>
          </a:p>
          <a:p>
            <a:pPr>
              <a:defRPr sz="2000" b="0">
                <a:latin typeface="Segoe UI"/>
              </a:defRPr>
            </a:pPr>
            <a:r>
              <a:rPr lang="de-DE" sz="2000" b="0">
                <a:latin typeface="Segoe UI"/>
              </a:rPr>
              <a:t>Effect: asynchrone Arbeit, liefert neue Action</a:t>
            </a:r>
          </a:p>
          <a:p>
            <a:pPr>
              <a:defRPr sz="2000" b="0">
                <a:latin typeface="Segoe UI"/>
              </a:defRPr>
            </a:pPr>
            <a:r>
              <a:rPr lang="de-DE" sz="2000" b="0">
                <a:latin typeface="Segoe UI"/>
              </a:rPr>
              <a:t>Komponente sendet nur Actions (dispatch)</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Komponente: dispatch(Action)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Reducer: neuer State</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Store (State-Baum)</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Selector</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Komponente zeigt an</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Effects: Action -&gt; Server -&gt; Action</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Klassisches NgRx im Code (Auszug)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Actions: was ist passiert?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loadCustomers = createAction('[Customer List] Load');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loadSuccess = createAction('[Customer API] Load Success',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props&lt;{ customers: Customer[]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Reducer: (state, action) =&gt; neuer State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reducer = createReducer(initialState,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on(loadCustomers, state =&gt; ({ ...state, loading: true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on(loadSuccess, (state, { customers }) =&gt; ({ ...state, customers, loading: 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lesen und ableiten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selectCustomers = createSelector(selectCustomerState, s =&gt; s.customers);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store = inject(Store);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this.store.selectSignal(selectCustomers);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ngOnInit() { this.store.dispatch(loadCustomers()); }</a:t>
            </a:r>
            <a:endParaRPr lang="de-DE" sz="1400" b="0" u="none" strike="noStrike">
              <a:solidFill>
                <a:srgbClr val="000000"/>
              </a:solidFill>
              <a:uFillTx/>
              <a:latin typeface="Arial"/>
            </a:endParaRP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klassisches NgRx mit Effect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Komponente sendet nur Actions und liest per Selector; den Server-Aufruf macht der Effect.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Store</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Reducer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Effect</a:t>
            </a:r>
          </a:p>
          <a:p>
            <a:pPr algn="ctr"/>
            <a:r>
              <a:rPr sz="1400" b="1">
                <a:solidFill>
                  <a:srgbClr val="FFFFFF"/>
                </a:solidFill>
                <a:latin typeface="Segoe UI"/>
              </a:rPr>
              <a:t>loadCustomers$</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dispatch(loadCustomers())</a:t>
            </a:r>
          </a:p>
        </p:txBody>
      </p:sp>
      <p:cxnSp>
        <p:nvCxnSpPr>
          <p:cNvPr id="16" name="Connector 15"/>
          <p:cNvCxnSpPr/>
          <p:nvPr/>
        </p:nvCxnSpPr>
        <p:spPr>
          <a:xfrm>
            <a:off x="3992328"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reducer(state, action)</a:t>
            </a:r>
          </a:p>
        </p:txBody>
      </p:sp>
      <p:cxnSp>
        <p:nvCxnSpPr>
          <p:cNvPr id="18" name="Connector 17"/>
          <p:cNvCxnSpPr/>
          <p:nvPr/>
        </p:nvCxnSpPr>
        <p:spPr>
          <a:xfrm flipH="1">
            <a:off x="4012328" y="330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66620" y="298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3. neuer State: loading true</a:t>
            </a:r>
          </a:p>
        </p:txBody>
      </p:sp>
      <p:cxnSp>
        <p:nvCxnSpPr>
          <p:cNvPr id="20" name="Connector 19"/>
          <p:cNvCxnSpPr/>
          <p:nvPr/>
        </p:nvCxnSpPr>
        <p:spPr>
          <a:xfrm>
            <a:off x="3992328" y="366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22328" y="334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4. Action an Effects (ofType)</a:t>
            </a:r>
          </a:p>
        </p:txBody>
      </p:sp>
      <p:cxnSp>
        <p:nvCxnSpPr>
          <p:cNvPr id="22" name="Connector 21"/>
          <p:cNvCxnSpPr/>
          <p:nvPr/>
        </p:nvCxnSpPr>
        <p:spPr>
          <a:xfrm>
            <a:off x="8197992" y="40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672284" y="37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5. getAll()</a:t>
            </a:r>
          </a:p>
        </p:txBody>
      </p:sp>
      <p:cxnSp>
        <p:nvCxnSpPr>
          <p:cNvPr id="24" name="Connector 23"/>
          <p:cNvCxnSpPr/>
          <p:nvPr/>
        </p:nvCxnSpPr>
        <p:spPr>
          <a:xfrm flipH="1">
            <a:off x="8217992" y="438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672284" y="406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6. Customer[]</a:t>
            </a:r>
          </a:p>
        </p:txBody>
      </p:sp>
      <p:cxnSp>
        <p:nvCxnSpPr>
          <p:cNvPr id="26" name="Connector 25"/>
          <p:cNvCxnSpPr/>
          <p:nvPr/>
        </p:nvCxnSpPr>
        <p:spPr>
          <a:xfrm flipH="1">
            <a:off x="4012328" y="474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22328" y="442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7. dispatch(loadSuccess({ customers }))</a:t>
            </a:r>
          </a:p>
        </p:txBody>
      </p:sp>
      <p:cxnSp>
        <p:nvCxnSpPr>
          <p:cNvPr id="28" name="Connector 27"/>
          <p:cNvCxnSpPr/>
          <p:nvPr/>
        </p:nvCxnSpPr>
        <p:spPr>
          <a:xfrm>
            <a:off x="3992328" y="51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466620" y="47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8. reducer(state, loadSuccess)</a:t>
            </a:r>
          </a:p>
        </p:txBody>
      </p:sp>
      <p:cxnSp>
        <p:nvCxnSpPr>
          <p:cNvPr id="30" name="Connector 29"/>
          <p:cNvCxnSpPr/>
          <p:nvPr/>
        </p:nvCxnSpPr>
        <p:spPr>
          <a:xfrm flipH="1">
            <a:off x="4012328" y="546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466620" y="514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9. neuer State mit customers</a:t>
            </a:r>
          </a:p>
        </p:txBody>
      </p:sp>
      <p:cxnSp>
        <p:nvCxnSpPr>
          <p:cNvPr id="32" name="Connector 31"/>
          <p:cNvCxnSpPr/>
          <p:nvPr/>
        </p:nvCxnSpPr>
        <p:spPr>
          <a:xfrm flipH="1">
            <a:off x="1909496" y="582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63788" y="550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10. selectSignal(selectCustomers)</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Klassisches NgRx vs. Signal Store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State: withState</a:t>
            </a:r>
          </a:p>
          <a:p>
            <a:pPr>
              <a:defRPr sz="2000" b="0">
                <a:latin typeface="Segoe UI"/>
              </a:defRPr>
            </a:pPr>
            <a:r>
              <a:rPr lang="de-DE" sz="2000" b="0">
                <a:latin typeface="Segoe UI"/>
              </a:rPr>
              <a:t>Selector: withComputed</a:t>
            </a:r>
          </a:p>
          <a:p>
            <a:pPr>
              <a:defRPr sz="2000" b="0">
                <a:latin typeface="Segoe UI"/>
              </a:defRPr>
            </a:pPr>
            <a:r>
              <a:rPr lang="de-DE" sz="2000" b="0">
                <a:latin typeface="Segoe UI"/>
              </a:rPr>
              <a:t>Action: Methodenaufruf</a:t>
            </a:r>
          </a:p>
          <a:p>
            <a:pPr>
              <a:defRPr sz="2000" b="0">
                <a:latin typeface="Segoe UI"/>
              </a:defRPr>
            </a:pPr>
            <a:r>
              <a:rPr lang="de-DE" sz="2000" b="0">
                <a:latin typeface="Segoe UI"/>
              </a:rPr>
              <a:t>Reducer: patchState in der Methode</a:t>
            </a:r>
          </a:p>
          <a:p>
            <a:pPr>
              <a:defRPr sz="2000" b="0">
                <a:latin typeface="Segoe UI"/>
              </a:defRPr>
            </a:pPr>
            <a:r>
              <a:rPr lang="de-DE" sz="2000" b="0">
                <a:latin typeface="Segoe UI"/>
              </a:rPr>
              <a:t>Effect: async-Methode oder rxMethod</a:t>
            </a:r>
          </a:p>
          <a:p>
            <a:pPr>
              <a:defRPr sz="2000" b="0">
                <a:latin typeface="Segoe UI"/>
              </a:defRPr>
            </a:pPr>
            <a:r>
              <a:rPr lang="de-DE" sz="2000" b="0">
                <a:latin typeface="Segoe UI"/>
              </a:rPr>
              <a:t>Klassisch: mehr Code, dafür Action-Protokoll</a:t>
            </a:r>
          </a:p>
          <a:p>
            <a:pPr lvl="1">
              <a:defRPr sz="1700" b="0">
                <a:latin typeface="Segoe UI"/>
              </a:defRPr>
            </a:pPr>
            <a:r>
              <a:rPr lang="de-DE" sz="1700" b="0">
                <a:latin typeface="Segoe UI"/>
              </a:rPr>
              <a:t>Redux DevTools, Time-Travel, strikte Trennung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Klassisch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Action + Reducer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Selector</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Effect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Signal Store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Methode + patchState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withComputed</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async / rxMethod</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Konsumenten: 1–3 Komponenten oder viele, über Features verteilt</a:t>
            </a:r>
          </a:p>
          <a:p>
            <a:pPr>
              <a:defRPr sz="2000" b="0">
                <a:latin typeface="Segoe UI"/>
              </a:defRPr>
            </a:pPr>
            <a:r>
              <a:rPr lang="de-DE" sz="2000" b="0">
                <a:latin typeface="Segoe UI"/>
              </a:rPr>
              <a:t>Zustandsarten: 1–2 oder mehrere zusammenhängende (Daten, Filter, Status)</a:t>
            </a:r>
          </a:p>
          <a:p>
            <a:pPr>
              <a:defRPr sz="2000" b="0">
                <a:latin typeface="Segoe UI"/>
              </a:defRPr>
            </a:pPr>
            <a:r>
              <a:rPr lang="de-DE" sz="2000" b="0">
                <a:latin typeface="Segoe UI"/>
              </a:rPr>
              <a:t>Seiteneffekte: wenige oder viele, die voneinander abhängen</a:t>
            </a:r>
          </a:p>
          <a:p>
            <a:pPr>
              <a:defRPr sz="2000" b="0">
                <a:latin typeface="Segoe UI"/>
              </a:defRPr>
            </a:pPr>
            <a:r>
              <a:rPr lang="de-DE" sz="2000" b="0">
                <a:latin typeface="Segoe UI"/>
              </a:rPr>
              <a:t>Nachvollziehbarkeit: unwichtig oder Änderungen müssen protokolliert werden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Service reicht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1-3 Komponenten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1-2 Zustandsarten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wenige Effekte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Store lohnt sich</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viele Konsumenten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Daten, Filter, Status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Protokoll nötig</a:t>
            </a: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Teamgröße: 1–3 Personen oder mehrere Teams mit einheitlichen Mustern</a:t>
            </a:r>
          </a:p>
          <a:p>
            <a:pPr>
              <a:defRPr sz="2000" b="0">
                <a:latin typeface="Segoe UI"/>
              </a:defRPr>
            </a:pPr>
            <a:r>
              <a:rPr lang="de-DE" sz="2000" b="0">
                <a:latin typeface="Segoe UI"/>
              </a:rPr>
              <a:t>Wiederverwendung: Einzelfall oder gleiche Muster in vielen Features</a:t>
            </a:r>
          </a:p>
          <a:p>
            <a:pPr>
              <a:defRPr sz="2000" b="0">
                <a:latin typeface="Segoe UI"/>
              </a:defRPr>
            </a:pPr>
            <a:r>
              <a:rPr lang="de-DE" sz="2000" b="0">
                <a:latin typeface="Segoe UI"/>
              </a:rPr>
              <a:t>Testaufwand: gering oder gezielte Tests der Zustandslogik</a:t>
            </a:r>
          </a:p>
          <a:p>
            <a:pPr>
              <a:defRPr sz="2000" b="0">
                <a:latin typeface="Segoe UI"/>
              </a:defRPr>
            </a:pPr>
            <a:r>
              <a:rPr lang="de-DE" sz="2000" b="0">
                <a:latin typeface="Segoe UI"/>
              </a:rPr>
              <a:t>Ergebnis: einfach starten mit Service und Signals</a:t>
            </a:r>
          </a:p>
          <a:p>
            <a:pPr lvl="1">
              <a:defRPr sz="1700" b="0">
                <a:latin typeface="Segoe UI"/>
              </a:defRPr>
            </a:pPr>
            <a:r>
              <a:rPr lang="de-DE" sz="1700" b="0">
                <a:latin typeface="Segoe UI"/>
              </a:rPr>
              <a:t>strukturieren erst, wenn ein Kriterium zum Problem wird</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Welches Werkzeug wann?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in der Komponente: lokaler UI-Zustand</a:t>
            </a:r>
          </a:p>
          <a:p>
            <a:pPr>
              <a:defRPr sz="2000" b="0">
                <a:latin typeface="Segoe UI"/>
              </a:defRPr>
            </a:pPr>
            <a:r>
              <a:rPr lang="de-DE" sz="2000" b="0">
                <a:latin typeface="Segoe UI"/>
              </a:rPr>
              <a:t>Service mit Signals: geteilte Daten, kleines Team</a:t>
            </a:r>
          </a:p>
          <a:p>
            <a:pPr>
              <a:defRPr sz="2000" b="0">
                <a:latin typeface="Segoe UI"/>
              </a:defRPr>
            </a:pPr>
            <a:r>
              <a:rPr lang="de-DE" sz="2000" b="0">
                <a:latin typeface="Segoe UI"/>
              </a:rPr>
              <a:t>NgRx Signal Store: viele Stores, gleiche Struktur</a:t>
            </a:r>
          </a:p>
          <a:p>
            <a:pPr lvl="1">
              <a:defRPr sz="1700" b="0">
                <a:latin typeface="Segoe UI"/>
              </a:defRPr>
            </a:pPr>
            <a:r>
              <a:rPr lang="de-DE" sz="1700" b="0">
                <a:latin typeface="Segoe UI"/>
              </a:rPr>
              <a:t>Erweiterungen wie withEntities, rxMethod</a:t>
            </a:r>
          </a:p>
          <a:p>
            <a:pPr>
              <a:defRPr sz="2000" b="0">
                <a:latin typeface="Segoe UI"/>
              </a:defRPr>
            </a:pPr>
            <a:r>
              <a:rPr lang="de-DE" sz="2000" b="0">
                <a:latin typeface="Segoe UI"/>
              </a:rPr>
              <a:t>Klassisches NgRx: große Anwendung, viele Teams</a:t>
            </a:r>
          </a:p>
          <a:p>
            <a:pPr lvl="1">
              <a:defRPr sz="1700" b="0">
                <a:latin typeface="Segoe UI"/>
              </a:defRPr>
            </a:pPr>
            <a:r>
              <a:rPr lang="de-DE" sz="1700" b="0">
                <a:latin typeface="Segoe UI"/>
              </a:rPr>
              <a:t>Protokoll aller Actions, DevTools</a:t>
            </a:r>
          </a:p>
          <a:p>
            <a:pPr>
              <a:defRPr sz="2000" b="0">
                <a:latin typeface="Segoe UI"/>
              </a:defRPr>
            </a:pPr>
            <a:r>
              <a:rPr lang="de-DE" sz="2000" b="0">
                <a:latin typeface="Segoe UI"/>
              </a:rPr>
              <a:t>Mischen ist erlaubt: pro Feature entscheiden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Klassisches NgRx</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NgRx Signal Store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mit Signals</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in Komponente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Aufwand und Struktur steigen nach oben</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Alles in den Store: UI-Details gehören in die Komponente</a:t>
            </a:r>
          </a:p>
          <a:p>
            <a:pPr>
              <a:defRPr sz="2000" b="0">
                <a:latin typeface="Segoe UI"/>
              </a:defRPr>
            </a:pPr>
            <a:r>
              <a:rPr lang="de-DE" sz="2000" b="0">
                <a:latin typeface="Segoe UI"/>
              </a:rPr>
              <a:t>God Store: ein Store für alles statt einer pro Feature</a:t>
            </a:r>
          </a:p>
          <a:p>
            <a:pPr>
              <a:defRPr sz="2000" b="0">
                <a:latin typeface="Segoe UI"/>
              </a:defRPr>
            </a:pPr>
            <a:r>
              <a:rPr lang="de-DE" sz="2000" b="0">
                <a:latin typeface="Segoe UI"/>
              </a:rPr>
              <a:t>Doppelte Wahrheit: Daten im Store und als Kopie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veralten und können fehlen: resource nutzen</a:t>
            </a:r>
          </a:p>
          <a:p>
            <a:pPr>
              <a:defRPr sz="2000" b="0">
                <a:latin typeface="Segoe UI"/>
              </a:defRPr>
            </a:pPr>
            <a:r>
              <a:rPr lang="de-DE" sz="2000" b="0">
                <a:latin typeface="Segoe UI"/>
              </a:rPr>
              <a:t>Werkzeug vor Problem: erst die Schwierigkeit benennen, dann wählen</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im Code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asReadonly() vergessen</a:t>
            </a:r>
          </a:p>
          <a:p>
            <a:pPr lvl="1">
              <a:defRPr sz="1700" b="0">
                <a:latin typeface="Segoe UI"/>
              </a:defRPr>
            </a:pPr>
            <a:r>
              <a:rPr lang="de-DE" sz="1700" b="0">
                <a:latin typeface="Segoe UI"/>
              </a:rPr>
              <a:t>Komponenten setzen Werte am Store vorbei</a:t>
            </a:r>
          </a:p>
          <a:p>
            <a:pPr>
              <a:defRPr sz="2000" b="0">
                <a:latin typeface="Segoe UI"/>
              </a:defRPr>
            </a:pPr>
            <a:r>
              <a:rPr lang="de-DE" sz="2000" b="0">
                <a:latin typeface="Segoe UI"/>
              </a:rPr>
              <a:t>Liste verändert statt neu erzeugt</a:t>
            </a:r>
          </a:p>
          <a:p>
            <a:pPr lvl="1">
              <a:defRPr sz="1700" b="0">
                <a:latin typeface="Segoe UI"/>
              </a:defRPr>
            </a:pPr>
            <a:r>
              <a:rPr lang="de-DE" sz="1700" b="0">
                <a:latin typeface="Segoe UI"/>
              </a:rPr>
              <a:t>push() und gleiche Referenz: keine Anzeige</a:t>
            </a:r>
          </a:p>
          <a:p>
            <a:pPr>
              <a:defRPr sz="2000" b="0">
                <a:latin typeface="Segoe UI"/>
              </a:defRPr>
            </a:pPr>
            <a:r>
              <a:rPr lang="de-DE" sz="2000" b="0">
                <a:latin typeface="Segoe UI"/>
              </a:rPr>
              <a:t>effect() zum Kopieren zwischen Signals</a:t>
            </a:r>
          </a:p>
          <a:p>
            <a:pPr lvl="1">
              <a:defRPr sz="1700" b="0">
                <a:latin typeface="Segoe UI"/>
              </a:defRPr>
            </a:pPr>
            <a:r>
              <a:rPr lang="de-DE" sz="1700" b="0">
                <a:latin typeface="Segoe UI"/>
              </a:rPr>
              <a:t>besser computed() oder linkedSignal()</a:t>
            </a:r>
          </a:p>
          <a:p>
            <a:pPr>
              <a:defRPr sz="2000" b="0">
                <a:latin typeface="Segoe UI"/>
              </a:defRPr>
            </a:pPr>
            <a:r>
              <a:rPr lang="de-DE" sz="2000" b="0">
                <a:latin typeface="Segoe UI"/>
              </a:rPr>
              <a:t>value() einer resource im Fehlerzustand</a:t>
            </a:r>
          </a:p>
          <a:p>
            <a:pPr lvl="1">
              <a:defRPr sz="1700" b="0">
                <a:latin typeface="Segoe UI"/>
              </a:defRPr>
            </a:pPr>
            <a:r>
              <a:rPr lang="de-DE" sz="1700" b="0">
                <a:latin typeface="Segoe UI"/>
              </a:rPr>
              <a:t>wirft einen Fehler: vorher hasValue()</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Falsch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public signal()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list.push(x)</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effect kopiert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Richtig</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asReadonly()</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 x]</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computed()</a:t>
            </a:r>
          </a:p>
        </p:txBody>
      </p: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im Code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Store in providers einer Komponente</a:t>
            </a:r>
          </a:p>
          <a:p>
            <a:pPr lvl="1">
              <a:defRPr sz="1700" b="0">
                <a:latin typeface="Segoe UI"/>
              </a:defRPr>
            </a:pPr>
            <a:r>
              <a:rPr lang="de-DE" sz="1700" b="0">
                <a:latin typeface="Segoe UI"/>
              </a:rPr>
              <a:t>jede Komponente bekommt eine neue Instanz</a:t>
            </a:r>
          </a:p>
          <a:p>
            <a:pPr>
              <a:defRPr sz="2000" b="0">
                <a:latin typeface="Segoe UI"/>
              </a:defRPr>
            </a:pPr>
            <a:r>
              <a:rPr lang="de-DE" sz="2000" b="0">
                <a:latin typeface="Segoe UI"/>
              </a:rPr>
              <a:t>Überholende Antworten beim Laden</a:t>
            </a:r>
          </a:p>
          <a:p>
            <a:pPr lvl="1">
              <a:defRPr sz="1700" b="0">
                <a:latin typeface="Segoe UI"/>
              </a:defRPr>
            </a:pPr>
            <a:r>
              <a:rPr lang="de-DE" sz="1700" b="0">
                <a:latin typeface="Segoe UI"/>
              </a:rPr>
              <a:t>alte Antwort überschreibt neue: resource bricht ab</a:t>
            </a:r>
          </a:p>
          <a:p>
            <a:pPr>
              <a:defRPr sz="2000" b="0">
                <a:latin typeface="Segoe UI"/>
              </a:defRPr>
            </a:pPr>
            <a:r>
              <a:rPr lang="de-DE" sz="2000" b="0">
                <a:latin typeface="Segoe UI"/>
              </a:rPr>
              <a:t>load() ohne finally</a:t>
            </a:r>
          </a:p>
          <a:p>
            <a:pPr lvl="1">
              <a:defRPr sz="1700" b="0">
                <a:latin typeface="Segoe UI"/>
              </a:defRPr>
            </a:pPr>
            <a:r>
              <a:rPr lang="de-DE" sz="1700" b="0">
                <a:latin typeface="Segoe UI"/>
              </a:rPr>
              <a:t>loading bleibt bei Fehler für immer true</a:t>
            </a:r>
          </a:p>
          <a:p>
            <a:pPr>
              <a:defRPr sz="2000" b="0">
                <a:latin typeface="Segoe UI"/>
              </a:defRPr>
            </a:pPr>
            <a:r>
              <a:rPr lang="de-DE" sz="2000" b="0">
                <a:latin typeface="Segoe UI"/>
              </a:rPr>
              <a:t>Fachlogik doch wieder in der Komponente</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Testbarkeit des Stores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Store ohne Oberfläche testbar</a:t>
            </a:r>
          </a:p>
          <a:p>
            <a:pPr lvl="1">
              <a:defRPr sz="1700" b="0">
                <a:latin typeface="Segoe UI"/>
              </a:defRPr>
            </a:pPr>
            <a:r>
              <a:rPr lang="de-DE" sz="1700" b="0">
                <a:latin typeface="Segoe UI"/>
              </a:rPr>
              <a:t>kein fixture, kein DOM nötig</a:t>
            </a:r>
          </a:p>
          <a:p>
            <a:pPr>
              <a:defRPr sz="2000" b="0">
                <a:latin typeface="Segoe UI"/>
              </a:defRPr>
            </a:pPr>
            <a:r>
              <a:rPr lang="de-DE" sz="2000" b="0">
                <a:latin typeface="Segoe UI"/>
              </a:rPr>
              <a:t>API-Schicht durch Attrappe ersetzen</a:t>
            </a:r>
          </a:p>
          <a:p>
            <a:pPr>
              <a:defRPr sz="2000" b="0">
                <a:latin typeface="Segoe UI"/>
              </a:defRPr>
            </a:pPr>
            <a:r>
              <a:rPr lang="de-DE" sz="2000" b="0">
                <a:latin typeface="Segoe UI"/>
              </a:rPr>
              <a:t>Ablauf: Aktion aufrufen, Signal prüfen</a:t>
            </a:r>
          </a:p>
          <a:p>
            <a:pPr>
              <a:defRPr sz="2000" b="0">
                <a:latin typeface="Segoe UI"/>
              </a:defRPr>
            </a:pPr>
            <a:r>
              <a:rPr lang="de-DE" sz="2000" b="0">
                <a:latin typeface="Segoe UI"/>
              </a:rPr>
              <a:t>await store.load() wartet auf das Laden</a:t>
            </a:r>
          </a:p>
          <a:p>
            <a:pPr>
              <a:defRPr sz="2000" b="0">
                <a:latin typeface="Segoe UI"/>
              </a:defRPr>
            </a:pPr>
            <a:r>
              <a:rPr lang="de-DE" sz="2000" b="0">
                <a:latin typeface="Segoe UI"/>
              </a:rPr>
              <a:t>Vertiefung im Kapitel zur Testbarkeit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customer.store.spec.ts</a:t>
            </a:r>
          </a:p>
        </p:txBody>
      </p:sp>
      <p:sp>
        <p:nvSpPr>
          <p:cNvPr id="5" name="Rectangle 4"/>
          <p:cNvSpPr/>
          <p:nvPr/>
        </p:nvSpPr>
        <p:spPr>
          <a:xfrm>
            <a:off x="7000000" y="2230000"/>
            <a:ext cx="4350000" cy="311750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TestBed.configureTestingModule({</a:t>
            </a:r>
          </a:p>
          <a:p>
            <a:pPr algn="l"/>
            <a:r>
              <a:rPr sz="1300" b="0">
                <a:solidFill>
                  <a:srgbClr val="2B3A42"/>
                </a:solidFill>
                <a:latin typeface="Consolas"/>
              </a:rPr>
              <a:t>  providers: [{</a:t>
            </a:r>
          </a:p>
          <a:p>
            <a:pPr algn="l"/>
            <a:r>
              <a:rPr sz="1300" b="0">
                <a:solidFill>
                  <a:srgbClr val="2B3A42"/>
                </a:solidFill>
                <a:latin typeface="Consolas"/>
              </a:rPr>
              <a:t>    provide: CustomerService,</a:t>
            </a:r>
          </a:p>
          <a:p>
            <a:pPr algn="l"/>
            <a:r>
              <a:rPr sz="1300" b="0">
                <a:solidFill>
                  <a:srgbClr val="2B3A42"/>
                </a:solidFill>
                <a:latin typeface="Consolas"/>
              </a:rPr>
              <a:t>    useValue: { getAll: () =&gt;</a:t>
            </a:r>
          </a:p>
          <a:p>
            <a:pPr algn="l"/>
            <a:r>
              <a:rPr sz="1300" b="0">
                <a:solidFill>
                  <a:srgbClr val="2B3A42"/>
                </a:solidFill>
                <a:latin typeface="Consolas"/>
              </a:rPr>
              <a:t>      of([anna, ben]) } }],</a:t>
            </a:r>
          </a:p>
          <a:p>
            <a:pPr algn="l"/>
            <a:r>
              <a:rPr sz="1300" b="0">
                <a:solidFill>
                  <a:srgbClr val="2B3A42"/>
                </a:solidFill>
                <a:latin typeface="Consolas"/>
              </a:rPr>
              <a:t>});</a:t>
            </a:r>
          </a:p>
          <a:p>
            <a:pPr algn="l"/>
            <a:r>
              <a:rPr sz="1300" b="0">
                <a:solidFill>
                  <a:srgbClr val="2B3A42"/>
                </a:solidFill>
                <a:latin typeface="Consolas"/>
              </a:rPr>
              <a:t>const store =</a:t>
            </a:r>
          </a:p>
          <a:p>
            <a:pPr algn="l"/>
            <a:r>
              <a:rPr sz="1300" b="0">
                <a:solidFill>
                  <a:srgbClr val="2B3A42"/>
                </a:solidFill>
                <a:latin typeface="Consolas"/>
              </a:rPr>
              <a:t>  TestBed.inject(CustomerStore);</a:t>
            </a:r>
          </a:p>
          <a:p>
            <a:pPr algn="l"/>
            <a:r>
              <a:rPr sz="1300" b="0">
                <a:solidFill>
                  <a:srgbClr val="2B3A42"/>
                </a:solidFill>
                <a:latin typeface="Consolas"/>
              </a:rPr>
              <a:t/>
            </a:r>
          </a:p>
          <a:p>
            <a:pPr algn="l"/>
            <a:r>
              <a:rPr sz="1300" b="0">
                <a:solidFill>
                  <a:srgbClr val="2B3A42"/>
                </a:solidFill>
                <a:latin typeface="Consolas"/>
              </a:rPr>
              <a:t>await store.load();</a:t>
            </a:r>
          </a:p>
          <a:p>
            <a:pPr algn="l"/>
            <a:r>
              <a:rPr sz="1300" b="0">
                <a:solidFill>
                  <a:srgbClr val="2B3A42"/>
                </a:solidFill>
                <a:latin typeface="Consolas"/>
              </a:rPr>
              <a:t>store.setFilter('an');</a:t>
            </a:r>
          </a:p>
          <a:p>
            <a:pPr algn="l"/>
            <a:r>
              <a:rPr sz="1300" b="0">
                <a:solidFill>
                  <a:srgbClr val="2B3A42"/>
                </a:solidFill>
                <a:latin typeface="Consolas"/>
              </a:rPr>
              <a:t>expect(store.total())</a:t>
            </a:r>
          </a:p>
          <a:p>
            <a:pPr algn="l"/>
            <a:r>
              <a:rPr sz="1300" b="0">
                <a:solidFill>
                  <a:srgbClr val="2B3A42"/>
                </a:solidFill>
                <a:latin typeface="Consolas"/>
              </a:rPr>
              <a:t>  .toBe(1);</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33: CustomerStore einführen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CustomerService zur reinen API-Schicht machen</a:t>
            </a:r>
          </a:p>
          <a:p>
            <a:pPr lvl="1">
              <a:defRPr sz="1700" b="0">
                <a:latin typeface="Segoe UI"/>
              </a:defRPr>
            </a:pPr>
            <a:r>
              <a:rPr lang="de-DE" sz="1700" b="0">
                <a:latin typeface="Segoe UI"/>
              </a:rPr>
              <a:t>kein ReplaySubject, kein Laden im Konstruktor; getAll() liefert das HTTP-Observable</a:t>
            </a:r>
          </a:p>
          <a:p>
            <a:pPr>
              <a:defRPr sz="2000" b="1">
                <a:latin typeface="Segoe UI"/>
              </a:defRPr>
            </a:pPr>
            <a:r>
              <a:rPr lang="de-DE" sz="2000" b="1">
                <a:latin typeface="Segoe UI"/>
              </a:rPr>
              <a:t>2. customer/customer.store.ts als Service mit Signals anlegen</a:t>
            </a:r>
          </a:p>
          <a:p>
            <a:pPr lvl="1">
              <a:defRPr sz="1700" b="0">
                <a:latin typeface="Segoe UI"/>
              </a:defRPr>
            </a:pPr>
            <a:r>
              <a:rPr lang="de-DE" sz="1700" b="0">
                <a:latin typeface="Segoe UI"/>
              </a:rPr>
              <a:t>privat: customers, filter, selectedId, loading, error; nach außen asReadonly()</a:t>
            </a:r>
          </a:p>
          <a:p>
            <a:pPr lvl="1">
              <a:defRPr sz="1700" b="0">
                <a:latin typeface="Segoe UI"/>
              </a:defRPr>
            </a:pPr>
            <a:r>
              <a:rPr lang="de-DE" sz="1700" b="0">
                <a:latin typeface="Segoe UI"/>
              </a:rPr>
              <a:t>computed: filtered, selected, total</a:t>
            </a:r>
          </a:p>
          <a:p>
            <a:pPr lvl="1">
              <a:defRPr sz="1700" b="0">
                <a:latin typeface="Segoe UI"/>
              </a:defRPr>
            </a:pPr>
            <a:r>
              <a:rPr lang="de-DE" sz="1700" b="0">
                <a:latin typeface="Segoe UI"/>
              </a:rPr>
              <a:t>Methoden: load(), setFilter(), select(), addDemo()</a:t>
            </a:r>
          </a:p>
          <a:p>
            <a:pPr>
              <a:defRPr sz="2000" b="1">
                <a:latin typeface="Segoe UI"/>
              </a:defRPr>
            </a:pPr>
            <a:r>
              <a:rPr lang="de-DE" sz="2000" b="1">
                <a:latin typeface="Segoe UI"/>
              </a:rPr>
              <a:t>3. CustomerListComponent nutzt nur den Store; load() in ngOnInit()</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7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33: CustomerStore einführen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4. localStorage-effect für den Filter aus Übung 32 in den Store verschieben</a:t>
            </a:r>
          </a:p>
          <a:p>
            <a:pPr lvl="1">
              <a:defRPr sz="1700" b="0">
                <a:latin typeface="Segoe UI"/>
              </a:defRPr>
            </a:pPr>
            <a:r>
              <a:rPr lang="de-DE" sz="1700" b="0">
                <a:latin typeface="Segoe UI"/>
              </a:rPr>
              <a:t>Diskussion: Warum gehört die Nebenwirkung dorthin?</a:t>
            </a:r>
          </a:p>
          <a:p>
            <a:pPr>
              <a:defRPr sz="2000" b="1">
                <a:latin typeface="Segoe UI"/>
              </a:defRPr>
            </a:pPr>
            <a:r>
              <a:rPr lang="de-DE" sz="2000" b="1">
                <a:latin typeface="Segoe UI"/>
              </a:rPr>
              <a:t>5. Im Browser prüfen: Filter, Auswahl, Details, Speichern und zurück</a:t>
            </a:r>
          </a:p>
          <a:p>
            <a:pPr>
              <a:defRPr sz="2000" b="1">
                <a:latin typeface="Segoe UI"/>
              </a:defRPr>
            </a:pPr>
            <a:r>
              <a:rPr lang="de-DE" sz="2000" b="1">
                <a:latin typeface="Segoe UI"/>
              </a:rPr>
              <a:t>6. Reflexion: War ein Store hier nötig? Kriterien anwenden, 3 Sätze</a:t>
            </a:r>
          </a:p>
          <a:p>
            <a:pPr>
              <a:defRPr sz="2000" b="1">
                <a:latin typeface="Segoe UI"/>
              </a:defRPr>
            </a:pPr>
            <a:r>
              <a:rPr lang="de-DE" sz="2000" b="1">
                <a:latin typeface="Segoe UI"/>
              </a:rPr>
              <a:t>7. Optional: Store mit signalStore aus @ngrx/signals skizzieren</a:t>
            </a:r>
          </a:p>
          <a:p>
            <a:pPr lvl="1">
              <a:defRPr sz="1700" b="0">
                <a:latin typeface="Segoe UI"/>
              </a:defRPr>
            </a:pPr>
            <a:r>
              <a:rPr lang="de-DE" sz="1700" b="0">
                <a:latin typeface="Segoe UI"/>
              </a:rPr>
              <a:t>Zeilenzahl und Lesbarkeit vergleichen (nur lesen, nicht installieren)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Zeitpunkt: am Kursende, etwa 10 Minuten, ohne Code</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Was aus dem Kurs spricht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a:t>
            </a: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Hilfen für die Technologieentscheidung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Lebensdauer: Hauptversion etwa alle 6 Monate</a:t>
            </a:r>
          </a:p>
          <a:p>
            <a:pPr lvl="1">
              <a:defRPr sz="1700" b="0">
                <a:latin typeface="Segoe UI"/>
              </a:defRPr>
            </a:pPr>
            <a:r>
              <a:rPr lang="de-DE" sz="1700" b="0">
                <a:latin typeface="Segoe UI"/>
              </a:rPr>
              <a:t>Unterstützung je Version etwa 18 Monate</a:t>
            </a:r>
          </a:p>
          <a:p>
            <a:pPr>
              <a:defRPr sz="2000" b="0">
                <a:latin typeface="Segoe UI"/>
              </a:defRPr>
            </a:pPr>
            <a:r>
              <a:rPr lang="de-DE" sz="2000" b="0">
                <a:latin typeface="Segoe UI"/>
              </a:rPr>
              <a:t>Team: Vorwissen in TypeScript, RxJS, Signals</a:t>
            </a:r>
          </a:p>
          <a:p>
            <a:pPr>
              <a:defRPr sz="2000" b="0">
                <a:latin typeface="Segoe UI"/>
              </a:defRPr>
            </a:pPr>
            <a:r>
              <a:rPr lang="de-DE" sz="2000" b="0">
                <a:latin typeface="Segoe UI"/>
              </a:rPr>
              <a:t>Struktur: einheitliche Muster für viele Personen</a:t>
            </a:r>
          </a:p>
          <a:p>
            <a:pPr lvl="1">
              <a:defRPr sz="1700" b="0">
                <a:latin typeface="Segoe UI"/>
              </a:defRPr>
            </a:pPr>
            <a:r>
              <a:rPr lang="de-DE" sz="1700" b="0">
                <a:latin typeface="Segoe UI"/>
              </a:rPr>
              <a:t>DI, Routing, Formulare, Tests eingebaut</a:t>
            </a:r>
          </a:p>
          <a:p>
            <a:pPr>
              <a:defRPr sz="2000" b="0">
                <a:latin typeface="Segoe UI"/>
              </a:defRPr>
            </a:pPr>
            <a:r>
              <a:rPr lang="de-DE" sz="2000" b="0">
                <a:latin typeface="Segoe UI"/>
              </a:rPr>
              <a:t>Risiken: Lernkurve, regelmäßige Updates</a:t>
            </a:r>
          </a:p>
          <a:p>
            <a:pPr>
              <a:defRPr sz="2000" b="0">
                <a:latin typeface="Segoe UI"/>
              </a:defRPr>
            </a:pPr>
            <a:r>
              <a:rPr lang="de-DE" sz="2000" b="0">
                <a:latin typeface="Segoe UI"/>
              </a:rPr>
              <a:t>Kursbezug: Store, Schichten, Testbarkeit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Dafür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einheitliche Muster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alles eingebaut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TypeScript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Risiken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Lernkurve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Updates alle 6 Monate</a:t>
            </a: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Funktionen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typisieren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cityOf(customer: Customer, fallback = "unbekannt"):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customer.city ?? fallback;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greet(name: string, greeting?: string):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`${greeting ?? "Hallo"} ${name}`;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logMessage(message: string):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console.log(message);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 "unbekannt"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"Ogdenville");    // "Ogdenville"</a:t>
            </a:r>
            <a:endParaRPr lang="de-DE" sz="1800" b="0" u="none" strike="noStrike">
              <a:solidFill>
                <a:srgbClr val="000000"/>
              </a:solidFill>
              <a:uFillTx/>
              <a:latin typeface="Arial"/>
            </a:endParaRP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Rest-Parameter und Arrow-Funktionen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sum(...nums: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nums.reduce((a, b) =&gt; a + b,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sum(1, 2, 3);                // 6</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double = (n: number): number =&gt; n *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add = (a: number, b: number) =&gt; a + b;</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applyTwice(value: number, fn: (n: number) =&gt;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fn(fn(value));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double);       // 12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n =&gt; n + 10);  // 23</a:t>
            </a:r>
            <a:endParaRPr lang="de-DE" sz="1800" b="0" u="none" strike="noStrike">
              <a:solidFill>
                <a:srgbClr val="000000"/>
              </a:solidFill>
              <a:uFillTx/>
              <a:latin typeface="Arial"/>
            </a:endParaRP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Listen verarbeiten: filter, map, find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springfield = customers.filter(c =&gt; c.city === "Springfield");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zwei Kunden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 customers.map(c =&gt; `${c.firstname} ${c.lastname}`);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["Lisa Simpson", "Hans Maulwurf", "Ned Flanders"]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customers.find(c =&gt; c.id === "3");   // Customer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console.log(ned?.firstname ?? "nicht gefunden");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active = customers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.filter(c =&gt; !c.discontinued)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.map(c =&gt; c.lastname);                         // ["Simpson", "Flanders"]</a:t>
            </a:r>
            <a:endParaRPr lang="de-DE" sz="1800" b="0" u="none" strike="noStrike">
              <a:solidFill>
                <a:srgbClr val="000000"/>
              </a:solidFill>
              <a:uFillTx/>
              <a:latin typeface="Arial"/>
            </a:endParaRPr>
          </a:p>
        </p:txBody>
      </p:sp>
    </p:spTree>
  </p:cSld>
  <p:clrMapOvr>
    <a:masterClrMapping/>
  </p:clrMapOvr>
</p:sld>
</file>

<file path=ppt/slides/slide7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2: Funktionen typisieren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src/uebung-2-funktionen.ts</a:t>
            </a:r>
          </a:p>
          <a:p>
            <a:pPr>
              <a:defRPr sz="2000" b="1">
                <a:latin typeface="Segoe UI"/>
              </a:defRPr>
            </a:pPr>
            <a:r>
              <a:rPr lang="de-DE" sz="2000" b="1">
                <a:latin typeface="Segoe UI"/>
              </a:rPr>
              <a:t>1. Schreibe fullName und filterCustomers (Tipp: filter, includes, toLowerCase)</a:t>
            </a:r>
          </a:p>
          <a:p>
            <a:pPr>
              <a:defRPr sz="2000" b="1">
                <a:latin typeface="Segoe UI"/>
              </a:defRPr>
            </a:pPr>
            <a:r>
              <a:rPr lang="de-DE" sz="2000" b="1">
                <a:latin typeface="Segoe UI"/>
              </a:rPr>
              <a:t>2. Schreibe cityOf mit einem Standardwert für den zweiten Parameter</a:t>
            </a:r>
          </a:p>
          <a:p>
            <a:pPr>
              <a:defRPr sz="2000" b="1">
                <a:latin typeface="Segoe UI"/>
              </a:defRPr>
            </a:pPr>
            <a:r>
              <a:rPr lang="de-DE" sz="2000" b="1">
                <a:latin typeface="Segoe UI"/>
              </a:rPr>
              <a:t>3. Schreibe joinNames mit einem Rest-Parameter (...customers), map und join</a:t>
            </a:r>
          </a:p>
          <a:p>
            <a:pPr>
              <a:defRPr sz="2000" b="1">
                <a:latin typeface="Segoe UI"/>
              </a:defRPr>
            </a:pPr>
            <a:r>
              <a:rPr lang="de-DE" sz="2000" b="1">
                <a:latin typeface="Segoe UI"/>
              </a:rPr>
              <a:t>4. Bis Aufgabe 3 und 4 gelöst sind, meldet npm run check zwei Fehler: das ist gewollt</a:t>
            </a:r>
          </a:p>
          <a:p>
            <a:pPr>
              <a:defRPr sz="2000" b="0">
                <a:latin typeface="Segoe UI"/>
              </a:defRPr>
            </a:pPr>
            <a:r>
              <a:rPr lang="de-DE" sz="2000" b="0">
                <a:latin typeface="Segoe UI"/>
              </a:rPr>
              <a:t>Start: npm start -- src/uebung-2-funktionen.ts</a:t>
            </a:r>
          </a:p>
          <a:p>
            <a:pPr>
              <a:defRPr sz="2000" b="1">
                <a:latin typeface="Segoe UI"/>
              </a:defRPr>
            </a:pPr>
            <a:r>
              <a:rPr lang="de-DE" sz="2000" b="1">
                <a:latin typeface="Segoe UI"/>
              </a:rPr>
              <a:t>Musterlösung: loesung/uebung-2-funktionen.ts</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Sicherheitsnetz für Änderungen: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Mut zum Aufräumen: Refactoring wird erst mit Tests sicher</a:t>
            </a:r>
          </a:p>
          <a:p>
            <a:pPr>
              <a:defRPr sz="2000" b="0">
                <a:latin typeface="Segoe UI"/>
              </a:defRPr>
            </a:pPr>
            <a:r>
              <a:rPr lang="de-DE" sz="2000" b="0">
                <a:latin typeface="Segoe UI"/>
              </a:rPr>
              <a:t>Tests sind Code und kosten Pflege</a:t>
            </a:r>
          </a:p>
          <a:p>
            <a:pPr lvl="1">
              <a:defRPr sz="1700" b="0">
                <a:latin typeface="Segoe UI"/>
              </a:defRPr>
            </a:pPr>
            <a:r>
              <a:rPr lang="de-DE" sz="1700" b="0">
                <a:latin typeface="Segoe UI"/>
              </a:rPr>
              <a:t>Schlechte Tests bremsen mehr, als sie helfen</a:t>
            </a:r>
          </a:p>
          <a:p>
            <a:pPr lvl="1">
              <a:defRPr sz="1700" b="0">
                <a:latin typeface="Segoe UI"/>
              </a:defRPr>
            </a:pPr>
            <a:r>
              <a:rPr lang="de-DE" sz="1700" b="0">
                <a:latin typeface="Segoe UI"/>
              </a:rPr>
              <a:t>Gute Tests prüfen Verhalten, nicht Details der Umsetzung</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Unten, viele: Unit-Tests für Services, Stores, Pipes, Funktionen</a:t>
            </a:r>
          </a:p>
          <a:p>
            <a:pPr lvl="1">
              <a:defRPr sz="1700" b="0">
                <a:latin typeface="Segoe UI"/>
              </a:defRPr>
            </a:pPr>
            <a:r>
              <a:rPr lang="de-DE" sz="1700" b="0">
                <a:latin typeface="Segoe UI"/>
              </a:rPr>
              <a:t>laufen in Millisekunden, ohne Browser und Server</a:t>
            </a:r>
          </a:p>
          <a:p>
            <a:pPr>
              <a:defRPr sz="2000" b="0">
                <a:latin typeface="Segoe UI"/>
              </a:defRPr>
            </a:pPr>
            <a:r>
              <a:rPr lang="de-DE" sz="2000" b="0">
                <a:latin typeface="Segoe UI"/>
              </a:rPr>
              <a:t>Mitte: Komponententests mit Template (TestBed)</a:t>
            </a:r>
          </a:p>
          <a:p>
            <a:pPr lvl="1">
              <a:defRPr sz="1700" b="0">
                <a:latin typeface="Segoe UI"/>
              </a:defRPr>
            </a:pPr>
            <a:r>
              <a:rPr lang="de-DE" sz="1700" b="0">
                <a:latin typeface="Segoe UI"/>
              </a:rPr>
              <a:t>prüfen Anzeige, Klicks, Inputs und Outputs</a:t>
            </a:r>
          </a:p>
          <a:p>
            <a:pPr>
              <a:defRPr sz="2000" b="0">
                <a:latin typeface="Segoe UI"/>
              </a:defRPr>
            </a:pPr>
            <a:r>
              <a:rPr lang="de-DE" sz="2000" b="0">
                <a:latin typeface="Segoe UI"/>
              </a:rPr>
              <a:t>Oben, wenige: End-to-End-Tests (Playwright, Cypress)</a:t>
            </a:r>
          </a:p>
          <a:p>
            <a:pPr lvl="1">
              <a:defRPr sz="1700" b="0">
                <a:latin typeface="Segoe UI"/>
              </a:defRPr>
            </a:pPr>
            <a:r>
              <a:rPr lang="de-DE" sz="1700" b="0">
                <a:latin typeface="Segoe UI"/>
              </a:rPr>
              <a:t>echter Browser, echte App, langsam</a:t>
            </a:r>
          </a:p>
          <a:p>
            <a:pPr>
              <a:defRPr sz="2000" b="0">
                <a:latin typeface="Segoe UI"/>
              </a:defRPr>
            </a:pPr>
            <a:r>
              <a:rPr lang="de-DE" sz="2000" b="0">
                <a:latin typeface="Segoe UI"/>
              </a:rPr>
              <a:t>Mehr Logik außerhalb von Komponenten: mehr schnelle Tests</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End-to-End</a:t>
            </a:r>
          </a:p>
          <a:p>
            <a:pPr algn="ctr"/>
            <a:r>
              <a:rPr sz="1700" b="1">
                <a:solidFill>
                  <a:srgbClr val="FFFFFF"/>
                </a:solidFill>
                <a:latin typeface="Segoe UI"/>
              </a:rPr>
              <a:t>wenige, langsam</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Komponententests</a:t>
            </a:r>
          </a:p>
          <a:p>
            <a:pPr algn="ctr"/>
            <a:r>
              <a:rPr sz="1700" b="1">
                <a:solidFill>
                  <a:srgbClr val="FFFFFF"/>
                </a:solidFill>
                <a:latin typeface="Segoe UI"/>
              </a:rPr>
              <a:t>TestBed, mittel viele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Unit-Tests</a:t>
            </a:r>
          </a:p>
          <a:p>
            <a:pPr algn="ctr"/>
            <a:r>
              <a:rPr sz="1700" b="0">
                <a:solidFill>
                  <a:srgbClr val="2B3A42"/>
                </a:solidFill>
                <a:latin typeface="Segoe UI"/>
              </a:rPr>
              <a:t>viele, schnell</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Je weiter oben, desto teurer</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Reine Funktion oder Pipe: trivial</a:t>
            </a:r>
          </a:p>
          <a:p>
            <a:pPr lvl="1">
              <a:defRPr sz="1700" b="0">
                <a:latin typeface="Segoe UI"/>
              </a:defRPr>
            </a:pPr>
            <a:r>
              <a:rPr lang="de-DE" sz="1700" b="0">
                <a:latin typeface="Segoe UI"/>
              </a:rPr>
              <a:t>Eingabe hinein, Ausgabe prüfen</a:t>
            </a:r>
          </a:p>
          <a:p>
            <a:pPr>
              <a:defRPr sz="2000" b="0">
                <a:latin typeface="Segoe UI"/>
              </a:defRPr>
            </a:pPr>
            <a:r>
              <a:rPr lang="de-DE" sz="2000" b="0">
                <a:latin typeface="Segoe UI"/>
              </a:rPr>
              <a:t>Store oder Service mit Signals: einfach</a:t>
            </a:r>
          </a:p>
          <a:p>
            <a:pPr lvl="1">
              <a:defRPr sz="1700" b="0">
                <a:latin typeface="Segoe UI"/>
              </a:defRPr>
            </a:pPr>
            <a:r>
              <a:rPr lang="de-DE" sz="1700" b="0">
                <a:latin typeface="Segoe UI"/>
              </a:rPr>
              <a:t>Methode aufrufen, Signal lesen</a:t>
            </a:r>
          </a:p>
          <a:p>
            <a:pPr>
              <a:defRPr sz="2000" b="0">
                <a:latin typeface="Segoe UI"/>
              </a:defRPr>
            </a:pPr>
            <a:r>
              <a:rPr lang="de-DE" sz="2000" b="0">
                <a:latin typeface="Segoe UI"/>
              </a:rPr>
              <a:t>Darstellungskomponente: einfach</a:t>
            </a:r>
          </a:p>
          <a:p>
            <a:pPr lvl="1">
              <a:defRPr sz="1700" b="0">
                <a:latin typeface="Segoe UI"/>
              </a:defRPr>
            </a:pPr>
            <a:r>
              <a:rPr lang="de-DE" sz="1700" b="0">
                <a:latin typeface="Segoe UI"/>
              </a:rPr>
              <a:t>Input setzen, Anzeige und Output prüfen</a:t>
            </a:r>
          </a:p>
          <a:p>
            <a:pPr>
              <a:defRPr sz="2000" b="0">
                <a:latin typeface="Segoe UI"/>
              </a:defRPr>
            </a:pPr>
            <a:r>
              <a:rPr lang="de-DE" sz="2000" b="0">
                <a:latin typeface="Segoe UI"/>
              </a:rPr>
              <a:t>Container mit Services: aufwendig (Mocks)</a:t>
            </a:r>
          </a:p>
          <a:p>
            <a:pPr>
              <a:defRPr sz="2000" b="0">
                <a:latin typeface="Segoe UI"/>
              </a:defRPr>
            </a:pPr>
            <a:r>
              <a:rPr lang="de-DE" sz="2000" b="0">
                <a:latin typeface="Segoe UI"/>
              </a:rPr>
              <a:t>Mit window, DOM-Tricks, Singletons: schwer</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Schwer: window, Singletons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Aufwendig: Container, Mocks</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Einfach: Store, Darstellung</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Trivial: Funktion, Pipe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Logik nach unten verlagern</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Vorher und nachher: Logik im Store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Vorher: Komponente ruft HttpClient selbst auf und filtert</a:t>
            </a:r>
          </a:p>
          <a:p>
            <a:pPr lvl="1">
              <a:defRPr sz="1700" b="0">
                <a:latin typeface="Segoe UI"/>
              </a:defRPr>
            </a:pPr>
            <a:r>
              <a:rPr lang="de-DE" sz="1700" b="0">
                <a:latin typeface="Segoe UI"/>
              </a:rPr>
              <a:t>Test braucht HTTP-Ersatz, DOM und Change Detection</a:t>
            </a:r>
          </a:p>
          <a:p>
            <a:pPr>
              <a:defRPr sz="2000" b="0">
                <a:latin typeface="Segoe UI"/>
              </a:defRPr>
            </a:pPr>
            <a:r>
              <a:rPr lang="de-DE" sz="2000" b="0">
                <a:latin typeface="Segoe UI"/>
              </a:rPr>
              <a:t>Nachher: Filterlogik im CustomerStore als computed</a:t>
            </a:r>
          </a:p>
          <a:p>
            <a:pPr lvl="1">
              <a:defRPr sz="1700" b="0">
                <a:latin typeface="Segoe UI"/>
              </a:defRPr>
            </a:pPr>
            <a:r>
              <a:rPr lang="de-DE" sz="1700" b="0">
                <a:latin typeface="Segoe UI"/>
              </a:rPr>
              <a:t>Test: Store holen, setFilter aufrufen, filtered() lesen</a:t>
            </a:r>
          </a:p>
          <a:p>
            <a:pPr lvl="1">
              <a:defRPr sz="1700" b="0">
                <a:latin typeface="Segoe UI"/>
              </a:defRPr>
            </a:pPr>
            <a:r>
              <a:rPr lang="de-DE" sz="1700" b="0">
                <a:latin typeface="Segoe UI"/>
              </a:rPr>
              <a:t>kein Template, kein DOM, wenige Zeilen</a:t>
            </a:r>
          </a:p>
          <a:p>
            <a:pPr>
              <a:defRPr sz="2000" b="0">
                <a:latin typeface="Segoe UI"/>
              </a:defRPr>
            </a:pPr>
            <a:r>
              <a:rPr lang="de-DE" sz="2000" b="0">
                <a:latin typeface="Segoe UI"/>
              </a:rPr>
              <a:t>Die Komponente zeigt nur noch an, ihr Test bleibt klein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Vorher: Komponente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 Filter, Anzeige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Test: HTTP + DOM</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Nachher: Store</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filtered = computed</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Test: wenige Zeilen</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Vitest in Angular 21</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Vitest ist ab Angular 21 der Standard-Test-Runner</a:t>
            </a:r>
          </a:p>
          <a:p>
            <a:pPr>
              <a:defRPr sz="2000" b="0">
                <a:latin typeface="Segoe UI"/>
              </a:defRPr>
            </a:pPr>
            <a:r>
              <a:rPr lang="de-DE" sz="2000" b="0">
                <a:latin typeface="Segoe UI"/>
              </a:rPr>
              <a:t>Start mit ng test (einmalig: ng test --watch=false)</a:t>
            </a:r>
          </a:p>
          <a:p>
            <a:pPr lvl="1">
              <a:defRPr sz="1700" b="0">
                <a:latin typeface="Segoe UI"/>
              </a:defRPr>
            </a:pPr>
            <a:r>
              <a:rPr lang="de-DE" sz="1700" b="0">
                <a:latin typeface="Segoe UI"/>
              </a:rPr>
              <a:t>Builder @angular/build:unit-test in angular.json</a:t>
            </a:r>
          </a:p>
          <a:p>
            <a:pPr>
              <a:defRPr sz="2000" b="0">
                <a:latin typeface="Segoe UI"/>
              </a:defRPr>
            </a:pPr>
            <a:r>
              <a:rPr lang="de-DE" sz="2000" b="0">
                <a:latin typeface="Segoe UI"/>
              </a:rPr>
              <a:t>Tests laufen in jsdom, einem nachgebauten Browser</a:t>
            </a:r>
          </a:p>
          <a:p>
            <a:pPr>
              <a:defRPr sz="2000" b="0">
                <a:latin typeface="Segoe UI"/>
              </a:defRPr>
            </a:pPr>
            <a:r>
              <a:rPr lang="de-DE" sz="2000" b="0">
                <a:latin typeface="Segoe UI"/>
              </a:rPr>
              <a:t>Testdateien enden auf .spec.ts, liegen neben dem Code</a:t>
            </a:r>
          </a:p>
          <a:p>
            <a:pPr>
              <a:defRPr sz="2000" b="0">
                <a:latin typeface="Segoe UI"/>
              </a:defRPr>
            </a:pPr>
            <a:r>
              <a:rPr lang="de-DE" sz="2000" b="0">
                <a:latin typeface="Segoe UI"/>
              </a:rPr>
              <a:t>describe, it, expect, vi sind global verfügbar</a:t>
            </a:r>
          </a:p>
          <a:p>
            <a:pPr lvl="1">
              <a:defRPr sz="1700" b="0">
                <a:latin typeface="Segoe UI"/>
              </a:defRPr>
            </a:pPr>
            <a:r>
              <a:rPr lang="de-DE" sz="1700" b="0">
                <a:latin typeface="Segoe UI"/>
              </a:rPr>
              <a:t>über vitest/globals in tsconfig.spec.json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test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@angular/build:unit-test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Vitest + jsdom</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*.spec.ts ausführen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Ergebnis in der Konsole</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Aufbau eines Vitest-Tests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describe('CustomerStore', () =&gt; {          // Suite: Gruppe von Tests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getAll = vi.fn();                  // Ersatz für den 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beforeEach(() =&gt; {                       // läuft vor JEDEM it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getAll.mockReset();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 provide: CustomerService, useValue: { getAll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it('should ignore upper and lower case', async () =&gt; {   // ein Test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getAll.mockReturnValue(of([hans, lisa]));              // Arrange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store = TestBed.inject(CustomerStore);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store.load();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store.setFilter('LISA');                                // Act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expect(store.filtered()).toEqual([lisa]);               // Assert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describe, it, beforeEach: wer ruft was 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describe(name, fn): Vitest ruft fn sofort auf, sammelt die Tests</a:t>
            </a:r>
          </a:p>
          <a:p>
            <a:pPr>
              <a:defRPr sz="2000" b="0">
                <a:latin typeface="Segoe UI"/>
              </a:defRPr>
            </a:pPr>
            <a:r>
              <a:rPr lang="de-DE" sz="2000" b="0">
                <a:latin typeface="Segoe UI"/>
              </a:rPr>
              <a:t>it(name, fn): ein Test; Vitest ruft fn später einzeln auf</a:t>
            </a:r>
          </a:p>
          <a:p>
            <a:pPr lvl="1">
              <a:defRPr sz="1700" b="0">
                <a:latin typeface="Segoe UI"/>
              </a:defRPr>
            </a:pPr>
            <a:r>
              <a:rPr lang="de-DE" sz="1700" b="0">
                <a:latin typeface="Segoe UI"/>
              </a:rPr>
              <a:t>fn darf async sein: Vitest wartet auf das Promise</a:t>
            </a:r>
          </a:p>
          <a:p>
            <a:pPr>
              <a:defRPr sz="2000" b="0">
                <a:latin typeface="Segoe UI"/>
              </a:defRPr>
            </a:pPr>
            <a:r>
              <a:rPr lang="de-DE" sz="2000" b="0">
                <a:latin typeface="Segoe UI"/>
              </a:rPr>
              <a:t>beforeEach(fn) / afterEach(fn): vor bzw. nach jedem it</a:t>
            </a:r>
          </a:p>
          <a:p>
            <a:pPr>
              <a:defRPr sz="2000" b="0">
                <a:latin typeface="Segoe UI"/>
              </a:defRPr>
            </a:pPr>
            <a:r>
              <a:rPr lang="de-DE" sz="2000" b="0">
                <a:latin typeface="Segoe UI"/>
              </a:rPr>
              <a:t>beforeAll / afterAll: einmal pro describe</a:t>
            </a:r>
          </a:p>
          <a:p>
            <a:pPr>
              <a:defRPr sz="2000" b="0">
                <a:latin typeface="Segoe UI"/>
              </a:defRPr>
            </a:pPr>
            <a:r>
              <a:rPr lang="de-DE" sz="2000" b="0">
                <a:latin typeface="Segoe UI"/>
              </a:rPr>
              <a:t>Test ist rot, wenn fn einen Fehler wirft</a:t>
            </a:r>
          </a:p>
          <a:p>
            <a:pPr lvl="1">
              <a:defRPr sz="1700" b="0">
                <a:latin typeface="Segoe UI"/>
              </a:defRPr>
            </a:pPr>
            <a:r>
              <a:rPr lang="de-DE" sz="1700" b="0">
                <a:latin typeface="Segoe UI"/>
              </a:rPr>
              <a:t>expect wirft bei falschem Wert einen Fehler</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beforeEach</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it: Test läuft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afterEach</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nächster Test</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expect und Matcher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expect(wert) nimmt den tatsächlichen Wert entgegen</a:t>
            </a:r>
          </a:p>
          <a:p>
            <a:pPr>
              <a:defRPr sz="2000" b="0">
                <a:latin typeface="Segoe UI"/>
              </a:defRPr>
            </a:pPr>
            <a:r>
              <a:rPr lang="de-DE" sz="2000" b="0">
                <a:latin typeface="Segoe UI"/>
              </a:rPr>
              <a:t>Der Matcher vergleicht mit dem erwarteten Wert</a:t>
            </a:r>
          </a:p>
          <a:p>
            <a:pPr>
              <a:defRPr sz="2000" b="0">
                <a:latin typeface="Segoe UI"/>
              </a:defRPr>
            </a:pPr>
            <a:r>
              <a:rPr lang="de-DE" sz="2000" b="0">
                <a:latin typeface="Segoe UI"/>
              </a:rPr>
              <a:t>toBe: gleiche Referenz bzw. gleicher einfacher Wert</a:t>
            </a:r>
          </a:p>
          <a:p>
            <a:pPr>
              <a:defRPr sz="2000" b="0">
                <a:latin typeface="Segoe UI"/>
              </a:defRPr>
            </a:pPr>
            <a:r>
              <a:rPr lang="de-DE" sz="2000" b="0">
                <a:latin typeface="Segoe UI"/>
              </a:rPr>
              <a:t>toEqual: gleicher Inhalt (tiefer Vergleich)</a:t>
            </a:r>
          </a:p>
          <a:p>
            <a:pPr>
              <a:defRPr sz="2000" b="0">
                <a:latin typeface="Segoe UI"/>
              </a:defRPr>
            </a:pPr>
            <a:r>
              <a:rPr lang="de-DE" sz="2000" b="0">
                <a:latin typeface="Segoe UI"/>
              </a:rPr>
              <a:t>toHaveLength, toContain, toBeUndefined, toThrow</a:t>
            </a:r>
          </a:p>
          <a:p>
            <a:pPr>
              <a:defRPr sz="2000" b="0">
                <a:latin typeface="Segoe UI"/>
              </a:defRPr>
            </a:pPr>
            <a:r>
              <a:rPr lang="de-DE" sz="2000" b="0">
                <a:latin typeface="Segoe UI"/>
              </a:rPr>
              <a:t>.not kehrt jeden Matcher um</a:t>
            </a:r>
          </a:p>
          <a:p>
            <a:pPr>
              <a:defRPr sz="2000" b="0">
                <a:latin typeface="Segoe UI"/>
              </a:defRPr>
            </a:pPr>
            <a:r>
              <a:rPr lang="de-DE" sz="2000" b="0">
                <a:latin typeface="Segoe UI"/>
              </a:rPr>
              <a:t>toBeTruthy nur sparsam: prüft fast nichts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Matcher</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expect(store.total()).toBe(1);</a:t>
            </a:r>
          </a:p>
          <a:p>
            <a:pPr algn="l"/>
            <a:r>
              <a:rPr sz="1500" b="0">
                <a:solidFill>
                  <a:srgbClr val="2B3A42"/>
                </a:solidFill>
                <a:latin typeface="Consolas"/>
              </a:rPr>
              <a:t>expect(store.filtered())</a:t>
            </a:r>
          </a:p>
          <a:p>
            <a:pPr algn="l"/>
            <a:r>
              <a:rPr sz="1500" b="0">
                <a:solidFill>
                  <a:srgbClr val="2B3A42"/>
                </a:solidFill>
                <a:latin typeface="Consolas"/>
              </a:rPr>
              <a:t>  .toEqual([lisa]);</a:t>
            </a:r>
          </a:p>
          <a:p>
            <a:pPr algn="l"/>
            <a:r>
              <a:rPr sz="1500" b="0">
                <a:solidFill>
                  <a:srgbClr val="2B3A42"/>
                </a:solidFill>
                <a:latin typeface="Consolas"/>
              </a:rPr>
              <a:t>expect(list).toHaveLength(2);</a:t>
            </a:r>
          </a:p>
          <a:p>
            <a:pPr algn="l"/>
            <a:r>
              <a:rPr sz="1500" b="0">
                <a:solidFill>
                  <a:srgbClr val="2B3A42"/>
                </a:solidFill>
                <a:latin typeface="Consolas"/>
              </a:rPr>
              <a:t>expect(text).toContain('Hans');</a:t>
            </a:r>
          </a:p>
          <a:p>
            <a:pPr algn="l"/>
            <a:r>
              <a:rPr sz="1500" b="0">
                <a:solidFill>
                  <a:srgbClr val="2B3A42"/>
                </a:solidFill>
                <a:latin typeface="Consolas"/>
              </a:rPr>
              <a:t>expect(store.selected())</a:t>
            </a:r>
          </a:p>
          <a:p>
            <a:pPr algn="l"/>
            <a:r>
              <a:rPr sz="1500" b="0">
                <a:solidFill>
                  <a:srgbClr val="2B3A42"/>
                </a:solidFill>
                <a:latin typeface="Consolas"/>
              </a:rPr>
              <a:t>  .toBeUndefined();</a:t>
            </a:r>
          </a:p>
          <a:p>
            <a:pPr algn="l"/>
            <a:r>
              <a:rPr sz="1500" b="0">
                <a:solidFill>
                  <a:srgbClr val="2B3A42"/>
                </a:solidFill>
                <a:latin typeface="Consolas"/>
              </a:rPr>
              <a:t>expect(store.error())</a:t>
            </a:r>
          </a:p>
          <a:p>
            <a:pPr algn="l"/>
            <a:r>
              <a:rPr sz="1500" b="0">
                <a:solidFill>
                  <a:srgbClr val="2B3A42"/>
                </a:solidFill>
                <a:latin typeface="Consolas"/>
              </a:rPr>
              <a:t>  .not.toBeUndefined();</a:t>
            </a: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Arrange, Act, Assert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Arrange: Ausgangslage herstellen (Daten, Ersatzobjekte)</a:t>
            </a:r>
          </a:p>
          <a:p>
            <a:pPr>
              <a:defRPr sz="2000" b="0">
                <a:latin typeface="Segoe UI"/>
              </a:defRPr>
            </a:pPr>
            <a:r>
              <a:rPr lang="de-DE" sz="2000" b="0">
                <a:latin typeface="Segoe UI"/>
              </a:rPr>
              <a:t>Act: genau eine Aktion ausführen</a:t>
            </a:r>
          </a:p>
          <a:p>
            <a:pPr>
              <a:defRPr sz="2000" b="0">
                <a:latin typeface="Segoe UI"/>
              </a:defRPr>
            </a:pPr>
            <a:r>
              <a:rPr lang="de-DE" sz="2000" b="0">
                <a:latin typeface="Segoe UI"/>
              </a:rPr>
              <a:t>Assert: Ergebnis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a:t>
            </a:r>
          </a:p>
          <a:p>
            <a:pPr lvl="1">
              <a:defRPr sz="1700" b="0">
                <a:latin typeface="Segoe UI"/>
              </a:defRPr>
            </a:pPr>
            <a:r>
              <a:rPr lang="de-DE" sz="1700" b="0">
                <a:latin typeface="Segoe UI"/>
              </a:rPr>
              <a:t>„should ignore upper and lower case“</a:t>
            </a:r>
          </a:p>
          <a:p>
            <a:pPr>
              <a:defRPr sz="2000" b="0">
                <a:latin typeface="Segoe UI"/>
              </a:defRPr>
            </a:pPr>
            <a:r>
              <a:rPr lang="de-DE" sz="2000" b="0">
                <a:latin typeface="Segoe UI"/>
              </a:rPr>
              <a:t>Kleine Hilfsfunktionen für wiederholtes Arrange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Arrange, Act, Assert</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it('should return an empty list</a:t>
            </a:r>
          </a:p>
          <a:p>
            <a:pPr algn="l"/>
            <a:r>
              <a:rPr sz="1300" b="0">
                <a:solidFill>
                  <a:srgbClr val="2B3A42"/>
                </a:solidFill>
                <a:latin typeface="Consolas"/>
              </a:rPr>
              <a:t>    when nothing matches',</a:t>
            </a:r>
          </a:p>
          <a:p>
            <a:pPr algn="l"/>
            <a:r>
              <a:rPr sz="1300" b="0">
                <a:solidFill>
                  <a:srgbClr val="2B3A42"/>
                </a:solidFill>
                <a:latin typeface="Consolas"/>
              </a:rPr>
              <a:t>  async () =&gt; {</a:t>
            </a:r>
          </a:p>
          <a:p>
            <a:pPr algn="l"/>
            <a:r>
              <a:rPr sz="1300" b="0">
                <a:solidFill>
                  <a:srgbClr val="2B3A42"/>
                </a:solidFill>
                <a:latin typeface="Consolas"/>
              </a:rPr>
              <a:t>  // Arrange</a:t>
            </a:r>
          </a:p>
          <a:p>
            <a:pPr algn="l"/>
            <a:r>
              <a:rPr sz="1300" b="0">
                <a:solidFill>
                  <a:srgbClr val="2B3A42"/>
                </a:solidFill>
                <a:latin typeface="Consolas"/>
              </a:rPr>
              <a:t>  const store = await loadedStore();</a:t>
            </a:r>
          </a:p>
          <a:p>
            <a:pPr algn="l"/>
            <a:r>
              <a:rPr sz="1300" b="0">
                <a:solidFill>
                  <a:srgbClr val="2B3A42"/>
                </a:solidFill>
                <a:latin typeface="Consolas"/>
              </a:rPr>
              <a:t>  // Act</a:t>
            </a:r>
          </a:p>
          <a:p>
            <a:pPr algn="l"/>
            <a:r>
              <a:rPr sz="1300" b="0">
                <a:solidFill>
                  <a:srgbClr val="2B3A42"/>
                </a:solidFill>
                <a:latin typeface="Consolas"/>
              </a:rPr>
              <a:t>  store.setFilter('xyz');</a:t>
            </a:r>
          </a:p>
          <a:p>
            <a:pPr algn="l"/>
            <a:r>
              <a:rPr sz="1300" b="0">
                <a:solidFill>
                  <a:srgbClr val="2B3A42"/>
                </a:solidFill>
                <a:latin typeface="Consolas"/>
              </a:rPr>
              <a:t>  // Assert</a:t>
            </a:r>
          </a:p>
          <a:p>
            <a:pPr algn="l"/>
            <a:r>
              <a:rPr sz="1300" b="0">
                <a:solidFill>
                  <a:srgbClr val="2B3A42"/>
                </a:solidFill>
                <a:latin typeface="Consolas"/>
              </a:rPr>
              <a:t>  expect(store.filtered())</a:t>
            </a:r>
          </a:p>
          <a:p>
            <a:pPr algn="l"/>
            <a:r>
              <a:rPr sz="1300" b="0">
                <a:solidFill>
                  <a:srgbClr val="2B3A42"/>
                </a:solidFill>
                <a:latin typeface="Consolas"/>
              </a:rPr>
              <a:t>    .toEqual([]);</a:t>
            </a:r>
          </a:p>
          <a:p>
            <a:pPr algn="l"/>
            <a:r>
              <a:rPr sz="1300" b="0">
                <a:solidFill>
                  <a:srgbClr val="2B3A42"/>
                </a:solidFill>
                <a:latin typeface="Consolas"/>
              </a:rPr>
              <a:t>});</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TestBed: Angular im Kleinen</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TestBed baut für jeden Test eine kleine Angular-Umgebung</a:t>
            </a:r>
          </a:p>
          <a:p>
            <a:pPr lvl="1">
              <a:defRPr sz="1530" b="0">
                <a:latin typeface="Segoe UI"/>
              </a:defRPr>
            </a:pPr>
            <a:r>
              <a:rPr lang="de-DE" sz="1530" b="0">
                <a:latin typeface="Segoe UI"/>
              </a:rPr>
              <a:t>mit eigenem Injector für Dependency Injection</a:t>
            </a:r>
          </a:p>
          <a:p>
            <a:pPr>
              <a:defRPr sz="1800" b="0">
                <a:latin typeface="Segoe UI"/>
              </a:defRPr>
            </a:pPr>
            <a:r>
              <a:rPr lang="de-DE" sz="1800" b="0">
                <a:latin typeface="Segoe UI"/>
              </a:rPr>
              <a:t>configureTestingModule({ imports, providers })</a:t>
            </a:r>
          </a:p>
          <a:p>
            <a:pPr lvl="1">
              <a:defRPr sz="1530" b="0">
                <a:latin typeface="Segoe UI"/>
              </a:defRPr>
            </a:pPr>
            <a:r>
              <a:rPr lang="de-DE" sz="1530" b="0">
                <a:latin typeface="Segoe UI"/>
              </a:rPr>
              <a:t>imports: Standalone-Komponenten, die getestet werden</a:t>
            </a:r>
          </a:p>
          <a:p>
            <a:pPr lvl="1">
              <a:defRPr sz="1530" b="0">
                <a:latin typeface="Segoe UI"/>
              </a:defRPr>
            </a:pPr>
            <a:r>
              <a:rPr lang="de-DE" sz="1530" b="0">
                <a:latin typeface="Segoe UI"/>
              </a:rPr>
              <a:t>providers: Services oder deren Ersatz</a:t>
            </a:r>
          </a:p>
          <a:p>
            <a:pPr>
              <a:defRPr sz="1800" b="0">
                <a:latin typeface="Segoe UI"/>
              </a:defRPr>
            </a:pPr>
            <a:r>
              <a:rPr lang="de-DE" sz="1800" b="0">
                <a:latin typeface="Segoe UI"/>
              </a:rPr>
              <a:t>TestBed.inject(Typ): Instanz aus dem Injector holen</a:t>
            </a:r>
          </a:p>
          <a:p>
            <a:pPr>
              <a:defRPr sz="1800" b="0">
                <a:latin typeface="Segoe UI"/>
              </a:defRPr>
            </a:pPr>
            <a:r>
              <a:rPr lang="de-DE" sz="1800" b="0">
                <a:latin typeface="Segoe UI"/>
              </a:rPr>
              <a:t>TestBed.createComponent(Typ): Komponente rendern</a:t>
            </a:r>
          </a:p>
          <a:p>
            <a:pPr>
              <a:defRPr sz="1800" b="0">
                <a:latin typeface="Segoe UI"/>
              </a:defRPr>
            </a:pPr>
            <a:r>
              <a:rPr lang="de-DE" sz="1800" b="0">
                <a:latin typeface="Segoe UI"/>
              </a:rPr>
              <a:t>Nach jedem Test setzt Angular das TestBed zurück</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TestBed</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configureTesting-</a:t>
            </a:r>
          </a:p>
          <a:p>
            <a:pPr algn="ctr"/>
            <a:r>
              <a:rPr sz="1400" b="0">
                <a:solidFill>
                  <a:srgbClr val="2B3A42"/>
                </a:solidFill>
                <a:latin typeface="Segoe UI"/>
              </a:rPr>
              <a:t>Module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inject(Service)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createComponent</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runInInjection-</a:t>
            </a:r>
          </a:p>
          <a:p>
            <a:pPr algn="ctr"/>
            <a:r>
              <a:rPr sz="1400" b="0">
                <a:solidFill>
                  <a:srgbClr val="2B3A42"/>
                </a:solidFill>
                <a:latin typeface="Segoe UI"/>
              </a:rPr>
              <a:t>Context</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tick()</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Arten von Ersatzobjekten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Stub oder Fake: Ersatz mit festen Daten</a:t>
            </a:r>
          </a:p>
          <a:p>
            <a:pPr lvl="1">
              <a:defRPr sz="1700" b="0">
                <a:latin typeface="Segoe UI"/>
              </a:defRPr>
            </a:pPr>
            <a:r>
              <a:rPr lang="de-DE" sz="1700" b="0">
                <a:latin typeface="Segoe UI"/>
              </a:rPr>
              <a:t>z. B. getAll liefert immer zwei Kunden</a:t>
            </a:r>
          </a:p>
          <a:p>
            <a:pPr>
              <a:defRPr sz="2000" b="0">
                <a:latin typeface="Segoe UI"/>
              </a:defRPr>
            </a:pPr>
            <a:r>
              <a:rPr lang="de-DE" sz="2000" b="0">
                <a:latin typeface="Segoe UI"/>
              </a:rPr>
              <a:t>Mock (vi.fn): zeichnet Aufrufe auf, Rückgabe steuerbar</a:t>
            </a:r>
          </a:p>
          <a:p>
            <a:pPr lvl="1">
              <a:defRPr sz="1700" b="0">
                <a:latin typeface="Segoe UI"/>
              </a:defRPr>
            </a:pPr>
            <a:r>
              <a:rPr lang="de-DE" sz="1700" b="0">
                <a:latin typeface="Segoe UI"/>
              </a:rPr>
              <a:t>„Wurde update mit diesem Kunden aufgerufen?“</a:t>
            </a:r>
          </a:p>
          <a:p>
            <a:pPr>
              <a:defRPr sz="2000" b="0">
                <a:latin typeface="Segoe UI"/>
              </a:defRPr>
            </a:pPr>
            <a:r>
              <a:rPr lang="de-DE" sz="2000" b="0">
                <a:latin typeface="Segoe UI"/>
              </a:rPr>
              <a:t>Spy (vi.spyOn): beobachtet eine echte Methode</a:t>
            </a:r>
          </a:p>
          <a:p>
            <a:pPr>
              <a:defRPr sz="2000" b="0">
                <a:latin typeface="Segoe UI"/>
              </a:defRPr>
            </a:pPr>
            <a:r>
              <a:rPr lang="de-DE" sz="2000" b="0">
                <a:latin typeface="Segoe UI"/>
              </a:rPr>
              <a:t>Echte Abhängigkeit: bei reinen Funktionen kein Ersatz</a:t>
            </a:r>
          </a:p>
          <a:p>
            <a:pPr>
              <a:defRPr sz="2000" b="0">
                <a:latin typeface="Segoe UI"/>
              </a:defRPr>
            </a:pPr>
            <a:r>
              <a:rPr lang="de-DE" sz="2000" b="0">
                <a:latin typeface="Segoe UI"/>
              </a:rPr>
              <a:t>Over-Mocking vermeiden: sonst testet man nur Ersatz</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Ersetzen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Service mit HTTP</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Zeit, Zufall, window</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Echt lassen</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reine Funktionen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computed, Pipes</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vi.fn: eine aufzeichnende Funktion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vi.fn() liefert eine Funktion ohne eigene Logik</a:t>
            </a:r>
          </a:p>
          <a:p>
            <a:pPr>
              <a:defRPr sz="2000" b="0">
                <a:latin typeface="Segoe UI"/>
              </a:defRPr>
            </a:pPr>
            <a:r>
              <a:rPr lang="de-DE" sz="2000" b="0">
                <a:latin typeface="Segoe UI"/>
              </a:rPr>
              <a:t>Sie merkt sich jeden Aufruf mit Parametern</a:t>
            </a:r>
          </a:p>
          <a:p>
            <a:pPr>
              <a:defRPr sz="2000" b="0">
                <a:latin typeface="Segoe UI"/>
              </a:defRPr>
            </a:pPr>
            <a:r>
              <a:rPr lang="de-DE" sz="2000" b="0">
                <a:latin typeface="Segoe UI"/>
              </a:rPr>
              <a:t>mockReturnValue(x): Rückgabewert festlegen</a:t>
            </a:r>
          </a:p>
          <a:p>
            <a:pPr>
              <a:defRPr sz="2000" b="0">
                <a:latin typeface="Segoe UI"/>
              </a:defRPr>
            </a:pPr>
            <a:r>
              <a:rPr lang="de-DE" sz="2000" b="0">
                <a:latin typeface="Segoe UI"/>
              </a:rPr>
              <a:t>mockImplementation(fn): eigene Logik einsetzen</a:t>
            </a:r>
          </a:p>
          <a:p>
            <a:pPr>
              <a:defRPr sz="2000" b="0">
                <a:latin typeface="Segoe UI"/>
              </a:defRPr>
            </a:pPr>
            <a:r>
              <a:rPr lang="de-DE" sz="2000" b="0">
                <a:latin typeface="Segoe UI"/>
              </a:rPr>
              <a:t>mockReset(): Aufrufe und Einstellungen löschen</a:t>
            </a:r>
          </a:p>
          <a:p>
            <a:pPr>
              <a:defRPr sz="2000" b="0">
                <a:latin typeface="Segoe UI"/>
              </a:defRPr>
            </a:pPr>
            <a:r>
              <a:rPr lang="de-DE" sz="2000" b="0">
                <a:latin typeface="Segoe UI"/>
              </a:rPr>
              <a:t>Prüfen: toHaveBeenCalledTimes, toHaveBeenCalledWith</a:t>
            </a:r>
          </a:p>
          <a:p>
            <a:pPr>
              <a:defRPr sz="2000" b="0">
                <a:latin typeface="Segoe UI"/>
              </a:defRPr>
            </a:pPr>
            <a:r>
              <a:rPr lang="de-DE" sz="2000" b="0">
                <a:latin typeface="Segoe UI"/>
              </a:rPr>
              <a:t>vi.spyOn(obj, 'name'): echte Methode beobachten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vi.fn im Einsatz</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getAll = vi.fn();</a:t>
            </a:r>
          </a:p>
          <a:p>
            <a:pPr algn="l"/>
            <a:r>
              <a:rPr sz="1300" b="0">
                <a:solidFill>
                  <a:srgbClr val="2B3A42"/>
                </a:solidFill>
                <a:latin typeface="Consolas"/>
              </a:rPr>
              <a:t>getAll.mockReturnValue(</a:t>
            </a:r>
          </a:p>
          <a:p>
            <a:pPr algn="l"/>
            <a:r>
              <a:rPr sz="1300" b="0">
                <a:solidFill>
                  <a:srgbClr val="2B3A42"/>
                </a:solidFill>
                <a:latin typeface="Consolas"/>
              </a:rPr>
              <a:t>  of([hans, lisa]));</a:t>
            </a:r>
          </a:p>
          <a:p>
            <a:pPr algn="l"/>
            <a:r>
              <a:rPr sz="1300" b="0">
                <a:solidFill>
                  <a:srgbClr val="2B3A42"/>
                </a:solidFill>
                <a:latin typeface="Consolas"/>
              </a:rPr>
              <a:t/>
            </a:r>
          </a:p>
          <a:p>
            <a:pPr algn="l"/>
            <a:r>
              <a:rPr sz="1300" b="0">
                <a:solidFill>
                  <a:srgbClr val="2B3A42"/>
                </a:solidFill>
                <a:latin typeface="Consolas"/>
              </a:rPr>
              <a:t>getAll();  // liefert das Observable</a:t>
            </a:r>
          </a:p>
          <a:p>
            <a:pPr algn="l"/>
            <a:r>
              <a:rPr sz="1300" b="0">
                <a:solidFill>
                  <a:srgbClr val="2B3A42"/>
                </a:solidFill>
                <a:latin typeface="Consolas"/>
              </a:rPr>
              <a:t/>
            </a:r>
          </a:p>
          <a:p>
            <a:pPr algn="l"/>
            <a:r>
              <a:rPr sz="1300" b="0">
                <a:solidFill>
                  <a:srgbClr val="2B3A42"/>
                </a:solidFill>
                <a:latin typeface="Consolas"/>
              </a:rPr>
              <a:t>expect(getAll)</a:t>
            </a:r>
          </a:p>
          <a:p>
            <a:pPr algn="l"/>
            <a:r>
              <a:rPr sz="1300" b="0">
                <a:solidFill>
                  <a:srgbClr val="2B3A42"/>
                </a:solidFill>
                <a:latin typeface="Consolas"/>
              </a:rPr>
              <a:t>  .toHaveBeenCalledTimes(1);</a:t>
            </a:r>
          </a:p>
          <a:p>
            <a:pPr algn="l"/>
            <a:r>
              <a:rPr sz="1300" b="0">
                <a:solidFill>
                  <a:srgbClr val="2B3A42"/>
                </a:solidFill>
                <a:latin typeface="Consolas"/>
              </a:rPr>
              <a:t/>
            </a:r>
          </a:p>
          <a:p>
            <a:pPr algn="l"/>
            <a:r>
              <a:rPr sz="1300" b="0">
                <a:solidFill>
                  <a:srgbClr val="2B3A42"/>
                </a:solidFill>
                <a:latin typeface="Consolas"/>
              </a:rPr>
              <a:t>getAll.mockReturnValue(</a:t>
            </a:r>
          </a:p>
          <a:p>
            <a:pPr algn="l"/>
            <a:r>
              <a:rPr sz="1300" b="0">
                <a:solidFill>
                  <a:srgbClr val="2B3A42"/>
                </a:solidFill>
                <a:latin typeface="Consolas"/>
              </a:rPr>
              <a:t>  throwError(() =&gt; new Error()));</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Services per providers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const getAll = vi.fn();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beforeEach(()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getAll.mockReset();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 provide: CustomerService, useValue: { getAll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set an error when loading fails', 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getAll.mockReturnValue(throwError(() =&gt; new Error('Netzwerk')));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store = TestBed.inject(CustomerStore);  // Store bekommt den Ersatz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store.load();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expect(store.error()).toBe('Fehler beim Laden der Kunden.');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expect(store.loading()).toBe(false);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passiert beim Ersetzen per DI?</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Store ruft inject(CustomerService) auf</a:t>
            </a:r>
          </a:p>
          <a:p>
            <a:pPr>
              <a:defRPr sz="2000" b="0">
                <a:latin typeface="Segoe UI"/>
              </a:defRPr>
            </a:pPr>
            <a:r>
              <a:rPr lang="de-DE" sz="2000" b="0">
                <a:latin typeface="Segoe UI"/>
              </a:rPr>
              <a:t>Der Injector des TestBed sucht einen Provider dafür</a:t>
            </a:r>
          </a:p>
          <a:p>
            <a:pPr>
              <a:defRPr sz="2000" b="0">
                <a:latin typeface="Segoe UI"/>
              </a:defRPr>
            </a:pPr>
            <a:r>
              <a:rPr lang="de-DE" sz="2000" b="0">
                <a:latin typeface="Segoe UI"/>
              </a:rPr>
              <a:t>Er findet { provide, useValue } und gibt das Objekt heraus</a:t>
            </a:r>
          </a:p>
          <a:p>
            <a:pPr>
              <a:defRPr sz="2000" b="0">
                <a:latin typeface="Segoe UI"/>
              </a:defRPr>
            </a:pPr>
            <a:r>
              <a:rPr lang="de-DE" sz="2000" b="0">
                <a:latin typeface="Segoe UI"/>
              </a:rPr>
              <a:t>Der Store merkt keinen Unterschied, sein Code bleibt gleich</a:t>
            </a:r>
          </a:p>
          <a:p>
            <a:pPr>
              <a:defRPr sz="2000" b="0">
                <a:latin typeface="Segoe UI"/>
              </a:defRPr>
            </a:pPr>
            <a:r>
              <a:rPr lang="de-DE" sz="2000" b="0">
                <a:latin typeface="Segoe UI"/>
              </a:rPr>
              <a:t>of(...) liefert Daten, throwError(...) einen Fehler</a:t>
            </a:r>
          </a:p>
          <a:p>
            <a:pPr>
              <a:defRPr sz="2000" b="0">
                <a:latin typeface="Segoe UI"/>
              </a:defRPr>
            </a:pPr>
            <a:r>
              <a:rPr lang="de-DE" sz="2000" b="0">
                <a:latin typeface="Segoe UI"/>
              </a:rPr>
              <a:t>mockReset in beforeEach: jeder Test startet sauber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CustomerStore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inject(CustomerService)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TestBed-Injector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useValue: { getAll }</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Ersatz statt echtem Service</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Gleicher Store, anderer Injector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Der Code des CustomerStore bleibt gleich; nur der Injector entscheidet, was inject(CustomerService) liefert.</a:t>
            </a:r>
          </a:p>
        </p:txBody>
      </p:sp>
      <p:sp>
        <p:nvSpPr>
          <p:cNvPr id="4" name="Rectangle 3"/>
          <p:cNvSpPr/>
          <p:nvPr/>
        </p:nvSpPr>
        <p:spPr>
          <a:xfrm>
            <a:off x="838080" y="1650000"/>
            <a:ext cx="10514160" cy="423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CustomerStore in zwei Umgebungen</a:t>
            </a:r>
          </a:p>
        </p:txBody>
      </p:sp>
      <p:sp>
        <p:nvSpPr>
          <p:cNvPr id="6" name="Rectangle 5"/>
          <p:cNvSpPr/>
          <p:nvPr/>
        </p:nvSpPr>
        <p:spPr>
          <a:xfrm>
            <a:off x="948080" y="1980000"/>
            <a:ext cx="4887080" cy="379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Anwendung: Root-Injector</a:t>
            </a:r>
          </a:p>
          <a:p>
            <a:pPr algn="l"/>
            <a:r>
              <a:rPr sz="1300" b="1">
                <a:solidFill>
                  <a:srgbClr val="2B3A42"/>
                </a:solidFill>
                <a:latin typeface="Segoe UI"/>
              </a:rPr>
              <a:t>providedIn: 'root'</a:t>
            </a:r>
          </a:p>
        </p:txBody>
      </p:sp>
      <p:sp>
        <p:nvSpPr>
          <p:cNvPr id="8" name="Rounded Rectangle 7"/>
          <p:cNvSpPr/>
          <p:nvPr/>
        </p:nvSpPr>
        <p:spPr>
          <a:xfrm>
            <a:off x="1058080" y="254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CustomerStore (App)</a:t>
            </a:r>
          </a:p>
        </p:txBody>
      </p:sp>
      <p:sp>
        <p:nvSpPr>
          <p:cNvPr id="9" name="Rounded Rectangle 8"/>
          <p:cNvSpPr/>
          <p:nvPr/>
        </p:nvSpPr>
        <p:spPr>
          <a:xfrm>
            <a:off x="1058080" y="3600000"/>
            <a:ext cx="46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CustomerService</a:t>
            </a:r>
          </a:p>
          <a:p>
            <a:pPr algn="ctr"/>
            <a:r>
              <a:rPr sz="1300" b="0">
                <a:solidFill>
                  <a:srgbClr val="2B3A42"/>
                </a:solidFill>
                <a:latin typeface="Segoe UI"/>
              </a:rPr>
              <a:t>echter Service</a:t>
            </a:r>
          </a:p>
        </p:txBody>
      </p:sp>
      <p:sp>
        <p:nvSpPr>
          <p:cNvPr id="10" name="Rounded Rectangle 9"/>
          <p:cNvSpPr/>
          <p:nvPr/>
        </p:nvSpPr>
        <p:spPr>
          <a:xfrm>
            <a:off x="1058080" y="484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HttpClient -&gt; Server</a:t>
            </a:r>
          </a:p>
        </p:txBody>
      </p:sp>
      <p:sp>
        <p:nvSpPr>
          <p:cNvPr id="11" name="Rectangle 10"/>
          <p:cNvSpPr/>
          <p:nvPr/>
        </p:nvSpPr>
        <p:spPr>
          <a:xfrm>
            <a:off x="6355160" y="1980000"/>
            <a:ext cx="4887080" cy="379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02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Test: TestBed-Injector</a:t>
            </a:r>
          </a:p>
          <a:p>
            <a:pPr algn="l"/>
            <a:r>
              <a:rPr sz="1300" b="1">
                <a:solidFill>
                  <a:srgbClr val="2B3A42"/>
                </a:solidFill>
                <a:latin typeface="Segoe UI"/>
              </a:rPr>
              <a:t>configureTestingModule({ providers })</a:t>
            </a:r>
          </a:p>
        </p:txBody>
      </p:sp>
      <p:sp>
        <p:nvSpPr>
          <p:cNvPr id="13" name="Rounded Rectangle 12"/>
          <p:cNvSpPr/>
          <p:nvPr/>
        </p:nvSpPr>
        <p:spPr>
          <a:xfrm>
            <a:off x="6465160" y="2540000"/>
            <a:ext cx="46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CustomerStore (Test)</a:t>
            </a:r>
          </a:p>
          <a:p>
            <a:pPr algn="ctr"/>
            <a:r>
              <a:rPr sz="1300" b="0">
                <a:solidFill>
                  <a:srgbClr val="2B3A42"/>
                </a:solidFill>
                <a:latin typeface="Segoe UI"/>
              </a:rPr>
              <a:t>TestBed.inject(CustomerStore)</a:t>
            </a:r>
          </a:p>
        </p:txBody>
      </p:sp>
      <p:sp>
        <p:nvSpPr>
          <p:cNvPr id="14" name="Rounded Rectangle 13"/>
          <p:cNvSpPr/>
          <p:nvPr/>
        </p:nvSpPr>
        <p:spPr>
          <a:xfrm>
            <a:off x="6465160" y="3780000"/>
            <a:ext cx="466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 getAll: vi.fn() }</a:t>
            </a:r>
          </a:p>
          <a:p>
            <a:pPr algn="ctr"/>
            <a:r>
              <a:rPr sz="1300" b="1">
                <a:solidFill>
                  <a:srgbClr val="FFFFFF"/>
                </a:solidFill>
                <a:latin typeface="Segoe UI"/>
              </a:rPr>
              <a:t>provide: CustomerService, useValue</a:t>
            </a:r>
          </a:p>
        </p:txBody>
      </p:sp>
      <p:sp>
        <p:nvSpPr>
          <p:cNvPr id="15" name="Rounded Rectangle 14"/>
          <p:cNvSpPr/>
          <p:nvPr/>
        </p:nvSpPr>
        <p:spPr>
          <a:xfrm>
            <a:off x="6465160" y="502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kein HttpClient nötig</a:t>
            </a:r>
          </a:p>
        </p:txBody>
      </p:sp>
      <p:cxnSp>
        <p:nvCxnSpPr>
          <p:cNvPr id="16" name="Connector 15"/>
          <p:cNvCxnSpPr/>
          <p:nvPr/>
        </p:nvCxnSpPr>
        <p:spPr>
          <a:xfrm>
            <a:off x="3391620" y="3180000"/>
            <a:ext cx="0" cy="42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51620" y="3250000"/>
            <a:ext cx="1190976"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inject()</a:t>
            </a:r>
          </a:p>
        </p:txBody>
      </p:sp>
      <p:cxnSp>
        <p:nvCxnSpPr>
          <p:cNvPr id="18" name="Connector 17"/>
          <p:cNvCxnSpPr/>
          <p:nvPr/>
        </p:nvCxnSpPr>
        <p:spPr>
          <a:xfrm>
            <a:off x="8798700" y="3360000"/>
            <a:ext cx="0" cy="42000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858700" y="3430000"/>
            <a:ext cx="1190976" cy="280000"/>
          </a:xfrm>
          <a:prstGeom prst="rect">
            <a:avLst/>
          </a:prstGeom>
          <a:solidFill>
            <a:srgbClr val="FFFFFF"/>
          </a:solidFill>
        </p:spPr>
        <p:txBody>
          <a:bodyPr wrap="none" anchor="ctr" lIns="70000" rIns="70000" tIns="0" bIns="0">
            <a:spAutoFit/>
          </a:bodyPr>
          <a:lstStyle/>
          <a:p>
            <a:pPr algn="l"/>
            <a:r>
              <a:rPr sz="1200" b="1">
                <a:solidFill>
                  <a:srgbClr val="C05A1E"/>
                </a:solidFill>
                <a:latin typeface="Segoe UI"/>
              </a:rPr>
              <a:t>inject()</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 testen: der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provideHttpClientTesting ersetzt das Netzwerk</a:t>
            </a:r>
          </a:p>
          <a:p>
            <a:pPr>
              <a:defRPr sz="2000" b="0">
                <a:latin typeface="Segoe UI"/>
              </a:defRPr>
            </a:pPr>
            <a:r>
              <a:rPr lang="de-DE" sz="2000" b="0">
                <a:latin typeface="Segoe UI"/>
              </a:rPr>
              <a:t>Der Service sendet wie immer über HttpClient</a:t>
            </a:r>
          </a:p>
          <a:p>
            <a:pPr>
              <a:defRPr sz="2000" b="0">
                <a:latin typeface="Segoe UI"/>
              </a:defRPr>
            </a:pPr>
            <a:r>
              <a:rPr lang="de-DE" sz="2000" b="0">
                <a:latin typeface="Segoe UI"/>
              </a:rPr>
              <a:t>Die Anfrage bleibt im Test-Backend hängen</a:t>
            </a:r>
          </a:p>
          <a:p>
            <a:pPr>
              <a:defRPr sz="2000" b="0">
                <a:latin typeface="Segoe UI"/>
              </a:defRPr>
            </a:pPr>
            <a:r>
              <a:rPr lang="de-DE" sz="2000" b="0">
                <a:latin typeface="Segoe UI"/>
              </a:rPr>
              <a:t>Der Test holt sie mit expectOne(url)</a:t>
            </a:r>
          </a:p>
          <a:p>
            <a:pPr>
              <a:defRPr sz="2000" b="0">
                <a:latin typeface="Segoe UI"/>
              </a:defRPr>
            </a:pPr>
            <a:r>
              <a:rPr lang="de-DE" sz="2000" b="0">
                <a:latin typeface="Segoe UI"/>
              </a:rPr>
              <a:t>flush(daten) schickt die Antwort zurück</a:t>
            </a:r>
          </a:p>
          <a:p>
            <a:pPr>
              <a:defRPr sz="2000" b="0">
                <a:latin typeface="Segoe UI"/>
              </a:defRPr>
            </a:pPr>
            <a:r>
              <a:rPr lang="de-DE" sz="2000" b="0">
                <a:latin typeface="Segoe UI"/>
              </a:rPr>
              <a:t>verify(): keine Anfrage darf offen bleiben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Test: subscribe</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CustomerService</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HttpClient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Test-Backend</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Test: expectOne + flush</a:t>
            </a: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beforeEach(()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[provideHttpClient(), provideHttpClientTesting()]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service = TestBed.inject(CustomerService);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httpMock = TestBed.inject(HttpTestingController);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afterEach(() =&gt; httpMock.verify());   // kein Request darf offen bleiben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send the customer with PUT when updating',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customer = { ...new Customer('Lisa', 'Simpson'), id: '1'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service.update(customer).subscribe();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request = httpMock.expectOne('api/customer/1');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expect(request.request.method).toBe('PUT');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expect(request.request.body).toEqual(customer);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request.flush({ data: customer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HttpTestingController im Detail</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Erst subscribe, dann expectOne</a:t>
            </a:r>
          </a:p>
          <a:p>
            <a:pPr lvl="1">
              <a:defRPr sz="1700" b="0">
                <a:latin typeface="Segoe UI"/>
              </a:defRPr>
            </a:pPr>
            <a:r>
              <a:rPr lang="de-DE" sz="1700" b="0">
                <a:latin typeface="Segoe UI"/>
              </a:rPr>
              <a:t>Observables vom HttpClient senden erst beim Abonnieren</a:t>
            </a:r>
          </a:p>
          <a:p>
            <a:pPr>
              <a:defRPr sz="2000" b="0">
                <a:latin typeface="Segoe UI"/>
              </a:defRPr>
            </a:pPr>
            <a:r>
              <a:rPr lang="de-DE" sz="2000" b="0">
                <a:latin typeface="Segoe UI"/>
              </a:rPr>
              <a:t>expectOne(url) wirft, wenn es 0 oder mehr als 1 Anfrage gibt</a:t>
            </a:r>
          </a:p>
          <a:p>
            <a:pPr>
              <a:defRPr sz="2000" b="0">
                <a:latin typeface="Segoe UI"/>
              </a:defRPr>
            </a:pPr>
            <a:r>
              <a:rPr lang="de-DE" sz="2000" b="0">
                <a:latin typeface="Segoe UI"/>
              </a:rPr>
              <a:t>Rückgabe: ein TestRequest</a:t>
            </a:r>
          </a:p>
          <a:p>
            <a:pPr lvl="1">
              <a:defRPr sz="1700" b="0">
                <a:latin typeface="Segoe UI"/>
              </a:defRPr>
            </a:pPr>
            <a:r>
              <a:rPr lang="de-DE" sz="1700" b="0">
                <a:latin typeface="Segoe UI"/>
              </a:rPr>
              <a:t>request.method, request.body, request.headers prüfen</a:t>
            </a:r>
          </a:p>
          <a:p>
            <a:pPr>
              <a:defRPr sz="2000" b="0">
                <a:latin typeface="Segoe UI"/>
              </a:defRPr>
            </a:pPr>
            <a:r>
              <a:rPr lang="de-DE" sz="2000" b="0">
                <a:latin typeface="Segoe UI"/>
              </a:rPr>
              <a:t>flush(body): Antwort mit Status 200 senden</a:t>
            </a:r>
          </a:p>
          <a:p>
            <a:pPr>
              <a:defRPr sz="2000" b="0">
                <a:latin typeface="Segoe UI"/>
              </a:defRPr>
            </a:pPr>
            <a:r>
              <a:rPr lang="de-DE" sz="2000" b="0">
                <a:latin typeface="Segoe UI"/>
              </a:rPr>
              <a:t>flush('Fehler', { status: 500, statusText: '...' }): Fehlerfall</a:t>
            </a:r>
          </a:p>
          <a:p>
            <a:pPr>
              <a:defRPr sz="2000" b="0">
                <a:latin typeface="Segoe UI"/>
              </a:defRPr>
            </a:pPr>
            <a:r>
              <a:rPr lang="de-DE" sz="2000" b="0">
                <a:latin typeface="Segoe UI"/>
              </a:rPr>
              <a:t>expectNone(url): prüfen, dass nichts gesendet wurde</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HTTP-Test mit HttpTestingController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Anfrage verlässt den Test nie: Der Test fängt sie ab, prüft sie und beantwortet sie selbst mit flush().</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Test (it)</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CustomerService</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HttpClient</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HttpTestingController</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58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26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1. update(customer).subscribe()</a:t>
            </a:r>
          </a:p>
        </p:txBody>
      </p:sp>
      <p:cxnSp>
        <p:nvCxnSpPr>
          <p:cNvPr id="14" name="Connector 13"/>
          <p:cNvCxnSpPr/>
          <p:nvPr/>
        </p:nvCxnSpPr>
        <p:spPr>
          <a:xfrm>
            <a:off x="4780890" y="294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23755" y="262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2. put('api/customer/1', customer)</a:t>
            </a:r>
          </a:p>
        </p:txBody>
      </p:sp>
      <p:cxnSp>
        <p:nvCxnSpPr>
          <p:cNvPr id="16" name="Connector 15"/>
          <p:cNvCxnSpPr/>
          <p:nvPr/>
        </p:nvCxnSpPr>
        <p:spPr>
          <a:xfrm>
            <a:off x="7409430" y="330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52295" y="298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3. Anfrage ablegen (kein Netzwerk)</a:t>
            </a:r>
          </a:p>
        </p:txBody>
      </p:sp>
      <p:cxnSp>
        <p:nvCxnSpPr>
          <p:cNvPr id="18" name="Connector 17"/>
          <p:cNvCxnSpPr/>
          <p:nvPr/>
        </p:nvCxnSpPr>
        <p:spPr>
          <a:xfrm>
            <a:off x="2152350" y="36692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182350" y="3349200"/>
            <a:ext cx="7825620" cy="300000"/>
          </a:xfrm>
          <a:prstGeom prst="rect">
            <a:avLst/>
          </a:prstGeom>
          <a:noFill/>
        </p:spPr>
        <p:txBody>
          <a:bodyPr wrap="square" anchor="b" lIns="70000" rIns="70000" tIns="0" bIns="0">
            <a:spAutoFit/>
          </a:bodyPr>
          <a:lstStyle/>
          <a:p>
            <a:pPr algn="ctr"/>
            <a:r>
              <a:rPr sz="1500" b="0">
                <a:solidFill>
                  <a:srgbClr val="2B3A42"/>
                </a:solidFill>
                <a:latin typeface="Segoe UI"/>
              </a:rPr>
              <a:t>4. expectOne('api/customer/1')</a:t>
            </a:r>
          </a:p>
        </p:txBody>
      </p:sp>
      <p:cxnSp>
        <p:nvCxnSpPr>
          <p:cNvPr id="20" name="Connector 19"/>
          <p:cNvCxnSpPr/>
          <p:nvPr/>
        </p:nvCxnSpPr>
        <p:spPr>
          <a:xfrm flipH="1">
            <a:off x="2172350" y="4029200"/>
            <a:ext cx="78656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82350" y="3709200"/>
            <a:ext cx="7825620" cy="300000"/>
          </a:xfrm>
          <a:prstGeom prst="rect">
            <a:avLst/>
          </a:prstGeom>
          <a:noFill/>
        </p:spPr>
        <p:txBody>
          <a:bodyPr wrap="square" anchor="b" lIns="70000" rIns="70000" tIns="0" bIns="0">
            <a:spAutoFit/>
          </a:bodyPr>
          <a:lstStyle/>
          <a:p>
            <a:pPr algn="ctr"/>
            <a:r>
              <a:rPr sz="1500" b="0">
                <a:solidFill>
                  <a:srgbClr val="404B52"/>
                </a:solidFill>
                <a:latin typeface="Segoe UI"/>
              </a:rPr>
              <a:t>5. TestRequest</a:t>
            </a:r>
          </a:p>
        </p:txBody>
      </p:sp>
      <p:cxnSp>
        <p:nvCxnSpPr>
          <p:cNvPr id="22" name="Connector 21"/>
          <p:cNvCxnSpPr/>
          <p:nvPr/>
        </p:nvCxnSpPr>
        <p:spPr>
          <a:xfrm>
            <a:off x="2152350" y="425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532350" y="425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72350" y="438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582350" y="4102400"/>
            <a:ext cx="2128540" cy="300000"/>
          </a:xfrm>
          <a:prstGeom prst="rect">
            <a:avLst/>
          </a:prstGeom>
          <a:noFill/>
        </p:spPr>
        <p:txBody>
          <a:bodyPr wrap="square" anchor="ctr" lIns="70000" rIns="70000" tIns="0" bIns="0">
            <a:spAutoFit/>
          </a:bodyPr>
          <a:lstStyle/>
          <a:p>
            <a:pPr algn="l"/>
            <a:r>
              <a:rPr sz="1500" b="0">
                <a:solidFill>
                  <a:srgbClr val="2B3A42"/>
                </a:solidFill>
                <a:latin typeface="Segoe UI"/>
              </a:rPr>
              <a:t>6. PUT und body prüfen</a:t>
            </a:r>
          </a:p>
        </p:txBody>
      </p:sp>
      <p:cxnSp>
        <p:nvCxnSpPr>
          <p:cNvPr id="26" name="Connector 25"/>
          <p:cNvCxnSpPr/>
          <p:nvPr/>
        </p:nvCxnSpPr>
        <p:spPr>
          <a:xfrm>
            <a:off x="2152350" y="47492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182350" y="4429200"/>
            <a:ext cx="7825620" cy="300000"/>
          </a:xfrm>
          <a:prstGeom prst="rect">
            <a:avLst/>
          </a:prstGeom>
          <a:noFill/>
        </p:spPr>
        <p:txBody>
          <a:bodyPr wrap="square" anchor="b" lIns="70000" rIns="70000" tIns="0" bIns="0">
            <a:spAutoFit/>
          </a:bodyPr>
          <a:lstStyle/>
          <a:p>
            <a:pPr algn="ctr"/>
            <a:r>
              <a:rPr sz="1500" b="0">
                <a:solidFill>
                  <a:srgbClr val="2B3A42"/>
                </a:solidFill>
                <a:latin typeface="Segoe UI"/>
              </a:rPr>
              <a:t>7. request.flush({ data: customer })</a:t>
            </a:r>
          </a:p>
        </p:txBody>
      </p:sp>
      <p:cxnSp>
        <p:nvCxnSpPr>
          <p:cNvPr id="28" name="Connector 27"/>
          <p:cNvCxnSpPr/>
          <p:nvPr/>
        </p:nvCxnSpPr>
        <p:spPr>
          <a:xfrm flipH="1">
            <a:off x="4800890" y="5109200"/>
            <a:ext cx="523708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810890" y="4789200"/>
            <a:ext cx="5197080" cy="300000"/>
          </a:xfrm>
          <a:prstGeom prst="rect">
            <a:avLst/>
          </a:prstGeom>
          <a:noFill/>
        </p:spPr>
        <p:txBody>
          <a:bodyPr wrap="square" anchor="b" lIns="70000" rIns="70000" tIns="0" bIns="0">
            <a:spAutoFit/>
          </a:bodyPr>
          <a:lstStyle/>
          <a:p>
            <a:pPr algn="ctr"/>
            <a:r>
              <a:rPr sz="1500" b="0">
                <a:solidFill>
                  <a:srgbClr val="404B52"/>
                </a:solidFill>
                <a:latin typeface="Segoe UI"/>
              </a:rPr>
              <a:t>8. Antwort über HttpClient</a:t>
            </a:r>
          </a:p>
        </p:txBody>
      </p:sp>
      <p:cxnSp>
        <p:nvCxnSpPr>
          <p:cNvPr id="30" name="Connector 29"/>
          <p:cNvCxnSpPr/>
          <p:nvPr/>
        </p:nvCxnSpPr>
        <p:spPr>
          <a:xfrm flipH="1">
            <a:off x="2172350" y="54692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495215" y="5149200"/>
            <a:ext cx="3942810" cy="300000"/>
          </a:xfrm>
          <a:prstGeom prst="rect">
            <a:avLst/>
          </a:prstGeom>
          <a:noFill/>
        </p:spPr>
        <p:txBody>
          <a:bodyPr wrap="square" anchor="b" lIns="70000" rIns="70000" tIns="0" bIns="0">
            <a:spAutoFit/>
          </a:bodyPr>
          <a:lstStyle/>
          <a:p>
            <a:pPr algn="ctr"/>
            <a:r>
              <a:rPr sz="1500" b="0">
                <a:solidFill>
                  <a:srgbClr val="404B52"/>
                </a:solidFill>
                <a:latin typeface="Segoe UI"/>
              </a:rPr>
              <a:t>9. Customer an subscribe (nach map)</a:t>
            </a:r>
          </a:p>
        </p:txBody>
      </p:sp>
      <p:cxnSp>
        <p:nvCxnSpPr>
          <p:cNvPr id="32" name="Connector 31"/>
          <p:cNvCxnSpPr/>
          <p:nvPr/>
        </p:nvCxnSpPr>
        <p:spPr>
          <a:xfrm>
            <a:off x="2152350" y="58292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182350" y="5509200"/>
            <a:ext cx="7825620" cy="300000"/>
          </a:xfrm>
          <a:prstGeom prst="rect">
            <a:avLst/>
          </a:prstGeom>
          <a:noFill/>
        </p:spPr>
        <p:txBody>
          <a:bodyPr wrap="square" anchor="b" lIns="70000" rIns="70000" tIns="0" bIns="0">
            <a:spAutoFit/>
          </a:bodyPr>
          <a:lstStyle/>
          <a:p>
            <a:pPr algn="ctr"/>
            <a:r>
              <a:rPr sz="1500" b="0">
                <a:solidFill>
                  <a:srgbClr val="2B3A42"/>
                </a:solidFill>
                <a:latin typeface="Segoe UI"/>
              </a:rPr>
              <a:t>10. afterEach: verify()</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Komponententest: die Fixture</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TestBed.createComponent(Typ) liefert eine ComponentFixture</a:t>
            </a:r>
          </a:p>
          <a:p>
            <a:pPr>
              <a:defRPr sz="1800" b="0">
                <a:latin typeface="Segoe UI"/>
              </a:defRPr>
            </a:pPr>
            <a:r>
              <a:rPr lang="de-DE" sz="1800" b="0">
                <a:latin typeface="Segoe UI"/>
              </a:rPr>
              <a:t>fixture.componentInstance: das Objekt der Klasse</a:t>
            </a:r>
          </a:p>
          <a:p>
            <a:pPr>
              <a:defRPr sz="1800" b="0">
                <a:latin typeface="Segoe UI"/>
              </a:defRPr>
            </a:pPr>
            <a:r>
              <a:rPr lang="de-DE" sz="1800" b="0">
                <a:latin typeface="Segoe UI"/>
              </a:rPr>
              <a:t>fixture.nativeElement: das Host-Element im DOM</a:t>
            </a:r>
          </a:p>
          <a:p>
            <a:pPr>
              <a:defRPr sz="1800" b="0">
                <a:latin typeface="Segoe UI"/>
              </a:defRPr>
            </a:pPr>
            <a:r>
              <a:rPr lang="de-DE" sz="1800" b="0">
                <a:latin typeface="Segoe UI"/>
              </a:rPr>
              <a:t>fixture.componentRef: zum Setzen von Inputs (setInput)</a:t>
            </a:r>
          </a:p>
          <a:p>
            <a:pPr>
              <a:defRPr sz="1800" b="0">
                <a:latin typeface="Segoe UI"/>
              </a:defRPr>
            </a:pPr>
            <a:r>
              <a:rPr lang="de-DE" sz="1800" b="0">
                <a:latin typeface="Segoe UI"/>
              </a:rPr>
              <a:t>fixture.debugElement: Suche mit By.css, triggerEventHandler</a:t>
            </a:r>
          </a:p>
          <a:p>
            <a:pPr>
              <a:defRPr sz="1800" b="0">
                <a:latin typeface="Segoe UI"/>
              </a:defRPr>
            </a:pPr>
            <a:r>
              <a:rPr lang="de-DE" sz="1800" b="0">
                <a:latin typeface="Segoe UI"/>
              </a:rPr>
              <a:t>fixture.detectChanges(): Change Detection sofort ausführen</a:t>
            </a:r>
          </a:p>
          <a:p>
            <a:pPr>
              <a:defRPr sz="1800" b="0">
                <a:latin typeface="Segoe UI"/>
              </a:defRPr>
            </a:pPr>
            <a:r>
              <a:rPr lang="de-DE" sz="1800" b="0">
                <a:latin typeface="Segoe UI"/>
              </a:rPr>
              <a:t>await fixture.whenStable(): warten, bis alles gerendert ist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ComponentFixture</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componentInstance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nativeElement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componentRef</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debugElement</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whenStable()</a:t>
            </a: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Komponententest: Vorbereitung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describe('CustomerListItemComponent',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let fixture: ComponentFixture&lt;CustomerListItemComponent&gt;;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el = () =&gt; fixture.nativeElement as HTMLElement;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beforeEach(async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imports: [CustomerListItemComponent],   // Standalone-Komponente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[provideRouter([])]           // für routerLink im Template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}).compileComponents();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 = TestBed.createComponent(CustomerListItemComponent);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async function render(customer: Customer, selected = 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fixture.componentRef.setInput('customer', 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fixture.componentRef.setInput('selected', selected);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fixture.whenStable();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steckt im Test der Kundenliste?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customer-list.component.spec.ts: echte Komponenten, echter Store, nur das Netzwerk ist ersetzt.</a:t>
            </a:r>
          </a:p>
        </p:txBody>
      </p:sp>
      <p:sp>
        <p:nvSpPr>
          <p:cNvPr id="4" name="Rectangle 3"/>
          <p:cNvSpPr/>
          <p:nvPr/>
        </p:nvSpPr>
        <p:spPr>
          <a:xfrm>
            <a:off x="838080" y="1650000"/>
            <a:ext cx="10514160" cy="42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60510"/>
          </a:xfrm>
          <a:prstGeom prst="rect">
            <a:avLst/>
          </a:prstGeom>
          <a:noFill/>
        </p:spPr>
        <p:txBody>
          <a:bodyPr wrap="square" anchor="t" lIns="70000" rIns="70000" tIns="0" bIns="0">
            <a:spAutoFit/>
          </a:bodyPr>
          <a:lstStyle/>
          <a:p>
            <a:pPr algn="l"/>
            <a:r>
              <a:rPr sz="1300" b="1">
                <a:solidFill>
                  <a:srgbClr val="2B3A42"/>
                </a:solidFill>
                <a:latin typeface="Segoe UI"/>
              </a:rPr>
              <a:t>TestBed</a:t>
            </a:r>
          </a:p>
        </p:txBody>
      </p:sp>
      <p:sp>
        <p:nvSpPr>
          <p:cNvPr id="6" name="Rectangle 5"/>
          <p:cNvSpPr/>
          <p:nvPr/>
        </p:nvSpPr>
        <p:spPr>
          <a:xfrm>
            <a:off x="948080" y="1950510"/>
            <a:ext cx="4887080" cy="387932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1990510"/>
            <a:ext cx="4767080" cy="260510"/>
          </a:xfrm>
          <a:prstGeom prst="rect">
            <a:avLst/>
          </a:prstGeom>
          <a:noFill/>
        </p:spPr>
        <p:txBody>
          <a:bodyPr wrap="square" anchor="t" lIns="70000" rIns="70000" tIns="0" bIns="0">
            <a:spAutoFit/>
          </a:bodyPr>
          <a:lstStyle/>
          <a:p>
            <a:pPr algn="l"/>
            <a:r>
              <a:rPr sz="1300" b="1">
                <a:solidFill>
                  <a:srgbClr val="2B3A42"/>
                </a:solidFill>
                <a:latin typeface="Segoe UI"/>
              </a:rPr>
              <a:t>ComponentFixture</a:t>
            </a:r>
          </a:p>
        </p:txBody>
      </p:sp>
      <p:sp>
        <p:nvSpPr>
          <p:cNvPr id="8" name="Rectangle 7"/>
          <p:cNvSpPr/>
          <p:nvPr/>
        </p:nvSpPr>
        <p:spPr>
          <a:xfrm>
            <a:off x="1058080" y="2251020"/>
            <a:ext cx="4667080" cy="347864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9" name="TextBox 8"/>
          <p:cNvSpPr txBox="1"/>
          <p:nvPr/>
        </p:nvSpPr>
        <p:spPr>
          <a:xfrm>
            <a:off x="1118080" y="2291020"/>
            <a:ext cx="4547080" cy="260510"/>
          </a:xfrm>
          <a:prstGeom prst="rect">
            <a:avLst/>
          </a:prstGeom>
          <a:noFill/>
        </p:spPr>
        <p:txBody>
          <a:bodyPr wrap="square" anchor="t" lIns="70000" rIns="70000" tIns="0" bIns="0">
            <a:spAutoFit/>
          </a:bodyPr>
          <a:lstStyle/>
          <a:p>
            <a:pPr algn="l"/>
            <a:r>
              <a:rPr sz="1300" b="1">
                <a:solidFill>
                  <a:srgbClr val="2B3A42"/>
                </a:solidFill>
                <a:latin typeface="Segoe UI"/>
              </a:rPr>
              <a:t>CustomerListComponent</a:t>
            </a:r>
          </a:p>
        </p:txBody>
      </p:sp>
      <p:sp>
        <p:nvSpPr>
          <p:cNvPr id="10" name="Rounded Rectangle 9"/>
          <p:cNvSpPr/>
          <p:nvPr/>
        </p:nvSpPr>
        <p:spPr>
          <a:xfrm>
            <a:off x="1168080" y="2551530"/>
            <a:ext cx="4447080" cy="582808"/>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&lt;customer-filter&gt;</a:t>
            </a:r>
          </a:p>
        </p:txBody>
      </p:sp>
      <p:sp>
        <p:nvSpPr>
          <p:cNvPr id="11" name="Rounded Rectangle 10"/>
          <p:cNvSpPr/>
          <p:nvPr/>
        </p:nvSpPr>
        <p:spPr>
          <a:xfrm>
            <a:off x="1168080" y="3516806"/>
            <a:ext cx="4447080" cy="582808"/>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&lt;li customer-list-item&gt;</a:t>
            </a:r>
          </a:p>
        </p:txBody>
      </p:sp>
      <p:sp>
        <p:nvSpPr>
          <p:cNvPr id="12" name="Rectangle 11"/>
          <p:cNvSpPr/>
          <p:nvPr/>
        </p:nvSpPr>
        <p:spPr>
          <a:xfrm>
            <a:off x="6355160" y="1950510"/>
            <a:ext cx="4887080" cy="387932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3" name="TextBox 12"/>
          <p:cNvSpPr txBox="1"/>
          <p:nvPr/>
        </p:nvSpPr>
        <p:spPr>
          <a:xfrm>
            <a:off x="6415160" y="1990510"/>
            <a:ext cx="4767080" cy="260510"/>
          </a:xfrm>
          <a:prstGeom prst="rect">
            <a:avLst/>
          </a:prstGeom>
          <a:noFill/>
        </p:spPr>
        <p:txBody>
          <a:bodyPr wrap="square" anchor="t" lIns="70000" rIns="70000" tIns="0" bIns="0">
            <a:spAutoFit/>
          </a:bodyPr>
          <a:lstStyle/>
          <a:p>
            <a:pPr algn="l"/>
            <a:r>
              <a:rPr sz="1300" b="1">
                <a:solidFill>
                  <a:srgbClr val="2B3A42"/>
                </a:solidFill>
                <a:latin typeface="Segoe UI"/>
              </a:rPr>
              <a:t>TestBed-Injector</a:t>
            </a:r>
          </a:p>
        </p:txBody>
      </p:sp>
      <p:sp>
        <p:nvSpPr>
          <p:cNvPr id="14" name="Rounded Rectangle 13"/>
          <p:cNvSpPr/>
          <p:nvPr/>
        </p:nvSpPr>
        <p:spPr>
          <a:xfrm>
            <a:off x="6465160" y="2251020"/>
            <a:ext cx="4667080" cy="582808"/>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CustomerStore</a:t>
            </a:r>
          </a:p>
        </p:txBody>
      </p:sp>
      <p:sp>
        <p:nvSpPr>
          <p:cNvPr id="15" name="Rounded Rectangle 14"/>
          <p:cNvSpPr/>
          <p:nvPr/>
        </p:nvSpPr>
        <p:spPr>
          <a:xfrm>
            <a:off x="6465160" y="3216296"/>
            <a:ext cx="4667080" cy="582808"/>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CustomerService</a:t>
            </a:r>
          </a:p>
        </p:txBody>
      </p:sp>
      <p:sp>
        <p:nvSpPr>
          <p:cNvPr id="16" name="Rounded Rectangle 15"/>
          <p:cNvSpPr/>
          <p:nvPr/>
        </p:nvSpPr>
        <p:spPr>
          <a:xfrm>
            <a:off x="6465160" y="4181572"/>
            <a:ext cx="4667080" cy="582808"/>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HttpClient</a:t>
            </a:r>
          </a:p>
        </p:txBody>
      </p:sp>
      <p:sp>
        <p:nvSpPr>
          <p:cNvPr id="17" name="Rounded Rectangle 16"/>
          <p:cNvSpPr/>
          <p:nvPr/>
        </p:nvSpPr>
        <p:spPr>
          <a:xfrm>
            <a:off x="6465160" y="5146848"/>
            <a:ext cx="4667080" cy="582808"/>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HttpTestingController</a:t>
            </a:r>
          </a:p>
        </p:txBody>
      </p:sp>
      <p:cxnSp>
        <p:nvCxnSpPr>
          <p:cNvPr id="18" name="Connector 17"/>
          <p:cNvCxnSpPr/>
          <p:nvPr/>
        </p:nvCxnSpPr>
        <p:spPr>
          <a:xfrm>
            <a:off x="5725160" y="2542424"/>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99672" y="2212424"/>
            <a:ext cx="119097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inject()</a:t>
            </a:r>
          </a:p>
        </p:txBody>
      </p:sp>
      <p:cxnSp>
        <p:nvCxnSpPr>
          <p:cNvPr id="20" name="Connector 19"/>
          <p:cNvCxnSpPr/>
          <p:nvPr/>
        </p:nvCxnSpPr>
        <p:spPr>
          <a:xfrm>
            <a:off x="8798700" y="4764380"/>
            <a:ext cx="0" cy="382468"/>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858700" y="4815614"/>
            <a:ext cx="1904208" cy="280000"/>
          </a:xfrm>
          <a:prstGeom prst="rect">
            <a:avLst/>
          </a:prstGeom>
          <a:solidFill>
            <a:srgbClr val="FFFFFF"/>
          </a:solidFill>
        </p:spPr>
        <p:txBody>
          <a:bodyPr wrap="none" anchor="ctr" lIns="70000" rIns="70000" tIns="0" bIns="0">
            <a:spAutoFit/>
          </a:bodyPr>
          <a:lstStyle/>
          <a:p>
            <a:pPr algn="l"/>
            <a:r>
              <a:rPr sz="1200" b="1">
                <a:solidFill>
                  <a:srgbClr val="C05A1E"/>
                </a:solidFill>
                <a:latin typeface="Segoe UI"/>
              </a:rPr>
              <a:t>statt Netzwerk</a:t>
            </a: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Change Detection im Test (zoneless)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21 läuft ohne Zone.js (zoneless)</a:t>
            </a:r>
          </a:p>
          <a:p>
            <a:pPr>
              <a:defRPr sz="2000" b="0">
                <a:latin typeface="Segoe UI"/>
              </a:defRPr>
            </a:pPr>
            <a:r>
              <a:rPr lang="de-DE" sz="2000" b="0">
                <a:latin typeface="Segoe UI"/>
              </a:rPr>
              <a:t>Nach einer Änderung plant Angular das Rendern ein</a:t>
            </a:r>
          </a:p>
          <a:p>
            <a:pPr>
              <a:defRPr sz="2000" b="0">
                <a:latin typeface="Segoe UI"/>
              </a:defRPr>
            </a:pPr>
            <a:r>
              <a:rPr lang="de-DE" sz="2000" b="0">
                <a:latin typeface="Segoe UI"/>
              </a:rPr>
              <a:t>await fixture.whenStable() wartet darauf</a:t>
            </a:r>
          </a:p>
          <a:p>
            <a:pPr>
              <a:defRPr sz="2000" b="0">
                <a:latin typeface="Segoe UI"/>
              </a:defRPr>
            </a:pPr>
            <a:r>
              <a:rPr lang="de-DE" sz="2000" b="0">
                <a:latin typeface="Segoe UI"/>
              </a:rPr>
              <a:t>fixture.detectChanges() rendert sofort, synchron</a:t>
            </a:r>
          </a:p>
          <a:p>
            <a:pPr>
              <a:defRPr sz="2000" b="0">
                <a:latin typeface="Segoe UI"/>
              </a:defRPr>
            </a:pPr>
            <a:r>
              <a:rPr lang="de-DE" sz="2000" b="0">
                <a:latin typeface="Segoe UI"/>
              </a:rPr>
              <a:t>Empfehlung: Zustand ändern, whenStable, DOM prüfen</a:t>
            </a:r>
          </a:p>
          <a:p>
            <a:pPr>
              <a:defRPr sz="2000" b="0">
                <a:latin typeface="Segoe UI"/>
              </a:defRPr>
            </a:pPr>
            <a:r>
              <a:rPr lang="de-DE" sz="2000" b="0">
                <a:latin typeface="Segoe UI"/>
              </a:rPr>
              <a:t>Ohne await prüft der Test das alte DOM</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setInput / Signal setzen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plant Rendern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await whenStable()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DOM prüfen</a:t>
            </a: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show the first name and the city', 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render(new Customer('Hans', 'Meyer', 'Hauptstraße 21', '11111', 'Teststadt'));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expect(el().textContent).toContain('Hans');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expect(el().textContent).toContain(': Teststadt');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emit the customer when it is clicked', 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customer = new Customer('Hans', 'Meyer');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render(customer);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chosen: Customer[]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fixture.componentInstance.chosen.subscribe(value =&gt; chosen.push(value));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el().click();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expect(chosen).toEqual([customer]);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ein Komponententest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CustomerListItemComponent: Input setzen, auf das Rendern warten, dann erst das DOM prüfen.</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Test (it)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TestBed</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ComponentFixture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CustomerListItem</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DOM</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createComponent(...)</a:t>
            </a:r>
          </a:p>
        </p:txBody>
      </p:sp>
      <p:cxnSp>
        <p:nvCxnSpPr>
          <p:cNvPr id="16" name="Connector 15"/>
          <p:cNvCxnSpPr/>
          <p:nvPr/>
        </p:nvCxnSpPr>
        <p:spPr>
          <a:xfrm>
            <a:off x="3992328" y="30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Komponente + Fixture erzeugen</a:t>
            </a:r>
          </a:p>
        </p:txBody>
      </p:sp>
      <p:cxnSp>
        <p:nvCxnSpPr>
          <p:cNvPr id="18" name="Connector 17"/>
          <p:cNvCxnSpPr/>
          <p:nvPr/>
        </p:nvCxnSpPr>
        <p:spPr>
          <a:xfrm>
            <a:off x="1889496" y="3418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9496" y="3068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3. componentRef.setInput('customer', hans)</a:t>
            </a:r>
          </a:p>
        </p:txBody>
      </p:sp>
      <p:cxnSp>
        <p:nvCxnSpPr>
          <p:cNvPr id="20" name="Connector 19"/>
          <p:cNvCxnSpPr/>
          <p:nvPr/>
        </p:nvCxnSpPr>
        <p:spPr>
          <a:xfrm>
            <a:off x="6095160" y="38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69452" y="34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customer() neu, Rendern geplant</a:t>
            </a:r>
          </a:p>
        </p:txBody>
      </p:sp>
      <p:cxnSp>
        <p:nvCxnSpPr>
          <p:cNvPr id="22" name="Connector 21"/>
          <p:cNvCxnSpPr/>
          <p:nvPr/>
        </p:nvCxnSpPr>
        <p:spPr>
          <a:xfrm>
            <a:off x="1889496" y="4218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19496" y="3868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5. await whenStable()</a:t>
            </a:r>
          </a:p>
        </p:txBody>
      </p:sp>
      <p:cxnSp>
        <p:nvCxnSpPr>
          <p:cNvPr id="24" name="Connector 23"/>
          <p:cNvCxnSpPr/>
          <p:nvPr/>
        </p:nvCxnSpPr>
        <p:spPr>
          <a:xfrm>
            <a:off x="6095160" y="4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69452" y="4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6. Change Detection: Template prüfen</a:t>
            </a:r>
          </a:p>
        </p:txBody>
      </p:sp>
      <p:cxnSp>
        <p:nvCxnSpPr>
          <p:cNvPr id="26" name="Connector 25"/>
          <p:cNvCxnSpPr/>
          <p:nvPr/>
        </p:nvCxnSpPr>
        <p:spPr>
          <a:xfrm>
            <a:off x="8197992" y="50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672284" y="46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7. &lt;a&gt; mit „Hans : Teststadt“</a:t>
            </a:r>
          </a:p>
        </p:txBody>
      </p:sp>
      <p:cxnSp>
        <p:nvCxnSpPr>
          <p:cNvPr id="28" name="Connector 27"/>
          <p:cNvCxnSpPr/>
          <p:nvPr/>
        </p:nvCxnSpPr>
        <p:spPr>
          <a:xfrm flipH="1">
            <a:off x="1909496" y="54180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919496" y="5068000"/>
            <a:ext cx="4145664" cy="330000"/>
          </a:xfrm>
          <a:prstGeom prst="rect">
            <a:avLst/>
          </a:prstGeom>
          <a:noFill/>
        </p:spPr>
        <p:txBody>
          <a:bodyPr wrap="square" anchor="b" lIns="70000" rIns="70000" tIns="0" bIns="0">
            <a:spAutoFit/>
          </a:bodyPr>
          <a:lstStyle/>
          <a:p>
            <a:pPr algn="ctr"/>
            <a:r>
              <a:rPr sz="1300" b="0">
                <a:solidFill>
                  <a:srgbClr val="404B52"/>
                </a:solidFill>
                <a:latin typeface="Segoe UI"/>
              </a:rPr>
              <a:t>8. Promise erfüllt</a:t>
            </a:r>
          </a:p>
        </p:txBody>
      </p:sp>
      <p:cxnSp>
        <p:nvCxnSpPr>
          <p:cNvPr id="30" name="Connector 29"/>
          <p:cNvCxnSpPr/>
          <p:nvPr/>
        </p:nvCxnSpPr>
        <p:spPr>
          <a:xfrm>
            <a:off x="1889496" y="5818000"/>
            <a:ext cx="8391328"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919496" y="5468000"/>
            <a:ext cx="8351328" cy="330000"/>
          </a:xfrm>
          <a:prstGeom prst="rect">
            <a:avLst/>
          </a:prstGeom>
          <a:noFill/>
        </p:spPr>
        <p:txBody>
          <a:bodyPr wrap="square" anchor="b" lIns="70000" rIns="70000" tIns="0" bIns="0">
            <a:spAutoFit/>
          </a:bodyPr>
          <a:lstStyle/>
          <a:p>
            <a:pPr algn="ctr"/>
            <a:r>
              <a:rPr sz="1300" b="0">
                <a:solidFill>
                  <a:srgbClr val="2B3A42"/>
                </a:solidFill>
                <a:latin typeface="Segoe UI"/>
              </a:rPr>
              <a:t>9. el().textContent prüfen</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Signal-Inputs nicht direkt zuweisen (component.customer = …)</a:t>
            </a:r>
          </a:p>
          <a:p>
            <a:pPr lvl="1">
              <a:defRPr sz="1700" b="0">
                <a:latin typeface="Segoe UI"/>
              </a:defRPr>
            </a:pPr>
            <a:r>
              <a:rPr lang="de-DE" sz="1700" b="0">
                <a:latin typeface="Segoe UI"/>
              </a:rPr>
              <a:t>Inputs sind lesbare Signals ohne set</a:t>
            </a:r>
          </a:p>
          <a:p>
            <a:pPr>
              <a:defRPr sz="2000" b="0">
                <a:latin typeface="Segoe UI"/>
              </a:defRPr>
            </a:pPr>
            <a:r>
              <a:rPr lang="de-DE" sz="2000" b="0">
                <a:latin typeface="Segoe UI"/>
              </a:rPr>
              <a:t>Stattdessen fixture.componentRef.setInput('name', wert)</a:t>
            </a:r>
          </a:p>
          <a:p>
            <a:pPr>
              <a:defRPr sz="2000" b="0">
                <a:latin typeface="Segoe UI"/>
              </a:defRPr>
            </a:pPr>
            <a:r>
              <a:rPr lang="de-DE" sz="2000" b="0">
                <a:latin typeface="Segoe UI"/>
              </a:rPr>
              <a:t>input.required: vor dem ersten Rendern setzen, sonst Fehler</a:t>
            </a:r>
          </a:p>
          <a:p>
            <a:pPr>
              <a:defRPr sz="2000" b="0">
                <a:latin typeface="Segoe UI"/>
              </a:defRPr>
            </a:pPr>
            <a:r>
              <a:rPr lang="de-DE" sz="2000" b="0">
                <a:latin typeface="Segoe UI"/>
              </a:rPr>
              <a:t>Nach Änderungen await fixture.whenStable(), dann prüfen</a:t>
            </a:r>
          </a:p>
          <a:p>
            <a:pPr>
              <a:defRPr sz="2000" b="0">
                <a:latin typeface="Segoe UI"/>
              </a:defRPr>
            </a:pPr>
            <a:r>
              <a:rPr lang="de-DE" sz="2000" b="0">
                <a:latin typeface="Segoe UI"/>
              </a:rPr>
              <a:t>Outputs mit subscribe beobachten, Klicks mit click()</a:t>
            </a:r>
          </a:p>
          <a:p>
            <a:pPr>
              <a:defRPr sz="2000" b="0">
                <a:latin typeface="Segoe UI"/>
              </a:defRPr>
            </a:pPr>
            <a:r>
              <a:rPr lang="de-DE" sz="2000" b="0">
                <a:latin typeface="Segoe UI"/>
              </a:rPr>
              <a:t>Im DOM nach Inhalt oder Rolle suchen, nicht nach CSS-Details</a:t>
            </a:r>
          </a:p>
          <a:p>
            <a:pPr>
              <a:defRPr sz="2000" b="0">
                <a:latin typeface="Segoe UI"/>
              </a:defRPr>
            </a:pPr>
            <a:r>
              <a:rPr lang="de-DE" sz="2000" b="0">
                <a:latin typeface="Segoe UI"/>
              </a:rPr>
              <a:t>Kinder-Komponenten nur einbinden, wenn sie wichtig sind</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Signals und computed testen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und computed funktionieren überall, auch ohne TestBed</a:t>
            </a:r>
          </a:p>
          <a:p>
            <a:pPr>
              <a:defRPr sz="2000" b="0">
                <a:latin typeface="Segoe UI"/>
              </a:defRPr>
            </a:pPr>
            <a:r>
              <a:rPr lang="de-DE" sz="2000" b="0">
                <a:latin typeface="Segoe UI"/>
              </a:rPr>
              <a:t>computed rechnet beim Lesen neu, wenn sich Quellen geändert haben</a:t>
            </a:r>
          </a:p>
          <a:p>
            <a:pPr>
              <a:defRPr sz="2000" b="0">
                <a:latin typeface="Segoe UI"/>
              </a:defRPr>
            </a:pPr>
            <a:r>
              <a:rPr lang="de-DE" sz="2000" b="0">
                <a:latin typeface="Segoe UI"/>
              </a:rPr>
              <a:t>Test: Quelle setzen, computed lesen, Ergebnis prüfen</a:t>
            </a:r>
          </a:p>
          <a:p>
            <a:pPr>
              <a:defRPr sz="2000" b="0">
                <a:latin typeface="Segoe UI"/>
              </a:defRPr>
            </a:pPr>
            <a:r>
              <a:rPr lang="de-DE" sz="2000" b="0">
                <a:latin typeface="Segoe UI"/>
              </a:rPr>
              <a:t>Kein Warten nötig: Signals sind synchron</a:t>
            </a:r>
          </a:p>
          <a:p>
            <a:pPr>
              <a:defRPr sz="2000" b="0">
                <a:latin typeface="Segoe UI"/>
              </a:defRPr>
            </a:pPr>
            <a:r>
              <a:rPr lang="de-DE" sz="2000" b="0">
                <a:latin typeface="Segoe UI"/>
              </a:rPr>
              <a:t>Stores mit inject() holt man über TestBed.inject</a:t>
            </a:r>
          </a:p>
          <a:p>
            <a:pPr>
              <a:defRPr sz="2000" b="0">
                <a:latin typeface="Segoe UI"/>
              </a:defRPr>
            </a:pPr>
            <a:r>
              <a:rPr lang="de-DE" sz="2000" b="0">
                <a:latin typeface="Segoe UI"/>
              </a:rPr>
              <a:t>Readonly-Signals von außen nur über Methoden ändern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ohne TestBed</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filter = signal('');</a:t>
            </a:r>
          </a:p>
          <a:p>
            <a:pPr algn="l"/>
            <a:r>
              <a:rPr sz="1300" b="0">
                <a:solidFill>
                  <a:srgbClr val="2B3A42"/>
                </a:solidFill>
                <a:latin typeface="Consolas"/>
              </a:rPr>
              <a:t>const names = signal(['Hans',</a:t>
            </a:r>
          </a:p>
          <a:p>
            <a:pPr algn="l"/>
            <a:r>
              <a:rPr sz="1300" b="0">
                <a:solidFill>
                  <a:srgbClr val="2B3A42"/>
                </a:solidFill>
                <a:latin typeface="Consolas"/>
              </a:rPr>
              <a:t>                      'Lisa']);</a:t>
            </a:r>
          </a:p>
          <a:p>
            <a:pPr algn="l"/>
            <a:r>
              <a:rPr sz="1300" b="0">
                <a:solidFill>
                  <a:srgbClr val="2B3A42"/>
                </a:solidFill>
                <a:latin typeface="Consolas"/>
              </a:rPr>
              <a:t>const visible = computed(() =&gt;</a:t>
            </a:r>
          </a:p>
          <a:p>
            <a:pPr algn="l"/>
            <a:r>
              <a:rPr sz="1300" b="0">
                <a:solidFill>
                  <a:srgbClr val="2B3A42"/>
                </a:solidFill>
                <a:latin typeface="Consolas"/>
              </a:rPr>
              <a:t>  names().filter(n =&gt;</a:t>
            </a:r>
          </a:p>
          <a:p>
            <a:pPr algn="l"/>
            <a:r>
              <a:rPr sz="1300" b="0">
                <a:solidFill>
                  <a:srgbClr val="2B3A42"/>
                </a:solidFill>
                <a:latin typeface="Consolas"/>
              </a:rPr>
              <a:t>    n.toLowerCase()</a:t>
            </a:r>
          </a:p>
          <a:p>
            <a:pPr algn="l"/>
            <a:r>
              <a:rPr sz="1300" b="0">
                <a:solidFill>
                  <a:srgbClr val="2B3A42"/>
                </a:solidFill>
                <a:latin typeface="Consolas"/>
              </a:rPr>
              <a:t>     .includes(filter())));</a:t>
            </a:r>
          </a:p>
          <a:p>
            <a:pPr algn="l"/>
            <a:r>
              <a:rPr sz="1300" b="0">
                <a:solidFill>
                  <a:srgbClr val="2B3A42"/>
                </a:solidFill>
                <a:latin typeface="Consolas"/>
              </a:rPr>
              <a:t/>
            </a:r>
          </a:p>
          <a:p>
            <a:pPr algn="l"/>
            <a:r>
              <a:rPr sz="1300" b="0">
                <a:solidFill>
                  <a:srgbClr val="2B3A42"/>
                </a:solidFill>
                <a:latin typeface="Consolas"/>
              </a:rPr>
              <a:t>filter.set('li');</a:t>
            </a:r>
          </a:p>
          <a:p>
            <a:pPr algn="l"/>
            <a:r>
              <a:rPr sz="1300" b="0">
                <a:solidFill>
                  <a:srgbClr val="2B3A42"/>
                </a:solidFill>
                <a:latin typeface="Consolas"/>
              </a:rPr>
              <a:t>expect(visible())</a:t>
            </a:r>
          </a:p>
          <a:p>
            <a:pPr algn="l"/>
            <a:r>
              <a:rPr sz="1300" b="0">
                <a:solidFill>
                  <a:srgbClr val="2B3A42"/>
                </a:solidFill>
                <a:latin typeface="Consolas"/>
              </a:rPr>
              <a:t>  .toEqual(['Lisa']);</a:t>
            </a: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Effects testen mit TestBed.tick()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Im Store: effect(() =&gt; saveFilter(this._filter()));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it('should write the filter to localStorage',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store = TestBed.inject(CustomerStore);   // effect braucht Injection Context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TestBed.tick();             // führt anstehende Effects jetzt aus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expect(localStorage.getItem('customerFilter')).toBe('lisa');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it('should restore the filter on creation',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'burns');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store = TestBed.inject(CustomerStore);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expect(store.filter()).toBe('burns');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Component Harnesses (CDK)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Harness: Test-API für eine Komponente statt DOM-Selektoren</a:t>
            </a:r>
          </a:p>
          <a:p>
            <a:pPr>
              <a:defRPr sz="2000" b="0">
                <a:latin typeface="Segoe UI"/>
              </a:defRPr>
            </a:pPr>
            <a:r>
              <a:rPr lang="de-DE" sz="2000" b="0">
                <a:latin typeface="Segoe UI"/>
              </a:rPr>
              <a:t>Fertige Harnesses für Angular Material (MatButtonHarness …)</a:t>
            </a:r>
          </a:p>
          <a:p>
            <a:pPr>
              <a:defRPr sz="2000" b="0">
                <a:latin typeface="Segoe UI"/>
              </a:defRPr>
            </a:pPr>
            <a:r>
              <a:rPr lang="de-DE" sz="2000" b="0">
                <a:latin typeface="Segoe UI"/>
              </a:rPr>
              <a:t>Paket @angular/cdk/testing</a:t>
            </a:r>
          </a:p>
          <a:p>
            <a:pPr>
              <a:defRPr sz="2000" b="0">
                <a:latin typeface="Segoe UI"/>
              </a:defRPr>
            </a:pPr>
            <a:r>
              <a:rPr lang="de-DE" sz="2000" b="0">
                <a:latin typeface="Segoe UI"/>
              </a:rPr>
              <a:t>loader = TestbedHarnessEnvironment.loader(fixture)</a:t>
            </a:r>
          </a:p>
          <a:p>
            <a:pPr>
              <a:defRPr sz="2000" b="0">
                <a:latin typeface="Segoe UI"/>
              </a:defRPr>
            </a:pPr>
            <a:r>
              <a:rPr lang="de-DE" sz="2000" b="0">
                <a:latin typeface="Segoe UI"/>
              </a:rPr>
              <a:t>Methoden sind async und warten selbst auf Stabilität</a:t>
            </a:r>
          </a:p>
          <a:p>
            <a:pPr>
              <a:defRPr sz="2000" b="0">
                <a:latin typeface="Segoe UI"/>
              </a:defRPr>
            </a:pPr>
            <a:r>
              <a:rPr lang="de-DE" sz="2000" b="0">
                <a:latin typeface="Segoe UI"/>
              </a:rPr>
              <a:t>Vorteil: Tests überleben Änderungen am inneren HTML</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Harness (Beispiel Material)</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loader =</a:t>
            </a:r>
          </a:p>
          <a:p>
            <a:pPr algn="l"/>
            <a:r>
              <a:rPr sz="1300" b="0">
                <a:solidFill>
                  <a:srgbClr val="2B3A42"/>
                </a:solidFill>
                <a:latin typeface="Consolas"/>
              </a:rPr>
              <a:t>  TestbedHarnessEnvironment</a:t>
            </a:r>
          </a:p>
          <a:p>
            <a:pPr algn="l"/>
            <a:r>
              <a:rPr sz="1300" b="0">
                <a:solidFill>
                  <a:srgbClr val="2B3A42"/>
                </a:solidFill>
                <a:latin typeface="Consolas"/>
              </a:rPr>
              <a:t>    .loader(fixture);</a:t>
            </a:r>
          </a:p>
          <a:p>
            <a:pPr algn="l"/>
            <a:r>
              <a:rPr sz="1300" b="0">
                <a:solidFill>
                  <a:srgbClr val="2B3A42"/>
                </a:solidFill>
                <a:latin typeface="Consolas"/>
              </a:rPr>
              <a:t/>
            </a:r>
          </a:p>
          <a:p>
            <a:pPr algn="l"/>
            <a:r>
              <a:rPr sz="1300" b="0">
                <a:solidFill>
                  <a:srgbClr val="2B3A42"/>
                </a:solidFill>
                <a:latin typeface="Consolas"/>
              </a:rPr>
              <a:t>const button = await loader</a:t>
            </a:r>
          </a:p>
          <a:p>
            <a:pPr algn="l"/>
            <a:r>
              <a:rPr sz="1300" b="0">
                <a:solidFill>
                  <a:srgbClr val="2B3A42"/>
                </a:solidFill>
                <a:latin typeface="Consolas"/>
              </a:rPr>
              <a:t>  .getHarness(MatButtonHarness</a:t>
            </a:r>
          </a:p>
          <a:p>
            <a:pPr algn="l"/>
            <a:r>
              <a:rPr sz="1300" b="0">
                <a:solidFill>
                  <a:srgbClr val="2B3A42"/>
                </a:solidFill>
                <a:latin typeface="Consolas"/>
              </a:rPr>
              <a:t>    .with({ text: 'Speichern' }));</a:t>
            </a:r>
          </a:p>
          <a:p>
            <a:pPr algn="l"/>
            <a:r>
              <a:rPr sz="1300" b="0">
                <a:solidFill>
                  <a:srgbClr val="2B3A42"/>
                </a:solidFill>
                <a:latin typeface="Consolas"/>
              </a:rPr>
              <a:t/>
            </a:r>
          </a:p>
          <a:p>
            <a:pPr algn="l"/>
            <a:r>
              <a:rPr sz="1300" b="0">
                <a:solidFill>
                  <a:srgbClr val="2B3A42"/>
                </a:solidFill>
                <a:latin typeface="Consolas"/>
              </a:rPr>
              <a:t>await button.click();</a:t>
            </a:r>
          </a:p>
          <a:p>
            <a:pPr algn="l"/>
            <a:r>
              <a:rPr sz="1300" b="0">
                <a:solidFill>
                  <a:srgbClr val="2B3A42"/>
                </a:solidFill>
                <a:latin typeface="Consolas"/>
              </a:rPr>
              <a:t>expect(await button.isDisabled())</a:t>
            </a:r>
          </a:p>
          <a:p>
            <a:pPr algn="l"/>
            <a:r>
              <a:rPr sz="1300" b="0">
                <a:solidFill>
                  <a:srgbClr val="2B3A42"/>
                </a:solidFill>
                <a:latin typeface="Consolas"/>
              </a:rPr>
              <a:t>  .toBe(true);</a:t>
            </a: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lvl="1">
              <a:defRPr sz="1700" b="0">
                <a:latin typeface="Segoe UI"/>
              </a:defRPr>
            </a:pPr>
            <a:r>
              <a:rPr lang="de-DE" sz="1700" b="0">
                <a:latin typeface="Segoe UI"/>
              </a:rPr>
              <a:t>vi.useFakeTimers() ersetzt echte Zeit durch steuerbare Zeit</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Er deckt Randfälle ab: leere Liste, kein Treffer, Fehler, unbekannte ID</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Lesen: Was behauptet der Test?</a:t>
            </a:r>
          </a:p>
          <a:p>
            <a:pPr lvl="1">
              <a:defRPr sz="1700" b="0">
                <a:latin typeface="Segoe UI"/>
              </a:defRPr>
            </a:pPr>
            <a:r>
              <a:rPr lang="de-DE" sz="1700" b="0">
                <a:latin typeface="Segoe UI"/>
              </a:rPr>
              <a:t>Passt das zur Anforderung?</a:t>
            </a:r>
          </a:p>
          <a:p>
            <a:pPr>
              <a:defRPr sz="2000" b="0">
                <a:latin typeface="Segoe UI"/>
              </a:defRPr>
            </a:pPr>
            <a:r>
              <a:rPr lang="de-DE" sz="2000" b="0">
                <a:latin typeface="Segoe UI"/>
              </a:rPr>
              <a:t>2. Kaputtmachen: Produktivcode absichtlich ändern</a:t>
            </a:r>
          </a:p>
          <a:p>
            <a:pPr lvl="1">
              <a:defRPr sz="1700" b="0">
                <a:latin typeface="Segoe UI"/>
              </a:defRPr>
            </a:pPr>
            <a:r>
              <a:rPr lang="de-DE" sz="1700" b="0">
                <a:latin typeface="Segoe UI"/>
              </a:rPr>
              <a:t>Wird kein Test rot, sind die Tests wertlos</a:t>
            </a:r>
          </a:p>
          <a:p>
            <a:pPr>
              <a:defRPr sz="2000" b="0">
                <a:latin typeface="Segoe UI"/>
              </a:defRPr>
            </a:pPr>
            <a:r>
              <a:rPr lang="de-DE" sz="2000" b="0">
                <a:latin typeface="Segoe UI"/>
              </a:rPr>
              <a:t>3. Randfälle ergänzen: leer, Fehler,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committet, haftet dafür</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Lesen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Kaputtmachen</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Randfälle ergänzen</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Vereinfachen</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34: Tests schreiben und bewerten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34_tests (Test-Runner: Vitest, Start mit ng test)</a:t>
            </a:r>
          </a:p>
          <a:p>
            <a:pPr>
              <a:defRPr sz="2000" b="0">
                <a:latin typeface="Segoe UI"/>
              </a:defRPr>
            </a:pPr>
            <a:r>
              <a:rPr lang="de-DE" sz="2000" b="0">
                <a:latin typeface="Segoe UI"/>
              </a:rPr>
              <a:t>Teil A: Schreibe customer.store.spec.ts für CustomerStore, ohne Oberfläche</a:t>
            </a:r>
          </a:p>
          <a:p>
            <a:pPr lvl="1">
              <a:defRPr sz="1700" b="0">
                <a:latin typeface="Segoe UI"/>
              </a:defRPr>
            </a:pPr>
            <a:r>
              <a:rPr lang="de-DE" sz="1700" b="0">
                <a:latin typeface="Segoe UI"/>
              </a:rPr>
              <a:t>Laden, Filter (Groß-/Kleinschreibung, Teiltreffer), Filter ohne Treffer, leere Liste</a:t>
            </a:r>
          </a:p>
          <a:p>
            <a:pPr lvl="1">
              <a:defRPr sz="1700" b="0">
                <a:latin typeface="Segoe UI"/>
              </a:defRPr>
            </a:pPr>
            <a:r>
              <a:rPr lang="de-DE" sz="1700" b="0">
                <a:latin typeface="Segoe UI"/>
              </a:rPr>
              <a:t>Auswahl (auch unbekannte ID), Fehlerfall beim Laden, Filter in localStorage</a:t>
            </a:r>
          </a:p>
          <a:p>
            <a:pPr>
              <a:defRPr sz="2000" b="0">
                <a:latin typeface="Segoe UI"/>
              </a:defRPr>
            </a:pPr>
            <a:r>
              <a:rPr lang="de-DE" sz="2000" b="0">
                <a:latin typeface="Segoe UI"/>
              </a:rPr>
              <a:t>Ersetze CustomerService per providers durch ein Test-Double</a:t>
            </a:r>
          </a:p>
          <a:p>
            <a:pPr lvl="1">
              <a:defRPr sz="1700" b="0">
                <a:latin typeface="Segoe UI"/>
              </a:defRPr>
            </a:pPr>
            <a:r>
              <a:rPr lang="de-DE" sz="1700" b="0">
                <a:latin typeface="Segoe UI"/>
              </a:rPr>
              <a:t>const getAll = vi.fn();  { provide: CustomerService, useValue: { getAll } }</a:t>
            </a:r>
          </a:p>
          <a:p>
            <a:pPr lvl="1">
              <a:defRPr sz="1700" b="0">
                <a:latin typeface="Segoe UI"/>
              </a:defRPr>
            </a:pPr>
            <a:r>
              <a:rPr lang="de-DE" sz="1700" b="0">
                <a:latin typeface="Segoe UI"/>
              </a:rPr>
              <a:t>Rückgabe steuern: getAll.mockReturnValue(of([...])) bzw. throwError(() =&gt; ...)</a:t>
            </a:r>
          </a:p>
          <a:p>
            <a:pPr>
              <a:defRPr sz="2000" b="0">
                <a:latin typeface="Segoe UI"/>
              </a:defRPr>
            </a:pPr>
            <a:r>
              <a:rPr lang="de-DE" sz="2000" b="0">
                <a:latin typeface="Segoe UI"/>
              </a:rPr>
              <a:t>Effect prüfen: nach store.setFilter('x') mit TestBed.tick() die Effects ausführen</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34: Tests schreiben und bewerten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Teil B: Teste CustomerListItemComponent</a:t>
            </a:r>
          </a:p>
          <a:p>
            <a:pPr lvl="1">
              <a:defRPr sz="1700" b="0">
                <a:latin typeface="Segoe UI"/>
              </a:defRPr>
            </a:pPr>
            <a:r>
              <a:rPr lang="de-DE" sz="1700" b="0">
                <a:latin typeface="Segoe UI"/>
              </a:rPr>
              <a:t>Name wird angezeigt, ohne Stadt kein Doppelpunkt, Klick löst chosen aus</a:t>
            </a:r>
          </a:p>
          <a:p>
            <a:pPr lvl="1">
              <a:defRPr sz="1700" b="0">
                <a:latin typeface="Segoe UI"/>
              </a:defRPr>
            </a:pPr>
            <a:r>
              <a:rPr lang="de-DE" sz="1700" b="0">
                <a:latin typeface="Segoe UI"/>
              </a:rPr>
              <a:t>Klassen discontinued und selected; Inputs per fixture.componentRef.setInput</a:t>
            </a:r>
          </a:p>
          <a:p>
            <a:pPr lvl="1">
              <a:defRPr sz="1700" b="0">
                <a:latin typeface="Segoe UI"/>
              </a:defRPr>
            </a:pPr>
            <a:r>
              <a:rPr lang="de-DE" sz="1700" b="0">
                <a:latin typeface="Segoe UI"/>
              </a:rPr>
              <a:t>Optional: CustomerFilterComponent und CustomerService (HttpTestingController)</a:t>
            </a:r>
          </a:p>
          <a:p>
            <a:pPr>
              <a:defRPr sz="2000" b="0">
                <a:latin typeface="Segoe UI"/>
              </a:defRPr>
            </a:pPr>
            <a:r>
              <a:rPr lang="de-DE" sz="2000" b="0">
                <a:latin typeface="Segoe UI"/>
              </a:rPr>
              <a:t>Teil C: Speichere material/generierter-store-test.spec.ts.txt als Spec und führe sie aus</a:t>
            </a:r>
          </a:p>
          <a:p>
            <a:pPr lvl="1">
              <a:defRPr sz="1700" b="0">
                <a:latin typeface="Segoe UI"/>
              </a:defRPr>
            </a:pPr>
            <a:r>
              <a:rPr lang="de-DE" sz="1700" b="0">
                <a:latin typeface="Segoe UI"/>
              </a:rPr>
              <a:t>Finde die fünf versteckten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 danach die generierte Datei wieder löschen</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Objekte und Listen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Interfaces: die Form eines Objekts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discontinued?: boolean;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lastOrderDate?: Date;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lisa: Customer = { id: "1", firstname: "Lisa", lastname: "Simpson"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Fehler: Die Pflicht-Eigenschaft "lastname" fehlt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hans: Customer = { id: "2", firstname: "Hans" };</a:t>
            </a:r>
            <a:endParaRPr lang="de-DE" sz="1800" b="0" u="none" strike="noStrike">
              <a:solidFill>
                <a:srgbClr val="000000"/>
              </a:solidFill>
              <a:uFillTx/>
              <a:latin typeface="Arial"/>
            </a:endParaRPr>
          </a:p>
        </p:txBody>
      </p:sp>
    </p:spTree>
  </p:cSld>
  <p:clrMapOvr>
    <a:masterClrMapping/>
  </p:clrMapOvr>
</p:sld>
</file>

<file path=ppt/slides/slide7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Invoice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string;     // nur lesbar, nach dem Anlegen nicht änderbar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note?: string;           // optional, darf fehlen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invoice: Invoice = { id: "R-1", customerId: "1"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invoice.note = "bezahlt";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invoice.id = "R-2";     // Fehler TS2540: id ist readonly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ids: readonly string[] = ["1",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ids.push("3");          // Fehler: Eine readonly-Liste hat kein push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more = [...ids, "3"];  // neue Liste ist erlaubt</a:t>
            </a:r>
            <a:endParaRPr lang="de-DE" sz="1800" b="0" u="none" strike="noStrike">
              <a:solidFill>
                <a:srgbClr val="000000"/>
              </a:solidFill>
              <a:uFillTx/>
              <a:latin typeface="Arial"/>
            </a:endParaRP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Destructuring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 , third] = customers;      // Liste zerlegen, zweiten überspringen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firstname, lastname } = first;   // Objekt zerlegen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city = "unbekannt" } = third;    // Standardwert, falls city fehlt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id, ...rest } = first;           // rest: alle übrigen Eigenschaften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Zerlegen direkt in der Parameterliste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label({ firstname, lastname }: Customer):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`${lastname},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console.log(firstname, lastname, city, id);   // Lisa Simpson unbekannt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console.log(rest.city, label(third));         // Springfield Flanders, Ned</a:t>
            </a:r>
            <a:endParaRPr lang="de-DE" sz="1600" b="0" u="none" strike="noStrike">
              <a:solidFill>
                <a:srgbClr val="000000"/>
              </a:solidFill>
              <a:uFillTx/>
              <a:latin typeface="Arial"/>
            </a:endParaRP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Spread: kopieren statt verändern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lisa = customers[0];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renamed = { ...lisa, firstname: "Liesel" };  // neues Objekt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more = [...customers, renamed];              // neue Liste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console.log(lisa.firstname, renamed.firstname);    // Lisa Liesel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console.log(customers.length, more.length);        // 3 4</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Achtung: Spread kopiert nur flach, Verschachteltes wird geteilt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copy = { ...lisa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console.log(copy.lastOrderDate === lisa.lastOrderDate);  // true</a:t>
            </a:r>
            <a:endParaRPr lang="de-DE" sz="2000" b="0" u="none" strike="noStrike">
              <a:solidFill>
                <a:srgbClr val="000000"/>
              </a:solidFill>
              <a:uFillTx/>
              <a:latin typeface="Arial"/>
            </a:endParaRP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Template-Strings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 = 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Backticks: Ausdrücke in ${...} werden in den Text eingesetzt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line = `${c.lastname}, ${c.firstname} (${c.city ?? "unbekannt"})`;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Auch mehrere Zeilen sind möglich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mail = `Guten Tag ${c.firstname},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Ihre Rechnung ist fertig.`;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total = 3 * 19.99;</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console.log(`Summe: ${total.toFixed(2)} Euro`);   // Summe: 59.97 Euro</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console.log(line);                                 // Simpson, Lisa (Springfield)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console.log(mail);</a:t>
            </a:r>
            <a:endParaRPr lang="de-DE" sz="1600" b="0" u="none" strike="noStrike">
              <a:solidFill>
                <a:srgbClr val="000000"/>
              </a:solidFill>
              <a:uFillTx/>
              <a:latin typeface="Arial"/>
            </a:endParaRP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3: Objekte und Listen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src/uebung-3-objekte.ts</a:t>
            </a:r>
          </a:p>
          <a:p>
            <a:pPr>
              <a:defRPr sz="2000" b="1">
                <a:latin typeface="Segoe UI"/>
              </a:defRPr>
            </a:pPr>
            <a:r>
              <a:rPr lang="de-DE" sz="2000" b="1">
                <a:latin typeface="Segoe UI"/>
              </a:rPr>
              <a:t>1. renameCustomer: neue Liste, ein Kunde hat den neuen Vornamen (map und Spread)</a:t>
            </a:r>
          </a:p>
          <a:p>
            <a:pPr>
              <a:defRPr sz="2000" b="1">
                <a:latin typeface="Segoe UI"/>
              </a:defRPr>
            </a:pPr>
            <a:r>
              <a:rPr lang="de-DE" sz="2000" b="1">
                <a:latin typeface="Segoe UI"/>
              </a:rPr>
              <a:t>2. addCustomer: neue Liste mit einem Kunden mehr am Ende ([...customers, customer])</a:t>
            </a:r>
          </a:p>
          <a:p>
            <a:pPr>
              <a:defRPr sz="2000" b="1">
                <a:latin typeface="Segoe UI"/>
              </a:defRPr>
            </a:pPr>
            <a:r>
              <a:rPr lang="de-DE" sz="2000" b="1">
                <a:latin typeface="Segoe UI"/>
              </a:rPr>
              <a:t>3. describe: Parameter in der Signatur zerlegen, city-Standardwert, Template-String</a:t>
            </a:r>
          </a:p>
          <a:p>
            <a:pPr>
              <a:defRPr sz="2000" b="1">
                <a:latin typeface="Segoe UI"/>
              </a:defRPr>
            </a:pPr>
            <a:r>
              <a:rPr lang="de-DE" sz="2000" b="1">
                <a:latin typeface="Segoe UI"/>
              </a:rPr>
              <a:t>4. Prüfe in der Ausgabe: Die ursprüngliche Liste ist unverändert geblieben</a:t>
            </a:r>
          </a:p>
          <a:p>
            <a:pPr>
              <a:defRPr sz="2000" b="0">
                <a:latin typeface="Segoe UI"/>
              </a:defRPr>
            </a:pPr>
            <a:r>
              <a:rPr lang="de-DE" sz="2000" b="0">
                <a:latin typeface="Segoe UI"/>
              </a:rPr>
              <a:t>Ausführen: npm start -- src/uebung-3-objekte.ts</a:t>
            </a:r>
          </a:p>
          <a:p>
            <a:pPr>
              <a:defRPr sz="2000" b="1">
                <a:latin typeface="Segoe UI"/>
              </a:defRPr>
            </a:pPr>
            <a:r>
              <a:rPr lang="de-DE" sz="2000" b="1">
                <a:latin typeface="Segoe UI"/>
              </a:rPr>
              <a:t>Musterlösung: loesung/uebung-3-objekte.ts</a:t>
            </a: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Performance ist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Bilder, Rendering</a:t>
            </a:r>
          </a:p>
          <a:p>
            <a:pPr>
              <a:defRPr sz="2000" b="0">
                <a:latin typeface="Segoe UI"/>
              </a:defRPr>
            </a:pPr>
            <a:r>
              <a:rPr lang="de-DE" sz="2000" b="0">
                <a:latin typeface="Segoe UI"/>
              </a:rPr>
              <a:t>Laufzeit: Wie flüssig reagiert die App auf Eingaben?</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Vorgehen: Messen, ändern, erneut messen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Ausgangslage messen und notieren</a:t>
            </a:r>
          </a:p>
          <a:p>
            <a:pPr>
              <a:defRPr sz="2000" b="0">
                <a:latin typeface="Segoe UI"/>
              </a:defRPr>
            </a:pPr>
            <a:r>
              <a:rPr lang="de-DE" sz="2000" b="0">
                <a:latin typeface="Segoe UI"/>
              </a:rPr>
              <a:t>Ursache suchen: Wo geht die Zeit verloren?</a:t>
            </a:r>
          </a:p>
          <a:p>
            <a:pPr>
              <a:defRPr sz="2000" b="0">
                <a:latin typeface="Segoe UI"/>
              </a:defRPr>
            </a:pPr>
            <a:r>
              <a:rPr lang="de-DE" sz="2000" b="0">
                <a:latin typeface="Segoe UI"/>
              </a:rPr>
              <a:t>Genau eine Maßnahme umsetzen</a:t>
            </a:r>
          </a:p>
          <a:p>
            <a:pPr>
              <a:defRPr sz="2000" b="0">
                <a:latin typeface="Segoe UI"/>
              </a:defRPr>
            </a:pPr>
            <a:r>
              <a:rPr lang="de-DE" sz="2000" b="0">
                <a:latin typeface="Segoe UI"/>
              </a:rPr>
              <a:t>Unter gleichen Bedingungen erneut messen</a:t>
            </a:r>
          </a:p>
          <a:p>
            <a:pPr lvl="1">
              <a:defRPr sz="1700" b="0">
                <a:latin typeface="Segoe UI"/>
              </a:defRPr>
            </a:pPr>
            <a:r>
              <a:rPr lang="de-DE" sz="1700" b="0">
                <a:latin typeface="Segoe UI"/>
              </a:rPr>
              <a:t>gleicher Build, gleiche Daten, gleiches Gerät</a:t>
            </a:r>
          </a:p>
          <a:p>
            <a:pPr>
              <a:defRPr sz="2000" b="0">
                <a:latin typeface="Segoe UI"/>
              </a:defRPr>
            </a:pPr>
            <a:r>
              <a:rPr lang="de-DE" sz="2000" b="0">
                <a:latin typeface="Segoe UI"/>
              </a:rPr>
              <a:t>Bringt sie nichts: zurücknehmen</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Messen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Ursache finden</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Eine Maßnahme</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Erneut messen</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Core Web Vitals: drei Kennzahlen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LCP (Largest Contentful Paint)</a:t>
            </a:r>
          </a:p>
          <a:p>
            <a:pPr lvl="1">
              <a:defRPr sz="1700" b="0">
                <a:latin typeface="Segoe UI"/>
              </a:defRPr>
            </a:pPr>
            <a:r>
              <a:rPr lang="de-DE" sz="1700" b="0">
                <a:latin typeface="Segoe UI"/>
              </a:rPr>
              <a:t>Wann ist das größte Element sichtbar? Gut: bis 2,5 s</a:t>
            </a:r>
          </a:p>
          <a:p>
            <a:pPr>
              <a:defRPr sz="2000" b="0">
                <a:latin typeface="Segoe UI"/>
              </a:defRPr>
            </a:pPr>
            <a:r>
              <a:rPr lang="de-DE" sz="2000" b="0">
                <a:latin typeface="Segoe UI"/>
              </a:rPr>
              <a:t>INP (Interaction to Next Paint)</a:t>
            </a:r>
          </a:p>
          <a:p>
            <a:pPr lvl="1">
              <a:defRPr sz="1700" b="0">
                <a:latin typeface="Segoe UI"/>
              </a:defRPr>
            </a:pPr>
            <a:r>
              <a:rPr lang="de-DE" sz="1700" b="0">
                <a:latin typeface="Segoe UI"/>
              </a:rPr>
              <a:t>Wie schnell reagiert die Seite auf Eingaben? Gut: bis 200 ms</a:t>
            </a:r>
          </a:p>
          <a:p>
            <a:pPr>
              <a:defRPr sz="2000" b="0">
                <a:latin typeface="Segoe UI"/>
              </a:defRPr>
            </a:pPr>
            <a:r>
              <a:rPr lang="de-DE" sz="2000" b="0">
                <a:latin typeface="Segoe UI"/>
              </a:rPr>
              <a:t>CLS (Cumulative Layout Shift)</a:t>
            </a:r>
          </a:p>
          <a:p>
            <a:pPr lvl="1">
              <a:defRPr sz="1700" b="0">
                <a:latin typeface="Segoe UI"/>
              </a:defRPr>
            </a:pPr>
            <a:r>
              <a:rPr lang="de-DE" sz="1700" b="0">
                <a:latin typeface="Segoe UI"/>
              </a:rPr>
              <a:t>Wie stark springt das Layout? Gut: bis 0,1</a:t>
            </a:r>
          </a:p>
          <a:p>
            <a:pPr>
              <a:defRPr sz="2000" b="0">
                <a:latin typeface="Segoe UI"/>
              </a:defRPr>
            </a:pPr>
            <a:r>
              <a:rPr lang="de-DE" sz="2000" b="0">
                <a:latin typeface="Segoe UI"/>
              </a:rPr>
              <a:t>Gemessen bei echten Nutzern und im Labor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LCP: Hauptinhalt sichtbar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INP: Reaktion auf Eingaben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CLS: Layout bleibt ruhig</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Core Web Vitals</a:t>
            </a: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Core Web Vitals: Ursachen und Hebel in Angular</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LCP schlecht: großes Start-Bundle, großes Hauptbild</a:t>
            </a:r>
          </a:p>
          <a:p>
            <a:pPr lvl="1">
              <a:defRPr sz="1700" b="0">
                <a:latin typeface="Segoe UI"/>
              </a:defRPr>
            </a:pPr>
            <a:r>
              <a:rPr lang="de-DE" sz="1700" b="0">
                <a:latin typeface="Segoe UI"/>
              </a:rPr>
              <a:t>Hebel: Lazy Loading, @defer, NgOptimizedImage mit priority, SSR</a:t>
            </a:r>
          </a:p>
          <a:p>
            <a:pPr>
              <a:defRPr sz="2000" b="0">
                <a:latin typeface="Segoe UI"/>
              </a:defRPr>
            </a:pPr>
            <a:r>
              <a:rPr lang="de-DE" sz="2000" b="0">
                <a:latin typeface="Segoe UI"/>
              </a:rPr>
              <a:t>INP schlecht: lange Aufgaben im Haupt-Thread nach einer Eingabe</a:t>
            </a:r>
          </a:p>
          <a:p>
            <a:pPr lvl="1">
              <a:defRPr sz="1700" b="0">
                <a:latin typeface="Segoe UI"/>
              </a:defRPr>
            </a:pPr>
            <a:r>
              <a:rPr lang="de-DE" sz="1700" b="0">
                <a:latin typeface="Segoe UI"/>
              </a:rPr>
              <a:t>Hebel: weniger Change Detection (Signals, OnPush), Debounce, Virtual Scrolling</a:t>
            </a:r>
          </a:p>
          <a:p>
            <a:pPr>
              <a:defRPr sz="2000" b="0">
                <a:latin typeface="Segoe UI"/>
              </a:defRPr>
            </a:pPr>
            <a:r>
              <a:rPr lang="de-DE" sz="2000" b="0">
                <a:latin typeface="Segoe UI"/>
              </a:rPr>
              <a:t>CLS schlecht: Bilder ohne Größe, nachgeladene Inhalte schieben das Layout</a:t>
            </a:r>
          </a:p>
          <a:p>
            <a:pPr lvl="1">
              <a:defRPr sz="1700" b="0">
                <a:latin typeface="Segoe UI"/>
              </a:defRPr>
            </a:pPr>
            <a:r>
              <a:rPr lang="de-DE" sz="1700" b="0">
                <a:latin typeface="Segoe UI"/>
              </a:rPr>
              <a:t>Hebel: width und height am Bild, @placeholder mit fester Höhe</a:t>
            </a:r>
          </a:p>
          <a:p>
            <a:pPr>
              <a:defRPr sz="2000" b="0">
                <a:latin typeface="Segoe UI"/>
              </a:defRPr>
            </a:pPr>
            <a:r>
              <a:rPr lang="de-DE" sz="2000" b="0">
                <a:latin typeface="Segoe UI"/>
              </a:rPr>
              <a:t>Lighthouse misst im Labor; INP am besten mit DevTools oder echten Nutzerdaten</a:t>
            </a: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Messen: Werkzeuge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Chrome DevTools, Bereich Performance: was passiert wann?</a:t>
            </a:r>
          </a:p>
          <a:p>
            <a:pPr>
              <a:defRPr sz="2000" b="0">
                <a:latin typeface="Segoe UI"/>
              </a:defRPr>
            </a:pPr>
            <a:r>
              <a:rPr lang="de-DE" sz="2000" b="0">
                <a:latin typeface="Segoe UI"/>
              </a:rPr>
              <a:t>Angular DevTools, Profiler: welche Komponente kostet Zeit?</a:t>
            </a:r>
          </a:p>
          <a:p>
            <a:pPr>
              <a:defRPr sz="2000" b="0">
                <a:latin typeface="Segoe UI"/>
              </a:defRPr>
            </a:pPr>
            <a:r>
              <a:rPr lang="de-DE" sz="2000" b="0">
                <a:latin typeface="Segoe UI"/>
              </a:rPr>
              <a:t>Lighthouse: Ladeverhalten und Core Web Vitals</a:t>
            </a:r>
          </a:p>
          <a:p>
            <a:pPr>
              <a:defRPr sz="2000" b="0">
                <a:latin typeface="Segoe UI"/>
              </a:defRPr>
            </a:pPr>
            <a:r>
              <a:rPr lang="de-DE" sz="2000" b="0">
                <a:latin typeface="Segoe UI"/>
              </a:rPr>
              <a:t>ng build: Größe der Bundles, Budgets</a:t>
            </a:r>
          </a:p>
          <a:p>
            <a:pPr lvl="1">
              <a:defRPr sz="1700" b="0">
                <a:latin typeface="Segoe UI"/>
              </a:defRPr>
            </a:pPr>
            <a:r>
              <a:rPr lang="de-DE" sz="1700" b="0">
                <a:latin typeface="Segoe UI"/>
              </a:rPr>
              <a:t>--stats-json für die genaue Analyse</a:t>
            </a:r>
          </a:p>
          <a:p>
            <a:pPr>
              <a:defRPr sz="2000" b="0">
                <a:latin typeface="Segoe UI"/>
              </a:defRPr>
            </a:pPr>
            <a:r>
              <a:rPr lang="de-DE" sz="2000" b="0">
                <a:latin typeface="Segoe UI"/>
              </a:rPr>
              <a:t>Immer mit Production-Build messen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Was messen?</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Laufzeit:</a:t>
            </a:r>
          </a:p>
          <a:p>
            <a:pPr algn="ctr"/>
            <a:r>
              <a:rPr sz="1400" b="0">
                <a:solidFill>
                  <a:srgbClr val="2B3A42"/>
                </a:solidFill>
                <a:latin typeface="Segoe UI"/>
              </a:rPr>
              <a:t>DevTools Performance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Komponenten:</a:t>
            </a:r>
          </a:p>
          <a:p>
            <a:pPr algn="ctr"/>
            <a:r>
              <a:rPr sz="1400" b="0">
                <a:solidFill>
                  <a:srgbClr val="2B3A42"/>
                </a:solidFill>
                <a:latin typeface="Segoe UI"/>
              </a:rPr>
              <a:t>Angular Profiler</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Laden:</a:t>
            </a:r>
          </a:p>
          <a:p>
            <a:pPr algn="ctr"/>
            <a:r>
              <a:rPr sz="1400" b="0">
                <a:solidFill>
                  <a:srgbClr val="2B3A42"/>
                </a:solidFill>
                <a:latin typeface="Segoe UI"/>
              </a:rPr>
              <a:t>Lighthouse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Größe:</a:t>
            </a:r>
          </a:p>
          <a:p>
            <a:pPr algn="ctr"/>
            <a:r>
              <a:rPr sz="1400" b="0">
                <a:solidFill>
                  <a:srgbClr val="2B3A42"/>
                </a:solidFill>
                <a:latin typeface="Segoe UI"/>
              </a:rPr>
              <a:t>ng build --stats-json</a:t>
            </a: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Chrome DevTools: Performance-Aufnahme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F12, Bereich Performance, Aufnahme starten</a:t>
            </a:r>
          </a:p>
          <a:p>
            <a:pPr>
              <a:defRPr sz="2000" b="0">
                <a:latin typeface="Segoe UI"/>
              </a:defRPr>
            </a:pPr>
            <a:r>
              <a:rPr lang="de-DE" sz="2000" b="0">
                <a:latin typeface="Segoe UI"/>
              </a:rPr>
              <a:t>Aktion ausführen, z. B. im Filter tippen</a:t>
            </a:r>
          </a:p>
          <a:p>
            <a:pPr>
              <a:defRPr sz="2000" b="0">
                <a:latin typeface="Segoe UI"/>
              </a:defRPr>
            </a:pPr>
            <a:r>
              <a:rPr lang="de-DE" sz="2000" b="0">
                <a:latin typeface="Segoe UI"/>
              </a:rPr>
              <a:t>Aufnahme stoppen und Zeitachse lesen</a:t>
            </a:r>
          </a:p>
          <a:p>
            <a:pPr lvl="1">
              <a:defRPr sz="1700" b="0">
                <a:latin typeface="Segoe UI"/>
              </a:defRPr>
            </a:pPr>
            <a:r>
              <a:rPr lang="de-DE" sz="1700" b="0">
                <a:latin typeface="Segoe UI"/>
              </a:rPr>
              <a:t>Long Tasks über 50 ms sind rot markiert</a:t>
            </a:r>
          </a:p>
          <a:p>
            <a:pPr lvl="1">
              <a:defRPr sz="1700" b="0">
                <a:latin typeface="Segoe UI"/>
              </a:defRPr>
            </a:pPr>
            <a:r>
              <a:rPr lang="de-DE" sz="1700" b="0">
                <a:latin typeface="Segoe UI"/>
              </a:rPr>
              <a:t>Flamegraph: welche Funktion ruft welche auf</a:t>
            </a:r>
          </a:p>
          <a:p>
            <a:pPr>
              <a:defRPr sz="2000" b="0">
                <a:latin typeface="Segoe UI"/>
              </a:defRPr>
            </a:pPr>
            <a:r>
              <a:rPr lang="de-DE" sz="2000" b="0">
                <a:latin typeface="Segoe UI"/>
              </a:rPr>
              <a:t>CPU drosseln: langsame Geräte simulieren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Aufnahme starten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Aktion ausführen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Aufnahme stoppen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Long Tasks finden</a:t>
            </a: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Angular DevTools: der Profiler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Browser-Erweiterung für Chrome und Firefox</a:t>
            </a:r>
          </a:p>
          <a:p>
            <a:pPr>
              <a:defRPr sz="2000" b="0">
                <a:latin typeface="Segoe UI"/>
              </a:defRPr>
            </a:pPr>
            <a:r>
              <a:rPr lang="de-DE" sz="2000" b="0">
                <a:latin typeface="Segoe UI"/>
              </a:rPr>
              <a:t>Funktioniert mit dem Entwicklungs-Build (ng serve)</a:t>
            </a:r>
          </a:p>
          <a:p>
            <a:pPr>
              <a:defRPr sz="2000" b="0">
                <a:latin typeface="Segoe UI"/>
              </a:defRPr>
            </a:pPr>
            <a:r>
              <a:rPr lang="de-DE" sz="2000" b="0">
                <a:latin typeface="Segoe UI"/>
              </a:rPr>
              <a:t>Reiter Profiler: Aufnahme starten, Aktion, stoppen</a:t>
            </a:r>
          </a:p>
          <a:p>
            <a:pPr>
              <a:defRPr sz="2000" b="0">
                <a:latin typeface="Segoe UI"/>
              </a:defRPr>
            </a:pPr>
            <a:r>
              <a:rPr lang="de-DE" sz="2000" b="0">
                <a:latin typeface="Segoe UI"/>
              </a:rPr>
              <a:t>Jeder Balken: ein Durchlauf der Change Detection</a:t>
            </a:r>
          </a:p>
          <a:p>
            <a:pPr>
              <a:defRPr sz="2000" b="0">
                <a:latin typeface="Segoe UI"/>
              </a:defRPr>
            </a:pPr>
            <a:r>
              <a:rPr lang="de-DE" sz="2000" b="0">
                <a:latin typeface="Segoe UI"/>
              </a:rPr>
              <a:t>Klick auf Balken: geprüfte Komponenten und Dauer</a:t>
            </a:r>
          </a:p>
          <a:p>
            <a:pPr>
              <a:defRPr sz="2000" b="0">
                <a:latin typeface="Segoe UI"/>
              </a:defRPr>
            </a:pPr>
            <a:r>
              <a:rPr lang="de-DE" sz="2000" b="0">
                <a:latin typeface="Segoe UI"/>
              </a:rPr>
              <a:t>Frage: Werden mehr Komponenten geprüft als nötig?</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Profiler: Start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 tippen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Stopp</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Balken = CD-Durchlauf</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Komponenten und Zeit</a:t>
            </a: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Lighthouse richtig einsetzen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 Chrome DevTools: Bereich Lighthouse, Analyse starten</a:t>
            </a:r>
          </a:p>
          <a:p>
            <a:pPr>
              <a:defRPr sz="2000" b="0">
                <a:latin typeface="Segoe UI"/>
              </a:defRPr>
            </a:pPr>
            <a:r>
              <a:rPr lang="de-DE" sz="2000" b="0">
                <a:latin typeface="Segoe UI"/>
              </a:rPr>
              <a:t>Ergebnis: Punkte und Kennzahlen (LCP, CLS, TBT …)</a:t>
            </a:r>
          </a:p>
          <a:p>
            <a:pPr lvl="1">
              <a:defRPr sz="1700" b="0">
                <a:latin typeface="Segoe UI"/>
              </a:defRPr>
            </a:pPr>
            <a:r>
              <a:rPr lang="de-DE" sz="1700" b="0">
                <a:latin typeface="Segoe UI"/>
              </a:rPr>
              <a:t>TBT: blockierte Zeit, Laborersatz für INP</a:t>
            </a:r>
          </a:p>
          <a:p>
            <a:pPr>
              <a:defRPr sz="2000" b="0">
                <a:latin typeface="Segoe UI"/>
              </a:defRPr>
            </a:pPr>
            <a:r>
              <a:rPr lang="de-DE" sz="2000" b="0">
                <a:latin typeface="Segoe UI"/>
              </a:rPr>
              <a:t>Mit Production-Build messen, nicht mit ng serve</a:t>
            </a:r>
          </a:p>
          <a:p>
            <a:pPr lvl="1">
              <a:defRPr sz="1700" b="0">
                <a:latin typeface="Segoe UI"/>
              </a:defRPr>
            </a:pPr>
            <a:r>
              <a:rPr lang="de-DE" sz="1700" b="0">
                <a:latin typeface="Segoe UI"/>
              </a:rPr>
              <a:t>ng build, dann dist/…/browser mit einem Webserver ausliefern</a:t>
            </a:r>
          </a:p>
          <a:p>
            <a:pPr>
              <a:defRPr sz="2000" b="0">
                <a:latin typeface="Segoe UI"/>
              </a:defRPr>
            </a:pPr>
            <a:r>
              <a:rPr lang="de-DE" sz="2000" b="0">
                <a:latin typeface="Segoe UI"/>
              </a:rPr>
              <a:t>Inkognito-Fenster: keine Erweiterungen stören</a:t>
            </a:r>
          </a:p>
          <a:p>
            <a:pPr>
              <a:defRPr sz="2000" b="0">
                <a:latin typeface="Segoe UI"/>
              </a:defRPr>
            </a:pPr>
            <a:r>
              <a:rPr lang="de-DE" sz="2000" b="0">
                <a:latin typeface="Segoe UI"/>
              </a:rPr>
              <a:t>Mehrmals messen, Schwankungen beachten</a:t>
            </a:r>
          </a:p>
          <a:p>
            <a:pPr>
              <a:defRPr sz="2000" b="0">
                <a:latin typeface="Segoe UI"/>
              </a:defRPr>
            </a:pPr>
            <a:r>
              <a:rPr lang="de-DE" sz="2000" b="0">
                <a:latin typeface="Segoe UI"/>
              </a:rPr>
              <a:t>Lighthouse CI: Messung automatisch in der Pipeline</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Bundle-Analyse: was steckt im Build?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 build zeigt Initial chunks und Lazy chunks mit Größe</a:t>
            </a:r>
          </a:p>
          <a:p>
            <a:pPr>
              <a:defRPr sz="2000" b="0">
                <a:latin typeface="Segoe UI"/>
              </a:defRPr>
            </a:pPr>
            <a:r>
              <a:rPr lang="de-DE" sz="2000" b="0">
                <a:latin typeface="Segoe UI"/>
              </a:rPr>
              <a:t>Initial: wird beim Start geladen, soll klein bleiben</a:t>
            </a:r>
          </a:p>
          <a:p>
            <a:pPr>
              <a:defRPr sz="2000" b="0">
                <a:latin typeface="Segoe UI"/>
              </a:defRPr>
            </a:pPr>
            <a:r>
              <a:rPr lang="de-DE" sz="2000" b="0">
                <a:latin typeface="Segoe UI"/>
              </a:rPr>
              <a:t>ng build --stats-json erzeugt stats.json</a:t>
            </a:r>
          </a:p>
          <a:p>
            <a:pPr lvl="1">
              <a:defRPr sz="1700" b="0">
                <a:latin typeface="Segoe UI"/>
              </a:defRPr>
            </a:pPr>
            <a:r>
              <a:rPr lang="de-DE" sz="1700" b="0">
                <a:latin typeface="Segoe UI"/>
              </a:rPr>
              <a:t>Analyse z. B. im esbuild Bundle Analyzer</a:t>
            </a:r>
          </a:p>
          <a:p>
            <a:pPr>
              <a:defRPr sz="2000" b="0">
                <a:latin typeface="Segoe UI"/>
              </a:defRPr>
            </a:pPr>
            <a:r>
              <a:rPr lang="de-DE" sz="2000" b="0">
                <a:latin typeface="Segoe UI"/>
              </a:rPr>
              <a:t>Fragen: Welche Bibliothek ist groß? Was ist unnötig?</a:t>
            </a:r>
          </a:p>
          <a:p>
            <a:pPr>
              <a:defRPr sz="2000" b="0">
                <a:latin typeface="Segoe UI"/>
              </a:defRPr>
            </a:pPr>
            <a:r>
              <a:rPr lang="de-DE" sz="2000" b="0">
                <a:latin typeface="Segoe UI"/>
              </a:rPr>
              <a:t>Budgets in angular.json: Warnung oder Fehler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Ausgabe von ng build (Beispiel)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Initial chunk files | Raw size</a:t>
            </a:r>
          </a:p>
          <a:p>
            <a:pPr algn="l"/>
            <a:r>
              <a:rPr sz="1500" b="0">
                <a:solidFill>
                  <a:srgbClr val="2B3A42"/>
                </a:solidFill>
                <a:latin typeface="Consolas"/>
              </a:rPr>
              <a:t>main-XYZ.js         | 312 kB</a:t>
            </a:r>
          </a:p>
          <a:p>
            <a:pPr algn="l"/>
            <a:r>
              <a:rPr sz="1500" b="0">
                <a:solidFill>
                  <a:srgbClr val="2B3A42"/>
                </a:solidFill>
                <a:latin typeface="Consolas"/>
              </a:rPr>
              <a:t>styles-XYZ.css      |   4 kB</a:t>
            </a:r>
          </a:p>
          <a:p>
            <a:pPr algn="l"/>
            <a:r>
              <a:rPr sz="1500" b="0">
                <a:solidFill>
                  <a:srgbClr val="2B3A42"/>
                </a:solidFill>
                <a:latin typeface="Consolas"/>
              </a:rPr>
              <a:t/>
            </a:r>
          </a:p>
          <a:p>
            <a:pPr algn="l"/>
            <a:r>
              <a:rPr sz="1500" b="0">
                <a:solidFill>
                  <a:srgbClr val="2B3A42"/>
                </a:solidFill>
                <a:latin typeface="Consolas"/>
              </a:rPr>
              <a:t>Lazy chunk files    | Raw size</a:t>
            </a:r>
          </a:p>
          <a:p>
            <a:pPr algn="l"/>
            <a:r>
              <a:rPr sz="1500" b="0">
                <a:solidFill>
                  <a:srgbClr val="2B3A42"/>
                </a:solidFill>
                <a:latin typeface="Consolas"/>
              </a:rPr>
              <a:t>chunk-ABC.js        |  48 kB</a:t>
            </a:r>
          </a:p>
          <a:p>
            <a:pPr algn="l"/>
            <a:r>
              <a:rPr sz="1500" b="0">
                <a:solidFill>
                  <a:srgbClr val="2B3A42"/>
                </a:solidFill>
                <a:latin typeface="Consolas"/>
              </a:rPr>
              <a:t>  (customer-details-</a:t>
            </a:r>
          </a:p>
          <a:p>
            <a:pPr algn="l"/>
            <a:r>
              <a:rPr sz="1500" b="0">
                <a:solidFill>
                  <a:srgbClr val="2B3A42"/>
                </a:solidFill>
                <a:latin typeface="Consolas"/>
              </a:rPr>
              <a:t>   component)</a:t>
            </a:r>
          </a:p>
        </p:txBody>
      </p:sp>
    </p:spTree>
  </p:cSld>
  <p:clrMapOvr>
    <a:masterClrMapping/>
  </p:clrMapOvr>
</p:sld>
</file>

<file path=ppt/slides/slide7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Budgets in angular.json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"configurations":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"production":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"budgets":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 "initial",            // alles, was beim Start geladen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"maximumWarning": "500kB",    // ab hier: Warnung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"maximumError": "1MB"         // ab hier: Build schlägt fehl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 "anyComponentStyle",  // CSS einer einzelnen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"maximumWarning": "4kB",</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"maximumError": "8kB"</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Change Detection: die Grundidee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 bilden einen Baum, beginnend bei AppComponent</a:t>
            </a:r>
          </a:p>
          <a:p>
            <a:pPr>
              <a:defRPr sz="2000" b="0">
                <a:latin typeface="Segoe UI"/>
              </a:defRPr>
            </a:pPr>
            <a:r>
              <a:rPr lang="de-DE" sz="2000" b="0">
                <a:latin typeface="Segoe UI"/>
              </a:rPr>
              <a:t>Change Detection: Template-Bindungen prüfen, DOM anpassen</a:t>
            </a:r>
          </a:p>
          <a:p>
            <a:pPr>
              <a:defRPr sz="2000" b="0">
                <a:latin typeface="Segoe UI"/>
              </a:defRPr>
            </a:pPr>
            <a:r>
              <a:rPr lang="de-DE" sz="2000" b="0">
                <a:latin typeface="Segoe UI"/>
              </a:rPr>
              <a:t>Läuft von oben nach unten durch den Baum</a:t>
            </a:r>
          </a:p>
          <a:p>
            <a:pPr>
              <a:defRPr sz="2000" b="0">
                <a:latin typeface="Segoe UI"/>
              </a:defRPr>
            </a:pPr>
            <a:r>
              <a:rPr lang="de-DE" sz="2000" b="0">
                <a:latin typeface="Segoe UI"/>
              </a:rPr>
              <a:t>Kosten wachsen mit Zahl der geprüften Komponenten</a:t>
            </a:r>
          </a:p>
          <a:p>
            <a:pPr>
              <a:defRPr sz="2000" b="0">
                <a:latin typeface="Segoe UI"/>
              </a:defRPr>
            </a:pPr>
            <a:r>
              <a:rPr lang="de-DE" sz="2000" b="0">
                <a:latin typeface="Segoe UI"/>
              </a:rPr>
              <a:t>Ziel: nur prüfen, was sich wirklich geändert hat</a:t>
            </a:r>
          </a:p>
          <a:p>
            <a:pPr>
              <a:defRPr sz="2000" b="0">
                <a:latin typeface="Segoe UI"/>
              </a:defRPr>
            </a:pPr>
            <a:r>
              <a:rPr lang="de-DE" sz="2000" b="0">
                <a:latin typeface="Segoe UI"/>
              </a:rPr>
              <a:t>Frage: Wer sagt Angular, dass sich etwas geändert hat?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Header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Item 1</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Item 2</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 Item 5000</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Zone.js und zoneless im Vergleich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Zone.js (früher Standard)</a:t>
            </a:r>
          </a:p>
          <a:p>
            <a:pPr lvl="1">
              <a:defRPr sz="1700" b="0">
                <a:latin typeface="Segoe UI"/>
              </a:defRPr>
            </a:pPr>
            <a:r>
              <a:rPr lang="de-DE" sz="1700" b="0">
                <a:latin typeface="Segoe UI"/>
              </a:rPr>
              <a:t>fängt jedes Ereignis, jeden Timer, jede HTTP-Antwort ab</a:t>
            </a:r>
          </a:p>
          <a:p>
            <a:pPr lvl="1">
              <a:defRPr sz="1700" b="0">
                <a:latin typeface="Segoe UI"/>
              </a:defRPr>
            </a:pPr>
            <a:r>
              <a:rPr lang="de-DE" sz="1700" b="0">
                <a:latin typeface="Segoe UI"/>
              </a:rPr>
              <a:t>danach: ganzer Baum wird geprüft</a:t>
            </a:r>
          </a:p>
          <a:p>
            <a:pPr>
              <a:defRPr sz="2000" b="0">
                <a:latin typeface="Segoe UI"/>
              </a:defRPr>
            </a:pPr>
            <a:r>
              <a:rPr lang="de-DE" sz="2000" b="0">
                <a:latin typeface="Segoe UI"/>
              </a:rPr>
              <a:t>Zoneless (Standard in Angular 21)</a:t>
            </a:r>
          </a:p>
          <a:p>
            <a:pPr lvl="1">
              <a:defRPr sz="1700" b="0">
                <a:latin typeface="Segoe UI"/>
              </a:defRPr>
            </a:pPr>
            <a:r>
              <a:rPr lang="de-DE" sz="1700" b="0">
                <a:latin typeface="Segoe UI"/>
              </a:rPr>
              <a:t>Angular wird gezielt benachrichtigt, z. B. vom Signal</a:t>
            </a:r>
          </a:p>
          <a:p>
            <a:pPr lvl="1">
              <a:defRPr sz="1700" b="0">
                <a:latin typeface="Segoe UI"/>
              </a:defRPr>
            </a:pPr>
            <a:r>
              <a:rPr lang="de-DE" sz="1700" b="0">
                <a:latin typeface="Segoe UI"/>
              </a:rPr>
              <a:t>nur markierte Komponenten werden geprüft</a:t>
            </a:r>
          </a:p>
          <a:p>
            <a:pPr>
              <a:defRPr sz="2000" b="0">
                <a:latin typeface="Segoe UI"/>
              </a:defRPr>
            </a:pPr>
            <a:r>
              <a:rPr lang="de-DE" sz="2000" b="0">
                <a:latin typeface="Segoe UI"/>
              </a:rPr>
              <a:t>Startprojekt: provideZonelessChangeDetection()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Zone.js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Ereignis, Timer, HTTP</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ganzer Baum wird geprüft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Zoneless + Signals</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 ändert sich</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betroffene Komponenten</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Signal ändert sich (zoneless)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Code ruft set oder update auf einem Signal auf</a:t>
            </a:r>
          </a:p>
          <a:p>
            <a:pPr>
              <a:defRPr sz="2000" b="0">
                <a:latin typeface="Segoe UI"/>
              </a:defRPr>
            </a:pPr>
            <a:r>
              <a:rPr lang="de-DE" sz="2000" b="0">
                <a:latin typeface="Segoe UI"/>
              </a:rPr>
              <a:t>Angular kennt alle Templates, die das Signal lesen</a:t>
            </a:r>
          </a:p>
          <a:p>
            <a:pPr>
              <a:defRPr sz="2000" b="0">
                <a:latin typeface="Segoe UI"/>
              </a:defRPr>
            </a:pPr>
            <a:r>
              <a:rPr lang="de-DE" sz="2000" b="0">
                <a:latin typeface="Segoe UI"/>
              </a:rPr>
              <a:t>Diese Komponenten werden als „zu prüfen“ markiert</a:t>
            </a:r>
          </a:p>
          <a:p>
            <a:pPr>
              <a:defRPr sz="2000" b="0">
                <a:latin typeface="Segoe UI"/>
              </a:defRPr>
            </a:pPr>
            <a:r>
              <a:rPr lang="de-DE" sz="2000" b="0">
                <a:latin typeface="Segoe UI"/>
              </a:rPr>
              <a:t>Der Scheduler plant einen Durchlauf ein</a:t>
            </a:r>
          </a:p>
          <a:p>
            <a:pPr lvl="1">
              <a:defRPr sz="1700" b="0">
                <a:latin typeface="Segoe UI"/>
              </a:defRPr>
            </a:pPr>
            <a:r>
              <a:rPr lang="de-DE" sz="1700" b="0">
                <a:latin typeface="Segoe UI"/>
              </a:rPr>
              <a:t>mehrere Änderungen ergeben einen Durchlauf</a:t>
            </a:r>
          </a:p>
          <a:p>
            <a:pPr>
              <a:defRPr sz="2000" b="0">
                <a:latin typeface="Segoe UI"/>
              </a:defRPr>
            </a:pPr>
            <a:r>
              <a:rPr lang="de-DE" sz="2000" b="0">
                <a:latin typeface="Segoe UI"/>
              </a:rPr>
              <a:t>Nur markierte Teile werden geprüft, DOM angepasst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filter.set('li')</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Leser-Templates markiert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Scheduler plant Durchlauf</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markierte Komponenten prüfen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DOM aktualisiert</a:t>
            </a: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Change Detection ohne Zone.js</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Zwei Änderungen, ein Durchlauf: Angular prüft nur die Komponente, deren Template die Signals liest.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a:p>
            <a:pPr algn="ctr"/>
            <a:r>
              <a:rPr sz="1400" b="1">
                <a:solidFill>
                  <a:srgbClr val="FFFFFF"/>
                </a:solidFill>
                <a:latin typeface="Segoe UI"/>
              </a:rPr>
              <a:t>(Event-Handler)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CustomerStore</a:t>
            </a:r>
          </a:p>
          <a:p>
            <a:pPr algn="ctr"/>
            <a:r>
              <a:rPr sz="1400" b="1">
                <a:solidFill>
                  <a:srgbClr val="FFFFFF"/>
                </a:solidFill>
                <a:latin typeface="Segoe UI"/>
              </a:rPr>
              <a:t>(Signals)</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Angular</a:t>
            </a:r>
          </a:p>
          <a:p>
            <a:pPr algn="ctr"/>
            <a:r>
              <a:rPr sz="1400" b="1">
                <a:solidFill>
                  <a:srgbClr val="FFFFFF"/>
                </a:solidFill>
                <a:latin typeface="Segoe UI"/>
              </a:rPr>
              <a:t>Scheduler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a:p>
            <a:pPr algn="ctr"/>
            <a:r>
              <a:rPr sz="1400" b="1">
                <a:solidFill>
                  <a:srgbClr val="FFFFFF"/>
                </a:solidFill>
                <a:latin typeface="Segoe UI"/>
              </a:rPr>
              <a:t>(Template)</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DOM</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setFilter('li'): _filter.set()</a:t>
            </a:r>
          </a:p>
        </p:txBody>
      </p:sp>
      <p:cxnSp>
        <p:nvCxnSpPr>
          <p:cNvPr id="16" name="Connector 15"/>
          <p:cNvCxnSpPr/>
          <p:nvPr/>
        </p:nvCxnSpPr>
        <p:spPr>
          <a:xfrm>
            <a:off x="3992328" y="30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Leser markiert, Lauf geplant</a:t>
            </a:r>
          </a:p>
        </p:txBody>
      </p:sp>
      <p:cxnSp>
        <p:nvCxnSpPr>
          <p:cNvPr id="18" name="Connector 17"/>
          <p:cNvCxnSpPr/>
          <p:nvPr/>
        </p:nvCxnSpPr>
        <p:spPr>
          <a:xfrm>
            <a:off x="1889496" y="34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363788" y="30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3. select(id): _selectedId.set()</a:t>
            </a:r>
          </a:p>
        </p:txBody>
      </p:sp>
      <p:cxnSp>
        <p:nvCxnSpPr>
          <p:cNvPr id="20" name="Connector 19"/>
          <p:cNvCxnSpPr/>
          <p:nvPr/>
        </p:nvCxnSpPr>
        <p:spPr>
          <a:xfrm>
            <a:off x="3992328" y="38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34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schon geplant: kein 2. Lauf</a:t>
            </a:r>
          </a:p>
        </p:txBody>
      </p:sp>
      <p:cxnSp>
        <p:nvCxnSpPr>
          <p:cNvPr id="22" name="Connector 21"/>
          <p:cNvCxnSpPr/>
          <p:nvPr/>
        </p:nvCxnSpPr>
        <p:spPr>
          <a:xfrm>
            <a:off x="6095160" y="40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475160" y="40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115160" y="42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25160" y="39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5. Lauf startet</a:t>
            </a:r>
          </a:p>
        </p:txBody>
      </p:sp>
      <p:cxnSp>
        <p:nvCxnSpPr>
          <p:cNvPr id="26" name="Connector 25"/>
          <p:cNvCxnSpPr/>
          <p:nvPr/>
        </p:nvCxnSpPr>
        <p:spPr>
          <a:xfrm>
            <a:off x="6095160" y="4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569452" y="4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6. nur markierte Komponente prüfen</a:t>
            </a:r>
          </a:p>
        </p:txBody>
      </p:sp>
      <p:cxnSp>
        <p:nvCxnSpPr>
          <p:cNvPr id="28" name="Connector 27"/>
          <p:cNvCxnSpPr/>
          <p:nvPr/>
        </p:nvCxnSpPr>
        <p:spPr>
          <a:xfrm flipH="1">
            <a:off x="4012328" y="5018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022328" y="4668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7. filtered(), selected() lesen</a:t>
            </a:r>
          </a:p>
        </p:txBody>
      </p:sp>
      <p:cxnSp>
        <p:nvCxnSpPr>
          <p:cNvPr id="30" name="Connector 29"/>
          <p:cNvCxnSpPr/>
          <p:nvPr/>
        </p:nvCxnSpPr>
        <p:spPr>
          <a:xfrm>
            <a:off x="3992328" y="54180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22328" y="5068000"/>
            <a:ext cx="4145664" cy="330000"/>
          </a:xfrm>
          <a:prstGeom prst="rect">
            <a:avLst/>
          </a:prstGeom>
          <a:noFill/>
        </p:spPr>
        <p:txBody>
          <a:bodyPr wrap="square" anchor="b" lIns="70000" rIns="70000" tIns="0" bIns="0">
            <a:spAutoFit/>
          </a:bodyPr>
          <a:lstStyle/>
          <a:p>
            <a:pPr algn="ctr"/>
            <a:r>
              <a:rPr sz="1300" b="0">
                <a:solidFill>
                  <a:srgbClr val="404B52"/>
                </a:solidFill>
                <a:latin typeface="Segoe UI"/>
              </a:rPr>
              <a:t>8. neue Werte</a:t>
            </a:r>
          </a:p>
        </p:txBody>
      </p:sp>
      <p:cxnSp>
        <p:nvCxnSpPr>
          <p:cNvPr id="32" name="Connector 31"/>
          <p:cNvCxnSpPr/>
          <p:nvPr/>
        </p:nvCxnSpPr>
        <p:spPr>
          <a:xfrm>
            <a:off x="8197992" y="58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672284" y="54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9. nur geänderte Stellen anpassen</a:t>
            </a:r>
          </a:p>
        </p:txBody>
      </p:sp>
    </p:spTree>
  </p:cSld>
  <p:clrMapOvr>
    <a:masterClrMapping/>
  </p:clrMapOvr>
</p:sld>
</file>

<file path=ppt/slides/slide7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löst eine Neu-Prüfung aus?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 Signal, das im Template gelesen wird, ändert sich</a:t>
            </a:r>
          </a:p>
          <a:p>
            <a:pPr>
              <a:defRPr sz="2000" b="0">
                <a:latin typeface="Segoe UI"/>
              </a:defRPr>
            </a:pPr>
            <a:r>
              <a:rPr lang="de-DE" sz="2000" b="0">
                <a:latin typeface="Segoe UI"/>
              </a:rPr>
              <a:t>Ein Event-Handler aus dem Template läuft, z. B. (click)</a:t>
            </a:r>
          </a:p>
          <a:p>
            <a:pPr>
              <a:defRPr sz="2000" b="0">
                <a:latin typeface="Segoe UI"/>
              </a:defRPr>
            </a:pPr>
            <a:r>
              <a:rPr lang="de-DE" sz="2000" b="0">
                <a:latin typeface="Segoe UI"/>
              </a:rPr>
              <a:t>Ein Input bekommt einen neuen Wert (neue Referenz)</a:t>
            </a:r>
          </a:p>
          <a:p>
            <a:pPr lvl="1">
              <a:defRPr sz="1700" b="0">
                <a:latin typeface="Segoe UI"/>
              </a:defRPr>
            </a:pPr>
            <a:r>
              <a:rPr lang="de-DE" sz="1700" b="0">
                <a:latin typeface="Segoe UI"/>
              </a:rPr>
              <a:t>auch per componentRef.setInput im Test</a:t>
            </a:r>
          </a:p>
          <a:p>
            <a:pPr>
              <a:defRPr sz="2000" b="0">
                <a:latin typeface="Segoe UI"/>
              </a:defRPr>
            </a:pPr>
            <a:r>
              <a:rPr lang="de-DE" sz="2000" b="0">
                <a:latin typeface="Segoe UI"/>
              </a:rPr>
              <a:t>Die async-Pipe erhält einen neuen Wert</a:t>
            </a:r>
          </a:p>
          <a:p>
            <a:pPr>
              <a:defRPr sz="2000" b="0">
                <a:latin typeface="Segoe UI"/>
              </a:defRPr>
            </a:pPr>
            <a:r>
              <a:rPr lang="de-DE" sz="2000" b="0">
                <a:latin typeface="Segoe UI"/>
              </a:rPr>
              <a:t>ChangeDetectorRef.markForCheck() wird aufgerufen</a:t>
            </a:r>
          </a:p>
          <a:p>
            <a:pPr>
              <a:defRPr sz="2000" b="0">
                <a:latin typeface="Segoe UI"/>
              </a:defRPr>
            </a:pPr>
            <a:r>
              <a:rPr lang="de-DE" sz="2000" b="0">
                <a:latin typeface="Segoe UI"/>
              </a:rPr>
              <a:t>Keine Neu-Prüfung: normales Feld in setTimeout oder subscribe ändern</a:t>
            </a:r>
          </a:p>
          <a:p>
            <a:pPr lvl="1">
              <a:defRPr sz="1700" b="0">
                <a:latin typeface="Segoe UI"/>
              </a:defRPr>
            </a:pPr>
            <a:r>
              <a:rPr lang="de-DE" sz="1700" b="0">
                <a:latin typeface="Segoe UI"/>
              </a:rPr>
              <a:t>Abhilfe: den Wert in ein Signal legen</a:t>
            </a:r>
          </a:p>
        </p:txBody>
      </p:sp>
    </p:spTree>
  </p:cSld>
  <p:clrMapOvr>
    <a:masterClrMapping/>
  </p:clrMapOvr>
</p:sld>
</file>

<file path=ppt/slides/slide7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OnPush: Komponenten gezielt überspringen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Ohne Angabe: Komponente wird bei jedem Durchlauf geprüft</a:t>
            </a:r>
          </a:p>
          <a:p>
            <a:pPr>
              <a:defRPr sz="2000" b="0">
                <a:latin typeface="Segoe UI"/>
              </a:defRPr>
            </a:pPr>
            <a:r>
              <a:rPr lang="de-DE" sz="2000" b="0">
                <a:latin typeface="Segoe UI"/>
              </a:rPr>
              <a:t>OnPush: nur prüfen, wenn sie markiert ist</a:t>
            </a:r>
          </a:p>
          <a:p>
            <a:pPr lvl="1">
              <a:defRPr sz="1700" b="0">
                <a:latin typeface="Segoe UI"/>
              </a:defRPr>
            </a:pPr>
            <a:r>
              <a:rPr lang="de-DE" sz="1700" b="0">
                <a:latin typeface="Segoe UI"/>
              </a:rPr>
              <a:t>neuer Input, Template-Event, gelesenes Signal, async-Pipe</a:t>
            </a:r>
          </a:p>
          <a:p>
            <a:pPr>
              <a:defRPr sz="2000" b="0">
                <a:latin typeface="Segoe UI"/>
              </a:defRPr>
            </a:pPr>
            <a:r>
              <a:rPr lang="de-DE" sz="2000" b="0">
                <a:latin typeface="Segoe UI"/>
              </a:rPr>
              <a:t>Sonst wird sie samt Kindern übersprungen</a:t>
            </a:r>
          </a:p>
          <a:p>
            <a:pPr>
              <a:defRPr sz="2000" b="0">
                <a:latin typeface="Segoe UI"/>
              </a:defRPr>
            </a:pPr>
            <a:r>
              <a:rPr lang="de-DE" sz="2000" b="0">
                <a:latin typeface="Segoe UI"/>
              </a:rPr>
              <a:t>Empfehlung: OnPush für alle neuen Komponenten</a:t>
            </a:r>
          </a:p>
          <a:p>
            <a:pPr>
              <a:defRPr sz="2000" b="0">
                <a:latin typeface="Segoe UI"/>
              </a:defRPr>
            </a:pPr>
            <a:r>
              <a:rPr lang="de-DE" sz="2000" b="0">
                <a:latin typeface="Segoe UI"/>
              </a:rPr>
              <a:t>Passt ideal zu Signals und input()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customer-list-item.component.ts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@Component({</a:t>
            </a:r>
          </a:p>
          <a:p>
            <a:pPr algn="l"/>
            <a:r>
              <a:rPr sz="1300" b="0">
                <a:solidFill>
                  <a:srgbClr val="2B3A42"/>
                </a:solidFill>
                <a:latin typeface="Consolas"/>
              </a:rPr>
              <a:t>  selector: '[customer-list-item]',</a:t>
            </a:r>
          </a:p>
          <a:p>
            <a:pPr algn="l"/>
            <a:r>
              <a:rPr sz="1300" b="0">
                <a:solidFill>
                  <a:srgbClr val="2B3A42"/>
                </a:solidFill>
                <a:latin typeface="Consolas"/>
              </a:rPr>
              <a:t>  changeDetection:</a:t>
            </a:r>
          </a:p>
          <a:p>
            <a:pPr algn="l"/>
            <a:r>
              <a:rPr sz="1300" b="0">
                <a:solidFill>
                  <a:srgbClr val="2B3A42"/>
                </a:solidFill>
                <a:latin typeface="Consolas"/>
              </a:rPr>
              <a:t>    ChangeDetectionStrategy.OnPush,</a:t>
            </a:r>
          </a:p>
          <a:p>
            <a:pPr algn="l"/>
            <a:r>
              <a:rPr sz="1300" b="0">
                <a:solidFill>
                  <a:srgbClr val="2B3A42"/>
                </a:solidFill>
                <a:latin typeface="Consolas"/>
              </a:rPr>
              <a:t>  templateUrl: '…',</a:t>
            </a:r>
          </a:p>
          <a:p>
            <a:pPr algn="l"/>
            <a:r>
              <a:rPr sz="1300" b="0">
                <a:solidFill>
                  <a:srgbClr val="2B3A42"/>
                </a:solidFill>
                <a:latin typeface="Consolas"/>
              </a:rPr>
              <a:t>})</a:t>
            </a:r>
          </a:p>
          <a:p>
            <a:pPr algn="l"/>
            <a:r>
              <a:rPr sz="1300" b="0">
                <a:solidFill>
                  <a:srgbClr val="2B3A42"/>
                </a:solidFill>
                <a:latin typeface="Consolas"/>
              </a:rPr>
              <a:t>export class</a:t>
            </a:r>
          </a:p>
          <a:p>
            <a:pPr algn="l"/>
            <a:r>
              <a:rPr sz="1300" b="0">
                <a:solidFill>
                  <a:srgbClr val="2B3A42"/>
                </a:solidFill>
                <a:latin typeface="Consolas"/>
              </a:rPr>
              <a:t>  CustomerListItemComponent {</a:t>
            </a:r>
          </a:p>
          <a:p>
            <a:pPr algn="l"/>
            <a:r>
              <a:rPr sz="1300" b="0">
                <a:solidFill>
                  <a:srgbClr val="2B3A42"/>
                </a:solidFill>
                <a:latin typeface="Consolas"/>
              </a:rPr>
              <a:t>  customer =</a:t>
            </a:r>
          </a:p>
          <a:p>
            <a:pPr algn="l"/>
            <a:r>
              <a:rPr sz="1300" b="0">
                <a:solidFill>
                  <a:srgbClr val="2B3A42"/>
                </a:solidFill>
                <a:latin typeface="Consolas"/>
              </a:rPr>
              <a:t>    input.required&lt;Customer&gt;();</a:t>
            </a:r>
          </a:p>
          <a:p>
            <a:pPr algn="l"/>
            <a:r>
              <a:rPr sz="1300" b="0">
                <a:solidFill>
                  <a:srgbClr val="2B3A42"/>
                </a:solidFill>
                <a:latin typeface="Consolas"/>
              </a:rPr>
              <a:t>  selected = input(false);</a:t>
            </a:r>
          </a:p>
          <a:p>
            <a:pPr algn="l"/>
            <a:r>
              <a:rPr sz="1300" b="0">
                <a:solidFill>
                  <a:srgbClr val="2B3A42"/>
                </a:solidFill>
                <a:latin typeface="Consolas"/>
              </a:rPr>
              <a:t>}</a:t>
            </a:r>
          </a:p>
        </p:txBody>
      </p:sp>
    </p:spTree>
  </p:cSld>
  <p:clrMapOvr>
    <a:masterClrMapping/>
  </p:clrMapOvr>
</p:sld>
</file>

<file path=ppt/slides/slide7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OnPush und Referenzen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Inputs werden per Referenz verglichen (===)</a:t>
            </a:r>
          </a:p>
          <a:p>
            <a:pPr>
              <a:defRPr sz="2000" b="0">
                <a:latin typeface="Segoe UI"/>
              </a:defRPr>
            </a:pPr>
            <a:r>
              <a:rPr lang="de-DE" sz="2000" b="0">
                <a:latin typeface="Segoe UI"/>
              </a:rPr>
              <a:t>Objekt verändern (mutieren): gleiche Referenz, keine Prüfung</a:t>
            </a:r>
          </a:p>
          <a:p>
            <a:pPr>
              <a:defRPr sz="2000" b="0">
                <a:latin typeface="Segoe UI"/>
              </a:defRPr>
            </a:pPr>
            <a:r>
              <a:rPr lang="de-DE" sz="2000" b="0">
                <a:latin typeface="Segoe UI"/>
              </a:rPr>
              <a:t>Neues Objekt oder neue Liste: neue Referenz, Prüfung</a:t>
            </a:r>
          </a:p>
          <a:p>
            <a:pPr>
              <a:defRPr sz="2000" b="0">
                <a:latin typeface="Segoe UI"/>
              </a:defRPr>
            </a:pPr>
            <a:r>
              <a:rPr lang="de-DE" sz="2000" b="0">
                <a:latin typeface="Segoe UI"/>
              </a:rPr>
              <a:t>Bei Signals gilt dasselbe: set mit gleicher Referenz meldet nichts</a:t>
            </a:r>
          </a:p>
          <a:p>
            <a:pPr>
              <a:defRPr sz="2000" b="0">
                <a:latin typeface="Segoe UI"/>
              </a:defRPr>
            </a:pPr>
            <a:r>
              <a:rPr lang="de-DE" sz="2000" b="0">
                <a:latin typeface="Segoe UI"/>
              </a:rPr>
              <a:t>Darum: update(list =&gt; [...list, neu]) statt list.push(neu)</a:t>
            </a:r>
          </a:p>
          <a:p>
            <a:pPr>
              <a:defRPr sz="2000" b="0">
                <a:latin typeface="Segoe UI"/>
              </a:defRPr>
            </a:pPr>
            <a:r>
              <a:rPr lang="de-DE" sz="2000" b="0">
                <a:latin typeface="Segoe UI"/>
              </a:rPr>
              <a:t>Beispiel: addDemo() im CustomerStore</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Mutieren (falsch)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list().push(neu)</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gleiche Referenz</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keine Anzeige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Neue Referenz</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update(l =&gt; [...l, neu])</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neue Liste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Anzeige aktuell</a:t>
            </a:r>
          </a:p>
        </p:txBody>
      </p:sp>
    </p:spTree>
  </p:cSld>
  <p:clrMapOvr>
    <a:masterClrMapping/>
  </p:clrMapOvr>
</p:sld>
</file>

<file path=ppt/slides/slide7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(Übung 31)</a:t>
            </a:r>
          </a:p>
        </p:txBody>
      </p:sp>
    </p:spTree>
  </p:cSld>
  <p:clrMapOvr>
    <a:masterClrMapping/>
  </p:clrMapOvr>
</p:sld>
</file>

<file path=ppt/slides/slide7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meldet nur dann eine Änderung, wenn sich sein Ergebnis wirklich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Leser von selected werden also nicht geprüft, wenn sich nur der Filter ändert.</a:t>
            </a:r>
            <a:endParaRPr lang="de-DE" sz="1600" b="0" u="none" strike="noStrike">
              <a:solidFill>
                <a:srgbClr val="000000"/>
              </a:solidFill>
              <a:uFillTx/>
              <a:latin typeface="Arial"/>
            </a:endParaRPr>
          </a:p>
        </p:txBody>
      </p:sp>
    </p:spTree>
  </p:cSld>
  <p:clrMapOvr>
    <a:masterClrMapping/>
  </p:clrMapOvr>
</p:sld>
</file>

<file path=ppt/slides/slide7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Schlecht: Objektidentität (so im Startprojekt)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@for (customer of store.filtered(); track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&lt;li customer-list-item [customer]="customer"&gt;&lt;/li&gt;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Besser: stabile, eindeutige ID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@for (customer of store.filtered(); track customer.id)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&lt;li customer-list-item [customer]="customer"&gt;&lt;/li&gt;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@empty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&lt;p&gt;Keine Kunden gefunden.&lt;/p&gt;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Weitere Variablen im Block: $index, $first, $last, $even, $odd, $count --&gt;</a:t>
            </a:r>
            <a:endParaRPr lang="de-DE" sz="1600" b="0" u="none" strike="noStrike">
              <a:solidFill>
                <a:srgbClr val="000000"/>
              </a:solidFill>
              <a:uFillTx/>
              <a:latin typeface="Arial"/>
            </a:endParaRPr>
          </a:p>
        </p:txBody>
      </p:sp>
    </p:spTree>
  </p:cSld>
  <p:clrMapOvr>
    <a:masterClrMapping/>
  </p:clrMapOvr>
</p:sld>
</file>

<file path=ppt/slides/slide7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macht track genau?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berechnet für jeden Eintrag einen Schlüssel</a:t>
            </a:r>
          </a:p>
          <a:p>
            <a:pPr>
              <a:defRPr sz="2000" b="0">
                <a:latin typeface="Segoe UI"/>
              </a:defRPr>
            </a:pPr>
            <a:r>
              <a:rPr lang="de-DE" sz="2000" b="0">
                <a:latin typeface="Segoe UI"/>
              </a:rPr>
              <a:t>Neue Liste: Schlüssel mit der alten Liste vergleichen</a:t>
            </a:r>
          </a:p>
          <a:p>
            <a:pPr lvl="1">
              <a:defRPr sz="1700" b="0">
                <a:latin typeface="Segoe UI"/>
              </a:defRPr>
            </a:pPr>
            <a:r>
              <a:rPr lang="de-DE" sz="1700" b="0">
                <a:latin typeface="Segoe UI"/>
              </a:rPr>
              <a:t>gleicher Schlüssel: DOM wiederverwenden, ggf. verschieben</a:t>
            </a:r>
          </a:p>
          <a:p>
            <a:pPr lvl="1">
              <a:defRPr sz="1700" b="0">
                <a:latin typeface="Segoe UI"/>
              </a:defRPr>
            </a:pPr>
            <a:r>
              <a:rPr lang="de-DE" sz="1700" b="0">
                <a:latin typeface="Segoe UI"/>
              </a:rPr>
              <a:t>neuer Schlüssel: DOM neu anlegen</a:t>
            </a:r>
          </a:p>
          <a:p>
            <a:pPr lvl="1">
              <a:defRPr sz="1700" b="0">
                <a:latin typeface="Segoe UI"/>
              </a:defRPr>
            </a:pPr>
            <a:r>
              <a:rPr lang="de-DE" sz="1700" b="0">
                <a:latin typeface="Segoe UI"/>
              </a:rPr>
              <a:t>fehlender Schlüssel: DOM entfernen</a:t>
            </a:r>
          </a:p>
          <a:p>
            <a:pPr>
              <a:defRPr sz="2000" b="0">
                <a:latin typeface="Segoe UI"/>
              </a:defRPr>
            </a:pPr>
            <a:r>
              <a:rPr lang="de-DE" sz="2000" b="0">
                <a:latin typeface="Segoe UI"/>
              </a:rPr>
              <a:t>track customer: neu geladene Objekte gelten als neu</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neue Liste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Schlüssel je Eintrag</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Vergleich mit alter Liste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behalten, verschieben, neu, entfernen</a:t>
            </a:r>
          </a:p>
        </p:txBody>
      </p:sp>
    </p:spTree>
  </p:cSld>
  <p:clrMapOvr>
    <a:masterClrMapping/>
  </p:clrMapOvr>
</p:sld>
</file>

<file path=ppt/slides/slide7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track customer: bei neu geladenen Daten entsteht alles neu</a:t>
            </a:r>
          </a:p>
          <a:p>
            <a:pPr>
              <a:defRPr sz="2000" b="0">
                <a:latin typeface="Segoe UI"/>
              </a:defRPr>
            </a:pPr>
            <a:r>
              <a:rPr lang="de-DE" sz="2000" b="0">
                <a:latin typeface="Segoe UI"/>
              </a:rPr>
              <a:t>Zustand der Zeilen (Fokus, Eingaben) geht verloren</a:t>
            </a:r>
          </a:p>
          <a:p>
            <a:pPr>
              <a:defRPr sz="2000" b="0">
                <a:latin typeface="Segoe UI"/>
              </a:defRPr>
            </a:pPr>
            <a:r>
              <a:rPr lang="de-DE" sz="2000" b="0">
                <a:latin typeface="Segoe UI"/>
              </a:rPr>
              <a:t>track $index nur bei statischen Listen</a:t>
            </a:r>
          </a:p>
          <a:p>
            <a:pPr>
              <a:defRPr sz="2000" b="0">
                <a:latin typeface="Segoe UI"/>
              </a:defRPr>
            </a:pPr>
            <a:r>
              <a:rPr lang="de-DE" sz="2000" b="0">
                <a:latin typeface="Segoe UI"/>
              </a:rPr>
              <a:t>Faustregel: stabile, eindeutige ID verwenden</a:t>
            </a:r>
          </a:p>
          <a:p>
            <a:pPr>
              <a:defRPr sz="2000" b="0">
                <a:latin typeface="Segoe UI"/>
              </a:defRPr>
            </a:pPr>
            <a:r>
              <a:rPr lang="de-DE" sz="2000" b="0">
                <a:latin typeface="Segoe UI"/>
              </a:rPr>
              <a:t>Bei Virtual Scrolling: trackBy-Funktion an cdkVirtualFor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track customer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neues Objekt = neues DOM</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Fokus geht verloren</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track customer.id</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Zeile bleibt erhalten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Änderungen im DOM</a:t>
            </a:r>
          </a:p>
        </p:txBody>
      </p:sp>
    </p:spTree>
  </p:cSld>
  <p:clrMapOvr>
    <a:masterClrMapping/>
  </p:clrMapOvr>
</p:sld>
</file>

<file path=ppt/slides/slide8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läuft bei jeder Prüfung der Komponente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Quellen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vielen async-Pipes in Schleifen --&gt;</a:t>
            </a:r>
            <a:endParaRPr lang="de-DE" sz="1400" b="0" u="none" strike="noStrike">
              <a:solidFill>
                <a:srgbClr val="000000"/>
              </a:solidFill>
              <a:uFillTx/>
              <a:latin typeface="Arial"/>
            </a:endParaRPr>
          </a:p>
        </p:txBody>
      </p:sp>
    </p:spTree>
  </p:cSld>
  <p:clrMapOvr>
    <a:masterClrMapping/>
  </p:clrMapOvr>
</p:sld>
</file>

<file path=ppt/slides/slide8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OnPush und leichte Zeilenkomponenten: günstigeres Prüfen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Virtual Scrolling (@angular/cdk/scrolling)</a:t>
            </a:r>
          </a:p>
          <a:p>
            <a:pPr lvl="1">
              <a:defRPr sz="1700" b="0">
                <a:latin typeface="Segoe UI"/>
              </a:defRPr>
            </a:pPr>
            <a:r>
              <a:rPr lang="de-DE" sz="1700" b="0">
                <a:latin typeface="Segoe UI"/>
              </a:rPr>
              <a:t>nur sichtbare Zeilen plus Puffer sind im DOM</a:t>
            </a:r>
          </a:p>
          <a:p>
            <a:pPr>
              <a:defRPr sz="2000" b="0">
                <a:latin typeface="Segoe UI"/>
              </a:defRPr>
            </a:pPr>
            <a:r>
              <a:rPr lang="de-DE" sz="2000" b="0">
                <a:latin typeface="Segoe UI"/>
              </a:rPr>
              <a:t>Paginierung oder serverseitiges Filtern: weniger Daten</a:t>
            </a:r>
          </a:p>
          <a:p>
            <a:pPr>
              <a:defRPr sz="2000" b="0">
                <a:latin typeface="Segoe UI"/>
              </a:defRPr>
            </a:pPr>
            <a:r>
              <a:rPr lang="de-DE" sz="2000" b="0">
                <a:latin typeface="Segoe UI"/>
              </a:rPr>
              <a:t>Erst messen, welche Maßnahme bei euch zählt</a:t>
            </a:r>
          </a:p>
        </p:txBody>
      </p:sp>
    </p:spTree>
  </p:cSld>
  <p:clrMapOvr>
    <a:masterClrMapping/>
  </p:clrMapOvr>
</p:sld>
</file>

<file path=ppt/slides/slide8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Virtual Scrolling mit dem CDK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imports: [ScrollingModule]  aus '@angular/cdk/scrolling'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&lt;cdk-virtual-scroll-viewport class="viewport" itemSize="32" role="list"&gt;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*cdkVirtualFor="let customer of store.filtered(); trackBy: trackById"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customer-list-item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[customer]="customer"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[selected]="isSelectedCustomer(customer)"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(chosen)="listItemClicked($event)"&gt;&lt;/div&gt;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&lt;/cdk-virtual-scroll-viewport&gt;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CSS: der Viewport braucht eine feste Höhe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.viewport { height: 400px;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Klasse: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trackById = (index: number, customer: Customer) =&gt; customer.id;</a:t>
            </a:r>
            <a:endParaRPr lang="de-DE" sz="1600" b="0" u="none" strike="noStrike">
              <a:solidFill>
                <a:srgbClr val="000000"/>
              </a:solidFill>
              <a:uFillTx/>
              <a:latin typeface="Arial"/>
            </a:endParaRPr>
          </a:p>
        </p:txBody>
      </p:sp>
    </p:spTree>
  </p:cSld>
  <p:clrMapOvr>
    <a:masterClrMapping/>
  </p:clrMapOvr>
</p:sld>
</file>

<file path=ppt/slides/slide8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Eingabefeld zeigt typedFilter sofort, der Store bekommt den Text verzögert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protected readonly typedFilter = signal(this.store.filter());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toObservable(this.typedFilter).pipe(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debounceTime(250),        // erst nach 250 ms Ruhe weitergeben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takeUntilDestroyed()      // beim Zerstören der Komponente abmelden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).subscribe(text =&gt; this.store.setFilter(text));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onFilterChanged(text: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this.typedFilter.set(text);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onFilterCleared() {            // Leeren wirkt sofort, ohne Wartezeit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this.typedFilter.set('');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this.store.setFilter('');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8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Debounce: der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Jeder Tastendruck setzt typedFilter</a:t>
            </a:r>
          </a:p>
          <a:p>
            <a:pPr>
              <a:defRPr sz="2000" b="0">
                <a:latin typeface="Segoe UI"/>
              </a:defRPr>
            </a:pPr>
            <a:r>
              <a:rPr lang="de-DE" sz="2000" b="0">
                <a:latin typeface="Segoe UI"/>
              </a:rPr>
              <a:t>toObservable meldet jeden neuen Wert</a:t>
            </a:r>
          </a:p>
          <a:p>
            <a:pPr>
              <a:defRPr sz="2000" b="0">
                <a:latin typeface="Segoe UI"/>
              </a:defRPr>
            </a:pPr>
            <a:r>
              <a:rPr lang="de-DE" sz="2000" b="0">
                <a:latin typeface="Segoe UI"/>
              </a:rPr>
              <a:t>debounceTime(250) startet bei jedem Wert neu</a:t>
            </a:r>
          </a:p>
          <a:p>
            <a:pPr>
              <a:defRPr sz="2000" b="0">
                <a:latin typeface="Segoe UI"/>
              </a:defRPr>
            </a:pPr>
            <a:r>
              <a:rPr lang="de-DE" sz="2000" b="0">
                <a:latin typeface="Segoe UI"/>
              </a:rPr>
              <a:t>Erst nach 250 ms ohne Eingabe geht der Wert weiter</a:t>
            </a:r>
          </a:p>
          <a:p>
            <a:pPr>
              <a:defRPr sz="2000" b="0">
                <a:latin typeface="Segoe UI"/>
              </a:defRPr>
            </a:pPr>
            <a:r>
              <a:rPr lang="de-DE" sz="2000" b="0">
                <a:latin typeface="Segoe UI"/>
              </a:rPr>
              <a:t>Ergebnis: „Hans“ tippen filtert einmal statt viermal</a:t>
            </a:r>
          </a:p>
          <a:p>
            <a:pPr>
              <a:defRPr sz="2000" b="0">
                <a:latin typeface="Segoe UI"/>
              </a:defRPr>
            </a:pPr>
            <a:r>
              <a:rPr lang="de-DE" sz="2000" b="0">
                <a:latin typeface="Segoe UI"/>
              </a:rPr>
              <a:t>takeUntilDestroyed verhindert ein Speicherleck</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Tastendruck</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typedFilter.set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toObservable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debounceTime(250)</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store.setFilter</a:t>
            </a:r>
          </a:p>
        </p:txBody>
      </p:sp>
    </p:spTree>
  </p:cSld>
  <p:clrMapOvr>
    <a:masterClrMapping/>
  </p:clrMapOvr>
</p:sld>
</file>

<file path=ppt/slides/slide8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Lazy Routes: Seiten erst beim Aufruf laden</a:t>
            </a:r>
          </a:p>
          <a:p>
            <a:pPr>
              <a:defRPr sz="2000" b="0">
                <a:latin typeface="Segoe UI"/>
              </a:defRPr>
            </a:pPr>
            <a:r>
              <a:rPr lang="de-DE" sz="2000" b="0">
                <a:latin typeface="Segoe UI"/>
              </a:rPr>
              <a:t>@defer: Teile einer Seite erst bei Bedarf laden</a:t>
            </a:r>
          </a:p>
          <a:p>
            <a:pPr>
              <a:defRPr sz="2000" b="0">
                <a:latin typeface="Segoe UI"/>
              </a:defRPr>
            </a:pPr>
            <a:r>
              <a:rPr lang="de-DE" sz="2000" b="0">
                <a:latin typeface="Segoe UI"/>
              </a:rPr>
              <a:t>NgOptimizedImage (Übung 27): priority für das Hauptbild</a:t>
            </a:r>
          </a:p>
          <a:p>
            <a:pPr lvl="1">
              <a:defRPr sz="1700" b="0">
                <a:latin typeface="Segoe UI"/>
              </a:defRPr>
            </a:pPr>
            <a:r>
              <a:rPr lang="de-DE" sz="1700" b="0">
                <a:latin typeface="Segoe UI"/>
              </a:rPr>
              <a:t>width und height verhindern Layout-Sprünge</a:t>
            </a:r>
          </a:p>
          <a:p>
            <a:pPr>
              <a:defRPr sz="2000" b="0">
                <a:latin typeface="Segoe UI"/>
              </a:defRPr>
            </a:pPr>
            <a:r>
              <a:rPr lang="de-DE" sz="2000" b="0">
                <a:latin typeface="Segoe UI"/>
              </a:rPr>
              <a:t>Bundle-Hygiene: nur importieren, was man nutzt</a:t>
            </a:r>
          </a:p>
          <a:p>
            <a:pPr lvl="1">
              <a:defRPr sz="1700" b="0">
                <a:latin typeface="Segoe UI"/>
              </a:defRPr>
            </a:pPr>
            <a:r>
              <a:rPr lang="de-DE" sz="1700" b="0">
                <a:latin typeface="Segoe UI"/>
              </a:rPr>
              <a:t>Tree-Shaking entfernt ungenutzten Code beim Build</a:t>
            </a:r>
          </a:p>
          <a:p>
            <a:pPr>
              <a:defRPr sz="2000" b="0">
                <a:latin typeface="Segoe UI"/>
              </a:defRPr>
            </a:pPr>
            <a:r>
              <a:rPr lang="de-DE" sz="2000" b="0">
                <a:latin typeface="Segoe UI"/>
              </a:rPr>
              <a:t>Budgets halten das Start-Bundle klein</a:t>
            </a:r>
          </a:p>
        </p:txBody>
      </p:sp>
    </p:spTree>
  </p:cSld>
  <p:clrMapOvr>
    <a:masterClrMapping/>
  </p:clrMapOvr>
</p:sld>
</file>

<file path=ppt/slides/slide8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Lazy Loading von Routen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loadComponent: eine Komponente bei Bedarf laden</a:t>
            </a:r>
          </a:p>
          <a:p>
            <a:pPr>
              <a:defRPr sz="2000" b="0">
                <a:latin typeface="Segoe UI"/>
              </a:defRPr>
            </a:pPr>
            <a:r>
              <a:rPr lang="de-DE" sz="2000" b="0">
                <a:latin typeface="Segoe UI"/>
              </a:rPr>
              <a:t>loadChildren: eine ganze Gruppe von Routen laden</a:t>
            </a:r>
          </a:p>
          <a:p>
            <a:pPr>
              <a:defRPr sz="2000" b="0">
                <a:latin typeface="Segoe UI"/>
              </a:defRPr>
            </a:pPr>
            <a:r>
              <a:rPr lang="de-DE" sz="2000" b="0">
                <a:latin typeface="Segoe UI"/>
              </a:rPr>
              <a:t>() =&gt; import('…') wird erst bei der Navigation aufgerufen</a:t>
            </a:r>
          </a:p>
          <a:p>
            <a:pPr>
              <a:defRPr sz="2000" b="0">
                <a:latin typeface="Segoe UI"/>
              </a:defRPr>
            </a:pPr>
            <a:r>
              <a:rPr lang="de-DE" sz="2000" b="0">
                <a:latin typeface="Segoe UI"/>
              </a:rPr>
              <a:t>Der Build legt dafür einen eigenen Lazy Chunk an</a:t>
            </a:r>
          </a:p>
          <a:p>
            <a:pPr>
              <a:defRPr sz="2000" b="0">
                <a:latin typeface="Segoe UI"/>
              </a:defRPr>
            </a:pPr>
            <a:r>
              <a:rPr lang="de-DE" sz="2000" b="0">
                <a:latin typeface="Segoe UI"/>
              </a:rPr>
              <a:t>Kein statischer Import der Komponente mehr</a:t>
            </a:r>
          </a:p>
          <a:p>
            <a:pPr lvl="1">
              <a:defRPr sz="1700" b="0">
                <a:latin typeface="Segoe UI"/>
              </a:defRPr>
            </a:pPr>
            <a:r>
              <a:rPr lang="de-DE" sz="1700" b="0">
                <a:latin typeface="Segoe UI"/>
              </a:rPr>
              <a:t>sonst landet sie trotzdem im Start-Bundle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Klick auf Link</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loadComponent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import() lädt Chunk</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 anzeigen</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nur beim ersten Aufruf geladen</a:t>
            </a:r>
          </a:p>
        </p:txBody>
      </p:sp>
    </p:spTree>
  </p:cSld>
  <p:clrMapOvr>
    <a:masterClrMapping/>
  </p:clrMapOvr>
</p:sld>
</file>

<file path=ppt/slides/slide8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loadComponent und loadChildren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app.routes.ts (Übung 35)</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routes: Routes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path: 'customer', component: CustomerListComponent, canActivate: [authGuard]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path: 'customer/:id',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loadComponent: () =&gt; import('./customer/customer-details/customer-details.component')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.then(m =&gt; m.CustomerDetailsComponent),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canActivate: [authGuard]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path: 'admin',                         // Beispiel: ganzer Bereich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loadChildren: () =&gt; import('./admin/admin.routes').then(m =&gt; m.ADMIN_ROUTES)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admin.routes.ts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ADMIN_ROUTES: Routes = [{ path: '', component: AdminHomeComponent }];</a:t>
            </a:r>
            <a:endParaRPr lang="de-DE" sz="1400" b="0" u="none" strike="noStrike">
              <a:solidFill>
                <a:srgbClr val="000000"/>
              </a:solidFill>
              <a:uFillTx/>
              <a:latin typeface="Arial"/>
            </a:endParaRPr>
          </a:p>
        </p:txBody>
      </p:sp>
    </p:spTree>
  </p:cSld>
  <p:clrMapOvr>
    <a:masterClrMapping/>
  </p:clrMapOvr>
</p:sld>
</file>

<file path=ppt/slides/slide8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Lazy Loading der Detailseite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Vorher /customer mit CustomerListComponent, nachher /customer/5 mit CustomerDetailsComponent.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CustomerListItem</a:t>
            </a:r>
          </a:p>
          <a:p>
            <a:pPr algn="ctr"/>
            <a:r>
              <a:rPr sz="1400" b="1">
                <a:solidFill>
                  <a:srgbClr val="FFFFFF"/>
                </a:solidFill>
                <a:latin typeface="Segoe UI"/>
              </a:rPr>
              <a:t>(routerLink)</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authGuard</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Server</a:t>
            </a:r>
          </a:p>
          <a:p>
            <a:pPr algn="ctr"/>
            <a:r>
              <a:rPr sz="1400" b="1">
                <a:solidFill>
                  <a:srgbClr val="FFFFFF"/>
                </a:solidFill>
                <a:latin typeface="Segoe UI"/>
              </a:rPr>
              <a:t>(Chunk-Datei)</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RouterOutlet</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Klick: navigieren zu /customer/5</a:t>
            </a:r>
          </a:p>
        </p:txBody>
      </p:sp>
      <p:cxnSp>
        <p:nvCxnSpPr>
          <p:cNvPr id="16" name="Connector 15"/>
          <p:cNvCxnSpPr/>
          <p:nvPr/>
        </p:nvCxnSpPr>
        <p:spPr>
          <a:xfrm>
            <a:off x="3992328" y="28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72328" y="28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012328" y="30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22328" y="27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2. Route finden</a:t>
            </a:r>
          </a:p>
        </p:txBody>
      </p:sp>
      <p:cxnSp>
        <p:nvCxnSpPr>
          <p:cNvPr id="20" name="Connector 19"/>
          <p:cNvCxnSpPr/>
          <p:nvPr/>
        </p:nvCxnSpPr>
        <p:spPr>
          <a:xfrm>
            <a:off x="3992328" y="34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30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3. canActivate prüfen</a:t>
            </a:r>
          </a:p>
        </p:txBody>
      </p:sp>
      <p:cxnSp>
        <p:nvCxnSpPr>
          <p:cNvPr id="22" name="Connector 21"/>
          <p:cNvCxnSpPr/>
          <p:nvPr/>
        </p:nvCxnSpPr>
        <p:spPr>
          <a:xfrm flipH="1">
            <a:off x="4012328" y="38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466620" y="34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4. true</a:t>
            </a:r>
          </a:p>
        </p:txBody>
      </p:sp>
      <p:cxnSp>
        <p:nvCxnSpPr>
          <p:cNvPr id="24" name="Connector 23"/>
          <p:cNvCxnSpPr/>
          <p:nvPr/>
        </p:nvCxnSpPr>
        <p:spPr>
          <a:xfrm>
            <a:off x="3992328" y="4218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22328" y="3868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5. loadComponent: import(...)</a:t>
            </a:r>
          </a:p>
        </p:txBody>
      </p:sp>
      <p:cxnSp>
        <p:nvCxnSpPr>
          <p:cNvPr id="26" name="Connector 25"/>
          <p:cNvCxnSpPr/>
          <p:nvPr/>
        </p:nvCxnSpPr>
        <p:spPr>
          <a:xfrm flipH="1">
            <a:off x="4012328" y="46180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22328" y="4268000"/>
            <a:ext cx="4145664" cy="330000"/>
          </a:xfrm>
          <a:prstGeom prst="rect">
            <a:avLst/>
          </a:prstGeom>
          <a:noFill/>
        </p:spPr>
        <p:txBody>
          <a:bodyPr wrap="square" anchor="b" lIns="70000" rIns="70000" tIns="0" bIns="0">
            <a:spAutoFit/>
          </a:bodyPr>
          <a:lstStyle/>
          <a:p>
            <a:pPr algn="ctr"/>
            <a:r>
              <a:rPr sz="1300" b="0">
                <a:solidFill>
                  <a:srgbClr val="404B52"/>
                </a:solidFill>
                <a:latin typeface="Segoe UI"/>
              </a:rPr>
              <a:t>6. CustomerDetailsComponent</a:t>
            </a:r>
          </a:p>
        </p:txBody>
      </p:sp>
      <p:cxnSp>
        <p:nvCxnSpPr>
          <p:cNvPr id="28" name="Connector 27"/>
          <p:cNvCxnSpPr/>
          <p:nvPr/>
        </p:nvCxnSpPr>
        <p:spPr>
          <a:xfrm>
            <a:off x="3992328" y="50180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022328" y="4668000"/>
            <a:ext cx="6248496" cy="330000"/>
          </a:xfrm>
          <a:prstGeom prst="rect">
            <a:avLst/>
          </a:prstGeom>
          <a:noFill/>
        </p:spPr>
        <p:txBody>
          <a:bodyPr wrap="square" anchor="b" lIns="70000" rIns="70000" tIns="0" bIns="0">
            <a:spAutoFit/>
          </a:bodyPr>
          <a:lstStyle/>
          <a:p>
            <a:pPr algn="ctr"/>
            <a:r>
              <a:rPr sz="1300" b="0">
                <a:solidFill>
                  <a:srgbClr val="2B3A42"/>
                </a:solidFill>
                <a:latin typeface="Segoe UI"/>
              </a:rPr>
              <a:t>7. CustomerListComponent entfernen</a:t>
            </a:r>
          </a:p>
        </p:txBody>
      </p:sp>
      <p:cxnSp>
        <p:nvCxnSpPr>
          <p:cNvPr id="30" name="Connector 29"/>
          <p:cNvCxnSpPr/>
          <p:nvPr/>
        </p:nvCxnSpPr>
        <p:spPr>
          <a:xfrm>
            <a:off x="3992328" y="54180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22328" y="5068000"/>
            <a:ext cx="6248496" cy="330000"/>
          </a:xfrm>
          <a:prstGeom prst="rect">
            <a:avLst/>
          </a:prstGeom>
          <a:noFill/>
        </p:spPr>
        <p:txBody>
          <a:bodyPr wrap="square" anchor="b" lIns="70000" rIns="70000" tIns="0" bIns="0">
            <a:spAutoFit/>
          </a:bodyPr>
          <a:lstStyle/>
          <a:p>
            <a:pPr algn="ctr"/>
            <a:r>
              <a:rPr sz="1300" b="0">
                <a:solidFill>
                  <a:srgbClr val="2B3A42"/>
                </a:solidFill>
                <a:latin typeface="Segoe UI"/>
              </a:rPr>
              <a:t>8. CustomerDetails einsetzen, id = '5'</a:t>
            </a:r>
          </a:p>
        </p:txBody>
      </p:sp>
      <p:cxnSp>
        <p:nvCxnSpPr>
          <p:cNvPr id="32" name="Connector 31"/>
          <p:cNvCxnSpPr/>
          <p:nvPr/>
        </p:nvCxnSpPr>
        <p:spPr>
          <a:xfrm>
            <a:off x="3992328" y="56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372328" y="56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12328" y="58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422328" y="55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9. danach gecacht</a:t>
            </a:r>
          </a:p>
        </p:txBody>
      </p:sp>
    </p:spTree>
  </p:cSld>
  <p:clrMapOvr>
    <a:masterClrMapping/>
  </p:clrMapOvr>
</p:sld>
</file>

<file path=ppt/slides/slide8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@defer: Teile einer Seite später laden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Inhalt des @defer-Blocks kommt in einen eigenen Chunk</a:t>
            </a:r>
          </a:p>
          <a:p>
            <a:pPr>
              <a:defRPr sz="2000" b="0">
                <a:latin typeface="Segoe UI"/>
              </a:defRPr>
            </a:pPr>
            <a:r>
              <a:rPr lang="de-DE" sz="2000" b="0">
                <a:latin typeface="Segoe UI"/>
              </a:rPr>
              <a:t>Voraussetzung: Standalone, nicht anderswo in der Datei benutzt</a:t>
            </a:r>
          </a:p>
          <a:p>
            <a:pPr>
              <a:defRPr sz="2000" b="0">
                <a:latin typeface="Segoe UI"/>
              </a:defRPr>
            </a:pPr>
            <a:r>
              <a:rPr lang="de-DE" sz="2000" b="0">
                <a:latin typeface="Segoe UI"/>
              </a:rPr>
              <a:t>Trigger (on …) bestimmen, wann geladen und angezeigt wird</a:t>
            </a:r>
          </a:p>
          <a:p>
            <a:pPr lvl="1">
              <a:defRPr sz="1700" b="0">
                <a:latin typeface="Segoe UI"/>
              </a:defRPr>
            </a:pPr>
            <a:r>
              <a:rPr lang="de-DE" sz="1700" b="0">
                <a:latin typeface="Segoe UI"/>
              </a:rPr>
              <a:t>on idle (Standard), on viewport, on interaction</a:t>
            </a:r>
          </a:p>
          <a:p>
            <a:pPr lvl="1">
              <a:defRPr sz="1700" b="0">
                <a:latin typeface="Segoe UI"/>
              </a:defRPr>
            </a:pPr>
            <a:r>
              <a:rPr lang="de-DE" sz="1700" b="0">
                <a:latin typeface="Segoe UI"/>
              </a:rPr>
              <a:t>on hover, on immediate, on timer(2s), when Bedingung</a:t>
            </a:r>
          </a:p>
          <a:p>
            <a:pPr>
              <a:defRPr sz="2000" b="0">
                <a:latin typeface="Segoe UI"/>
              </a:defRPr>
            </a:pPr>
            <a:r>
              <a:rPr lang="de-DE" sz="2000" b="0">
                <a:latin typeface="Segoe UI"/>
              </a:rPr>
              <a:t>prefetch: Code vorher laden, aber noch nicht anzeigen</a:t>
            </a:r>
          </a:p>
          <a:p>
            <a:pPr>
              <a:defRPr sz="2000" b="0">
                <a:latin typeface="Segoe UI"/>
              </a:defRPr>
            </a:pPr>
            <a:r>
              <a:rPr lang="de-DE" sz="2000" b="0">
                <a:latin typeface="Segoe UI"/>
              </a:rPr>
              <a:t>Blöcke: @placeholder, @loading, @error</a:t>
            </a:r>
          </a:p>
        </p:txBody>
      </p:sp>
    </p:spTree>
  </p:cSld>
  <p:clrMapOvr>
    <a:masterClrMapping/>
  </p:clrMapOvr>
</p:sld>
</file>

<file path=ppt/slides/slide8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 mit Triggern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@defer (on viewport; prefetch on idle)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&lt;order-history [customerId]="customer().id"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@placeholder (minimum 300ms)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&lt;div class="box"&gt;Bestellhistorie&lt;/div&gt;      &lt;!-- ein Wurzelelement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@loading (after 100ms; minimum 500ms)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&lt;p&gt;Lädt …&lt;/p&gt;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@error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&lt;p&gt;Die Bestellhistorie konnte nicht geladen werden.&lt;/p&gt;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Weitere Beispiele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@defer (on interaction) { &lt;customer-chart /&gt; } @placeholder { &lt;button&gt;Diagramm&lt;/button&gt;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@defer (when showDetails()) { &lt;customer-details /&gt; }</a:t>
            </a:r>
            <a:endParaRPr lang="de-DE" sz="1400" b="0" u="none" strike="noStrike">
              <a:solidFill>
                <a:srgbClr val="000000"/>
              </a:solidFill>
              <a:uFillTx/>
              <a:latin typeface="Arial"/>
            </a:endParaRPr>
          </a:p>
        </p:txBody>
      </p:sp>
    </p:spTree>
  </p:cSld>
  <p:clrMapOvr>
    <a:masterClrMapping/>
  </p:clrMapOvr>
</p:sld>
</file>

<file path=ppt/slides/slide8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@defer: der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Seite lädt: @placeholder wird angezeigt</a:t>
            </a:r>
          </a:p>
          <a:p>
            <a:pPr>
              <a:defRPr sz="2000" b="0">
                <a:latin typeface="Segoe UI"/>
              </a:defRPr>
            </a:pPr>
            <a:r>
              <a:rPr lang="de-DE" sz="2000" b="0">
                <a:latin typeface="Segoe UI"/>
              </a:rPr>
              <a:t>prefetch-Trigger: Chunk wird im Hintergrund geladen</a:t>
            </a:r>
          </a:p>
          <a:p>
            <a:pPr>
              <a:defRPr sz="2000" b="0">
                <a:latin typeface="Segoe UI"/>
              </a:defRPr>
            </a:pPr>
            <a:r>
              <a:rPr lang="de-DE" sz="2000" b="0">
                <a:latin typeface="Segoe UI"/>
              </a:rPr>
              <a:t>Haupt-Trigger: Anzeige wird umgeschaltet</a:t>
            </a:r>
          </a:p>
          <a:p>
            <a:pPr lvl="1">
              <a:defRPr sz="1700" b="0">
                <a:latin typeface="Segoe UI"/>
              </a:defRPr>
            </a:pPr>
            <a:r>
              <a:rPr lang="de-DE" sz="1700" b="0">
                <a:latin typeface="Segoe UI"/>
              </a:rPr>
              <a:t>noch nicht geladen: @loading, sonst sofort Inhalt</a:t>
            </a:r>
          </a:p>
          <a:p>
            <a:pPr>
              <a:defRPr sz="2000" b="0">
                <a:latin typeface="Segoe UI"/>
              </a:defRPr>
            </a:pPr>
            <a:r>
              <a:rPr lang="de-DE" sz="2000" b="0">
                <a:latin typeface="Segoe UI"/>
              </a:rPr>
              <a:t>Fehler beim Laden: @error</a:t>
            </a:r>
          </a:p>
          <a:p>
            <a:pPr>
              <a:defRPr sz="2000" b="0">
                <a:latin typeface="Segoe UI"/>
              </a:defRPr>
            </a:pPr>
            <a:r>
              <a:rPr lang="de-DE" sz="2000" b="0">
                <a:latin typeface="Segoe UI"/>
              </a:rPr>
              <a:t>Danach bleibt der Inhalt dauerhaft geladen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@placeholder sichtbar</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prefetch on idle: Chunk laden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on viewport: Trigger</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@loading (falls nötig)</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Inhalt sichtbar</a:t>
            </a:r>
          </a:p>
        </p:txBody>
      </p:sp>
    </p:spTree>
  </p:cSld>
  <p:clrMapOvr>
    <a:masterClrMapping/>
  </p:clrMapOvr>
</p:sld>
</file>

<file path=ppt/slides/slide8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Sequenz: @defer mit prefetch</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Beispiel der Codefolie: Code im Leerlauf vorladen, anzeigen erst, wenn der Platzhalter sichtbar wird.</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a:p>
            <a:pPr algn="ctr"/>
            <a:r>
              <a:rPr sz="1600" b="1">
                <a:solidFill>
                  <a:srgbClr val="FFFFFF"/>
                </a:solidFill>
                <a:latin typeface="Segoe UI"/>
              </a:rPr>
              <a:t>(@defer-Block)</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Server</a:t>
            </a:r>
          </a:p>
          <a:p>
            <a:pPr algn="ctr"/>
            <a:r>
              <a:rPr sz="1600" b="1">
                <a:solidFill>
                  <a:srgbClr val="FFFFFF"/>
                </a:solidFill>
                <a:latin typeface="Segoe UI"/>
              </a:rPr>
              <a:t>(Chunk-Datei)</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DOM / Viewport</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65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82350" y="230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1. @placeholder einsetzen</a:t>
            </a:r>
          </a:p>
        </p:txBody>
      </p:sp>
      <p:cxnSp>
        <p:nvCxnSpPr>
          <p:cNvPr id="14" name="Connector 13"/>
          <p:cNvCxnSpPr/>
          <p:nvPr/>
        </p:nvCxnSpPr>
        <p:spPr>
          <a:xfrm>
            <a:off x="2152350" y="310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350" y="275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2. Platzhalter beobachten (IntersectionObserver)</a:t>
            </a:r>
          </a:p>
        </p:txBody>
      </p:sp>
      <p:cxnSp>
        <p:nvCxnSpPr>
          <p:cNvPr id="16" name="Connector 15"/>
          <p:cNvCxnSpPr/>
          <p:nvPr/>
        </p:nvCxnSpPr>
        <p:spPr>
          <a:xfrm flipH="1">
            <a:off x="2172350" y="35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95215" y="32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Browser im Leerlauf (prefetch on idle)</a:t>
            </a:r>
          </a:p>
        </p:txBody>
      </p:sp>
      <p:cxnSp>
        <p:nvCxnSpPr>
          <p:cNvPr id="18" name="Connector 17"/>
          <p:cNvCxnSpPr/>
          <p:nvPr/>
        </p:nvCxnSpPr>
        <p:spPr>
          <a:xfrm>
            <a:off x="2152350" y="40040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182350" y="36540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4. import(): Chunk mit OrderHistory laden</a:t>
            </a:r>
          </a:p>
        </p:txBody>
      </p:sp>
      <p:cxnSp>
        <p:nvCxnSpPr>
          <p:cNvPr id="20" name="Connector 19"/>
          <p:cNvCxnSpPr/>
          <p:nvPr/>
        </p:nvCxnSpPr>
        <p:spPr>
          <a:xfrm flipH="1">
            <a:off x="2172350" y="4454000"/>
            <a:ext cx="523708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82350" y="4104000"/>
            <a:ext cx="5197080" cy="330000"/>
          </a:xfrm>
          <a:prstGeom prst="rect">
            <a:avLst/>
          </a:prstGeom>
          <a:noFill/>
        </p:spPr>
        <p:txBody>
          <a:bodyPr wrap="square" anchor="b" lIns="70000" rIns="70000" tIns="0" bIns="0">
            <a:spAutoFit/>
          </a:bodyPr>
          <a:lstStyle/>
          <a:p>
            <a:pPr algn="ctr"/>
            <a:r>
              <a:rPr sz="1500" b="0">
                <a:solidFill>
                  <a:srgbClr val="404B52"/>
                </a:solidFill>
                <a:latin typeface="Segoe UI"/>
              </a:rPr>
              <a:t>5. Code geladen, noch nicht angezeigt</a:t>
            </a:r>
          </a:p>
        </p:txBody>
      </p:sp>
      <p:cxnSp>
        <p:nvCxnSpPr>
          <p:cNvPr id="22" name="Connector 21"/>
          <p:cNvCxnSpPr/>
          <p:nvPr/>
        </p:nvCxnSpPr>
        <p:spPr>
          <a:xfrm flipH="1">
            <a:off x="2172350" y="490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182350" y="455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6. Platzhalter sichtbar (on viewport)</a:t>
            </a:r>
          </a:p>
        </p:txBody>
      </p:sp>
      <p:cxnSp>
        <p:nvCxnSpPr>
          <p:cNvPr id="24" name="Connector 23"/>
          <p:cNvCxnSpPr/>
          <p:nvPr/>
        </p:nvCxnSpPr>
        <p:spPr>
          <a:xfrm>
            <a:off x="2152350" y="535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182350" y="500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7. Platzhalter durch &lt;order-history&gt; ersetzen</a:t>
            </a:r>
          </a:p>
        </p:txBody>
      </p:sp>
      <p:cxnSp>
        <p:nvCxnSpPr>
          <p:cNvPr id="26" name="Connector 25"/>
          <p:cNvCxnSpPr/>
          <p:nvPr/>
        </p:nvCxnSpPr>
        <p:spPr>
          <a:xfrm>
            <a:off x="2152350" y="56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532350" y="56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2172350" y="58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582350" y="546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8. bleibt geladen</a:t>
            </a:r>
          </a:p>
        </p:txBody>
      </p:sp>
    </p:spTree>
  </p:cSld>
  <p:clrMapOvr>
    <a:masterClrMapping/>
  </p:clrMapOvr>
</p:sld>
</file>

<file path=ppt/slides/slide8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CSR (Client-Side Rendering): Browser baut alles</a:t>
            </a:r>
          </a:p>
          <a:p>
            <a:pPr lvl="1">
              <a:defRPr sz="1700" b="0">
                <a:latin typeface="Segoe UI"/>
              </a:defRPr>
            </a:pPr>
            <a:r>
              <a:rPr lang="de-DE" sz="1700" b="0">
                <a:latin typeface="Segoe UI"/>
              </a:rPr>
              <a:t>einfach, aber erster Inhalt kommt später</a:t>
            </a:r>
          </a:p>
          <a:p>
            <a:pPr>
              <a:defRPr sz="2000" b="0">
                <a:latin typeface="Segoe UI"/>
              </a:defRPr>
            </a:pPr>
            <a:r>
              <a:rPr lang="de-DE" sz="2000" b="0">
                <a:latin typeface="Segoe UI"/>
              </a:rPr>
              <a:t>SSR mit Hydration: Server liefert fertiges HTML</a:t>
            </a:r>
          </a:p>
          <a:p>
            <a:pPr lvl="1">
              <a:defRPr sz="1700" b="0">
                <a:latin typeface="Segoe UI"/>
              </a:defRPr>
            </a:pPr>
            <a:r>
              <a:rPr lang="de-DE" sz="1700" b="0">
                <a:latin typeface="Segoe UI"/>
              </a:rPr>
              <a:t>Browser macht es danach bedienbar</a:t>
            </a:r>
          </a:p>
          <a:p>
            <a:pPr>
              <a:defRPr sz="2000" b="0">
                <a:latin typeface="Segoe UI"/>
              </a:defRPr>
            </a:pPr>
            <a:r>
              <a:rPr lang="de-DE" sz="2000" b="0">
                <a:latin typeface="Segoe UI"/>
              </a:rPr>
              <a:t>Prerendering (SSG): HTML entsteht beim Build</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(Folie „SSR &amp; Hydration“)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Client (CSR)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Browser baut alles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erster Inhalt später</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(SSR, SSG)</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 kommt fertig</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schneller erster Inhalt</a:t>
            </a:r>
          </a:p>
        </p:txBody>
      </p:sp>
    </p:spTree>
  </p:cSld>
  <p:clrMapOvr>
    <a:masterClrMapping/>
  </p:clrMapOvr>
</p:sld>
</file>

<file path=ppt/slides/slide8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geeigneten track-Ausdruck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8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OnPush und track mit ID von Anfang an als Standard</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8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35: Langsame Liste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35_performance (baut auf 34_tests auf, npm install @angular/cdk)</a:t>
            </a:r>
          </a:p>
          <a:p>
            <a:pPr>
              <a:defRPr sz="2000" b="1">
                <a:latin typeface="Segoe UI"/>
              </a:defRPr>
            </a:pPr>
            <a:r>
              <a:rPr lang="de-DE" sz="2000" b="1">
                <a:latin typeface="Segoe UI"/>
              </a:rPr>
              <a:t>1. Last erzeugen: Lastgenerator im CustomerStore ergänzen (Code in Aufgabe.md)</a:t>
            </a:r>
          </a:p>
          <a:p>
            <a:pPr lvl="1">
              <a:defRPr sz="1700" b="0">
                <a:latin typeface="Segoe UI"/>
              </a:defRPr>
            </a:pPr>
            <a:r>
              <a:rPr lang="de-DE" sz="1700" b="0">
                <a:latin typeface="Segoe UI"/>
              </a:rPr>
              <a:t>InjectionToken LOAD_TEST_SIZE mit factory: () =&gt; 5000 (0 = aus)</a:t>
            </a:r>
          </a:p>
          <a:p>
            <a:pPr lvl="1">
              <a:defRPr sz="1700" b="0">
                <a:latin typeface="Segoe UI"/>
              </a:defRPr>
            </a:pPr>
            <a:r>
              <a:rPr lang="de-DE" sz="1700" b="0">
                <a:latin typeface="Segoe UI"/>
              </a:rPr>
              <a:t>in load(): geladene Kunden plus createLoadTestCustomers() setzen</a:t>
            </a:r>
          </a:p>
          <a:p>
            <a:pPr lvl="1">
              <a:defRPr sz="1700" b="0">
                <a:latin typeface="Segoe UI"/>
              </a:defRPr>
            </a:pPr>
            <a:r>
              <a:rPr lang="de-DE" sz="1700" b="0">
                <a:latin typeface="Segoe UI"/>
              </a:rPr>
              <a:t>Tests mit genauen Listen: { provide: LOAD_TEST_SIZE, useValue: 0 }</a:t>
            </a:r>
          </a:p>
          <a:p>
            <a:pPr>
              <a:defRPr sz="2000" b="1">
                <a:latin typeface="Segoe UI"/>
              </a:defRPr>
            </a:pPr>
            <a:r>
              <a:rPr lang="de-DE" sz="2000" b="1">
                <a:latin typeface="Segoe UI"/>
              </a:rPr>
              <a:t>2. Messen: Chrome DevTools (Performance) bei Eingabe im Filter</a:t>
            </a:r>
          </a:p>
          <a:p>
            <a:pPr lvl="1">
              <a:defRPr sz="1700" b="0">
                <a:latin typeface="Segoe UI"/>
              </a:defRPr>
            </a:pPr>
            <a:r>
              <a:rPr lang="de-DE" sz="1700" b="0">
                <a:latin typeface="Segoe UI"/>
              </a:rPr>
              <a:t>und Angular DevTools Profiler: Dauer, DOM-Knoten, neu gerenderte Komponenten</a:t>
            </a:r>
          </a:p>
          <a:p>
            <a:pPr>
              <a:defRPr sz="2000" b="0">
                <a:latin typeface="Segoe UI"/>
              </a:defRPr>
            </a:pPr>
            <a:r>
              <a:rPr lang="de-DE" sz="2000" b="0">
                <a:latin typeface="Segoe UI"/>
              </a:rPr>
              <a:t>Werte als Ausgangslage in die Ergebnis-Tabelle eintragen</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8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35: Langsame Liste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3. Optimieren, immer ein Schritt, danach neu messen:</a:t>
            </a:r>
          </a:p>
          <a:p>
            <a:pPr lvl="1">
              <a:defRPr sz="1700" b="0">
                <a:latin typeface="Segoe UI"/>
              </a:defRPr>
            </a:pPr>
            <a:r>
              <a:rPr lang="de-DE" sz="1700" b="0">
                <a:latin typeface="Segoe UI"/>
              </a:rPr>
              <a:t>a) track customer zu track customer.id</a:t>
            </a:r>
          </a:p>
          <a:p>
            <a:pPr lvl="1">
              <a:defRPr sz="1700" b="0">
                <a:latin typeface="Segoe UI"/>
              </a:defRPr>
            </a:pPr>
            <a:r>
              <a:rPr lang="de-DE" sz="1700" b="0">
                <a:latin typeface="Segoe UI"/>
              </a:rPr>
              <a:t>b) OnPush für CustomerListItemComponent und CustomerListComponent</a:t>
            </a:r>
          </a:p>
          <a:p>
            <a:pPr lvl="1">
              <a:defRPr sz="1700" b="0">
                <a:latin typeface="Segoe UI"/>
              </a:defRPr>
            </a:pPr>
            <a:r>
              <a:rPr lang="de-DE" sz="1700" b="0">
                <a:latin typeface="Segoe UI"/>
              </a:rPr>
              <a:t>c) Debounce für den Filter (250 ms): typedFilter + toObservable + debounceTime</a:t>
            </a:r>
          </a:p>
          <a:p>
            <a:pPr lvl="1">
              <a:defRPr sz="1700" b="0">
                <a:latin typeface="Segoe UI"/>
              </a:defRPr>
            </a:pPr>
            <a:r>
              <a:rPr lang="de-DE" sz="1700" b="0">
                <a:latin typeface="Segoe UI"/>
              </a:rPr>
              <a:t>d) Virtual Scrolling mit cdk-virtual-scroll-viewport (itemSize 32)</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4. Tabelle füllen: Maßnahme, Messwert vorher, Messwert nachher, Fazit</a:t>
            </a:r>
          </a:p>
          <a:p>
            <a:pPr>
              <a:defRPr sz="2000" b="1">
                <a:latin typeface="Segoe UI"/>
              </a:defRPr>
            </a:pPr>
            <a:r>
              <a:rPr lang="de-DE" sz="2000" b="1">
                <a:latin typeface="Segoe UI"/>
              </a:rPr>
              <a:t>5. Diskussion: Was brachte am meisten? Was war unnötig?</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8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 kombinieren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Union Types und Narrowing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show(value: string | number):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typeof value === "string" ? value.toUpperCase() : value.toFixed(2);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render(state: State):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switch (state.status)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"loading": return "Lade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"loaded": return `${state.data.length} Kunden`;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"error": return state.message;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8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Literal-Typen und type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Status = "active" | "discontinued";   // nur diese zwei Texte sind erlaubt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CustomerId = string;                  // ein Alias, also ein zweiter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setStatus(c: Customer, status: Status):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 ...c, discontinued: status === "discontinued"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setStatus(customers[0], "discontinued");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setStatus(customers[0], "gesperrt");    // Fehler TS2345: nicht erlaubter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enum Role { Admin, User }                  // enum gibt es auch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role: Role = Role.Admin;</a:t>
            </a:r>
            <a:endParaRPr lang="de-DE" sz="1600" b="0" u="none" strike="noStrike">
              <a:solidFill>
                <a:srgbClr val="000000"/>
              </a:solidFill>
              <a:uFillTx/>
              <a:latin typeface="Arial"/>
            </a:endParaRPr>
          </a:p>
        </p:txBody>
      </p:sp>
    </p:spTree>
  </p:cSld>
  <p:clrMapOvr>
    <a:masterClrMapping/>
  </p:clrMapOvr>
</p:sld>
</file>

<file path=ppt/slides/slide8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interface oder type?</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Beide beschreiben die Form eines Objekts, mit optionalen und readonly-Eigenschaften</a:t>
            </a:r>
          </a:p>
          <a:p>
            <a:pPr>
              <a:defRPr sz="1600" b="0">
                <a:latin typeface="Segoe UI"/>
              </a:defRPr>
            </a:pPr>
            <a:r>
              <a:rPr lang="de-DE" sz="1600" b="0">
                <a:latin typeface="Segoe UI"/>
              </a:rPr>
              <a:t>Beide lassen sich erweitern: interface mit extends, type mit &amp; (Schnittmenge)</a:t>
            </a:r>
          </a:p>
          <a:p>
            <a:pPr>
              <a:defRPr sz="1600" b="0">
                <a:latin typeface="Segoe UI"/>
              </a:defRPr>
            </a:pPr>
            <a:r>
              <a:rPr lang="de-DE" sz="1600" b="0">
                <a:latin typeface="Segoe UI"/>
              </a:rPr>
              <a:t>Nur type kann Unions, Literal-Typen und Alias für einfache Typen: type Status = "a" | "b"</a:t>
            </a:r>
          </a:p>
          <a:p>
            <a:pPr>
              <a:defRPr sz="1600" b="0">
                <a:latin typeface="Segoe UI"/>
              </a:defRPr>
            </a:pPr>
            <a:r>
              <a:rPr lang="de-DE" sz="1600" b="0">
                <a:latin typeface="Segoe UI"/>
              </a:rPr>
              <a:t>Nur interface kann später um Eigenschaften ergänzt werden (declaration merging)</a:t>
            </a:r>
          </a:p>
          <a:p>
            <a:pPr>
              <a:defRPr sz="1600" b="0">
                <a:latin typeface="Segoe UI"/>
              </a:defRPr>
            </a:pPr>
            <a:r>
              <a:rPr lang="de-DE" sz="1600" b="0">
                <a:latin typeface="Segoe UI"/>
              </a:rPr>
              <a:t>Klassen können ein interface oder einen Objekt-type mit implements erfüllen</a:t>
            </a:r>
          </a:p>
          <a:p>
            <a:pPr>
              <a:defRPr sz="1600" b="0">
                <a:latin typeface="Segoe UI"/>
              </a:defRPr>
            </a:pPr>
            <a:r>
              <a:rPr lang="de-DE" sz="1600" b="0">
                <a:latin typeface="Segoe UI"/>
              </a:rPr>
              <a:t>Faustregel im Kurs: Objekt-Formen als interface (Customer)</a:t>
            </a:r>
          </a:p>
          <a:p>
            <a:pPr>
              <a:defRPr sz="1600" b="0">
                <a:latin typeface="Segoe UI"/>
              </a:defRPr>
            </a:pPr>
            <a:r>
              <a:rPr lang="de-DE" sz="1600" b="0">
                <a:latin typeface="Segoe UI"/>
              </a:rPr>
              <a:t>Faustregel im Kurs: Unions und Aliase als type (Status, State)</a:t>
            </a:r>
          </a:p>
          <a:p>
            <a:pPr>
              <a:defRPr sz="1600" b="0">
                <a:latin typeface="Segoe UI"/>
              </a:defRPr>
            </a:pPr>
            <a:r>
              <a:rPr lang="de-DE" sz="1600" b="0">
                <a:latin typeface="Segoe UI"/>
              </a:rPr>
              <a:t>Wichtiger als die Wahl: im Projekt einheitlich bleiben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Faustregel im Kurs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interface Customer {</a:t>
            </a:r>
          </a:p>
          <a:p>
            <a:pPr algn="l"/>
            <a:r>
              <a:rPr sz="1300" b="0">
                <a:solidFill>
                  <a:srgbClr val="2B3A42"/>
                </a:solidFill>
                <a:latin typeface="Consolas"/>
              </a:rPr>
              <a:t>  id: string;</a:t>
            </a:r>
          </a:p>
          <a:p>
            <a:pPr algn="l"/>
            <a:r>
              <a:rPr sz="1300" b="0">
                <a:solidFill>
                  <a:srgbClr val="2B3A42"/>
                </a:solidFill>
                <a:latin typeface="Consolas"/>
              </a:rPr>
              <a:t>  lastname: string;</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type Status = "active" | "gesperrt";</a:t>
            </a:r>
          </a:p>
          <a:p>
            <a:pPr algn="l"/>
            <a:r>
              <a:rPr sz="1300" b="0">
                <a:solidFill>
                  <a:srgbClr val="2B3A42"/>
                </a:solidFill>
                <a:latin typeface="Consolas"/>
              </a:rPr>
              <a:t/>
            </a:r>
          </a:p>
          <a:p>
            <a:pPr algn="l"/>
            <a:r>
              <a:rPr sz="1300" b="0">
                <a:solidFill>
                  <a:srgbClr val="2B3A42"/>
                </a:solidFill>
                <a:latin typeface="Consolas"/>
              </a:rPr>
              <a:t>type State =</a:t>
            </a:r>
          </a:p>
          <a:p>
            <a:pPr algn="l"/>
            <a:r>
              <a:rPr sz="1300" b="0">
                <a:solidFill>
                  <a:srgbClr val="2B3A42"/>
                </a:solidFill>
                <a:latin typeface="Consolas"/>
              </a:rPr>
              <a:t>  | { status: "loading" }</a:t>
            </a:r>
          </a:p>
          <a:p>
            <a:pPr algn="l"/>
            <a:r>
              <a:rPr sz="1300" b="0">
                <a:solidFill>
                  <a:srgbClr val="2B3A42"/>
                </a:solidFill>
                <a:latin typeface="Consolas"/>
              </a:rPr>
              <a:t>  | { status: "error" };</a:t>
            </a:r>
          </a:p>
        </p:txBody>
      </p:sp>
    </p:spTree>
  </p:cSld>
  <p:clrMapOvr>
    <a:masterClrMapping/>
  </p:clrMapOvr>
</p:sld>
</file>

<file path=ppt/slides/slide8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Generics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names: Array&lt;string&gt; = ["Lisa", "Hans"];       // dasselbe wie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pending: Promise&lt;Customer[]&gt; = Promise.resolve(customers);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first&lt;T&gt;(items: T[]): T | undefined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items[0];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firstCustomer = first(customers);   // Typ: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firstName = first(names);           // Typ: string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Angular begegnen uns dieselben spitzen Klammern: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signal&lt;Customer[]&gt;([]), input&lt;string&gt;(), Observable&lt;Customer&gt;</a:t>
            </a:r>
            <a:endParaRPr lang="de-DE" sz="1600" b="0" u="none" strike="noStrike">
              <a:solidFill>
                <a:srgbClr val="000000"/>
              </a:solidFill>
              <a:uFillTx/>
              <a:latin typeface="Arial"/>
            </a:endParaRPr>
          </a:p>
        </p:txBody>
      </p:sp>
    </p:spTree>
  </p:cSld>
  <p:clrMapOvr>
    <a:masterClrMapping/>
  </p:clrMapOvr>
</p:sld>
</file>

<file path=ppt/slides/slide8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Hilfstypen: Partial, Pick, Omit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CustomerChanges = Partial&lt;Customer&gt;;       // alles optional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CustomerName = Pick&lt;Customer, "firstname" | "lastname"&gt;;  // nur diese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NewCustomer = Omit&lt;Customer, "id"&gt;;        // alles außer 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update(c: Customer, changes: Partial&lt;Customer&gt;):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 ...c, ...changes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changed = update(customers[0], { city: "Shelbyville"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draft: NewCustomer = { firstname: "Ned", lastname: "Flanders"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label: CustomerName = changed;     // Customer hat diese Felder auch</a:t>
            </a:r>
            <a:endParaRPr lang="de-DE" sz="1800" b="0" u="none" strike="noStrike">
              <a:solidFill>
                <a:srgbClr val="000000"/>
              </a:solidFill>
              <a:uFillTx/>
              <a:latin typeface="Arial"/>
            </a:endParaRPr>
          </a:p>
        </p:txBody>
      </p:sp>
    </p:spTree>
  </p:cSld>
  <p:clrMapOvr>
    <a:masterClrMapping/>
  </p:clrMapOvr>
</p:sld>
</file>

<file path=ppt/slides/slide8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Architektur der Invoice-App im Überblick</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Komponenten zeigen an, Services liefern Daten; nur der HttpClient spricht mit dem Server.</a:t>
            </a:r>
          </a:p>
        </p:txBody>
      </p:sp>
      <p:sp>
        <p:nvSpPr>
          <p:cNvPr id="4" name="Rectangle 3"/>
          <p:cNvSpPr/>
          <p:nvPr/>
        </p:nvSpPr>
        <p:spPr>
          <a:xfrm>
            <a:off x="838080" y="1650000"/>
            <a:ext cx="10514160" cy="41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Invoice-App im Browser</a:t>
            </a:r>
          </a:p>
        </p:txBody>
      </p:sp>
      <p:sp>
        <p:nvSpPr>
          <p:cNvPr id="6" name="Rectangle 5"/>
          <p:cNvSpPr/>
          <p:nvPr/>
        </p:nvSpPr>
        <p:spPr>
          <a:xfrm>
            <a:off x="948080" y="1980000"/>
            <a:ext cx="3084720" cy="374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2964720" cy="290000"/>
          </a:xfrm>
          <a:prstGeom prst="rect">
            <a:avLst/>
          </a:prstGeom>
          <a:noFill/>
        </p:spPr>
        <p:txBody>
          <a:bodyPr wrap="square" anchor="t" lIns="70000" rIns="70000" tIns="0" bIns="0">
            <a:spAutoFit/>
          </a:bodyPr>
          <a:lstStyle/>
          <a:p>
            <a:pPr algn="l"/>
            <a:r>
              <a:rPr sz="1300" b="1">
                <a:solidFill>
                  <a:srgbClr val="2B3A42"/>
                </a:solidFill>
                <a:latin typeface="Segoe UI"/>
              </a:rPr>
              <a:t>Komponenten (Oberfläche)</a:t>
            </a:r>
          </a:p>
        </p:txBody>
      </p:sp>
      <p:sp>
        <p:nvSpPr>
          <p:cNvPr id="8" name="Rounded Rectangle 7"/>
          <p:cNvSpPr/>
          <p:nvPr/>
        </p:nvSpPr>
        <p:spPr>
          <a:xfrm>
            <a:off x="1058080" y="231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AppComponent</a:t>
            </a:r>
          </a:p>
          <a:p>
            <a:pPr algn="ctr"/>
            <a:r>
              <a:rPr sz="1300" b="0">
                <a:solidFill>
                  <a:srgbClr val="2B3A42"/>
                </a:solidFill>
                <a:latin typeface="Segoe UI"/>
              </a:rPr>
              <a:t>&lt;app-root&gt;</a:t>
            </a:r>
          </a:p>
        </p:txBody>
      </p:sp>
      <p:sp>
        <p:nvSpPr>
          <p:cNvPr id="9" name="Rounded Rectangle 8"/>
          <p:cNvSpPr/>
          <p:nvPr/>
        </p:nvSpPr>
        <p:spPr>
          <a:xfrm>
            <a:off x="1058080" y="355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CustomerListComponent</a:t>
            </a:r>
          </a:p>
          <a:p>
            <a:pPr algn="ctr"/>
            <a:r>
              <a:rPr sz="1300" b="0">
                <a:solidFill>
                  <a:srgbClr val="2B3A42"/>
                </a:solidFill>
                <a:latin typeface="Segoe UI"/>
              </a:rPr>
              <a:t>&lt;customer-list&gt;</a:t>
            </a:r>
          </a:p>
        </p:txBody>
      </p:sp>
      <p:sp>
        <p:nvSpPr>
          <p:cNvPr id="10" name="Rounded Rectangle 9"/>
          <p:cNvSpPr/>
          <p:nvPr/>
        </p:nvSpPr>
        <p:spPr>
          <a:xfrm>
            <a:off x="1058080" y="479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CustomerDetailsComponent</a:t>
            </a:r>
          </a:p>
          <a:p>
            <a:pPr algn="ctr"/>
            <a:r>
              <a:rPr sz="1300" b="0">
                <a:solidFill>
                  <a:srgbClr val="2B3A42"/>
                </a:solidFill>
                <a:latin typeface="Segoe UI"/>
              </a:rPr>
              <a:t>&lt;customer-details&gt;</a:t>
            </a:r>
          </a:p>
        </p:txBody>
      </p:sp>
      <p:sp>
        <p:nvSpPr>
          <p:cNvPr id="11" name="Rectangle 10"/>
          <p:cNvSpPr/>
          <p:nvPr/>
        </p:nvSpPr>
        <p:spPr>
          <a:xfrm>
            <a:off x="4552800" y="1980000"/>
            <a:ext cx="3084720" cy="374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4612800" y="2020000"/>
            <a:ext cx="2964720" cy="290000"/>
          </a:xfrm>
          <a:prstGeom prst="rect">
            <a:avLst/>
          </a:prstGeom>
          <a:noFill/>
        </p:spPr>
        <p:txBody>
          <a:bodyPr wrap="square" anchor="t" lIns="70000" rIns="70000" tIns="0" bIns="0">
            <a:spAutoFit/>
          </a:bodyPr>
          <a:lstStyle/>
          <a:p>
            <a:pPr algn="l"/>
            <a:r>
              <a:rPr sz="1300" b="1">
                <a:solidFill>
                  <a:srgbClr val="2B3A42"/>
                </a:solidFill>
                <a:latin typeface="Segoe UI"/>
              </a:rPr>
              <a:t>Services (Logik und Daten)</a:t>
            </a:r>
          </a:p>
        </p:txBody>
      </p:sp>
      <p:sp>
        <p:nvSpPr>
          <p:cNvPr id="13" name="Rounded Rectangle 12"/>
          <p:cNvSpPr/>
          <p:nvPr/>
        </p:nvSpPr>
        <p:spPr>
          <a:xfrm>
            <a:off x="4662800" y="231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CustomerService</a:t>
            </a:r>
          </a:p>
          <a:p>
            <a:pPr algn="ctr"/>
            <a:r>
              <a:rPr sz="1300" b="0">
                <a:solidFill>
                  <a:srgbClr val="2B3A42"/>
                </a:solidFill>
                <a:latin typeface="Segoe UI"/>
              </a:rPr>
              <a:t>getAll()</a:t>
            </a:r>
          </a:p>
        </p:txBody>
      </p:sp>
      <p:sp>
        <p:nvSpPr>
          <p:cNvPr id="14" name="Rounded Rectangle 13"/>
          <p:cNvSpPr/>
          <p:nvPr/>
        </p:nvSpPr>
        <p:spPr>
          <a:xfrm>
            <a:off x="4662800" y="355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HttpClient</a:t>
            </a:r>
          </a:p>
          <a:p>
            <a:pPr algn="ctr"/>
            <a:r>
              <a:rPr sz="1300" b="0">
                <a:solidFill>
                  <a:srgbClr val="2B3A42"/>
                </a:solidFill>
                <a:latin typeface="Segoe UI"/>
              </a:rPr>
              <a:t>von Angular</a:t>
            </a:r>
          </a:p>
        </p:txBody>
      </p:sp>
      <p:sp>
        <p:nvSpPr>
          <p:cNvPr id="15" name="Rounded Rectangle 14"/>
          <p:cNvSpPr/>
          <p:nvPr/>
        </p:nvSpPr>
        <p:spPr>
          <a:xfrm>
            <a:off x="4662800" y="479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Router</a:t>
            </a:r>
          </a:p>
          <a:p>
            <a:pPr algn="ctr"/>
            <a:r>
              <a:rPr sz="1300" b="0">
                <a:solidFill>
                  <a:srgbClr val="2B3A42"/>
                </a:solidFill>
                <a:latin typeface="Segoe UI"/>
              </a:rPr>
              <a:t>von Angular</a:t>
            </a:r>
          </a:p>
        </p:txBody>
      </p:sp>
      <p:sp>
        <p:nvSpPr>
          <p:cNvPr id="16" name="Rectangle 15"/>
          <p:cNvSpPr/>
          <p:nvPr/>
        </p:nvSpPr>
        <p:spPr>
          <a:xfrm>
            <a:off x="8157520" y="1980000"/>
            <a:ext cx="3084720" cy="374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7" name="TextBox 16"/>
          <p:cNvSpPr txBox="1"/>
          <p:nvPr/>
        </p:nvSpPr>
        <p:spPr>
          <a:xfrm>
            <a:off x="8217520" y="2020000"/>
            <a:ext cx="2964720" cy="290000"/>
          </a:xfrm>
          <a:prstGeom prst="rect">
            <a:avLst/>
          </a:prstGeom>
          <a:noFill/>
        </p:spPr>
        <p:txBody>
          <a:bodyPr wrap="square" anchor="t" lIns="70000" rIns="70000" tIns="0" bIns="0">
            <a:spAutoFit/>
          </a:bodyPr>
          <a:lstStyle/>
          <a:p>
            <a:pPr algn="l"/>
            <a:r>
              <a:rPr sz="1300" b="1">
                <a:solidFill>
                  <a:srgbClr val="2B3A42"/>
                </a:solidFill>
                <a:latin typeface="Segoe UI"/>
              </a:rPr>
              <a:t>Server</a:t>
            </a:r>
          </a:p>
        </p:txBody>
      </p:sp>
      <p:sp>
        <p:nvSpPr>
          <p:cNvPr id="18" name="Rounded Rectangle 17"/>
          <p:cNvSpPr/>
          <p:nvPr/>
        </p:nvSpPr>
        <p:spPr>
          <a:xfrm>
            <a:off x="8267520" y="231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REST-API</a:t>
            </a:r>
          </a:p>
          <a:p>
            <a:pPr algn="ctr"/>
            <a:r>
              <a:rPr sz="1300" b="0">
                <a:solidFill>
                  <a:srgbClr val="2B3A42"/>
                </a:solidFill>
                <a:latin typeface="Segoe UI"/>
              </a:rPr>
              <a:t>/customers</a:t>
            </a:r>
          </a:p>
        </p:txBody>
      </p:sp>
      <p:cxnSp>
        <p:nvCxnSpPr>
          <p:cNvPr id="19" name="Connector 18"/>
          <p:cNvCxnSpPr/>
          <p:nvPr/>
        </p:nvCxnSpPr>
        <p:spPr>
          <a:xfrm>
            <a:off x="3922800" y="2720000"/>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97312" y="2390000"/>
            <a:ext cx="119097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inject()</a:t>
            </a:r>
          </a:p>
        </p:txBody>
      </p:sp>
      <p:cxnSp>
        <p:nvCxnSpPr>
          <p:cNvPr id="21" name="Connector 20"/>
          <p:cNvCxnSpPr/>
          <p:nvPr/>
        </p:nvCxnSpPr>
        <p:spPr>
          <a:xfrm>
            <a:off x="6095160" y="3130000"/>
            <a:ext cx="0" cy="42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155160" y="3200000"/>
            <a:ext cx="834360"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nutzt</a:t>
            </a:r>
          </a:p>
        </p:txBody>
      </p:sp>
      <p:cxnSp>
        <p:nvCxnSpPr>
          <p:cNvPr id="23" name="Connector 22"/>
          <p:cNvCxnSpPr/>
          <p:nvPr/>
        </p:nvCxnSpPr>
        <p:spPr>
          <a:xfrm flipV="1">
            <a:off x="7527520" y="2720000"/>
            <a:ext cx="740000" cy="124000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539776" y="3010000"/>
            <a:ext cx="715488"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HTTP</a:t>
            </a:r>
          </a:p>
        </p:txBody>
      </p:sp>
    </p:spTree>
  </p:cSld>
  <p:clrMapOvr>
    <a:masterClrMapping/>
  </p:clrMapOvr>
</p:sld>
</file>

<file path=ppt/slides/slide8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die Dateien zusammenhängen</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main.ts startet AppComponent; der selector verbindet die Klasse mit &lt;app-root&gt; in index.html.</a:t>
            </a:r>
          </a:p>
        </p:txBody>
      </p:sp>
      <p:sp>
        <p:nvSpPr>
          <p:cNvPr id="4" name="Rectangle 3"/>
          <p:cNvSpPr/>
          <p:nvPr/>
        </p:nvSpPr>
        <p:spPr>
          <a:xfrm>
            <a:off x="838080" y="1650000"/>
            <a:ext cx="10514160" cy="418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invoice-app/src</a:t>
            </a:r>
          </a:p>
        </p:txBody>
      </p:sp>
      <p:sp>
        <p:nvSpPr>
          <p:cNvPr id="6" name="Rounded Rectangle 5"/>
          <p:cNvSpPr/>
          <p:nvPr/>
        </p:nvSpPr>
        <p:spPr>
          <a:xfrm>
            <a:off x="948080" y="1980000"/>
            <a:ext cx="308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index.html</a:t>
            </a:r>
          </a:p>
          <a:p>
            <a:pPr algn="ctr"/>
            <a:r>
              <a:rPr sz="1300" b="0">
                <a:solidFill>
                  <a:srgbClr val="2B3A42"/>
                </a:solidFill>
                <a:latin typeface="Segoe UI"/>
              </a:rPr>
              <a:t>&lt;app-root&gt;&lt;/app-root&gt;</a:t>
            </a:r>
          </a:p>
        </p:txBody>
      </p:sp>
      <p:sp>
        <p:nvSpPr>
          <p:cNvPr id="7" name="Rectangle 6"/>
          <p:cNvSpPr/>
          <p:nvPr/>
        </p:nvSpPr>
        <p:spPr>
          <a:xfrm>
            <a:off x="4552800" y="1980000"/>
            <a:ext cx="3084720" cy="374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8" name="TextBox 7"/>
          <p:cNvSpPr txBox="1"/>
          <p:nvPr/>
        </p:nvSpPr>
        <p:spPr>
          <a:xfrm>
            <a:off x="4612800" y="2020000"/>
            <a:ext cx="2964720" cy="290000"/>
          </a:xfrm>
          <a:prstGeom prst="rect">
            <a:avLst/>
          </a:prstGeom>
          <a:noFill/>
        </p:spPr>
        <p:txBody>
          <a:bodyPr wrap="square" anchor="t" lIns="70000" rIns="70000" tIns="0" bIns="0">
            <a:spAutoFit/>
          </a:bodyPr>
          <a:lstStyle/>
          <a:p>
            <a:pPr algn="l"/>
            <a:r>
              <a:rPr sz="1300" b="1">
                <a:solidFill>
                  <a:srgbClr val="2B3A42"/>
                </a:solidFill>
                <a:latin typeface="Segoe UI"/>
              </a:rPr>
              <a:t>app/</a:t>
            </a:r>
          </a:p>
        </p:txBody>
      </p:sp>
      <p:sp>
        <p:nvSpPr>
          <p:cNvPr id="9" name="Rounded Rectangle 8"/>
          <p:cNvSpPr/>
          <p:nvPr/>
        </p:nvSpPr>
        <p:spPr>
          <a:xfrm>
            <a:off x="4662800" y="231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app.component.ts</a:t>
            </a:r>
          </a:p>
          <a:p>
            <a:pPr algn="ctr"/>
            <a:r>
              <a:rPr sz="1300" b="0">
                <a:solidFill>
                  <a:srgbClr val="2B3A42"/>
                </a:solidFill>
                <a:latin typeface="Segoe UI"/>
              </a:rPr>
              <a:t>selector: 'app-root'</a:t>
            </a:r>
          </a:p>
        </p:txBody>
      </p:sp>
      <p:sp>
        <p:nvSpPr>
          <p:cNvPr id="10" name="Rounded Rectangle 9"/>
          <p:cNvSpPr/>
          <p:nvPr/>
        </p:nvSpPr>
        <p:spPr>
          <a:xfrm>
            <a:off x="4662800" y="355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app.component.html</a:t>
            </a:r>
          </a:p>
          <a:p>
            <a:pPr algn="ctr"/>
            <a:r>
              <a:rPr sz="1300" b="0">
                <a:solidFill>
                  <a:srgbClr val="2B3A42"/>
                </a:solidFill>
                <a:latin typeface="Segoe UI"/>
              </a:rPr>
              <a:t>Template</a:t>
            </a:r>
          </a:p>
        </p:txBody>
      </p:sp>
      <p:sp>
        <p:nvSpPr>
          <p:cNvPr id="11" name="Rounded Rectangle 10"/>
          <p:cNvSpPr/>
          <p:nvPr/>
        </p:nvSpPr>
        <p:spPr>
          <a:xfrm>
            <a:off x="4662800" y="479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app.component.css</a:t>
            </a:r>
          </a:p>
          <a:p>
            <a:pPr algn="ctr"/>
            <a:r>
              <a:rPr sz="1300" b="0">
                <a:solidFill>
                  <a:srgbClr val="2B3A42"/>
                </a:solidFill>
                <a:latin typeface="Segoe UI"/>
              </a:rPr>
              <a:t>Styles</a:t>
            </a:r>
          </a:p>
        </p:txBody>
      </p:sp>
      <p:sp>
        <p:nvSpPr>
          <p:cNvPr id="12" name="Rounded Rectangle 11"/>
          <p:cNvSpPr/>
          <p:nvPr/>
        </p:nvSpPr>
        <p:spPr>
          <a:xfrm>
            <a:off x="8157520" y="1980000"/>
            <a:ext cx="308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main.ts</a:t>
            </a:r>
          </a:p>
          <a:p>
            <a:pPr algn="ctr"/>
            <a:r>
              <a:rPr sz="1300" b="0">
                <a:solidFill>
                  <a:srgbClr val="2B3A42"/>
                </a:solidFill>
                <a:latin typeface="Segoe UI"/>
              </a:rPr>
              <a:t>bootstrapApplication(...)</a:t>
            </a:r>
          </a:p>
        </p:txBody>
      </p:sp>
      <p:cxnSp>
        <p:nvCxnSpPr>
          <p:cNvPr id="13" name="Connector 12"/>
          <p:cNvCxnSpPr/>
          <p:nvPr/>
        </p:nvCxnSpPr>
        <p:spPr>
          <a:xfrm flipH="1">
            <a:off x="7527520" y="2555000"/>
            <a:ext cx="63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06468" y="2225000"/>
            <a:ext cx="1072104"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startet</a:t>
            </a:r>
          </a:p>
        </p:txBody>
      </p:sp>
      <p:cxnSp>
        <p:nvCxnSpPr>
          <p:cNvPr id="15" name="Connector 14"/>
          <p:cNvCxnSpPr/>
          <p:nvPr/>
        </p:nvCxnSpPr>
        <p:spPr>
          <a:xfrm flipH="1">
            <a:off x="4032800" y="2555000"/>
            <a:ext cx="63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752312" y="2225000"/>
            <a:ext cx="1190976"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selector</a:t>
            </a:r>
          </a:p>
        </p:txBody>
      </p:sp>
      <p:cxnSp>
        <p:nvCxnSpPr>
          <p:cNvPr id="17" name="Connector 16"/>
          <p:cNvCxnSpPr/>
          <p:nvPr/>
        </p:nvCxnSpPr>
        <p:spPr>
          <a:xfrm>
            <a:off x="6095160" y="3130000"/>
            <a:ext cx="0" cy="42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155160" y="3200000"/>
            <a:ext cx="1547592"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templateUrl</a:t>
            </a:r>
          </a:p>
        </p:txBody>
      </p:sp>
    </p:spTree>
  </p:cSld>
  <p:clrMapOvr>
    <a:masterClrMapping/>
  </p:clrMapOvr>
</p:sld>
</file>

<file path=ppt/slides/slide8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beim Start der Anwendung</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Vom Laden der Seite bis zur sichtbaren AppComponent – Schritt für Schritt.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main.ts</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Angular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AppComponent</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index.html (DOM)</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54000"/>
            <a:ext cx="8391328"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919496" y="2304000"/>
            <a:ext cx="8351328" cy="330000"/>
          </a:xfrm>
          <a:prstGeom prst="rect">
            <a:avLst/>
          </a:prstGeom>
          <a:noFill/>
        </p:spPr>
        <p:txBody>
          <a:bodyPr wrap="square" anchor="b" lIns="70000" rIns="70000" tIns="0" bIns="0">
            <a:spAutoFit/>
          </a:bodyPr>
          <a:lstStyle/>
          <a:p>
            <a:pPr algn="ctr"/>
            <a:r>
              <a:rPr sz="1300" b="0">
                <a:solidFill>
                  <a:srgbClr val="2B3A42"/>
                </a:solidFill>
                <a:latin typeface="Segoe UI"/>
              </a:rPr>
              <a:t>1. index.html laden</a:t>
            </a:r>
          </a:p>
        </p:txBody>
      </p:sp>
      <p:cxnSp>
        <p:nvCxnSpPr>
          <p:cNvPr id="16" name="Connector 15"/>
          <p:cNvCxnSpPr/>
          <p:nvPr/>
        </p:nvCxnSpPr>
        <p:spPr>
          <a:xfrm>
            <a:off x="1889496" y="31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63788" y="27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Skript main.js ausführen</a:t>
            </a:r>
          </a:p>
        </p:txBody>
      </p:sp>
      <p:cxnSp>
        <p:nvCxnSpPr>
          <p:cNvPr id="18" name="Connector 17"/>
          <p:cNvCxnSpPr/>
          <p:nvPr/>
        </p:nvCxnSpPr>
        <p:spPr>
          <a:xfrm>
            <a:off x="3992328" y="355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66620" y="320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3. bootstrapApplication()</a:t>
            </a:r>
          </a:p>
        </p:txBody>
      </p:sp>
      <p:cxnSp>
        <p:nvCxnSpPr>
          <p:cNvPr id="20" name="Connector 19"/>
          <p:cNvCxnSpPr/>
          <p:nvPr/>
        </p:nvCxnSpPr>
        <p:spPr>
          <a:xfrm>
            <a:off x="6095160" y="38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475160" y="38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115160" y="40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25160" y="3668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4. providers registrieren</a:t>
            </a:r>
          </a:p>
        </p:txBody>
      </p:sp>
      <p:cxnSp>
        <p:nvCxnSpPr>
          <p:cNvPr id="24" name="Connector 23"/>
          <p:cNvCxnSpPr/>
          <p:nvPr/>
        </p:nvCxnSpPr>
        <p:spPr>
          <a:xfrm>
            <a:off x="6095160" y="4454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5160" y="4104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5. Element &lt;app-root&gt; suchen</a:t>
            </a:r>
          </a:p>
        </p:txBody>
      </p:sp>
      <p:cxnSp>
        <p:nvCxnSpPr>
          <p:cNvPr id="26" name="Connector 25"/>
          <p:cNvCxnSpPr/>
          <p:nvPr/>
        </p:nvCxnSpPr>
        <p:spPr>
          <a:xfrm>
            <a:off x="6095160" y="49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569452" y="45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6. new AppComponent()</a:t>
            </a:r>
          </a:p>
        </p:txBody>
      </p:sp>
      <p:cxnSp>
        <p:nvCxnSpPr>
          <p:cNvPr id="28" name="Connector 27"/>
          <p:cNvCxnSpPr/>
          <p:nvPr/>
        </p:nvCxnSpPr>
        <p:spPr>
          <a:xfrm>
            <a:off x="6095160" y="5354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5160" y="5004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7. Template in &lt;app-root&gt; rendern</a:t>
            </a:r>
          </a:p>
        </p:txBody>
      </p:sp>
      <p:cxnSp>
        <p:nvCxnSpPr>
          <p:cNvPr id="30" name="Connector 29"/>
          <p:cNvCxnSpPr/>
          <p:nvPr/>
        </p:nvCxnSpPr>
        <p:spPr>
          <a:xfrm flipH="1">
            <a:off x="4012328" y="5804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466620" y="5454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8. Promise erfüllt (ApplicationRef)</a:t>
            </a:r>
          </a:p>
        </p:txBody>
      </p:sp>
    </p:spTree>
  </p:cSld>
  <p:clrMapOvr>
    <a:masterClrMapping/>
  </p:clrMapOvr>
</p:sld>
</file>

<file path=ppt/slides/slide8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Data Binding: Klasse und Template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Werte fließen per {{ }} und [ ] in das Template, Ereignisse per ( ) zurück in die Klasse.</a:t>
            </a:r>
          </a:p>
        </p:txBody>
      </p:sp>
      <p:sp>
        <p:nvSpPr>
          <p:cNvPr id="4" name="Rectangle 3"/>
          <p:cNvSpPr/>
          <p:nvPr/>
        </p:nvSpPr>
        <p:spPr>
          <a:xfrm>
            <a:off x="838080" y="1650000"/>
            <a:ext cx="10514160" cy="364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CustomerDetailsComponent</a:t>
            </a:r>
          </a:p>
        </p:txBody>
      </p:sp>
      <p:sp>
        <p:nvSpPr>
          <p:cNvPr id="6" name="Rectangle 5"/>
          <p:cNvSpPr/>
          <p:nvPr/>
        </p:nvSpPr>
        <p:spPr>
          <a:xfrm>
            <a:off x="948080" y="1980000"/>
            <a:ext cx="4887080" cy="320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4767080" cy="290000"/>
          </a:xfrm>
          <a:prstGeom prst="rect">
            <a:avLst/>
          </a:prstGeom>
          <a:noFill/>
        </p:spPr>
        <p:txBody>
          <a:bodyPr wrap="square" anchor="t" lIns="70000" rIns="70000" tIns="0" bIns="0">
            <a:spAutoFit/>
          </a:bodyPr>
          <a:lstStyle/>
          <a:p>
            <a:pPr algn="l"/>
            <a:r>
              <a:rPr sz="1300" b="1">
                <a:solidFill>
                  <a:srgbClr val="2B3A42"/>
                </a:solidFill>
                <a:latin typeface="Segoe UI"/>
              </a:rPr>
              <a:t>Klasse (.ts)</a:t>
            </a:r>
          </a:p>
        </p:txBody>
      </p:sp>
      <p:sp>
        <p:nvSpPr>
          <p:cNvPr id="8" name="Rounded Rectangle 7"/>
          <p:cNvSpPr/>
          <p:nvPr/>
        </p:nvSpPr>
        <p:spPr>
          <a:xfrm>
            <a:off x="1058080" y="231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 – Vorname, Bild</a:t>
            </a:r>
          </a:p>
        </p:txBody>
      </p:sp>
      <p:sp>
        <p:nvSpPr>
          <p:cNvPr id="9" name="Rounded Rectangle 8"/>
          <p:cNvSpPr/>
          <p:nvPr/>
        </p:nvSpPr>
        <p:spPr>
          <a:xfrm>
            <a:off x="1058080" y="337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save()</a:t>
            </a:r>
          </a:p>
        </p:txBody>
      </p:sp>
      <p:sp>
        <p:nvSpPr>
          <p:cNvPr id="10" name="Rounded Rectangle 9"/>
          <p:cNvSpPr/>
          <p:nvPr/>
        </p:nvSpPr>
        <p:spPr>
          <a:xfrm>
            <a:off x="1058080" y="443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name (Feld)</a:t>
            </a:r>
          </a:p>
        </p:txBody>
      </p:sp>
      <p:sp>
        <p:nvSpPr>
          <p:cNvPr id="11" name="Rectangle 10"/>
          <p:cNvSpPr/>
          <p:nvPr/>
        </p:nvSpPr>
        <p:spPr>
          <a:xfrm>
            <a:off x="6355160" y="1980000"/>
            <a:ext cx="4887080" cy="320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020000"/>
            <a:ext cx="4767080" cy="290000"/>
          </a:xfrm>
          <a:prstGeom prst="rect">
            <a:avLst/>
          </a:prstGeom>
          <a:noFill/>
        </p:spPr>
        <p:txBody>
          <a:bodyPr wrap="square" anchor="t" lIns="70000" rIns="70000" tIns="0" bIns="0">
            <a:spAutoFit/>
          </a:bodyPr>
          <a:lstStyle/>
          <a:p>
            <a:pPr algn="l"/>
            <a:r>
              <a:rPr sz="1300" b="1">
                <a:solidFill>
                  <a:srgbClr val="2B3A42"/>
                </a:solidFill>
                <a:latin typeface="Segoe UI"/>
              </a:rPr>
              <a:t>Template (.html)</a:t>
            </a:r>
          </a:p>
        </p:txBody>
      </p:sp>
      <p:sp>
        <p:nvSpPr>
          <p:cNvPr id="13" name="Rounded Rectangle 12"/>
          <p:cNvSpPr/>
          <p:nvPr/>
        </p:nvSpPr>
        <p:spPr>
          <a:xfrm>
            <a:off x="6465160" y="231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customer().firstname }}  &lt;img [src]="..."&gt;</a:t>
            </a:r>
          </a:p>
        </p:txBody>
      </p:sp>
      <p:sp>
        <p:nvSpPr>
          <p:cNvPr id="14" name="Rounded Rectangle 13"/>
          <p:cNvSpPr/>
          <p:nvPr/>
        </p:nvSpPr>
        <p:spPr>
          <a:xfrm>
            <a:off x="6465160" y="337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&lt;button (click)="save()"&gt;</a:t>
            </a:r>
          </a:p>
        </p:txBody>
      </p:sp>
      <p:sp>
        <p:nvSpPr>
          <p:cNvPr id="15" name="Rounded Rectangle 14"/>
          <p:cNvSpPr/>
          <p:nvPr/>
        </p:nvSpPr>
        <p:spPr>
          <a:xfrm>
            <a:off x="6465160" y="443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&lt;input [(ngModel)]="name"&gt;</a:t>
            </a:r>
          </a:p>
        </p:txBody>
      </p:sp>
      <p:cxnSp>
        <p:nvCxnSpPr>
          <p:cNvPr id="16" name="Connector 15"/>
          <p:cNvCxnSpPr/>
          <p:nvPr/>
        </p:nvCxnSpPr>
        <p:spPr>
          <a:xfrm>
            <a:off x="5725160" y="2630000"/>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40236" y="2300000"/>
            <a:ext cx="1309848"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 }} [ ]</a:t>
            </a:r>
          </a:p>
        </p:txBody>
      </p:sp>
      <p:cxnSp>
        <p:nvCxnSpPr>
          <p:cNvPr id="18" name="Connector 17"/>
          <p:cNvCxnSpPr/>
          <p:nvPr/>
        </p:nvCxnSpPr>
        <p:spPr>
          <a:xfrm flipH="1">
            <a:off x="5725160" y="3690000"/>
            <a:ext cx="74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59108" y="3360000"/>
            <a:ext cx="1072104"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(click)</a:t>
            </a:r>
          </a:p>
        </p:txBody>
      </p:sp>
      <p:cxnSp>
        <p:nvCxnSpPr>
          <p:cNvPr id="20" name="Connector 19"/>
          <p:cNvCxnSpPr/>
          <p:nvPr/>
        </p:nvCxnSpPr>
        <p:spPr>
          <a:xfrm>
            <a:off x="5725160" y="4750000"/>
            <a:ext cx="740000" cy="0"/>
          </a:xfrm>
          <a:prstGeom prst="line">
            <a:avLst/>
          </a:prstGeom>
          <a:ln w="25400">
            <a:solidFill>
              <a:srgbClr val="1E9E7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321364" y="4420000"/>
            <a:ext cx="1547592"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[(ngModel)]</a:t>
            </a:r>
          </a:p>
        </p:txBody>
      </p:sp>
    </p:spTree>
  </p:cSld>
  <p:clrMapOvr>
    <a:masterClrMapping/>
  </p:clrMapOvr>
</p:sld>
</file>

<file path=ppt/slides/slide8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Komponentenbaum der Invoice-App</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Jedes Kind steht im Template seiner Eltern-Komponente; Daten sieht es nur, wenn sie übergeben werden.</a:t>
            </a:r>
          </a:p>
        </p:txBody>
      </p:sp>
      <p:sp>
        <p:nvSpPr>
          <p:cNvPr id="4" name="Rectangle 3"/>
          <p:cNvSpPr/>
          <p:nvPr/>
        </p:nvSpPr>
        <p:spPr>
          <a:xfrm>
            <a:off x="838080" y="1650000"/>
            <a:ext cx="10514160" cy="265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index.html</a:t>
            </a:r>
          </a:p>
          <a:p>
            <a:pPr algn="l"/>
            <a:r>
              <a:rPr sz="1300" b="1">
                <a:solidFill>
                  <a:srgbClr val="2B3A42"/>
                </a:solidFill>
                <a:latin typeface="Segoe UI"/>
              </a:rPr>
              <a:t>&lt;body&gt;</a:t>
            </a:r>
          </a:p>
        </p:txBody>
      </p:sp>
      <p:sp>
        <p:nvSpPr>
          <p:cNvPr id="6" name="Rectangle 5"/>
          <p:cNvSpPr/>
          <p:nvPr/>
        </p:nvSpPr>
        <p:spPr>
          <a:xfrm>
            <a:off x="948080" y="2210000"/>
            <a:ext cx="10294160" cy="198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50000"/>
            <a:ext cx="10174160" cy="520000"/>
          </a:xfrm>
          <a:prstGeom prst="rect">
            <a:avLst/>
          </a:prstGeom>
          <a:noFill/>
        </p:spPr>
        <p:txBody>
          <a:bodyPr wrap="square" anchor="t" lIns="70000" rIns="70000" tIns="0" bIns="0">
            <a:spAutoFit/>
          </a:bodyPr>
          <a:lstStyle/>
          <a:p>
            <a:pPr algn="l"/>
            <a:r>
              <a:rPr sz="1300" b="1">
                <a:solidFill>
                  <a:srgbClr val="2B3A42"/>
                </a:solidFill>
                <a:latin typeface="Segoe UI"/>
              </a:rPr>
              <a:t>AppComponent</a:t>
            </a:r>
          </a:p>
          <a:p>
            <a:pPr algn="l"/>
            <a:r>
              <a:rPr sz="1300" b="1">
                <a:solidFill>
                  <a:srgbClr val="2B3A42"/>
                </a:solidFill>
                <a:latin typeface="Segoe UI"/>
              </a:rPr>
              <a:t>&lt;app-root&gt; – Template app.component.html</a:t>
            </a:r>
          </a:p>
        </p:txBody>
      </p:sp>
      <p:sp>
        <p:nvSpPr>
          <p:cNvPr id="8" name="Rounded Rectangle 7"/>
          <p:cNvSpPr/>
          <p:nvPr/>
        </p:nvSpPr>
        <p:spPr>
          <a:xfrm>
            <a:off x="1058080" y="2770000"/>
            <a:ext cx="326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&lt;h1&gt;Invoice Manager App&lt;/h1&gt;</a:t>
            </a:r>
          </a:p>
        </p:txBody>
      </p:sp>
      <p:sp>
        <p:nvSpPr>
          <p:cNvPr id="9" name="Rectangle 8"/>
          <p:cNvSpPr/>
          <p:nvPr/>
        </p:nvSpPr>
        <p:spPr>
          <a:xfrm>
            <a:off x="4462800" y="2770000"/>
            <a:ext cx="3264720" cy="131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0" name="TextBox 9"/>
          <p:cNvSpPr txBox="1"/>
          <p:nvPr/>
        </p:nvSpPr>
        <p:spPr>
          <a:xfrm>
            <a:off x="4522800" y="2810000"/>
            <a:ext cx="3144720" cy="520000"/>
          </a:xfrm>
          <a:prstGeom prst="rect">
            <a:avLst/>
          </a:prstGeom>
          <a:noFill/>
        </p:spPr>
        <p:txBody>
          <a:bodyPr wrap="square" anchor="t" lIns="70000" rIns="70000" tIns="0" bIns="0">
            <a:spAutoFit/>
          </a:bodyPr>
          <a:lstStyle/>
          <a:p>
            <a:pPr algn="l"/>
            <a:r>
              <a:rPr sz="1300" b="1">
                <a:solidFill>
                  <a:srgbClr val="2B3A42"/>
                </a:solidFill>
                <a:latin typeface="Segoe UI"/>
              </a:rPr>
              <a:t>CustomerListComponent</a:t>
            </a:r>
          </a:p>
          <a:p>
            <a:pPr algn="l"/>
            <a:r>
              <a:rPr sz="1300" b="1">
                <a:solidFill>
                  <a:srgbClr val="2B3A42"/>
                </a:solidFill>
                <a:latin typeface="Segoe UI"/>
              </a:rPr>
              <a:t>&lt;customer-list&gt;</a:t>
            </a:r>
          </a:p>
        </p:txBody>
      </p:sp>
      <p:sp>
        <p:nvSpPr>
          <p:cNvPr id="11" name="Rounded Rectangle 10"/>
          <p:cNvSpPr/>
          <p:nvPr/>
        </p:nvSpPr>
        <p:spPr>
          <a:xfrm>
            <a:off x="4572800" y="3330000"/>
            <a:ext cx="304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@for: ein &lt;li&gt; je Customer</a:t>
            </a:r>
          </a:p>
        </p:txBody>
      </p:sp>
      <p:sp>
        <p:nvSpPr>
          <p:cNvPr id="12" name="Rectangle 11"/>
          <p:cNvSpPr/>
          <p:nvPr/>
        </p:nvSpPr>
        <p:spPr>
          <a:xfrm>
            <a:off x="7867520" y="2770000"/>
            <a:ext cx="3264720" cy="131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3" name="TextBox 12"/>
          <p:cNvSpPr txBox="1"/>
          <p:nvPr/>
        </p:nvSpPr>
        <p:spPr>
          <a:xfrm>
            <a:off x="7927520" y="2810000"/>
            <a:ext cx="3144720" cy="520000"/>
          </a:xfrm>
          <a:prstGeom prst="rect">
            <a:avLst/>
          </a:prstGeom>
          <a:noFill/>
        </p:spPr>
        <p:txBody>
          <a:bodyPr wrap="square" anchor="t" lIns="70000" rIns="70000" tIns="0" bIns="0">
            <a:spAutoFit/>
          </a:bodyPr>
          <a:lstStyle/>
          <a:p>
            <a:pPr algn="l"/>
            <a:r>
              <a:rPr sz="1300" b="1">
                <a:solidFill>
                  <a:srgbClr val="2B3A42"/>
                </a:solidFill>
                <a:latin typeface="Segoe UI"/>
              </a:rPr>
              <a:t>CustomerDetailsComponent</a:t>
            </a:r>
          </a:p>
          <a:p>
            <a:pPr algn="l"/>
            <a:r>
              <a:rPr sz="1300" b="1">
                <a:solidFill>
                  <a:srgbClr val="2B3A42"/>
                </a:solidFill>
                <a:latin typeface="Segoe UI"/>
              </a:rPr>
              <a:t>&lt;customer-details&gt;</a:t>
            </a:r>
          </a:p>
        </p:txBody>
      </p:sp>
      <p:sp>
        <p:nvSpPr>
          <p:cNvPr id="14" name="Rounded Rectangle 13"/>
          <p:cNvSpPr/>
          <p:nvPr/>
        </p:nvSpPr>
        <p:spPr>
          <a:xfrm>
            <a:off x="7977520" y="3330000"/>
            <a:ext cx="304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Bild, Vorname, Stadt</a:t>
            </a:r>
          </a:p>
        </p:txBody>
      </p:sp>
    </p:spTree>
  </p:cSld>
  <p:clrMapOvr>
    <a:masterClrMapping/>
  </p:clrMapOvr>
</p:sld>
</file>

<file path=ppt/slides/slide8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Input: Daten von Eltern zu Kind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[customers] im Template der AppComponent schreibt in das input() der CustomerListComponent.</a:t>
            </a:r>
          </a:p>
        </p:txBody>
      </p:sp>
      <p:sp>
        <p:nvSpPr>
          <p:cNvPr id="4" name="Rectangle 3"/>
          <p:cNvSpPr/>
          <p:nvPr/>
        </p:nvSpPr>
        <p:spPr>
          <a:xfrm>
            <a:off x="838080" y="1650000"/>
            <a:ext cx="10514160" cy="304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AppComponent</a:t>
            </a:r>
          </a:p>
          <a:p>
            <a:pPr algn="l"/>
            <a:r>
              <a:rPr sz="1300" b="1">
                <a:solidFill>
                  <a:srgbClr val="2B3A42"/>
                </a:solidFill>
                <a:latin typeface="Segoe UI"/>
              </a:rPr>
              <a:t>&lt;customer-list [customers]="customerMockList"&gt;</a:t>
            </a:r>
          </a:p>
        </p:txBody>
      </p:sp>
      <p:sp>
        <p:nvSpPr>
          <p:cNvPr id="6" name="Rounded Rectangle 5"/>
          <p:cNvSpPr/>
          <p:nvPr/>
        </p:nvSpPr>
        <p:spPr>
          <a:xfrm>
            <a:off x="948080" y="2210000"/>
            <a:ext cx="488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customerMockList</a:t>
            </a:r>
          </a:p>
          <a:p>
            <a:pPr algn="ctr"/>
            <a:r>
              <a:rPr sz="1300" b="0">
                <a:solidFill>
                  <a:srgbClr val="2B3A42"/>
                </a:solidFill>
                <a:latin typeface="Segoe UI"/>
              </a:rPr>
              <a:t>Feld: Customer[]</a:t>
            </a:r>
          </a:p>
        </p:txBody>
      </p:sp>
      <p:sp>
        <p:nvSpPr>
          <p:cNvPr id="7" name="Rectangle 6"/>
          <p:cNvSpPr/>
          <p:nvPr/>
        </p:nvSpPr>
        <p:spPr>
          <a:xfrm>
            <a:off x="6355160" y="2210000"/>
            <a:ext cx="4887080" cy="237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8" name="TextBox 7"/>
          <p:cNvSpPr txBox="1"/>
          <p:nvPr/>
        </p:nvSpPr>
        <p:spPr>
          <a:xfrm>
            <a:off x="6415160" y="225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CustomerListComponent</a:t>
            </a:r>
          </a:p>
          <a:p>
            <a:pPr algn="l"/>
            <a:r>
              <a:rPr sz="1300" b="1">
                <a:solidFill>
                  <a:srgbClr val="2B3A42"/>
                </a:solidFill>
                <a:latin typeface="Segoe UI"/>
              </a:rPr>
              <a:t>&lt;customer-list&gt;</a:t>
            </a:r>
          </a:p>
        </p:txBody>
      </p:sp>
      <p:sp>
        <p:nvSpPr>
          <p:cNvPr id="9" name="Rounded Rectangle 8"/>
          <p:cNvSpPr/>
          <p:nvPr/>
        </p:nvSpPr>
        <p:spPr>
          <a:xfrm>
            <a:off x="6465160" y="277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customers = input&lt;Customer[]&gt;([])</a:t>
            </a:r>
          </a:p>
        </p:txBody>
      </p:sp>
      <p:sp>
        <p:nvSpPr>
          <p:cNvPr id="10" name="Rounded Rectangle 9"/>
          <p:cNvSpPr/>
          <p:nvPr/>
        </p:nvSpPr>
        <p:spPr>
          <a:xfrm>
            <a:off x="6465160" y="3830000"/>
            <a:ext cx="466708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@for (customer of customers(); ...)</a:t>
            </a:r>
          </a:p>
        </p:txBody>
      </p:sp>
      <p:cxnSp>
        <p:nvCxnSpPr>
          <p:cNvPr id="11" name="Connector 10"/>
          <p:cNvCxnSpPr/>
          <p:nvPr/>
        </p:nvCxnSpPr>
        <p:spPr>
          <a:xfrm>
            <a:off x="5835160" y="2900000"/>
            <a:ext cx="63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376364" y="2570000"/>
            <a:ext cx="1547592"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[customers]</a:t>
            </a:r>
          </a:p>
        </p:txBody>
      </p:sp>
      <p:cxnSp>
        <p:nvCxnSpPr>
          <p:cNvPr id="13" name="Connector 12"/>
          <p:cNvCxnSpPr/>
          <p:nvPr/>
        </p:nvCxnSpPr>
        <p:spPr>
          <a:xfrm>
            <a:off x="8798700" y="3410000"/>
            <a:ext cx="0" cy="42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58700" y="3480000"/>
            <a:ext cx="1547592"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customers()</a:t>
            </a:r>
          </a:p>
        </p:txBody>
      </p:sp>
    </p:spTree>
  </p:cSld>
  <p:clrMapOvr>
    <a:masterClrMapping/>
  </p:clrMapOvr>
</p:sld>
</file>

<file path=ppt/slides/slide8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Klick in der Liste bis zur Detailansicht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Output nach oben, Signal in der Eltern-Komponente, Input nach unten.</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 (&lt;li&gt;)</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CustomerList</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CustomerDetails</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762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412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(click): listItemClicked(...)</a:t>
            </a:r>
          </a:p>
        </p:txBody>
      </p:sp>
      <p:cxnSp>
        <p:nvCxnSpPr>
          <p:cNvPr id="14" name="Connector 13"/>
          <p:cNvCxnSpPr/>
          <p:nvPr/>
        </p:nvCxnSpPr>
        <p:spPr>
          <a:xfrm>
            <a:off x="4780890" y="3134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60890" y="3134000"/>
            <a:ext cx="0" cy="228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800890" y="3362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0890" y="2969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2. Auswahl merken</a:t>
            </a:r>
          </a:p>
        </p:txBody>
      </p:sp>
      <p:cxnSp>
        <p:nvCxnSpPr>
          <p:cNvPr id="18" name="Connector 17"/>
          <p:cNvCxnSpPr/>
          <p:nvPr/>
        </p:nvCxnSpPr>
        <p:spPr>
          <a:xfrm>
            <a:off x="4780890" y="3962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612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emit() → newCustomerSelected()</a:t>
            </a:r>
          </a:p>
        </p:txBody>
      </p:sp>
      <p:cxnSp>
        <p:nvCxnSpPr>
          <p:cNvPr id="20" name="Connector 19"/>
          <p:cNvCxnSpPr/>
          <p:nvPr/>
        </p:nvCxnSpPr>
        <p:spPr>
          <a:xfrm>
            <a:off x="7409430" y="4334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789430" y="4334000"/>
            <a:ext cx="0" cy="228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429430" y="4562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839430" y="4169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4. Signal setzen</a:t>
            </a:r>
          </a:p>
        </p:txBody>
      </p:sp>
      <p:cxnSp>
        <p:nvCxnSpPr>
          <p:cNvPr id="24" name="Connector 23"/>
          <p:cNvCxnSpPr/>
          <p:nvPr/>
        </p:nvCxnSpPr>
        <p:spPr>
          <a:xfrm>
            <a:off x="7409430" y="5162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752295" y="4812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5. [customer]: neuer Wert</a:t>
            </a:r>
          </a:p>
        </p:txBody>
      </p:sp>
      <p:cxnSp>
        <p:nvCxnSpPr>
          <p:cNvPr id="26" name="Connector 25"/>
          <p:cNvCxnSpPr/>
          <p:nvPr/>
        </p:nvCxnSpPr>
        <p:spPr>
          <a:xfrm flipH="1">
            <a:off x="2172350" y="5762000"/>
            <a:ext cx="78656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182350" y="5412000"/>
            <a:ext cx="7825620" cy="330000"/>
          </a:xfrm>
          <a:prstGeom prst="rect">
            <a:avLst/>
          </a:prstGeom>
          <a:noFill/>
        </p:spPr>
        <p:txBody>
          <a:bodyPr wrap="square" anchor="b" lIns="70000" rIns="70000" tIns="0" bIns="0">
            <a:spAutoFit/>
          </a:bodyPr>
          <a:lstStyle/>
          <a:p>
            <a:pPr algn="ctr"/>
            <a:r>
              <a:rPr sz="1500" b="0">
                <a:solidFill>
                  <a:srgbClr val="404B52"/>
                </a:solidFill>
                <a:latin typeface="Segoe UI"/>
              </a:rPr>
              <a:t>6. Template zeigt den neuen Kunden</a:t>
            </a:r>
          </a:p>
        </p:txBody>
      </p:sp>
    </p:spTree>
  </p:cSld>
  <p:clrMapOvr>
    <a:masterClrMapping/>
  </p:clrMapOvr>
</p:sld>
</file>

<file path=ppt/slides/slide8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Datenfluss im Container-Muster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Nur der Container kennt den Service; Filter und Liste kennen nur input() und output().</a:t>
            </a:r>
          </a:p>
        </p:txBody>
      </p:sp>
      <p:sp>
        <p:nvSpPr>
          <p:cNvPr id="4" name="Rectangle 3"/>
          <p:cNvSpPr/>
          <p:nvPr/>
        </p:nvSpPr>
        <p:spPr>
          <a:xfrm>
            <a:off x="838080" y="1650000"/>
            <a:ext cx="10514160" cy="149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CustomerPageComponent (Container)</a:t>
            </a:r>
          </a:p>
          <a:p>
            <a:pPr algn="l"/>
            <a:r>
              <a:rPr sz="1300" b="1">
                <a:solidFill>
                  <a:srgbClr val="2B3A42"/>
                </a:solidFill>
                <a:latin typeface="Segoe UI"/>
              </a:rPr>
              <a:t>inject(CustomerService)</a:t>
            </a:r>
          </a:p>
        </p:txBody>
      </p:sp>
      <p:sp>
        <p:nvSpPr>
          <p:cNvPr id="6" name="Rounded Rectangle 5"/>
          <p:cNvSpPr/>
          <p:nvPr/>
        </p:nvSpPr>
        <p:spPr>
          <a:xfrm>
            <a:off x="948080" y="2210000"/>
            <a:ext cx="308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CustomerFilterComponent</a:t>
            </a:r>
          </a:p>
          <a:p>
            <a:pPr algn="ctr"/>
            <a:r>
              <a:rPr sz="1300" b="0">
                <a:solidFill>
                  <a:srgbClr val="2B3A42"/>
                </a:solidFill>
                <a:latin typeface="Segoe UI"/>
              </a:rPr>
              <a:t>Darstellung</a:t>
            </a:r>
          </a:p>
        </p:txBody>
      </p:sp>
      <p:sp>
        <p:nvSpPr>
          <p:cNvPr id="7" name="Rounded Rectangle 6"/>
          <p:cNvSpPr/>
          <p:nvPr/>
        </p:nvSpPr>
        <p:spPr>
          <a:xfrm>
            <a:off x="4552800" y="2210000"/>
            <a:ext cx="308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Zustand im Container</a:t>
            </a:r>
          </a:p>
          <a:p>
            <a:pPr algn="ctr"/>
            <a:r>
              <a:rPr sz="1300" b="0">
                <a:solidFill>
                  <a:srgbClr val="2B3A42"/>
                </a:solidFill>
                <a:latin typeface="Segoe UI"/>
              </a:rPr>
              <a:t>filterText = signal('')</a:t>
            </a:r>
          </a:p>
          <a:p>
            <a:pPr algn="ctr"/>
            <a:r>
              <a:rPr sz="1300" b="0">
                <a:solidFill>
                  <a:srgbClr val="2B3A42"/>
                </a:solidFill>
                <a:latin typeface="Segoe UI"/>
              </a:rPr>
              <a:t>filtered = computed(...)</a:t>
            </a:r>
          </a:p>
        </p:txBody>
      </p:sp>
      <p:sp>
        <p:nvSpPr>
          <p:cNvPr id="8" name="Rounded Rectangle 7"/>
          <p:cNvSpPr/>
          <p:nvPr/>
        </p:nvSpPr>
        <p:spPr>
          <a:xfrm>
            <a:off x="8157520" y="2210000"/>
            <a:ext cx="308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CustomerListComponent</a:t>
            </a:r>
          </a:p>
          <a:p>
            <a:pPr algn="ctr"/>
            <a:r>
              <a:rPr sz="1300" b="0">
                <a:solidFill>
                  <a:srgbClr val="2B3A42"/>
                </a:solidFill>
                <a:latin typeface="Segoe UI"/>
              </a:rPr>
              <a:t>Darstellung</a:t>
            </a:r>
          </a:p>
        </p:txBody>
      </p:sp>
      <p:cxnSp>
        <p:nvCxnSpPr>
          <p:cNvPr id="9" name="Connector 8"/>
          <p:cNvCxnSpPr/>
          <p:nvPr/>
        </p:nvCxnSpPr>
        <p:spPr>
          <a:xfrm>
            <a:off x="4032800" y="2620000"/>
            <a:ext cx="52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37876" y="2290000"/>
            <a:ext cx="1309848"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(changed)</a:t>
            </a:r>
          </a:p>
        </p:txBody>
      </p:sp>
      <p:cxnSp>
        <p:nvCxnSpPr>
          <p:cNvPr id="11" name="Connector 10"/>
          <p:cNvCxnSpPr/>
          <p:nvPr/>
        </p:nvCxnSpPr>
        <p:spPr>
          <a:xfrm>
            <a:off x="7637520" y="2620000"/>
            <a:ext cx="52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123724" y="2290000"/>
            <a:ext cx="1547592"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[customers]</a:t>
            </a:r>
          </a:p>
        </p:txBody>
      </p:sp>
    </p:spTree>
  </p:cSld>
  <p:clrMapOvr>
    <a:masterClrMapping/>
  </p:clrMapOvr>
</p:sld>
</file>

<file path=ppt/slides/slide8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Service als stabile Schnittstelle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Komponente kennt nur getAll(); woher die Daten kommen, entscheidet allein der Service.</a:t>
            </a:r>
          </a:p>
        </p:txBody>
      </p:sp>
      <p:sp>
        <p:nvSpPr>
          <p:cNvPr id="4" name="Rectangle 3"/>
          <p:cNvSpPr/>
          <p:nvPr/>
        </p:nvSpPr>
        <p:spPr>
          <a:xfrm>
            <a:off x="838080" y="1650000"/>
            <a:ext cx="10514160" cy="294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Invoice-App</a:t>
            </a:r>
          </a:p>
        </p:txBody>
      </p:sp>
      <p:sp>
        <p:nvSpPr>
          <p:cNvPr id="6" name="Rectangle 5"/>
          <p:cNvSpPr/>
          <p:nvPr/>
        </p:nvSpPr>
        <p:spPr>
          <a:xfrm>
            <a:off x="948080" y="1980000"/>
            <a:ext cx="3084720" cy="250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2964720" cy="290000"/>
          </a:xfrm>
          <a:prstGeom prst="rect">
            <a:avLst/>
          </a:prstGeom>
          <a:noFill/>
        </p:spPr>
        <p:txBody>
          <a:bodyPr wrap="square" anchor="t" lIns="70000" rIns="70000" tIns="0" bIns="0">
            <a:spAutoFit/>
          </a:bodyPr>
          <a:lstStyle/>
          <a:p>
            <a:pPr algn="l"/>
            <a:r>
              <a:rPr sz="1300" b="1">
                <a:solidFill>
                  <a:srgbClr val="2B3A42"/>
                </a:solidFill>
                <a:latin typeface="Segoe UI"/>
              </a:rPr>
              <a:t>Komponenten</a:t>
            </a:r>
          </a:p>
        </p:txBody>
      </p:sp>
      <p:sp>
        <p:nvSpPr>
          <p:cNvPr id="8" name="Rounded Rectangle 7"/>
          <p:cNvSpPr/>
          <p:nvPr/>
        </p:nvSpPr>
        <p:spPr>
          <a:xfrm>
            <a:off x="1058080" y="231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AppComponent</a:t>
            </a:r>
          </a:p>
          <a:p>
            <a:pPr algn="ctr"/>
            <a:r>
              <a:rPr sz="1300" b="0">
                <a:solidFill>
                  <a:srgbClr val="2B3A42"/>
                </a:solidFill>
                <a:latin typeface="Segoe UI"/>
              </a:rPr>
              <a:t>customers = getAll()</a:t>
            </a:r>
          </a:p>
        </p:txBody>
      </p:sp>
      <p:sp>
        <p:nvSpPr>
          <p:cNvPr id="9" name="Rounded Rectangle 8"/>
          <p:cNvSpPr/>
          <p:nvPr/>
        </p:nvSpPr>
        <p:spPr>
          <a:xfrm>
            <a:off x="1058080" y="355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weitere Komponenten</a:t>
            </a:r>
          </a:p>
          <a:p>
            <a:pPr algn="ctr"/>
            <a:r>
              <a:rPr sz="1300" b="0">
                <a:solidFill>
                  <a:srgbClr val="2B3A42"/>
                </a:solidFill>
                <a:latin typeface="Segoe UI"/>
              </a:rPr>
              <a:t>z. B. später eine Suche</a:t>
            </a:r>
          </a:p>
        </p:txBody>
      </p:sp>
      <p:sp>
        <p:nvSpPr>
          <p:cNvPr id="10" name="Rectangle 9"/>
          <p:cNvSpPr/>
          <p:nvPr/>
        </p:nvSpPr>
        <p:spPr>
          <a:xfrm>
            <a:off x="4552800" y="1980000"/>
            <a:ext cx="3084720" cy="250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1" name="TextBox 10"/>
          <p:cNvSpPr txBox="1"/>
          <p:nvPr/>
        </p:nvSpPr>
        <p:spPr>
          <a:xfrm>
            <a:off x="4612800" y="2020000"/>
            <a:ext cx="2964720" cy="520000"/>
          </a:xfrm>
          <a:prstGeom prst="rect">
            <a:avLst/>
          </a:prstGeom>
          <a:noFill/>
        </p:spPr>
        <p:txBody>
          <a:bodyPr wrap="square" anchor="t" lIns="70000" rIns="70000" tIns="0" bIns="0">
            <a:spAutoFit/>
          </a:bodyPr>
          <a:lstStyle/>
          <a:p>
            <a:pPr algn="l"/>
            <a:r>
              <a:rPr sz="1300" b="1">
                <a:solidFill>
                  <a:srgbClr val="2B3A42"/>
                </a:solidFill>
                <a:latin typeface="Segoe UI"/>
              </a:rPr>
              <a:t>CustomerService</a:t>
            </a:r>
          </a:p>
          <a:p>
            <a:pPr algn="l"/>
            <a:r>
              <a:rPr sz="1300" b="1">
                <a:solidFill>
                  <a:srgbClr val="2B3A42"/>
                </a:solidFill>
                <a:latin typeface="Segoe UI"/>
              </a:rPr>
              <a:t>@Injectable({ providedIn: 'root' })</a:t>
            </a:r>
          </a:p>
        </p:txBody>
      </p:sp>
      <p:sp>
        <p:nvSpPr>
          <p:cNvPr id="12" name="Rounded Rectangle 11"/>
          <p:cNvSpPr/>
          <p:nvPr/>
        </p:nvSpPr>
        <p:spPr>
          <a:xfrm>
            <a:off x="4662800" y="2540000"/>
            <a:ext cx="2864720"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getAll(): Customer[]</a:t>
            </a:r>
          </a:p>
        </p:txBody>
      </p:sp>
      <p:sp>
        <p:nvSpPr>
          <p:cNvPr id="13" name="Rectangle 12"/>
          <p:cNvSpPr/>
          <p:nvPr/>
        </p:nvSpPr>
        <p:spPr>
          <a:xfrm>
            <a:off x="8157520" y="1980000"/>
            <a:ext cx="3084720" cy="250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4" name="TextBox 13"/>
          <p:cNvSpPr txBox="1"/>
          <p:nvPr/>
        </p:nvSpPr>
        <p:spPr>
          <a:xfrm>
            <a:off x="8217520" y="2020000"/>
            <a:ext cx="2964720" cy="290000"/>
          </a:xfrm>
          <a:prstGeom prst="rect">
            <a:avLst/>
          </a:prstGeom>
          <a:noFill/>
        </p:spPr>
        <p:txBody>
          <a:bodyPr wrap="square" anchor="t" lIns="70000" rIns="70000" tIns="0" bIns="0">
            <a:spAutoFit/>
          </a:bodyPr>
          <a:lstStyle/>
          <a:p>
            <a:pPr algn="l"/>
            <a:r>
              <a:rPr sz="1300" b="1">
                <a:solidFill>
                  <a:srgbClr val="2B3A42"/>
                </a:solidFill>
                <a:latin typeface="Segoe UI"/>
              </a:rPr>
              <a:t>Datenquelle (austauschbar)</a:t>
            </a:r>
          </a:p>
        </p:txBody>
      </p:sp>
      <p:sp>
        <p:nvSpPr>
          <p:cNvPr id="15" name="Rounded Rectangle 14"/>
          <p:cNvSpPr/>
          <p:nvPr/>
        </p:nvSpPr>
        <p:spPr>
          <a:xfrm>
            <a:off x="8267520" y="231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customer.mock.ts</a:t>
            </a:r>
          </a:p>
          <a:p>
            <a:pPr algn="ctr"/>
            <a:r>
              <a:rPr sz="1300" b="0">
                <a:solidFill>
                  <a:srgbClr val="2B3A42"/>
                </a:solidFill>
                <a:latin typeface="Segoe UI"/>
              </a:rPr>
              <a:t>heute: Testdaten</a:t>
            </a:r>
          </a:p>
        </p:txBody>
      </p:sp>
      <p:sp>
        <p:nvSpPr>
          <p:cNvPr id="16" name="Rounded Rectangle 15"/>
          <p:cNvSpPr/>
          <p:nvPr/>
        </p:nvSpPr>
        <p:spPr>
          <a:xfrm>
            <a:off x="8267520" y="3550000"/>
            <a:ext cx="286472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HttpClient → Server</a:t>
            </a:r>
          </a:p>
          <a:p>
            <a:pPr algn="ctr"/>
            <a:r>
              <a:rPr sz="1300" b="0">
                <a:solidFill>
                  <a:srgbClr val="2B3A42"/>
                </a:solidFill>
                <a:latin typeface="Segoe UI"/>
              </a:rPr>
              <a:t>später: echte Daten</a:t>
            </a:r>
          </a:p>
        </p:txBody>
      </p:sp>
      <p:cxnSp>
        <p:nvCxnSpPr>
          <p:cNvPr id="17" name="Connector 16"/>
          <p:cNvCxnSpPr/>
          <p:nvPr/>
        </p:nvCxnSpPr>
        <p:spPr>
          <a:xfrm>
            <a:off x="3922800" y="2835000"/>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97312" y="2505000"/>
            <a:ext cx="1190976"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ruft auf</a:t>
            </a:r>
          </a:p>
        </p:txBody>
      </p:sp>
      <p:cxnSp>
        <p:nvCxnSpPr>
          <p:cNvPr id="19" name="Connector 18"/>
          <p:cNvCxnSpPr/>
          <p:nvPr/>
        </p:nvCxnSpPr>
        <p:spPr>
          <a:xfrm>
            <a:off x="7527520" y="2835000"/>
            <a:ext cx="74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80340" y="2505000"/>
            <a:ext cx="834360"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liest</a:t>
            </a:r>
          </a:p>
        </p:txBody>
      </p:sp>
      <p:cxnSp>
        <p:nvCxnSpPr>
          <p:cNvPr id="21" name="Connector 20"/>
          <p:cNvCxnSpPr/>
          <p:nvPr/>
        </p:nvCxnSpPr>
        <p:spPr>
          <a:xfrm>
            <a:off x="7527520" y="2860000"/>
            <a:ext cx="740000" cy="1100000"/>
          </a:xfrm>
          <a:prstGeom prst="line">
            <a:avLst/>
          </a:prstGeom>
          <a:ln w="25400">
            <a:solidFill>
              <a:srgbClr val="1E9E7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20904" y="3080000"/>
            <a:ext cx="953232" cy="280000"/>
          </a:xfrm>
          <a:prstGeom prst="rect">
            <a:avLst/>
          </a:prstGeom>
          <a:solidFill>
            <a:srgbClr val="FFFFFF"/>
          </a:solidFill>
        </p:spPr>
        <p:txBody>
          <a:bodyPr wrap="none" anchor="ctr" lIns="70000" rIns="70000" tIns="0" bIns="0">
            <a:spAutoFit/>
          </a:bodyPr>
          <a:lstStyle/>
          <a:p>
            <a:pPr algn="ctr"/>
            <a:r>
              <a:rPr sz="1200" b="1">
                <a:solidFill>
                  <a:srgbClr val="1E9E78"/>
                </a:solidFill>
                <a:latin typeface="Segoe UI"/>
              </a:rPr>
              <a:t>später</a:t>
            </a:r>
          </a:p>
        </p:txBody>
      </p:sp>
    </p:spTree>
  </p:cSld>
  <p:clrMapOvr>
    <a:masterClrMapping/>
  </p:clrMapOvr>
</p:sld>
</file>

<file path=ppt/slides/slide8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inject(CustomerService)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Angular sucht den Provider von unten nach oben und erzeugt die Instanz nur beim ersten Mal.</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Angular</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AppComponent</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Element-Injector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Root-Injector</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new AppComponent()</a:t>
            </a:r>
          </a:p>
        </p:txBody>
      </p:sp>
      <p:cxnSp>
        <p:nvCxnSpPr>
          <p:cNvPr id="16" name="Connector 15"/>
          <p:cNvCxnSpPr/>
          <p:nvPr/>
        </p:nvCxnSpPr>
        <p:spPr>
          <a:xfrm>
            <a:off x="3992328" y="30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inject(CustomerService)</a:t>
            </a:r>
          </a:p>
        </p:txBody>
      </p:sp>
      <p:cxnSp>
        <p:nvCxnSpPr>
          <p:cNvPr id="18" name="Connector 17"/>
          <p:cNvCxnSpPr/>
          <p:nvPr/>
        </p:nvCxnSpPr>
        <p:spPr>
          <a:xfrm>
            <a:off x="6095160" y="32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75160" y="32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115160" y="34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25160" y="31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3. kein Provider hier</a:t>
            </a:r>
          </a:p>
        </p:txBody>
      </p:sp>
      <p:cxnSp>
        <p:nvCxnSpPr>
          <p:cNvPr id="22" name="Connector 21"/>
          <p:cNvCxnSpPr/>
          <p:nvPr/>
        </p:nvCxnSpPr>
        <p:spPr>
          <a:xfrm>
            <a:off x="6095160" y="38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69452" y="34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beim Eltern-Injector fragen</a:t>
            </a:r>
          </a:p>
        </p:txBody>
      </p:sp>
      <p:cxnSp>
        <p:nvCxnSpPr>
          <p:cNvPr id="24" name="Connector 23"/>
          <p:cNvCxnSpPr/>
          <p:nvPr/>
        </p:nvCxnSpPr>
        <p:spPr>
          <a:xfrm>
            <a:off x="8197992" y="42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672284" y="38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5. erstes Mal: new CustomerService()</a:t>
            </a:r>
          </a:p>
        </p:txBody>
      </p:sp>
      <p:cxnSp>
        <p:nvCxnSpPr>
          <p:cNvPr id="26" name="Connector 25"/>
          <p:cNvCxnSpPr/>
          <p:nvPr/>
        </p:nvCxnSpPr>
        <p:spPr>
          <a:xfrm>
            <a:off x="8197992" y="44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77992" y="44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8217992" y="46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627992" y="43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6. Instanz merken (Singleton)</a:t>
            </a:r>
          </a:p>
        </p:txBody>
      </p:sp>
      <p:cxnSp>
        <p:nvCxnSpPr>
          <p:cNvPr id="30" name="Connector 29"/>
          <p:cNvCxnSpPr/>
          <p:nvPr/>
        </p:nvCxnSpPr>
        <p:spPr>
          <a:xfrm flipH="1">
            <a:off x="4012328" y="5018000"/>
            <a:ext cx="4185664"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22328" y="4668000"/>
            <a:ext cx="4145664" cy="330000"/>
          </a:xfrm>
          <a:prstGeom prst="rect">
            <a:avLst/>
          </a:prstGeom>
          <a:noFill/>
        </p:spPr>
        <p:txBody>
          <a:bodyPr wrap="square" anchor="b" lIns="70000" rIns="70000" tIns="0" bIns="0">
            <a:spAutoFit/>
          </a:bodyPr>
          <a:lstStyle/>
          <a:p>
            <a:pPr algn="ctr"/>
            <a:r>
              <a:rPr sz="1300" b="0">
                <a:solidFill>
                  <a:srgbClr val="404B52"/>
                </a:solidFill>
                <a:latin typeface="Segoe UI"/>
              </a:rPr>
              <a:t>7. Instanz zurück</a:t>
            </a:r>
          </a:p>
        </p:txBody>
      </p:sp>
      <p:cxnSp>
        <p:nvCxnSpPr>
          <p:cNvPr id="32" name="Connector 31"/>
          <p:cNvCxnSpPr/>
          <p:nvPr/>
        </p:nvCxnSpPr>
        <p:spPr>
          <a:xfrm>
            <a:off x="3992328" y="54180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022328" y="5068000"/>
            <a:ext cx="6248496" cy="330000"/>
          </a:xfrm>
          <a:prstGeom prst="rect">
            <a:avLst/>
          </a:prstGeom>
          <a:noFill/>
        </p:spPr>
        <p:txBody>
          <a:bodyPr wrap="square" anchor="b" lIns="70000" rIns="70000" tIns="0" bIns="0">
            <a:spAutoFit/>
          </a:bodyPr>
          <a:lstStyle/>
          <a:p>
            <a:pPr algn="ctr"/>
            <a:r>
              <a:rPr sz="1300" b="0">
                <a:solidFill>
                  <a:srgbClr val="2B3A42"/>
                </a:solidFill>
                <a:latin typeface="Segoe UI"/>
              </a:rPr>
              <a:t>8. getAll()</a:t>
            </a:r>
          </a:p>
        </p:txBody>
      </p:sp>
      <p:cxnSp>
        <p:nvCxnSpPr>
          <p:cNvPr id="34" name="Connector 33"/>
          <p:cNvCxnSpPr/>
          <p:nvPr/>
        </p:nvCxnSpPr>
        <p:spPr>
          <a:xfrm flipH="1">
            <a:off x="4012328" y="5818000"/>
            <a:ext cx="6288496"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22328" y="5468000"/>
            <a:ext cx="6248496" cy="330000"/>
          </a:xfrm>
          <a:prstGeom prst="rect">
            <a:avLst/>
          </a:prstGeom>
          <a:noFill/>
        </p:spPr>
        <p:txBody>
          <a:bodyPr wrap="square" anchor="b" lIns="70000" rIns="70000" tIns="0" bIns="0">
            <a:spAutoFit/>
          </a:bodyPr>
          <a:lstStyle/>
          <a:p>
            <a:pPr algn="ctr"/>
            <a:r>
              <a:rPr sz="1300" b="0">
                <a:solidFill>
                  <a:srgbClr val="404B52"/>
                </a:solidFill>
                <a:latin typeface="Segoe UI"/>
              </a:rPr>
              <a:t>9. Customer[]</a:t>
            </a:r>
          </a:p>
        </p:txBody>
      </p:sp>
    </p:spTree>
  </p:cSld>
  <p:clrMapOvr>
    <a:masterClrMapping/>
  </p:clrMapOvr>
</p:sld>
</file>

<file path=ppt/slides/slide8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Injector-Hierarchie der Invoice-App</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Ein Provider an einer Komponente gilt für sie und ihre Kinder; sonst kommt die Instanz aus root.</a:t>
            </a:r>
          </a:p>
        </p:txBody>
      </p:sp>
      <p:sp>
        <p:nvSpPr>
          <p:cNvPr id="4" name="Rectangle 3"/>
          <p:cNvSpPr/>
          <p:nvPr/>
        </p:nvSpPr>
        <p:spPr>
          <a:xfrm>
            <a:off x="838080" y="1650000"/>
            <a:ext cx="10514160" cy="283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Root-Injector</a:t>
            </a:r>
          </a:p>
          <a:p>
            <a:pPr algn="l"/>
            <a:r>
              <a:rPr sz="1300" b="1">
                <a:solidFill>
                  <a:srgbClr val="2B3A42"/>
                </a:solidFill>
                <a:latin typeface="Segoe UI"/>
              </a:rPr>
              <a:t>providedIn: 'root' und providers in main.ts – z. B. CustomerService (1 Instanz)</a:t>
            </a:r>
          </a:p>
        </p:txBody>
      </p:sp>
      <p:sp>
        <p:nvSpPr>
          <p:cNvPr id="6" name="Rectangle 5"/>
          <p:cNvSpPr/>
          <p:nvPr/>
        </p:nvSpPr>
        <p:spPr>
          <a:xfrm>
            <a:off x="948080" y="2210000"/>
            <a:ext cx="10294160" cy="216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250000"/>
            <a:ext cx="10174160" cy="520000"/>
          </a:xfrm>
          <a:prstGeom prst="rect">
            <a:avLst/>
          </a:prstGeom>
          <a:noFill/>
        </p:spPr>
        <p:txBody>
          <a:bodyPr wrap="square" anchor="t" lIns="70000" rIns="70000" tIns="0" bIns="0">
            <a:spAutoFit/>
          </a:bodyPr>
          <a:lstStyle/>
          <a:p>
            <a:pPr algn="l"/>
            <a:r>
              <a:rPr sz="1300" b="1">
                <a:solidFill>
                  <a:srgbClr val="2B3A42"/>
                </a:solidFill>
                <a:latin typeface="Segoe UI"/>
              </a:rPr>
              <a:t>Injector der AppComponent</a:t>
            </a:r>
          </a:p>
          <a:p>
            <a:pPr algn="l"/>
            <a:r>
              <a:rPr sz="1300" b="1">
                <a:solidFill>
                  <a:srgbClr val="2B3A42"/>
                </a:solidFill>
                <a:latin typeface="Segoe UI"/>
              </a:rPr>
              <a:t>keine eigenen providers</a:t>
            </a:r>
          </a:p>
        </p:txBody>
      </p:sp>
      <p:sp>
        <p:nvSpPr>
          <p:cNvPr id="8" name="Rounded Rectangle 7"/>
          <p:cNvSpPr/>
          <p:nvPr/>
        </p:nvSpPr>
        <p:spPr>
          <a:xfrm>
            <a:off x="1058080" y="2770000"/>
            <a:ext cx="49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Injector CustomerListComponent</a:t>
            </a:r>
          </a:p>
          <a:p>
            <a:pPr algn="ctr"/>
            <a:r>
              <a:rPr sz="1300" b="0">
                <a:solidFill>
                  <a:srgbClr val="2B3A42"/>
                </a:solidFill>
                <a:latin typeface="Segoe UI"/>
              </a:rPr>
              <a:t>inject(CustomerService)</a:t>
            </a:r>
          </a:p>
          <a:p>
            <a:pPr algn="ctr"/>
            <a:r>
              <a:rPr sz="1300" b="0">
                <a:solidFill>
                  <a:srgbClr val="2B3A42"/>
                </a:solidFill>
                <a:latin typeface="Segoe UI"/>
              </a:rPr>
              <a:t>→ Instanz aus root</a:t>
            </a:r>
          </a:p>
        </p:txBody>
      </p:sp>
      <p:sp>
        <p:nvSpPr>
          <p:cNvPr id="9" name="Rectangle 8"/>
          <p:cNvSpPr/>
          <p:nvPr/>
        </p:nvSpPr>
        <p:spPr>
          <a:xfrm>
            <a:off x="6165160" y="2770000"/>
            <a:ext cx="4967080" cy="149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0" name="TextBox 9"/>
          <p:cNvSpPr txBox="1"/>
          <p:nvPr/>
        </p:nvSpPr>
        <p:spPr>
          <a:xfrm>
            <a:off x="6225160" y="2810000"/>
            <a:ext cx="4847080" cy="520000"/>
          </a:xfrm>
          <a:prstGeom prst="rect">
            <a:avLst/>
          </a:prstGeom>
          <a:noFill/>
        </p:spPr>
        <p:txBody>
          <a:bodyPr wrap="square" anchor="t" lIns="70000" rIns="70000" tIns="0" bIns="0">
            <a:spAutoFit/>
          </a:bodyPr>
          <a:lstStyle/>
          <a:p>
            <a:pPr algn="l"/>
            <a:r>
              <a:rPr sz="1300" b="1">
                <a:solidFill>
                  <a:srgbClr val="2B3A42"/>
                </a:solidFill>
                <a:latin typeface="Segoe UI"/>
              </a:rPr>
              <a:t>Injector CustomerDetailsComponent</a:t>
            </a:r>
          </a:p>
          <a:p>
            <a:pPr algn="l"/>
            <a:r>
              <a:rPr sz="1300" b="1">
                <a:solidFill>
                  <a:srgbClr val="2B3A42"/>
                </a:solidFill>
                <a:latin typeface="Segoe UI"/>
              </a:rPr>
              <a:t>providers: [ConsoleLogger]</a:t>
            </a:r>
          </a:p>
        </p:txBody>
      </p:sp>
      <p:sp>
        <p:nvSpPr>
          <p:cNvPr id="11" name="Rounded Rectangle 10"/>
          <p:cNvSpPr/>
          <p:nvPr/>
        </p:nvSpPr>
        <p:spPr>
          <a:xfrm>
            <a:off x="6275160" y="3330000"/>
            <a:ext cx="474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eigenes ConsoleLogger-Objekt</a:t>
            </a:r>
          </a:p>
          <a:p>
            <a:pPr algn="ctr"/>
            <a:r>
              <a:rPr sz="1300" b="1">
                <a:solidFill>
                  <a:srgbClr val="FFFFFF"/>
                </a:solidFill>
                <a:latin typeface="Segoe UI"/>
              </a:rPr>
              <a:t>nur hier und in Kindern</a:t>
            </a:r>
          </a:p>
        </p:txBody>
      </p:sp>
    </p:spTree>
  </p:cSld>
  <p:clrMapOvr>
    <a:masterClrMapping/>
  </p:clrMapOvr>
</p:sld>
</file>

<file path=ppt/slides/slide8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Lebenszyklus einer Kind-Komponente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Erst erzeugen, dann Inputs setzen, dann ngOnInit – zum Schluss ngOnDestroy.</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 (Eltern)</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CustomerDetails</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DOM</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0890" y="258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23755" y="226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1. constructor() – Felder und inject()</a:t>
            </a:r>
          </a:p>
        </p:txBody>
      </p:sp>
      <p:cxnSp>
        <p:nvCxnSpPr>
          <p:cNvPr id="14" name="Connector 13"/>
          <p:cNvCxnSpPr/>
          <p:nvPr/>
        </p:nvCxnSpPr>
        <p:spPr>
          <a:xfrm>
            <a:off x="2152350" y="294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495215" y="262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2. Wert für [customer] liefern</a:t>
            </a:r>
          </a:p>
        </p:txBody>
      </p:sp>
      <p:cxnSp>
        <p:nvCxnSpPr>
          <p:cNvPr id="16" name="Connector 15"/>
          <p:cNvCxnSpPr/>
          <p:nvPr/>
        </p:nvCxnSpPr>
        <p:spPr>
          <a:xfrm>
            <a:off x="4780890" y="330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23755" y="298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3. Input setzen, ngOnChanges()</a:t>
            </a:r>
          </a:p>
        </p:txBody>
      </p:sp>
      <p:cxnSp>
        <p:nvCxnSpPr>
          <p:cNvPr id="18" name="Connector 17"/>
          <p:cNvCxnSpPr/>
          <p:nvPr/>
        </p:nvCxnSpPr>
        <p:spPr>
          <a:xfrm>
            <a:off x="4780890" y="366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34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4. ngOnInit() – einmalig, Inputs sind da</a:t>
            </a:r>
          </a:p>
        </p:txBody>
      </p:sp>
      <p:cxnSp>
        <p:nvCxnSpPr>
          <p:cNvPr id="20" name="Connector 19"/>
          <p:cNvCxnSpPr/>
          <p:nvPr/>
        </p:nvCxnSpPr>
        <p:spPr>
          <a:xfrm>
            <a:off x="4780890" y="402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23755" y="370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5. ngDoCheck(), ngAfterContentInit()</a:t>
            </a:r>
          </a:p>
        </p:txBody>
      </p:sp>
      <p:cxnSp>
        <p:nvCxnSpPr>
          <p:cNvPr id="22" name="Connector 21"/>
          <p:cNvCxnSpPr/>
          <p:nvPr/>
        </p:nvCxnSpPr>
        <p:spPr>
          <a:xfrm>
            <a:off x="4780890" y="43892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810890" y="4069200"/>
            <a:ext cx="5197080" cy="300000"/>
          </a:xfrm>
          <a:prstGeom prst="rect">
            <a:avLst/>
          </a:prstGeom>
          <a:noFill/>
        </p:spPr>
        <p:txBody>
          <a:bodyPr wrap="square" anchor="b" lIns="70000" rIns="70000" tIns="0" bIns="0">
            <a:spAutoFit/>
          </a:bodyPr>
          <a:lstStyle/>
          <a:p>
            <a:pPr algn="ctr"/>
            <a:r>
              <a:rPr sz="1500" b="0">
                <a:solidFill>
                  <a:srgbClr val="2B3A42"/>
                </a:solidFill>
                <a:latin typeface="Segoe UI"/>
              </a:rPr>
              <a:t>6. Template rendern</a:t>
            </a:r>
          </a:p>
        </p:txBody>
      </p:sp>
      <p:cxnSp>
        <p:nvCxnSpPr>
          <p:cNvPr id="24" name="Connector 23"/>
          <p:cNvCxnSpPr/>
          <p:nvPr/>
        </p:nvCxnSpPr>
        <p:spPr>
          <a:xfrm>
            <a:off x="4780890" y="474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123755" y="442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7. ngAfterViewInit() – Ansicht steht</a:t>
            </a:r>
          </a:p>
        </p:txBody>
      </p:sp>
      <p:cxnSp>
        <p:nvCxnSpPr>
          <p:cNvPr id="26" name="Connector 25"/>
          <p:cNvCxnSpPr/>
          <p:nvPr/>
        </p:nvCxnSpPr>
        <p:spPr>
          <a:xfrm>
            <a:off x="2152350" y="510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95215" y="478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8. neuer Wert für [customer]</a:t>
            </a:r>
          </a:p>
        </p:txBody>
      </p:sp>
      <p:cxnSp>
        <p:nvCxnSpPr>
          <p:cNvPr id="28" name="Connector 27"/>
          <p:cNvCxnSpPr/>
          <p:nvPr/>
        </p:nvCxnSpPr>
        <p:spPr>
          <a:xfrm>
            <a:off x="4780890" y="546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23755" y="514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9. ngOnChanges(), Ansicht aktualisieren</a:t>
            </a:r>
          </a:p>
        </p:txBody>
      </p:sp>
      <p:cxnSp>
        <p:nvCxnSpPr>
          <p:cNvPr id="30" name="Connector 29"/>
          <p:cNvCxnSpPr/>
          <p:nvPr/>
        </p:nvCxnSpPr>
        <p:spPr>
          <a:xfrm>
            <a:off x="4780890" y="58292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23755" y="5509200"/>
            <a:ext cx="3942810" cy="300000"/>
          </a:xfrm>
          <a:prstGeom prst="rect">
            <a:avLst/>
          </a:prstGeom>
          <a:noFill/>
        </p:spPr>
        <p:txBody>
          <a:bodyPr wrap="square" anchor="b" lIns="70000" rIns="70000" tIns="0" bIns="0">
            <a:spAutoFit/>
          </a:bodyPr>
          <a:lstStyle/>
          <a:p>
            <a:pPr algn="ctr"/>
            <a:r>
              <a:rPr sz="1500" b="0">
                <a:solidFill>
                  <a:srgbClr val="2B3A42"/>
                </a:solidFill>
                <a:latin typeface="Segoe UI"/>
              </a:rPr>
              <a:t>10. ngOnDestroy() – Komponente entfernt</a:t>
            </a:r>
          </a:p>
        </p:txBody>
      </p:sp>
    </p:spTree>
  </p:cSld>
  <p:clrMapOvr>
    <a:masterClrMapping/>
  </p:clrMapOvr>
</p:sld>
</file>

<file path=ppt/slides/slide8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Pipes im Template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Angular ruft transform() auf; eine reine Pipe rechnet nur neu, wenn sich ihr Eingabewert ändert.</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Template (CustomerDetails)</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DatePipe</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CurrentActive-</a:t>
            </a:r>
          </a:p>
          <a:p>
            <a:pPr algn="ctr"/>
            <a:r>
              <a:rPr sz="1600" b="1">
                <a:solidFill>
                  <a:srgbClr val="FFFFFF"/>
                </a:solidFill>
                <a:latin typeface="Segoe UI"/>
              </a:rPr>
              <a:t>CustomersPipe</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6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3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 lastOrderDate | date:'mediumDate' }}</a:t>
            </a:r>
          </a:p>
        </p:txBody>
      </p:sp>
      <p:cxnSp>
        <p:nvCxnSpPr>
          <p:cNvPr id="14" name="Connector 13"/>
          <p:cNvCxnSpPr/>
          <p:nvPr/>
        </p:nvCxnSpPr>
        <p:spPr>
          <a:xfrm>
            <a:off x="4780890" y="31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23755" y="27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transform(date, 'mediumDate')</a:t>
            </a:r>
          </a:p>
        </p:txBody>
      </p:sp>
      <p:cxnSp>
        <p:nvCxnSpPr>
          <p:cNvPr id="16" name="Connector 15"/>
          <p:cNvCxnSpPr/>
          <p:nvPr/>
        </p:nvCxnSpPr>
        <p:spPr>
          <a:xfrm flipH="1">
            <a:off x="4800890" y="355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23755" y="320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3. Text, z. B. "Oct 12, 2026"</a:t>
            </a:r>
          </a:p>
        </p:txBody>
      </p:sp>
      <p:cxnSp>
        <p:nvCxnSpPr>
          <p:cNvPr id="18" name="Connector 17"/>
          <p:cNvCxnSpPr/>
          <p:nvPr/>
        </p:nvCxnSpPr>
        <p:spPr>
          <a:xfrm flipH="1">
            <a:off x="2172350" y="40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495215" y="36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4. Text im DOM anzeigen</a:t>
            </a:r>
          </a:p>
        </p:txBody>
      </p:sp>
      <p:cxnSp>
        <p:nvCxnSpPr>
          <p:cNvPr id="20" name="Connector 19"/>
          <p:cNvCxnSpPr/>
          <p:nvPr/>
        </p:nvCxnSpPr>
        <p:spPr>
          <a:xfrm>
            <a:off x="2152350" y="44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95215" y="41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5. Pipe currentActiveCustomers:5</a:t>
            </a:r>
          </a:p>
        </p:txBody>
      </p:sp>
      <p:cxnSp>
        <p:nvCxnSpPr>
          <p:cNvPr id="22" name="Connector 21"/>
          <p:cNvCxnSpPr/>
          <p:nvPr/>
        </p:nvCxnSpPr>
        <p:spPr>
          <a:xfrm>
            <a:off x="4780890" y="49040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810890" y="45540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6. transform(date, 5)</a:t>
            </a:r>
          </a:p>
        </p:txBody>
      </p:sp>
      <p:cxnSp>
        <p:nvCxnSpPr>
          <p:cNvPr id="24" name="Connector 23"/>
          <p:cNvCxnSpPr/>
          <p:nvPr/>
        </p:nvCxnSpPr>
        <p:spPr>
          <a:xfrm flipH="1">
            <a:off x="4800890" y="5354000"/>
            <a:ext cx="523708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810890" y="5004000"/>
            <a:ext cx="5197080" cy="330000"/>
          </a:xfrm>
          <a:prstGeom prst="rect">
            <a:avLst/>
          </a:prstGeom>
          <a:noFill/>
        </p:spPr>
        <p:txBody>
          <a:bodyPr wrap="square" anchor="b" lIns="70000" rIns="70000" tIns="0" bIns="0">
            <a:spAutoFit/>
          </a:bodyPr>
          <a:lstStyle/>
          <a:p>
            <a:pPr algn="ctr"/>
            <a:r>
              <a:rPr sz="1500" b="0">
                <a:solidFill>
                  <a:srgbClr val="404B52"/>
                </a:solidFill>
                <a:latin typeface="Segoe UI"/>
              </a:rPr>
              <a:t>7. true oder false</a:t>
            </a:r>
          </a:p>
        </p:txBody>
      </p:sp>
      <p:cxnSp>
        <p:nvCxnSpPr>
          <p:cNvPr id="26" name="Connector 25"/>
          <p:cNvCxnSpPr/>
          <p:nvPr/>
        </p:nvCxnSpPr>
        <p:spPr>
          <a:xfrm flipH="1">
            <a:off x="2172350" y="58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95215" y="54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8. Klasse active setzen oder entfernen</a:t>
            </a:r>
          </a:p>
        </p:txBody>
      </p:sp>
    </p:spTree>
  </p:cSld>
  <p:clrMapOvr>
    <a:masterClrMapping/>
  </p:clrMapOvr>
</p:sld>
</file>

<file path=ppt/slides/slide8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Callback, Promise und Observable im Vergleich</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Drei Wege, ein spätes Ergebnis zu bekommen: Wer startet wann, wie viele Werte kommen, kann man abbrechen?</a:t>
            </a:r>
          </a:p>
        </p:txBody>
      </p:sp>
      <p:sp>
        <p:nvSpPr>
          <p:cNvPr id="4" name="Rectangle 3"/>
          <p:cNvSpPr/>
          <p:nvPr/>
        </p:nvSpPr>
        <p:spPr>
          <a:xfrm>
            <a:off x="838080" y="1650000"/>
            <a:ext cx="10514160" cy="377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Asynchrones Ergebnis, z. B. Antwort vom Server</a:t>
            </a:r>
          </a:p>
        </p:txBody>
      </p:sp>
      <p:sp>
        <p:nvSpPr>
          <p:cNvPr id="6" name="Rectangle 5"/>
          <p:cNvSpPr/>
          <p:nvPr/>
        </p:nvSpPr>
        <p:spPr>
          <a:xfrm>
            <a:off x="948080" y="1980000"/>
            <a:ext cx="3338053" cy="33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3218053" cy="290000"/>
          </a:xfrm>
          <a:prstGeom prst="rect">
            <a:avLst/>
          </a:prstGeom>
          <a:noFill/>
        </p:spPr>
        <p:txBody>
          <a:bodyPr wrap="square" anchor="t" lIns="70000" rIns="70000" tIns="0" bIns="0">
            <a:spAutoFit/>
          </a:bodyPr>
          <a:lstStyle/>
          <a:p>
            <a:pPr algn="l"/>
            <a:r>
              <a:rPr sz="1300" b="1">
                <a:solidFill>
                  <a:srgbClr val="2B3A42"/>
                </a:solidFill>
                <a:latin typeface="Segoe UI"/>
              </a:rPr>
              <a:t>Callback</a:t>
            </a:r>
          </a:p>
        </p:txBody>
      </p:sp>
      <p:sp>
        <p:nvSpPr>
          <p:cNvPr id="8" name="Rounded Rectangle 7"/>
          <p:cNvSpPr/>
          <p:nvPr/>
        </p:nvSpPr>
        <p:spPr>
          <a:xfrm>
            <a:off x="1058080" y="231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Funktion als zusätzlicher Parameter</a:t>
            </a:r>
          </a:p>
        </p:txBody>
      </p:sp>
      <p:sp>
        <p:nvSpPr>
          <p:cNvPr id="9" name="Rounded Rectangle 8"/>
          <p:cNvSpPr/>
          <p:nvPr/>
        </p:nvSpPr>
        <p:spPr>
          <a:xfrm>
            <a:off x="1058080" y="306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Fehlerbehandlung: keine feste Regel</a:t>
            </a:r>
          </a:p>
        </p:txBody>
      </p:sp>
      <p:sp>
        <p:nvSpPr>
          <p:cNvPr id="10" name="Rounded Rectangle 9"/>
          <p:cNvSpPr/>
          <p:nvPr/>
        </p:nvSpPr>
        <p:spPr>
          <a:xfrm>
            <a:off x="1058080" y="381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mehrere Schritte: tief verschachtelt</a:t>
            </a:r>
          </a:p>
        </p:txBody>
      </p:sp>
      <p:sp>
        <p:nvSpPr>
          <p:cNvPr id="11" name="Rounded Rectangle 10"/>
          <p:cNvSpPr/>
          <p:nvPr/>
        </p:nvSpPr>
        <p:spPr>
          <a:xfrm>
            <a:off x="1058080" y="456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Abbrechen: nur, wenn die API es anbietet</a:t>
            </a:r>
          </a:p>
        </p:txBody>
      </p:sp>
      <p:sp>
        <p:nvSpPr>
          <p:cNvPr id="12" name="Rectangle 11"/>
          <p:cNvSpPr/>
          <p:nvPr/>
        </p:nvSpPr>
        <p:spPr>
          <a:xfrm>
            <a:off x="4426133" y="1980000"/>
            <a:ext cx="3338053" cy="33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3" name="TextBox 12"/>
          <p:cNvSpPr txBox="1"/>
          <p:nvPr/>
        </p:nvSpPr>
        <p:spPr>
          <a:xfrm>
            <a:off x="4486133" y="2020000"/>
            <a:ext cx="3218053" cy="290000"/>
          </a:xfrm>
          <a:prstGeom prst="rect">
            <a:avLst/>
          </a:prstGeom>
          <a:noFill/>
        </p:spPr>
        <p:txBody>
          <a:bodyPr wrap="square" anchor="t" lIns="70000" rIns="70000" tIns="0" bIns="0">
            <a:spAutoFit/>
          </a:bodyPr>
          <a:lstStyle/>
          <a:p>
            <a:pPr algn="l"/>
            <a:r>
              <a:rPr sz="1300" b="1">
                <a:solidFill>
                  <a:srgbClr val="2B3A42"/>
                </a:solidFill>
                <a:latin typeface="Segoe UI"/>
              </a:rPr>
              <a:t>Promise</a:t>
            </a:r>
          </a:p>
        </p:txBody>
      </p:sp>
      <p:sp>
        <p:nvSpPr>
          <p:cNvPr id="14" name="Rounded Rectangle 13"/>
          <p:cNvSpPr/>
          <p:nvPr/>
        </p:nvSpPr>
        <p:spPr>
          <a:xfrm>
            <a:off x="4536133" y="231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genau ein Wert oder ein Fehler</a:t>
            </a:r>
          </a:p>
        </p:txBody>
      </p:sp>
      <p:sp>
        <p:nvSpPr>
          <p:cNvPr id="15" name="Rounded Rectangle 14"/>
          <p:cNvSpPr/>
          <p:nvPr/>
        </p:nvSpPr>
        <p:spPr>
          <a:xfrm>
            <a:off x="4536133" y="306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then(...) und catch(...)</a:t>
            </a:r>
          </a:p>
        </p:txBody>
      </p:sp>
      <p:sp>
        <p:nvSpPr>
          <p:cNvPr id="16" name="Rounded Rectangle 15"/>
          <p:cNvSpPr/>
          <p:nvPr/>
        </p:nvSpPr>
        <p:spPr>
          <a:xfrm>
            <a:off x="4536133" y="381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startet sofort beim Aufruf</a:t>
            </a:r>
          </a:p>
        </p:txBody>
      </p:sp>
      <p:sp>
        <p:nvSpPr>
          <p:cNvPr id="17" name="Rounded Rectangle 16"/>
          <p:cNvSpPr/>
          <p:nvPr/>
        </p:nvSpPr>
        <p:spPr>
          <a:xfrm>
            <a:off x="4536133" y="456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kann nicht abgebrochen werden</a:t>
            </a:r>
          </a:p>
        </p:txBody>
      </p:sp>
      <p:sp>
        <p:nvSpPr>
          <p:cNvPr id="18" name="Rectangle 17"/>
          <p:cNvSpPr/>
          <p:nvPr/>
        </p:nvSpPr>
        <p:spPr>
          <a:xfrm>
            <a:off x="7904186" y="1980000"/>
            <a:ext cx="3338053" cy="33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9" name="TextBox 18"/>
          <p:cNvSpPr txBox="1"/>
          <p:nvPr/>
        </p:nvSpPr>
        <p:spPr>
          <a:xfrm>
            <a:off x="7964186" y="2020000"/>
            <a:ext cx="3218053" cy="290000"/>
          </a:xfrm>
          <a:prstGeom prst="rect">
            <a:avLst/>
          </a:prstGeom>
          <a:noFill/>
        </p:spPr>
        <p:txBody>
          <a:bodyPr wrap="square" anchor="t" lIns="70000" rIns="70000" tIns="0" bIns="0">
            <a:spAutoFit/>
          </a:bodyPr>
          <a:lstStyle/>
          <a:p>
            <a:pPr algn="l"/>
            <a:r>
              <a:rPr sz="1300" b="1">
                <a:solidFill>
                  <a:srgbClr val="2B3A42"/>
                </a:solidFill>
                <a:latin typeface="Segoe UI"/>
              </a:rPr>
              <a:t>Observable (RxJS)</a:t>
            </a:r>
          </a:p>
        </p:txBody>
      </p:sp>
      <p:sp>
        <p:nvSpPr>
          <p:cNvPr id="20" name="Rounded Rectangle 19"/>
          <p:cNvSpPr/>
          <p:nvPr/>
        </p:nvSpPr>
        <p:spPr>
          <a:xfrm>
            <a:off x="8014186" y="2310000"/>
            <a:ext cx="3118053" cy="64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0 bis n Werte, dann complete oder error</a:t>
            </a:r>
          </a:p>
        </p:txBody>
      </p:sp>
      <p:sp>
        <p:nvSpPr>
          <p:cNvPr id="21" name="Rounded Rectangle 20"/>
          <p:cNvSpPr/>
          <p:nvPr/>
        </p:nvSpPr>
        <p:spPr>
          <a:xfrm>
            <a:off x="8014186" y="306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pipe(map, filter, ...) und subscribe(...)</a:t>
            </a:r>
          </a:p>
        </p:txBody>
      </p:sp>
      <p:sp>
        <p:nvSpPr>
          <p:cNvPr id="22" name="Rounded Rectangle 21"/>
          <p:cNvSpPr/>
          <p:nvPr/>
        </p:nvSpPr>
        <p:spPr>
          <a:xfrm>
            <a:off x="8014186" y="381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startet erst bei subscribe (lazy)</a:t>
            </a:r>
          </a:p>
        </p:txBody>
      </p:sp>
      <p:sp>
        <p:nvSpPr>
          <p:cNvPr id="23" name="Rounded Rectangle 22"/>
          <p:cNvSpPr/>
          <p:nvPr/>
        </p:nvSpPr>
        <p:spPr>
          <a:xfrm>
            <a:off x="8014186" y="4560000"/>
            <a:ext cx="3118053" cy="64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beenden mit unsubscribe()</a:t>
            </a:r>
          </a:p>
        </p:txBody>
      </p:sp>
    </p:spTree>
  </p:cSld>
  <p:clrMapOvr>
    <a:masterClrMapping/>
  </p:clrMapOvr>
</p:sld>
</file>

<file path=ppt/slides/slide8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subscribe, next, complete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Erst subscribe startet die Quelle. Jeder Wert läuft durch pipe(map) und kommt als next beim Abnehmer an, am Ende complete.</a:t>
            </a:r>
          </a:p>
        </p:txBody>
      </p:sp>
      <p:sp>
        <p:nvSpPr>
          <p:cNvPr id="4" name="Rectangle 3"/>
          <p:cNvSpPr/>
          <p:nvPr/>
        </p:nvSpPr>
        <p:spPr>
          <a:xfrm>
            <a:off x="144044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Komponente (CustomerList)</a:t>
            </a:r>
          </a:p>
        </p:txBody>
      </p:sp>
      <p:sp>
        <p:nvSpPr>
          <p:cNvPr id="5" name="Rectangle 4"/>
          <p:cNvSpPr/>
          <p:nvPr/>
        </p:nvSpPr>
        <p:spPr>
          <a:xfrm>
            <a:off x="494516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Observable mit pipe(map)</a:t>
            </a:r>
          </a:p>
        </p:txBody>
      </p:sp>
      <p:sp>
        <p:nvSpPr>
          <p:cNvPr id="6" name="Rectangle 5"/>
          <p:cNvSpPr/>
          <p:nvPr/>
        </p:nvSpPr>
        <p:spPr>
          <a:xfrm>
            <a:off x="844988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Quelle (z. B. HTTP-Anfrage)</a:t>
            </a:r>
          </a:p>
        </p:txBody>
      </p:sp>
      <p:cxnSp>
        <p:nvCxnSpPr>
          <p:cNvPr id="7" name="Connector 6"/>
          <p:cNvCxnSpPr/>
          <p:nvPr/>
        </p:nvCxnSpPr>
        <p:spPr>
          <a:xfrm>
            <a:off x="25904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5998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590440" y="2618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714260" y="2268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1. subscribe({ next, error, complete })</a:t>
            </a:r>
          </a:p>
        </p:txBody>
      </p:sp>
      <p:cxnSp>
        <p:nvCxnSpPr>
          <p:cNvPr id="12" name="Connector 11"/>
          <p:cNvCxnSpPr/>
          <p:nvPr/>
        </p:nvCxnSpPr>
        <p:spPr>
          <a:xfrm>
            <a:off x="6095160" y="3018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8980" y="2668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2. Quelle wird erst jetzt gestartet (lazy)</a:t>
            </a:r>
          </a:p>
        </p:txBody>
      </p:sp>
      <p:cxnSp>
        <p:nvCxnSpPr>
          <p:cNvPr id="14" name="Connector 13"/>
          <p:cNvCxnSpPr/>
          <p:nvPr/>
        </p:nvCxnSpPr>
        <p:spPr>
          <a:xfrm flipH="1">
            <a:off x="6115160" y="3418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218980" y="3068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3. Wert a</a:t>
            </a:r>
          </a:p>
        </p:txBody>
      </p:sp>
      <p:cxnSp>
        <p:nvCxnSpPr>
          <p:cNvPr id="16" name="Connector 15"/>
          <p:cNvCxnSpPr/>
          <p:nvPr/>
        </p:nvCxnSpPr>
        <p:spPr>
          <a:xfrm>
            <a:off x="6095160" y="36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475160" y="36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6115160" y="38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25160" y="3501000"/>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4. map(a) ergibt 1</a:t>
            </a:r>
          </a:p>
        </p:txBody>
      </p:sp>
      <p:cxnSp>
        <p:nvCxnSpPr>
          <p:cNvPr id="20" name="Connector 19"/>
          <p:cNvCxnSpPr/>
          <p:nvPr/>
        </p:nvCxnSpPr>
        <p:spPr>
          <a:xfrm flipH="1">
            <a:off x="2610440" y="4218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14260" y="3868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5. next(1): Handler läuft</a:t>
            </a:r>
          </a:p>
        </p:txBody>
      </p:sp>
      <p:cxnSp>
        <p:nvCxnSpPr>
          <p:cNvPr id="22" name="Connector 21"/>
          <p:cNvCxnSpPr/>
          <p:nvPr/>
        </p:nvCxnSpPr>
        <p:spPr>
          <a:xfrm flipH="1">
            <a:off x="6115160" y="4618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18980" y="4268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6. Wert b</a:t>
            </a:r>
          </a:p>
        </p:txBody>
      </p:sp>
      <p:cxnSp>
        <p:nvCxnSpPr>
          <p:cNvPr id="24" name="Connector 23"/>
          <p:cNvCxnSpPr/>
          <p:nvPr/>
        </p:nvCxnSpPr>
        <p:spPr>
          <a:xfrm flipH="1">
            <a:off x="2610440" y="5018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714260" y="4668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7. next(2): Handler läuft</a:t>
            </a:r>
          </a:p>
        </p:txBody>
      </p:sp>
      <p:cxnSp>
        <p:nvCxnSpPr>
          <p:cNvPr id="26" name="Connector 25"/>
          <p:cNvCxnSpPr/>
          <p:nvPr/>
        </p:nvCxnSpPr>
        <p:spPr>
          <a:xfrm flipH="1">
            <a:off x="6115160" y="5418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218980" y="5068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8. Quelle ist fertig</a:t>
            </a:r>
          </a:p>
        </p:txBody>
      </p:sp>
      <p:cxnSp>
        <p:nvCxnSpPr>
          <p:cNvPr id="28" name="Connector 27"/>
          <p:cNvCxnSpPr/>
          <p:nvPr/>
        </p:nvCxnSpPr>
        <p:spPr>
          <a:xfrm flipH="1">
            <a:off x="2610440" y="5818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714260" y="5468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9. complete(): Handler werden entfernt</a:t>
            </a:r>
          </a:p>
        </p:txBody>
      </p:sp>
    </p:spTree>
  </p:cSld>
  <p:clrMapOvr>
    <a:masterClrMapping/>
  </p:clrMapOvr>
</p:sld>
</file>

<file path=ppt/slides/slide8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Automatisch abmelden mit toSignal()</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toSignal() abonniert beim Erzeugen der Komponente und meldet sich ab, sobald Angular die Komponente zerstört.</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CustomerList</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toSignal()</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Observable getAll()</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6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2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Komponente erzeugen (Route aktiv)</a:t>
            </a:r>
          </a:p>
        </p:txBody>
      </p:sp>
      <p:cxnSp>
        <p:nvCxnSpPr>
          <p:cNvPr id="14" name="Connector 13"/>
          <p:cNvCxnSpPr/>
          <p:nvPr/>
        </p:nvCxnSpPr>
        <p:spPr>
          <a:xfrm>
            <a:off x="4780890" y="30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23755" y="26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toSignal(service.getAll())</a:t>
            </a:r>
          </a:p>
        </p:txBody>
      </p:sp>
      <p:cxnSp>
        <p:nvCxnSpPr>
          <p:cNvPr id="16" name="Connector 15"/>
          <p:cNvCxnSpPr/>
          <p:nvPr/>
        </p:nvCxnSpPr>
        <p:spPr>
          <a:xfrm>
            <a:off x="7409430" y="34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52295" y="30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subscribe()</a:t>
            </a:r>
          </a:p>
        </p:txBody>
      </p:sp>
      <p:cxnSp>
        <p:nvCxnSpPr>
          <p:cNvPr id="18" name="Connector 17"/>
          <p:cNvCxnSpPr/>
          <p:nvPr/>
        </p:nvCxnSpPr>
        <p:spPr>
          <a:xfrm flipH="1">
            <a:off x="7429430" y="38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2295" y="34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4. next(customers)</a:t>
            </a:r>
          </a:p>
        </p:txBody>
      </p:sp>
      <p:cxnSp>
        <p:nvCxnSpPr>
          <p:cNvPr id="20" name="Connector 19"/>
          <p:cNvCxnSpPr/>
          <p:nvPr/>
        </p:nvCxnSpPr>
        <p:spPr>
          <a:xfrm flipH="1">
            <a:off x="4800890" y="42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23755" y="38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5. Signal customers() hat neuen Wert</a:t>
            </a:r>
          </a:p>
        </p:txBody>
      </p:sp>
      <p:cxnSp>
        <p:nvCxnSpPr>
          <p:cNvPr id="22" name="Connector 21"/>
          <p:cNvCxnSpPr/>
          <p:nvPr/>
        </p:nvCxnSpPr>
        <p:spPr>
          <a:xfrm>
            <a:off x="4780890" y="44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60890" y="44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800890" y="46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210890" y="4301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6. Liste anzeigen</a:t>
            </a:r>
          </a:p>
        </p:txBody>
      </p:sp>
      <p:cxnSp>
        <p:nvCxnSpPr>
          <p:cNvPr id="26" name="Connector 25"/>
          <p:cNvCxnSpPr/>
          <p:nvPr/>
        </p:nvCxnSpPr>
        <p:spPr>
          <a:xfrm>
            <a:off x="2152350" y="50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95215" y="46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7. Komponente zerstören (andere Route)</a:t>
            </a:r>
          </a:p>
        </p:txBody>
      </p:sp>
      <p:cxnSp>
        <p:nvCxnSpPr>
          <p:cNvPr id="28" name="Connector 27"/>
          <p:cNvCxnSpPr/>
          <p:nvPr/>
        </p:nvCxnSpPr>
        <p:spPr>
          <a:xfrm>
            <a:off x="2152350" y="54180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182350" y="50680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8. DestroyRef meldet: Komponente ist weg</a:t>
            </a:r>
          </a:p>
        </p:txBody>
      </p:sp>
      <p:cxnSp>
        <p:nvCxnSpPr>
          <p:cNvPr id="30" name="Connector 29"/>
          <p:cNvCxnSpPr/>
          <p:nvPr/>
        </p:nvCxnSpPr>
        <p:spPr>
          <a:xfrm>
            <a:off x="7409430" y="58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752295" y="54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9. unsubscribe()</a:t>
            </a:r>
          </a:p>
        </p:txBody>
      </p:sp>
    </p:spTree>
  </p:cSld>
  <p:clrMapOvr>
    <a:masterClrMapping/>
  </p:clrMapOvr>
</p:sld>
</file>

<file path=ppt/slides/slide8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Vom festen Template zum router-outlet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Übung 20: Die Kind-Komponenten verschwinden aus dem Template. Was im router-outlet erscheint, entscheidet die URL.</a:t>
            </a:r>
          </a:p>
        </p:txBody>
      </p:sp>
      <p:sp>
        <p:nvSpPr>
          <p:cNvPr id="4" name="Rectangle 3"/>
          <p:cNvSpPr/>
          <p:nvPr/>
        </p:nvSpPr>
        <p:spPr>
          <a:xfrm>
            <a:off x="838080" y="1650000"/>
            <a:ext cx="10514160" cy="317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index.html: &lt;app-root&gt;</a:t>
            </a:r>
          </a:p>
        </p:txBody>
      </p:sp>
      <p:sp>
        <p:nvSpPr>
          <p:cNvPr id="6" name="Rectangle 5"/>
          <p:cNvSpPr/>
          <p:nvPr/>
        </p:nvSpPr>
        <p:spPr>
          <a:xfrm>
            <a:off x="948080" y="1980000"/>
            <a:ext cx="488708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Vorher: AppComponent</a:t>
            </a:r>
          </a:p>
          <a:p>
            <a:pPr algn="l"/>
            <a:r>
              <a:rPr sz="1300" b="1">
                <a:solidFill>
                  <a:srgbClr val="2B3A42"/>
                </a:solidFill>
                <a:latin typeface="Segoe UI"/>
              </a:rPr>
              <a:t>Kind-Komponenten fest im Template</a:t>
            </a:r>
          </a:p>
        </p:txBody>
      </p:sp>
      <p:sp>
        <p:nvSpPr>
          <p:cNvPr id="8" name="Rounded Rectangle 7"/>
          <p:cNvSpPr/>
          <p:nvPr/>
        </p:nvSpPr>
        <p:spPr>
          <a:xfrm>
            <a:off x="1058080" y="2540000"/>
            <a:ext cx="46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&lt;customer-list&gt;</a:t>
            </a:r>
          </a:p>
          <a:p>
            <a:pPr algn="ctr"/>
            <a:r>
              <a:rPr sz="1300" b="0">
                <a:solidFill>
                  <a:srgbClr val="2B3A42"/>
                </a:solidFill>
                <a:latin typeface="Segoe UI"/>
              </a:rPr>
              <a:t>[customers] von AppComponent</a:t>
            </a:r>
          </a:p>
        </p:txBody>
      </p:sp>
      <p:sp>
        <p:nvSpPr>
          <p:cNvPr id="9" name="Rounded Rectangle 8"/>
          <p:cNvSpPr/>
          <p:nvPr/>
        </p:nvSpPr>
        <p:spPr>
          <a:xfrm>
            <a:off x="1058080" y="3780000"/>
            <a:ext cx="466708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&lt;customer-details&gt;</a:t>
            </a:r>
          </a:p>
          <a:p>
            <a:pPr algn="ctr"/>
            <a:r>
              <a:rPr sz="1300" b="0">
                <a:solidFill>
                  <a:srgbClr val="2B3A42"/>
                </a:solidFill>
                <a:latin typeface="Segoe UI"/>
              </a:rPr>
              <a:t>[customer] = ausgewählter Kunde</a:t>
            </a:r>
          </a:p>
        </p:txBody>
      </p:sp>
      <p:sp>
        <p:nvSpPr>
          <p:cNvPr id="10" name="Rectangle 9"/>
          <p:cNvSpPr/>
          <p:nvPr/>
        </p:nvSpPr>
        <p:spPr>
          <a:xfrm>
            <a:off x="6355160" y="1980000"/>
            <a:ext cx="4887080" cy="27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1" name="TextBox 10"/>
          <p:cNvSpPr txBox="1"/>
          <p:nvPr/>
        </p:nvSpPr>
        <p:spPr>
          <a:xfrm>
            <a:off x="6415160" y="202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Nachher: AppComponent</a:t>
            </a:r>
          </a:p>
          <a:p>
            <a:pPr algn="l"/>
            <a:r>
              <a:rPr sz="1300" b="1">
                <a:solidFill>
                  <a:srgbClr val="2B3A42"/>
                </a:solidFill>
                <a:latin typeface="Segoe UI"/>
              </a:rPr>
              <a:t>imports: [RouterOutlet]</a:t>
            </a:r>
          </a:p>
        </p:txBody>
      </p:sp>
      <p:sp>
        <p:nvSpPr>
          <p:cNvPr id="12" name="Rectangle 11"/>
          <p:cNvSpPr/>
          <p:nvPr/>
        </p:nvSpPr>
        <p:spPr>
          <a:xfrm>
            <a:off x="6465160" y="2540000"/>
            <a:ext cx="4667080" cy="206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3" name="TextBox 12"/>
          <p:cNvSpPr txBox="1"/>
          <p:nvPr/>
        </p:nvSpPr>
        <p:spPr>
          <a:xfrm>
            <a:off x="6525160" y="2580000"/>
            <a:ext cx="4547080" cy="520000"/>
          </a:xfrm>
          <a:prstGeom prst="rect">
            <a:avLst/>
          </a:prstGeom>
          <a:noFill/>
        </p:spPr>
        <p:txBody>
          <a:bodyPr wrap="square" anchor="t" lIns="70000" rIns="70000" tIns="0" bIns="0">
            <a:spAutoFit/>
          </a:bodyPr>
          <a:lstStyle/>
          <a:p>
            <a:pPr algn="l"/>
            <a:r>
              <a:rPr sz="1300" b="1">
                <a:solidFill>
                  <a:srgbClr val="2B3A42"/>
                </a:solidFill>
                <a:latin typeface="Segoe UI"/>
              </a:rPr>
              <a:t>&lt;router-outlet&gt;</a:t>
            </a:r>
          </a:p>
          <a:p>
            <a:pPr algn="l"/>
            <a:r>
              <a:rPr sz="1300" b="1">
                <a:solidFill>
                  <a:srgbClr val="2B3A42"/>
                </a:solidFill>
                <a:latin typeface="Segoe UI"/>
              </a:rPr>
              <a:t>Platzhalter, URL /customer</a:t>
            </a:r>
          </a:p>
        </p:txBody>
      </p:sp>
      <p:sp>
        <p:nvSpPr>
          <p:cNvPr id="14" name="Rounded Rectangle 13"/>
          <p:cNvSpPr/>
          <p:nvPr/>
        </p:nvSpPr>
        <p:spPr>
          <a:xfrm>
            <a:off x="6575160" y="3100000"/>
            <a:ext cx="444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CustomerListComponent</a:t>
            </a:r>
          </a:p>
          <a:p>
            <a:pPr algn="ctr"/>
            <a:r>
              <a:rPr sz="1300" b="1">
                <a:solidFill>
                  <a:srgbClr val="FFFFFF"/>
                </a:solidFill>
                <a:latin typeface="Segoe UI"/>
              </a:rPr>
              <a:t>lädt Daten selbst (toSignal)</a:t>
            </a:r>
          </a:p>
        </p:txBody>
      </p:sp>
      <p:cxnSp>
        <p:nvCxnSpPr>
          <p:cNvPr id="15" name="Connector 14"/>
          <p:cNvCxnSpPr/>
          <p:nvPr/>
        </p:nvCxnSpPr>
        <p:spPr>
          <a:xfrm>
            <a:off x="5835160" y="3345000"/>
            <a:ext cx="52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99672" y="3015000"/>
            <a:ext cx="1190976"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Übung 20</a:t>
            </a:r>
          </a:p>
        </p:txBody>
      </p:sp>
    </p:spTree>
  </p:cSld>
  <p:clrMapOvr>
    <a:masterClrMapping/>
  </p:clrMapOvr>
</p:sld>
</file>

<file path=ppt/slides/slide8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Start mit leerem Pfad: Fallback-Route greift</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Routen aus app.routes.ts: 'customer/:id', 'customer', '**' mit redirectTo '/customer'. Der erste Treffer gewinnt.</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 (Adresszeile)</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Routes (app.routes.ts)</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RouterOutlet</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5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30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Start mit URL localhost:4200/</a:t>
            </a:r>
          </a:p>
        </p:txBody>
      </p:sp>
      <p:cxnSp>
        <p:nvCxnSpPr>
          <p:cNvPr id="16" name="Connector 15"/>
          <p:cNvCxnSpPr/>
          <p:nvPr/>
        </p:nvCxnSpPr>
        <p:spPr>
          <a:xfrm>
            <a:off x="3992328" y="31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7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Route für Pfad '' suchen</a:t>
            </a:r>
          </a:p>
        </p:txBody>
      </p:sp>
      <p:cxnSp>
        <p:nvCxnSpPr>
          <p:cNvPr id="18" name="Connector 17"/>
          <p:cNvCxnSpPr/>
          <p:nvPr/>
        </p:nvCxnSpPr>
        <p:spPr>
          <a:xfrm flipH="1">
            <a:off x="4012328" y="3554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66620" y="3204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3. '**': redirectTo</a:t>
            </a:r>
          </a:p>
        </p:txBody>
      </p:sp>
      <p:cxnSp>
        <p:nvCxnSpPr>
          <p:cNvPr id="20" name="Connector 19"/>
          <p:cNvCxnSpPr/>
          <p:nvPr/>
        </p:nvCxnSpPr>
        <p:spPr>
          <a:xfrm flipH="1">
            <a:off x="1909496" y="40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363788" y="36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URL wird zu /customer</a:t>
            </a:r>
          </a:p>
        </p:txBody>
      </p:sp>
      <p:cxnSp>
        <p:nvCxnSpPr>
          <p:cNvPr id="22" name="Connector 21"/>
          <p:cNvCxnSpPr/>
          <p:nvPr/>
        </p:nvCxnSpPr>
        <p:spPr>
          <a:xfrm>
            <a:off x="3992328" y="445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466620" y="410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5. Route für 'customer' suchen</a:t>
            </a:r>
          </a:p>
        </p:txBody>
      </p:sp>
      <p:cxnSp>
        <p:nvCxnSpPr>
          <p:cNvPr id="24" name="Connector 23"/>
          <p:cNvCxnSpPr/>
          <p:nvPr/>
        </p:nvCxnSpPr>
        <p:spPr>
          <a:xfrm flipH="1">
            <a:off x="4012328" y="4904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66620" y="4554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6. Treffer: CustomerListComponent</a:t>
            </a:r>
          </a:p>
        </p:txBody>
      </p:sp>
      <p:cxnSp>
        <p:nvCxnSpPr>
          <p:cNvPr id="26" name="Connector 25"/>
          <p:cNvCxnSpPr/>
          <p:nvPr/>
        </p:nvCxnSpPr>
        <p:spPr>
          <a:xfrm>
            <a:off x="3992328" y="53540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22328" y="5004000"/>
            <a:ext cx="4145664" cy="330000"/>
          </a:xfrm>
          <a:prstGeom prst="rect">
            <a:avLst/>
          </a:prstGeom>
          <a:noFill/>
        </p:spPr>
        <p:txBody>
          <a:bodyPr wrap="square" anchor="b" lIns="70000" rIns="70000" tIns="0" bIns="0">
            <a:spAutoFit/>
          </a:bodyPr>
          <a:lstStyle/>
          <a:p>
            <a:pPr algn="ctr"/>
            <a:r>
              <a:rPr sz="1300" b="0">
                <a:solidFill>
                  <a:srgbClr val="2B3A42"/>
                </a:solidFill>
                <a:latin typeface="Segoe UI"/>
              </a:rPr>
              <a:t>7. Route aktivieren</a:t>
            </a:r>
          </a:p>
        </p:txBody>
      </p:sp>
      <p:cxnSp>
        <p:nvCxnSpPr>
          <p:cNvPr id="28" name="Connector 27"/>
          <p:cNvCxnSpPr/>
          <p:nvPr/>
        </p:nvCxnSpPr>
        <p:spPr>
          <a:xfrm>
            <a:off x="8197992" y="5804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72284" y="5454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8. erzeugen, einfügen</a:t>
            </a:r>
          </a:p>
        </p:txBody>
      </p:sp>
    </p:spTree>
  </p:cSld>
  <p:clrMapOvr>
    <a:masterClrMapping/>
  </p:clrMapOvr>
</p:sld>
</file>

<file path=ppt/slides/slide8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Browser-URL und Router über die LocationStrategy</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Die LocationStrategy übersetzt zwischen Router und Adresszeile. Mit Hash sieht der Server den Pfad nach # nie.</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Browser (Adresszeile, Verlauf)</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LocationStrategy</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Router</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Server (ng serve)</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800890" y="26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23755" y="23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neue URL /customer/5</a:t>
            </a:r>
          </a:p>
        </p:txBody>
      </p:sp>
      <p:cxnSp>
        <p:nvCxnSpPr>
          <p:cNvPr id="14" name="Connector 13"/>
          <p:cNvCxnSpPr/>
          <p:nvPr/>
        </p:nvCxnSpPr>
        <p:spPr>
          <a:xfrm flipH="1">
            <a:off x="2172350" y="31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495215" y="27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pushState('/customer/5')</a:t>
            </a:r>
          </a:p>
        </p:txBody>
      </p:sp>
      <p:cxnSp>
        <p:nvCxnSpPr>
          <p:cNvPr id="16" name="Connector 15"/>
          <p:cNvCxnSpPr/>
          <p:nvPr/>
        </p:nvCxnSpPr>
        <p:spPr>
          <a:xfrm>
            <a:off x="2152350" y="35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95215" y="32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Zurück-Taste: Ereignis popstate</a:t>
            </a:r>
          </a:p>
        </p:txBody>
      </p:sp>
      <p:cxnSp>
        <p:nvCxnSpPr>
          <p:cNvPr id="18" name="Connector 17"/>
          <p:cNvCxnSpPr/>
          <p:nvPr/>
        </p:nvCxnSpPr>
        <p:spPr>
          <a:xfrm>
            <a:off x="4780890" y="40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6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4. URL ist jetzt /customer</a:t>
            </a:r>
          </a:p>
        </p:txBody>
      </p:sp>
      <p:cxnSp>
        <p:nvCxnSpPr>
          <p:cNvPr id="20" name="Connector 19"/>
          <p:cNvCxnSpPr/>
          <p:nvPr/>
        </p:nvCxnSpPr>
        <p:spPr>
          <a:xfrm>
            <a:off x="7409430" y="42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789430" y="42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429430" y="44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839430" y="411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5. Komponente tauschen</a:t>
            </a:r>
          </a:p>
        </p:txBody>
      </p:sp>
      <p:cxnSp>
        <p:nvCxnSpPr>
          <p:cNvPr id="24" name="Connector 23"/>
          <p:cNvCxnSpPr/>
          <p:nvPr/>
        </p:nvCxnSpPr>
        <p:spPr>
          <a:xfrm>
            <a:off x="2152350" y="490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182350" y="455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6. Neu laden: GET /customer/5 (Path)</a:t>
            </a:r>
          </a:p>
        </p:txBody>
      </p:sp>
      <p:cxnSp>
        <p:nvCxnSpPr>
          <p:cNvPr id="26" name="Connector 25"/>
          <p:cNvCxnSpPr/>
          <p:nvPr/>
        </p:nvCxnSpPr>
        <p:spPr>
          <a:xfrm flipH="1">
            <a:off x="2172350" y="5354000"/>
            <a:ext cx="78656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182350" y="5004000"/>
            <a:ext cx="7825620" cy="330000"/>
          </a:xfrm>
          <a:prstGeom prst="rect">
            <a:avLst/>
          </a:prstGeom>
          <a:noFill/>
        </p:spPr>
        <p:txBody>
          <a:bodyPr wrap="square" anchor="b" lIns="70000" rIns="70000" tIns="0" bIns="0">
            <a:spAutoFit/>
          </a:bodyPr>
          <a:lstStyle/>
          <a:p>
            <a:pPr algn="ctr"/>
            <a:r>
              <a:rPr sz="1500" b="0">
                <a:solidFill>
                  <a:srgbClr val="404B52"/>
                </a:solidFill>
                <a:latin typeface="Segoe UI"/>
              </a:rPr>
              <a:t>7. index.html, dann liest der Router die URL</a:t>
            </a:r>
          </a:p>
        </p:txBody>
      </p:sp>
      <p:cxnSp>
        <p:nvCxnSpPr>
          <p:cNvPr id="28" name="Connector 27"/>
          <p:cNvCxnSpPr/>
          <p:nvPr/>
        </p:nvCxnSpPr>
        <p:spPr>
          <a:xfrm>
            <a:off x="2152350" y="5804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182350" y="5454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8. Neu laden mit Hash: GET / (Rest bleibt im Browser)</a:t>
            </a:r>
          </a:p>
        </p:txBody>
      </p:sp>
    </p:spTree>
  </p:cSld>
  <p:clrMapOvr>
    <a:masterClrMapping/>
  </p:clrMapOvr>
</p:sld>
</file>

<file path=ppt/slides/slide8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Weg des Pfadparameters :id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Aus der URL /customer/5 wird der Input id = '5' der CustomerDetailsComponent (withComponentInputBinding).</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Browser-URL</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ActivatedRoute</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CustomerDetails</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5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 URL /customer/5</a:t>
            </a:r>
          </a:p>
        </p:txBody>
      </p:sp>
      <p:cxnSp>
        <p:nvCxnSpPr>
          <p:cNvPr id="16" name="Connector 15"/>
          <p:cNvCxnSpPr/>
          <p:nvPr/>
        </p:nvCxnSpPr>
        <p:spPr>
          <a:xfrm>
            <a:off x="3992328" y="281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72328" y="281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012328" y="294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22328" y="266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2. id = '5'</a:t>
            </a:r>
          </a:p>
        </p:txBody>
      </p:sp>
      <p:cxnSp>
        <p:nvCxnSpPr>
          <p:cNvPr id="20" name="Connector 19"/>
          <p:cNvCxnSpPr/>
          <p:nvPr/>
        </p:nvCxnSpPr>
        <p:spPr>
          <a:xfrm>
            <a:off x="3992328" y="33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66620" y="29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3. paramMap: { id: '5' }</a:t>
            </a:r>
          </a:p>
        </p:txBody>
      </p:sp>
      <p:cxnSp>
        <p:nvCxnSpPr>
          <p:cNvPr id="22" name="Connector 21"/>
          <p:cNvCxnSpPr/>
          <p:nvPr/>
        </p:nvCxnSpPr>
        <p:spPr>
          <a:xfrm>
            <a:off x="3992328" y="366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022328" y="334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4. Input setzen: id = '5'</a:t>
            </a:r>
          </a:p>
        </p:txBody>
      </p:sp>
      <p:cxnSp>
        <p:nvCxnSpPr>
          <p:cNvPr id="24" name="Connector 23"/>
          <p:cNvCxnSpPr/>
          <p:nvPr/>
        </p:nvCxnSpPr>
        <p:spPr>
          <a:xfrm>
            <a:off x="8197992" y="389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77992" y="389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8217992" y="402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27992" y="374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5. effect liest id()</a:t>
            </a:r>
          </a:p>
        </p:txBody>
      </p:sp>
      <p:cxnSp>
        <p:nvCxnSpPr>
          <p:cNvPr id="28" name="Connector 27"/>
          <p:cNvCxnSpPr/>
          <p:nvPr/>
        </p:nvCxnSpPr>
        <p:spPr>
          <a:xfrm>
            <a:off x="8197992" y="43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72284" y="40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6. getById('5')</a:t>
            </a:r>
          </a:p>
        </p:txBody>
      </p:sp>
      <p:cxnSp>
        <p:nvCxnSpPr>
          <p:cNvPr id="30" name="Connector 29"/>
          <p:cNvCxnSpPr/>
          <p:nvPr/>
        </p:nvCxnSpPr>
        <p:spPr>
          <a:xfrm flipH="1">
            <a:off x="8217992" y="474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672284" y="442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7. Kunde 5 (Observable)</a:t>
            </a:r>
          </a:p>
        </p:txBody>
      </p:sp>
      <p:cxnSp>
        <p:nvCxnSpPr>
          <p:cNvPr id="32" name="Connector 31"/>
          <p:cNvCxnSpPr/>
          <p:nvPr/>
        </p:nvCxnSpPr>
        <p:spPr>
          <a:xfrm>
            <a:off x="1889496" y="51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63788" y="47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8. neue URL /customer/7</a:t>
            </a:r>
          </a:p>
        </p:txBody>
      </p:sp>
      <p:cxnSp>
        <p:nvCxnSpPr>
          <p:cNvPr id="34" name="Connector 33"/>
          <p:cNvCxnSpPr/>
          <p:nvPr/>
        </p:nvCxnSpPr>
        <p:spPr>
          <a:xfrm>
            <a:off x="3992328" y="546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22328" y="514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9. gleiche Komponente: id = '7'</a:t>
            </a:r>
          </a:p>
        </p:txBody>
      </p:sp>
      <p:cxnSp>
        <p:nvCxnSpPr>
          <p:cNvPr id="36" name="Connector 35"/>
          <p:cNvCxnSpPr/>
          <p:nvPr/>
        </p:nvCxnSpPr>
        <p:spPr>
          <a:xfrm>
            <a:off x="8197992" y="582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72284" y="550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10. effect lädt neu: getById('7')</a:t>
            </a:r>
          </a:p>
        </p:txBody>
      </p:sp>
    </p:spTree>
  </p:cSld>
  <p:clrMapOvr>
    <a:masterClrMapping/>
  </p:clrMapOvr>
</p:sld>
</file>

<file path=ppt/slides/slide8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routerLink: von der Liste zu den Details</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Gleiche AppComponent, gleicher router-outlet: Nur sein Inhalt wechselt. Zurück geht es per routerLink oder router.navigate.</a:t>
            </a:r>
          </a:p>
        </p:txBody>
      </p:sp>
      <p:sp>
        <p:nvSpPr>
          <p:cNvPr id="4" name="Rectangle 3"/>
          <p:cNvSpPr/>
          <p:nvPr/>
        </p:nvSpPr>
        <p:spPr>
          <a:xfrm>
            <a:off x="838080" y="1650000"/>
            <a:ext cx="10514160" cy="237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290000"/>
          </a:xfrm>
          <a:prstGeom prst="rect">
            <a:avLst/>
          </a:prstGeom>
          <a:noFill/>
        </p:spPr>
        <p:txBody>
          <a:bodyPr wrap="square" anchor="t" lIns="70000" rIns="70000" tIns="0" bIns="0">
            <a:spAutoFit/>
          </a:bodyPr>
          <a:lstStyle/>
          <a:p>
            <a:pPr algn="l"/>
            <a:r>
              <a:rPr sz="1300" b="1">
                <a:solidFill>
                  <a:srgbClr val="2B3A42"/>
                </a:solidFill>
                <a:latin typeface="Segoe UI"/>
              </a:rPr>
              <a:t>Browser-Tab localhost:4200</a:t>
            </a:r>
          </a:p>
        </p:txBody>
      </p:sp>
      <p:sp>
        <p:nvSpPr>
          <p:cNvPr id="6" name="Rectangle 5"/>
          <p:cNvSpPr/>
          <p:nvPr/>
        </p:nvSpPr>
        <p:spPr>
          <a:xfrm>
            <a:off x="948080" y="1980000"/>
            <a:ext cx="4887080" cy="19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7" name="TextBox 6"/>
          <p:cNvSpPr txBox="1"/>
          <p:nvPr/>
        </p:nvSpPr>
        <p:spPr>
          <a:xfrm>
            <a:off x="1008080" y="202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Vorher: URL /customer</a:t>
            </a:r>
          </a:p>
          <a:p>
            <a:pPr algn="l"/>
            <a:r>
              <a:rPr sz="1300" b="1">
                <a:solidFill>
                  <a:srgbClr val="2B3A42"/>
                </a:solidFill>
                <a:latin typeface="Segoe UI"/>
              </a:rPr>
              <a:t>AppComponent (app-root)</a:t>
            </a:r>
          </a:p>
        </p:txBody>
      </p:sp>
      <p:sp>
        <p:nvSpPr>
          <p:cNvPr id="8" name="Rectangle 7"/>
          <p:cNvSpPr/>
          <p:nvPr/>
        </p:nvSpPr>
        <p:spPr>
          <a:xfrm>
            <a:off x="1058080" y="2540000"/>
            <a:ext cx="4667080" cy="126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9" name="TextBox 8"/>
          <p:cNvSpPr txBox="1"/>
          <p:nvPr/>
        </p:nvSpPr>
        <p:spPr>
          <a:xfrm>
            <a:off x="1118080" y="2580000"/>
            <a:ext cx="4547080" cy="290000"/>
          </a:xfrm>
          <a:prstGeom prst="rect">
            <a:avLst/>
          </a:prstGeom>
          <a:noFill/>
        </p:spPr>
        <p:txBody>
          <a:bodyPr wrap="square" anchor="t" lIns="70000" rIns="70000" tIns="0" bIns="0">
            <a:spAutoFit/>
          </a:bodyPr>
          <a:lstStyle/>
          <a:p>
            <a:pPr algn="l"/>
            <a:r>
              <a:rPr sz="1300" b="1">
                <a:solidFill>
                  <a:srgbClr val="2B3A42"/>
                </a:solidFill>
                <a:latin typeface="Segoe UI"/>
              </a:rPr>
              <a:t>&lt;router-outlet&gt; mit Liste</a:t>
            </a:r>
          </a:p>
        </p:txBody>
      </p:sp>
      <p:sp>
        <p:nvSpPr>
          <p:cNvPr id="10" name="Rounded Rectangle 9"/>
          <p:cNvSpPr/>
          <p:nvPr/>
        </p:nvSpPr>
        <p:spPr>
          <a:xfrm>
            <a:off x="1168080" y="2870000"/>
            <a:ext cx="444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CustomerListComponent</a:t>
            </a:r>
          </a:p>
          <a:p>
            <a:pPr algn="ctr"/>
            <a:r>
              <a:rPr sz="1300" b="1">
                <a:solidFill>
                  <a:srgbClr val="FFFFFF"/>
                </a:solidFill>
                <a:latin typeface="Segoe UI"/>
              </a:rPr>
              <a:t>&lt;a [routerLink]="[customer.id]"&gt;</a:t>
            </a:r>
          </a:p>
        </p:txBody>
      </p:sp>
      <p:sp>
        <p:nvSpPr>
          <p:cNvPr id="11" name="Rectangle 10"/>
          <p:cNvSpPr/>
          <p:nvPr/>
        </p:nvSpPr>
        <p:spPr>
          <a:xfrm>
            <a:off x="6355160" y="1980000"/>
            <a:ext cx="4887080" cy="1930000"/>
          </a:xfrm>
          <a:prstGeom prst="rect">
            <a:avLst/>
          </a:prstGeom>
          <a:solidFill>
            <a:srgbClr val="E3F4EE"/>
          </a:solidFill>
          <a:ln w="1270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2" name="TextBox 11"/>
          <p:cNvSpPr txBox="1"/>
          <p:nvPr/>
        </p:nvSpPr>
        <p:spPr>
          <a:xfrm>
            <a:off x="6415160" y="2020000"/>
            <a:ext cx="4767080" cy="520000"/>
          </a:xfrm>
          <a:prstGeom prst="rect">
            <a:avLst/>
          </a:prstGeom>
          <a:noFill/>
        </p:spPr>
        <p:txBody>
          <a:bodyPr wrap="square" anchor="t" lIns="70000" rIns="70000" tIns="0" bIns="0">
            <a:spAutoFit/>
          </a:bodyPr>
          <a:lstStyle/>
          <a:p>
            <a:pPr algn="l"/>
            <a:r>
              <a:rPr sz="1300" b="1">
                <a:solidFill>
                  <a:srgbClr val="2B3A42"/>
                </a:solidFill>
                <a:latin typeface="Segoe UI"/>
              </a:rPr>
              <a:t>Nachher: URL /customer/5</a:t>
            </a:r>
          </a:p>
          <a:p>
            <a:pPr algn="l"/>
            <a:r>
              <a:rPr sz="1300" b="1">
                <a:solidFill>
                  <a:srgbClr val="2B3A42"/>
                </a:solidFill>
                <a:latin typeface="Segoe UI"/>
              </a:rPr>
              <a:t>AppComponent (app-root)</a:t>
            </a:r>
          </a:p>
        </p:txBody>
      </p:sp>
      <p:sp>
        <p:nvSpPr>
          <p:cNvPr id="13" name="Rectangle 12"/>
          <p:cNvSpPr/>
          <p:nvPr/>
        </p:nvSpPr>
        <p:spPr>
          <a:xfrm>
            <a:off x="6465160" y="2540000"/>
            <a:ext cx="4667080" cy="1260000"/>
          </a:xfrm>
          <a:prstGeom prst="rect">
            <a:avLst/>
          </a:prstGeom>
          <a:solidFill>
            <a:srgbClr val="FFFFFF"/>
          </a:solidFill>
          <a:ln w="12700">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14" name="TextBox 13"/>
          <p:cNvSpPr txBox="1"/>
          <p:nvPr/>
        </p:nvSpPr>
        <p:spPr>
          <a:xfrm>
            <a:off x="6525160" y="2580000"/>
            <a:ext cx="4547080" cy="290000"/>
          </a:xfrm>
          <a:prstGeom prst="rect">
            <a:avLst/>
          </a:prstGeom>
          <a:noFill/>
        </p:spPr>
        <p:txBody>
          <a:bodyPr wrap="square" anchor="t" lIns="70000" rIns="70000" tIns="0" bIns="0">
            <a:spAutoFit/>
          </a:bodyPr>
          <a:lstStyle/>
          <a:p>
            <a:pPr algn="l"/>
            <a:r>
              <a:rPr sz="1300" b="1">
                <a:solidFill>
                  <a:srgbClr val="2B3A42"/>
                </a:solidFill>
                <a:latin typeface="Segoe UI"/>
              </a:rPr>
              <a:t>&lt;router-outlet&gt; mit Details</a:t>
            </a:r>
          </a:p>
        </p:txBody>
      </p:sp>
      <p:sp>
        <p:nvSpPr>
          <p:cNvPr id="15" name="Rounded Rectangle 14"/>
          <p:cNvSpPr/>
          <p:nvPr/>
        </p:nvSpPr>
        <p:spPr>
          <a:xfrm>
            <a:off x="6575160" y="2870000"/>
            <a:ext cx="444708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CustomerDetailsComponent</a:t>
            </a:r>
          </a:p>
          <a:p>
            <a:pPr algn="ctr"/>
            <a:r>
              <a:rPr sz="1300" b="1">
                <a:solidFill>
                  <a:srgbClr val="FFFFFF"/>
                </a:solidFill>
                <a:latin typeface="Segoe UI"/>
              </a:rPr>
              <a:t>Input id = '5'</a:t>
            </a:r>
          </a:p>
        </p:txBody>
      </p:sp>
      <p:cxnSp>
        <p:nvCxnSpPr>
          <p:cNvPr id="16" name="Connector 15"/>
          <p:cNvCxnSpPr/>
          <p:nvPr/>
        </p:nvCxnSpPr>
        <p:spPr>
          <a:xfrm>
            <a:off x="5615160" y="3280000"/>
            <a:ext cx="960000" cy="0"/>
          </a:xfrm>
          <a:prstGeom prst="line">
            <a:avLst/>
          </a:prstGeom>
          <a:ln w="25400">
            <a:solidFill>
              <a:srgbClr val="C05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77980" y="2950000"/>
            <a:ext cx="834360" cy="280000"/>
          </a:xfrm>
          <a:prstGeom prst="rect">
            <a:avLst/>
          </a:prstGeom>
          <a:solidFill>
            <a:srgbClr val="FFFFFF"/>
          </a:solidFill>
        </p:spPr>
        <p:txBody>
          <a:bodyPr wrap="none" anchor="ctr" lIns="70000" rIns="70000" tIns="0" bIns="0">
            <a:spAutoFit/>
          </a:bodyPr>
          <a:lstStyle/>
          <a:p>
            <a:pPr algn="ctr"/>
            <a:r>
              <a:rPr sz="1200" b="1">
                <a:solidFill>
                  <a:srgbClr val="C05A1E"/>
                </a:solidFill>
                <a:latin typeface="Segoe UI"/>
              </a:rPr>
              <a:t>Klick</a:t>
            </a:r>
          </a:p>
        </p:txBody>
      </p:sp>
    </p:spTree>
  </p:cSld>
  <p:clrMapOvr>
    <a:masterClrMapping/>
  </p:clrMapOvr>
</p:sld>
</file>

<file path=ppt/slides/slide8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eines Klicks auf routerLink</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Von /customer nach /customer/5: Der Router sucht die Route, prüft Guards, setzt die URL und tauscht den Inhalt des Outlets.</a:t>
            </a:r>
          </a:p>
        </p:txBody>
      </p:sp>
      <p:sp>
        <p:nvSpPr>
          <p:cNvPr id="4" name="Rectangle 3"/>
          <p:cNvSpPr/>
          <p:nvPr/>
        </p:nvSpPr>
        <p:spPr>
          <a:xfrm>
            <a:off x="8830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 (Template)</a:t>
            </a:r>
          </a:p>
        </p:txBody>
      </p:sp>
      <p:sp>
        <p:nvSpPr>
          <p:cNvPr id="5" name="Rectangle 4"/>
          <p:cNvSpPr/>
          <p:nvPr/>
        </p:nvSpPr>
        <p:spPr>
          <a:xfrm>
            <a:off x="263544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RouterLink</a:t>
            </a:r>
          </a:p>
        </p:txBody>
      </p:sp>
      <p:sp>
        <p:nvSpPr>
          <p:cNvPr id="6" name="Rectangle 5"/>
          <p:cNvSpPr/>
          <p:nvPr/>
        </p:nvSpPr>
        <p:spPr>
          <a:xfrm>
            <a:off x="438780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7" name="Rectangle 6"/>
          <p:cNvSpPr/>
          <p:nvPr/>
        </p:nvSpPr>
        <p:spPr>
          <a:xfrm>
            <a:off x="614016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Routes und Guards</a:t>
            </a:r>
          </a:p>
        </p:txBody>
      </p:sp>
      <p:sp>
        <p:nvSpPr>
          <p:cNvPr id="8" name="Rectangle 7"/>
          <p:cNvSpPr/>
          <p:nvPr/>
        </p:nvSpPr>
        <p:spPr>
          <a:xfrm>
            <a:off x="789252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RouterOutlet</a:t>
            </a:r>
          </a:p>
        </p:txBody>
      </p:sp>
      <p:sp>
        <p:nvSpPr>
          <p:cNvPr id="9" name="Rectangle 8"/>
          <p:cNvSpPr/>
          <p:nvPr/>
        </p:nvSpPr>
        <p:spPr>
          <a:xfrm>
            <a:off x="9644880" y="1650000"/>
            <a:ext cx="166236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CustomerDetails</a:t>
            </a:r>
          </a:p>
        </p:txBody>
      </p:sp>
      <p:cxnSp>
        <p:nvCxnSpPr>
          <p:cNvPr id="10" name="Connector 9"/>
          <p:cNvCxnSpPr/>
          <p:nvPr/>
        </p:nvCxnSpPr>
        <p:spPr>
          <a:xfrm>
            <a:off x="17142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6662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89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713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72370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760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714260" y="25892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76170" y="2269200"/>
            <a:ext cx="2628540" cy="300000"/>
          </a:xfrm>
          <a:prstGeom prst="rect">
            <a:avLst/>
          </a:prstGeom>
          <a:noFill/>
        </p:spPr>
        <p:txBody>
          <a:bodyPr wrap="square" anchor="b" lIns="70000" rIns="70000" tIns="0" bIns="0">
            <a:spAutoFit/>
          </a:bodyPr>
          <a:lstStyle/>
          <a:p>
            <a:pPr algn="ctr"/>
            <a:r>
              <a:rPr sz="1300" b="0">
                <a:solidFill>
                  <a:srgbClr val="2B3A42"/>
                </a:solidFill>
                <a:latin typeface="Segoe UI"/>
              </a:rPr>
              <a:t>1. Klick auf Link von Kunde 5</a:t>
            </a:r>
          </a:p>
        </p:txBody>
      </p:sp>
      <p:cxnSp>
        <p:nvCxnSpPr>
          <p:cNvPr id="18" name="Connector 17"/>
          <p:cNvCxnSpPr/>
          <p:nvPr/>
        </p:nvCxnSpPr>
        <p:spPr>
          <a:xfrm>
            <a:off x="3466620" y="29492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28530" y="2629200"/>
            <a:ext cx="2628540" cy="300000"/>
          </a:xfrm>
          <a:prstGeom prst="rect">
            <a:avLst/>
          </a:prstGeom>
          <a:noFill/>
        </p:spPr>
        <p:txBody>
          <a:bodyPr wrap="square" anchor="b" lIns="70000" rIns="70000" tIns="0" bIns="0">
            <a:spAutoFit/>
          </a:bodyPr>
          <a:lstStyle/>
          <a:p>
            <a:pPr algn="ctr"/>
            <a:r>
              <a:rPr sz="1300" b="0">
                <a:solidFill>
                  <a:srgbClr val="2B3A42"/>
                </a:solidFill>
                <a:latin typeface="Segoe UI"/>
              </a:rPr>
              <a:t>2. navigateByUrl('/customer/5')</a:t>
            </a:r>
          </a:p>
        </p:txBody>
      </p:sp>
      <p:cxnSp>
        <p:nvCxnSpPr>
          <p:cNvPr id="20" name="Connector 19"/>
          <p:cNvCxnSpPr/>
          <p:nvPr/>
        </p:nvCxnSpPr>
        <p:spPr>
          <a:xfrm>
            <a:off x="5218980" y="33092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780890" y="2989200"/>
            <a:ext cx="2628540" cy="300000"/>
          </a:xfrm>
          <a:prstGeom prst="rect">
            <a:avLst/>
          </a:prstGeom>
          <a:noFill/>
        </p:spPr>
        <p:txBody>
          <a:bodyPr wrap="square" anchor="b" lIns="70000" rIns="70000" tIns="0" bIns="0">
            <a:spAutoFit/>
          </a:bodyPr>
          <a:lstStyle/>
          <a:p>
            <a:pPr algn="ctr"/>
            <a:r>
              <a:rPr sz="1300" b="0">
                <a:solidFill>
                  <a:srgbClr val="2B3A42"/>
                </a:solidFill>
                <a:latin typeface="Segoe UI"/>
              </a:rPr>
              <a:t>3. Route suchen</a:t>
            </a:r>
          </a:p>
        </p:txBody>
      </p:sp>
      <p:cxnSp>
        <p:nvCxnSpPr>
          <p:cNvPr id="22" name="Connector 21"/>
          <p:cNvCxnSpPr/>
          <p:nvPr/>
        </p:nvCxnSpPr>
        <p:spPr>
          <a:xfrm flipH="1">
            <a:off x="5238980" y="3669200"/>
            <a:ext cx="173236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780890" y="3349200"/>
            <a:ext cx="2628540" cy="300000"/>
          </a:xfrm>
          <a:prstGeom prst="rect">
            <a:avLst/>
          </a:prstGeom>
          <a:noFill/>
        </p:spPr>
        <p:txBody>
          <a:bodyPr wrap="square" anchor="b" lIns="70000" rIns="70000" tIns="0" bIns="0">
            <a:spAutoFit/>
          </a:bodyPr>
          <a:lstStyle/>
          <a:p>
            <a:pPr algn="ctr"/>
            <a:r>
              <a:rPr sz="1300" b="0">
                <a:solidFill>
                  <a:srgbClr val="404B52"/>
                </a:solidFill>
                <a:latin typeface="Segoe UI"/>
              </a:rPr>
              <a:t>4. customer/:id, id = '5'</a:t>
            </a:r>
          </a:p>
        </p:txBody>
      </p:sp>
      <p:cxnSp>
        <p:nvCxnSpPr>
          <p:cNvPr id="24" name="Connector 23"/>
          <p:cNvCxnSpPr/>
          <p:nvPr/>
        </p:nvCxnSpPr>
        <p:spPr>
          <a:xfrm>
            <a:off x="5218980" y="40292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80890" y="3709200"/>
            <a:ext cx="2628540" cy="300000"/>
          </a:xfrm>
          <a:prstGeom prst="rect">
            <a:avLst/>
          </a:prstGeom>
          <a:noFill/>
        </p:spPr>
        <p:txBody>
          <a:bodyPr wrap="square" anchor="b" lIns="70000" rIns="70000" tIns="0" bIns="0">
            <a:spAutoFit/>
          </a:bodyPr>
          <a:lstStyle/>
          <a:p>
            <a:pPr algn="ctr"/>
            <a:r>
              <a:rPr sz="1300" b="0">
                <a:solidFill>
                  <a:srgbClr val="2B3A42"/>
                </a:solidFill>
                <a:latin typeface="Segoe UI"/>
              </a:rPr>
              <a:t>5. Guards prüfen (falls da)</a:t>
            </a:r>
          </a:p>
        </p:txBody>
      </p:sp>
      <p:cxnSp>
        <p:nvCxnSpPr>
          <p:cNvPr id="26" name="Connector 25"/>
          <p:cNvCxnSpPr/>
          <p:nvPr/>
        </p:nvCxnSpPr>
        <p:spPr>
          <a:xfrm flipH="1">
            <a:off x="5238980" y="4389200"/>
            <a:ext cx="173236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780890" y="4069200"/>
            <a:ext cx="2628540" cy="300000"/>
          </a:xfrm>
          <a:prstGeom prst="rect">
            <a:avLst/>
          </a:prstGeom>
          <a:noFill/>
        </p:spPr>
        <p:txBody>
          <a:bodyPr wrap="square" anchor="b" lIns="70000" rIns="70000" tIns="0" bIns="0">
            <a:spAutoFit/>
          </a:bodyPr>
          <a:lstStyle/>
          <a:p>
            <a:pPr algn="ctr"/>
            <a:r>
              <a:rPr sz="1300" b="0">
                <a:solidFill>
                  <a:srgbClr val="404B52"/>
                </a:solidFill>
                <a:latin typeface="Segoe UI"/>
              </a:rPr>
              <a:t>6. true: weiter</a:t>
            </a:r>
          </a:p>
        </p:txBody>
      </p:sp>
      <p:cxnSp>
        <p:nvCxnSpPr>
          <p:cNvPr id="28" name="Connector 27"/>
          <p:cNvCxnSpPr/>
          <p:nvPr/>
        </p:nvCxnSpPr>
        <p:spPr>
          <a:xfrm>
            <a:off x="5218980" y="461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598980" y="461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5238980" y="474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48980" y="4462400"/>
            <a:ext cx="1252360" cy="300000"/>
          </a:xfrm>
          <a:prstGeom prst="rect">
            <a:avLst/>
          </a:prstGeom>
          <a:noFill/>
        </p:spPr>
        <p:txBody>
          <a:bodyPr wrap="square" anchor="ctr" lIns="70000" rIns="70000" tIns="0" bIns="0">
            <a:spAutoFit/>
          </a:bodyPr>
          <a:lstStyle/>
          <a:p>
            <a:pPr algn="l"/>
            <a:r>
              <a:rPr sz="1300" b="0">
                <a:solidFill>
                  <a:srgbClr val="2B3A42"/>
                </a:solidFill>
                <a:latin typeface="Segoe UI"/>
              </a:rPr>
              <a:t>7. URL setzen</a:t>
            </a:r>
          </a:p>
        </p:txBody>
      </p:sp>
      <p:cxnSp>
        <p:nvCxnSpPr>
          <p:cNvPr id="32" name="Connector 31"/>
          <p:cNvCxnSpPr/>
          <p:nvPr/>
        </p:nvCxnSpPr>
        <p:spPr>
          <a:xfrm>
            <a:off x="5218980" y="51092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248980" y="4789200"/>
            <a:ext cx="3444720" cy="300000"/>
          </a:xfrm>
          <a:prstGeom prst="rect">
            <a:avLst/>
          </a:prstGeom>
          <a:noFill/>
        </p:spPr>
        <p:txBody>
          <a:bodyPr wrap="square" anchor="b" lIns="70000" rIns="70000" tIns="0" bIns="0">
            <a:spAutoFit/>
          </a:bodyPr>
          <a:lstStyle/>
          <a:p>
            <a:pPr algn="ctr"/>
            <a:r>
              <a:rPr sz="1300" b="0">
                <a:solidFill>
                  <a:srgbClr val="2B3A42"/>
                </a:solidFill>
                <a:latin typeface="Segoe UI"/>
              </a:rPr>
              <a:t>8. neue Route aktivieren</a:t>
            </a:r>
          </a:p>
        </p:txBody>
      </p:sp>
      <p:cxnSp>
        <p:nvCxnSpPr>
          <p:cNvPr id="34" name="Connector 33"/>
          <p:cNvCxnSpPr/>
          <p:nvPr/>
        </p:nvCxnSpPr>
        <p:spPr>
          <a:xfrm flipH="1">
            <a:off x="1734260" y="5469200"/>
            <a:ext cx="69894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744260" y="5149200"/>
            <a:ext cx="6949440" cy="300000"/>
          </a:xfrm>
          <a:prstGeom prst="rect">
            <a:avLst/>
          </a:prstGeom>
          <a:noFill/>
        </p:spPr>
        <p:txBody>
          <a:bodyPr wrap="square" anchor="b" lIns="70000" rIns="70000" tIns="0" bIns="0">
            <a:spAutoFit/>
          </a:bodyPr>
          <a:lstStyle/>
          <a:p>
            <a:pPr algn="ctr"/>
            <a:r>
              <a:rPr sz="1300" b="0">
                <a:solidFill>
                  <a:srgbClr val="2B3A42"/>
                </a:solidFill>
                <a:latin typeface="Segoe UI"/>
              </a:rPr>
              <a:t>9. Liste zerstören</a:t>
            </a:r>
          </a:p>
        </p:txBody>
      </p:sp>
      <p:cxnSp>
        <p:nvCxnSpPr>
          <p:cNvPr id="36" name="Connector 35"/>
          <p:cNvCxnSpPr/>
          <p:nvPr/>
        </p:nvCxnSpPr>
        <p:spPr>
          <a:xfrm>
            <a:off x="8723700" y="5829200"/>
            <a:ext cx="173236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285610" y="5509200"/>
            <a:ext cx="2628540" cy="300000"/>
          </a:xfrm>
          <a:prstGeom prst="rect">
            <a:avLst/>
          </a:prstGeom>
          <a:noFill/>
        </p:spPr>
        <p:txBody>
          <a:bodyPr wrap="square" anchor="b" lIns="70000" rIns="70000" tIns="0" bIns="0">
            <a:spAutoFit/>
          </a:bodyPr>
          <a:lstStyle/>
          <a:p>
            <a:pPr algn="ctr"/>
            <a:r>
              <a:rPr sz="1300" b="0">
                <a:solidFill>
                  <a:srgbClr val="2B3A42"/>
                </a:solidFill>
                <a:latin typeface="Segoe UI"/>
              </a:rPr>
              <a:t>10. erzeugen, Input id = '5'</a:t>
            </a:r>
          </a:p>
        </p:txBody>
      </p:sp>
    </p:spTree>
  </p:cSld>
  <p:clrMapOvr>
    <a:masterClrMapping/>
  </p:clrMapOvr>
</p:sld>
</file>

<file path=ppt/slides/slide8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router.navigate nach dem Speichern</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Start: /customer/5 mit CustomerDetailsComponent. Ziel: /customer mit CustomerListComponent, ausgelöst im Code der Klasse.</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CustomerDetails</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RouterOutlet</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45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69496" y="245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909496" y="258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19496" y="230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1. onSubmit()</a:t>
            </a:r>
          </a:p>
        </p:txBody>
      </p:sp>
      <p:cxnSp>
        <p:nvCxnSpPr>
          <p:cNvPr id="18" name="Connector 17"/>
          <p:cNvCxnSpPr/>
          <p:nvPr/>
        </p:nvCxnSpPr>
        <p:spPr>
          <a:xfrm>
            <a:off x="1889496" y="294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363788" y="262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2. update(draft) und subscribe</a:t>
            </a:r>
          </a:p>
        </p:txBody>
      </p:sp>
      <p:cxnSp>
        <p:nvCxnSpPr>
          <p:cNvPr id="20" name="Connector 19"/>
          <p:cNvCxnSpPr/>
          <p:nvPr/>
        </p:nvCxnSpPr>
        <p:spPr>
          <a:xfrm flipH="1">
            <a:off x="1909496" y="33092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363788" y="2989200"/>
            <a:ext cx="3154248" cy="300000"/>
          </a:xfrm>
          <a:prstGeom prst="rect">
            <a:avLst/>
          </a:prstGeom>
          <a:noFill/>
        </p:spPr>
        <p:txBody>
          <a:bodyPr wrap="square" anchor="b" lIns="70000" rIns="70000" tIns="0" bIns="0">
            <a:spAutoFit/>
          </a:bodyPr>
          <a:lstStyle/>
          <a:p>
            <a:pPr algn="ctr"/>
            <a:r>
              <a:rPr sz="1300" b="0">
                <a:solidFill>
                  <a:srgbClr val="404B52"/>
                </a:solidFill>
                <a:latin typeface="Segoe UI"/>
              </a:rPr>
              <a:t>3. gespeichert (Observable)</a:t>
            </a:r>
          </a:p>
        </p:txBody>
      </p:sp>
      <p:cxnSp>
        <p:nvCxnSpPr>
          <p:cNvPr id="22" name="Connector 21"/>
          <p:cNvCxnSpPr/>
          <p:nvPr/>
        </p:nvCxnSpPr>
        <p:spPr>
          <a:xfrm>
            <a:off x="1889496" y="3669200"/>
            <a:ext cx="4185664"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19496" y="3349200"/>
            <a:ext cx="4145664" cy="300000"/>
          </a:xfrm>
          <a:prstGeom prst="rect">
            <a:avLst/>
          </a:prstGeom>
          <a:noFill/>
        </p:spPr>
        <p:txBody>
          <a:bodyPr wrap="square" anchor="b" lIns="70000" rIns="70000" tIns="0" bIns="0">
            <a:spAutoFit/>
          </a:bodyPr>
          <a:lstStyle/>
          <a:p>
            <a:pPr algn="ctr"/>
            <a:r>
              <a:rPr sz="1300" b="0">
                <a:solidFill>
                  <a:srgbClr val="2B3A42"/>
                </a:solidFill>
                <a:latin typeface="Segoe UI"/>
              </a:rPr>
              <a:t>4. navigate(['/customer'])</a:t>
            </a:r>
          </a:p>
        </p:txBody>
      </p:sp>
      <p:cxnSp>
        <p:nvCxnSpPr>
          <p:cNvPr id="24" name="Connector 23"/>
          <p:cNvCxnSpPr/>
          <p:nvPr/>
        </p:nvCxnSpPr>
        <p:spPr>
          <a:xfrm>
            <a:off x="6095160" y="38924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75160" y="3892400"/>
            <a:ext cx="0" cy="1368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115160" y="40292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25160" y="3742400"/>
            <a:ext cx="1602832" cy="300000"/>
          </a:xfrm>
          <a:prstGeom prst="rect">
            <a:avLst/>
          </a:prstGeom>
          <a:noFill/>
        </p:spPr>
        <p:txBody>
          <a:bodyPr wrap="square" anchor="ctr" lIns="70000" rIns="70000" tIns="0" bIns="0">
            <a:spAutoFit/>
          </a:bodyPr>
          <a:lstStyle/>
          <a:p>
            <a:pPr algn="l"/>
            <a:r>
              <a:rPr sz="1300" b="0">
                <a:solidFill>
                  <a:srgbClr val="2B3A42"/>
                </a:solidFill>
                <a:latin typeface="Segoe UI"/>
              </a:rPr>
              <a:t>5. Route finden</a:t>
            </a:r>
          </a:p>
        </p:txBody>
      </p:sp>
      <p:cxnSp>
        <p:nvCxnSpPr>
          <p:cNvPr id="28" name="Connector 27"/>
          <p:cNvCxnSpPr/>
          <p:nvPr/>
        </p:nvCxnSpPr>
        <p:spPr>
          <a:xfrm>
            <a:off x="6095160" y="438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569452" y="406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6. neue Route aktivieren</a:t>
            </a:r>
          </a:p>
        </p:txBody>
      </p:sp>
      <p:cxnSp>
        <p:nvCxnSpPr>
          <p:cNvPr id="30" name="Connector 29"/>
          <p:cNvCxnSpPr/>
          <p:nvPr/>
        </p:nvCxnSpPr>
        <p:spPr>
          <a:xfrm flipH="1">
            <a:off x="1909496" y="47492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919496" y="4429200"/>
            <a:ext cx="6248496" cy="300000"/>
          </a:xfrm>
          <a:prstGeom prst="rect">
            <a:avLst/>
          </a:prstGeom>
          <a:noFill/>
        </p:spPr>
        <p:txBody>
          <a:bodyPr wrap="square" anchor="b" lIns="70000" rIns="70000" tIns="0" bIns="0">
            <a:spAutoFit/>
          </a:bodyPr>
          <a:lstStyle/>
          <a:p>
            <a:pPr algn="ctr"/>
            <a:r>
              <a:rPr sz="1300" b="0">
                <a:solidFill>
                  <a:srgbClr val="2B3A42"/>
                </a:solidFill>
                <a:latin typeface="Segoe UI"/>
              </a:rPr>
              <a:t>7. Details zerstören</a:t>
            </a:r>
          </a:p>
        </p:txBody>
      </p:sp>
      <p:cxnSp>
        <p:nvCxnSpPr>
          <p:cNvPr id="32" name="Connector 31"/>
          <p:cNvCxnSpPr/>
          <p:nvPr/>
        </p:nvCxnSpPr>
        <p:spPr>
          <a:xfrm>
            <a:off x="8197992" y="51092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672284" y="4789200"/>
            <a:ext cx="3154248" cy="300000"/>
          </a:xfrm>
          <a:prstGeom prst="rect">
            <a:avLst/>
          </a:prstGeom>
          <a:noFill/>
        </p:spPr>
        <p:txBody>
          <a:bodyPr wrap="square" anchor="b" lIns="70000" rIns="70000" tIns="0" bIns="0">
            <a:spAutoFit/>
          </a:bodyPr>
          <a:lstStyle/>
          <a:p>
            <a:pPr algn="ctr"/>
            <a:r>
              <a:rPr sz="1300" b="0">
                <a:solidFill>
                  <a:srgbClr val="2B3A42"/>
                </a:solidFill>
                <a:latin typeface="Segoe UI"/>
              </a:rPr>
              <a:t>8. Liste erzeugen</a:t>
            </a:r>
          </a:p>
        </p:txBody>
      </p:sp>
      <p:cxnSp>
        <p:nvCxnSpPr>
          <p:cNvPr id="34" name="Connector 33"/>
          <p:cNvCxnSpPr/>
          <p:nvPr/>
        </p:nvCxnSpPr>
        <p:spPr>
          <a:xfrm flipH="1">
            <a:off x="4012328" y="5469200"/>
            <a:ext cx="6288496"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22328" y="5149200"/>
            <a:ext cx="6248496" cy="300000"/>
          </a:xfrm>
          <a:prstGeom prst="rect">
            <a:avLst/>
          </a:prstGeom>
          <a:noFill/>
        </p:spPr>
        <p:txBody>
          <a:bodyPr wrap="square" anchor="b" lIns="70000" rIns="70000" tIns="0" bIns="0">
            <a:spAutoFit/>
          </a:bodyPr>
          <a:lstStyle/>
          <a:p>
            <a:pPr algn="ctr"/>
            <a:r>
              <a:rPr sz="1300" b="0">
                <a:solidFill>
                  <a:srgbClr val="2B3A42"/>
                </a:solidFill>
                <a:latin typeface="Segoe UI"/>
              </a:rPr>
              <a:t>9. getAll() über toSignal</a:t>
            </a:r>
          </a:p>
        </p:txBody>
      </p:sp>
      <p:cxnSp>
        <p:nvCxnSpPr>
          <p:cNvPr id="36" name="Connector 35"/>
          <p:cNvCxnSpPr/>
          <p:nvPr/>
        </p:nvCxnSpPr>
        <p:spPr>
          <a:xfrm>
            <a:off x="3992328" y="5829200"/>
            <a:ext cx="6288496"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22328" y="5509200"/>
            <a:ext cx="6248496" cy="300000"/>
          </a:xfrm>
          <a:prstGeom prst="rect">
            <a:avLst/>
          </a:prstGeom>
          <a:noFill/>
        </p:spPr>
        <p:txBody>
          <a:bodyPr wrap="square" anchor="b" lIns="70000" rIns="70000" tIns="0" bIns="0">
            <a:spAutoFit/>
          </a:bodyPr>
          <a:lstStyle/>
          <a:p>
            <a:pPr algn="ctr"/>
            <a:r>
              <a:rPr sz="1300" b="0">
                <a:solidFill>
                  <a:srgbClr val="404B52"/>
                </a:solidFill>
                <a:latin typeface="Segoe UI"/>
              </a:rPr>
              <a:t>10. aktuelle Kundenliste</a:t>
            </a:r>
          </a:p>
        </p:txBody>
      </p:sp>
    </p:spTree>
  </p:cSld>
  <p:clrMapOvr>
    <a:masterClrMapping/>
  </p:clrMapOvr>
</p:sld>
</file>

<file path=ppt/slides/slide8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Datenfluss mit ngModel: Modell und Feld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[(ngModel)] verbindet die Kopie draft in der Klasse mit dem Eingabefeld, in beide Richtungen. NgForm sammelt die Felder.</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CustomerDetails</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NgModel (firstname)</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&lt;input&gt; im Browser</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NgForm #customerForm</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4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532350" y="24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172350" y="26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582350" y="2301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1. draft = Kopie</a:t>
            </a:r>
          </a:p>
        </p:txBody>
      </p:sp>
      <p:cxnSp>
        <p:nvCxnSpPr>
          <p:cNvPr id="16" name="Connector 15"/>
          <p:cNvCxnSpPr/>
          <p:nvPr/>
        </p:nvCxnSpPr>
        <p:spPr>
          <a:xfrm>
            <a:off x="2152350" y="30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95215" y="26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[ngModel]: c.firstname = 'Anna'</a:t>
            </a:r>
          </a:p>
        </p:txBody>
      </p:sp>
      <p:cxnSp>
        <p:nvCxnSpPr>
          <p:cNvPr id="18" name="Connector 17"/>
          <p:cNvCxnSpPr/>
          <p:nvPr/>
        </p:nvCxnSpPr>
        <p:spPr>
          <a:xfrm>
            <a:off x="4780890" y="34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23755" y="30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Wert 'Anna' ins Feld schreiben</a:t>
            </a:r>
          </a:p>
        </p:txBody>
      </p:sp>
      <p:cxnSp>
        <p:nvCxnSpPr>
          <p:cNvPr id="20" name="Connector 19"/>
          <p:cNvCxnSpPr/>
          <p:nvPr/>
        </p:nvCxnSpPr>
        <p:spPr>
          <a:xfrm>
            <a:off x="4780890" y="38180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810890" y="34680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4. Feld beim Formular anmelden (name)</a:t>
            </a:r>
          </a:p>
        </p:txBody>
      </p:sp>
      <p:cxnSp>
        <p:nvCxnSpPr>
          <p:cNvPr id="22" name="Connector 21"/>
          <p:cNvCxnSpPr/>
          <p:nvPr/>
        </p:nvCxnSpPr>
        <p:spPr>
          <a:xfrm flipH="1">
            <a:off x="4800890" y="4218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3755" y="3868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5. Benutzer tippt 'Annette'</a:t>
            </a:r>
          </a:p>
        </p:txBody>
      </p:sp>
      <p:cxnSp>
        <p:nvCxnSpPr>
          <p:cNvPr id="24" name="Connector 23"/>
          <p:cNvCxnSpPr/>
          <p:nvPr/>
        </p:nvCxnSpPr>
        <p:spPr>
          <a:xfrm flipH="1">
            <a:off x="2172350" y="4618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95215" y="4268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6. (ngModelChange): 'Annette'</a:t>
            </a:r>
          </a:p>
        </p:txBody>
      </p:sp>
      <p:cxnSp>
        <p:nvCxnSpPr>
          <p:cNvPr id="26" name="Connector 25"/>
          <p:cNvCxnSpPr/>
          <p:nvPr/>
        </p:nvCxnSpPr>
        <p:spPr>
          <a:xfrm>
            <a:off x="4780890" y="5018000"/>
            <a:ext cx="523708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810890" y="4668000"/>
            <a:ext cx="5197080" cy="330000"/>
          </a:xfrm>
          <a:prstGeom prst="rect">
            <a:avLst/>
          </a:prstGeom>
          <a:noFill/>
        </p:spPr>
        <p:txBody>
          <a:bodyPr wrap="square" anchor="b" lIns="70000" rIns="70000" tIns="0" bIns="0">
            <a:spAutoFit/>
          </a:bodyPr>
          <a:lstStyle/>
          <a:p>
            <a:pPr algn="ctr"/>
            <a:r>
              <a:rPr sz="1500" b="0">
                <a:solidFill>
                  <a:srgbClr val="2B3A42"/>
                </a:solidFill>
                <a:latin typeface="Segoe UI"/>
              </a:rPr>
              <a:t>7. Feld ist jetzt dirty, Zustand neu</a:t>
            </a:r>
          </a:p>
        </p:txBody>
      </p:sp>
      <p:cxnSp>
        <p:nvCxnSpPr>
          <p:cNvPr id="28" name="Connector 27"/>
          <p:cNvCxnSpPr/>
          <p:nvPr/>
        </p:nvCxnSpPr>
        <p:spPr>
          <a:xfrm flipH="1">
            <a:off x="2172350" y="5418000"/>
            <a:ext cx="78656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182350" y="5068000"/>
            <a:ext cx="7825620" cy="330000"/>
          </a:xfrm>
          <a:prstGeom prst="rect">
            <a:avLst/>
          </a:prstGeom>
          <a:noFill/>
        </p:spPr>
        <p:txBody>
          <a:bodyPr wrap="square" anchor="b" lIns="70000" rIns="70000" tIns="0" bIns="0">
            <a:spAutoFit/>
          </a:bodyPr>
          <a:lstStyle/>
          <a:p>
            <a:pPr algn="ctr"/>
            <a:r>
              <a:rPr sz="1500" b="0">
                <a:solidFill>
                  <a:srgbClr val="2B3A42"/>
                </a:solidFill>
                <a:latin typeface="Segoe UI"/>
              </a:rPr>
              <a:t>8. (ngSubmit): onSubmit(customerForm)</a:t>
            </a:r>
          </a:p>
        </p:txBody>
      </p:sp>
      <p:cxnSp>
        <p:nvCxnSpPr>
          <p:cNvPr id="30" name="Connector 29"/>
          <p:cNvCxnSpPr/>
          <p:nvPr/>
        </p:nvCxnSpPr>
        <p:spPr>
          <a:xfrm>
            <a:off x="2152350" y="56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532350" y="56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2172350" y="58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582350" y="5501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9. draft() speichern</a:t>
            </a:r>
          </a:p>
        </p:txBody>
      </p:sp>
    </p:spTree>
  </p:cSld>
  <p:clrMapOvr>
    <a:masterClrMapping/>
  </p:clrMapOvr>
</p:sld>
</file>

<file path=ppt/slides/slide8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Zwei Geschwister teilen einen Service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MasterDetailComponent stellt Communication bereit. List und Detail bekommen dieselbe Instanz und tauschen darüber Nachrichten.</a:t>
            </a:r>
          </a:p>
        </p:txBody>
      </p:sp>
      <p:sp>
        <p:nvSpPr>
          <p:cNvPr id="4" name="Rectangle 3"/>
          <p:cNvSpPr/>
          <p:nvPr/>
        </p:nvSpPr>
        <p:spPr>
          <a:xfrm>
            <a:off x="838080" y="1650000"/>
            <a:ext cx="10514160" cy="3970000"/>
          </a:xfrm>
          <a:prstGeom prst="rect">
            <a:avLst/>
          </a:prstGeom>
          <a:solidFill>
            <a:srgbClr val="FAFBFC"/>
          </a:solidFill>
          <a:ln w="19050">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
            </a:r>
          </a:p>
        </p:txBody>
      </p:sp>
      <p:sp>
        <p:nvSpPr>
          <p:cNvPr id="5" name="TextBox 4"/>
          <p:cNvSpPr txBox="1"/>
          <p:nvPr/>
        </p:nvSpPr>
        <p:spPr>
          <a:xfrm>
            <a:off x="898080" y="1690000"/>
            <a:ext cx="10394160" cy="520000"/>
          </a:xfrm>
          <a:prstGeom prst="rect">
            <a:avLst/>
          </a:prstGeom>
          <a:noFill/>
        </p:spPr>
        <p:txBody>
          <a:bodyPr wrap="square" anchor="t" lIns="70000" rIns="70000" tIns="0" bIns="0">
            <a:spAutoFit/>
          </a:bodyPr>
          <a:lstStyle/>
          <a:p>
            <a:pPr algn="l"/>
            <a:r>
              <a:rPr sz="1300" b="1">
                <a:solidFill>
                  <a:srgbClr val="2B3A42"/>
                </a:solidFill>
                <a:latin typeface="Segoe UI"/>
              </a:rPr>
              <a:t>MasterDetailComponent</a:t>
            </a:r>
          </a:p>
          <a:p>
            <a:pPr algn="l"/>
            <a:r>
              <a:rPr sz="1300" b="1">
                <a:solidFill>
                  <a:srgbClr val="2B3A42"/>
                </a:solidFill>
                <a:latin typeface="Segoe UI"/>
              </a:rPr>
              <a:t>providers: [Communication], Template: &lt;list /&gt; &lt;detail /&gt;</a:t>
            </a:r>
          </a:p>
        </p:txBody>
      </p:sp>
      <p:sp>
        <p:nvSpPr>
          <p:cNvPr id="6" name="Rounded Rectangle 5"/>
          <p:cNvSpPr/>
          <p:nvPr/>
        </p:nvSpPr>
        <p:spPr>
          <a:xfrm>
            <a:off x="948080" y="2210000"/>
            <a:ext cx="1029416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ListComponent</a:t>
            </a:r>
          </a:p>
          <a:p>
            <a:pPr algn="ctr"/>
            <a:r>
              <a:rPr sz="1300" b="0">
                <a:solidFill>
                  <a:srgbClr val="2B3A42"/>
                </a:solidFill>
                <a:latin typeface="Segoe UI"/>
              </a:rPr>
              <a:t>inject(Communication)</a:t>
            </a:r>
          </a:p>
        </p:txBody>
      </p:sp>
      <p:sp>
        <p:nvSpPr>
          <p:cNvPr id="7" name="Rounded Rectangle 6"/>
          <p:cNvSpPr/>
          <p:nvPr/>
        </p:nvSpPr>
        <p:spPr>
          <a:xfrm>
            <a:off x="948080" y="3450000"/>
            <a:ext cx="10294160" cy="82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a:solidFill>
                  <a:srgbClr val="FFFFFF"/>
                </a:solidFill>
                <a:latin typeface="Segoe UI"/>
              </a:rPr>
              <a:t>Communication</a:t>
            </a:r>
          </a:p>
          <a:p>
            <a:pPr algn="ctr"/>
            <a:r>
              <a:rPr sz="1300" b="1">
                <a:solidFill>
                  <a:srgbClr val="FFFFFF"/>
                </a:solidFill>
                <a:latin typeface="Segoe UI"/>
              </a:rPr>
              <a:t>eine Instanz für diesen Teilbaum</a:t>
            </a:r>
          </a:p>
        </p:txBody>
      </p:sp>
      <p:sp>
        <p:nvSpPr>
          <p:cNvPr id="8" name="Rounded Rectangle 7"/>
          <p:cNvSpPr/>
          <p:nvPr/>
        </p:nvSpPr>
        <p:spPr>
          <a:xfrm>
            <a:off x="948080" y="4690000"/>
            <a:ext cx="10294160" cy="8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0">
                <a:solidFill>
                  <a:srgbClr val="2B3A42"/>
                </a:solidFill>
                <a:latin typeface="Segoe UI"/>
              </a:rPr>
              <a:t>DetailComponent</a:t>
            </a:r>
          </a:p>
          <a:p>
            <a:pPr algn="ctr"/>
            <a:r>
              <a:rPr sz="1300" b="0">
                <a:solidFill>
                  <a:srgbClr val="2B3A42"/>
                </a:solidFill>
                <a:latin typeface="Segoe UI"/>
              </a:rPr>
              <a:t>inject(Communication)</a:t>
            </a:r>
          </a:p>
        </p:txBody>
      </p:sp>
      <p:cxnSp>
        <p:nvCxnSpPr>
          <p:cNvPr id="9" name="Connector 8"/>
          <p:cNvCxnSpPr/>
          <p:nvPr/>
        </p:nvCxnSpPr>
        <p:spPr>
          <a:xfrm>
            <a:off x="6095160" y="3030000"/>
            <a:ext cx="0" cy="42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55160" y="3100000"/>
            <a:ext cx="2855184"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listToDetail.next(...)</a:t>
            </a:r>
          </a:p>
        </p:txBody>
      </p:sp>
      <p:cxnSp>
        <p:nvCxnSpPr>
          <p:cNvPr id="11" name="Connector 10"/>
          <p:cNvCxnSpPr/>
          <p:nvPr/>
        </p:nvCxnSpPr>
        <p:spPr>
          <a:xfrm>
            <a:off x="6095160" y="4270000"/>
            <a:ext cx="0" cy="42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55160" y="4340000"/>
            <a:ext cx="2855184" cy="280000"/>
          </a:xfrm>
          <a:prstGeom prst="rect">
            <a:avLst/>
          </a:prstGeom>
          <a:solidFill>
            <a:srgbClr val="FFFFFF"/>
          </a:solidFill>
        </p:spPr>
        <p:txBody>
          <a:bodyPr wrap="none" anchor="ctr" lIns="70000" rIns="70000" tIns="0" bIns="0">
            <a:spAutoFit/>
          </a:bodyPr>
          <a:lstStyle/>
          <a:p>
            <a:pPr algn="l"/>
            <a:r>
              <a:rPr sz="1200" b="1">
                <a:solidFill>
                  <a:srgbClr val="1E9E78"/>
                </a:solidFill>
                <a:latin typeface="Segoe UI"/>
              </a:rPr>
              <a:t>Handler über subscribe</a:t>
            </a:r>
          </a:p>
        </p:txBody>
      </p:sp>
    </p:spTree>
  </p:cSld>
  <p:clrMapOvr>
    <a:masterClrMapping/>
  </p:clrMapOvr>
</p:sld>
</file>

<file path=ppt/slides/slide8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Nachrichten über den Kommunikations-Service</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Beide Komponenten melden sich zuerst an. Danach erreicht jedes next() die andere Seite. takeUntilDestroyed räumt auf.</a:t>
            </a:r>
          </a:p>
        </p:txBody>
      </p:sp>
      <p:sp>
        <p:nvSpPr>
          <p:cNvPr id="4" name="Rectangle 3"/>
          <p:cNvSpPr/>
          <p:nvPr/>
        </p:nvSpPr>
        <p:spPr>
          <a:xfrm>
            <a:off x="144044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ListComponent</a:t>
            </a:r>
          </a:p>
        </p:txBody>
      </p:sp>
      <p:sp>
        <p:nvSpPr>
          <p:cNvPr id="5" name="Rectangle 4"/>
          <p:cNvSpPr/>
          <p:nvPr/>
        </p:nvSpPr>
        <p:spPr>
          <a:xfrm>
            <a:off x="494516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Communication</a:t>
            </a:r>
          </a:p>
        </p:txBody>
      </p:sp>
      <p:sp>
        <p:nvSpPr>
          <p:cNvPr id="6" name="Rectangle 5"/>
          <p:cNvSpPr/>
          <p:nvPr/>
        </p:nvSpPr>
        <p:spPr>
          <a:xfrm>
            <a:off x="844988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DetailComponent</a:t>
            </a:r>
          </a:p>
        </p:txBody>
      </p:sp>
      <p:cxnSp>
        <p:nvCxnSpPr>
          <p:cNvPr id="7" name="Connector 6"/>
          <p:cNvCxnSpPr/>
          <p:nvPr/>
        </p:nvCxnSpPr>
        <p:spPr>
          <a:xfrm>
            <a:off x="259044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59988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115160" y="265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218980" y="230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1. listToDetail.subscribe(...)</a:t>
            </a:r>
          </a:p>
        </p:txBody>
      </p:sp>
      <p:cxnSp>
        <p:nvCxnSpPr>
          <p:cNvPr id="12" name="Connector 11"/>
          <p:cNvCxnSpPr/>
          <p:nvPr/>
        </p:nvCxnSpPr>
        <p:spPr>
          <a:xfrm>
            <a:off x="2590440" y="310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714260" y="275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2. detailToList.subscribe(...)</a:t>
            </a:r>
          </a:p>
        </p:txBody>
      </p:sp>
      <p:cxnSp>
        <p:nvCxnSpPr>
          <p:cNvPr id="14" name="Connector 13"/>
          <p:cNvCxnSpPr/>
          <p:nvPr/>
        </p:nvCxnSpPr>
        <p:spPr>
          <a:xfrm>
            <a:off x="2590440" y="338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970440" y="338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610440" y="355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20440" y="3218000"/>
            <a:ext cx="3004720" cy="330000"/>
          </a:xfrm>
          <a:prstGeom prst="rect">
            <a:avLst/>
          </a:prstGeom>
          <a:noFill/>
        </p:spPr>
        <p:txBody>
          <a:bodyPr wrap="square" anchor="ctr" lIns="70000" rIns="70000" tIns="0" bIns="0">
            <a:spAutoFit/>
          </a:bodyPr>
          <a:lstStyle/>
          <a:p>
            <a:pPr algn="l"/>
            <a:r>
              <a:rPr sz="1500" b="0">
                <a:solidFill>
                  <a:srgbClr val="2B3A42"/>
                </a:solidFill>
                <a:latin typeface="Segoe UI"/>
              </a:rPr>
              <a:t>3. doSomething()</a:t>
            </a:r>
          </a:p>
        </p:txBody>
      </p:sp>
      <p:cxnSp>
        <p:nvCxnSpPr>
          <p:cNvPr id="18" name="Connector 17"/>
          <p:cNvCxnSpPr/>
          <p:nvPr/>
        </p:nvCxnSpPr>
        <p:spPr>
          <a:xfrm>
            <a:off x="2590440" y="400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714260" y="365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4. listToDetail.next(new ListUpdate())</a:t>
            </a:r>
          </a:p>
        </p:txBody>
      </p:sp>
      <p:cxnSp>
        <p:nvCxnSpPr>
          <p:cNvPr id="20" name="Connector 19"/>
          <p:cNvCxnSpPr/>
          <p:nvPr/>
        </p:nvCxnSpPr>
        <p:spPr>
          <a:xfrm>
            <a:off x="6095160" y="4454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18980" y="4104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5. Handler bekommt ListUpdate</a:t>
            </a:r>
          </a:p>
        </p:txBody>
      </p:sp>
      <p:cxnSp>
        <p:nvCxnSpPr>
          <p:cNvPr id="22" name="Connector 21"/>
          <p:cNvCxnSpPr/>
          <p:nvPr/>
        </p:nvCxnSpPr>
        <p:spPr>
          <a:xfrm flipH="1">
            <a:off x="6115160" y="490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18980" y="455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6. detailToList.next(new DetailUpdate())</a:t>
            </a:r>
          </a:p>
        </p:txBody>
      </p:sp>
      <p:cxnSp>
        <p:nvCxnSpPr>
          <p:cNvPr id="24" name="Connector 23"/>
          <p:cNvCxnSpPr/>
          <p:nvPr/>
        </p:nvCxnSpPr>
        <p:spPr>
          <a:xfrm flipH="1">
            <a:off x="2610440" y="5354000"/>
            <a:ext cx="348472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714260" y="5004000"/>
            <a:ext cx="5257080" cy="330000"/>
          </a:xfrm>
          <a:prstGeom prst="rect">
            <a:avLst/>
          </a:prstGeom>
          <a:noFill/>
        </p:spPr>
        <p:txBody>
          <a:bodyPr wrap="square" anchor="b" lIns="70000" rIns="70000" tIns="0" bIns="0">
            <a:spAutoFit/>
          </a:bodyPr>
          <a:lstStyle/>
          <a:p>
            <a:pPr algn="ctr"/>
            <a:r>
              <a:rPr sz="1500" b="0">
                <a:solidFill>
                  <a:srgbClr val="404B52"/>
                </a:solidFill>
                <a:latin typeface="Segoe UI"/>
              </a:rPr>
              <a:t>7. Handler: 'update received'</a:t>
            </a:r>
          </a:p>
        </p:txBody>
      </p:sp>
      <p:cxnSp>
        <p:nvCxnSpPr>
          <p:cNvPr id="26" name="Connector 25"/>
          <p:cNvCxnSpPr/>
          <p:nvPr/>
        </p:nvCxnSpPr>
        <p:spPr>
          <a:xfrm>
            <a:off x="2590440" y="5804000"/>
            <a:ext cx="348472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714260" y="5454000"/>
            <a:ext cx="5257080" cy="330000"/>
          </a:xfrm>
          <a:prstGeom prst="rect">
            <a:avLst/>
          </a:prstGeom>
          <a:noFill/>
        </p:spPr>
        <p:txBody>
          <a:bodyPr wrap="square" anchor="b" lIns="70000" rIns="70000" tIns="0" bIns="0">
            <a:spAutoFit/>
          </a:bodyPr>
          <a:lstStyle/>
          <a:p>
            <a:pPr algn="ctr"/>
            <a:r>
              <a:rPr sz="1500" b="0">
                <a:solidFill>
                  <a:srgbClr val="2B3A42"/>
                </a:solidFill>
                <a:latin typeface="Segoe UI"/>
              </a:rPr>
              <a:t>8. zerstört: takeUntilDestroyed meldet ab</a:t>
            </a:r>
          </a:p>
        </p:txBody>
      </p:sp>
    </p:spTree>
  </p:cSld>
  <p:clrMapOvr>
    <a:masterClrMapping/>
  </p:clrMapOvr>
</p:sld>
</file>

<file path=ppt/slides/slide8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Weg einer HTTP-Anfrage bis zum Backend</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Übung 24: CustomerService fragt per HttpClient an, der Proxy von ng serve leitet /api an server.js auf Port 3000 weiter.</a:t>
            </a:r>
          </a:p>
        </p:txBody>
      </p:sp>
      <p:sp>
        <p:nvSpPr>
          <p:cNvPr id="4" name="Rectangle 3"/>
          <p:cNvSpPr/>
          <p:nvPr/>
        </p:nvSpPr>
        <p:spPr>
          <a:xfrm>
            <a:off x="883080"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CustomerList</a:t>
            </a:r>
          </a:p>
        </p:txBody>
      </p:sp>
      <p:sp>
        <p:nvSpPr>
          <p:cNvPr id="5" name="Rectangle 4"/>
          <p:cNvSpPr/>
          <p:nvPr/>
        </p:nvSpPr>
        <p:spPr>
          <a:xfrm>
            <a:off x="2985912"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CustomerService</a:t>
            </a:r>
          </a:p>
        </p:txBody>
      </p:sp>
      <p:sp>
        <p:nvSpPr>
          <p:cNvPr id="6" name="Rectangle 5"/>
          <p:cNvSpPr/>
          <p:nvPr/>
        </p:nvSpPr>
        <p:spPr>
          <a:xfrm>
            <a:off x="5088744"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HttpClient</a:t>
            </a:r>
          </a:p>
        </p:txBody>
      </p:sp>
      <p:sp>
        <p:nvSpPr>
          <p:cNvPr id="7" name="Rectangle 6"/>
          <p:cNvSpPr/>
          <p:nvPr/>
        </p:nvSpPr>
        <p:spPr>
          <a:xfrm>
            <a:off x="7191576"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Proxy :4200</a:t>
            </a:r>
          </a:p>
        </p:txBody>
      </p:sp>
      <p:sp>
        <p:nvSpPr>
          <p:cNvPr id="8" name="Rectangle 7"/>
          <p:cNvSpPr/>
          <p:nvPr/>
        </p:nvSpPr>
        <p:spPr>
          <a:xfrm>
            <a:off x="9294408" y="1650000"/>
            <a:ext cx="2012832"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a:solidFill>
                  <a:srgbClr val="FFFFFF"/>
                </a:solidFill>
                <a:latin typeface="Segoe UI"/>
              </a:rPr>
              <a:t>server.js (:3000)</a:t>
            </a:r>
          </a:p>
        </p:txBody>
      </p:sp>
      <p:cxnSp>
        <p:nvCxnSpPr>
          <p:cNvPr id="9" name="Connector 8"/>
          <p:cNvCxnSpPr/>
          <p:nvPr/>
        </p:nvCxnSpPr>
        <p:spPr>
          <a:xfrm>
            <a:off x="1889496"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92328"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16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197992"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300824"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89496" y="26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63788" y="22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1. getAll(), toSignal abonniert</a:t>
            </a:r>
          </a:p>
        </p:txBody>
      </p:sp>
      <p:cxnSp>
        <p:nvCxnSpPr>
          <p:cNvPr id="16" name="Connector 15"/>
          <p:cNvCxnSpPr/>
          <p:nvPr/>
        </p:nvCxnSpPr>
        <p:spPr>
          <a:xfrm>
            <a:off x="3992328" y="30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66620" y="26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2. get('api/customer')</a:t>
            </a:r>
          </a:p>
        </p:txBody>
      </p:sp>
      <p:cxnSp>
        <p:nvCxnSpPr>
          <p:cNvPr id="18" name="Connector 17"/>
          <p:cNvCxnSpPr/>
          <p:nvPr/>
        </p:nvCxnSpPr>
        <p:spPr>
          <a:xfrm>
            <a:off x="6095160" y="34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9452" y="30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3. GET /api/customer</a:t>
            </a:r>
          </a:p>
        </p:txBody>
      </p:sp>
      <p:cxnSp>
        <p:nvCxnSpPr>
          <p:cNvPr id="20" name="Connector 19"/>
          <p:cNvCxnSpPr/>
          <p:nvPr/>
        </p:nvCxnSpPr>
        <p:spPr>
          <a:xfrm>
            <a:off x="8197992" y="3818000"/>
            <a:ext cx="2082832"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672284" y="3468000"/>
            <a:ext cx="3154248" cy="330000"/>
          </a:xfrm>
          <a:prstGeom prst="rect">
            <a:avLst/>
          </a:prstGeom>
          <a:noFill/>
        </p:spPr>
        <p:txBody>
          <a:bodyPr wrap="square" anchor="b" lIns="70000" rIns="70000" tIns="0" bIns="0">
            <a:spAutoFit/>
          </a:bodyPr>
          <a:lstStyle/>
          <a:p>
            <a:pPr algn="ctr"/>
            <a:r>
              <a:rPr sz="1300" b="0">
                <a:solidFill>
                  <a:srgbClr val="2B3A42"/>
                </a:solidFill>
                <a:latin typeface="Segoe UI"/>
              </a:rPr>
              <a:t>4. weiter an :3000</a:t>
            </a:r>
          </a:p>
        </p:txBody>
      </p:sp>
      <p:cxnSp>
        <p:nvCxnSpPr>
          <p:cNvPr id="22" name="Connector 21"/>
          <p:cNvCxnSpPr/>
          <p:nvPr/>
        </p:nvCxnSpPr>
        <p:spPr>
          <a:xfrm flipH="1">
            <a:off x="8217992" y="42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672284" y="38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5. 200 { data: [...] } JSON</a:t>
            </a:r>
          </a:p>
        </p:txBody>
      </p:sp>
      <p:cxnSp>
        <p:nvCxnSpPr>
          <p:cNvPr id="24" name="Connector 23"/>
          <p:cNvCxnSpPr/>
          <p:nvPr/>
        </p:nvCxnSpPr>
        <p:spPr>
          <a:xfrm flipH="1">
            <a:off x="6115160" y="46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69452" y="42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6. Antwort durchreichen</a:t>
            </a:r>
          </a:p>
        </p:txBody>
      </p:sp>
      <p:cxnSp>
        <p:nvCxnSpPr>
          <p:cNvPr id="26" name="Connector 25"/>
          <p:cNvCxnSpPr/>
          <p:nvPr/>
        </p:nvCxnSpPr>
        <p:spPr>
          <a:xfrm flipH="1">
            <a:off x="4012328" y="50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466620" y="46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7. Observable: JSON geparst</a:t>
            </a:r>
          </a:p>
        </p:txBody>
      </p:sp>
      <p:cxnSp>
        <p:nvCxnSpPr>
          <p:cNvPr id="28" name="Connector 27"/>
          <p:cNvCxnSpPr/>
          <p:nvPr/>
        </p:nvCxnSpPr>
        <p:spPr>
          <a:xfrm>
            <a:off x="3992328" y="5266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372328" y="5266000"/>
            <a:ext cx="0" cy="152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4012328" y="5418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422328" y="5101000"/>
            <a:ext cx="1602832" cy="330000"/>
          </a:xfrm>
          <a:prstGeom prst="rect">
            <a:avLst/>
          </a:prstGeom>
          <a:noFill/>
        </p:spPr>
        <p:txBody>
          <a:bodyPr wrap="square" anchor="ctr" lIns="70000" rIns="70000" tIns="0" bIns="0">
            <a:spAutoFit/>
          </a:bodyPr>
          <a:lstStyle/>
          <a:p>
            <a:pPr algn="l"/>
            <a:r>
              <a:rPr sz="1300" b="0">
                <a:solidFill>
                  <a:srgbClr val="2B3A42"/>
                </a:solidFill>
                <a:latin typeface="Segoe UI"/>
              </a:rPr>
              <a:t>8. map, mapDates</a:t>
            </a:r>
          </a:p>
        </p:txBody>
      </p:sp>
      <p:cxnSp>
        <p:nvCxnSpPr>
          <p:cNvPr id="32" name="Connector 31"/>
          <p:cNvCxnSpPr/>
          <p:nvPr/>
        </p:nvCxnSpPr>
        <p:spPr>
          <a:xfrm flipH="1">
            <a:off x="1909496" y="5818000"/>
            <a:ext cx="2082832"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63788" y="5468000"/>
            <a:ext cx="3154248" cy="330000"/>
          </a:xfrm>
          <a:prstGeom prst="rect">
            <a:avLst/>
          </a:prstGeom>
          <a:noFill/>
        </p:spPr>
        <p:txBody>
          <a:bodyPr wrap="square" anchor="b" lIns="70000" rIns="70000" tIns="0" bIns="0">
            <a:spAutoFit/>
          </a:bodyPr>
          <a:lstStyle/>
          <a:p>
            <a:pPr algn="ctr"/>
            <a:r>
              <a:rPr sz="1300" b="0">
                <a:solidFill>
                  <a:srgbClr val="404B52"/>
                </a:solidFill>
                <a:latin typeface="Segoe UI"/>
              </a:rPr>
              <a:t>9. Customer[] (ReplaySubject)</a:t>
            </a:r>
          </a:p>
        </p:txBody>
      </p:sp>
    </p:spTree>
  </p:cSld>
  <p:clrMapOvr>
    <a:masterClrMapping/>
  </p:clrMapOvr>
</p:sld>
</file>

<file path=ppt/slides/slide8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Fehlerfall: catchError und handleError</a:t>
            </a:r>
          </a:p>
        </p:txBody>
      </p:sp>
      <p:sp>
        <p:nvSpPr>
          <p:cNvPr id="3" name="TextBox 2"/>
          <p:cNvSpPr txBox="1"/>
          <p:nvPr/>
        </p:nvSpPr>
        <p:spPr>
          <a:xfrm>
            <a:off x="838080" y="6000000"/>
            <a:ext cx="10514160" cy="420000"/>
          </a:xfrm>
          <a:prstGeom prst="rect">
            <a:avLst/>
          </a:prstGeom>
          <a:noFill/>
        </p:spPr>
        <p:txBody>
          <a:bodyPr wrap="square" anchor="t" lIns="70000" rIns="70000" tIns="0" bIns="0">
            <a:spAutoFit/>
          </a:bodyPr>
          <a:lstStyle/>
          <a:p>
            <a:pPr algn="l"/>
            <a:r>
              <a:rPr sz="1600" b="0">
                <a:solidFill>
                  <a:srgbClr val="404B52"/>
                </a:solidFill>
                <a:latin typeface="Segoe UI"/>
              </a:rPr>
              <a:t>Bei einem Fehler kommt kein next: HttpClient meldet error, catchError baut eine Meldung, die Komponente zeigt sie an.</a:t>
            </a:r>
          </a:p>
        </p:txBody>
      </p:sp>
      <p:sp>
        <p:nvSpPr>
          <p:cNvPr id="4" name="Rectangle 3"/>
          <p:cNvSpPr/>
          <p:nvPr/>
        </p:nvSpPr>
        <p:spPr>
          <a:xfrm>
            <a:off x="100235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CustomerDetails</a:t>
            </a:r>
          </a:p>
        </p:txBody>
      </p:sp>
      <p:sp>
        <p:nvSpPr>
          <p:cNvPr id="5" name="Rectangle 4"/>
          <p:cNvSpPr/>
          <p:nvPr/>
        </p:nvSpPr>
        <p:spPr>
          <a:xfrm>
            <a:off x="363089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CustomerService</a:t>
            </a:r>
          </a:p>
        </p:txBody>
      </p:sp>
      <p:sp>
        <p:nvSpPr>
          <p:cNvPr id="6" name="Rectangle 5"/>
          <p:cNvSpPr/>
          <p:nvPr/>
        </p:nvSpPr>
        <p:spPr>
          <a:xfrm>
            <a:off x="625943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HttpClient</a:t>
            </a:r>
          </a:p>
        </p:txBody>
      </p:sp>
      <p:sp>
        <p:nvSpPr>
          <p:cNvPr id="7" name="Rectangle 6"/>
          <p:cNvSpPr/>
          <p:nvPr/>
        </p:nvSpPr>
        <p:spPr>
          <a:xfrm>
            <a:off x="8887970" y="1650000"/>
            <a:ext cx="2300000" cy="56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server.js (über Proxy)</a:t>
            </a:r>
          </a:p>
        </p:txBody>
      </p:sp>
      <p:cxnSp>
        <p:nvCxnSpPr>
          <p:cNvPr id="8" name="Connector 7"/>
          <p:cNvCxnSpPr/>
          <p:nvPr/>
        </p:nvCxnSpPr>
        <p:spPr>
          <a:xfrm>
            <a:off x="215235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8089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0943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37970" y="2210000"/>
            <a:ext cx="0" cy="3720000"/>
          </a:xfrm>
          <a:prstGeom prst="line">
            <a:avLst/>
          </a:prstGeom>
          <a:ln w="15875">
            <a:solidFill>
              <a:srgbClr val="9AA5AB"/>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52350" y="26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95215" y="23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1. getById('99') und subscribe</a:t>
            </a:r>
          </a:p>
        </p:txBody>
      </p:sp>
      <p:cxnSp>
        <p:nvCxnSpPr>
          <p:cNvPr id="14" name="Connector 13"/>
          <p:cNvCxnSpPr/>
          <p:nvPr/>
        </p:nvCxnSpPr>
        <p:spPr>
          <a:xfrm>
            <a:off x="4780890" y="310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23755" y="275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2. get('api/customer/99')</a:t>
            </a:r>
          </a:p>
        </p:txBody>
      </p:sp>
      <p:cxnSp>
        <p:nvCxnSpPr>
          <p:cNvPr id="16" name="Connector 15"/>
          <p:cNvCxnSpPr/>
          <p:nvPr/>
        </p:nvCxnSpPr>
        <p:spPr>
          <a:xfrm>
            <a:off x="7409430" y="3554000"/>
            <a:ext cx="260854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52295" y="3204000"/>
            <a:ext cx="3942810" cy="330000"/>
          </a:xfrm>
          <a:prstGeom prst="rect">
            <a:avLst/>
          </a:prstGeom>
          <a:noFill/>
        </p:spPr>
        <p:txBody>
          <a:bodyPr wrap="square" anchor="b" lIns="70000" rIns="70000" tIns="0" bIns="0">
            <a:spAutoFit/>
          </a:bodyPr>
          <a:lstStyle/>
          <a:p>
            <a:pPr algn="ctr"/>
            <a:r>
              <a:rPr sz="1500" b="0">
                <a:solidFill>
                  <a:srgbClr val="2B3A42"/>
                </a:solidFill>
                <a:latin typeface="Segoe UI"/>
              </a:rPr>
              <a:t>3. GET /api/customer/99</a:t>
            </a:r>
          </a:p>
        </p:txBody>
      </p:sp>
      <p:cxnSp>
        <p:nvCxnSpPr>
          <p:cNvPr id="18" name="Connector 17"/>
          <p:cNvCxnSpPr/>
          <p:nvPr/>
        </p:nvCxnSpPr>
        <p:spPr>
          <a:xfrm flipH="1">
            <a:off x="7429430" y="400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2295" y="365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4. 404 Not Found</a:t>
            </a:r>
          </a:p>
        </p:txBody>
      </p:sp>
      <p:cxnSp>
        <p:nvCxnSpPr>
          <p:cNvPr id="20" name="Connector 19"/>
          <p:cNvCxnSpPr/>
          <p:nvPr/>
        </p:nvCxnSpPr>
        <p:spPr>
          <a:xfrm flipH="1">
            <a:off x="4800890" y="445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23755" y="410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5. error: HttpErrorResponse 404</a:t>
            </a:r>
          </a:p>
        </p:txBody>
      </p:sp>
      <p:cxnSp>
        <p:nvCxnSpPr>
          <p:cNvPr id="22" name="Connector 21"/>
          <p:cNvCxnSpPr/>
          <p:nvPr/>
        </p:nvCxnSpPr>
        <p:spPr>
          <a:xfrm>
            <a:off x="4780890" y="47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60890" y="47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800890" y="49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210890" y="456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6. catchError</a:t>
            </a:r>
          </a:p>
        </p:txBody>
      </p:sp>
      <p:cxnSp>
        <p:nvCxnSpPr>
          <p:cNvPr id="26" name="Connector 25"/>
          <p:cNvCxnSpPr/>
          <p:nvPr/>
        </p:nvCxnSpPr>
        <p:spPr>
          <a:xfrm flipH="1">
            <a:off x="2172350" y="5354000"/>
            <a:ext cx="2608540" cy="0"/>
          </a:xfrm>
          <a:prstGeom prst="line">
            <a:avLst/>
          </a:prstGeom>
          <a:ln w="22225">
            <a:solidFill>
              <a:srgbClr val="5B6B7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95215" y="5004000"/>
            <a:ext cx="3942810" cy="330000"/>
          </a:xfrm>
          <a:prstGeom prst="rect">
            <a:avLst/>
          </a:prstGeom>
          <a:noFill/>
        </p:spPr>
        <p:txBody>
          <a:bodyPr wrap="square" anchor="b" lIns="70000" rIns="70000" tIns="0" bIns="0">
            <a:spAutoFit/>
          </a:bodyPr>
          <a:lstStyle/>
          <a:p>
            <a:pPr algn="ctr"/>
            <a:r>
              <a:rPr sz="1500" b="0">
                <a:solidFill>
                  <a:srgbClr val="404B52"/>
                </a:solidFill>
                <a:latin typeface="Segoe UI"/>
              </a:rPr>
              <a:t>7. throwError: error-Handler läuft</a:t>
            </a:r>
          </a:p>
        </p:txBody>
      </p:sp>
      <p:cxnSp>
        <p:nvCxnSpPr>
          <p:cNvPr id="28" name="Connector 27"/>
          <p:cNvCxnSpPr/>
          <p:nvPr/>
        </p:nvCxnSpPr>
        <p:spPr>
          <a:xfrm>
            <a:off x="2152350" y="5633000"/>
            <a:ext cx="380000" cy="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532350" y="5633000"/>
            <a:ext cx="0" cy="171000"/>
          </a:xfrm>
          <a:prstGeom prst="line">
            <a:avLst/>
          </a:prstGeom>
          <a:ln w="22225">
            <a:solidFill>
              <a:srgbClr val="1E9E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2172350" y="5804000"/>
            <a:ext cx="360000" cy="0"/>
          </a:xfrm>
          <a:prstGeom prst="line">
            <a:avLst/>
          </a:prstGeom>
          <a:ln w="22225">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582350" y="5468000"/>
            <a:ext cx="2128540" cy="330000"/>
          </a:xfrm>
          <a:prstGeom prst="rect">
            <a:avLst/>
          </a:prstGeom>
          <a:noFill/>
        </p:spPr>
        <p:txBody>
          <a:bodyPr wrap="square" anchor="ctr" lIns="70000" rIns="70000" tIns="0" bIns="0">
            <a:spAutoFit/>
          </a:bodyPr>
          <a:lstStyle/>
          <a:p>
            <a:pPr algn="l"/>
            <a:r>
              <a:rPr sz="1500" b="0">
                <a:solidFill>
                  <a:srgbClr val="2B3A42"/>
                </a:solidFill>
                <a:latin typeface="Segoe UI"/>
              </a:rPr>
              <a:t>8. Meldung zeigen</a:t>
            </a:r>
          </a:p>
        </p:txBody>
      </p:sp>
    </p:spTree>
  </p:cSld>
  <p:clrMapOvr>
    <a:masterClrMapping/>
  </p:clrMapOvr>
</p:sld>
</file>

<file path=ppt/slides/slide8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Klassen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Attribute, Konstruktor, Methoden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class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id: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firstname: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city?: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constructor(firstname: string, lastname: string, city?: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this.id = crypto.randomUUID();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this.firstname =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this.lastname = 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this.city = city;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getLabel():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`Kunde: ${this.firstname} ${this.lastname}`;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new Customer("Lisa", "Simpson", "Springfield");</a:t>
            </a:r>
            <a:endParaRPr lang="de-DE" sz="1600" b="0" u="none" strike="noStrike">
              <a:solidFill>
                <a:srgbClr val="000000"/>
              </a:solidFill>
              <a:uFillTx/>
              <a:latin typeface="Arial"/>
            </a:endParaRPr>
          </a:p>
        </p:txBody>
      </p:sp>
    </p:spTree>
  </p:cSld>
  <p:clrMapOvr>
    <a:masterClrMapping/>
  </p:clrMapOvr>
</p:sld>
</file>

<file path=ppt/slides/slide8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Parameter Properties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street?: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zip?: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Später in Angular: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constructor(private service: CustomerService) {}</a:t>
            </a:r>
            <a:endParaRPr lang="de-DE" sz="1800" b="0" u="none" strike="noStrike">
              <a:solidFill>
                <a:srgbClr val="000000"/>
              </a:solidFill>
              <a:uFillTx/>
              <a:latin typeface="Arial"/>
            </a:endParaRPr>
          </a:p>
        </p:txBody>
      </p:sp>
    </p:spTree>
  </p:cSld>
  <p:clrMapOvr>
    <a:masterClrMapping/>
  </p:clrMapOvr>
</p:sld>
</file>

<file path=ppt/slides/slide8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Account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protected owner: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balance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constructor(owner: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this.owner = owner;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deposit(amount: number):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this.balance += amount;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account = new Account("Lisa");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account.deposit(50);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console.log(account.balance);</a:t>
            </a:r>
            <a:endParaRPr lang="de-DE" sz="1800" b="0" u="none" strike="noStrike">
              <a:solidFill>
                <a:srgbClr val="000000"/>
              </a:solidFill>
              <a:uFillTx/>
              <a:latin typeface="Arial"/>
            </a:endParaRPr>
          </a:p>
        </p:txBody>
      </p:sp>
    </p:spTree>
  </p:cSld>
  <p:clrMapOvr>
    <a:masterClrMapping/>
  </p:clrMapOvr>
</p:sld>
</file>

<file path=ppt/slides/slide8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Getter und Setter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_discount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fullName():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discount():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this._discount;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set discount(value: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(value &lt; 0 || value &gt; 100) throw new Error("0 bis 100");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this._discount = 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8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implements: ein Interface erfüllen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printLabel(item: Labelled):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console.log(item.getLabel());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printLabel(new Customer("Lisa", "Simpson"));</a:t>
            </a:r>
            <a:endParaRPr lang="de-DE" sz="1800" b="0" u="none" strike="noStrike">
              <a:solidFill>
                <a:srgbClr val="000000"/>
              </a:solidFill>
              <a:uFillTx/>
              <a:latin typeface="Arial"/>
            </a:endParaRPr>
          </a:p>
        </p:txBody>
      </p:sp>
    </p:spTree>
  </p:cSld>
  <p:clrMapOvr>
    <a:masterClrMapping/>
  </p:clrMapOvr>
</p:sld>
</file>

<file path=ppt/slides/slide8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extends und super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VipCustomer extends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discount: number,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super(firstname, 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override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super.getLabel() + ` - VIP -${this.discount}%`;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new VipCustomer("Ned", "Flanders", 10);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console.log(ned.getLabel());</a:t>
            </a:r>
            <a:endParaRPr lang="de-DE" sz="1800" b="0" u="none" strike="noStrike">
              <a:solidFill>
                <a:srgbClr val="000000"/>
              </a:solidFill>
              <a:uFillTx/>
              <a:latin typeface="Arial"/>
            </a:endParaRPr>
          </a:p>
        </p:txBody>
      </p:sp>
    </p:spTree>
  </p:cSld>
  <p:clrMapOvr>
    <a:masterClrMapping/>
  </p:clrMapOvr>
</p:sld>
</file>

<file path=ppt/slides/slide8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Dekoratoren: ein Blick auf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Component(config: { selector: string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(target: Function) =&gt;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console.log(`${target.name} -&gt; &lt;${config.selector}&gt;`);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"customer-list"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title = "Kunden";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8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4: Die Klasse Customer</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src/uebung-4-klassen.ts</a:t>
            </a:r>
          </a:p>
          <a:p>
            <a:pPr>
              <a:defRPr sz="2000" b="1">
                <a:latin typeface="Segoe UI"/>
              </a:defRPr>
            </a:pPr>
            <a:r>
              <a:rPr lang="de-DE" sz="2000" b="1">
                <a:latin typeface="Segoe UI"/>
              </a:rPr>
              <a:t>1. Schreibe die Klasse Customer mit Parameter properties (firstname, lastname, city?)</a:t>
            </a:r>
          </a:p>
          <a:p>
            <a:pPr>
              <a:defRPr sz="2000" b="1">
                <a:latin typeface="Segoe UI"/>
              </a:defRPr>
            </a:pPr>
            <a:r>
              <a:rPr lang="de-DE" sz="2000" b="1">
                <a:latin typeface="Segoe UI"/>
              </a:rPr>
              <a:t>2. Setze id im Konstruktor mit crypto.randomUUID()</a:t>
            </a:r>
          </a:p>
          <a:p>
            <a:pPr>
              <a:defRPr sz="2000" b="1">
                <a:latin typeface="Segoe UI"/>
              </a:defRPr>
            </a:pPr>
            <a:r>
              <a:rPr lang="de-DE" sz="2000" b="1">
                <a:latin typeface="Segoe UI"/>
              </a:rPr>
              <a:t>3. Ergänze den Getter fullName und die Methode getLabel()</a:t>
            </a:r>
          </a:p>
          <a:p>
            <a:pPr>
              <a:defRPr sz="2000" b="1">
                <a:latin typeface="Segoe UI"/>
              </a:defRPr>
            </a:pPr>
            <a:r>
              <a:rPr lang="de-DE" sz="2000" b="1">
                <a:latin typeface="Segoe UI"/>
              </a:rPr>
              <a:t>4. Customer implementiert das Interface Labelled</a:t>
            </a:r>
          </a:p>
          <a:p>
            <a:pPr>
              <a:defRPr sz="2000" b="1">
                <a:latin typeface="Segoe UI"/>
              </a:defRPr>
            </a:pPr>
            <a:r>
              <a:rPr lang="de-DE" sz="2000" b="1">
                <a:latin typeface="Segoe UI"/>
              </a:rPr>
              <a:t>5. VipCustomer extends Customer mit discount: super(...) zuerst, getLabel() ergänzen</a:t>
            </a:r>
          </a:p>
          <a:p>
            <a:pPr>
              <a:defRPr sz="2000" b="1">
                <a:latin typeface="Segoe UI"/>
              </a:defRPr>
            </a:pPr>
            <a:r>
              <a:rPr lang="de-DE" sz="2000" b="1">
                <a:latin typeface="Segoe UI"/>
              </a:rPr>
              <a:t>6. Entferne die Kommentarzeichen am Dateiende und starte: npm start -- src/uebung-4-klassen.ts</a:t>
            </a:r>
          </a:p>
          <a:p>
            <a:pPr>
              <a:defRPr sz="2000" b="1">
                <a:latin typeface="Segoe UI"/>
              </a:defRPr>
            </a:pPr>
            <a:r>
              <a:rPr lang="de-DE" sz="2000" b="1">
                <a:latin typeface="Segoe UI"/>
              </a:rPr>
              <a:t>Musterlösung: loesung/uebung-4-klassen.ts</a:t>
            </a:r>
          </a:p>
        </p:txBody>
      </p:sp>
    </p:spTree>
  </p:cSld>
  <p:clrMapOvr>
    <a:masterClrMapping/>
  </p:clrMapOvr>
</p:sld>
</file>

<file path=ppt/slides/slide8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Module</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export und import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main.ts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Customer, type Labelled } from "./customer";</a:t>
            </a:r>
            <a:endParaRPr lang="de-DE" sz="1800" b="0" u="none" strike="noStrike">
              <a:solidFill>
                <a:srgbClr val="000000"/>
              </a:solidFill>
              <a:uFillTx/>
              <a:latin typeface="Arial"/>
            </a:endParaRPr>
          </a:p>
        </p:txBody>
      </p:sp>
    </p:spTree>
  </p:cSld>
  <p:clrMapOvr>
    <a:masterClrMapping/>
  </p:clrMapOvr>
</p:sld>
</file>

<file path=ppt/slides/slide8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Regeln für import und export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Imports sind statisch: sie stehen oben in der Datei, nicht in einer if-Abfrage</a:t>
            </a:r>
          </a:p>
          <a:p>
            <a:pPr>
              <a:defRPr sz="2000" b="0">
                <a:latin typeface="Segoe UI"/>
              </a:defRPr>
            </a:pPr>
            <a:r>
              <a:rPr lang="de-DE" sz="2000" b="0">
                <a:latin typeface="Segoe UI"/>
              </a:rPr>
              <a:t>Pfad zu eigenen Dateien beginnt mit ./ oder ../ und hat keine Endung</a:t>
            </a:r>
          </a:p>
          <a:p>
            <a:pPr>
              <a:defRPr sz="2000" b="0">
                <a:latin typeface="Segoe UI"/>
              </a:defRPr>
            </a:pPr>
            <a:r>
              <a:rPr lang="de-DE" sz="2000" b="0">
                <a:latin typeface="Segoe UI"/>
              </a:rPr>
              <a:t>Benannte Exporte: export class Customer, Import mit geschweiften Klammern</a:t>
            </a:r>
          </a:p>
          <a:p>
            <a:pPr>
              <a:defRPr sz="2000" b="0">
                <a:latin typeface="Segoe UI"/>
              </a:defRPr>
            </a:pPr>
            <a:r>
              <a:rPr lang="de-DE" sz="2000" b="0">
                <a:latin typeface="Segoe UI"/>
              </a:rPr>
              <a:t>Standard-Export: export default, Import ohne Klammern (im Kurs selten)</a:t>
            </a:r>
          </a:p>
          <a:p>
            <a:pPr>
              <a:defRPr sz="2000" b="0">
                <a:latin typeface="Segoe UI"/>
              </a:defRPr>
            </a:pPr>
            <a:r>
              <a:rPr lang="de-DE" sz="2000" b="0">
                <a:latin typeface="Segoe UI"/>
              </a:rPr>
              <a:t>import type { Labelled } holt nur einen Typ, der nach dem Übersetzen verschwindet</a:t>
            </a:r>
          </a:p>
          <a:p>
            <a:pPr>
              <a:defRPr sz="2000" b="0">
                <a:latin typeface="Segoe UI"/>
              </a:defRPr>
            </a:pPr>
            <a:r>
              <a:rPr lang="de-DE" sz="2000" b="0">
                <a:latin typeface="Segoe UI"/>
              </a:rPr>
              <a:t>Pakete wie @angular/core importiert man ohne Pfad: import { Component } from "@angular/core"</a:t>
            </a:r>
          </a:p>
          <a:p>
            <a:pPr>
              <a:defRPr sz="2000" b="0">
                <a:latin typeface="Segoe UI"/>
              </a:defRPr>
            </a:pPr>
            <a:r>
              <a:rPr lang="de-DE" sz="2000" b="0">
                <a:latin typeface="Segoe UI"/>
              </a:rPr>
              <a:t>Eine Datei mit import oder export ist ein Modul; ihre Namen stören andere Dateien nicht</a:t>
            </a:r>
          </a:p>
        </p:txBody>
      </p:sp>
    </p:spTree>
  </p:cSld>
  <p:clrMapOvr>
    <a:masterClrMapping/>
  </p:clrMapOvr>
</p:sld>
</file>

<file path=ppt/slides/slide8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5: Module</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src/uebung-5-module.ts</a:t>
            </a:r>
          </a:p>
          <a:p>
            <a:pPr>
              <a:defRPr sz="2000" b="1">
                <a:latin typeface="Segoe UI"/>
              </a:defRPr>
            </a:pPr>
            <a:r>
              <a:rPr lang="de-DE" sz="2000" b="1">
                <a:latin typeface="Segoe UI"/>
              </a:rPr>
              <a:t>1. Lege die Datei src/customer.ts an</a:t>
            </a:r>
          </a:p>
          <a:p>
            <a:pPr>
              <a:defRPr sz="2000" b="1">
                <a:latin typeface="Segoe UI"/>
              </a:defRPr>
            </a:pPr>
            <a:r>
              <a:rPr lang="de-DE" sz="2000" b="1">
                <a:latin typeface="Segoe UI"/>
              </a:rPr>
              <a:t>2. Verschiebe die Klasse Customer dorthin und exportiere sie mit export</a:t>
            </a:r>
          </a:p>
          <a:p>
            <a:pPr>
              <a:defRPr sz="2000" b="1">
                <a:latin typeface="Segoe UI"/>
              </a:defRPr>
            </a:pPr>
            <a:r>
              <a:rPr lang="de-DE" sz="2000" b="1">
                <a:latin typeface="Segoe UI"/>
              </a:rPr>
              <a:t>3. Importiere sie in src/uebung-5-module.ts: import { Customer } from "./customer";</a:t>
            </a:r>
          </a:p>
          <a:p>
            <a:pPr>
              <a:defRPr sz="2000" b="1">
                <a:latin typeface="Segoe UI"/>
              </a:defRPr>
            </a:pPr>
            <a:r>
              <a:rPr lang="de-DE" sz="2000" b="1">
                <a:latin typeface="Segoe UI"/>
              </a:rPr>
              <a:t>4. Starte: npm start -- src/uebung-5-module.ts</a:t>
            </a:r>
          </a:p>
          <a:p>
            <a:pPr>
              <a:defRPr sz="2000" b="0">
                <a:latin typeface="Segoe UI"/>
              </a:defRPr>
            </a:pPr>
            <a:r>
              <a:rPr lang="de-DE" sz="2000" b="0">
                <a:latin typeface="Segoe UI"/>
              </a:rPr>
              <a:t>Zusatz: Exportiere und importiere auch das Interface Labelled</a:t>
            </a:r>
          </a:p>
          <a:p>
            <a:pPr>
              <a:defRPr sz="2000" b="1">
                <a:latin typeface="Segoe UI"/>
              </a:defRPr>
            </a:pPr>
            <a:r>
              <a:rPr lang="de-DE" sz="2000" b="1">
                <a:latin typeface="Segoe UI"/>
              </a:rPr>
              <a:t>Musterlösung: loesung/uebung-5-module/</a:t>
            </a:r>
          </a:p>
        </p:txBody>
      </p:sp>
    </p:spTree>
  </p:cSld>
  <p:clrMapOvr>
    <a:masterClrMapping/>
  </p:clrMapOvr>
</p:sld>
</file>

<file path=ppt/slides/slide8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Von TypeScript zu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Customer } from "./customer";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selector: "app-customer-list",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template: `&lt;h1&gt;Kunden&lt;/h1&gt;`,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Customer[]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constructor(private 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8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Zusammenfassung: Was wir für Angular mitnehmen</a:t>
            </a:r>
          </a:p>
        </p:txBody>
      </p:sp>
      <p:sp>
        <p:nvSpPr>
          <p:cNvPr id="3" name="Subtitle 2"/>
          <p:cNvSpPr>
            <a:spLocks noGrp="1"/>
          </p:cNvSpPr>
          <p:nvPr>
            <p:ph type="subTitle"/>
          </p:nvPr>
        </p:nvSpPr>
        <p:spPr>
          <a:xfrm>
            <a:off x="838080" y="1825560"/>
            <a:ext cx="5900000" cy="4349880"/>
          </a:xfrm>
        </p:spPr>
        <p:txBody>
          <a:bodyPr anchor="t"/>
          <a:lstStyle/>
          <a:p>
            <a:pPr>
              <a:defRPr sz="1400" b="0">
                <a:latin typeface="Segoe UI"/>
              </a:defRPr>
            </a:pPr>
            <a:r>
              <a:rPr lang="de-DE" sz="1400" b="0">
                <a:latin typeface="Segoe UI"/>
              </a:rPr>
              <a:t>Typen und Typableitung, strict, null und undefined: Grundlage jeder Komponente</a:t>
            </a:r>
          </a:p>
          <a:p>
            <a:pPr>
              <a:defRPr sz="1400" b="0">
                <a:latin typeface="Segoe UI"/>
              </a:defRPr>
            </a:pPr>
            <a:r>
              <a:rPr lang="de-DE" sz="1400" b="0">
                <a:latin typeface="Segoe UI"/>
              </a:rPr>
              <a:t>?. und ??: im Template, zum Beispiel customer()?.firstname</a:t>
            </a:r>
          </a:p>
          <a:p>
            <a:pPr>
              <a:defRPr sz="1400" b="0">
                <a:latin typeface="Segoe UI"/>
              </a:defRPr>
            </a:pPr>
            <a:r>
              <a:rPr lang="de-DE" sz="1400" b="0">
                <a:latin typeface="Segoe UI"/>
              </a:rPr>
              <a:t>Funktionen, Arrow-Funktionen, filter und map: Listen im Kurs verarbeiten</a:t>
            </a:r>
          </a:p>
          <a:p>
            <a:pPr>
              <a:defRPr sz="1400" b="0">
                <a:latin typeface="Segoe UI"/>
              </a:defRPr>
            </a:pPr>
            <a:r>
              <a:rPr lang="de-DE" sz="1400" b="0">
                <a:latin typeface="Segoe UI"/>
              </a:rPr>
              <a:t>Interfaces und Destructuring: Datenmodelle und Eingaben</a:t>
            </a:r>
          </a:p>
          <a:p>
            <a:pPr>
              <a:defRPr sz="1400" b="0">
                <a:latin typeface="Segoe UI"/>
              </a:defRPr>
            </a:pPr>
            <a:r>
              <a:rPr lang="de-DE" sz="1400" b="0">
                <a:latin typeface="Segoe UI"/>
              </a:rPr>
              <a:t>Spread: neue Objekte statt Veränderung, wichtig für Signals (Reaktivität)</a:t>
            </a:r>
          </a:p>
          <a:p>
            <a:pPr>
              <a:defRPr sz="1400" b="0">
                <a:latin typeface="Segoe UI"/>
              </a:defRPr>
            </a:pPr>
            <a:r>
              <a:rPr lang="de-DE" sz="1400" b="0">
                <a:latin typeface="Segoe UI"/>
              </a:rPr>
              <a:t>Union Types und Literal-Typen: Zustände wie loading und loaded</a:t>
            </a:r>
          </a:p>
          <a:p>
            <a:pPr>
              <a:defRPr sz="1400" b="0">
                <a:latin typeface="Segoe UI"/>
              </a:defRPr>
            </a:pPr>
            <a:r>
              <a:rPr lang="de-DE" sz="1400" b="0">
                <a:latin typeface="Segoe UI"/>
              </a:rPr>
              <a:t>Generics: signal&lt;T&gt;(), input&lt;T&gt;(), Observable&lt;T&gt;</a:t>
            </a:r>
          </a:p>
          <a:p>
            <a:pPr>
              <a:defRPr sz="1400" b="0">
                <a:latin typeface="Segoe UI"/>
              </a:defRPr>
            </a:pPr>
            <a:r>
              <a:rPr lang="de-DE" sz="1400" b="0">
                <a:latin typeface="Segoe UI"/>
              </a:rPr>
              <a:t>Klassen und Parameter properties: customer.model.ts, Konstruktor-Injection</a:t>
            </a:r>
          </a:p>
          <a:p>
            <a:pPr>
              <a:defRPr sz="1400" b="0">
                <a:latin typeface="Segoe UI"/>
              </a:defRPr>
            </a:pPr>
            <a:r>
              <a:rPr lang="de-DE" sz="1400" b="0">
                <a:latin typeface="Segoe UI"/>
              </a:rPr>
              <a:t>Dekoratoren und Module: @Component, import und export in jeder Datei</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TypeScript-Grundlagen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Komponenten und Templates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Signals und Services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Formulare, Routing, HTTP</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Weiter mit Übung 4</a:t>
            </a: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