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15.xml" ContentType="application/vnd.openxmlformats-officedocument.drawingml.diagramColors+xml"/>
  <Override PartName="/ppt/diagrams/colors16.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15.xml" ContentType="application/vnd.openxmlformats-officedocument.drawingml.diagramData+xml"/>
  <Override PartName="/ppt/diagrams/data16.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15.xml" ContentType="application/vnd.ms-office.drawingml.diagramDrawing+xml"/>
  <Override PartName="/ppt/diagrams/drawing16.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15.xml" ContentType="application/vnd.openxmlformats-officedocument.drawingml.diagramLayout+xml"/>
  <Override PartName="/ppt/diagrams/layout16.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15.xml" ContentType="application/vnd.openxmlformats-officedocument.drawingml.diagramStyle+xml"/>
  <Override PartName="/ppt/diagrams/quickStyle16.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256" r:id="rId47"/>
    <p:sldId id="257" r:id="rId48"/>
    <p:sldId id="258" r:id="rId49"/>
    <p:sldId id="259" r:id="rId50"/>
    <p:sldId id="260" r:id="rId51"/>
    <p:sldId id="261" r:id="rId52"/>
    <p:sldId id="262" r:id="rId53"/>
    <p:sldId id="263" r:id="rId54"/>
    <p:sldId id="264" r:id="rId55"/>
    <p:sldId id="265" r:id="rId56"/>
    <p:sldId id="266" r:id="rId57"/>
    <p:sldId id="267" r:id="rId58"/>
    <p:sldId id="268" r:id="rId59"/>
    <p:sldId id="269" r:id="rId60"/>
    <p:sldId id="270" r:id="rId61"/>
    <p:sldId id="271" r:id="rId62"/>
    <p:sldId id="272" r:id="rId63"/>
    <p:sldId id="273" r:id="rId64"/>
    <p:sldId id="274" r:id="rId65"/>
    <p:sldId id="275" r:id="rId66"/>
    <p:sldId id="276" r:id="rId67"/>
    <p:sldId id="277" r:id="rId68"/>
    <p:sldId id="278" r:id="rId69"/>
    <p:sldId id="279" r:id="rId70"/>
    <p:sldId id="280" r:id="rId71"/>
    <p:sldId id="281" r:id="rId72"/>
    <p:sldId id="282" r:id="rId73"/>
    <p:sldId id="283" r:id="rId74"/>
    <p:sldId id="284" r:id="rId75"/>
    <p:sldId id="285" r:id="rId76"/>
    <p:sldId id="286" r:id="rId77"/>
    <p:sldId id="287" r:id="rId78"/>
    <p:sldId id="288" r:id="rId79"/>
    <p:sldId id="289" r:id="rId80"/>
    <p:sldId id="290" r:id="rId81"/>
    <p:sldId id="291" r:id="rId82"/>
    <p:sldId id="292" r:id="rId83"/>
    <p:sldId id="293" r:id="rId84"/>
    <p:sldId id="294" r:id="rId85"/>
    <p:sldId id="295" r:id="rId86"/>
    <p:sldId id="296" r:id="rId87"/>
    <p:sldId id="297" r:id="rId88"/>
    <p:sldId id="298" r:id="rId89"/>
    <p:sldId id="299" r:id="rId90"/>
    <p:sldId id="300" r:id="rId91"/>
    <p:sldId id="301" r:id="rId92"/>
    <p:sldId id="302" r:id="rId93"/>
    <p:sldId id="303" r:id="rId94"/>
    <p:sldId id="304" r:id="rId95"/>
    <p:sldId id="305" r:id="rId96"/>
    <p:sldId id="306" r:id="rId97"/>
    <p:sldId id="307" r:id="rId98"/>
    <p:sldId id="308" r:id="rId99"/>
    <p:sldId id="309" r:id="rId100"/>
    <p:sldId id="310" r:id="rId101"/>
    <p:sldId id="311" r:id="rId102"/>
    <p:sldId id="312" r:id="rId103"/>
    <p:sldId id="313" r:id="rId104"/>
    <p:sldId id="314" r:id="rId105"/>
    <p:sldId id="315"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471" r:id="rId257"/>
    <p:sldId id="472" r:id="rId258"/>
    <p:sldId id="473" r:id="rId259"/>
    <p:sldId id="474" r:id="rId260"/>
    <p:sldId id="475" r:id="rId261"/>
    <p:sldId id="476" r:id="rId262"/>
    <p:sldId id="477" r:id="rId263"/>
    <p:sldId id="478" r:id="rId264"/>
    <p:sldId id="479" r:id="rId265"/>
    <p:sldId id="480" r:id="rId266"/>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553" r:id="rId344"/>
    <p:sldId id="504" r:id="rId290"/>
    <p:sldId id="505" r:id="rId291"/>
    <p:sldId id="554" r:id="rId345"/>
    <p:sldId id="555" r:id="rId346"/>
    <p:sldId id="556" r:id="rId347"/>
    <p:sldId id="557" r:id="rId348"/>
    <p:sldId id="558" r:id="rId349"/>
    <p:sldId id="559" r:id="rId350"/>
    <p:sldId id="560" r:id="rId351"/>
    <p:sldId id="561" r:id="rId352"/>
    <p:sldId id="562" r:id="rId353"/>
    <p:sldId id="563" r:id="rId354"/>
    <p:sldId id="564" r:id="rId355"/>
    <p:sldId id="565" r:id="rId356"/>
    <p:sldId id="566" r:id="rId357"/>
    <p:sldId id="567" r:id="rId358"/>
    <p:sldId id="568" r:id="rId359"/>
    <p:sldId id="569" r:id="rId360"/>
    <p:sldId id="524" r:id="rId292"/>
    <p:sldId id="525" r:id="rId293"/>
    <p:sldId id="526" r:id="rId294"/>
    <p:sldId id="527" r:id="rId295"/>
    <p:sldId id="528" r:id="rId296"/>
    <p:sldId id="529" r:id="rId297"/>
    <p:sldId id="530" r:id="rId298"/>
    <p:sldId id="531" r:id="rId299"/>
    <p:sldId id="532" r:id="rId300"/>
    <p:sldId id="533" r:id="rId301"/>
    <p:sldId id="534" r:id="rId302"/>
    <p:sldId id="535" r:id="rId303"/>
    <p:sldId id="536" r:id="rId304"/>
    <p:sldId id="373" r:id="rId305"/>
    <p:sldId id="538" r:id="rId329"/>
    <p:sldId id="539" r:id="rId330"/>
    <p:sldId id="540" r:id="rId331"/>
    <p:sldId id="541" r:id="rId332"/>
    <p:sldId id="542" r:id="rId333"/>
    <p:sldId id="543" r:id="rId334"/>
    <p:sldId id="544" r:id="rId335"/>
    <p:sldId id="545" r:id="rId336"/>
    <p:sldId id="546" r:id="rId337"/>
    <p:sldId id="506" r:id="rId306"/>
    <p:sldId id="507" r:id="rId307"/>
    <p:sldId id="508" r:id="rId308"/>
    <p:sldId id="509" r:id="rId309"/>
    <p:sldId id="510" r:id="rId310"/>
    <p:sldId id="511" r:id="rId311"/>
    <p:sldId id="512" r:id="rId312"/>
    <p:sldId id="513" r:id="rId313"/>
    <p:sldId id="514" r:id="rId314"/>
    <p:sldId id="515" r:id="rId315"/>
    <p:sldId id="516" r:id="rId316"/>
    <p:sldId id="517" r:id="rId317"/>
    <p:sldId id="518" r:id="rId318"/>
    <p:sldId id="519" r:id="rId319"/>
    <p:sldId id="520" r:id="rId320"/>
    <p:sldId id="521" r:id="rId321"/>
    <p:sldId id="522" r:id="rId322"/>
    <p:sldId id="523" r:id="rId32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48" Type="http://schemas.openxmlformats.org/officeDocument/2006/relationships/slide" Target="slides/slide2.xml"/><Relationship Id="rId49" Type="http://schemas.openxmlformats.org/officeDocument/2006/relationships/slide" Target="slides/slide3.xml"/><Relationship Id="rId50" Type="http://schemas.openxmlformats.org/officeDocument/2006/relationships/slide" Target="slides/slide4.xml"/><Relationship Id="rId51" Type="http://schemas.openxmlformats.org/officeDocument/2006/relationships/slide" Target="slides/slide5.xml"/><Relationship Id="rId52" Type="http://schemas.openxmlformats.org/officeDocument/2006/relationships/slide" Target="slides/slide6.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 Id="rId58" Type="http://schemas.openxmlformats.org/officeDocument/2006/relationships/slide" Target="slides/slide12.xml"/><Relationship Id="rId59" Type="http://schemas.openxmlformats.org/officeDocument/2006/relationships/slide" Target="slides/slide13.xml"/><Relationship Id="rId60" Type="http://schemas.openxmlformats.org/officeDocument/2006/relationships/slide" Target="slides/slide14.xml"/><Relationship Id="rId61" Type="http://schemas.openxmlformats.org/officeDocument/2006/relationships/slide" Target="slides/slide15.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2.xml"/><Relationship Id="rId69" Type="http://schemas.openxmlformats.org/officeDocument/2006/relationships/slide" Target="slides/slide23.xml"/><Relationship Id="rId70" Type="http://schemas.openxmlformats.org/officeDocument/2006/relationships/slide" Target="slides/slide24.xml"/><Relationship Id="rId71" Type="http://schemas.openxmlformats.org/officeDocument/2006/relationships/slide" Target="slides/slide25.xml"/><Relationship Id="rId72" Type="http://schemas.openxmlformats.org/officeDocument/2006/relationships/slide" Target="slides/slide26.xml"/><Relationship Id="rId73" Type="http://schemas.openxmlformats.org/officeDocument/2006/relationships/slide" Target="slides/slide27.xml"/><Relationship Id="rId74" Type="http://schemas.openxmlformats.org/officeDocument/2006/relationships/slide" Target="slides/slide28.xml"/><Relationship Id="rId75" Type="http://schemas.openxmlformats.org/officeDocument/2006/relationships/slide" Target="slides/slide29.xml"/><Relationship Id="rId76" Type="http://schemas.openxmlformats.org/officeDocument/2006/relationships/slide" Target="slides/slide30.xml"/><Relationship Id="rId77" Type="http://schemas.openxmlformats.org/officeDocument/2006/relationships/slide" Target="slides/slide31.xml"/><Relationship Id="rId78" Type="http://schemas.openxmlformats.org/officeDocument/2006/relationships/slide" Target="slides/slide32.xml"/><Relationship Id="rId79" Type="http://schemas.openxmlformats.org/officeDocument/2006/relationships/slide" Target="slides/slide33.xml"/><Relationship Id="rId80" Type="http://schemas.openxmlformats.org/officeDocument/2006/relationships/slide" Target="slides/slide34.xml"/><Relationship Id="rId81" Type="http://schemas.openxmlformats.org/officeDocument/2006/relationships/slide" Target="slides/slide35.xml"/><Relationship Id="rId82" Type="http://schemas.openxmlformats.org/officeDocument/2006/relationships/slide" Target="slides/slide36.xml"/><Relationship Id="rId83" Type="http://schemas.openxmlformats.org/officeDocument/2006/relationships/slide" Target="slides/slide37.xml"/><Relationship Id="rId84" Type="http://schemas.openxmlformats.org/officeDocument/2006/relationships/slide" Target="slides/slide38.xml"/><Relationship Id="rId85" Type="http://schemas.openxmlformats.org/officeDocument/2006/relationships/slide" Target="slides/slide39.xml"/><Relationship Id="rId86" Type="http://schemas.openxmlformats.org/officeDocument/2006/relationships/slide" Target="slides/slide40.xml"/><Relationship Id="rId87" Type="http://schemas.openxmlformats.org/officeDocument/2006/relationships/slide" Target="slides/slide41.xml"/><Relationship Id="rId88" Type="http://schemas.openxmlformats.org/officeDocument/2006/relationships/slide" Target="slides/slide42.xml"/><Relationship Id="rId89" Type="http://schemas.openxmlformats.org/officeDocument/2006/relationships/slide" Target="slides/slide43.xml"/><Relationship Id="rId90" Type="http://schemas.openxmlformats.org/officeDocument/2006/relationships/slide" Target="slides/slide44.xml"/><Relationship Id="rId91" Type="http://schemas.openxmlformats.org/officeDocument/2006/relationships/slide" Target="slides/slide45.xml"/><Relationship Id="rId92" Type="http://schemas.openxmlformats.org/officeDocument/2006/relationships/slide" Target="slides/slide46.xml"/><Relationship Id="rId93" Type="http://schemas.openxmlformats.org/officeDocument/2006/relationships/slide" Target="slides/slide47.xml"/><Relationship Id="rId94" Type="http://schemas.openxmlformats.org/officeDocument/2006/relationships/slide" Target="slides/slide48.xml"/><Relationship Id="rId95" Type="http://schemas.openxmlformats.org/officeDocument/2006/relationships/slide" Target="slides/slide49.xml"/><Relationship Id="rId96" Type="http://schemas.openxmlformats.org/officeDocument/2006/relationships/slide" Target="slides/slide50.xml"/><Relationship Id="rId97" Type="http://schemas.openxmlformats.org/officeDocument/2006/relationships/slide" Target="slides/slide51.xml"/><Relationship Id="rId98" Type="http://schemas.openxmlformats.org/officeDocument/2006/relationships/slide" Target="slides/slide52.xml"/><Relationship Id="rId99" Type="http://schemas.openxmlformats.org/officeDocument/2006/relationships/slide" Target="slides/slide53.xml"/><Relationship Id="rId100" Type="http://schemas.openxmlformats.org/officeDocument/2006/relationships/slide" Target="slides/slide54.xml"/><Relationship Id="rId101" Type="http://schemas.openxmlformats.org/officeDocument/2006/relationships/slide" Target="slides/slide55.xml"/><Relationship Id="rId102" Type="http://schemas.openxmlformats.org/officeDocument/2006/relationships/slide" Target="slides/slide56.xml"/><Relationship Id="rId103" Type="http://schemas.openxmlformats.org/officeDocument/2006/relationships/slide" Target="slides/slide57.xml"/><Relationship Id="rId104" Type="http://schemas.openxmlformats.org/officeDocument/2006/relationships/slide" Target="slides/slide58.xml"/><Relationship Id="rId105" Type="http://schemas.openxmlformats.org/officeDocument/2006/relationships/slide" Target="slides/slide59.xml"/><Relationship Id="rId106" Type="http://schemas.openxmlformats.org/officeDocument/2006/relationships/slide" Target="slides/slide60.xml"/><Relationship Id="rId107" Type="http://schemas.openxmlformats.org/officeDocument/2006/relationships/slide" Target="slides/slide61.xml"/><Relationship Id="rId108" Type="http://schemas.openxmlformats.org/officeDocument/2006/relationships/slide" Target="slides/slide62.xml"/><Relationship Id="rId109" Type="http://schemas.openxmlformats.org/officeDocument/2006/relationships/slide" Target="slides/slide63.xml"/><Relationship Id="rId110" Type="http://schemas.openxmlformats.org/officeDocument/2006/relationships/slide" Target="slides/slide64.xml"/><Relationship Id="rId111" Type="http://schemas.openxmlformats.org/officeDocument/2006/relationships/slide" Target="slides/slide65.xml"/><Relationship Id="rId112" Type="http://schemas.openxmlformats.org/officeDocument/2006/relationships/slide" Target="slides/slide66.xml"/><Relationship Id="rId113" Type="http://schemas.openxmlformats.org/officeDocument/2006/relationships/slide" Target="slides/slide67.xml"/><Relationship Id="rId114" Type="http://schemas.openxmlformats.org/officeDocument/2006/relationships/slide" Target="slides/slide68.xml"/><Relationship Id="rId115" Type="http://schemas.openxmlformats.org/officeDocument/2006/relationships/slide" Target="slides/slide6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57" Type="http://schemas.openxmlformats.org/officeDocument/2006/relationships/slide" Target="slides/slide217.xml"/><Relationship Id="rId258" Type="http://schemas.openxmlformats.org/officeDocument/2006/relationships/slide" Target="slides/slide218.xml"/><Relationship Id="rId259" Type="http://schemas.openxmlformats.org/officeDocument/2006/relationships/slide" Target="slides/slide219.xml"/><Relationship Id="rId260" Type="http://schemas.openxmlformats.org/officeDocument/2006/relationships/slide" Target="slides/slide220.xml"/><Relationship Id="rId261" Type="http://schemas.openxmlformats.org/officeDocument/2006/relationships/slide" Target="slides/slide221.xml"/><Relationship Id="rId262" Type="http://schemas.openxmlformats.org/officeDocument/2006/relationships/slide" Target="slides/slide222.xml"/><Relationship Id="rId263" Type="http://schemas.openxmlformats.org/officeDocument/2006/relationships/slide" Target="slides/slide223.xml"/><Relationship Id="rId264" Type="http://schemas.openxmlformats.org/officeDocument/2006/relationships/slide" Target="slides/slide224.xml"/><Relationship Id="rId265" Type="http://schemas.openxmlformats.org/officeDocument/2006/relationships/slide" Target="slides/slide225.xml"/><Relationship Id="rId266" Type="http://schemas.openxmlformats.org/officeDocument/2006/relationships/slide" Target="slides/slide226.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290" Type="http://schemas.openxmlformats.org/officeDocument/2006/relationships/slide" Target="slides/slide251.xml"/><Relationship Id="rId291" Type="http://schemas.openxmlformats.org/officeDocument/2006/relationships/slide" Target="slides/slide252.xml"/><Relationship Id="rId292" Type="http://schemas.openxmlformats.org/officeDocument/2006/relationships/slide" Target="slides/slide269.xml"/><Relationship Id="rId293" Type="http://schemas.openxmlformats.org/officeDocument/2006/relationships/slide" Target="slides/slide270.xml"/><Relationship Id="rId294" Type="http://schemas.openxmlformats.org/officeDocument/2006/relationships/slide" Target="slides/slide271.xml"/><Relationship Id="rId295" Type="http://schemas.openxmlformats.org/officeDocument/2006/relationships/slide" Target="slides/slide272.xml"/><Relationship Id="rId296" Type="http://schemas.openxmlformats.org/officeDocument/2006/relationships/slide" Target="slides/slide273.xml"/><Relationship Id="rId297" Type="http://schemas.openxmlformats.org/officeDocument/2006/relationships/slide" Target="slides/slide274.xml"/><Relationship Id="rId298" Type="http://schemas.openxmlformats.org/officeDocument/2006/relationships/slide" Target="slides/slide275.xml"/><Relationship Id="rId299" Type="http://schemas.openxmlformats.org/officeDocument/2006/relationships/slide" Target="slides/slide276.xml"/><Relationship Id="rId300" Type="http://schemas.openxmlformats.org/officeDocument/2006/relationships/slide" Target="slides/slide277.xml"/><Relationship Id="rId301" Type="http://schemas.openxmlformats.org/officeDocument/2006/relationships/slide" Target="slides/slide278.xml"/><Relationship Id="rId302" Type="http://schemas.openxmlformats.org/officeDocument/2006/relationships/slide" Target="slides/slide279.xml"/><Relationship Id="rId303" Type="http://schemas.openxmlformats.org/officeDocument/2006/relationships/slide" Target="slides/slide280.xml"/><Relationship Id="rId304" Type="http://schemas.openxmlformats.org/officeDocument/2006/relationships/slide" Target="slides/slide281.xml"/><Relationship Id="rId305" Type="http://schemas.openxmlformats.org/officeDocument/2006/relationships/slide" Target="slides/slide282.xml"/><Relationship Id="rId306" Type="http://schemas.openxmlformats.org/officeDocument/2006/relationships/slide" Target="slides/slide292.xml"/><Relationship Id="rId307" Type="http://schemas.openxmlformats.org/officeDocument/2006/relationships/slide" Target="slides/slide293.xml"/><Relationship Id="rId308" Type="http://schemas.openxmlformats.org/officeDocument/2006/relationships/slide" Target="slides/slide294.xml"/><Relationship Id="rId309" Type="http://schemas.openxmlformats.org/officeDocument/2006/relationships/slide" Target="slides/slide295.xml"/><Relationship Id="rId310" Type="http://schemas.openxmlformats.org/officeDocument/2006/relationships/slide" Target="slides/slide296.xml"/><Relationship Id="rId311" Type="http://schemas.openxmlformats.org/officeDocument/2006/relationships/slide" Target="slides/slide297.xml"/><Relationship Id="rId312" Type="http://schemas.openxmlformats.org/officeDocument/2006/relationships/slide" Target="slides/slide298.xml"/><Relationship Id="rId313" Type="http://schemas.openxmlformats.org/officeDocument/2006/relationships/slide" Target="slides/slide299.xml"/><Relationship Id="rId314" Type="http://schemas.openxmlformats.org/officeDocument/2006/relationships/slide" Target="slides/slide300.xml"/><Relationship Id="rId315" Type="http://schemas.openxmlformats.org/officeDocument/2006/relationships/slide" Target="slides/slide301.xml"/><Relationship Id="rId316" Type="http://schemas.openxmlformats.org/officeDocument/2006/relationships/slide" Target="slides/slide302.xml"/><Relationship Id="rId317" Type="http://schemas.openxmlformats.org/officeDocument/2006/relationships/slide" Target="slides/slide303.xml"/><Relationship Id="rId318" Type="http://schemas.openxmlformats.org/officeDocument/2006/relationships/slide" Target="slides/slide304.xml"/><Relationship Id="rId319" Type="http://schemas.openxmlformats.org/officeDocument/2006/relationships/slide" Target="slides/slide305.xml"/><Relationship Id="rId320" Type="http://schemas.openxmlformats.org/officeDocument/2006/relationships/slide" Target="slides/slide306.xml"/><Relationship Id="rId321" Type="http://schemas.openxmlformats.org/officeDocument/2006/relationships/slide" Target="slides/slide307.xml"/><Relationship Id="rId322" Type="http://schemas.openxmlformats.org/officeDocument/2006/relationships/slide" Target="slides/slide308.xml"/><Relationship Id="rId323" Type="http://schemas.openxmlformats.org/officeDocument/2006/relationships/slide" Target="slides/slide309.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29" Type="http://schemas.openxmlformats.org/officeDocument/2006/relationships/slide" Target="slides/slide283.xml"/><Relationship Id="rId330" Type="http://schemas.openxmlformats.org/officeDocument/2006/relationships/slide" Target="slides/slide284.xml"/><Relationship Id="rId331" Type="http://schemas.openxmlformats.org/officeDocument/2006/relationships/slide" Target="slides/slide285.xml"/><Relationship Id="rId332" Type="http://schemas.openxmlformats.org/officeDocument/2006/relationships/slide" Target="slides/slide286.xml"/><Relationship Id="rId333" Type="http://schemas.openxmlformats.org/officeDocument/2006/relationships/slide" Target="slides/slide287.xml"/><Relationship Id="rId334" Type="http://schemas.openxmlformats.org/officeDocument/2006/relationships/slide" Target="slides/slide288.xml"/><Relationship Id="rId335" Type="http://schemas.openxmlformats.org/officeDocument/2006/relationships/slide" Target="slides/slide289.xml"/><Relationship Id="rId336" Type="http://schemas.openxmlformats.org/officeDocument/2006/relationships/slide" Target="slides/slide290.xml"/><Relationship Id="rId337" Type="http://schemas.openxmlformats.org/officeDocument/2006/relationships/slide" Target="slides/slide291.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44" Type="http://schemas.openxmlformats.org/officeDocument/2006/relationships/slide" Target="slides/slide250.xml"/><Relationship Id="rId345" Type="http://schemas.openxmlformats.org/officeDocument/2006/relationships/slide" Target="slides/slide253.xml"/><Relationship Id="rId346" Type="http://schemas.openxmlformats.org/officeDocument/2006/relationships/slide" Target="slides/slide254.xml"/><Relationship Id="rId347" Type="http://schemas.openxmlformats.org/officeDocument/2006/relationships/slide" Target="slides/slide255.xml"/><Relationship Id="rId348" Type="http://schemas.openxmlformats.org/officeDocument/2006/relationships/slide" Target="slides/slide256.xml"/><Relationship Id="rId349" Type="http://schemas.openxmlformats.org/officeDocument/2006/relationships/slide" Target="slides/slide257.xml"/><Relationship Id="rId350" Type="http://schemas.openxmlformats.org/officeDocument/2006/relationships/slide" Target="slides/slide258.xml"/><Relationship Id="rId351" Type="http://schemas.openxmlformats.org/officeDocument/2006/relationships/slide" Target="slides/slide259.xml"/><Relationship Id="rId352" Type="http://schemas.openxmlformats.org/officeDocument/2006/relationships/slide" Target="slides/slide260.xml"/><Relationship Id="rId353" Type="http://schemas.openxmlformats.org/officeDocument/2006/relationships/slide" Target="slides/slide261.xml"/><Relationship Id="rId354" Type="http://schemas.openxmlformats.org/officeDocument/2006/relationships/slide" Target="slides/slide262.xml"/><Relationship Id="rId355" Type="http://schemas.openxmlformats.org/officeDocument/2006/relationships/slide" Target="slides/slide263.xml"/><Relationship Id="rId356" Type="http://schemas.openxmlformats.org/officeDocument/2006/relationships/slide" Target="slides/slide264.xml"/><Relationship Id="rId357" Type="http://schemas.openxmlformats.org/officeDocument/2006/relationships/slide" Target="slides/slide265.xml"/><Relationship Id="rId358" Type="http://schemas.openxmlformats.org/officeDocument/2006/relationships/slide" Target="slides/slide266.xml"/><Relationship Id="rId359" Type="http://schemas.openxmlformats.org/officeDocument/2006/relationships/slide" Target="slides/slide267.xml"/><Relationship Id="rId360" Type="http://schemas.openxmlformats.org/officeDocument/2006/relationships/slide" Target="slides/slide268.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25EB332-7BFC-4F38-B3C2-86915A2096A7}" type="doc">
      <dgm:prSet loTypeId="urn:microsoft.com/office/officeart/2008/layout/HalfCircleOrganizationChart" loCatId="hierarchy" qsTypeId="urn:microsoft.com/office/officeart/2005/8/quickstyle/simple2" qsCatId="simple" csTypeId="urn:microsoft.com/office/officeart/2005/8/colors/colorful1" csCatId="colorful" phldr="1"/>
      <dgm:spPr/>
      <dgm:t>
        <a:bodyPr/>
        <a:lstStyle/>
        <a:p>
          <a:endParaRPr lang="de-DE"/>
        </a:p>
      </dgm:t>
    </dgm:pt>
    <dgm:pt modelId="{66E411B0-21E1-46BB-A56F-5C0526678BDC}">
      <dgm:prSet phldrT="[Text]"/>
      <dgm:spPr/>
      <dgm:t>
        <a:bodyPr/>
        <a:lstStyle/>
        <a:p>
          <a:r>
            <a:rPr lang="de-DE" dirty="0" err="1"/>
            <a:t>any</a:t>
          </a:r>
          <a:endParaRPr lang="de-DE" dirty="0"/>
        </a:p>
      </dgm:t>
    </dgm:pt>
    <dgm:pt modelId="{717B430E-5371-45EA-B172-51C95831C4A0}" type="parTrans" cxnId="{C5CA0EDE-BC06-43B6-AB54-5F1BC37D21D4}">
      <dgm:prSet/>
      <dgm:spPr/>
      <dgm:t>
        <a:bodyPr/>
        <a:lstStyle/>
        <a:p>
          <a:endParaRPr lang="de-DE"/>
        </a:p>
      </dgm:t>
    </dgm:pt>
    <dgm:pt modelId="{BFB57B88-151C-4CB7-9F27-9286D46856AD}" type="sibTrans" cxnId="{C5CA0EDE-BC06-43B6-AB54-5F1BC37D21D4}">
      <dgm:prSet/>
      <dgm:spPr/>
      <dgm:t>
        <a:bodyPr/>
        <a:lstStyle/>
        <a:p>
          <a:endParaRPr lang="de-DE"/>
        </a:p>
      </dgm:t>
    </dgm:pt>
    <dgm:pt modelId="{5EE6A9FA-6940-44C5-9799-E6B48680286D}" type="asst">
      <dgm:prSet phldrT="[Text]"/>
      <dgm:spPr/>
      <dgm:t>
        <a:bodyPr/>
        <a:lstStyle/>
        <a:p>
          <a:r>
            <a:rPr lang="de-DE" dirty="0" err="1"/>
            <a:t>build</a:t>
          </a:r>
          <a:r>
            <a:rPr lang="de-DE" dirty="0"/>
            <a:t>-in </a:t>
          </a:r>
        </a:p>
      </dgm:t>
    </dgm:pt>
    <dgm:pt modelId="{C7555B13-EADA-43C8-BCC7-8E40F734D9D4}" type="parTrans" cxnId="{C7FA707B-7085-4ECE-8EAE-0AEB83CED243}">
      <dgm:prSet/>
      <dgm:spPr/>
      <dgm:t>
        <a:bodyPr/>
        <a:lstStyle/>
        <a:p>
          <a:endParaRPr lang="de-DE"/>
        </a:p>
      </dgm:t>
    </dgm:pt>
    <dgm:pt modelId="{FFE65735-93C1-404F-BAAA-74526C925BA9}" type="sibTrans" cxnId="{C7FA707B-7085-4ECE-8EAE-0AEB83CED243}">
      <dgm:prSet/>
      <dgm:spPr/>
      <dgm:t>
        <a:bodyPr/>
        <a:lstStyle/>
        <a:p>
          <a:endParaRPr lang="de-DE"/>
        </a:p>
      </dgm:t>
    </dgm:pt>
    <dgm:pt modelId="{BB74A2FE-F37E-4D5E-AB25-CE0E373C0801}">
      <dgm:prSet phldrT="[Text]"/>
      <dgm:spPr/>
      <dgm:t>
        <a:bodyPr/>
        <a:lstStyle/>
        <a:p>
          <a:r>
            <a:rPr lang="de-DE" dirty="0"/>
            <a:t>user-</a:t>
          </a:r>
          <a:r>
            <a:rPr lang="de-DE" dirty="0" err="1"/>
            <a:t>defined</a:t>
          </a:r>
          <a:endParaRPr lang="de-DE" dirty="0"/>
        </a:p>
      </dgm:t>
    </dgm:pt>
    <dgm:pt modelId="{7DF84661-5BD8-400B-85D2-4E0300FB7E5B}" type="parTrans" cxnId="{C53DE538-4118-4473-8999-D8B3157AAB06}">
      <dgm:prSet/>
      <dgm:spPr/>
      <dgm:t>
        <a:bodyPr/>
        <a:lstStyle/>
        <a:p>
          <a:endParaRPr lang="de-DE"/>
        </a:p>
      </dgm:t>
    </dgm:pt>
    <dgm:pt modelId="{9AB06497-A5F4-421E-BD3C-511F1EF38DCC}" type="sibTrans" cxnId="{C53DE538-4118-4473-8999-D8B3157AAB06}">
      <dgm:prSet/>
      <dgm:spPr/>
      <dgm:t>
        <a:bodyPr/>
        <a:lstStyle/>
        <a:p>
          <a:endParaRPr lang="de-DE"/>
        </a:p>
      </dgm:t>
    </dgm:pt>
    <dgm:pt modelId="{BB93813A-070A-8D4A-9843-3CCBDE9737C1}" type="pres">
      <dgm:prSet presAssocID="{725EB332-7BFC-4F38-B3C2-86915A2096A7}" presName="Name0" presStyleCnt="0">
        <dgm:presLayoutVars>
          <dgm:orgChart val="1"/>
          <dgm:chPref val="1"/>
          <dgm:dir/>
          <dgm:animOne val="branch"/>
          <dgm:animLvl val="lvl"/>
          <dgm:resizeHandles/>
        </dgm:presLayoutVars>
      </dgm:prSet>
      <dgm:spPr/>
    </dgm:pt>
    <dgm:pt modelId="{05509138-3CB7-2441-857A-26BFDF3AC619}" type="pres">
      <dgm:prSet presAssocID="{66E411B0-21E1-46BB-A56F-5C0526678BDC}" presName="hierRoot1" presStyleCnt="0">
        <dgm:presLayoutVars>
          <dgm:hierBranch val="init"/>
        </dgm:presLayoutVars>
      </dgm:prSet>
      <dgm:spPr/>
    </dgm:pt>
    <dgm:pt modelId="{7C1E00F0-6F2E-9F45-A260-CAD07C8C3326}" type="pres">
      <dgm:prSet presAssocID="{66E411B0-21E1-46BB-A56F-5C0526678BDC}" presName="rootComposite1" presStyleCnt="0"/>
      <dgm:spPr/>
    </dgm:pt>
    <dgm:pt modelId="{E483DDC5-6826-BD44-AB99-BD67F09563F2}" type="pres">
      <dgm:prSet presAssocID="{66E411B0-21E1-46BB-A56F-5C0526678BDC}" presName="rootText1" presStyleLbl="alignAcc1" presStyleIdx="0" presStyleCnt="0">
        <dgm:presLayoutVars>
          <dgm:chPref val="3"/>
        </dgm:presLayoutVars>
      </dgm:prSet>
      <dgm:spPr/>
    </dgm:pt>
    <dgm:pt modelId="{34259B3B-D6B1-F743-83B8-9AB1A60E7DE1}" type="pres">
      <dgm:prSet presAssocID="{66E411B0-21E1-46BB-A56F-5C0526678BDC}" presName="topArc1" presStyleLbl="parChTrans1D1" presStyleIdx="0" presStyleCnt="6"/>
      <dgm:spPr/>
    </dgm:pt>
    <dgm:pt modelId="{B4A37C34-5D0F-3C47-9836-F4DB7D8FF3A7}" type="pres">
      <dgm:prSet presAssocID="{66E411B0-21E1-46BB-A56F-5C0526678BDC}" presName="bottomArc1" presStyleLbl="parChTrans1D1" presStyleIdx="1" presStyleCnt="6"/>
      <dgm:spPr/>
    </dgm:pt>
    <dgm:pt modelId="{DA03E829-B13E-CA42-978B-A244B7328CE7}" type="pres">
      <dgm:prSet presAssocID="{66E411B0-21E1-46BB-A56F-5C0526678BDC}" presName="topConnNode1" presStyleLbl="node1" presStyleIdx="0" presStyleCnt="0"/>
      <dgm:spPr/>
    </dgm:pt>
    <dgm:pt modelId="{B073C965-7A1D-7349-80AF-B53489CD1BFB}" type="pres">
      <dgm:prSet presAssocID="{66E411B0-21E1-46BB-A56F-5C0526678BDC}" presName="hierChild2" presStyleCnt="0"/>
      <dgm:spPr/>
    </dgm:pt>
    <dgm:pt modelId="{203A3C33-7FFA-3748-8258-C09732752CE2}" type="pres">
      <dgm:prSet presAssocID="{7DF84661-5BD8-400B-85D2-4E0300FB7E5B}" presName="Name28" presStyleLbl="parChTrans1D2" presStyleIdx="0" presStyleCnt="2"/>
      <dgm:spPr/>
    </dgm:pt>
    <dgm:pt modelId="{857D2D53-EA34-0541-BD5E-8D6BCDAE294D}" type="pres">
      <dgm:prSet presAssocID="{BB74A2FE-F37E-4D5E-AB25-CE0E373C0801}" presName="hierRoot2" presStyleCnt="0">
        <dgm:presLayoutVars>
          <dgm:hierBranch val="init"/>
        </dgm:presLayoutVars>
      </dgm:prSet>
      <dgm:spPr/>
    </dgm:pt>
    <dgm:pt modelId="{97108150-63F1-4048-8CD1-B27EC454E8AB}" type="pres">
      <dgm:prSet presAssocID="{BB74A2FE-F37E-4D5E-AB25-CE0E373C0801}" presName="rootComposite2" presStyleCnt="0"/>
      <dgm:spPr/>
    </dgm:pt>
    <dgm:pt modelId="{E2F1E523-5190-424F-BA86-8372C6F5CAC4}" type="pres">
      <dgm:prSet presAssocID="{BB74A2FE-F37E-4D5E-AB25-CE0E373C0801}" presName="rootText2" presStyleLbl="alignAcc1" presStyleIdx="0" presStyleCnt="0">
        <dgm:presLayoutVars>
          <dgm:chPref val="3"/>
        </dgm:presLayoutVars>
      </dgm:prSet>
      <dgm:spPr/>
    </dgm:pt>
    <dgm:pt modelId="{9D02861B-EA84-F748-AE6A-3B31D1F98643}" type="pres">
      <dgm:prSet presAssocID="{BB74A2FE-F37E-4D5E-AB25-CE0E373C0801}" presName="topArc2" presStyleLbl="parChTrans1D1" presStyleIdx="2" presStyleCnt="6"/>
      <dgm:spPr/>
    </dgm:pt>
    <dgm:pt modelId="{42882EBD-7C86-3F4E-ACFA-7AFD645EE42A}" type="pres">
      <dgm:prSet presAssocID="{BB74A2FE-F37E-4D5E-AB25-CE0E373C0801}" presName="bottomArc2" presStyleLbl="parChTrans1D1" presStyleIdx="3" presStyleCnt="6"/>
      <dgm:spPr/>
    </dgm:pt>
    <dgm:pt modelId="{A1AF99B4-6369-2542-B197-A64E68C05C52}" type="pres">
      <dgm:prSet presAssocID="{BB74A2FE-F37E-4D5E-AB25-CE0E373C0801}" presName="topConnNode2" presStyleLbl="node2" presStyleIdx="0" presStyleCnt="0"/>
      <dgm:spPr/>
    </dgm:pt>
    <dgm:pt modelId="{135A7650-73D1-9344-98C3-9249746E3B7F}" type="pres">
      <dgm:prSet presAssocID="{BB74A2FE-F37E-4D5E-AB25-CE0E373C0801}" presName="hierChild4" presStyleCnt="0"/>
      <dgm:spPr/>
    </dgm:pt>
    <dgm:pt modelId="{3DD6243B-1954-384F-BF61-A19082DAA9B9}" type="pres">
      <dgm:prSet presAssocID="{BB74A2FE-F37E-4D5E-AB25-CE0E373C0801}" presName="hierChild5" presStyleCnt="0"/>
      <dgm:spPr/>
    </dgm:pt>
    <dgm:pt modelId="{BE3F49F2-7A25-2340-9C96-91A699328FFB}" type="pres">
      <dgm:prSet presAssocID="{66E411B0-21E1-46BB-A56F-5C0526678BDC}" presName="hierChild3" presStyleCnt="0"/>
      <dgm:spPr/>
    </dgm:pt>
    <dgm:pt modelId="{E9E1DB7A-644C-3B42-AD25-2ECA5A8DDB63}" type="pres">
      <dgm:prSet presAssocID="{C7555B13-EADA-43C8-BCC7-8E40F734D9D4}" presName="Name101" presStyleLbl="parChTrans1D2" presStyleIdx="1" presStyleCnt="2"/>
      <dgm:spPr/>
    </dgm:pt>
    <dgm:pt modelId="{D11FF0FD-A7C1-0049-B2A7-95F114818287}" type="pres">
      <dgm:prSet presAssocID="{5EE6A9FA-6940-44C5-9799-E6B48680286D}" presName="hierRoot3" presStyleCnt="0">
        <dgm:presLayoutVars>
          <dgm:hierBranch val="init"/>
        </dgm:presLayoutVars>
      </dgm:prSet>
      <dgm:spPr/>
    </dgm:pt>
    <dgm:pt modelId="{7E79596E-C293-9641-ABE6-EAF1B3C07CA6}" type="pres">
      <dgm:prSet presAssocID="{5EE6A9FA-6940-44C5-9799-E6B48680286D}" presName="rootComposite3" presStyleCnt="0"/>
      <dgm:spPr/>
    </dgm:pt>
    <dgm:pt modelId="{177331BC-3BBA-3E4D-9943-2B47AE708F1D}" type="pres">
      <dgm:prSet presAssocID="{5EE6A9FA-6940-44C5-9799-E6B48680286D}" presName="rootText3" presStyleLbl="alignAcc1" presStyleIdx="0" presStyleCnt="0">
        <dgm:presLayoutVars>
          <dgm:chPref val="3"/>
        </dgm:presLayoutVars>
      </dgm:prSet>
      <dgm:spPr/>
    </dgm:pt>
    <dgm:pt modelId="{80A84B1A-C964-A646-BC6F-F9605462D7EA}" type="pres">
      <dgm:prSet presAssocID="{5EE6A9FA-6940-44C5-9799-E6B48680286D}" presName="topArc3" presStyleLbl="parChTrans1D1" presStyleIdx="4" presStyleCnt="6"/>
      <dgm:spPr/>
    </dgm:pt>
    <dgm:pt modelId="{2F2A00A7-8A99-564A-9E40-413619C32B17}" type="pres">
      <dgm:prSet presAssocID="{5EE6A9FA-6940-44C5-9799-E6B48680286D}" presName="bottomArc3" presStyleLbl="parChTrans1D1" presStyleIdx="5" presStyleCnt="6"/>
      <dgm:spPr/>
    </dgm:pt>
    <dgm:pt modelId="{C3CF920B-9328-2A4B-BFE0-B576720ADB03}" type="pres">
      <dgm:prSet presAssocID="{5EE6A9FA-6940-44C5-9799-E6B48680286D}" presName="topConnNode3" presStyleLbl="asst1" presStyleIdx="0" presStyleCnt="0"/>
      <dgm:spPr/>
    </dgm:pt>
    <dgm:pt modelId="{7D0D0836-BA28-054C-841D-C88C0A8E0625}" type="pres">
      <dgm:prSet presAssocID="{5EE6A9FA-6940-44C5-9799-E6B48680286D}" presName="hierChild6" presStyleCnt="0"/>
      <dgm:spPr/>
    </dgm:pt>
    <dgm:pt modelId="{74AB9EDA-C9EF-FD40-8179-6632100F1AE8}" type="pres">
      <dgm:prSet presAssocID="{5EE6A9FA-6940-44C5-9799-E6B48680286D}" presName="hierChild7" presStyleCnt="0"/>
      <dgm:spPr/>
    </dgm:pt>
  </dgm:ptLst>
  <dgm:cxnLst>
    <dgm:cxn modelId="{C53DE538-4118-4473-8999-D8B3157AAB06}" srcId="{66E411B0-21E1-46BB-A56F-5C0526678BDC}" destId="{BB74A2FE-F37E-4D5E-AB25-CE0E373C0801}" srcOrd="1" destOrd="0" parTransId="{7DF84661-5BD8-400B-85D2-4E0300FB7E5B}" sibTransId="{9AB06497-A5F4-421E-BD3C-511F1EF38DCC}"/>
    <dgm:cxn modelId="{94207C39-5862-F34C-B524-DC1FCFDBCC17}" type="presOf" srcId="{BB74A2FE-F37E-4D5E-AB25-CE0E373C0801}" destId="{A1AF99B4-6369-2542-B197-A64E68C05C52}" srcOrd="1" destOrd="0" presId="urn:microsoft.com/office/officeart/2008/layout/HalfCircleOrganizationChart"/>
    <dgm:cxn modelId="{A3FEA051-3E46-8149-9C70-488C27084635}" type="presOf" srcId="{5EE6A9FA-6940-44C5-9799-E6B48680286D}" destId="{177331BC-3BBA-3E4D-9943-2B47AE708F1D}" srcOrd="0" destOrd="0" presId="urn:microsoft.com/office/officeart/2008/layout/HalfCircleOrganizationChart"/>
    <dgm:cxn modelId="{36CB1A6E-2D7D-B94D-8D37-C1B345F385BF}" type="presOf" srcId="{7DF84661-5BD8-400B-85D2-4E0300FB7E5B}" destId="{203A3C33-7FFA-3748-8258-C09732752CE2}" srcOrd="0" destOrd="0" presId="urn:microsoft.com/office/officeart/2008/layout/HalfCircleOrganizationChart"/>
    <dgm:cxn modelId="{C7FA707B-7085-4ECE-8EAE-0AEB83CED243}" srcId="{66E411B0-21E1-46BB-A56F-5C0526678BDC}" destId="{5EE6A9FA-6940-44C5-9799-E6B48680286D}" srcOrd="0" destOrd="0" parTransId="{C7555B13-EADA-43C8-BCC7-8E40F734D9D4}" sibTransId="{FFE65735-93C1-404F-BAAA-74526C925BA9}"/>
    <dgm:cxn modelId="{FB05FF8B-A3FA-804D-94C0-87D55B4A8A64}" type="presOf" srcId="{725EB332-7BFC-4F38-B3C2-86915A2096A7}" destId="{BB93813A-070A-8D4A-9843-3CCBDE9737C1}" srcOrd="0" destOrd="0" presId="urn:microsoft.com/office/officeart/2008/layout/HalfCircleOrganizationChart"/>
    <dgm:cxn modelId="{AF4D808D-8F6E-0F49-961A-A430AC5CC03A}" type="presOf" srcId="{66E411B0-21E1-46BB-A56F-5C0526678BDC}" destId="{E483DDC5-6826-BD44-AB99-BD67F09563F2}" srcOrd="0" destOrd="0" presId="urn:microsoft.com/office/officeart/2008/layout/HalfCircleOrganizationChart"/>
    <dgm:cxn modelId="{BF3E1893-D261-5B4A-BC0C-209A25151518}" type="presOf" srcId="{C7555B13-EADA-43C8-BCC7-8E40F734D9D4}" destId="{E9E1DB7A-644C-3B42-AD25-2ECA5A8DDB63}" srcOrd="0" destOrd="0" presId="urn:microsoft.com/office/officeart/2008/layout/HalfCircleOrganizationChart"/>
    <dgm:cxn modelId="{0D6B609B-4CB3-5C40-9D88-5E44C4A97F30}" type="presOf" srcId="{5EE6A9FA-6940-44C5-9799-E6B48680286D}" destId="{C3CF920B-9328-2A4B-BFE0-B576720ADB03}" srcOrd="1" destOrd="0" presId="urn:microsoft.com/office/officeart/2008/layout/HalfCircleOrganizationChart"/>
    <dgm:cxn modelId="{C864A3CB-AEAE-F94E-A71C-C0AC62F47E75}" type="presOf" srcId="{66E411B0-21E1-46BB-A56F-5C0526678BDC}" destId="{DA03E829-B13E-CA42-978B-A244B7328CE7}" srcOrd="1" destOrd="0" presId="urn:microsoft.com/office/officeart/2008/layout/HalfCircleOrganizationChart"/>
    <dgm:cxn modelId="{C5CA0EDE-BC06-43B6-AB54-5F1BC37D21D4}" srcId="{725EB332-7BFC-4F38-B3C2-86915A2096A7}" destId="{66E411B0-21E1-46BB-A56F-5C0526678BDC}" srcOrd="0" destOrd="0" parTransId="{717B430E-5371-45EA-B172-51C95831C4A0}" sibTransId="{BFB57B88-151C-4CB7-9F27-9286D46856AD}"/>
    <dgm:cxn modelId="{6945E1F4-AB31-7843-9954-899710275D46}" type="presOf" srcId="{BB74A2FE-F37E-4D5E-AB25-CE0E373C0801}" destId="{E2F1E523-5190-424F-BA86-8372C6F5CAC4}" srcOrd="0" destOrd="0" presId="urn:microsoft.com/office/officeart/2008/layout/HalfCircleOrganizationChart"/>
    <dgm:cxn modelId="{C37823E0-6CA4-9F48-85EF-CA209D9C09B0}" type="presParOf" srcId="{BB93813A-070A-8D4A-9843-3CCBDE9737C1}" destId="{05509138-3CB7-2441-857A-26BFDF3AC619}" srcOrd="0" destOrd="0" presId="urn:microsoft.com/office/officeart/2008/layout/HalfCircleOrganizationChart"/>
    <dgm:cxn modelId="{C75A147B-F44F-6342-B98E-3267762C3403}" type="presParOf" srcId="{05509138-3CB7-2441-857A-26BFDF3AC619}" destId="{7C1E00F0-6F2E-9F45-A260-CAD07C8C3326}" srcOrd="0" destOrd="0" presId="urn:microsoft.com/office/officeart/2008/layout/HalfCircleOrganizationChart"/>
    <dgm:cxn modelId="{B56ECF03-01F2-0F42-9F31-1F9EF3F4EFA7}" type="presParOf" srcId="{7C1E00F0-6F2E-9F45-A260-CAD07C8C3326}" destId="{E483DDC5-6826-BD44-AB99-BD67F09563F2}" srcOrd="0" destOrd="0" presId="urn:microsoft.com/office/officeart/2008/layout/HalfCircleOrganizationChart"/>
    <dgm:cxn modelId="{D9A46C8F-4B6D-FF46-B526-41C3AE194F28}" type="presParOf" srcId="{7C1E00F0-6F2E-9F45-A260-CAD07C8C3326}" destId="{34259B3B-D6B1-F743-83B8-9AB1A60E7DE1}" srcOrd="1" destOrd="0" presId="urn:microsoft.com/office/officeart/2008/layout/HalfCircleOrganizationChart"/>
    <dgm:cxn modelId="{50E0C9A6-4064-804F-B01F-FF99F907EA52}" type="presParOf" srcId="{7C1E00F0-6F2E-9F45-A260-CAD07C8C3326}" destId="{B4A37C34-5D0F-3C47-9836-F4DB7D8FF3A7}" srcOrd="2" destOrd="0" presId="urn:microsoft.com/office/officeart/2008/layout/HalfCircleOrganizationChart"/>
    <dgm:cxn modelId="{21997B97-1D04-E34B-884B-435F3392D87B}" type="presParOf" srcId="{7C1E00F0-6F2E-9F45-A260-CAD07C8C3326}" destId="{DA03E829-B13E-CA42-978B-A244B7328CE7}" srcOrd="3" destOrd="0" presId="urn:microsoft.com/office/officeart/2008/layout/HalfCircleOrganizationChart"/>
    <dgm:cxn modelId="{DC4B6C23-E12D-2A4B-BE9E-DE6ED8BFFAF1}" type="presParOf" srcId="{05509138-3CB7-2441-857A-26BFDF3AC619}" destId="{B073C965-7A1D-7349-80AF-B53489CD1BFB}" srcOrd="1" destOrd="0" presId="urn:microsoft.com/office/officeart/2008/layout/HalfCircleOrganizationChart"/>
    <dgm:cxn modelId="{7282149E-4891-A647-88B9-B8C0CAE694AD}" type="presParOf" srcId="{B073C965-7A1D-7349-80AF-B53489CD1BFB}" destId="{203A3C33-7FFA-3748-8258-C09732752CE2}" srcOrd="0" destOrd="0" presId="urn:microsoft.com/office/officeart/2008/layout/HalfCircleOrganizationChart"/>
    <dgm:cxn modelId="{EFBF637C-49D7-5045-9C24-5EDDE3EE1485}" type="presParOf" srcId="{B073C965-7A1D-7349-80AF-B53489CD1BFB}" destId="{857D2D53-EA34-0541-BD5E-8D6BCDAE294D}" srcOrd="1" destOrd="0" presId="urn:microsoft.com/office/officeart/2008/layout/HalfCircleOrganizationChart"/>
    <dgm:cxn modelId="{85029D80-BB9B-A243-8C9E-04B574584B2A}" type="presParOf" srcId="{857D2D53-EA34-0541-BD5E-8D6BCDAE294D}" destId="{97108150-63F1-4048-8CD1-B27EC454E8AB}" srcOrd="0" destOrd="0" presId="urn:microsoft.com/office/officeart/2008/layout/HalfCircleOrganizationChart"/>
    <dgm:cxn modelId="{B33B9C14-AC07-9644-8AE0-6E531DC0476B}" type="presParOf" srcId="{97108150-63F1-4048-8CD1-B27EC454E8AB}" destId="{E2F1E523-5190-424F-BA86-8372C6F5CAC4}" srcOrd="0" destOrd="0" presId="urn:microsoft.com/office/officeart/2008/layout/HalfCircleOrganizationChart"/>
    <dgm:cxn modelId="{9922A569-E32B-8B47-A285-92C5A3E32268}" type="presParOf" srcId="{97108150-63F1-4048-8CD1-B27EC454E8AB}" destId="{9D02861B-EA84-F748-AE6A-3B31D1F98643}" srcOrd="1" destOrd="0" presId="urn:microsoft.com/office/officeart/2008/layout/HalfCircleOrganizationChart"/>
    <dgm:cxn modelId="{C8A36A55-E85A-8B45-B1A1-70226A92CBF2}" type="presParOf" srcId="{97108150-63F1-4048-8CD1-B27EC454E8AB}" destId="{42882EBD-7C86-3F4E-ACFA-7AFD645EE42A}" srcOrd="2" destOrd="0" presId="urn:microsoft.com/office/officeart/2008/layout/HalfCircleOrganizationChart"/>
    <dgm:cxn modelId="{2A3FC653-FDAA-E949-8638-5F793BAE1F45}" type="presParOf" srcId="{97108150-63F1-4048-8CD1-B27EC454E8AB}" destId="{A1AF99B4-6369-2542-B197-A64E68C05C52}" srcOrd="3" destOrd="0" presId="urn:microsoft.com/office/officeart/2008/layout/HalfCircleOrganizationChart"/>
    <dgm:cxn modelId="{8BEEAA47-6E24-904A-BAE2-344B3C891897}" type="presParOf" srcId="{857D2D53-EA34-0541-BD5E-8D6BCDAE294D}" destId="{135A7650-73D1-9344-98C3-9249746E3B7F}" srcOrd="1" destOrd="0" presId="urn:microsoft.com/office/officeart/2008/layout/HalfCircleOrganizationChart"/>
    <dgm:cxn modelId="{D4BC3DD5-C0B6-514B-BC82-6525EC4FE03C}" type="presParOf" srcId="{857D2D53-EA34-0541-BD5E-8D6BCDAE294D}" destId="{3DD6243B-1954-384F-BF61-A19082DAA9B9}" srcOrd="2" destOrd="0" presId="urn:microsoft.com/office/officeart/2008/layout/HalfCircleOrganizationChart"/>
    <dgm:cxn modelId="{29420D23-1D4A-EC48-9DEE-480C366F2819}" type="presParOf" srcId="{05509138-3CB7-2441-857A-26BFDF3AC619}" destId="{BE3F49F2-7A25-2340-9C96-91A699328FFB}" srcOrd="2" destOrd="0" presId="urn:microsoft.com/office/officeart/2008/layout/HalfCircleOrganizationChart"/>
    <dgm:cxn modelId="{DE0614E3-912F-D941-9116-403F246A6705}" type="presParOf" srcId="{BE3F49F2-7A25-2340-9C96-91A699328FFB}" destId="{E9E1DB7A-644C-3B42-AD25-2ECA5A8DDB63}" srcOrd="0" destOrd="0" presId="urn:microsoft.com/office/officeart/2008/layout/HalfCircleOrganizationChart"/>
    <dgm:cxn modelId="{1E868B6F-863D-014B-A9CC-405E5F29C8BA}" type="presParOf" srcId="{BE3F49F2-7A25-2340-9C96-91A699328FFB}" destId="{D11FF0FD-A7C1-0049-B2A7-95F114818287}" srcOrd="1" destOrd="0" presId="urn:microsoft.com/office/officeart/2008/layout/HalfCircleOrganizationChart"/>
    <dgm:cxn modelId="{12E25E0A-801F-0B48-A205-AB94D9AC939A}" type="presParOf" srcId="{D11FF0FD-A7C1-0049-B2A7-95F114818287}" destId="{7E79596E-C293-9641-ABE6-EAF1B3C07CA6}" srcOrd="0" destOrd="0" presId="urn:microsoft.com/office/officeart/2008/layout/HalfCircleOrganizationChart"/>
    <dgm:cxn modelId="{2C933C08-4948-114B-825C-262F7E09BC06}" type="presParOf" srcId="{7E79596E-C293-9641-ABE6-EAF1B3C07CA6}" destId="{177331BC-3BBA-3E4D-9943-2B47AE708F1D}" srcOrd="0" destOrd="0" presId="urn:microsoft.com/office/officeart/2008/layout/HalfCircleOrganizationChart"/>
    <dgm:cxn modelId="{C7A2A12C-ABB2-CD49-B89D-18B6DCE9AFA6}" type="presParOf" srcId="{7E79596E-C293-9641-ABE6-EAF1B3C07CA6}" destId="{80A84B1A-C964-A646-BC6F-F9605462D7EA}" srcOrd="1" destOrd="0" presId="urn:microsoft.com/office/officeart/2008/layout/HalfCircleOrganizationChart"/>
    <dgm:cxn modelId="{E5D4FD01-01D8-BB4A-ACCA-DBC608656B5B}" type="presParOf" srcId="{7E79596E-C293-9641-ABE6-EAF1B3C07CA6}" destId="{2F2A00A7-8A99-564A-9E40-413619C32B17}" srcOrd="2" destOrd="0" presId="urn:microsoft.com/office/officeart/2008/layout/HalfCircleOrganizationChart"/>
    <dgm:cxn modelId="{70013983-8107-BC43-8A37-6340A7050B50}" type="presParOf" srcId="{7E79596E-C293-9641-ABE6-EAF1B3C07CA6}" destId="{C3CF920B-9328-2A4B-BFE0-B576720ADB03}" srcOrd="3" destOrd="0" presId="urn:microsoft.com/office/officeart/2008/layout/HalfCircleOrganizationChart"/>
    <dgm:cxn modelId="{A51C989B-4132-8748-8F72-3DE61C00DAE1}" type="presParOf" srcId="{D11FF0FD-A7C1-0049-B2A7-95F114818287}" destId="{7D0D0836-BA28-054C-841D-C88C0A8E0625}" srcOrd="1" destOrd="0" presId="urn:microsoft.com/office/officeart/2008/layout/HalfCircleOrganizationChart"/>
    <dgm:cxn modelId="{BA520CE5-3684-754C-A1D0-C3B051BA40AC}" type="presParOf" srcId="{D11FF0FD-A7C1-0049-B2A7-95F114818287}" destId="{74AB9EDA-C9EF-FD40-8179-6632100F1AE8}" srcOrd="2" destOrd="0" presId="urn:microsoft.com/office/officeart/2008/layout/HalfCircle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509F39-E273-7E46-9908-3291EEE0B8B5}" type="doc">
      <dgm:prSet loTypeId="urn:microsoft.com/office/officeart/2005/8/layout/default" loCatId="" qsTypeId="urn:microsoft.com/office/officeart/2005/8/quickstyle/3d7" qsCatId="3D" csTypeId="urn:microsoft.com/office/officeart/2005/8/colors/accent1_2" csCatId="accent1" phldr="1"/>
      <dgm:spPr/>
      <dgm:t>
        <a:bodyPr/>
        <a:lstStyle/>
        <a:p>
          <a:endParaRPr lang="en-GB"/>
        </a:p>
      </dgm:t>
    </dgm:pt>
    <dgm:pt modelId="{3A28DC43-6AC2-444F-A371-4E893A1E9445}">
      <dgm:prSet phldrT="[Text]"/>
      <dgm:spPr/>
      <dgm:t>
        <a:bodyPr/>
        <a:lstStyle/>
        <a:p>
          <a:r>
            <a:rPr lang="en-GB" dirty="0"/>
            <a:t>MAX_VALUE</a:t>
          </a:r>
        </a:p>
      </dgm:t>
    </dgm:pt>
    <dgm:pt modelId="{0CE3651C-D5CB-6241-ADA6-649E0F0125F1}" type="parTrans" cxnId="{920A8065-1413-D74E-A47F-8D33714604CF}">
      <dgm:prSet/>
      <dgm:spPr/>
      <dgm:t>
        <a:bodyPr/>
        <a:lstStyle/>
        <a:p>
          <a:endParaRPr lang="en-GB"/>
        </a:p>
      </dgm:t>
    </dgm:pt>
    <dgm:pt modelId="{BB1F1825-C695-0B49-A760-5583FBBAD53C}" type="sibTrans" cxnId="{920A8065-1413-D74E-A47F-8D33714604CF}">
      <dgm:prSet/>
      <dgm:spPr/>
      <dgm:t>
        <a:bodyPr/>
        <a:lstStyle/>
        <a:p>
          <a:endParaRPr lang="en-GB"/>
        </a:p>
      </dgm:t>
    </dgm:pt>
    <dgm:pt modelId="{9B62F52B-1644-124B-8937-304495188692}">
      <dgm:prSet phldrT="[Text]"/>
      <dgm:spPr/>
      <dgm:t>
        <a:bodyPr/>
        <a:lstStyle/>
        <a:p>
          <a:r>
            <a:rPr lang="en-GB" dirty="0"/>
            <a:t>MIN_VALUE</a:t>
          </a:r>
        </a:p>
      </dgm:t>
    </dgm:pt>
    <dgm:pt modelId="{45770209-43C6-F940-8F8D-5EF16205BD6B}" type="parTrans" cxnId="{2B959D7F-C8F4-5945-9E11-74F281FC290E}">
      <dgm:prSet/>
      <dgm:spPr/>
      <dgm:t>
        <a:bodyPr/>
        <a:lstStyle/>
        <a:p>
          <a:endParaRPr lang="en-GB"/>
        </a:p>
      </dgm:t>
    </dgm:pt>
    <dgm:pt modelId="{80089DFC-22C7-2D43-8EDE-78799B3EEE08}" type="sibTrans" cxnId="{2B959D7F-C8F4-5945-9E11-74F281FC290E}">
      <dgm:prSet/>
      <dgm:spPr/>
      <dgm:t>
        <a:bodyPr/>
        <a:lstStyle/>
        <a:p>
          <a:endParaRPr lang="en-GB"/>
        </a:p>
      </dgm:t>
    </dgm:pt>
    <dgm:pt modelId="{B869F354-5D91-9045-9855-32CDD662FB45}">
      <dgm:prSet phldrT="[Text]"/>
      <dgm:spPr/>
      <dgm:t>
        <a:bodyPr/>
        <a:lstStyle/>
        <a:p>
          <a:r>
            <a:rPr lang="en-GB" dirty="0" err="1"/>
            <a:t>NaN</a:t>
          </a:r>
          <a:endParaRPr lang="en-GB" dirty="0"/>
        </a:p>
      </dgm:t>
    </dgm:pt>
    <dgm:pt modelId="{B59FA554-961F-4A43-ABDD-02C9250A1B72}" type="parTrans" cxnId="{F44AA699-5C92-1C46-9C10-A946B9AD2B30}">
      <dgm:prSet/>
      <dgm:spPr/>
      <dgm:t>
        <a:bodyPr/>
        <a:lstStyle/>
        <a:p>
          <a:endParaRPr lang="en-GB"/>
        </a:p>
      </dgm:t>
    </dgm:pt>
    <dgm:pt modelId="{3DF9D38F-84AA-294D-846D-BF332787FF6A}" type="sibTrans" cxnId="{F44AA699-5C92-1C46-9C10-A946B9AD2B30}">
      <dgm:prSet/>
      <dgm:spPr/>
      <dgm:t>
        <a:bodyPr/>
        <a:lstStyle/>
        <a:p>
          <a:endParaRPr lang="en-GB"/>
        </a:p>
      </dgm:t>
    </dgm:pt>
    <dgm:pt modelId="{B2038E9B-3E3D-4143-906A-DB31618211D9}">
      <dgm:prSet phldrT="[Text]"/>
      <dgm:spPr/>
      <dgm:t>
        <a:bodyPr/>
        <a:lstStyle/>
        <a:p>
          <a:r>
            <a:rPr lang="en-GB" dirty="0"/>
            <a:t>NEGATIVE_INFINITY</a:t>
          </a:r>
        </a:p>
      </dgm:t>
    </dgm:pt>
    <dgm:pt modelId="{1AC7C9FF-09A0-0B4F-A0D2-59FC455CF9E8}" type="parTrans" cxnId="{481578E0-103F-FF41-9854-F2C2EE3E75D3}">
      <dgm:prSet/>
      <dgm:spPr/>
      <dgm:t>
        <a:bodyPr/>
        <a:lstStyle/>
        <a:p>
          <a:endParaRPr lang="en-GB"/>
        </a:p>
      </dgm:t>
    </dgm:pt>
    <dgm:pt modelId="{46FF58E2-5216-DC4B-84B9-8BA28EA24F88}" type="sibTrans" cxnId="{481578E0-103F-FF41-9854-F2C2EE3E75D3}">
      <dgm:prSet/>
      <dgm:spPr/>
      <dgm:t>
        <a:bodyPr/>
        <a:lstStyle/>
        <a:p>
          <a:endParaRPr lang="en-GB"/>
        </a:p>
      </dgm:t>
    </dgm:pt>
    <dgm:pt modelId="{CF309546-59E8-714F-942F-FD6F0BD11487}">
      <dgm:prSet phldrT="[Text]"/>
      <dgm:spPr/>
      <dgm:t>
        <a:bodyPr/>
        <a:lstStyle/>
        <a:p>
          <a:r>
            <a:rPr lang="en-GB" dirty="0"/>
            <a:t>POSITIVE_INFINITY</a:t>
          </a:r>
        </a:p>
      </dgm:t>
    </dgm:pt>
    <dgm:pt modelId="{D3283F25-8596-B740-821D-D46CE40D19CF}" type="parTrans" cxnId="{234A7ABB-B094-A046-ACD9-90AA15D9B4AF}">
      <dgm:prSet/>
      <dgm:spPr/>
      <dgm:t>
        <a:bodyPr/>
        <a:lstStyle/>
        <a:p>
          <a:endParaRPr lang="en-GB"/>
        </a:p>
      </dgm:t>
    </dgm:pt>
    <dgm:pt modelId="{0FE012E0-347A-D543-B608-199177513278}" type="sibTrans" cxnId="{234A7ABB-B094-A046-ACD9-90AA15D9B4AF}">
      <dgm:prSet/>
      <dgm:spPr/>
      <dgm:t>
        <a:bodyPr/>
        <a:lstStyle/>
        <a:p>
          <a:endParaRPr lang="en-GB"/>
        </a:p>
      </dgm:t>
    </dgm:pt>
    <dgm:pt modelId="{3AB08CA8-A5D3-7F43-B5BE-DFB6386154B3}" type="pres">
      <dgm:prSet presAssocID="{67509F39-E273-7E46-9908-3291EEE0B8B5}" presName="diagram" presStyleCnt="0">
        <dgm:presLayoutVars>
          <dgm:dir/>
          <dgm:resizeHandles val="exact"/>
        </dgm:presLayoutVars>
      </dgm:prSet>
      <dgm:spPr/>
    </dgm:pt>
    <dgm:pt modelId="{08B51B93-AE9B-B94B-9913-A0FA94D542D5}" type="pres">
      <dgm:prSet presAssocID="{3A28DC43-6AC2-444F-A371-4E893A1E9445}" presName="node" presStyleLbl="node1" presStyleIdx="0" presStyleCnt="5">
        <dgm:presLayoutVars>
          <dgm:bulletEnabled val="1"/>
        </dgm:presLayoutVars>
      </dgm:prSet>
      <dgm:spPr/>
    </dgm:pt>
    <dgm:pt modelId="{B774EAF2-4640-494A-917E-8155A13B900B}" type="pres">
      <dgm:prSet presAssocID="{BB1F1825-C695-0B49-A760-5583FBBAD53C}" presName="sibTrans" presStyleCnt="0"/>
      <dgm:spPr/>
    </dgm:pt>
    <dgm:pt modelId="{E2874CD4-E27F-6D4D-AF3E-0BA502B88C85}" type="pres">
      <dgm:prSet presAssocID="{9B62F52B-1644-124B-8937-304495188692}" presName="node" presStyleLbl="node1" presStyleIdx="1" presStyleCnt="5">
        <dgm:presLayoutVars>
          <dgm:bulletEnabled val="1"/>
        </dgm:presLayoutVars>
      </dgm:prSet>
      <dgm:spPr/>
    </dgm:pt>
    <dgm:pt modelId="{145749C5-A9C4-1946-A6FD-B2C17436FC2E}" type="pres">
      <dgm:prSet presAssocID="{80089DFC-22C7-2D43-8EDE-78799B3EEE08}" presName="sibTrans" presStyleCnt="0"/>
      <dgm:spPr/>
    </dgm:pt>
    <dgm:pt modelId="{46BD3462-22A5-B848-B3BF-947443600A3F}" type="pres">
      <dgm:prSet presAssocID="{B869F354-5D91-9045-9855-32CDD662FB45}" presName="node" presStyleLbl="node1" presStyleIdx="2" presStyleCnt="5">
        <dgm:presLayoutVars>
          <dgm:bulletEnabled val="1"/>
        </dgm:presLayoutVars>
      </dgm:prSet>
      <dgm:spPr/>
    </dgm:pt>
    <dgm:pt modelId="{628B20C8-D8D9-A148-8DF2-4CD781AF1355}" type="pres">
      <dgm:prSet presAssocID="{3DF9D38F-84AA-294D-846D-BF332787FF6A}" presName="sibTrans" presStyleCnt="0"/>
      <dgm:spPr/>
    </dgm:pt>
    <dgm:pt modelId="{5278F817-5899-5244-957D-90D74475FF53}" type="pres">
      <dgm:prSet presAssocID="{B2038E9B-3E3D-4143-906A-DB31618211D9}" presName="node" presStyleLbl="node1" presStyleIdx="3" presStyleCnt="5">
        <dgm:presLayoutVars>
          <dgm:bulletEnabled val="1"/>
        </dgm:presLayoutVars>
      </dgm:prSet>
      <dgm:spPr/>
    </dgm:pt>
    <dgm:pt modelId="{9CAD8578-BAA8-2745-850E-1990B6629710}" type="pres">
      <dgm:prSet presAssocID="{46FF58E2-5216-DC4B-84B9-8BA28EA24F88}" presName="sibTrans" presStyleCnt="0"/>
      <dgm:spPr/>
    </dgm:pt>
    <dgm:pt modelId="{7088EFB0-72B3-8348-9AFC-21329A1C7953}" type="pres">
      <dgm:prSet presAssocID="{CF309546-59E8-714F-942F-FD6F0BD11487}" presName="node" presStyleLbl="node1" presStyleIdx="4" presStyleCnt="5">
        <dgm:presLayoutVars>
          <dgm:bulletEnabled val="1"/>
        </dgm:presLayoutVars>
      </dgm:prSet>
      <dgm:spPr/>
    </dgm:pt>
  </dgm:ptLst>
  <dgm:cxnLst>
    <dgm:cxn modelId="{AAF6662D-D644-3540-ADE2-9C528CD4930F}" type="presOf" srcId="{3A28DC43-6AC2-444F-A371-4E893A1E9445}" destId="{08B51B93-AE9B-B94B-9913-A0FA94D542D5}" srcOrd="0" destOrd="0" presId="urn:microsoft.com/office/officeart/2005/8/layout/default"/>
    <dgm:cxn modelId="{0B71923A-AEF5-8A45-B243-6CCFD22E63B4}" type="presOf" srcId="{9B62F52B-1644-124B-8937-304495188692}" destId="{E2874CD4-E27F-6D4D-AF3E-0BA502B88C85}" srcOrd="0" destOrd="0" presId="urn:microsoft.com/office/officeart/2005/8/layout/default"/>
    <dgm:cxn modelId="{920A8065-1413-D74E-A47F-8D33714604CF}" srcId="{67509F39-E273-7E46-9908-3291EEE0B8B5}" destId="{3A28DC43-6AC2-444F-A371-4E893A1E9445}" srcOrd="0" destOrd="0" parTransId="{0CE3651C-D5CB-6241-ADA6-649E0F0125F1}" sibTransId="{BB1F1825-C695-0B49-A760-5583FBBAD53C}"/>
    <dgm:cxn modelId="{F952426A-7CB4-7E4E-A1ED-61750E4C60C0}" type="presOf" srcId="{67509F39-E273-7E46-9908-3291EEE0B8B5}" destId="{3AB08CA8-A5D3-7F43-B5BE-DFB6386154B3}" srcOrd="0" destOrd="0" presId="urn:microsoft.com/office/officeart/2005/8/layout/default"/>
    <dgm:cxn modelId="{C46BCF77-AF4E-3343-92D5-D4156277CEB5}" type="presOf" srcId="{B869F354-5D91-9045-9855-32CDD662FB45}" destId="{46BD3462-22A5-B848-B3BF-947443600A3F}" srcOrd="0" destOrd="0" presId="urn:microsoft.com/office/officeart/2005/8/layout/default"/>
    <dgm:cxn modelId="{2B959D7F-C8F4-5945-9E11-74F281FC290E}" srcId="{67509F39-E273-7E46-9908-3291EEE0B8B5}" destId="{9B62F52B-1644-124B-8937-304495188692}" srcOrd="1" destOrd="0" parTransId="{45770209-43C6-F940-8F8D-5EF16205BD6B}" sibTransId="{80089DFC-22C7-2D43-8EDE-78799B3EEE08}"/>
    <dgm:cxn modelId="{0D9E3D95-7250-5447-B6AA-1D2ADA914D08}" type="presOf" srcId="{CF309546-59E8-714F-942F-FD6F0BD11487}" destId="{7088EFB0-72B3-8348-9AFC-21329A1C7953}" srcOrd="0" destOrd="0" presId="urn:microsoft.com/office/officeart/2005/8/layout/default"/>
    <dgm:cxn modelId="{F44AA699-5C92-1C46-9C10-A946B9AD2B30}" srcId="{67509F39-E273-7E46-9908-3291EEE0B8B5}" destId="{B869F354-5D91-9045-9855-32CDD662FB45}" srcOrd="2" destOrd="0" parTransId="{B59FA554-961F-4A43-ABDD-02C9250A1B72}" sibTransId="{3DF9D38F-84AA-294D-846D-BF332787FF6A}"/>
    <dgm:cxn modelId="{234A7ABB-B094-A046-ACD9-90AA15D9B4AF}" srcId="{67509F39-E273-7E46-9908-3291EEE0B8B5}" destId="{CF309546-59E8-714F-942F-FD6F0BD11487}" srcOrd="4" destOrd="0" parTransId="{D3283F25-8596-B740-821D-D46CE40D19CF}" sibTransId="{0FE012E0-347A-D543-B608-199177513278}"/>
    <dgm:cxn modelId="{EC1593C6-37FB-F94A-9F02-0DAA70D3EFB4}" type="presOf" srcId="{B2038E9B-3E3D-4143-906A-DB31618211D9}" destId="{5278F817-5899-5244-957D-90D74475FF53}" srcOrd="0" destOrd="0" presId="urn:microsoft.com/office/officeart/2005/8/layout/default"/>
    <dgm:cxn modelId="{481578E0-103F-FF41-9854-F2C2EE3E75D3}" srcId="{67509F39-E273-7E46-9908-3291EEE0B8B5}" destId="{B2038E9B-3E3D-4143-906A-DB31618211D9}" srcOrd="3" destOrd="0" parTransId="{1AC7C9FF-09A0-0B4F-A0D2-59FC455CF9E8}" sibTransId="{46FF58E2-5216-DC4B-84B9-8BA28EA24F88}"/>
    <dgm:cxn modelId="{6505E1D9-D5B0-6C47-9667-4A1AD4A65740}" type="presParOf" srcId="{3AB08CA8-A5D3-7F43-B5BE-DFB6386154B3}" destId="{08B51B93-AE9B-B94B-9913-A0FA94D542D5}" srcOrd="0" destOrd="0" presId="urn:microsoft.com/office/officeart/2005/8/layout/default"/>
    <dgm:cxn modelId="{48591F3F-DB6A-9A46-BEC7-0334784760FD}" type="presParOf" srcId="{3AB08CA8-A5D3-7F43-B5BE-DFB6386154B3}" destId="{B774EAF2-4640-494A-917E-8155A13B900B}" srcOrd="1" destOrd="0" presId="urn:microsoft.com/office/officeart/2005/8/layout/default"/>
    <dgm:cxn modelId="{569F7194-20C0-D24C-91FD-AF1CD6B9FC86}" type="presParOf" srcId="{3AB08CA8-A5D3-7F43-B5BE-DFB6386154B3}" destId="{E2874CD4-E27F-6D4D-AF3E-0BA502B88C85}" srcOrd="2" destOrd="0" presId="urn:microsoft.com/office/officeart/2005/8/layout/default"/>
    <dgm:cxn modelId="{BC7C6E68-D965-3C40-84F2-4534C98AAF4E}" type="presParOf" srcId="{3AB08CA8-A5D3-7F43-B5BE-DFB6386154B3}" destId="{145749C5-A9C4-1946-A6FD-B2C17436FC2E}" srcOrd="3" destOrd="0" presId="urn:microsoft.com/office/officeart/2005/8/layout/default"/>
    <dgm:cxn modelId="{61C7FAE3-3751-384E-BDCE-B5241BACE619}" type="presParOf" srcId="{3AB08CA8-A5D3-7F43-B5BE-DFB6386154B3}" destId="{46BD3462-22A5-B848-B3BF-947443600A3F}" srcOrd="4" destOrd="0" presId="urn:microsoft.com/office/officeart/2005/8/layout/default"/>
    <dgm:cxn modelId="{3B5434CC-8260-3744-93B5-CF31E7FEB840}" type="presParOf" srcId="{3AB08CA8-A5D3-7F43-B5BE-DFB6386154B3}" destId="{628B20C8-D8D9-A148-8DF2-4CD781AF1355}" srcOrd="5" destOrd="0" presId="urn:microsoft.com/office/officeart/2005/8/layout/default"/>
    <dgm:cxn modelId="{141681DB-0DE7-6A45-9A15-38C0D1CB78CF}" type="presParOf" srcId="{3AB08CA8-A5D3-7F43-B5BE-DFB6386154B3}" destId="{5278F817-5899-5244-957D-90D74475FF53}" srcOrd="6" destOrd="0" presId="urn:microsoft.com/office/officeart/2005/8/layout/default"/>
    <dgm:cxn modelId="{C51CC7E0-9878-5946-A3DC-266DC0152F72}" type="presParOf" srcId="{3AB08CA8-A5D3-7F43-B5BE-DFB6386154B3}" destId="{9CAD8578-BAA8-2745-850E-1990B6629710}" srcOrd="7" destOrd="0" presId="urn:microsoft.com/office/officeart/2005/8/layout/default"/>
    <dgm:cxn modelId="{89B1B5C4-72AD-D74F-AD83-7E2CFD56D9CF}" type="presParOf" srcId="{3AB08CA8-A5D3-7F43-B5BE-DFB6386154B3}" destId="{7088EFB0-72B3-8348-9AFC-21329A1C7953}"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729D760-645E-F948-95AE-ACE07D392A03}" type="doc">
      <dgm:prSet loTypeId="urn:microsoft.com/office/officeart/2005/8/layout/list1" loCatId="" qsTypeId="urn:microsoft.com/office/officeart/2005/8/quickstyle/3d6" qsCatId="3D" csTypeId="urn:microsoft.com/office/officeart/2005/8/colors/accent1_2" csCatId="accent1" phldr="1"/>
      <dgm:spPr/>
      <dgm:t>
        <a:bodyPr/>
        <a:lstStyle/>
        <a:p>
          <a:endParaRPr lang="en-GB"/>
        </a:p>
      </dgm:t>
    </dgm:pt>
    <dgm:pt modelId="{4EA5F470-378E-E94D-83AA-F4300F00D9D6}">
      <dgm:prSet phldrT="[Text]"/>
      <dgm:spPr/>
      <dgm:t>
        <a:bodyPr/>
        <a:lstStyle/>
        <a:p>
          <a:r>
            <a:rPr lang="en-GB" dirty="0"/>
            <a:t>Felder</a:t>
          </a:r>
        </a:p>
      </dgm:t>
    </dgm:pt>
    <dgm:pt modelId="{0388EA47-AD5C-1F4E-BDA0-21651BD4A3CA}" type="parTrans" cxnId="{C1ABBBEF-89B4-4E4B-AEC9-B8278F63F136}">
      <dgm:prSet/>
      <dgm:spPr/>
      <dgm:t>
        <a:bodyPr/>
        <a:lstStyle/>
        <a:p>
          <a:endParaRPr lang="en-GB"/>
        </a:p>
      </dgm:t>
    </dgm:pt>
    <dgm:pt modelId="{7D1155B2-4D96-B649-82AB-04A0CBBD69AE}" type="sibTrans" cxnId="{C1ABBBEF-89B4-4E4B-AEC9-B8278F63F136}">
      <dgm:prSet/>
      <dgm:spPr/>
      <dgm:t>
        <a:bodyPr/>
        <a:lstStyle/>
        <a:p>
          <a:endParaRPr lang="en-GB"/>
        </a:p>
      </dgm:t>
    </dgm:pt>
    <dgm:pt modelId="{158F50CC-BDB6-6440-99F5-4D1250C18504}">
      <dgm:prSet phldrT="[Text]"/>
      <dgm:spPr/>
      <dgm:t>
        <a:bodyPr/>
        <a:lstStyle/>
        <a:p>
          <a:r>
            <a:rPr lang="en-GB" dirty="0" err="1"/>
            <a:t>Konstruktoren</a:t>
          </a:r>
          <a:endParaRPr lang="en-GB" dirty="0"/>
        </a:p>
      </dgm:t>
    </dgm:pt>
    <dgm:pt modelId="{2CB57656-11CF-C547-A029-4C2B0CCA6D1E}" type="parTrans" cxnId="{1F7FD93C-2091-4644-90AF-2ED158C60622}">
      <dgm:prSet/>
      <dgm:spPr/>
      <dgm:t>
        <a:bodyPr/>
        <a:lstStyle/>
        <a:p>
          <a:endParaRPr lang="en-GB"/>
        </a:p>
      </dgm:t>
    </dgm:pt>
    <dgm:pt modelId="{49CC0F1B-FB2B-9D49-A58E-2C9F2E06D72D}" type="sibTrans" cxnId="{1F7FD93C-2091-4644-90AF-2ED158C60622}">
      <dgm:prSet/>
      <dgm:spPr/>
      <dgm:t>
        <a:bodyPr/>
        <a:lstStyle/>
        <a:p>
          <a:endParaRPr lang="en-GB"/>
        </a:p>
      </dgm:t>
    </dgm:pt>
    <dgm:pt modelId="{918EDE0F-AE72-C846-8F77-058606A3A717}">
      <dgm:prSet phldrT="[Text]"/>
      <dgm:spPr/>
      <dgm:t>
        <a:bodyPr/>
        <a:lstStyle/>
        <a:p>
          <a:r>
            <a:rPr lang="en-GB" dirty="0" err="1"/>
            <a:t>Funktionen</a:t>
          </a:r>
          <a:endParaRPr lang="en-GB" dirty="0"/>
        </a:p>
      </dgm:t>
    </dgm:pt>
    <dgm:pt modelId="{8E4DD6E5-1AE6-EF4D-A719-B1C7F8AEB17D}" type="parTrans" cxnId="{D112DDEF-E036-E248-8413-4EB86B2A55E7}">
      <dgm:prSet/>
      <dgm:spPr/>
      <dgm:t>
        <a:bodyPr/>
        <a:lstStyle/>
        <a:p>
          <a:endParaRPr lang="en-GB"/>
        </a:p>
      </dgm:t>
    </dgm:pt>
    <dgm:pt modelId="{F0E527BE-D71B-B443-88A1-E998DB7F4343}" type="sibTrans" cxnId="{D112DDEF-E036-E248-8413-4EB86B2A55E7}">
      <dgm:prSet/>
      <dgm:spPr/>
      <dgm:t>
        <a:bodyPr/>
        <a:lstStyle/>
        <a:p>
          <a:endParaRPr lang="en-GB"/>
        </a:p>
      </dgm:t>
    </dgm:pt>
    <dgm:pt modelId="{B174EBD9-067C-B043-8AEF-7463CB33E8E9}" type="pres">
      <dgm:prSet presAssocID="{4729D760-645E-F948-95AE-ACE07D392A03}" presName="linear" presStyleCnt="0">
        <dgm:presLayoutVars>
          <dgm:dir/>
          <dgm:animLvl val="lvl"/>
          <dgm:resizeHandles val="exact"/>
        </dgm:presLayoutVars>
      </dgm:prSet>
      <dgm:spPr/>
    </dgm:pt>
    <dgm:pt modelId="{E2969A43-C29F-104F-8FD9-9942256D66E8}" type="pres">
      <dgm:prSet presAssocID="{4EA5F470-378E-E94D-83AA-F4300F00D9D6}" presName="parentLin" presStyleCnt="0"/>
      <dgm:spPr/>
    </dgm:pt>
    <dgm:pt modelId="{586726A5-281B-8A4A-B1FA-688C0E0E119E}" type="pres">
      <dgm:prSet presAssocID="{4EA5F470-378E-E94D-83AA-F4300F00D9D6}" presName="parentLeftMargin" presStyleLbl="node1" presStyleIdx="0" presStyleCnt="3"/>
      <dgm:spPr/>
    </dgm:pt>
    <dgm:pt modelId="{CD4F5A90-57FB-7D46-8ACA-77784286DEBB}" type="pres">
      <dgm:prSet presAssocID="{4EA5F470-378E-E94D-83AA-F4300F00D9D6}" presName="parentText" presStyleLbl="node1" presStyleIdx="0" presStyleCnt="3">
        <dgm:presLayoutVars>
          <dgm:chMax val="0"/>
          <dgm:bulletEnabled val="1"/>
        </dgm:presLayoutVars>
      </dgm:prSet>
      <dgm:spPr/>
    </dgm:pt>
    <dgm:pt modelId="{10F38D66-5E9C-1E4C-AE2A-F16C5D2FB502}" type="pres">
      <dgm:prSet presAssocID="{4EA5F470-378E-E94D-83AA-F4300F00D9D6}" presName="negativeSpace" presStyleCnt="0"/>
      <dgm:spPr/>
    </dgm:pt>
    <dgm:pt modelId="{6305A6E9-FF4C-384A-B7B4-505B04A5AE37}" type="pres">
      <dgm:prSet presAssocID="{4EA5F470-378E-E94D-83AA-F4300F00D9D6}" presName="childText" presStyleLbl="conFgAcc1" presStyleIdx="0" presStyleCnt="3">
        <dgm:presLayoutVars>
          <dgm:bulletEnabled val="1"/>
        </dgm:presLayoutVars>
      </dgm:prSet>
      <dgm:spPr/>
    </dgm:pt>
    <dgm:pt modelId="{7B84153A-1800-E246-9D82-9D4AE78ADE5A}" type="pres">
      <dgm:prSet presAssocID="{7D1155B2-4D96-B649-82AB-04A0CBBD69AE}" presName="spaceBetweenRectangles" presStyleCnt="0"/>
      <dgm:spPr/>
    </dgm:pt>
    <dgm:pt modelId="{434C2E39-DE1C-5645-B960-5E81095BFF9B}" type="pres">
      <dgm:prSet presAssocID="{158F50CC-BDB6-6440-99F5-4D1250C18504}" presName="parentLin" presStyleCnt="0"/>
      <dgm:spPr/>
    </dgm:pt>
    <dgm:pt modelId="{A44F24C7-7315-AC4E-9008-58E23BEE5FC2}" type="pres">
      <dgm:prSet presAssocID="{158F50CC-BDB6-6440-99F5-4D1250C18504}" presName="parentLeftMargin" presStyleLbl="node1" presStyleIdx="0" presStyleCnt="3"/>
      <dgm:spPr/>
    </dgm:pt>
    <dgm:pt modelId="{4E23C32B-D4F3-744A-BC62-B4277299AEA4}" type="pres">
      <dgm:prSet presAssocID="{158F50CC-BDB6-6440-99F5-4D1250C18504}" presName="parentText" presStyleLbl="node1" presStyleIdx="1" presStyleCnt="3">
        <dgm:presLayoutVars>
          <dgm:chMax val="0"/>
          <dgm:bulletEnabled val="1"/>
        </dgm:presLayoutVars>
      </dgm:prSet>
      <dgm:spPr/>
    </dgm:pt>
    <dgm:pt modelId="{2FCAF94A-5F56-5548-BE0C-C28D83D5B8D4}" type="pres">
      <dgm:prSet presAssocID="{158F50CC-BDB6-6440-99F5-4D1250C18504}" presName="negativeSpace" presStyleCnt="0"/>
      <dgm:spPr/>
    </dgm:pt>
    <dgm:pt modelId="{3034F782-9A22-1242-AEDF-EC2E88C0D473}" type="pres">
      <dgm:prSet presAssocID="{158F50CC-BDB6-6440-99F5-4D1250C18504}" presName="childText" presStyleLbl="conFgAcc1" presStyleIdx="1" presStyleCnt="3">
        <dgm:presLayoutVars>
          <dgm:bulletEnabled val="1"/>
        </dgm:presLayoutVars>
      </dgm:prSet>
      <dgm:spPr/>
    </dgm:pt>
    <dgm:pt modelId="{398D0247-9D51-014C-B487-BCF1BA668707}" type="pres">
      <dgm:prSet presAssocID="{49CC0F1B-FB2B-9D49-A58E-2C9F2E06D72D}" presName="spaceBetweenRectangles" presStyleCnt="0"/>
      <dgm:spPr/>
    </dgm:pt>
    <dgm:pt modelId="{29F9E2BB-F30E-2242-998F-28EBE8DBEA5D}" type="pres">
      <dgm:prSet presAssocID="{918EDE0F-AE72-C846-8F77-058606A3A717}" presName="parentLin" presStyleCnt="0"/>
      <dgm:spPr/>
    </dgm:pt>
    <dgm:pt modelId="{7B3BCBD8-9DC0-B34A-82D1-99E3258F9BA5}" type="pres">
      <dgm:prSet presAssocID="{918EDE0F-AE72-C846-8F77-058606A3A717}" presName="parentLeftMargin" presStyleLbl="node1" presStyleIdx="1" presStyleCnt="3"/>
      <dgm:spPr/>
    </dgm:pt>
    <dgm:pt modelId="{CC22D886-3319-7642-954B-BB2ED3D676DC}" type="pres">
      <dgm:prSet presAssocID="{918EDE0F-AE72-C846-8F77-058606A3A717}" presName="parentText" presStyleLbl="node1" presStyleIdx="2" presStyleCnt="3">
        <dgm:presLayoutVars>
          <dgm:chMax val="0"/>
          <dgm:bulletEnabled val="1"/>
        </dgm:presLayoutVars>
      </dgm:prSet>
      <dgm:spPr/>
    </dgm:pt>
    <dgm:pt modelId="{9CBE4316-FAB4-144F-B917-B92F563C900E}" type="pres">
      <dgm:prSet presAssocID="{918EDE0F-AE72-C846-8F77-058606A3A717}" presName="negativeSpace" presStyleCnt="0"/>
      <dgm:spPr/>
    </dgm:pt>
    <dgm:pt modelId="{A4D8D4E7-691F-9E42-92CE-F4F5D0B447C7}" type="pres">
      <dgm:prSet presAssocID="{918EDE0F-AE72-C846-8F77-058606A3A717}" presName="childText" presStyleLbl="conFgAcc1" presStyleIdx="2" presStyleCnt="3">
        <dgm:presLayoutVars>
          <dgm:bulletEnabled val="1"/>
        </dgm:presLayoutVars>
      </dgm:prSet>
      <dgm:spPr/>
    </dgm:pt>
  </dgm:ptLst>
  <dgm:cxnLst>
    <dgm:cxn modelId="{20961610-86ED-D644-8AED-71B32BA80B64}" type="presOf" srcId="{918EDE0F-AE72-C846-8F77-058606A3A717}" destId="{7B3BCBD8-9DC0-B34A-82D1-99E3258F9BA5}" srcOrd="0" destOrd="0" presId="urn:microsoft.com/office/officeart/2005/8/layout/list1"/>
    <dgm:cxn modelId="{D189F624-110C-E54E-99A1-83FFA9674207}" type="presOf" srcId="{918EDE0F-AE72-C846-8F77-058606A3A717}" destId="{CC22D886-3319-7642-954B-BB2ED3D676DC}" srcOrd="1" destOrd="0" presId="urn:microsoft.com/office/officeart/2005/8/layout/list1"/>
    <dgm:cxn modelId="{E00BC427-22B8-FA45-849C-461FE38490E4}" type="presOf" srcId="{158F50CC-BDB6-6440-99F5-4D1250C18504}" destId="{4E23C32B-D4F3-744A-BC62-B4277299AEA4}" srcOrd="1" destOrd="0" presId="urn:microsoft.com/office/officeart/2005/8/layout/list1"/>
    <dgm:cxn modelId="{1F7FD93C-2091-4644-90AF-2ED158C60622}" srcId="{4729D760-645E-F948-95AE-ACE07D392A03}" destId="{158F50CC-BDB6-6440-99F5-4D1250C18504}" srcOrd="1" destOrd="0" parTransId="{2CB57656-11CF-C547-A029-4C2B0CCA6D1E}" sibTransId="{49CC0F1B-FB2B-9D49-A58E-2C9F2E06D72D}"/>
    <dgm:cxn modelId="{DB569743-2D4D-AD44-9132-B732DC07EE53}" type="presOf" srcId="{4EA5F470-378E-E94D-83AA-F4300F00D9D6}" destId="{CD4F5A90-57FB-7D46-8ACA-77784286DEBB}" srcOrd="1" destOrd="0" presId="urn:microsoft.com/office/officeart/2005/8/layout/list1"/>
    <dgm:cxn modelId="{E0E81867-6A6D-3E4F-A530-562871CB5D94}" type="presOf" srcId="{4729D760-645E-F948-95AE-ACE07D392A03}" destId="{B174EBD9-067C-B043-8AEF-7463CB33E8E9}" srcOrd="0" destOrd="0" presId="urn:microsoft.com/office/officeart/2005/8/layout/list1"/>
    <dgm:cxn modelId="{2C3833A6-F4AB-4F48-9A13-CC7974045AFC}" type="presOf" srcId="{4EA5F470-378E-E94D-83AA-F4300F00D9D6}" destId="{586726A5-281B-8A4A-B1FA-688C0E0E119E}" srcOrd="0" destOrd="0" presId="urn:microsoft.com/office/officeart/2005/8/layout/list1"/>
    <dgm:cxn modelId="{A0DAB3CE-BDFC-4E4A-A232-13980DD6BD91}" type="presOf" srcId="{158F50CC-BDB6-6440-99F5-4D1250C18504}" destId="{A44F24C7-7315-AC4E-9008-58E23BEE5FC2}" srcOrd="0" destOrd="0" presId="urn:microsoft.com/office/officeart/2005/8/layout/list1"/>
    <dgm:cxn modelId="{C1ABBBEF-89B4-4E4B-AEC9-B8278F63F136}" srcId="{4729D760-645E-F948-95AE-ACE07D392A03}" destId="{4EA5F470-378E-E94D-83AA-F4300F00D9D6}" srcOrd="0" destOrd="0" parTransId="{0388EA47-AD5C-1F4E-BDA0-21651BD4A3CA}" sibTransId="{7D1155B2-4D96-B649-82AB-04A0CBBD69AE}"/>
    <dgm:cxn modelId="{D112DDEF-E036-E248-8413-4EB86B2A55E7}" srcId="{4729D760-645E-F948-95AE-ACE07D392A03}" destId="{918EDE0F-AE72-C846-8F77-058606A3A717}" srcOrd="2" destOrd="0" parTransId="{8E4DD6E5-1AE6-EF4D-A719-B1C7F8AEB17D}" sibTransId="{F0E527BE-D71B-B443-88A1-E998DB7F4343}"/>
    <dgm:cxn modelId="{E331F2DA-9E17-0944-BFFF-F62EDFD39EC0}" type="presParOf" srcId="{B174EBD9-067C-B043-8AEF-7463CB33E8E9}" destId="{E2969A43-C29F-104F-8FD9-9942256D66E8}" srcOrd="0" destOrd="0" presId="urn:microsoft.com/office/officeart/2005/8/layout/list1"/>
    <dgm:cxn modelId="{0F58CE9B-98D7-5046-8F5C-ABD2EA47139C}" type="presParOf" srcId="{E2969A43-C29F-104F-8FD9-9942256D66E8}" destId="{586726A5-281B-8A4A-B1FA-688C0E0E119E}" srcOrd="0" destOrd="0" presId="urn:microsoft.com/office/officeart/2005/8/layout/list1"/>
    <dgm:cxn modelId="{0AA33272-D21F-1949-BF78-41D153E8F025}" type="presParOf" srcId="{E2969A43-C29F-104F-8FD9-9942256D66E8}" destId="{CD4F5A90-57FB-7D46-8ACA-77784286DEBB}" srcOrd="1" destOrd="0" presId="urn:microsoft.com/office/officeart/2005/8/layout/list1"/>
    <dgm:cxn modelId="{A4E80314-4BD5-5F4A-B0A1-77EECBA16932}" type="presParOf" srcId="{B174EBD9-067C-B043-8AEF-7463CB33E8E9}" destId="{10F38D66-5E9C-1E4C-AE2A-F16C5D2FB502}" srcOrd="1" destOrd="0" presId="urn:microsoft.com/office/officeart/2005/8/layout/list1"/>
    <dgm:cxn modelId="{17C7917C-0D13-0940-8EC5-E86E3422A4C3}" type="presParOf" srcId="{B174EBD9-067C-B043-8AEF-7463CB33E8E9}" destId="{6305A6E9-FF4C-384A-B7B4-505B04A5AE37}" srcOrd="2" destOrd="0" presId="urn:microsoft.com/office/officeart/2005/8/layout/list1"/>
    <dgm:cxn modelId="{D95D24F1-B09A-D64B-948B-24FB27CB1B26}" type="presParOf" srcId="{B174EBD9-067C-B043-8AEF-7463CB33E8E9}" destId="{7B84153A-1800-E246-9D82-9D4AE78ADE5A}" srcOrd="3" destOrd="0" presId="urn:microsoft.com/office/officeart/2005/8/layout/list1"/>
    <dgm:cxn modelId="{4E23D440-5140-2E47-8911-5A35DD363399}" type="presParOf" srcId="{B174EBD9-067C-B043-8AEF-7463CB33E8E9}" destId="{434C2E39-DE1C-5645-B960-5E81095BFF9B}" srcOrd="4" destOrd="0" presId="urn:microsoft.com/office/officeart/2005/8/layout/list1"/>
    <dgm:cxn modelId="{FA3107CE-3BB4-2F45-B8CC-B5887D5112A9}" type="presParOf" srcId="{434C2E39-DE1C-5645-B960-5E81095BFF9B}" destId="{A44F24C7-7315-AC4E-9008-58E23BEE5FC2}" srcOrd="0" destOrd="0" presId="urn:microsoft.com/office/officeart/2005/8/layout/list1"/>
    <dgm:cxn modelId="{7E0AEB05-B3FA-8D47-B80E-E9D7D509B5B2}" type="presParOf" srcId="{434C2E39-DE1C-5645-B960-5E81095BFF9B}" destId="{4E23C32B-D4F3-744A-BC62-B4277299AEA4}" srcOrd="1" destOrd="0" presId="urn:microsoft.com/office/officeart/2005/8/layout/list1"/>
    <dgm:cxn modelId="{B261C69B-59D0-CA46-89EC-85E4932F5673}" type="presParOf" srcId="{B174EBD9-067C-B043-8AEF-7463CB33E8E9}" destId="{2FCAF94A-5F56-5548-BE0C-C28D83D5B8D4}" srcOrd="5" destOrd="0" presId="urn:microsoft.com/office/officeart/2005/8/layout/list1"/>
    <dgm:cxn modelId="{73B38399-4448-D244-B2FC-3D4C5765BA92}" type="presParOf" srcId="{B174EBD9-067C-B043-8AEF-7463CB33E8E9}" destId="{3034F782-9A22-1242-AEDF-EC2E88C0D473}" srcOrd="6" destOrd="0" presId="urn:microsoft.com/office/officeart/2005/8/layout/list1"/>
    <dgm:cxn modelId="{8A3971A1-CAEA-7A4C-AE3B-CE56F5FE6FC9}" type="presParOf" srcId="{B174EBD9-067C-B043-8AEF-7463CB33E8E9}" destId="{398D0247-9D51-014C-B487-BCF1BA668707}" srcOrd="7" destOrd="0" presId="urn:microsoft.com/office/officeart/2005/8/layout/list1"/>
    <dgm:cxn modelId="{B1EA2A1E-82B8-A646-B895-E61E4F8717C9}" type="presParOf" srcId="{B174EBD9-067C-B043-8AEF-7463CB33E8E9}" destId="{29F9E2BB-F30E-2242-998F-28EBE8DBEA5D}" srcOrd="8" destOrd="0" presId="urn:microsoft.com/office/officeart/2005/8/layout/list1"/>
    <dgm:cxn modelId="{D1DF82D4-0FAD-BC49-BB81-8240320A5A32}" type="presParOf" srcId="{29F9E2BB-F30E-2242-998F-28EBE8DBEA5D}" destId="{7B3BCBD8-9DC0-B34A-82D1-99E3258F9BA5}" srcOrd="0" destOrd="0" presId="urn:microsoft.com/office/officeart/2005/8/layout/list1"/>
    <dgm:cxn modelId="{F2FF3675-CC29-9849-91A9-762A269D4A6F}" type="presParOf" srcId="{29F9E2BB-F30E-2242-998F-28EBE8DBEA5D}" destId="{CC22D886-3319-7642-954B-BB2ED3D676DC}" srcOrd="1" destOrd="0" presId="urn:microsoft.com/office/officeart/2005/8/layout/list1"/>
    <dgm:cxn modelId="{A646361C-F543-8644-B9E0-99053E0E13F3}" type="presParOf" srcId="{B174EBD9-067C-B043-8AEF-7463CB33E8E9}" destId="{9CBE4316-FAB4-144F-B917-B92F563C900E}" srcOrd="9" destOrd="0" presId="urn:microsoft.com/office/officeart/2005/8/layout/list1"/>
    <dgm:cxn modelId="{039630F7-752E-9B4F-B432-6FC5D3D93F1A}" type="presParOf" srcId="{B174EBD9-067C-B043-8AEF-7463CB33E8E9}" destId="{A4D8D4E7-691F-9E42-92CE-F4F5D0B447C7}"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46E65F3-399C-4D6C-BBC7-8AC7921DEACF}"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6A77B644-4CDF-41B8-81A6-5E5DEE15A8DD}">
      <dgm:prSet/>
      <dgm:spPr/>
      <dgm:t>
        <a:bodyPr/>
        <a:lstStyle/>
        <a:p>
          <a:r>
            <a:rPr lang="de-DE"/>
            <a:t>node –v</a:t>
          </a:r>
          <a:endParaRPr lang="en-US"/>
        </a:p>
      </dgm:t>
    </dgm:pt>
    <dgm:pt modelId="{492D8F12-A047-4733-B100-679D641E87C7}" type="parTrans" cxnId="{9DBB6E69-B489-4343-B38A-A2E19283FE1E}">
      <dgm:prSet/>
      <dgm:spPr/>
      <dgm:t>
        <a:bodyPr/>
        <a:lstStyle/>
        <a:p>
          <a:endParaRPr lang="en-US"/>
        </a:p>
      </dgm:t>
    </dgm:pt>
    <dgm:pt modelId="{CCD043C6-012F-4C55-A43F-BCD301C92322}" type="sibTrans" cxnId="{9DBB6E69-B489-4343-B38A-A2E19283FE1E}">
      <dgm:prSet/>
      <dgm:spPr/>
      <dgm:t>
        <a:bodyPr/>
        <a:lstStyle/>
        <a:p>
          <a:endParaRPr lang="en-US"/>
        </a:p>
      </dgm:t>
    </dgm:pt>
    <dgm:pt modelId="{2DFD091E-2F6F-449C-8263-B958452358AA}">
      <dgm:prSet/>
      <dgm:spPr/>
      <dgm:t>
        <a:bodyPr/>
        <a:lstStyle/>
        <a:p>
          <a:r>
            <a:rPr lang="de-DE"/>
            <a:t>Ausgabe der Versionsnummer</a:t>
          </a:r>
          <a:endParaRPr lang="en-US"/>
        </a:p>
      </dgm:t>
    </dgm:pt>
    <dgm:pt modelId="{E446B8F3-6A52-4D92-82F6-3558AD16068B}" type="parTrans" cxnId="{D5CEE61B-E4E5-474B-AEDC-3F35537D50B8}">
      <dgm:prSet/>
      <dgm:spPr/>
      <dgm:t>
        <a:bodyPr/>
        <a:lstStyle/>
        <a:p>
          <a:endParaRPr lang="en-US"/>
        </a:p>
      </dgm:t>
    </dgm:pt>
    <dgm:pt modelId="{0FC8C6DE-9910-4324-B0E6-17E7A78FA454}" type="sibTrans" cxnId="{D5CEE61B-E4E5-474B-AEDC-3F35537D50B8}">
      <dgm:prSet/>
      <dgm:spPr/>
      <dgm:t>
        <a:bodyPr/>
        <a:lstStyle/>
        <a:p>
          <a:endParaRPr lang="en-US"/>
        </a:p>
      </dgm:t>
    </dgm:pt>
    <dgm:pt modelId="{D0878A47-4E8C-4E60-9AB2-62A5387F9047}">
      <dgm:prSet/>
      <dgm:spPr/>
      <dgm:t>
        <a:bodyPr/>
        <a:lstStyle/>
        <a:p>
          <a:r>
            <a:rPr lang="de-DE"/>
            <a:t>node</a:t>
          </a:r>
          <a:endParaRPr lang="en-US"/>
        </a:p>
      </dgm:t>
    </dgm:pt>
    <dgm:pt modelId="{0AE987D3-0227-462B-9A8D-AAFA7E437BB6}" type="parTrans" cxnId="{5B34DF26-D705-44F0-94FC-6E0CADECC735}">
      <dgm:prSet/>
      <dgm:spPr/>
      <dgm:t>
        <a:bodyPr/>
        <a:lstStyle/>
        <a:p>
          <a:endParaRPr lang="en-US"/>
        </a:p>
      </dgm:t>
    </dgm:pt>
    <dgm:pt modelId="{D207F3C0-C4FD-4FAA-BDEE-F5EB17AA8F1D}" type="sibTrans" cxnId="{5B34DF26-D705-44F0-94FC-6E0CADECC735}">
      <dgm:prSet/>
      <dgm:spPr/>
      <dgm:t>
        <a:bodyPr/>
        <a:lstStyle/>
        <a:p>
          <a:endParaRPr lang="en-US"/>
        </a:p>
      </dgm:t>
    </dgm:pt>
    <dgm:pt modelId="{21ABDE45-0A3B-4375-B90B-4B2BCFF6B9A9}">
      <dgm:prSet/>
      <dgm:spPr/>
      <dgm:t>
        <a:bodyPr/>
        <a:lstStyle/>
        <a:p>
          <a:r>
            <a:rPr lang="de-DE"/>
            <a:t>Starten der REPL zur Eingabe von JavaScript-Befehlen</a:t>
          </a:r>
          <a:endParaRPr lang="en-US"/>
        </a:p>
      </dgm:t>
    </dgm:pt>
    <dgm:pt modelId="{2C288CF3-857B-449C-AB51-13955EBB07F4}" type="parTrans" cxnId="{38415DD0-0CA6-499D-BA90-D3E6BC44FCB8}">
      <dgm:prSet/>
      <dgm:spPr/>
      <dgm:t>
        <a:bodyPr/>
        <a:lstStyle/>
        <a:p>
          <a:endParaRPr lang="en-US"/>
        </a:p>
      </dgm:t>
    </dgm:pt>
    <dgm:pt modelId="{3067C6D3-5E8F-4AC9-8197-1FC3802775CE}" type="sibTrans" cxnId="{38415DD0-0CA6-499D-BA90-D3E6BC44FCB8}">
      <dgm:prSet/>
      <dgm:spPr/>
      <dgm:t>
        <a:bodyPr/>
        <a:lstStyle/>
        <a:p>
          <a:endParaRPr lang="en-US"/>
        </a:p>
      </dgm:t>
    </dgm:pt>
    <dgm:pt modelId="{4F51AE88-B3F6-481B-9C93-F8E1E0366FE6}">
      <dgm:prSet/>
      <dgm:spPr/>
      <dgm:t>
        <a:bodyPr/>
        <a:lstStyle/>
        <a:p>
          <a:r>
            <a:rPr lang="de-DE"/>
            <a:t>node programm.js</a:t>
          </a:r>
          <a:endParaRPr lang="en-US"/>
        </a:p>
      </dgm:t>
    </dgm:pt>
    <dgm:pt modelId="{8DC31336-EBC1-4D65-A7B8-05CFF8080265}" type="parTrans" cxnId="{A08654AA-9FD6-4F0B-8840-D7B672D7FC4B}">
      <dgm:prSet/>
      <dgm:spPr/>
      <dgm:t>
        <a:bodyPr/>
        <a:lstStyle/>
        <a:p>
          <a:endParaRPr lang="en-US"/>
        </a:p>
      </dgm:t>
    </dgm:pt>
    <dgm:pt modelId="{23F528A4-BD31-48F1-BDDD-22EAE513BBD6}" type="sibTrans" cxnId="{A08654AA-9FD6-4F0B-8840-D7B672D7FC4B}">
      <dgm:prSet/>
      <dgm:spPr/>
      <dgm:t>
        <a:bodyPr/>
        <a:lstStyle/>
        <a:p>
          <a:endParaRPr lang="en-US"/>
        </a:p>
      </dgm:t>
    </dgm:pt>
    <dgm:pt modelId="{B1EF4718-CBD4-474A-BEA6-BE58981C1FFD}">
      <dgm:prSet/>
      <dgm:spPr/>
      <dgm:t>
        <a:bodyPr/>
        <a:lstStyle/>
        <a:p>
          <a:r>
            <a:rPr lang="de-DE"/>
            <a:t>Ausführen  der Skript-Datei </a:t>
          </a:r>
          <a:r>
            <a:rPr lang="de-DE" i="1"/>
            <a:t>programm.js </a:t>
          </a:r>
          <a:r>
            <a:rPr lang="de-DE"/>
            <a:t> </a:t>
          </a:r>
          <a:endParaRPr lang="en-US"/>
        </a:p>
      </dgm:t>
    </dgm:pt>
    <dgm:pt modelId="{C4FEFE38-736D-4B3B-A0CF-444D2553F21C}" type="parTrans" cxnId="{9C338DB8-9FF2-49A8-8B49-99013CE82BD7}">
      <dgm:prSet/>
      <dgm:spPr/>
      <dgm:t>
        <a:bodyPr/>
        <a:lstStyle/>
        <a:p>
          <a:endParaRPr lang="en-US"/>
        </a:p>
      </dgm:t>
    </dgm:pt>
    <dgm:pt modelId="{CB12934E-442D-42D4-BAA0-910535FEF62D}" type="sibTrans" cxnId="{9C338DB8-9FF2-49A8-8B49-99013CE82BD7}">
      <dgm:prSet/>
      <dgm:spPr/>
      <dgm:t>
        <a:bodyPr/>
        <a:lstStyle/>
        <a:p>
          <a:endParaRPr lang="en-US"/>
        </a:p>
      </dgm:t>
    </dgm:pt>
    <dgm:pt modelId="{953A50D9-263B-614B-8AD4-2A70A1EE489F}" type="pres">
      <dgm:prSet presAssocID="{346E65F3-399C-4D6C-BBC7-8AC7921DEACF}" presName="linear" presStyleCnt="0">
        <dgm:presLayoutVars>
          <dgm:dir/>
          <dgm:animLvl val="lvl"/>
          <dgm:resizeHandles val="exact"/>
        </dgm:presLayoutVars>
      </dgm:prSet>
      <dgm:spPr/>
    </dgm:pt>
    <dgm:pt modelId="{44C2DF3D-56A3-AE4C-AE7C-39A2EADE5BCA}" type="pres">
      <dgm:prSet presAssocID="{6A77B644-4CDF-41B8-81A6-5E5DEE15A8DD}" presName="parentLin" presStyleCnt="0"/>
      <dgm:spPr/>
    </dgm:pt>
    <dgm:pt modelId="{33E811D0-4B84-A740-91B7-B6AABF82C0CB}" type="pres">
      <dgm:prSet presAssocID="{6A77B644-4CDF-41B8-81A6-5E5DEE15A8DD}" presName="parentLeftMargin" presStyleLbl="node1" presStyleIdx="0" presStyleCnt="3"/>
      <dgm:spPr/>
    </dgm:pt>
    <dgm:pt modelId="{1A7A9926-1BFE-DE44-B993-0CF46A5CEDEE}" type="pres">
      <dgm:prSet presAssocID="{6A77B644-4CDF-41B8-81A6-5E5DEE15A8DD}" presName="parentText" presStyleLbl="node1" presStyleIdx="0" presStyleCnt="3">
        <dgm:presLayoutVars>
          <dgm:chMax val="0"/>
          <dgm:bulletEnabled val="1"/>
        </dgm:presLayoutVars>
      </dgm:prSet>
      <dgm:spPr/>
    </dgm:pt>
    <dgm:pt modelId="{F13D3243-15D9-5F4C-920E-24F948112711}" type="pres">
      <dgm:prSet presAssocID="{6A77B644-4CDF-41B8-81A6-5E5DEE15A8DD}" presName="negativeSpace" presStyleCnt="0"/>
      <dgm:spPr/>
    </dgm:pt>
    <dgm:pt modelId="{4A12C6BB-B581-A24C-A598-548E22C4160C}" type="pres">
      <dgm:prSet presAssocID="{6A77B644-4CDF-41B8-81A6-5E5DEE15A8DD}" presName="childText" presStyleLbl="conFgAcc1" presStyleIdx="0" presStyleCnt="3">
        <dgm:presLayoutVars>
          <dgm:bulletEnabled val="1"/>
        </dgm:presLayoutVars>
      </dgm:prSet>
      <dgm:spPr/>
    </dgm:pt>
    <dgm:pt modelId="{DF3DD37B-BDEB-6941-8609-8E95BDB12B40}" type="pres">
      <dgm:prSet presAssocID="{CCD043C6-012F-4C55-A43F-BCD301C92322}" presName="spaceBetweenRectangles" presStyleCnt="0"/>
      <dgm:spPr/>
    </dgm:pt>
    <dgm:pt modelId="{6DECF302-6458-D646-880C-F879B97F30D5}" type="pres">
      <dgm:prSet presAssocID="{D0878A47-4E8C-4E60-9AB2-62A5387F9047}" presName="parentLin" presStyleCnt="0"/>
      <dgm:spPr/>
    </dgm:pt>
    <dgm:pt modelId="{3B0A9DFE-0B63-C94B-BDCC-D66C958F8705}" type="pres">
      <dgm:prSet presAssocID="{D0878A47-4E8C-4E60-9AB2-62A5387F9047}" presName="parentLeftMargin" presStyleLbl="node1" presStyleIdx="0" presStyleCnt="3"/>
      <dgm:spPr/>
    </dgm:pt>
    <dgm:pt modelId="{80B8595D-D10C-0244-912B-73BABA28A137}" type="pres">
      <dgm:prSet presAssocID="{D0878A47-4E8C-4E60-9AB2-62A5387F9047}" presName="parentText" presStyleLbl="node1" presStyleIdx="1" presStyleCnt="3">
        <dgm:presLayoutVars>
          <dgm:chMax val="0"/>
          <dgm:bulletEnabled val="1"/>
        </dgm:presLayoutVars>
      </dgm:prSet>
      <dgm:spPr/>
    </dgm:pt>
    <dgm:pt modelId="{58300128-8697-D84F-BCC3-EB1EFB38C2AF}" type="pres">
      <dgm:prSet presAssocID="{D0878A47-4E8C-4E60-9AB2-62A5387F9047}" presName="negativeSpace" presStyleCnt="0"/>
      <dgm:spPr/>
    </dgm:pt>
    <dgm:pt modelId="{4D6DC218-DFF5-2347-9AFF-E34732CA7773}" type="pres">
      <dgm:prSet presAssocID="{D0878A47-4E8C-4E60-9AB2-62A5387F9047}" presName="childText" presStyleLbl="conFgAcc1" presStyleIdx="1" presStyleCnt="3">
        <dgm:presLayoutVars>
          <dgm:bulletEnabled val="1"/>
        </dgm:presLayoutVars>
      </dgm:prSet>
      <dgm:spPr/>
    </dgm:pt>
    <dgm:pt modelId="{D71028AF-762E-7946-BC39-4AA1310F3358}" type="pres">
      <dgm:prSet presAssocID="{D207F3C0-C4FD-4FAA-BDEE-F5EB17AA8F1D}" presName="spaceBetweenRectangles" presStyleCnt="0"/>
      <dgm:spPr/>
    </dgm:pt>
    <dgm:pt modelId="{2372C3FB-F25E-294A-8463-2C7AABDF7299}" type="pres">
      <dgm:prSet presAssocID="{4F51AE88-B3F6-481B-9C93-F8E1E0366FE6}" presName="parentLin" presStyleCnt="0"/>
      <dgm:spPr/>
    </dgm:pt>
    <dgm:pt modelId="{918082C4-181E-4949-8E31-36ED37729EAE}" type="pres">
      <dgm:prSet presAssocID="{4F51AE88-B3F6-481B-9C93-F8E1E0366FE6}" presName="parentLeftMargin" presStyleLbl="node1" presStyleIdx="1" presStyleCnt="3"/>
      <dgm:spPr/>
    </dgm:pt>
    <dgm:pt modelId="{33EBE219-4BA6-DB46-B160-EEB4B61E8CB5}" type="pres">
      <dgm:prSet presAssocID="{4F51AE88-B3F6-481B-9C93-F8E1E0366FE6}" presName="parentText" presStyleLbl="node1" presStyleIdx="2" presStyleCnt="3">
        <dgm:presLayoutVars>
          <dgm:chMax val="0"/>
          <dgm:bulletEnabled val="1"/>
        </dgm:presLayoutVars>
      </dgm:prSet>
      <dgm:spPr/>
    </dgm:pt>
    <dgm:pt modelId="{1295F034-07EC-9249-A9AB-0559610D373F}" type="pres">
      <dgm:prSet presAssocID="{4F51AE88-B3F6-481B-9C93-F8E1E0366FE6}" presName="negativeSpace" presStyleCnt="0"/>
      <dgm:spPr/>
    </dgm:pt>
    <dgm:pt modelId="{70AC1BE9-E752-CB45-9BE9-DF2E0B230545}" type="pres">
      <dgm:prSet presAssocID="{4F51AE88-B3F6-481B-9C93-F8E1E0366FE6}" presName="childText" presStyleLbl="conFgAcc1" presStyleIdx="2" presStyleCnt="3">
        <dgm:presLayoutVars>
          <dgm:bulletEnabled val="1"/>
        </dgm:presLayoutVars>
      </dgm:prSet>
      <dgm:spPr/>
    </dgm:pt>
  </dgm:ptLst>
  <dgm:cxnLst>
    <dgm:cxn modelId="{11B08517-F287-2741-A934-3336C30D4A4A}" type="presOf" srcId="{B1EF4718-CBD4-474A-BEA6-BE58981C1FFD}" destId="{70AC1BE9-E752-CB45-9BE9-DF2E0B230545}" srcOrd="0" destOrd="0" presId="urn:microsoft.com/office/officeart/2005/8/layout/list1"/>
    <dgm:cxn modelId="{41ADF81A-7B94-7D43-B3F4-CDB0BC24FF96}" type="presOf" srcId="{4F51AE88-B3F6-481B-9C93-F8E1E0366FE6}" destId="{33EBE219-4BA6-DB46-B160-EEB4B61E8CB5}" srcOrd="1" destOrd="0" presId="urn:microsoft.com/office/officeart/2005/8/layout/list1"/>
    <dgm:cxn modelId="{D5CEE61B-E4E5-474B-AEDC-3F35537D50B8}" srcId="{6A77B644-4CDF-41B8-81A6-5E5DEE15A8DD}" destId="{2DFD091E-2F6F-449C-8263-B958452358AA}" srcOrd="0" destOrd="0" parTransId="{E446B8F3-6A52-4D92-82F6-3558AD16068B}" sibTransId="{0FC8C6DE-9910-4324-B0E6-17E7A78FA454}"/>
    <dgm:cxn modelId="{5B34DF26-D705-44F0-94FC-6E0CADECC735}" srcId="{346E65F3-399C-4D6C-BBC7-8AC7921DEACF}" destId="{D0878A47-4E8C-4E60-9AB2-62A5387F9047}" srcOrd="1" destOrd="0" parTransId="{0AE987D3-0227-462B-9A8D-AAFA7E437BB6}" sibTransId="{D207F3C0-C4FD-4FAA-BDEE-F5EB17AA8F1D}"/>
    <dgm:cxn modelId="{00DAF03D-5FBC-BF42-AB9C-93915DC1B11E}" type="presOf" srcId="{4F51AE88-B3F6-481B-9C93-F8E1E0366FE6}" destId="{918082C4-181E-4949-8E31-36ED37729EAE}" srcOrd="0" destOrd="0" presId="urn:microsoft.com/office/officeart/2005/8/layout/list1"/>
    <dgm:cxn modelId="{F0296C50-5791-F343-B050-AADDF8050004}" type="presOf" srcId="{21ABDE45-0A3B-4375-B90B-4B2BCFF6B9A9}" destId="{4D6DC218-DFF5-2347-9AFF-E34732CA7773}" srcOrd="0" destOrd="0" presId="urn:microsoft.com/office/officeart/2005/8/layout/list1"/>
    <dgm:cxn modelId="{9DBB6E69-B489-4343-B38A-A2E19283FE1E}" srcId="{346E65F3-399C-4D6C-BBC7-8AC7921DEACF}" destId="{6A77B644-4CDF-41B8-81A6-5E5DEE15A8DD}" srcOrd="0" destOrd="0" parTransId="{492D8F12-A047-4733-B100-679D641E87C7}" sibTransId="{CCD043C6-012F-4C55-A43F-BCD301C92322}"/>
    <dgm:cxn modelId="{47C89895-8C8A-5345-9721-106F3D9CEBA6}" type="presOf" srcId="{6A77B644-4CDF-41B8-81A6-5E5DEE15A8DD}" destId="{1A7A9926-1BFE-DE44-B993-0CF46A5CEDEE}" srcOrd="1" destOrd="0" presId="urn:microsoft.com/office/officeart/2005/8/layout/list1"/>
    <dgm:cxn modelId="{D4877C9A-46FA-2A45-91A3-DF2C2193481D}" type="presOf" srcId="{D0878A47-4E8C-4E60-9AB2-62A5387F9047}" destId="{80B8595D-D10C-0244-912B-73BABA28A137}" srcOrd="1" destOrd="0" presId="urn:microsoft.com/office/officeart/2005/8/layout/list1"/>
    <dgm:cxn modelId="{61120CA6-6527-C041-82C4-DC72E9E30E2D}" type="presOf" srcId="{D0878A47-4E8C-4E60-9AB2-62A5387F9047}" destId="{3B0A9DFE-0B63-C94B-BDCC-D66C958F8705}" srcOrd="0" destOrd="0" presId="urn:microsoft.com/office/officeart/2005/8/layout/list1"/>
    <dgm:cxn modelId="{A08654AA-9FD6-4F0B-8840-D7B672D7FC4B}" srcId="{346E65F3-399C-4D6C-BBC7-8AC7921DEACF}" destId="{4F51AE88-B3F6-481B-9C93-F8E1E0366FE6}" srcOrd="2" destOrd="0" parTransId="{8DC31336-EBC1-4D65-A7B8-05CFF8080265}" sibTransId="{23F528A4-BD31-48F1-BDDD-22EAE513BBD6}"/>
    <dgm:cxn modelId="{9C338DB8-9FF2-49A8-8B49-99013CE82BD7}" srcId="{4F51AE88-B3F6-481B-9C93-F8E1E0366FE6}" destId="{B1EF4718-CBD4-474A-BEA6-BE58981C1FFD}" srcOrd="0" destOrd="0" parTransId="{C4FEFE38-736D-4B3B-A0CF-444D2553F21C}" sibTransId="{CB12934E-442D-42D4-BAA0-910535FEF62D}"/>
    <dgm:cxn modelId="{C17D50D0-FA29-0645-ACD1-2C4D2081E5AB}" type="presOf" srcId="{6A77B644-4CDF-41B8-81A6-5E5DEE15A8DD}" destId="{33E811D0-4B84-A740-91B7-B6AABF82C0CB}" srcOrd="0" destOrd="0" presId="urn:microsoft.com/office/officeart/2005/8/layout/list1"/>
    <dgm:cxn modelId="{38415DD0-0CA6-499D-BA90-D3E6BC44FCB8}" srcId="{D0878A47-4E8C-4E60-9AB2-62A5387F9047}" destId="{21ABDE45-0A3B-4375-B90B-4B2BCFF6B9A9}" srcOrd="0" destOrd="0" parTransId="{2C288CF3-857B-449C-AB51-13955EBB07F4}" sibTransId="{3067C6D3-5E8F-4AC9-8197-1FC3802775CE}"/>
    <dgm:cxn modelId="{647837E7-7D9F-0748-A868-C9464D98BE0E}" type="presOf" srcId="{346E65F3-399C-4D6C-BBC7-8AC7921DEACF}" destId="{953A50D9-263B-614B-8AD4-2A70A1EE489F}" srcOrd="0" destOrd="0" presId="urn:microsoft.com/office/officeart/2005/8/layout/list1"/>
    <dgm:cxn modelId="{09389AFB-9CDA-CC40-B964-66B3D57FB0E3}" type="presOf" srcId="{2DFD091E-2F6F-449C-8263-B958452358AA}" destId="{4A12C6BB-B581-A24C-A598-548E22C4160C}" srcOrd="0" destOrd="0" presId="urn:microsoft.com/office/officeart/2005/8/layout/list1"/>
    <dgm:cxn modelId="{B51D512A-218A-0D4F-8465-1F8B73F4E258}" type="presParOf" srcId="{953A50D9-263B-614B-8AD4-2A70A1EE489F}" destId="{44C2DF3D-56A3-AE4C-AE7C-39A2EADE5BCA}" srcOrd="0" destOrd="0" presId="urn:microsoft.com/office/officeart/2005/8/layout/list1"/>
    <dgm:cxn modelId="{F73E69A2-D47C-F84C-B3F6-D9EB77053065}" type="presParOf" srcId="{44C2DF3D-56A3-AE4C-AE7C-39A2EADE5BCA}" destId="{33E811D0-4B84-A740-91B7-B6AABF82C0CB}" srcOrd="0" destOrd="0" presId="urn:microsoft.com/office/officeart/2005/8/layout/list1"/>
    <dgm:cxn modelId="{C67D6109-4A69-884C-B732-452F0A9BC23D}" type="presParOf" srcId="{44C2DF3D-56A3-AE4C-AE7C-39A2EADE5BCA}" destId="{1A7A9926-1BFE-DE44-B993-0CF46A5CEDEE}" srcOrd="1" destOrd="0" presId="urn:microsoft.com/office/officeart/2005/8/layout/list1"/>
    <dgm:cxn modelId="{4BC47A83-6D71-9544-9ADB-4A7B0F1940D7}" type="presParOf" srcId="{953A50D9-263B-614B-8AD4-2A70A1EE489F}" destId="{F13D3243-15D9-5F4C-920E-24F948112711}" srcOrd="1" destOrd="0" presId="urn:microsoft.com/office/officeart/2005/8/layout/list1"/>
    <dgm:cxn modelId="{2B0947B3-8FC2-4046-97A5-2CD7F2717195}" type="presParOf" srcId="{953A50D9-263B-614B-8AD4-2A70A1EE489F}" destId="{4A12C6BB-B581-A24C-A598-548E22C4160C}" srcOrd="2" destOrd="0" presId="urn:microsoft.com/office/officeart/2005/8/layout/list1"/>
    <dgm:cxn modelId="{180ED423-1FCF-4E4D-A1E6-64BB6874FE7B}" type="presParOf" srcId="{953A50D9-263B-614B-8AD4-2A70A1EE489F}" destId="{DF3DD37B-BDEB-6941-8609-8E95BDB12B40}" srcOrd="3" destOrd="0" presId="urn:microsoft.com/office/officeart/2005/8/layout/list1"/>
    <dgm:cxn modelId="{A2420B07-8B01-1748-B3E5-CC8FD13B311C}" type="presParOf" srcId="{953A50D9-263B-614B-8AD4-2A70A1EE489F}" destId="{6DECF302-6458-D646-880C-F879B97F30D5}" srcOrd="4" destOrd="0" presId="urn:microsoft.com/office/officeart/2005/8/layout/list1"/>
    <dgm:cxn modelId="{9EE85F1F-5297-5844-AE16-135A6E01726D}" type="presParOf" srcId="{6DECF302-6458-D646-880C-F879B97F30D5}" destId="{3B0A9DFE-0B63-C94B-BDCC-D66C958F8705}" srcOrd="0" destOrd="0" presId="urn:microsoft.com/office/officeart/2005/8/layout/list1"/>
    <dgm:cxn modelId="{F0CB3FB2-C4CB-8949-A98C-2005654FC1C5}" type="presParOf" srcId="{6DECF302-6458-D646-880C-F879B97F30D5}" destId="{80B8595D-D10C-0244-912B-73BABA28A137}" srcOrd="1" destOrd="0" presId="urn:microsoft.com/office/officeart/2005/8/layout/list1"/>
    <dgm:cxn modelId="{D5AF0738-B417-7744-AD84-8F3375447C7A}" type="presParOf" srcId="{953A50D9-263B-614B-8AD4-2A70A1EE489F}" destId="{58300128-8697-D84F-BCC3-EB1EFB38C2AF}" srcOrd="5" destOrd="0" presId="urn:microsoft.com/office/officeart/2005/8/layout/list1"/>
    <dgm:cxn modelId="{1DDA4209-DC1A-BB48-8878-E5B694AE33F5}" type="presParOf" srcId="{953A50D9-263B-614B-8AD4-2A70A1EE489F}" destId="{4D6DC218-DFF5-2347-9AFF-E34732CA7773}" srcOrd="6" destOrd="0" presId="urn:microsoft.com/office/officeart/2005/8/layout/list1"/>
    <dgm:cxn modelId="{9AFA62FC-A59E-F447-91F7-9C8AD241AC4D}" type="presParOf" srcId="{953A50D9-263B-614B-8AD4-2A70A1EE489F}" destId="{D71028AF-762E-7946-BC39-4AA1310F3358}" srcOrd="7" destOrd="0" presId="urn:microsoft.com/office/officeart/2005/8/layout/list1"/>
    <dgm:cxn modelId="{7150512C-5783-3645-B8E2-7A8EC0DD1CE6}" type="presParOf" srcId="{953A50D9-263B-614B-8AD4-2A70A1EE489F}" destId="{2372C3FB-F25E-294A-8463-2C7AABDF7299}" srcOrd="8" destOrd="0" presId="urn:microsoft.com/office/officeart/2005/8/layout/list1"/>
    <dgm:cxn modelId="{5C332AE3-7CFD-7A44-BC6B-D071450904E3}" type="presParOf" srcId="{2372C3FB-F25E-294A-8463-2C7AABDF7299}" destId="{918082C4-181E-4949-8E31-36ED37729EAE}" srcOrd="0" destOrd="0" presId="urn:microsoft.com/office/officeart/2005/8/layout/list1"/>
    <dgm:cxn modelId="{9DE0FAEA-BB56-8141-904C-EC7356A3ACA3}" type="presParOf" srcId="{2372C3FB-F25E-294A-8463-2C7AABDF7299}" destId="{33EBE219-4BA6-DB46-B160-EEB4B61E8CB5}" srcOrd="1" destOrd="0" presId="urn:microsoft.com/office/officeart/2005/8/layout/list1"/>
    <dgm:cxn modelId="{029804A8-E4A0-F848-A8EE-6C186DB2DA94}" type="presParOf" srcId="{953A50D9-263B-614B-8AD4-2A70A1EE489F}" destId="{1295F034-07EC-9249-A9AB-0559610D373F}" srcOrd="9" destOrd="0" presId="urn:microsoft.com/office/officeart/2005/8/layout/list1"/>
    <dgm:cxn modelId="{0167C673-255A-A24F-AB70-664445231CAE}" type="presParOf" srcId="{953A50D9-263B-614B-8AD4-2A70A1EE489F}" destId="{70AC1BE9-E752-CB45-9BE9-DF2E0B23054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13AE71C-5788-4FDB-854A-8E5CB1FBD311}"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de-DE"/>
        </a:p>
      </dgm:t>
    </dgm:pt>
    <dgm:pt modelId="{B07208EB-C31A-444C-8A44-3A182963C6E4}">
      <dgm:prSet phldrT="[Text]" custT="1"/>
      <dgm:spPr/>
      <dgm:t>
        <a:bodyPr/>
        <a:lstStyle/>
        <a:p>
          <a:r>
            <a:rPr lang="de-DE" sz="3200" dirty="0" err="1">
              <a:solidFill>
                <a:schemeClr val="tx1"/>
              </a:solidFill>
            </a:rPr>
            <a:t>project-root</a:t>
          </a:r>
          <a:endParaRPr lang="de-DE" sz="3200" dirty="0">
            <a:solidFill>
              <a:schemeClr val="tx1"/>
            </a:solidFill>
          </a:endParaRPr>
        </a:p>
      </dgm:t>
    </dgm:pt>
    <dgm:pt modelId="{84FD4C7C-89ED-45F2-BE72-BA6998B045D9}" type="parTrans" cxnId="{DF2D3A8E-43EB-4415-9C9E-2AEEFBAFC1D5}">
      <dgm:prSet/>
      <dgm:spPr/>
      <dgm:t>
        <a:bodyPr/>
        <a:lstStyle/>
        <a:p>
          <a:endParaRPr lang="de-DE"/>
        </a:p>
      </dgm:t>
    </dgm:pt>
    <dgm:pt modelId="{F7DA1A53-3402-4BF9-B7E0-480A61428D0A}" type="sibTrans" cxnId="{DF2D3A8E-43EB-4415-9C9E-2AEEFBAFC1D5}">
      <dgm:prSet/>
      <dgm:spPr/>
      <dgm:t>
        <a:bodyPr/>
        <a:lstStyle/>
        <a:p>
          <a:endParaRPr lang="de-DE"/>
        </a:p>
      </dgm:t>
    </dgm:pt>
    <dgm:pt modelId="{109261F7-C04A-47FA-874A-462386EA0D62}">
      <dgm:prSet phldrT="[Text]"/>
      <dgm:spPr/>
      <dgm:t>
        <a:bodyPr/>
        <a:lstStyle/>
        <a:p>
          <a:r>
            <a:rPr lang="de-DE" dirty="0" err="1"/>
            <a:t>package.json</a:t>
          </a:r>
          <a:endParaRPr lang="de-DE" dirty="0"/>
        </a:p>
      </dgm:t>
    </dgm:pt>
    <dgm:pt modelId="{75C11CB0-1C49-435C-849E-DD2E8AE8DCE6}" type="parTrans" cxnId="{124DF4BE-2C26-4A02-9D3A-8659C1E3ED26}">
      <dgm:prSet/>
      <dgm:spPr/>
      <dgm:t>
        <a:bodyPr/>
        <a:lstStyle/>
        <a:p>
          <a:endParaRPr lang="de-DE"/>
        </a:p>
      </dgm:t>
    </dgm:pt>
    <dgm:pt modelId="{096E2888-376B-4112-B48B-9D46DF7E426D}" type="sibTrans" cxnId="{124DF4BE-2C26-4A02-9D3A-8659C1E3ED26}">
      <dgm:prSet/>
      <dgm:spPr/>
      <dgm:t>
        <a:bodyPr/>
        <a:lstStyle/>
        <a:p>
          <a:endParaRPr lang="de-DE"/>
        </a:p>
      </dgm:t>
    </dgm:pt>
    <dgm:pt modelId="{158172B8-FA15-42C7-96D4-1E7AA5EED8DA}">
      <dgm:prSet phldrT="[Text]"/>
      <dgm:spPr/>
      <dgm:t>
        <a:bodyPr/>
        <a:lstStyle/>
        <a:p>
          <a:r>
            <a:rPr lang="de-DE" dirty="0" err="1"/>
            <a:t>src</a:t>
          </a:r>
          <a:endParaRPr lang="de-DE" dirty="0"/>
        </a:p>
      </dgm:t>
    </dgm:pt>
    <dgm:pt modelId="{4FA3B7F8-15CE-4452-A655-1AA56F6FD8CB}" type="parTrans" cxnId="{D62A3800-53E7-46FE-ADEA-C326442F6542}">
      <dgm:prSet/>
      <dgm:spPr/>
      <dgm:t>
        <a:bodyPr/>
        <a:lstStyle/>
        <a:p>
          <a:endParaRPr lang="de-DE"/>
        </a:p>
      </dgm:t>
    </dgm:pt>
    <dgm:pt modelId="{DAFFCA11-2A2E-4B50-9547-ACB539D7AE52}" type="sibTrans" cxnId="{D62A3800-53E7-46FE-ADEA-C326442F6542}">
      <dgm:prSet/>
      <dgm:spPr/>
      <dgm:t>
        <a:bodyPr/>
        <a:lstStyle/>
        <a:p>
          <a:endParaRPr lang="de-DE"/>
        </a:p>
      </dgm:t>
    </dgm:pt>
    <dgm:pt modelId="{83C0606B-AAF4-448C-B17F-FFCC3F5A3A66}">
      <dgm:prSet phldrT="[Text]"/>
      <dgm:spPr/>
      <dgm:t>
        <a:bodyPr/>
        <a:lstStyle/>
        <a:p>
          <a:r>
            <a:rPr lang="de-DE" dirty="0" err="1"/>
            <a:t>node</a:t>
          </a:r>
          <a:r>
            <a:rPr lang="de-DE" dirty="0"/>
            <a:t>-modules</a:t>
          </a:r>
        </a:p>
      </dgm:t>
    </dgm:pt>
    <dgm:pt modelId="{20AA8CF7-50B9-45E3-B3A2-4F95D4624F88}" type="parTrans" cxnId="{0B875F2E-D973-48F9-A27F-DCDE431E19AF}">
      <dgm:prSet/>
      <dgm:spPr/>
      <dgm:t>
        <a:bodyPr/>
        <a:lstStyle/>
        <a:p>
          <a:endParaRPr lang="de-DE"/>
        </a:p>
      </dgm:t>
    </dgm:pt>
    <dgm:pt modelId="{B57276AA-6AEF-42F1-8FE5-6774008CC577}" type="sibTrans" cxnId="{0B875F2E-D973-48F9-A27F-DCDE431E19AF}">
      <dgm:prSet/>
      <dgm:spPr/>
      <dgm:t>
        <a:bodyPr/>
        <a:lstStyle/>
        <a:p>
          <a:endParaRPr lang="de-DE"/>
        </a:p>
      </dgm:t>
    </dgm:pt>
    <dgm:pt modelId="{9A5C7173-5A48-4CEA-99C9-428CB3E77892}">
      <dgm:prSet phldrT="[Text]"/>
      <dgm:spPr/>
      <dgm:t>
        <a:bodyPr/>
        <a:lstStyle/>
        <a:p>
          <a:r>
            <a:rPr lang="de-DE" dirty="0"/>
            <a:t>module1</a:t>
          </a:r>
        </a:p>
      </dgm:t>
    </dgm:pt>
    <dgm:pt modelId="{988A3A29-CD95-4E1C-8F64-ADC4D87CBD41}" type="parTrans" cxnId="{AFB5BD76-E0ED-41EC-A56F-28B39BFDA2D1}">
      <dgm:prSet/>
      <dgm:spPr/>
      <dgm:t>
        <a:bodyPr/>
        <a:lstStyle/>
        <a:p>
          <a:endParaRPr lang="de-DE"/>
        </a:p>
      </dgm:t>
    </dgm:pt>
    <dgm:pt modelId="{E93F3061-6190-4084-8186-C92332B1AAA2}" type="sibTrans" cxnId="{AFB5BD76-E0ED-41EC-A56F-28B39BFDA2D1}">
      <dgm:prSet/>
      <dgm:spPr/>
      <dgm:t>
        <a:bodyPr/>
        <a:lstStyle/>
        <a:p>
          <a:endParaRPr lang="de-DE"/>
        </a:p>
      </dgm:t>
    </dgm:pt>
    <dgm:pt modelId="{E8E969CD-F312-451E-A11B-E4FB0960CE2F}">
      <dgm:prSet phldrT="[Text]"/>
      <dgm:spPr/>
      <dgm:t>
        <a:bodyPr/>
        <a:lstStyle/>
        <a:p>
          <a:r>
            <a:rPr lang="de-DE" dirty="0"/>
            <a:t>module2</a:t>
          </a:r>
        </a:p>
      </dgm:t>
    </dgm:pt>
    <dgm:pt modelId="{9672ADBD-A716-47E2-9F4B-47192B0EC09D}" type="parTrans" cxnId="{B312242D-F205-4C56-986C-CA83E6460AF5}">
      <dgm:prSet/>
      <dgm:spPr/>
      <dgm:t>
        <a:bodyPr/>
        <a:lstStyle/>
        <a:p>
          <a:endParaRPr lang="de-DE"/>
        </a:p>
      </dgm:t>
    </dgm:pt>
    <dgm:pt modelId="{D98356A8-9894-4E93-BA95-B276FE3EEC03}" type="sibTrans" cxnId="{B312242D-F205-4C56-986C-CA83E6460AF5}">
      <dgm:prSet/>
      <dgm:spPr/>
      <dgm:t>
        <a:bodyPr/>
        <a:lstStyle/>
        <a:p>
          <a:endParaRPr lang="de-DE"/>
        </a:p>
      </dgm:t>
    </dgm:pt>
    <dgm:pt modelId="{501F4F21-F9A3-468F-BBDB-F11F2B7AB487}">
      <dgm:prSet phldrT="[Text]"/>
      <dgm:spPr/>
      <dgm:t>
        <a:bodyPr/>
        <a:lstStyle/>
        <a:p>
          <a:r>
            <a:rPr lang="de-DE" dirty="0"/>
            <a:t>…</a:t>
          </a:r>
        </a:p>
      </dgm:t>
    </dgm:pt>
    <dgm:pt modelId="{72D0E701-2B12-4866-9C50-961AB319D888}" type="parTrans" cxnId="{FF0749CA-DC3E-41C4-A77A-9B30C12BC439}">
      <dgm:prSet/>
      <dgm:spPr/>
      <dgm:t>
        <a:bodyPr/>
        <a:lstStyle/>
        <a:p>
          <a:endParaRPr lang="de-DE"/>
        </a:p>
      </dgm:t>
    </dgm:pt>
    <dgm:pt modelId="{1D8D2EE2-27D0-4D45-B526-C4694BB9CB65}" type="sibTrans" cxnId="{FF0749CA-DC3E-41C4-A77A-9B30C12BC439}">
      <dgm:prSet/>
      <dgm:spPr/>
      <dgm:t>
        <a:bodyPr/>
        <a:lstStyle/>
        <a:p>
          <a:endParaRPr lang="de-DE"/>
        </a:p>
      </dgm:t>
    </dgm:pt>
    <dgm:pt modelId="{DA351AE3-EE1B-4F6A-A9C8-628646245883}">
      <dgm:prSet phldrT="[Text]"/>
      <dgm:spPr/>
      <dgm:t>
        <a:bodyPr/>
        <a:lstStyle/>
        <a:p>
          <a:r>
            <a:rPr lang="de-DE" dirty="0"/>
            <a:t>script1</a:t>
          </a:r>
        </a:p>
      </dgm:t>
    </dgm:pt>
    <dgm:pt modelId="{1C05D227-F191-4992-A934-48EAEEDC3CED}" type="parTrans" cxnId="{9A946735-9407-43C2-8776-14B56A9E42B0}">
      <dgm:prSet/>
      <dgm:spPr/>
      <dgm:t>
        <a:bodyPr/>
        <a:lstStyle/>
        <a:p>
          <a:endParaRPr lang="de-DE"/>
        </a:p>
      </dgm:t>
    </dgm:pt>
    <dgm:pt modelId="{A3C5381F-0156-4DE4-B6C5-CA281CA44292}" type="sibTrans" cxnId="{9A946735-9407-43C2-8776-14B56A9E42B0}">
      <dgm:prSet/>
      <dgm:spPr/>
      <dgm:t>
        <a:bodyPr/>
        <a:lstStyle/>
        <a:p>
          <a:endParaRPr lang="de-DE"/>
        </a:p>
      </dgm:t>
    </dgm:pt>
    <dgm:pt modelId="{CDFD7824-4D2A-43AB-992B-9795F5ABA8DD}">
      <dgm:prSet phldrT="[Text]"/>
      <dgm:spPr/>
      <dgm:t>
        <a:bodyPr/>
        <a:lstStyle/>
        <a:p>
          <a:r>
            <a:rPr lang="de-DE" dirty="0"/>
            <a:t>script2</a:t>
          </a:r>
        </a:p>
      </dgm:t>
    </dgm:pt>
    <dgm:pt modelId="{5855370E-3E8E-4546-97E2-078EDBBCD31D}" type="parTrans" cxnId="{A58F52F4-87EB-452F-8E03-4B6A8C8FE89E}">
      <dgm:prSet/>
      <dgm:spPr/>
      <dgm:t>
        <a:bodyPr/>
        <a:lstStyle/>
        <a:p>
          <a:endParaRPr lang="de-DE"/>
        </a:p>
      </dgm:t>
    </dgm:pt>
    <dgm:pt modelId="{8F29EC89-2B39-4882-84C6-608B8A36C64D}" type="sibTrans" cxnId="{A58F52F4-87EB-452F-8E03-4B6A8C8FE89E}">
      <dgm:prSet/>
      <dgm:spPr/>
      <dgm:t>
        <a:bodyPr/>
        <a:lstStyle/>
        <a:p>
          <a:endParaRPr lang="de-DE"/>
        </a:p>
      </dgm:t>
    </dgm:pt>
    <dgm:pt modelId="{D141CDF2-DC35-4EA0-B88E-969D02B539AF}">
      <dgm:prSet phldrT="[Text]"/>
      <dgm:spPr/>
      <dgm:t>
        <a:bodyPr/>
        <a:lstStyle/>
        <a:p>
          <a:r>
            <a:rPr lang="de-DE" dirty="0"/>
            <a:t>…</a:t>
          </a:r>
        </a:p>
      </dgm:t>
    </dgm:pt>
    <dgm:pt modelId="{2FAD0290-F3EC-48AE-9C3E-4E0B60C9A202}" type="parTrans" cxnId="{41CF3B2D-7C9B-4D73-8EF2-71FF62B20C94}">
      <dgm:prSet/>
      <dgm:spPr/>
      <dgm:t>
        <a:bodyPr/>
        <a:lstStyle/>
        <a:p>
          <a:endParaRPr lang="de-DE"/>
        </a:p>
      </dgm:t>
    </dgm:pt>
    <dgm:pt modelId="{9A0F2801-DD7E-4100-A84B-3752E966001A}" type="sibTrans" cxnId="{41CF3B2D-7C9B-4D73-8EF2-71FF62B20C94}">
      <dgm:prSet/>
      <dgm:spPr/>
      <dgm:t>
        <a:bodyPr/>
        <a:lstStyle/>
        <a:p>
          <a:endParaRPr lang="de-DE"/>
        </a:p>
      </dgm:t>
    </dgm:pt>
    <dgm:pt modelId="{5B0BDF51-5ECC-4B9A-B5D8-35139756098E}" type="pres">
      <dgm:prSet presAssocID="{013AE71C-5788-4FDB-854A-8E5CB1FBD311}" presName="diagram" presStyleCnt="0">
        <dgm:presLayoutVars>
          <dgm:chPref val="1"/>
          <dgm:dir/>
          <dgm:animOne val="branch"/>
          <dgm:animLvl val="lvl"/>
          <dgm:resizeHandles/>
        </dgm:presLayoutVars>
      </dgm:prSet>
      <dgm:spPr/>
    </dgm:pt>
    <dgm:pt modelId="{7405F66F-C0D1-4729-BB4E-7BF4407F1859}" type="pres">
      <dgm:prSet presAssocID="{B07208EB-C31A-444C-8A44-3A182963C6E4}" presName="root" presStyleCnt="0"/>
      <dgm:spPr/>
    </dgm:pt>
    <dgm:pt modelId="{FB47BDD5-4272-4BCA-A049-2F007949D022}" type="pres">
      <dgm:prSet presAssocID="{B07208EB-C31A-444C-8A44-3A182963C6E4}" presName="rootComposite" presStyleCnt="0"/>
      <dgm:spPr/>
    </dgm:pt>
    <dgm:pt modelId="{6607D71C-8DC4-4BB6-8305-5D6236EF6AF4}" type="pres">
      <dgm:prSet presAssocID="{B07208EB-C31A-444C-8A44-3A182963C6E4}" presName="rootText" presStyleLbl="node1" presStyleIdx="0" presStyleCnt="1" custScaleX="148135"/>
      <dgm:spPr/>
    </dgm:pt>
    <dgm:pt modelId="{1969AC91-C91D-4965-9BEB-0B9F5D9C006F}" type="pres">
      <dgm:prSet presAssocID="{B07208EB-C31A-444C-8A44-3A182963C6E4}" presName="rootConnector" presStyleLbl="node1" presStyleIdx="0" presStyleCnt="1"/>
      <dgm:spPr/>
    </dgm:pt>
    <dgm:pt modelId="{6CFD0CA9-C712-41E0-B719-0A23ACCC5397}" type="pres">
      <dgm:prSet presAssocID="{B07208EB-C31A-444C-8A44-3A182963C6E4}" presName="childShape" presStyleCnt="0"/>
      <dgm:spPr/>
    </dgm:pt>
    <dgm:pt modelId="{FE972E17-81E7-4DC9-8BB9-241D4556144A}" type="pres">
      <dgm:prSet presAssocID="{75C11CB0-1C49-435C-849E-DD2E8AE8DCE6}" presName="Name13" presStyleLbl="parChTrans1D2" presStyleIdx="0" presStyleCnt="3"/>
      <dgm:spPr/>
    </dgm:pt>
    <dgm:pt modelId="{C03CB49A-CA21-4561-9CA0-7967197F9B89}" type="pres">
      <dgm:prSet presAssocID="{109261F7-C04A-47FA-874A-462386EA0D62}" presName="childText" presStyleLbl="bgAcc1" presStyleIdx="0" presStyleCnt="3">
        <dgm:presLayoutVars>
          <dgm:bulletEnabled val="1"/>
        </dgm:presLayoutVars>
      </dgm:prSet>
      <dgm:spPr/>
    </dgm:pt>
    <dgm:pt modelId="{EC0960B8-D78E-4984-805C-5C0B1C40DBDE}" type="pres">
      <dgm:prSet presAssocID="{4FA3B7F8-15CE-4452-A655-1AA56F6FD8CB}" presName="Name13" presStyleLbl="parChTrans1D2" presStyleIdx="1" presStyleCnt="3"/>
      <dgm:spPr/>
    </dgm:pt>
    <dgm:pt modelId="{8CE943E3-F1AB-4E0A-BBA8-1A2B8AFF0336}" type="pres">
      <dgm:prSet presAssocID="{158172B8-FA15-42C7-96D4-1E7AA5EED8DA}" presName="childText" presStyleLbl="bgAcc1" presStyleIdx="1" presStyleCnt="3">
        <dgm:presLayoutVars>
          <dgm:bulletEnabled val="1"/>
        </dgm:presLayoutVars>
      </dgm:prSet>
      <dgm:spPr/>
    </dgm:pt>
    <dgm:pt modelId="{5A45C53C-7725-48D9-A02E-81B437FBB969}" type="pres">
      <dgm:prSet presAssocID="{20AA8CF7-50B9-45E3-B3A2-4F95D4624F88}" presName="Name13" presStyleLbl="parChTrans1D2" presStyleIdx="2" presStyleCnt="3"/>
      <dgm:spPr/>
    </dgm:pt>
    <dgm:pt modelId="{F47786B8-D1FB-42D9-A2B7-99A3BE6B2E5F}" type="pres">
      <dgm:prSet presAssocID="{83C0606B-AAF4-448C-B17F-FFCC3F5A3A66}" presName="childText" presStyleLbl="bgAcc1" presStyleIdx="2" presStyleCnt="3">
        <dgm:presLayoutVars>
          <dgm:bulletEnabled val="1"/>
        </dgm:presLayoutVars>
      </dgm:prSet>
      <dgm:spPr/>
    </dgm:pt>
  </dgm:ptLst>
  <dgm:cxnLst>
    <dgm:cxn modelId="{D62A3800-53E7-46FE-ADEA-C326442F6542}" srcId="{B07208EB-C31A-444C-8A44-3A182963C6E4}" destId="{158172B8-FA15-42C7-96D4-1E7AA5EED8DA}" srcOrd="1" destOrd="0" parTransId="{4FA3B7F8-15CE-4452-A655-1AA56F6FD8CB}" sibTransId="{DAFFCA11-2A2E-4B50-9547-ACB539D7AE52}"/>
    <dgm:cxn modelId="{3478BB09-3986-41E6-8A8E-535DB3B7B2B6}" type="presOf" srcId="{501F4F21-F9A3-468F-BBDB-F11F2B7AB487}" destId="{F47786B8-D1FB-42D9-A2B7-99A3BE6B2E5F}" srcOrd="0" destOrd="3" presId="urn:microsoft.com/office/officeart/2005/8/layout/hierarchy3"/>
    <dgm:cxn modelId="{6C1E7918-9F69-4410-AC60-6547101925D2}" type="presOf" srcId="{D141CDF2-DC35-4EA0-B88E-969D02B539AF}" destId="{8CE943E3-F1AB-4E0A-BBA8-1A2B8AFF0336}" srcOrd="0" destOrd="3" presId="urn:microsoft.com/office/officeart/2005/8/layout/hierarchy3"/>
    <dgm:cxn modelId="{7390091A-C328-4436-BDD9-4D39199D2385}" type="presOf" srcId="{109261F7-C04A-47FA-874A-462386EA0D62}" destId="{C03CB49A-CA21-4561-9CA0-7967197F9B89}" srcOrd="0" destOrd="0" presId="urn:microsoft.com/office/officeart/2005/8/layout/hierarchy3"/>
    <dgm:cxn modelId="{B312242D-F205-4C56-986C-CA83E6460AF5}" srcId="{83C0606B-AAF4-448C-B17F-FFCC3F5A3A66}" destId="{E8E969CD-F312-451E-A11B-E4FB0960CE2F}" srcOrd="1" destOrd="0" parTransId="{9672ADBD-A716-47E2-9F4B-47192B0EC09D}" sibTransId="{D98356A8-9894-4E93-BA95-B276FE3EEC03}"/>
    <dgm:cxn modelId="{41CF3B2D-7C9B-4D73-8EF2-71FF62B20C94}" srcId="{158172B8-FA15-42C7-96D4-1E7AA5EED8DA}" destId="{D141CDF2-DC35-4EA0-B88E-969D02B539AF}" srcOrd="2" destOrd="0" parTransId="{2FAD0290-F3EC-48AE-9C3E-4E0B60C9A202}" sibTransId="{9A0F2801-DD7E-4100-A84B-3752E966001A}"/>
    <dgm:cxn modelId="{0B875F2E-D973-48F9-A27F-DCDE431E19AF}" srcId="{B07208EB-C31A-444C-8A44-3A182963C6E4}" destId="{83C0606B-AAF4-448C-B17F-FFCC3F5A3A66}" srcOrd="2" destOrd="0" parTransId="{20AA8CF7-50B9-45E3-B3A2-4F95D4624F88}" sibTransId="{B57276AA-6AEF-42F1-8FE5-6774008CC577}"/>
    <dgm:cxn modelId="{9A946735-9407-43C2-8776-14B56A9E42B0}" srcId="{158172B8-FA15-42C7-96D4-1E7AA5EED8DA}" destId="{DA351AE3-EE1B-4F6A-A9C8-628646245883}" srcOrd="0" destOrd="0" parTransId="{1C05D227-F191-4992-A934-48EAEEDC3CED}" sibTransId="{A3C5381F-0156-4DE4-B6C5-CA281CA44292}"/>
    <dgm:cxn modelId="{37361443-4232-40DD-8A7D-75385CF99E1C}" type="presOf" srcId="{B07208EB-C31A-444C-8A44-3A182963C6E4}" destId="{1969AC91-C91D-4965-9BEB-0B9F5D9C006F}" srcOrd="1" destOrd="0" presId="urn:microsoft.com/office/officeart/2005/8/layout/hierarchy3"/>
    <dgm:cxn modelId="{55D37D4C-0C55-4EED-A1E6-CCF5F345A6CB}" type="presOf" srcId="{013AE71C-5788-4FDB-854A-8E5CB1FBD311}" destId="{5B0BDF51-5ECC-4B9A-B5D8-35139756098E}" srcOrd="0" destOrd="0" presId="urn:microsoft.com/office/officeart/2005/8/layout/hierarchy3"/>
    <dgm:cxn modelId="{D5FAD061-B199-4FAB-93F4-7564AE903D84}" type="presOf" srcId="{4FA3B7F8-15CE-4452-A655-1AA56F6FD8CB}" destId="{EC0960B8-D78E-4984-805C-5C0B1C40DBDE}" srcOrd="0" destOrd="0" presId="urn:microsoft.com/office/officeart/2005/8/layout/hierarchy3"/>
    <dgm:cxn modelId="{57634C6E-1443-45D7-8B4D-34C8A4280F72}" type="presOf" srcId="{20AA8CF7-50B9-45E3-B3A2-4F95D4624F88}" destId="{5A45C53C-7725-48D9-A02E-81B437FBB969}" srcOrd="0" destOrd="0" presId="urn:microsoft.com/office/officeart/2005/8/layout/hierarchy3"/>
    <dgm:cxn modelId="{B3B49D70-4C0F-48D2-8617-EEAD859F3F6C}" type="presOf" srcId="{83C0606B-AAF4-448C-B17F-FFCC3F5A3A66}" destId="{F47786B8-D1FB-42D9-A2B7-99A3BE6B2E5F}" srcOrd="0" destOrd="0" presId="urn:microsoft.com/office/officeart/2005/8/layout/hierarchy3"/>
    <dgm:cxn modelId="{8CD11B76-B3B6-4574-A970-AB782638715A}" type="presOf" srcId="{E8E969CD-F312-451E-A11B-E4FB0960CE2F}" destId="{F47786B8-D1FB-42D9-A2B7-99A3BE6B2E5F}" srcOrd="0" destOrd="2" presId="urn:microsoft.com/office/officeart/2005/8/layout/hierarchy3"/>
    <dgm:cxn modelId="{AFB5BD76-E0ED-41EC-A56F-28B39BFDA2D1}" srcId="{83C0606B-AAF4-448C-B17F-FFCC3F5A3A66}" destId="{9A5C7173-5A48-4CEA-99C9-428CB3E77892}" srcOrd="0" destOrd="0" parTransId="{988A3A29-CD95-4E1C-8F64-ADC4D87CBD41}" sibTransId="{E93F3061-6190-4084-8186-C92332B1AAA2}"/>
    <dgm:cxn modelId="{3951A57D-2966-453A-A099-D3C0317EE746}" type="presOf" srcId="{DA351AE3-EE1B-4F6A-A9C8-628646245883}" destId="{8CE943E3-F1AB-4E0A-BBA8-1A2B8AFF0336}" srcOrd="0" destOrd="1" presId="urn:microsoft.com/office/officeart/2005/8/layout/hierarchy3"/>
    <dgm:cxn modelId="{DF2D3A8E-43EB-4415-9C9E-2AEEFBAFC1D5}" srcId="{013AE71C-5788-4FDB-854A-8E5CB1FBD311}" destId="{B07208EB-C31A-444C-8A44-3A182963C6E4}" srcOrd="0" destOrd="0" parTransId="{84FD4C7C-89ED-45F2-BE72-BA6998B045D9}" sibTransId="{F7DA1A53-3402-4BF9-B7E0-480A61428D0A}"/>
    <dgm:cxn modelId="{308EB291-164F-4118-8A5A-5B0B52CFF5AF}" type="presOf" srcId="{158172B8-FA15-42C7-96D4-1E7AA5EED8DA}" destId="{8CE943E3-F1AB-4E0A-BBA8-1A2B8AFF0336}" srcOrd="0" destOrd="0" presId="urn:microsoft.com/office/officeart/2005/8/layout/hierarchy3"/>
    <dgm:cxn modelId="{39075FB2-C82F-4B80-B51B-4AE99E9BF714}" type="presOf" srcId="{B07208EB-C31A-444C-8A44-3A182963C6E4}" destId="{6607D71C-8DC4-4BB6-8305-5D6236EF6AF4}" srcOrd="0" destOrd="0" presId="urn:microsoft.com/office/officeart/2005/8/layout/hierarchy3"/>
    <dgm:cxn modelId="{B3F7A5B7-12D9-478B-BCCC-2B2D179101BD}" type="presOf" srcId="{75C11CB0-1C49-435C-849E-DD2E8AE8DCE6}" destId="{FE972E17-81E7-4DC9-8BB9-241D4556144A}" srcOrd="0" destOrd="0" presId="urn:microsoft.com/office/officeart/2005/8/layout/hierarchy3"/>
    <dgm:cxn modelId="{A6F56DBD-C1D7-424B-907F-0963105A3A4C}" type="presOf" srcId="{9A5C7173-5A48-4CEA-99C9-428CB3E77892}" destId="{F47786B8-D1FB-42D9-A2B7-99A3BE6B2E5F}" srcOrd="0" destOrd="1" presId="urn:microsoft.com/office/officeart/2005/8/layout/hierarchy3"/>
    <dgm:cxn modelId="{124DF4BE-2C26-4A02-9D3A-8659C1E3ED26}" srcId="{B07208EB-C31A-444C-8A44-3A182963C6E4}" destId="{109261F7-C04A-47FA-874A-462386EA0D62}" srcOrd="0" destOrd="0" parTransId="{75C11CB0-1C49-435C-849E-DD2E8AE8DCE6}" sibTransId="{096E2888-376B-4112-B48B-9D46DF7E426D}"/>
    <dgm:cxn modelId="{FF0749CA-DC3E-41C4-A77A-9B30C12BC439}" srcId="{83C0606B-AAF4-448C-B17F-FFCC3F5A3A66}" destId="{501F4F21-F9A3-468F-BBDB-F11F2B7AB487}" srcOrd="2" destOrd="0" parTransId="{72D0E701-2B12-4866-9C50-961AB319D888}" sibTransId="{1D8D2EE2-27D0-4D45-B526-C4694BB9CB65}"/>
    <dgm:cxn modelId="{B1C945E5-ABD3-4F7C-B620-9336C7AC74B7}" type="presOf" srcId="{CDFD7824-4D2A-43AB-992B-9795F5ABA8DD}" destId="{8CE943E3-F1AB-4E0A-BBA8-1A2B8AFF0336}" srcOrd="0" destOrd="2" presId="urn:microsoft.com/office/officeart/2005/8/layout/hierarchy3"/>
    <dgm:cxn modelId="{A58F52F4-87EB-452F-8E03-4B6A8C8FE89E}" srcId="{158172B8-FA15-42C7-96D4-1E7AA5EED8DA}" destId="{CDFD7824-4D2A-43AB-992B-9795F5ABA8DD}" srcOrd="1" destOrd="0" parTransId="{5855370E-3E8E-4546-97E2-078EDBBCD31D}" sibTransId="{8F29EC89-2B39-4882-84C6-608B8A36C64D}"/>
    <dgm:cxn modelId="{35455BAE-BF86-4D2A-912D-3174F2B72703}" type="presParOf" srcId="{5B0BDF51-5ECC-4B9A-B5D8-35139756098E}" destId="{7405F66F-C0D1-4729-BB4E-7BF4407F1859}" srcOrd="0" destOrd="0" presId="urn:microsoft.com/office/officeart/2005/8/layout/hierarchy3"/>
    <dgm:cxn modelId="{F676C0C7-B625-403A-B6A5-B283529D8B78}" type="presParOf" srcId="{7405F66F-C0D1-4729-BB4E-7BF4407F1859}" destId="{FB47BDD5-4272-4BCA-A049-2F007949D022}" srcOrd="0" destOrd="0" presId="urn:microsoft.com/office/officeart/2005/8/layout/hierarchy3"/>
    <dgm:cxn modelId="{8E06FCDC-6132-4AA5-A5AE-67BA9484CFD1}" type="presParOf" srcId="{FB47BDD5-4272-4BCA-A049-2F007949D022}" destId="{6607D71C-8DC4-4BB6-8305-5D6236EF6AF4}" srcOrd="0" destOrd="0" presId="urn:microsoft.com/office/officeart/2005/8/layout/hierarchy3"/>
    <dgm:cxn modelId="{95746524-9638-41FF-998C-C21857A88DF5}" type="presParOf" srcId="{FB47BDD5-4272-4BCA-A049-2F007949D022}" destId="{1969AC91-C91D-4965-9BEB-0B9F5D9C006F}" srcOrd="1" destOrd="0" presId="urn:microsoft.com/office/officeart/2005/8/layout/hierarchy3"/>
    <dgm:cxn modelId="{BD567E8D-2BDB-4791-9485-F405CB7DA39B}" type="presParOf" srcId="{7405F66F-C0D1-4729-BB4E-7BF4407F1859}" destId="{6CFD0CA9-C712-41E0-B719-0A23ACCC5397}" srcOrd="1" destOrd="0" presId="urn:microsoft.com/office/officeart/2005/8/layout/hierarchy3"/>
    <dgm:cxn modelId="{A461869B-CC82-4D1A-A67D-8D3451272FB7}" type="presParOf" srcId="{6CFD0CA9-C712-41E0-B719-0A23ACCC5397}" destId="{FE972E17-81E7-4DC9-8BB9-241D4556144A}" srcOrd="0" destOrd="0" presId="urn:microsoft.com/office/officeart/2005/8/layout/hierarchy3"/>
    <dgm:cxn modelId="{352DE9CB-7D8C-43CE-B9DE-FA8267A005F5}" type="presParOf" srcId="{6CFD0CA9-C712-41E0-B719-0A23ACCC5397}" destId="{C03CB49A-CA21-4561-9CA0-7967197F9B89}" srcOrd="1" destOrd="0" presId="urn:microsoft.com/office/officeart/2005/8/layout/hierarchy3"/>
    <dgm:cxn modelId="{8B33B713-5F3C-4387-BF2C-D59AEE0E28F4}" type="presParOf" srcId="{6CFD0CA9-C712-41E0-B719-0A23ACCC5397}" destId="{EC0960B8-D78E-4984-805C-5C0B1C40DBDE}" srcOrd="2" destOrd="0" presId="urn:microsoft.com/office/officeart/2005/8/layout/hierarchy3"/>
    <dgm:cxn modelId="{2C073CAE-B102-4849-9FF4-4789E94D05A2}" type="presParOf" srcId="{6CFD0CA9-C712-41E0-B719-0A23ACCC5397}" destId="{8CE943E3-F1AB-4E0A-BBA8-1A2B8AFF0336}" srcOrd="3" destOrd="0" presId="urn:microsoft.com/office/officeart/2005/8/layout/hierarchy3"/>
    <dgm:cxn modelId="{7B01D6EE-8EDB-4C07-8931-93B51D812D03}" type="presParOf" srcId="{6CFD0CA9-C712-41E0-B719-0A23ACCC5397}" destId="{5A45C53C-7725-48D9-A02E-81B437FBB969}" srcOrd="4" destOrd="0" presId="urn:microsoft.com/office/officeart/2005/8/layout/hierarchy3"/>
    <dgm:cxn modelId="{4B6C4957-B840-493C-988F-FC10BD8FA00F}" type="presParOf" srcId="{6CFD0CA9-C712-41E0-B719-0A23ACCC5397}" destId="{F47786B8-D1FB-42D9-A2B7-99A3BE6B2E5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E1DB7A-644C-3B42-AD25-2ECA5A8DDB63}">
      <dsp:nvSpPr>
        <dsp:cNvPr id="0" name=""/>
        <dsp:cNvSpPr/>
      </dsp:nvSpPr>
      <dsp:spPr>
        <a:xfrm>
          <a:off x="3071637" y="986584"/>
          <a:ext cx="817482" cy="590950"/>
        </a:xfrm>
        <a:custGeom>
          <a:avLst/>
          <a:gdLst/>
          <a:ahLst/>
          <a:cxnLst/>
          <a:rect l="0" t="0" r="0" b="0"/>
          <a:pathLst>
            <a:path>
              <a:moveTo>
                <a:pt x="817482" y="0"/>
              </a:moveTo>
              <a:lnTo>
                <a:pt x="817482" y="590950"/>
              </a:lnTo>
              <a:lnTo>
                <a:pt x="0" y="590950"/>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03A3C33-7FFA-3748-8258-C09732752CE2}">
      <dsp:nvSpPr>
        <dsp:cNvPr id="0" name=""/>
        <dsp:cNvSpPr/>
      </dsp:nvSpPr>
      <dsp:spPr>
        <a:xfrm>
          <a:off x="3843399" y="986584"/>
          <a:ext cx="91440" cy="1812249"/>
        </a:xfrm>
        <a:custGeom>
          <a:avLst/>
          <a:gdLst/>
          <a:ahLst/>
          <a:cxnLst/>
          <a:rect l="0" t="0" r="0" b="0"/>
          <a:pathLst>
            <a:path>
              <a:moveTo>
                <a:pt x="45720" y="0"/>
              </a:moveTo>
              <a:lnTo>
                <a:pt x="45720" y="18122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34259B3B-D6B1-F743-83B8-9AB1A60E7DE1}">
      <dsp:nvSpPr>
        <dsp:cNvPr id="0" name=""/>
        <dsp:cNvSpPr/>
      </dsp:nvSpPr>
      <dsp:spPr>
        <a:xfrm>
          <a:off x="3396660" y="1666"/>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B4A37C34-5D0F-3C47-9836-F4DB7D8FF3A7}">
      <dsp:nvSpPr>
        <dsp:cNvPr id="0" name=""/>
        <dsp:cNvSpPr/>
      </dsp:nvSpPr>
      <dsp:spPr>
        <a:xfrm>
          <a:off x="3396660" y="1666"/>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483DDC5-6826-BD44-AB99-BD67F09563F2}">
      <dsp:nvSpPr>
        <dsp:cNvPr id="0" name=""/>
        <dsp:cNvSpPr/>
      </dsp:nvSpPr>
      <dsp:spPr>
        <a:xfrm>
          <a:off x="2904201" y="178952"/>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any</a:t>
          </a:r>
          <a:endParaRPr lang="de-DE" sz="2900" kern="1200" dirty="0"/>
        </a:p>
      </dsp:txBody>
      <dsp:txXfrm>
        <a:off x="2904201" y="178952"/>
        <a:ext cx="1969836" cy="630347"/>
      </dsp:txXfrm>
    </dsp:sp>
    <dsp:sp modelId="{9D02861B-EA84-F748-AE6A-3B31D1F98643}">
      <dsp:nvSpPr>
        <dsp:cNvPr id="0" name=""/>
        <dsp:cNvSpPr/>
      </dsp:nvSpPr>
      <dsp:spPr>
        <a:xfrm>
          <a:off x="3396660" y="2798834"/>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42882EBD-7C86-3F4E-ACFA-7AFD645EE42A}">
      <dsp:nvSpPr>
        <dsp:cNvPr id="0" name=""/>
        <dsp:cNvSpPr/>
      </dsp:nvSpPr>
      <dsp:spPr>
        <a:xfrm>
          <a:off x="3396660" y="2798834"/>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2F1E523-5190-424F-BA86-8372C6F5CAC4}">
      <dsp:nvSpPr>
        <dsp:cNvPr id="0" name=""/>
        <dsp:cNvSpPr/>
      </dsp:nvSpPr>
      <dsp:spPr>
        <a:xfrm>
          <a:off x="2904201" y="2976119"/>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a:t>user-</a:t>
          </a:r>
          <a:r>
            <a:rPr lang="de-DE" sz="2900" kern="1200" dirty="0" err="1"/>
            <a:t>defined</a:t>
          </a:r>
          <a:endParaRPr lang="de-DE" sz="2900" kern="1200" dirty="0"/>
        </a:p>
      </dsp:txBody>
      <dsp:txXfrm>
        <a:off x="2904201" y="2976119"/>
        <a:ext cx="1969836" cy="630347"/>
      </dsp:txXfrm>
    </dsp:sp>
    <dsp:sp modelId="{80A84B1A-C964-A646-BC6F-F9605462D7EA}">
      <dsp:nvSpPr>
        <dsp:cNvPr id="0" name=""/>
        <dsp:cNvSpPr/>
      </dsp:nvSpPr>
      <dsp:spPr>
        <a:xfrm>
          <a:off x="2204910" y="1400250"/>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F2A00A7-8A99-564A-9E40-413619C32B17}">
      <dsp:nvSpPr>
        <dsp:cNvPr id="0" name=""/>
        <dsp:cNvSpPr/>
      </dsp:nvSpPr>
      <dsp:spPr>
        <a:xfrm>
          <a:off x="2204910" y="1400250"/>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177331BC-3BBA-3E4D-9943-2B47AE708F1D}">
      <dsp:nvSpPr>
        <dsp:cNvPr id="0" name=""/>
        <dsp:cNvSpPr/>
      </dsp:nvSpPr>
      <dsp:spPr>
        <a:xfrm>
          <a:off x="1712450" y="1577535"/>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build</a:t>
          </a:r>
          <a:r>
            <a:rPr lang="de-DE" sz="2900" kern="1200" dirty="0"/>
            <a:t>-in </a:t>
          </a:r>
        </a:p>
      </dsp:txBody>
      <dsp:txXfrm>
        <a:off x="1712450" y="1577535"/>
        <a:ext cx="1969836" cy="6303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B51B93-AE9B-B94B-9913-A0FA94D542D5}">
      <dsp:nvSpPr>
        <dsp:cNvPr id="0" name=""/>
        <dsp:cNvSpPr/>
      </dsp:nvSpPr>
      <dsp:spPr>
        <a:xfrm>
          <a:off x="0"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MAX_VALUE</a:t>
          </a:r>
        </a:p>
      </dsp:txBody>
      <dsp:txXfrm>
        <a:off x="0" y="39687"/>
        <a:ext cx="3286125" cy="1971675"/>
      </dsp:txXfrm>
    </dsp:sp>
    <dsp:sp modelId="{E2874CD4-E27F-6D4D-AF3E-0BA502B88C85}">
      <dsp:nvSpPr>
        <dsp:cNvPr id="0" name=""/>
        <dsp:cNvSpPr/>
      </dsp:nvSpPr>
      <dsp:spPr>
        <a:xfrm>
          <a:off x="3614737"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MIN_VALUE</a:t>
          </a:r>
        </a:p>
      </dsp:txBody>
      <dsp:txXfrm>
        <a:off x="3614737" y="39687"/>
        <a:ext cx="3286125" cy="1971675"/>
      </dsp:txXfrm>
    </dsp:sp>
    <dsp:sp modelId="{46BD3462-22A5-B848-B3BF-947443600A3F}">
      <dsp:nvSpPr>
        <dsp:cNvPr id="0" name=""/>
        <dsp:cNvSpPr/>
      </dsp:nvSpPr>
      <dsp:spPr>
        <a:xfrm>
          <a:off x="7229475"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err="1"/>
            <a:t>NaN</a:t>
          </a:r>
          <a:endParaRPr lang="en-GB" sz="2900" kern="1200" dirty="0"/>
        </a:p>
      </dsp:txBody>
      <dsp:txXfrm>
        <a:off x="7229475" y="39687"/>
        <a:ext cx="3286125" cy="1971675"/>
      </dsp:txXfrm>
    </dsp:sp>
    <dsp:sp modelId="{5278F817-5899-5244-957D-90D74475FF53}">
      <dsp:nvSpPr>
        <dsp:cNvPr id="0" name=""/>
        <dsp:cNvSpPr/>
      </dsp:nvSpPr>
      <dsp:spPr>
        <a:xfrm>
          <a:off x="1807368"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NEGATIVE_INFINITY</a:t>
          </a:r>
        </a:p>
      </dsp:txBody>
      <dsp:txXfrm>
        <a:off x="1807368" y="2339975"/>
        <a:ext cx="3286125" cy="1971675"/>
      </dsp:txXfrm>
    </dsp:sp>
    <dsp:sp modelId="{7088EFB0-72B3-8348-9AFC-21329A1C7953}">
      <dsp:nvSpPr>
        <dsp:cNvPr id="0" name=""/>
        <dsp:cNvSpPr/>
      </dsp:nvSpPr>
      <dsp:spPr>
        <a:xfrm>
          <a:off x="5422106"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POSITIVE_INFINITY</a:t>
          </a:r>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05A6E9-FF4C-384A-B7B4-505B04A5AE37}">
      <dsp:nvSpPr>
        <dsp:cNvPr id="0" name=""/>
        <dsp:cNvSpPr/>
      </dsp:nvSpPr>
      <dsp:spPr>
        <a:xfrm>
          <a:off x="0" y="506528"/>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D4F5A90-57FB-7D46-8ACA-77784286DEBB}">
      <dsp:nvSpPr>
        <dsp:cNvPr id="0" name=""/>
        <dsp:cNvSpPr/>
      </dsp:nvSpPr>
      <dsp:spPr>
        <a:xfrm>
          <a:off x="525780" y="19448"/>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a:t>Felder</a:t>
          </a:r>
        </a:p>
      </dsp:txBody>
      <dsp:txXfrm>
        <a:off x="573335" y="67003"/>
        <a:ext cx="7265810" cy="879050"/>
      </dsp:txXfrm>
    </dsp:sp>
    <dsp:sp modelId="{3034F782-9A22-1242-AEDF-EC2E88C0D473}">
      <dsp:nvSpPr>
        <dsp:cNvPr id="0" name=""/>
        <dsp:cNvSpPr/>
      </dsp:nvSpPr>
      <dsp:spPr>
        <a:xfrm>
          <a:off x="0" y="200340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4E23C32B-D4F3-744A-BC62-B4277299AEA4}">
      <dsp:nvSpPr>
        <dsp:cNvPr id="0" name=""/>
        <dsp:cNvSpPr/>
      </dsp:nvSpPr>
      <dsp:spPr>
        <a:xfrm>
          <a:off x="525780" y="151632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Konstruktoren</a:t>
          </a:r>
          <a:endParaRPr lang="en-GB" sz="3300" kern="1200" dirty="0"/>
        </a:p>
      </dsp:txBody>
      <dsp:txXfrm>
        <a:off x="573335" y="1563884"/>
        <a:ext cx="7265810" cy="879050"/>
      </dsp:txXfrm>
    </dsp:sp>
    <dsp:sp modelId="{A4D8D4E7-691F-9E42-92CE-F4F5D0B447C7}">
      <dsp:nvSpPr>
        <dsp:cNvPr id="0" name=""/>
        <dsp:cNvSpPr/>
      </dsp:nvSpPr>
      <dsp:spPr>
        <a:xfrm>
          <a:off x="0" y="350028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C22D886-3319-7642-954B-BB2ED3D676DC}">
      <dsp:nvSpPr>
        <dsp:cNvPr id="0" name=""/>
        <dsp:cNvSpPr/>
      </dsp:nvSpPr>
      <dsp:spPr>
        <a:xfrm>
          <a:off x="525780" y="301320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Funktionen</a:t>
          </a:r>
          <a:endParaRPr lang="en-GB" sz="3300" kern="1200" dirty="0"/>
        </a:p>
      </dsp:txBody>
      <dsp:txXfrm>
        <a:off x="573335" y="3060764"/>
        <a:ext cx="7265810" cy="8790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12C6BB-B581-A24C-A598-548E22C4160C}">
      <dsp:nvSpPr>
        <dsp:cNvPr id="0" name=""/>
        <dsp:cNvSpPr/>
      </dsp:nvSpPr>
      <dsp:spPr>
        <a:xfrm>
          <a:off x="0" y="392355"/>
          <a:ext cx="6262199" cy="110565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Ausgabe der Versionsnummer</a:t>
          </a:r>
          <a:endParaRPr lang="en-US" sz="2600" kern="1200"/>
        </a:p>
      </dsp:txBody>
      <dsp:txXfrm>
        <a:off x="0" y="392355"/>
        <a:ext cx="6262199" cy="1105650"/>
      </dsp:txXfrm>
    </dsp:sp>
    <dsp:sp modelId="{1A7A9926-1BFE-DE44-B993-0CF46A5CEDEE}">
      <dsp:nvSpPr>
        <dsp:cNvPr id="0" name=""/>
        <dsp:cNvSpPr/>
      </dsp:nvSpPr>
      <dsp:spPr>
        <a:xfrm>
          <a:off x="313110" y="8595"/>
          <a:ext cx="4383539" cy="76752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–v</a:t>
          </a:r>
          <a:endParaRPr lang="en-US" sz="2600" kern="1200"/>
        </a:p>
      </dsp:txBody>
      <dsp:txXfrm>
        <a:off x="350577" y="46062"/>
        <a:ext cx="4308605" cy="692586"/>
      </dsp:txXfrm>
    </dsp:sp>
    <dsp:sp modelId="{4D6DC218-DFF5-2347-9AFF-E34732CA7773}">
      <dsp:nvSpPr>
        <dsp:cNvPr id="0" name=""/>
        <dsp:cNvSpPr/>
      </dsp:nvSpPr>
      <dsp:spPr>
        <a:xfrm>
          <a:off x="0" y="202216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Starten der REPL zur Eingabe von JavaScript-Befehlen</a:t>
          </a:r>
          <a:endParaRPr lang="en-US" sz="2600" kern="1200"/>
        </a:p>
      </dsp:txBody>
      <dsp:txXfrm>
        <a:off x="0" y="2022165"/>
        <a:ext cx="6262199" cy="1474199"/>
      </dsp:txXfrm>
    </dsp:sp>
    <dsp:sp modelId="{80B8595D-D10C-0244-912B-73BABA28A137}">
      <dsp:nvSpPr>
        <dsp:cNvPr id="0" name=""/>
        <dsp:cNvSpPr/>
      </dsp:nvSpPr>
      <dsp:spPr>
        <a:xfrm>
          <a:off x="313110" y="1638405"/>
          <a:ext cx="4383539" cy="76752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a:t>
          </a:r>
          <a:endParaRPr lang="en-US" sz="2600" kern="1200"/>
        </a:p>
      </dsp:txBody>
      <dsp:txXfrm>
        <a:off x="350577" y="1675872"/>
        <a:ext cx="4308605" cy="692586"/>
      </dsp:txXfrm>
    </dsp:sp>
    <dsp:sp modelId="{70AC1BE9-E752-CB45-9BE9-DF2E0B230545}">
      <dsp:nvSpPr>
        <dsp:cNvPr id="0" name=""/>
        <dsp:cNvSpPr/>
      </dsp:nvSpPr>
      <dsp:spPr>
        <a:xfrm>
          <a:off x="0" y="402052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Ausführen  der Skript-Datei </a:t>
          </a:r>
          <a:r>
            <a:rPr lang="de-DE" sz="2600" i="1" kern="1200"/>
            <a:t>programm.js </a:t>
          </a:r>
          <a:r>
            <a:rPr lang="de-DE" sz="2600" kern="1200"/>
            <a:t> </a:t>
          </a:r>
          <a:endParaRPr lang="en-US" sz="2600" kern="1200"/>
        </a:p>
      </dsp:txBody>
      <dsp:txXfrm>
        <a:off x="0" y="4020525"/>
        <a:ext cx="6262199" cy="1474199"/>
      </dsp:txXfrm>
    </dsp:sp>
    <dsp:sp modelId="{33EBE219-4BA6-DB46-B160-EEB4B61E8CB5}">
      <dsp:nvSpPr>
        <dsp:cNvPr id="0" name=""/>
        <dsp:cNvSpPr/>
      </dsp:nvSpPr>
      <dsp:spPr>
        <a:xfrm>
          <a:off x="313110" y="3636765"/>
          <a:ext cx="4383539" cy="76752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programm.js</a:t>
          </a:r>
          <a:endParaRPr lang="en-US" sz="2600" kern="1200"/>
        </a:p>
      </dsp:txBody>
      <dsp:txXfrm>
        <a:off x="350577" y="3674232"/>
        <a:ext cx="4308605" cy="69258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07D71C-8DC4-4BB6-8305-5D6236EF6AF4}">
      <dsp:nvSpPr>
        <dsp:cNvPr id="0" name=""/>
        <dsp:cNvSpPr/>
      </dsp:nvSpPr>
      <dsp:spPr>
        <a:xfrm>
          <a:off x="432042" y="1839"/>
          <a:ext cx="3276375" cy="1105874"/>
        </a:xfrm>
        <a:prstGeom prst="roundRect">
          <a:avLst>
            <a:gd name="adj" fmla="val 10000"/>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40640" rIns="60960" bIns="40640" numCol="1" spcCol="1270" anchor="ctr" anchorCtr="0">
          <a:noAutofit/>
        </a:bodyPr>
        <a:lstStyle/>
        <a:p>
          <a:pPr marL="0" lvl="0" indent="0" algn="ctr" defTabSz="1422400">
            <a:lnSpc>
              <a:spcPct val="90000"/>
            </a:lnSpc>
            <a:spcBef>
              <a:spcPct val="0"/>
            </a:spcBef>
            <a:spcAft>
              <a:spcPct val="35000"/>
            </a:spcAft>
            <a:buNone/>
          </a:pPr>
          <a:r>
            <a:rPr lang="de-DE" sz="3200" kern="1200" dirty="0" err="1">
              <a:solidFill>
                <a:schemeClr val="tx1"/>
              </a:solidFill>
            </a:rPr>
            <a:t>project-root</a:t>
          </a:r>
          <a:endParaRPr lang="de-DE" sz="3200" kern="1200" dirty="0">
            <a:solidFill>
              <a:schemeClr val="tx1"/>
            </a:solidFill>
          </a:endParaRPr>
        </a:p>
      </dsp:txBody>
      <dsp:txXfrm>
        <a:off x="464432" y="34229"/>
        <a:ext cx="3211595" cy="1041094"/>
      </dsp:txXfrm>
    </dsp:sp>
    <dsp:sp modelId="{FE972E17-81E7-4DC9-8BB9-241D4556144A}">
      <dsp:nvSpPr>
        <dsp:cNvPr id="0" name=""/>
        <dsp:cNvSpPr/>
      </dsp:nvSpPr>
      <dsp:spPr>
        <a:xfrm>
          <a:off x="759679" y="1107714"/>
          <a:ext cx="327637" cy="829406"/>
        </a:xfrm>
        <a:custGeom>
          <a:avLst/>
          <a:gdLst/>
          <a:ahLst/>
          <a:cxnLst/>
          <a:rect l="0" t="0" r="0" b="0"/>
          <a:pathLst>
            <a:path>
              <a:moveTo>
                <a:pt x="0" y="0"/>
              </a:moveTo>
              <a:lnTo>
                <a:pt x="0" y="829406"/>
              </a:lnTo>
              <a:lnTo>
                <a:pt x="327637" y="829406"/>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C03CB49A-CA21-4561-9CA0-7967197F9B89}">
      <dsp:nvSpPr>
        <dsp:cNvPr id="0" name=""/>
        <dsp:cNvSpPr/>
      </dsp:nvSpPr>
      <dsp:spPr>
        <a:xfrm>
          <a:off x="1087317" y="1384182"/>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ctr" defTabSz="755650">
            <a:lnSpc>
              <a:spcPct val="90000"/>
            </a:lnSpc>
            <a:spcBef>
              <a:spcPct val="0"/>
            </a:spcBef>
            <a:spcAft>
              <a:spcPct val="35000"/>
            </a:spcAft>
            <a:buNone/>
          </a:pPr>
          <a:r>
            <a:rPr lang="de-DE" sz="1700" kern="1200" dirty="0" err="1"/>
            <a:t>package.json</a:t>
          </a:r>
          <a:endParaRPr lang="de-DE" sz="1700" kern="1200" dirty="0"/>
        </a:p>
      </dsp:txBody>
      <dsp:txXfrm>
        <a:off x="1119707" y="1416572"/>
        <a:ext cx="1704619" cy="1041094"/>
      </dsp:txXfrm>
    </dsp:sp>
    <dsp:sp modelId="{EC0960B8-D78E-4984-805C-5C0B1C40DBDE}">
      <dsp:nvSpPr>
        <dsp:cNvPr id="0" name=""/>
        <dsp:cNvSpPr/>
      </dsp:nvSpPr>
      <dsp:spPr>
        <a:xfrm>
          <a:off x="759679" y="1107714"/>
          <a:ext cx="327637" cy="2211749"/>
        </a:xfrm>
        <a:custGeom>
          <a:avLst/>
          <a:gdLst/>
          <a:ahLst/>
          <a:cxnLst/>
          <a:rect l="0" t="0" r="0" b="0"/>
          <a:pathLst>
            <a:path>
              <a:moveTo>
                <a:pt x="0" y="0"/>
              </a:moveTo>
              <a:lnTo>
                <a:pt x="0" y="2211749"/>
              </a:lnTo>
              <a:lnTo>
                <a:pt x="327637" y="22117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8CE943E3-F1AB-4E0A-BBA8-1A2B8AFF0336}">
      <dsp:nvSpPr>
        <dsp:cNvPr id="0" name=""/>
        <dsp:cNvSpPr/>
      </dsp:nvSpPr>
      <dsp:spPr>
        <a:xfrm>
          <a:off x="1087317" y="2766526"/>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src</a:t>
          </a:r>
          <a:endParaRPr lang="de-DE" sz="1700" kern="1200" dirty="0"/>
        </a:p>
        <a:p>
          <a:pPr marL="114300" lvl="1" indent="-114300" algn="l" defTabSz="577850">
            <a:lnSpc>
              <a:spcPct val="90000"/>
            </a:lnSpc>
            <a:spcBef>
              <a:spcPct val="0"/>
            </a:spcBef>
            <a:spcAft>
              <a:spcPct val="15000"/>
            </a:spcAft>
            <a:buChar char="•"/>
          </a:pPr>
          <a:r>
            <a:rPr lang="de-DE" sz="1300" kern="1200" dirty="0"/>
            <a:t>script1</a:t>
          </a:r>
        </a:p>
        <a:p>
          <a:pPr marL="114300" lvl="1" indent="-114300" algn="l" defTabSz="577850">
            <a:lnSpc>
              <a:spcPct val="90000"/>
            </a:lnSpc>
            <a:spcBef>
              <a:spcPct val="0"/>
            </a:spcBef>
            <a:spcAft>
              <a:spcPct val="15000"/>
            </a:spcAft>
            <a:buChar char="•"/>
          </a:pPr>
          <a:r>
            <a:rPr lang="de-DE" sz="1300" kern="1200" dirty="0"/>
            <a:t>script2</a:t>
          </a:r>
        </a:p>
        <a:p>
          <a:pPr marL="114300" lvl="1" indent="-114300" algn="l" defTabSz="577850">
            <a:lnSpc>
              <a:spcPct val="90000"/>
            </a:lnSpc>
            <a:spcBef>
              <a:spcPct val="0"/>
            </a:spcBef>
            <a:spcAft>
              <a:spcPct val="15000"/>
            </a:spcAft>
            <a:buChar char="•"/>
          </a:pPr>
          <a:r>
            <a:rPr lang="de-DE" sz="1300" kern="1200" dirty="0"/>
            <a:t>…</a:t>
          </a:r>
        </a:p>
      </dsp:txBody>
      <dsp:txXfrm>
        <a:off x="1119707" y="2798916"/>
        <a:ext cx="1704619" cy="1041094"/>
      </dsp:txXfrm>
    </dsp:sp>
    <dsp:sp modelId="{5A45C53C-7725-48D9-A02E-81B437FBB969}">
      <dsp:nvSpPr>
        <dsp:cNvPr id="0" name=""/>
        <dsp:cNvSpPr/>
      </dsp:nvSpPr>
      <dsp:spPr>
        <a:xfrm>
          <a:off x="759679" y="1107714"/>
          <a:ext cx="327637" cy="3594093"/>
        </a:xfrm>
        <a:custGeom>
          <a:avLst/>
          <a:gdLst/>
          <a:ahLst/>
          <a:cxnLst/>
          <a:rect l="0" t="0" r="0" b="0"/>
          <a:pathLst>
            <a:path>
              <a:moveTo>
                <a:pt x="0" y="0"/>
              </a:moveTo>
              <a:lnTo>
                <a:pt x="0" y="3594093"/>
              </a:lnTo>
              <a:lnTo>
                <a:pt x="327637" y="3594093"/>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F47786B8-D1FB-42D9-A2B7-99A3BE6B2E5F}">
      <dsp:nvSpPr>
        <dsp:cNvPr id="0" name=""/>
        <dsp:cNvSpPr/>
      </dsp:nvSpPr>
      <dsp:spPr>
        <a:xfrm>
          <a:off x="1087317" y="4148869"/>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node</a:t>
          </a:r>
          <a:r>
            <a:rPr lang="de-DE" sz="1700" kern="1200" dirty="0"/>
            <a:t>-modules</a:t>
          </a:r>
        </a:p>
        <a:p>
          <a:pPr marL="114300" lvl="1" indent="-114300" algn="l" defTabSz="577850">
            <a:lnSpc>
              <a:spcPct val="90000"/>
            </a:lnSpc>
            <a:spcBef>
              <a:spcPct val="0"/>
            </a:spcBef>
            <a:spcAft>
              <a:spcPct val="15000"/>
            </a:spcAft>
            <a:buChar char="•"/>
          </a:pPr>
          <a:r>
            <a:rPr lang="de-DE" sz="1300" kern="1200" dirty="0"/>
            <a:t>module1</a:t>
          </a:r>
        </a:p>
        <a:p>
          <a:pPr marL="114300" lvl="1" indent="-114300" algn="l" defTabSz="577850">
            <a:lnSpc>
              <a:spcPct val="90000"/>
            </a:lnSpc>
            <a:spcBef>
              <a:spcPct val="0"/>
            </a:spcBef>
            <a:spcAft>
              <a:spcPct val="15000"/>
            </a:spcAft>
            <a:buChar char="•"/>
          </a:pPr>
          <a:r>
            <a:rPr lang="de-DE" sz="1300" kern="1200" dirty="0"/>
            <a:t>module2</a:t>
          </a:r>
        </a:p>
        <a:p>
          <a:pPr marL="114300" lvl="1" indent="-114300" algn="l" defTabSz="577850">
            <a:lnSpc>
              <a:spcPct val="90000"/>
            </a:lnSpc>
            <a:spcBef>
              <a:spcPct val="0"/>
            </a:spcBef>
            <a:spcAft>
              <a:spcPct val="15000"/>
            </a:spcAft>
            <a:buChar char="•"/>
          </a:pPr>
          <a:r>
            <a:rPr lang="de-DE" sz="1300" kern="1200" dirty="0"/>
            <a:t>…</a:t>
          </a:r>
        </a:p>
      </dsp:txBody>
      <dsp:txXfrm>
        <a:off x="1119707" y="4181259"/>
        <a:ext cx="1704619" cy="1041094"/>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6">
  <dgm:title val=""/>
  <dgm:desc val=""/>
  <dgm:catLst>
    <dgm:cat type="3D" pri="11600"/>
  </dgm:catLst>
  <dgm:scene3d>
    <a:camera prst="perspectiveRelaxedModerately" zoom="92000"/>
    <a:lightRig rig="balanced" dir="t">
      <a:rot lat="0" lon="0" rev="12700000"/>
    </a:lightRig>
  </dgm:scene3d>
  <dgm:styleLbl name="node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l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ven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tx1"/>
      </a:fontRef>
    </dgm:style>
  </dgm:styleLbl>
  <dgm:styleLbl name="alignNode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a:schemeClr val="lt1"/>
      </a:fontRef>
    </dgm:style>
  </dgm:styleLbl>
  <dgm:styleLbl name="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4">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fgImgPlace1">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z="-54000" prstMaterial="plastic">
      <a:bevelT w="50800" h="50800"/>
      <a:bevelB w="50800" h="50800"/>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z="-2540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fgSibTrans2D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bgSibTrans2D1">
    <dgm:scene3d>
      <a:camera prst="orthographicFront"/>
      <a:lightRig rig="threePt" dir="t"/>
    </dgm:scene3d>
    <dgm:sp3d z="-54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sibTrans1D1">
    <dgm:scene3d>
      <a:camera prst="orthographicFront"/>
      <a:lightRig rig="threePt" dir="t"/>
    </dgm:scene3d>
    <dgm:sp3d z="-25400" prstMaterial="plastic"/>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75000" prstMaterial="plastic"/>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parChTrans2D1">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3">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4">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1D1">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2">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3">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4">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fgAcc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sp3d z="50080" prstMaterial="plastic">
      <a:bevelT w="25400" h="25400"/>
      <a:bevelB w="25400" h="25400"/>
    </dgm:sp3d>
    <dgm:txPr/>
    <dgm:style>
      <a:lnRef idx="0">
        <a:scrgbClr r="0" g="0" b="0"/>
      </a:lnRef>
      <a:fillRef idx="1">
        <a:scrgbClr r="0" g="0" b="0"/>
      </a:fillRef>
      <a:effectRef idx="2">
        <a:scrgbClr r="0" g="0" b="0"/>
      </a:effectRef>
      <a:fontRef idx="minor"/>
    </dgm:style>
  </dgm:styleLbl>
  <dgm:styleLbl name="alignAccFollowNode1">
    <dgm:scene3d>
      <a:camera prst="orthographicFront"/>
      <a:lightRig rig="threePt" dir="t"/>
    </dgm:scene3d>
    <dgm:sp3d prstMaterial="plastic">
      <a:bevelT w="25400" h="25400"/>
      <a:bevelB w="25400" h="25400"/>
    </dgm:sp3d>
    <dgm:txPr/>
    <dgm:style>
      <a:lnRef idx="0">
        <a:scrgbClr r="0" g="0" b="0"/>
      </a:lnRef>
      <a:fillRef idx="1">
        <a:scrgbClr r="0" g="0" b="0"/>
      </a:fillRef>
      <a:effectRef idx="2">
        <a:scrgbClr r="0" g="0" b="0"/>
      </a:effectRef>
      <a:fontRef idx="minor"/>
    </dgm:style>
  </dgm:styleLbl>
  <dgm:styleLbl name="bgAccFollowNode1">
    <dgm:scene3d>
      <a:camera prst="orthographicFront"/>
      <a:lightRig rig="threePt" dir="t"/>
    </dgm:scene3d>
    <dgm:sp3d z="-152400" prstMaterial="plastic">
      <a:bevelT w="25400" h="25400"/>
      <a:bevelB w="25400" h="25400"/>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52400" prstMaterial="plastic">
      <a:bevelT w="25400" h="25400"/>
      <a:bevelB w="25400" h="25400"/>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z="-10400" extrusionH="12700" prstMaterial="plastic"/>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1">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PlaceHolder 1"/>
          <p:cNvSpPr>
            <a:spLocks noGrp="1" noRot="1" noChangeAspect="1"/>
          </p:cNvSpPr>
          <p:nvPr>
            <p:ph type="sldImg"/>
          </p:nvPr>
        </p:nvSpPr>
        <p:spPr>
          <a:xfrm>
            <a:off x="685800" y="1143000"/>
            <a:ext cx="5484960" cy="3084840"/>
          </a:xfrm>
          <a:prstGeom prst="rect">
            <a:avLst/>
          </a:prstGeom>
          <a:ln w="0">
            <a:noFill/>
          </a:ln>
        </p:spPr>
      </p:sp>
      <p:sp>
        <p:nvSpPr>
          <p:cNvPr id="127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 Hierarchy“ (Typ-Hierarchie).</a:t>
            </a:r>
          </a:p>
          <a:p/>
          <a:p>
            <a:r>
              <a:t>Diese Folie zeigt vermutlich grafisch, wie die verschiedenen Datentypen in TypeScript zueinander stehen (z. B. „any“ als Basistyp, der alles zulässt, darunter konkrete Typen wie „number“, „string“, „boolean“, Objekte, Arrays, usw.). Wichtig für das Verständnis: TypeScript prüft anhand dieser Hierarchie, ob eine Zuweisung erlaubt ist oder einen Fehler auslöst.</a:t>
            </a:r>
          </a:p>
        </p:txBody>
      </p:sp>
      <p:sp>
        <p:nvSpPr>
          <p:cNvPr id="1272" name="PlaceHolder 3"/>
          <p:cNvSpPr>
            <a:spLocks noGrp="1"/>
          </p:cNvSpPr>
          <p:nvPr>
            <p:ph type="sldNum" idx="6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DC6DE11F-4E5D-4CC3-BD3B-3978DE8BC536}" type="slidenum">
              <a:rPr lang="de-DE" sz="1200" b="0" u="none" strike="noStrike">
                <a:solidFill>
                  <a:srgbClr val="000000"/>
                </a:solidFill>
                <a:uFillTx/>
                <a:latin typeface="Times New Roman"/>
              </a:rPr>
              <a:t>10</a:t>
            </a:fld>
            <a:endParaRPr lang="de-DE" sz="1200" b="0" u="none" strike="noStrike">
              <a:solidFill>
                <a:srgbClr val="000000"/>
              </a:solidFill>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3" name="PlaceHolder 1"/>
          <p:cNvSpPr>
            <a:spLocks noGrp="1" noRot="1" noChangeAspect="1"/>
          </p:cNvSpPr>
          <p:nvPr>
            <p:ph type="sldImg"/>
          </p:nvPr>
        </p:nvSpPr>
        <p:spPr>
          <a:xfrm>
            <a:off x="685800" y="1143000"/>
            <a:ext cx="5484960" cy="3084840"/>
          </a:xfrm>
          <a:prstGeom prst="rect">
            <a:avLst/>
          </a:prstGeom>
          <a:ln w="0">
            <a:noFill/>
          </a:ln>
        </p:spPr>
      </p:sp>
      <p:sp>
        <p:nvSpPr>
          <p:cNvPr id="127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„Schnittstellen – Interfaces“.</a:t>
            </a:r>
          </a:p>
          <a:p/>
          <a:p>
            <a:r>
              <a:t>Ein Interface beschreibt nur, welche Eigenschaften und Methoden-Signaturen etwas haben muss (die „externe Sicht“), aber nicht, wie diese intern umgesetzt sind. Es legt also einen Vertrag fest, den eine Klasse einhalten muss, ohne selbst Programmlogik zu enthalten.</a:t>
            </a:r>
          </a:p>
        </p:txBody>
      </p:sp>
      <p:sp>
        <p:nvSpPr>
          <p:cNvPr id="1275" name="PlaceHolder 3"/>
          <p:cNvSpPr>
            <a:spLocks noGrp="1"/>
          </p:cNvSpPr>
          <p:nvPr>
            <p:ph type="sldNum" idx="7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F9B3933-6D97-4A47-B86C-0466C1C1768E}" type="slidenum">
              <a:rPr lang="de-DE" sz="1200" b="0" u="none" strike="noStrike">
                <a:solidFill>
                  <a:schemeClr val="dk1"/>
                </a:solidFill>
                <a:uFillTx/>
                <a:latin typeface="Arial"/>
              </a:rPr>
              <a:t>40</a:t>
            </a:fld>
            <a:endParaRPr lang="de-DE" sz="1200" b="0" u="none" strike="noStrike">
              <a:solidFill>
                <a:srgbClr val="000000"/>
              </a:solidFill>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6" name="PlaceHolder 1"/>
          <p:cNvSpPr>
            <a:spLocks noGrp="1" noRot="1" noChangeAspect="1"/>
          </p:cNvSpPr>
          <p:nvPr>
            <p:ph type="sldImg"/>
          </p:nvPr>
        </p:nvSpPr>
        <p:spPr>
          <a:xfrm>
            <a:off x="685800" y="1143000"/>
            <a:ext cx="5484960" cy="3084840"/>
          </a:xfrm>
          <a:prstGeom prst="rect">
            <a:avLst/>
          </a:prstGeom>
          <a:ln w="0">
            <a:noFill/>
          </a:ln>
        </p:spPr>
      </p:sp>
      <p:sp>
        <p:nvSpPr>
          <p:cNvPr id="127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„Beispiel Interface“ – kündigt die folgenden zwei Codebeispiele zu Interfaces an.</a:t>
            </a:r>
          </a:p>
        </p:txBody>
      </p:sp>
      <p:sp>
        <p:nvSpPr>
          <p:cNvPr id="1278" name="PlaceHolder 3"/>
          <p:cNvSpPr>
            <a:spLocks noGrp="1"/>
          </p:cNvSpPr>
          <p:nvPr>
            <p:ph type="sldNum" idx="7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E17C355-1F96-4E6E-8215-2CB69B9D0FF1}" type="slidenum">
              <a:rPr lang="de-DE" sz="1200" b="0" u="none" strike="noStrike">
                <a:solidFill>
                  <a:schemeClr val="dk1"/>
                </a:solidFill>
                <a:uFillTx/>
                <a:latin typeface="Arial"/>
              </a:rPr>
              <a:t>43</a:t>
            </a:fld>
            <a:endParaRPr lang="de-DE" sz="1200" b="0" u="none" strike="noStrike">
              <a:solidFill>
                <a:srgbClr val="000000"/>
              </a:solidFill>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9" name="PlaceHolder 1"/>
          <p:cNvSpPr>
            <a:spLocks noGrp="1" noRot="1" noChangeAspect="1"/>
          </p:cNvSpPr>
          <p:nvPr>
            <p:ph type="sldImg"/>
          </p:nvPr>
        </p:nvSpPr>
        <p:spPr>
          <a:xfrm>
            <a:off x="685800" y="1143000"/>
            <a:ext cx="5484960" cy="3084840"/>
          </a:xfrm>
          <a:prstGeom prst="rect">
            <a:avLst/>
          </a:prstGeom>
          <a:ln w="0">
            <a:noFill/>
          </a:ln>
        </p:spPr>
      </p:sp>
      <p:sp>
        <p:nvSpPr>
          <p:cNvPr id="128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„Sichtbarkeit“ – die drei Zugriffsstufen für Eigenschaften/Methoden. „public“: von überall zugreifbar. „protected“: nur von der eigenen Klasse und ihren Unterklassen (Vererbung) zugreifbar. „private“: nur innerhalb der eigenen Klasse selbst zugreifbar, nicht einmal von Unterklassen.</a:t>
            </a:r>
          </a:p>
        </p:txBody>
      </p:sp>
      <p:sp>
        <p:nvSpPr>
          <p:cNvPr id="1281" name="PlaceHolder 3"/>
          <p:cNvSpPr>
            <a:spLocks noGrp="1"/>
          </p:cNvSpPr>
          <p:nvPr>
            <p:ph type="sldNum" idx="7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B2AD8DC-9C85-4430-9816-F231AC4EBF42}" type="slidenum">
              <a:rPr lang="de-DE" sz="1200" b="0" u="none" strike="noStrike">
                <a:solidFill>
                  <a:schemeClr val="dk1"/>
                </a:solidFill>
                <a:uFillTx/>
                <a:latin typeface="Arial"/>
              </a:rPr>
              <a:t>52</a:t>
            </a:fld>
            <a:endParaRPr lang="de-DE" sz="1200" b="0" u="none" strike="noStrike">
              <a:solidFill>
                <a:srgbClr val="000000"/>
              </a:solidFill>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2" name="PlaceHolder 1"/>
          <p:cNvSpPr>
            <a:spLocks noGrp="1" noRot="1" noChangeAspect="1"/>
          </p:cNvSpPr>
          <p:nvPr>
            <p:ph type="sldImg"/>
          </p:nvPr>
        </p:nvSpPr>
        <p:spPr>
          <a:xfrm>
            <a:off x="685800" y="1143000"/>
            <a:ext cx="5484960" cy="3084840"/>
          </a:xfrm>
          <a:prstGeom prst="rect">
            <a:avLst/>
          </a:prstGeom>
          <a:ln w="0">
            <a:noFill/>
          </a:ln>
        </p:spPr>
      </p:sp>
      <p:sp>
        <p:nvSpPr>
          <p:cNvPr id="128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Zwischenfolie ohne eigenen Text – vermutlich ergänzendes Diagramm oder Bild zum vorherigen Getter/Setter-Thema.</a:t>
            </a:r>
          </a:p>
        </p:txBody>
      </p:sp>
      <p:sp>
        <p:nvSpPr>
          <p:cNvPr id="1284" name="PlaceHolder 3"/>
          <p:cNvSpPr>
            <a:spLocks noGrp="1"/>
          </p:cNvSpPr>
          <p:nvPr>
            <p:ph type="sldNum" idx="7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C4EE87C-AE95-45FF-94CA-FBAB221F952C}" type="slidenum">
              <a:rPr lang="de-DE" sz="1200" b="0" u="none" strike="noStrike">
                <a:solidFill>
                  <a:schemeClr val="dk1"/>
                </a:solidFill>
                <a:uFillTx/>
                <a:latin typeface="Arial"/>
              </a:rPr>
              <a:t>57</a:t>
            </a:fld>
            <a:endParaRPr lang="de-DE" sz="1200" b="0" u="none" strike="noStrike">
              <a:solidFill>
                <a:srgbClr val="000000"/>
              </a:solidFill>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5" name="PlaceHolder 1"/>
          <p:cNvSpPr>
            <a:spLocks noGrp="1" noRot="1" noChangeAspect="1"/>
          </p:cNvSpPr>
          <p:nvPr>
            <p:ph type="sldImg"/>
          </p:nvPr>
        </p:nvSpPr>
        <p:spPr>
          <a:xfrm>
            <a:off x="685800" y="1143000"/>
            <a:ext cx="5484960" cy="3084840"/>
          </a:xfrm>
          <a:prstGeom prst="rect">
            <a:avLst/>
          </a:prstGeom>
          <a:ln w="0">
            <a:noFill/>
          </a:ln>
        </p:spPr>
      </p:sp>
      <p:sp>
        <p:nvSpPr>
          <p:cNvPr id="128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„Vererbung“ – leitet das Thema Klassenvererbung ein.</a:t>
            </a:r>
          </a:p>
        </p:txBody>
      </p:sp>
      <p:sp>
        <p:nvSpPr>
          <p:cNvPr id="1287" name="PlaceHolder 3"/>
          <p:cNvSpPr>
            <a:spLocks noGrp="1"/>
          </p:cNvSpPr>
          <p:nvPr>
            <p:ph type="sldNum" idx="7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F9ED2B1D-6EB8-40F5-9588-8B45348A3605}" type="slidenum">
              <a:rPr lang="de-DE" sz="1200" b="0" u="none" strike="noStrike">
                <a:solidFill>
                  <a:schemeClr val="dk1"/>
                </a:solidFill>
                <a:uFillTx/>
                <a:latin typeface="Arial"/>
              </a:rPr>
              <a:t>59</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„Einrichten von TypeScript – Installation“.</a:t>
            </a:r>
          </a:p>
          <a:p/>
          <a:p>
            <a:r>
              <a:t>Bevor man TypeScript nutzen kann, muss es als Werkzeug auf dem Rechner installiert werden. Diese Folie leitet den praktischen Teil ein: Wie bekomme ich TypeScript und die Hilfswerkzeuge auf meinen Computer, damit ich Übungen im Kurs überhaupt ausführen kann.</a:t>
            </a:r>
          </a:p>
        </p:txBody>
      </p:sp>
      <p:sp>
        <p:nvSpPr>
          <p:cNvPr id="4" name="Slide Number Placeholder 3"/>
          <p:cNvSpPr>
            <a:spLocks noGrp="1"/>
          </p:cNvSpPr>
          <p:nvPr>
            <p:ph type="sldNum" idx="66"/>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„Benötigte Komponenten“.</a:t>
            </a:r>
          </a:p>
          <a:p/>
          <a:p>
            <a:r>
              <a:t>Es werden zwei Werkzeuge installiert: 1) das Paket „typescript“ selbst, über den Befehl „npm install typescript --save-dev“. „npm“ (Node Package Manager) ist das Standard-Werkzeug, mit dem man JavaScript- und TypeScript-Bibliotheken herunterlädt; „--save-dev“ bedeutet, das Paket wird nur für die Entwicklung gebraucht, nicht für die spätere fertige Anwendung. Alternativ kann man TypeScript auch global auf dem Rechner installieren mit „npm install -g typescript“ (dann steht der Befehl „tsc“ überall zur Verfügung, nicht nur in einem Projekt). 2) Der „Lite-Server“: ein sehr einfacher lokaler Webserver, der die HTML-Datei im Browser anzeigt und automatisch neu lädt, wenn sich Dateien ändern. Fachbegriff: „npm“ als Eigenname buchstabieren oder feste Kursgebärde nutzen; „package“ = Paket/Softwarepaket.</a:t>
            </a:r>
          </a:p>
        </p:txBody>
      </p:sp>
      <p:sp>
        <p:nvSpPr>
          <p:cNvPr id="4" name="Slide Number Placeholder 3"/>
          <p:cNvSpPr>
            <a:spLocks noGrp="1"/>
          </p:cNvSpPr>
          <p:nvPr>
            <p:ph type="sldNum" idx="66"/>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„Konfiguration des TypeScript-Compilers“.</a:t>
            </a:r>
          </a:p>
          <a:p/>
          <a:p>
            <a:r>
              <a:t>Ein „Compiler“ übersetzt hier den TypeScript-Code in normales JavaScript, das der Browser tatsächlich ausführen kann (Browser verstehen kein TypeScript direkt). Mit dem Befehl „tsc --init“ wird eine Konfigurationsdatei namens „tsconfig.json“ erzeugt. In dieser Datei stehen alle Einstellungen für den Compiler, zum Beispiel: in welche JavaScript-Version übersetzt werden soll, wie streng die Typprüfung ist, welcher Ordner die Ausgabe bekommt usw. Man muss diese Datei nicht von Hand schreiben, sie wird generiert und dann angepasst.</a:t>
            </a:r>
          </a:p>
        </p:txBody>
      </p:sp>
      <p:sp>
        <p:nvSpPr>
          <p:cNvPr id="4" name="Slide Number Placeholder 3"/>
          <p:cNvSpPr>
            <a:spLocks noGrp="1"/>
          </p:cNvSpPr>
          <p:nvPr>
            <p:ph type="sldNum" idx="66"/>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„Scripts der package.json“.</a:t>
            </a:r>
          </a:p>
          <a:p/>
          <a:p>
            <a:r>
              <a:t>Die Datei „package.json“ beschreibt ein Node-/npm-Projekt: welche Pakete gebraucht werden und welche Kurzbefehle (Scripts) es gibt. Hier sind drei Scripts zu sehen: „serve“ startet den Lite-Server, „compile“ übersetzt den TypeScript-Code einmalig in JavaScript in den Ordner „dist“, und „compile-watch“ macht das Gleiche, bleibt aber aktiv und übersetzt automatisch neu, sobald eine Datei gespeichert wird (das „-w“ steht für „watch“, also „beobachten“). Diese Scripts ruft man später mit „npm run &lt;name&gt;“ auf, z. B. „npm run compile-watch“.</a:t>
            </a:r>
          </a:p>
        </p:txBody>
      </p:sp>
      <p:sp>
        <p:nvSpPr>
          <p:cNvPr id="4" name="Slide Number Placeholder 3"/>
          <p:cNvSpPr>
            <a:spLocks noGrp="1"/>
          </p:cNvSpPr>
          <p:nvPr>
            <p:ph type="sldNum" idx="66"/>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„Benutzung“.</a:t>
            </a:r>
          </a:p>
          <a:p/>
          <a:p>
            <a:r>
              <a:t>Mit dem Befehl „npm start“ werden mehrere Dinge gleichzeitig angestoßen: der TypeScript-Compiler im Watch-Modus (übersetzt bei jeder Änderung automatisch neu) sowie der Lite-Server mit „Browser-Sync“. „Browser-Sync“ bedeutet, dass der Browser automatisch die Seite neu lädt, sobald sich der übersetzte JavaScript-Code geändert hat – man muss also nicht mehr selbst im Browser aktualisieren. Zusätzlich öffnet der Befehl automatisch den Standard-Browser mit der Beispielseite.</a:t>
            </a:r>
          </a:p>
        </p:txBody>
      </p:sp>
      <p:sp>
        <p:nvSpPr>
          <p:cNvPr id="4" name="Slide Number Placeholder 3"/>
          <p:cNvSpPr>
            <a:spLocks noGrp="1"/>
          </p:cNvSpPr>
          <p:nvPr>
            <p:ph type="sldNum" idx="66"/>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(vermutlich ein Bild/Diagramm zur Einordnung von TypeScript, z. B. Verhältnis TypeScript zu JavaScript). Kurz die Bildidee mündlich zusammenfassen, sofern im Vortrag ergänzt: TypeScript liegt als zusätzliche Schicht über JavaScript und wird zu JavaScript kompiliert.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Hier werden die Beweggründe erläutert, warum man TypeScript statt reinem JavaScript einsetzt: vor allem die statische Typisierung (Fehler wie „ich übergebe versehentlich einen Text statt einer Zahl“ werden schon beim Schreiben des Codes im Editor erkannt, nicht erst zur Laufzeit beim Nutzer), bessere Werkzeugunterstützung in der Entwicklungsumgebung (Auto-Vervollständigung, Refactoring), und dadurch insgesamt wartbarerer Code bei größeren Projekten – was bei einer Anwendung mit vielen Komponenten wie unserer Rechnungs-/Kunden-App im Kurs sehr hilfreich ist.</a:t>
            </a:r>
          </a:p>
        </p:txBody>
      </p:sp>
      <p:sp>
        <p:nvSpPr>
          <p:cNvPr id="4" name="Slide Number Placeholder 3"/>
          <p:cNvSpPr>
            <a:spLocks noGrp="1"/>
          </p:cNvSpPr>
          <p:nvPr>
            <p:ph type="sldNum" idx="66"/>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„Spezielle Typen“: null und undefined.</a:t>
            </a:r>
          </a:p>
          <a:p/>
          <a:p>
            <a:r>
              <a:t>„null“ bedeutet: Eine Eigenschaft ist bewusst gesetzt worden, aber auf „kein Wert“ (man hat also aktiv entschieden: hier ist nichts). „undefined“ bedeutet: Eine Eigenschaft oder Funktion wurde gar nicht erst vergeben/definiert – der Wert wurde also nie gesetzt. Das ist ein feiner, aber wichtiger Unterschied: „null“ = absichtlich leer, „undefined“ = noch nie befüllt. Beide Konzepte tauchen im Kurs später wieder auf, z. B. wenn eine Kundenauswahl noch nicht getroffen wurde (undefined) oder explizit zurückgesetzt wird (null).</a:t>
            </a:r>
          </a:p>
        </p:txBody>
      </p:sp>
      <p:sp>
        <p:nvSpPr>
          <p:cNvPr id="4" name="Slide Number Placeholder 3"/>
          <p:cNvSpPr>
            <a:spLocks noGrp="1"/>
          </p:cNvSpPr>
          <p:nvPr>
            <p:ph type="sldNum" idx="66"/>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„Variablen Deklaration“ – die grundsätzliche Syntax, wie man in TypeScript eine Variable anlegt.</a:t>
            </a:r>
          </a:p>
          <a:p/>
          <a:p>
            <a:r>
              <a:t>Gezeigt werden vier Schreibweisen mit dem Schlüsselwort „var“ (der älteste, heute nicht mehr empfohlene Weg, siehe spätere Folien zu Scoping-Problemen): mit Namen und Typ und Wert, nur Name und Typ (ohne Startwert), nur Name und Wert (Typ wird automatisch erkannt), oder nur der Name allein. Die eckigen Klammern in der Syntax-Notation bedeuten „optional“, sie sind nicht Teil des echten Codes.</a:t>
            </a:r>
          </a:p>
        </p:txBody>
      </p:sp>
      <p:sp>
        <p:nvSpPr>
          <p:cNvPr id="4" name="Slide Number Placeholder 3"/>
          <p:cNvSpPr>
            <a:spLocks noGrp="1"/>
          </p:cNvSpPr>
          <p:nvPr>
            <p:ph type="sldNum" idx="66"/>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„Typisierte Deklaration von Variablen“.</a:t>
            </a:r>
          </a:p>
          <a:p/>
          <a:p>
            <a:r>
              <a:t>Zwei Möglichkeiten, einer Variable einen Typ zu geben: Explizite Typisierung, z. B. „let name: string“ – hier wird der Typ direkt hingeschrieben. Oder „Type Inference“ (Typ-Ableitung): Man schreibt gar keinen Typ hin, sondern TypeScript erkennt den Typ automatisch anhand des zugewiesenen Wertes, z. B. wenn man „let state = true“ schreibt, weiß TypeScript automatisch: das ist ein „boolean“ (Wahrheitswert).</a:t>
            </a:r>
          </a:p>
        </p:txBody>
      </p:sp>
      <p:sp>
        <p:nvSpPr>
          <p:cNvPr id="4" name="Slide Number Placeholder 3"/>
          <p:cNvSpPr>
            <a:spLocks noGrp="1"/>
          </p:cNvSpPr>
          <p:nvPr>
            <p:ph type="sldNum" idx="66"/>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„Deklaration von Variablen mit const und let“.</a:t>
            </a:r>
          </a:p>
          <a:p/>
          <a:p>
            <a:r>
              <a:t>Das sind die beiden modernen Schlüsselwörter, die „var“ ersetzt haben. „let“ deklariert eine Variable, deren Wert später noch verändert werden darf. „const“ deklariert eine Konstante, deren Wert nach der ersten Zuweisung nicht mehr geändert werden kann – ein erneuter Zuweisungsversuch führt zu einem Fehler. Als Faustregel im Kurs: „const“ ist der Standard-Fall, „let“ nutzt man nur, wenn sich der Wert wirklich ändern muss.</a:t>
            </a:r>
          </a:p>
        </p:txBody>
      </p:sp>
      <p:sp>
        <p:nvSpPr>
          <p:cNvPr id="4" name="Slide Number Placeholder 3"/>
          <p:cNvSpPr>
            <a:spLocks noGrp="1"/>
          </p:cNvSpPr>
          <p:nvPr>
            <p:ph type="sldNum" idx="66"/>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 Samples“ – konkretes Codebeispiel.</a:t>
            </a:r>
          </a:p>
          <a:p/>
          <a:p>
            <a:r>
              <a:t>Zeile für Zeile: „var message: string = "Hello Typescript";“ legt eine Variable „message“ vom Typ Text an und gibt ihr direkt einen Startwert. „console.log(message);“ gibt den Inhalt der Variable in der Entwicklerkonsole des Browsers aus (das gängige Werkzeug zum Debuggen/Ausprobieren). Darunter eine Funktion „f()“, die eine eigene, zweite Variable ebenfalls „message“ nennt – das zeigt, dass Variablen innerhalb einer Funktion einen eigenen, abgeschotteten Gültigkeitsbereich haben können (Vorbereitung auf die nächsten Folien zum Thema Scoping).</a:t>
            </a:r>
          </a:p>
        </p:txBody>
      </p:sp>
      <p:sp>
        <p:nvSpPr>
          <p:cNvPr id="4" name="Slide Number Placeholder 3"/>
          <p:cNvSpPr>
            <a:spLocks noGrp="1"/>
          </p:cNvSpPr>
          <p:nvPr>
            <p:ph type="sldNum" idx="66"/>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(erste von drei Folien zu Problemen mit dem alten „var“-Schlüsselwort).</a:t>
            </a:r>
          </a:p>
          <a:p/>
          <a:p>
            <a:r>
              <a:t>„Scoping“ bedeutet „Gültigkeitsbereich“ – also die Frage, in welchem Bereich des Codes eine Variable überhaupt sichtbar/nutzbar ist. Das Beispiel zeigt eine Funktion, in der eine Variable „x“ nur innerhalb eines „if“-Blocks mit „var“ angelegt wird, aber danach außerhalb dieses Blocks trotzdem noch gelesen werden kann und zurückgegeben wird. Das ist unerwartet, wenn man von anderen Programmiersprachen kommt, und eine typische Fehlerquelle: „var“ ignoriert Block-Grenzen (geschweifte Klammern) und ist nur auf die gesamte Funktion beschränkt, nicht auf den einzelnen „if“-Block.</a:t>
            </a:r>
          </a:p>
        </p:txBody>
      </p:sp>
      <p:sp>
        <p:nvSpPr>
          <p:cNvPr id="4" name="Slide Number Placeholder 3"/>
          <p:cNvSpPr>
            <a:spLocks noGrp="1"/>
          </p:cNvSpPr>
          <p:nvPr>
            <p:ph type="sldNum" idx="66"/>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2“.</a:t>
            </a:r>
          </a:p>
          <a:p/>
          <a:p>
            <a:r>
              <a:t>Ähnliches Beispiel mit einer verschachtelten Schleife über eine Matrix (zweidimensionales Zahlenfeld): Die Schleifenvariablen „i“ und „row“ werden mit „var“ in der Schleife deklariert, bleiben aber auch nach der Schleife im gesamten Funktionskörper sichtbar. Das kann zu versehentlichem Überschreiben von Werten führen, wenn man nicht aufpasst, weil man eigentlich erwarten würde, dass diese Variable nur innerhalb der Schleife existiert.</a:t>
            </a:r>
          </a:p>
        </p:txBody>
      </p:sp>
      <p:sp>
        <p:nvSpPr>
          <p:cNvPr id="4" name="Slide Number Placeholder 3"/>
          <p:cNvSpPr>
            <a:spLocks noGrp="1"/>
          </p:cNvSpPr>
          <p:nvPr>
            <p:ph type="sldNum" idx="66"/>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3“ – das klassischste Beispiel für dieses Problem.</a:t>
            </a:r>
          </a:p>
          <a:p/>
          <a:p>
            <a:r>
              <a:t>Eine Schleife mit „var i“ ruft zehnmal „setTimeout“ auf, was jeweils nach einer kurzen Verzögerung „console.log(i)“ ausführen soll. Man würde erwarten, dass die Zahlen 0 bis 9 ausgegeben werden. Tatsächlich gibt der Code aber zehnmal die Zahl „10“ aus, weil alle zehn Funktionen sich dieselbe, einzige „i“-Variable teilen (var kennt keinen Block-Scope), und wenn die Zeitverzögerung abläuft, ist die Schleife schon fertig durchlaufen und „i“ steht bei 10. Diese drei Folien begründen, warum man „var“ heute nicht mehr benutzt und stattdessen „let“/„const“ verwendet – das wird auf den nächsten Folien gezeigt.</a:t>
            </a:r>
          </a:p>
        </p:txBody>
      </p:sp>
      <p:sp>
        <p:nvSpPr>
          <p:cNvPr id="4" name="Slide Number Placeholder 3"/>
          <p:cNvSpPr>
            <a:spLocks noGrp="1"/>
          </p:cNvSpPr>
          <p:nvPr>
            <p:ph type="sldNum" idx="66"/>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 jetzt mit dem modernen Schlüsselwort „let“.</a:t>
            </a:r>
          </a:p>
          <a:p/>
          <a:p>
            <a:r>
              <a:t>Anders als „var“ ist eine mit „let“ deklarierte Variable wirklich nur innerhalb des Blocks (der geschweiften Klammern, z. B. eines „if“) sichtbar, in dem sie angelegt wurde. Im Beispiel wird außerhalb des „if“-Blocks versucht, auf eine dort mit „let b“ deklarierte Variable zuzugreifen – das führt zu einem Compile-Fehler, weil „b“ außerhalb ihres Blocks gar nicht existiert. Das ist genau das erwartbare, „sichere“ Verhalten, das bei „var“ auf den vorherigen Folien gefehlt hat.</a:t>
            </a:r>
          </a:p>
        </p:txBody>
      </p:sp>
      <p:sp>
        <p:nvSpPr>
          <p:cNvPr id="4" name="Slide Number Placeholder 3"/>
          <p:cNvSpPr>
            <a:spLocks noGrp="1"/>
          </p:cNvSpPr>
          <p:nvPr>
            <p:ph type="sldNum" idx="66"/>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2“.</a:t>
            </a:r>
          </a:p>
          <a:p/>
          <a:p>
            <a:r>
              <a:t>Zeigt eine Besonderheit: Wenn eine Variable mit „let“ zwar später im Code deklariert wird, aber schon vorher in einer Funktion referenziert wird, bekommt man (anders als bei „var“, wo es „undefined“ wäre) grundsätzlich einen Fehler, wenn man wirklich vor der Deklaration zugreift. Kurz erläutern anhand des Beispiels, was tatsächlich ausgegeben wird, und den Unterschied zum „var“-Verhalten von vorher betonen.</a:t>
            </a:r>
          </a:p>
        </p:txBody>
      </p:sp>
      <p:sp>
        <p:nvSpPr>
          <p:cNvPr id="4" name="Slide Number Placeholder 3"/>
          <p:cNvSpPr>
            <a:spLocks noGrp="1"/>
          </p:cNvSpPr>
          <p:nvPr>
            <p:ph type="sldNum" idx="66"/>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3“ – die Lösung des Problems von Folie 18 (setTimeout-Beispiel) mit „let“ statt „var“.</a:t>
            </a:r>
          </a:p>
          <a:p/>
          <a:p>
            <a:r>
              <a:t>Wird die Schleifenvariable mit „let“ statt „var“ deklariert, bekommt jeder Schleifendurchlauf seine eigene, unabhängige Kopie der Variable. Dadurch geben die verzögerten „console.log“-Aufrufe tatsächlich die erwarteten Werte 0 bis 9 aus. Das ist einer der Hauptgründe, warum „let“ heute Standard ist.</a:t>
            </a:r>
          </a:p>
        </p:txBody>
      </p:sp>
      <p:sp>
        <p:nvSpPr>
          <p:cNvPr id="4" name="Slide Number Placeholder 3"/>
          <p:cNvSpPr>
            <a:spLocks noGrp="1"/>
          </p:cNvSpPr>
          <p:nvPr>
            <p:ph type="sldNum" idx="66"/>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„const“.</a:t>
            </a:r>
          </a:p>
          <a:p/>
          <a:p>
            <a:r>
              <a:t>Vertiefung zum Schlüsselwort „const“: Eine Variable, die mit „const“ deklariert wurde, kann nach der ersten Zuweisung nicht mehr neu zugewiesen werden. Wichtig zu erklären: Bei Objekten und Arrays bedeutet das nicht, dass der Inhalt unveränderlich ist – man darf weiterhin Eigenschaften eines Objekts ändern oder Elemente in ein Array einfügen, nur die Variable selbst darf nicht auf ein komplett anderes Objekt umgebogen werden.</a:t>
            </a:r>
          </a:p>
        </p:txBody>
      </p:sp>
      <p:sp>
        <p:nvSpPr>
          <p:cNvPr id="4" name="Slide Number Placeholder 3"/>
          <p:cNvSpPr>
            <a:spLocks noGrp="1"/>
          </p:cNvSpPr>
          <p:nvPr>
            <p:ph type="sldNum" idx="66"/>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1): if / else if / else.</a:t>
            </a:r>
          </a:p>
          <a:p/>
          <a:p>
            <a:r>
              <a:t>Die klassische Verzweigung: Wenn eine Bedingung wahr ist, wird der erste Block ausgeführt; ist sie falsch, wird die nächste Bedingung („else if“) geprüft; trifft keine der Bedingungen zu, greift der „else“-Block als Auffangfall. Das ist die Grundlage jeder Entscheidungslogik im Code, z. B. später bei der Frage „ist ein Kunde ausgewählt oder nicht“.</a:t>
            </a:r>
          </a:p>
        </p:txBody>
      </p:sp>
      <p:sp>
        <p:nvSpPr>
          <p:cNvPr id="4" name="Slide Number Placeholder 3"/>
          <p:cNvSpPr>
            <a:spLocks noGrp="1"/>
          </p:cNvSpPr>
          <p:nvPr>
            <p:ph type="sldNum" idx="66"/>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2): while und do-while Schleifen.</a:t>
            </a:r>
          </a:p>
          <a:p/>
          <a:p>
            <a:r>
              <a:t>Bei „while“ wird die Bedingung vor jedem Durchlauf geprüft – ist sie von Anfang an falsch, läuft die Schleife kein einziges Mal. Bei „do-while“ wird der Schleifenkörper zuerst mindestens einmal ausgeführt und die Bedingung erst danach geprüft. Kurzer Hinweis: Diese Schleifenarten werden in den späteren, Angular-spezifischen Kapiteln kaum noch direkt gebraucht, weil dort meist über Listen mit „@for“ iteriert wird (siehe späteres Kapitel zum Control Flow).</a:t>
            </a:r>
          </a:p>
        </p:txBody>
      </p:sp>
      <p:sp>
        <p:nvSpPr>
          <p:cNvPr id="4" name="Slide Number Placeholder 3"/>
          <p:cNvSpPr>
            <a:spLocks noGrp="1"/>
          </p:cNvSpPr>
          <p:nvPr>
            <p:ph type="sldNum" idx="66"/>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Datentyp“.</a:t>
            </a:r>
          </a:p>
          <a:p/>
          <a:p>
            <a:r>
              <a:t>Einführung in den Zahlentyp von TypeScript/JavaScript. Wichtig zu erwähnen: Anders als in manchen anderen Sprachen gibt es nicht getrennt „Ganzzahl“ und „Kommazahl“, sondern nur einen einzigen Typ „number“ für alle Zahlen.</a:t>
            </a:r>
          </a:p>
        </p:txBody>
      </p:sp>
      <p:sp>
        <p:nvSpPr>
          <p:cNvPr id="4" name="Slide Number Placeholder 3"/>
          <p:cNvSpPr>
            <a:spLocks noGrp="1"/>
          </p:cNvSpPr>
          <p:nvPr>
            <p:ph type="sldNum" idx="66"/>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Funktionen“.</a:t>
            </a:r>
          </a:p>
          <a:p/>
          <a:p>
            <a:r>
              <a:t>Zeigt Hilfsmethoden auf Zahlen, hier „toFixed()“: Diese Methode rundet eine Zahl auf eine feste Anzahl Nachkommastellen und gibt das Ergebnis als Text zurück (nützlich z. B. für Geldbeträge in der Rechnungs-App des Kurses, damit immer genau zwei Nachkommastellen angezeigt werden).</a:t>
            </a:r>
          </a:p>
        </p:txBody>
      </p:sp>
      <p:sp>
        <p:nvSpPr>
          <p:cNvPr id="4" name="Slide Number Placeholder 3"/>
          <p:cNvSpPr>
            <a:spLocks noGrp="1"/>
          </p:cNvSpPr>
          <p:nvPr>
            <p:ph type="sldNum" idx="66"/>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„String Funktionen“.</a:t>
            </a:r>
          </a:p>
          <a:p/>
          <a:p>
            <a:r>
              <a:t>Zeigt Hilfsmethoden auf Texten (Strings), hier „indexOf()“: Diese Methode sucht eine Zeichenfolge innerhalb eines Textes und gibt die Position (den Index) zurück, an der sie zuerst gefunden wurde, oder „-1“, wenn nichts gefunden wurde.</a:t>
            </a:r>
          </a:p>
        </p:txBody>
      </p:sp>
      <p:sp>
        <p:nvSpPr>
          <p:cNvPr id="4" name="Slide Number Placeholder 3"/>
          <p:cNvSpPr>
            <a:spLocks noGrp="1"/>
          </p:cNvSpPr>
          <p:nvPr>
            <p:ph type="sldNum" idx="66"/>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deklarieren“ – allgemeine Syntax einer Funktion mit optional typisierten Parametern.</a:t>
            </a:r>
          </a:p>
          <a:p/>
          <a:p>
            <a:r>
              <a:t>Die eckigen Klammern zeigen wieder optionale Bestandteile: ein Parameter kann einen Typ bekommen („:type“), muss es aber nicht. Das Fragezeichen bei einem Parameter (siehe „param2?“) bedeutet, dieser Parameter ist optional, also beim Aufruf der Funktion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„Varargs AKA Rest Parameters“.</a:t>
            </a:r>
          </a:p>
          <a:p/>
          <a:p>
            <a:r>
              <a:t>„Rest Parameters“ (mit drei Punkten vor dem Namen, „...nums“) erlauben es, einer Funktion eine beliebige Anzahl von Werten desselben Typs zu übergeben, die dann intern als Array (Liste) zusammengefasst werden. Im Beispiel „sumUp“ können also beliebig viele Zahlen übergeben werden, und die Funktion addiert sie alle in einer Schleife zusammen.</a:t>
            </a:r>
          </a:p>
        </p:txBody>
      </p:sp>
      <p:sp>
        <p:nvSpPr>
          <p:cNvPr id="4" name="Slide Number Placeholder 3"/>
          <p:cNvSpPr>
            <a:spLocks noGrp="1"/>
          </p:cNvSpPr>
          <p:nvPr>
            <p:ph type="sldNum" idx="66"/>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Parameter“.</a:t>
            </a:r>
          </a:p>
          <a:p/>
          <a:p>
            <a:r>
              <a:t>Ein Funktionsparameter kann einen Standardwert bekommen, der automatisch verwendet wird, wenn beim Aufruf kein eigener Wert für diesen Parameter übergeben wird. Das erspart in vielen Fällen zusätzliche Prüfungen im Funktionskörper, ob ein Parameter überhaupt gesetzt wurde.</a:t>
            </a:r>
          </a:p>
        </p:txBody>
      </p:sp>
      <p:sp>
        <p:nvSpPr>
          <p:cNvPr id="4" name="Slide Number Placeholder 3"/>
          <p:cNvSpPr>
            <a:spLocks noGrp="1"/>
          </p:cNvSpPr>
          <p:nvPr>
            <p:ph type="sldNum" idx="66"/>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„Anonyme Funktionen“.</a:t>
            </a:r>
          </a:p>
          <a:p/>
          <a:p>
            <a:r>
              <a:t>Eine Funktion kann ohne eigenen Namen als Wert einer Variable zugewiesen werden (klassische Schreibweise „function(...) {...}“). Darunter die moderne „Arrow Function“-Syntax „(param1, param2) =&gt; statement“ – ein Pfeil ersetzt das Schlüsselwort „function“ und ist kürzer. Arrow Functions werden im weiteren Kurs sehr häufig verwendet, z. B. bei Callback-Funktionen und später bei Angular-Signalen.</a:t>
            </a:r>
          </a:p>
        </p:txBody>
      </p:sp>
      <p:sp>
        <p:nvSpPr>
          <p:cNvPr id="4" name="Slide Number Placeholder 3"/>
          <p:cNvSpPr>
            <a:spLocks noGrp="1"/>
          </p:cNvSpPr>
          <p:nvPr>
            <p:ph type="sldNum" idx="66"/>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überladen“.</a:t>
            </a:r>
          </a:p>
          <a:p/>
          <a:p>
            <a:r>
              <a:t>TypeScript erlaubt „Overloading“: Man kann für dieselbe Funktion mehrere Signaturen (Kombinationen von Parametertypen) deklarieren, z. B. einmal mit einer Zahl, einmal mit einem Text als Parameter. Wichtig: Es gibt nur einen echten Funktionskörper („1 Body for all“), der intern selbst unterscheiden muss, welcher Typ tatsächlich übergeben wurde.</a:t>
            </a:r>
          </a:p>
        </p:txBody>
      </p:sp>
      <p:sp>
        <p:nvSpPr>
          <p:cNvPr id="4" name="Slide Number Placeholder 3"/>
          <p:cNvSpPr>
            <a:spLocks noGrp="1"/>
          </p:cNvSpPr>
          <p:nvPr>
            <p:ph type="sldNum" idx="66"/>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„Container“ – Übersicht der drei Sammlungstypen. „array“: eine Liste von Werten desselben Typs. „tuple“: eine feste, geordnete Menge unterschiedlicher Basistypen (z. B. genau ein Text und eine Zahl zusammen). „enum“: eine feste, benannte Menge erlaubter Werte (Aufzählungstyp).</a:t>
            </a:r>
          </a:p>
        </p:txBody>
      </p:sp>
      <p:sp>
        <p:nvSpPr>
          <p:cNvPr id="4" name="Slide Number Placeholder 3"/>
          <p:cNvSpPr>
            <a:spLocks noGrp="1"/>
          </p:cNvSpPr>
          <p:nvPr>
            <p:ph type="sldNum" idx="66"/>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 Arrays: Deklaration und Zugriff über den Index.</a:t>
            </a:r>
          </a:p>
          <a:p/>
          <a:p>
            <a:r>
              <a:t>Ein Array wird mit „number[]“ typisiert. Über eckige Klammern mit einer Zahl (dem Index, beginnend bei 0) greift man auf ein einzelnes Element zu, z. B. „nummern[1]“ liefert das zweite Element (Index 1 = zweite Position). Die Zahlenreihe oben in der Folie zeigt genau diese Index-Zählung von 0 bis 6.</a:t>
            </a:r>
          </a:p>
        </p:txBody>
      </p:sp>
      <p:sp>
        <p:nvSpPr>
          <p:cNvPr id="4" name="Slide Number Placeholder 3"/>
          <p:cNvSpPr>
            <a:spLocks noGrp="1"/>
          </p:cNvSpPr>
          <p:nvPr>
            <p:ph type="sldNum" idx="66"/>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leeres Array fester Größe wird mit „new Array(4)“ angelegt, danach befüllt eine Schleife jedes Element mit dem Zehnfachen seines Index (0, 10, 20, 30) und gibt es aus. Zeigt den typischen Aufbau: Array anlegen, per Schleife befüllen, ausgeben.</a:t>
            </a:r>
          </a:p>
        </p:txBody>
      </p:sp>
      <p:sp>
        <p:nvSpPr>
          <p:cNvPr id="4" name="Slide Number Placeholder 3"/>
          <p:cNvSpPr>
            <a:spLocks noGrp="1"/>
          </p:cNvSpPr>
          <p:nvPr>
            <p:ph type="sldNum" idx="66"/>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„Array Schnittstellen Auszug“ – Übersicht wichtiger, eingebauter Array-Methoden: „concat“ (zwei Arrays zusammenfügen), „indexOf“/„lastIndexOf“ (Position eines Wertes suchen), „push“/„unshift“ (Element hinten/vorne einfügen) usw. Der Link unten verweist auf eine externe Referenzseite mit der vollständigen Liste.</a:t>
            </a:r>
          </a:p>
        </p:txBody>
      </p:sp>
      <p:sp>
        <p:nvSpPr>
          <p:cNvPr id="4" name="Slide Number Placeholder 3"/>
          <p:cNvSpPr>
            <a:spLocks noGrp="1"/>
          </p:cNvSpPr>
          <p:nvPr>
            <p:ph type="sldNum" idx="66"/>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Konkretes Beispiel zu „concat()“: Zwei bestehende Arrays (Buchstaben und Zahlen) werden zu einem neuen, gemeinsamen Array zusammengefügt. Wichtig: „concat“ verändert die Original-Arrays nicht, sondern erzeugt ein drittes, neues Array.</a:t>
            </a:r>
          </a:p>
        </p:txBody>
      </p:sp>
      <p:sp>
        <p:nvSpPr>
          <p:cNvPr id="4" name="Slide Number Placeholder 3"/>
          <p:cNvSpPr>
            <a:spLocks noGrp="1"/>
          </p:cNvSpPr>
          <p:nvPr>
            <p:ph type="sldNum" idx="66"/>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„Pop und push“ mit einer visuellen Fahrzeugliste. „push“ fügt ein neues Element hinten an und gibt die neue Länge des Arrays zurück. „pop“ entfernt das letzte Element und gibt genau dieses entfernte Element zurück. Die Bild-Abfolge zeigt, wie sich die Liste („VW Golf, BMW 323i, Mercedes CLK, Opel Vectra“) durch push (Tesla Cybertruck kommt hinzu) und anschließendes pop wieder verändert.</a:t>
            </a:r>
          </a:p>
        </p:txBody>
      </p:sp>
      <p:sp>
        <p:nvSpPr>
          <p:cNvPr id="4" name="Slide Number Placeholder 3"/>
          <p:cNvSpPr>
            <a:spLocks noGrp="1"/>
          </p:cNvSpPr>
          <p:nvPr>
            <p:ph type="sldNum" idx="66"/>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„Union Types“.</a:t>
            </a:r>
          </a:p>
          <a:p/>
          <a:p>
            <a:r>
              <a:t>Eine Variable kann mit einem „|“ (Oder) mehrere mögliche Typen bekommen, z. B. „string|number“ bedeutet: entweder Text oder Zahl. Im Beispiel wird derselben Variable erst eine Zahl, dann ein Text zugewiesen – beides ist erlaubt, weil beide Typen im Union Type enthalten sind.</a:t>
            </a:r>
          </a:p>
        </p:txBody>
      </p:sp>
      <p:sp>
        <p:nvSpPr>
          <p:cNvPr id="4" name="Slide Number Placeholder 3"/>
          <p:cNvSpPr>
            <a:spLocks noGrp="1"/>
          </p:cNvSpPr>
          <p:nvPr>
            <p:ph type="sldNum" idx="66"/>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„Enum“.</a:t>
            </a:r>
          </a:p>
          <a:p/>
          <a:p>
            <a:r>
              <a:t>Ein Enum definiert eine feste Menge benannter Werte, hier „Up, Down, Left, Right“ für eine Richtung. Da „Up = 1“ gesetzt ist, zählen die folgenden Werte automatisch weiter (Down=2, Left=3, Right=4). Eine Variable vom Typ „Direction“ kann dann nur einen dieser vier Werte annehmen.</a:t>
            </a:r>
          </a:p>
        </p:txBody>
      </p:sp>
      <p:sp>
        <p:nvSpPr>
          <p:cNvPr id="4" name="Slide Number Placeholder 3"/>
          <p:cNvSpPr>
            <a:spLocks noGrp="1"/>
          </p:cNvSpPr>
          <p:nvPr>
            <p:ph type="sldNum" idx="66"/>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„Nonsens Code“ – bewusstes Negativbeispiel.</a:t>
            </a:r>
          </a:p>
          <a:p/>
          <a:p>
            <a:r>
              <a:t>Die Bedingung „x !== Direction.Up || x !== Direction.Down“ ist logisch immer wahr (ein Wert kann nicht gleichzeitig beide sein, also ist immer mindestens eine Seite der Oder-Bedingung erfüllt) – TypeScript erkennt das sogar automatisch als Compile-Fehler/Warnung. Zeigt, wie hilfreich die Typprüfung beim Aufdecken von Logikfehlern ist.</a:t>
            </a:r>
          </a:p>
        </p:txBody>
      </p:sp>
      <p:sp>
        <p:nvSpPr>
          <p:cNvPr id="4" name="Slide Number Placeholder 3"/>
          <p:cNvSpPr>
            <a:spLocks noGrp="1"/>
          </p:cNvSpPr>
          <p:nvPr>
            <p:ph type="sldNum" idx="66"/>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Interface „Schmutzfink“ verlangt eine Eigenschaft „name“ (Text) und eine Methode „suhlen“, die einen Text zurückgibt. Direkt danach wird ein passendes Objekt als einfaches „Literal“ (geschweifte Klammern mit Werten) erzeugt und ausgegeben, ohne dafür extra eine Klasse zu schreiben.</a:t>
            </a:r>
          </a:p>
        </p:txBody>
      </p:sp>
      <p:sp>
        <p:nvSpPr>
          <p:cNvPr id="4" name="Slide Number Placeholder 3"/>
          <p:cNvSpPr>
            <a:spLocks noGrp="1"/>
          </p:cNvSpPr>
          <p:nvPr>
            <p:ph type="sldNum" idx="66"/>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Gleiches Beispiel, aber die Objekt-Erstellung wird zuerst in eine Variable „schweinchenDick“ vom Typ „Schmutzfink“ gespeichert und danach ausgegeben. Zeigt: Ein Interface kann als Typ für eine Variable verwendet werden, unabhängig davon, ob das Objekt aus einer Klasse oder direkt als Literal stammt.</a:t>
            </a:r>
          </a:p>
        </p:txBody>
      </p:sp>
      <p:sp>
        <p:nvSpPr>
          <p:cNvPr id="4" name="Slide Number Placeholder 3"/>
          <p:cNvSpPr>
            <a:spLocks noGrp="1"/>
          </p:cNvSpPr>
          <p:nvPr>
            <p:ph type="sldNum" idx="66"/>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„Inline Interface Def“.</a:t>
            </a:r>
          </a:p>
          <a:p/>
          <a:p>
            <a:r>
              <a:t>Man kann einen Interface-artigen Typ auch direkt „inline“ als Parameter-Typ einer Funktion definieren, ohne vorher ein eigenes, benanntes Interface anzulegen – hier verlangt „printName“ nur, dass das übergebene Objekt eine Eigenschaft „name“ hat.</a:t>
            </a:r>
          </a:p>
        </p:txBody>
      </p:sp>
      <p:sp>
        <p:nvSpPr>
          <p:cNvPr id="4" name="Slide Number Placeholder 3"/>
          <p:cNvSpPr>
            <a:spLocks noGrp="1"/>
          </p:cNvSpPr>
          <p:nvPr>
            <p:ph type="sldNum" idx="66"/>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„Optional und Readonly“.</a:t>
            </a:r>
          </a:p>
          <a:p/>
          <a:p>
            <a:r>
              <a:t>„readonly“ bei einer Eigenschaft bedeutet, sie darf nach der Objekterstellung nicht mehr verändert werden. Das Fragezeichen bei „weight?“ macht die Eigenschaft optional – ein Objekt vom Typ „Animal“ muss also einen Namen haben, ein Gewicht ist aber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deklarieren“ – die Grundsyntax einer Klasse: Schlüsselwort „class“, ein Name, und der Klassenkörper in geschweiften Klammern, in dem Eigenschaften und Methoden stehen.</a:t>
            </a:r>
          </a:p>
        </p:txBody>
      </p:sp>
      <p:sp>
        <p:nvSpPr>
          <p:cNvPr id="4" name="Slide Number Placeholder 3"/>
          <p:cNvSpPr>
            <a:spLocks noGrp="1"/>
          </p:cNvSpPr>
          <p:nvPr>
            <p:ph type="sldNum" idx="66"/>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„Member von Klassen“ – kündigt die Themen Eigenschaften, Konstruktor und Methoden einer Klasse an.</a:t>
            </a:r>
          </a:p>
        </p:txBody>
      </p:sp>
      <p:sp>
        <p:nvSpPr>
          <p:cNvPr id="4" name="Slide Number Placeholder 3"/>
          <p:cNvSpPr>
            <a:spLocks noGrp="1"/>
          </p:cNvSpPr>
          <p:nvPr>
            <p:ph type="sldNum" idx="66"/>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Klasse „Schwein“: Eine Eigenschaft „name“, ein „constructor“ (wird automatisch beim Erzeugen mit „new“ aufgerufen und setzt hier den Namen), und eine Methode „gibLaut()“, die einen Text mit dem Namen zurückgibt. Zeigt den kompletten, typischen Aufbau einer einfachen Klasse.</a:t>
            </a:r>
          </a:p>
        </p:txBody>
      </p:sp>
      <p:sp>
        <p:nvSpPr>
          <p:cNvPr id="4" name="Slide Number Placeholder 3"/>
          <p:cNvSpPr>
            <a:spLocks noGrp="1"/>
          </p:cNvSpPr>
          <p:nvPr>
            <p:ph type="sldNum" idx="66"/>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readonly“.</a:t>
            </a:r>
          </a:p>
          <a:p/>
          <a:p>
            <a:r>
              <a:t>Auch bei Klassen-Eigenschaften ist „readonly“ möglich. Zusätzlich zeigt die Folie eine Abkürzung („Parameter properties“): Schreibt man z. B. „constructor(readonly attr: type)“ direkt im Konstruktor-Kopf, wird daraus automatisch eine Klassen-Eigenschaft erzeugt und gesetzt – ohne dass man sie separat deklarieren und im Konstruktor zuweisen muss.</a:t>
            </a:r>
          </a:p>
        </p:txBody>
      </p:sp>
      <p:sp>
        <p:nvSpPr>
          <p:cNvPr id="4" name="Slide Number Placeholder 3"/>
          <p:cNvSpPr>
            <a:spLocks noGrp="1"/>
          </p:cNvSpPr>
          <p:nvPr>
            <p:ph type="sldNum" idx="66"/>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zu Sichtbarkeit: Die Eigenschaft „name“ der Klasse „Schwein“ wird als „private“ deklariert – ein Zugriff von außerhalb der Klasse würde also einen Compile-Fehler erzeugen.</a:t>
            </a:r>
          </a:p>
        </p:txBody>
      </p:sp>
      <p:sp>
        <p:nvSpPr>
          <p:cNvPr id="4" name="Slide Number Placeholder 3"/>
          <p:cNvSpPr>
            <a:spLocks noGrp="1"/>
          </p:cNvSpPr>
          <p:nvPr>
            <p:ph type="sldNum" idx="66"/>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 (praktischer Teil, kein Angular-Projekt, reine TypeScript-Übung): Es soll eine Klasse „Student“ so gebaut werden, dass der gezeigte Beispielcode funktioniert – ein Objekt wird ohne Parameter erzeugt, und eine Methode „getLabel(matrikelnummer)“ liefert einen zusammengesetzten Text zurück. Ziel: den bisherigen Stoff zu Klassen und Methoden selbst anwenden.</a:t>
            </a:r>
          </a:p>
        </p:txBody>
      </p:sp>
      <p:sp>
        <p:nvSpPr>
          <p:cNvPr id="4" name="Slide Number Placeholder 3"/>
          <p:cNvSpPr>
            <a:spLocks noGrp="1"/>
          </p:cNvSpPr>
          <p:nvPr>
            <p:ph type="sldNum" idx="66"/>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 Fortsetzung von Übung 1: Jetzt soll die Klasse „Student“ einen Konstruktor mit Name und Matrikelnummer bekommen, sodass beide Werte direkt beim Erzeugen des Objekts übergeben werden und „getLabel()“ ohne weitere Parameter beide Werte im Text zusammensetzt.</a:t>
            </a:r>
          </a:p>
        </p:txBody>
      </p:sp>
      <p:sp>
        <p:nvSpPr>
          <p:cNvPr id="4" name="Slide Number Placeholder 3"/>
          <p:cNvSpPr>
            <a:spLocks noGrp="1"/>
          </p:cNvSpPr>
          <p:nvPr>
            <p:ph type="sldNum" idx="66"/>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„Getter Setter“.</a:t>
            </a:r>
          </a:p>
          <a:p/>
          <a:p>
            <a:r>
              <a:t>Eine private Eigenschaft „_name“ (der Unterstrich ist reine Namenskonvention, kein Sprachfeature) wird über eine „get name()“-Methode von außen lesbar gemacht, ohne dass man Klammern beim Aufruf schreiben muss (man schreibt „objekt.name“, nicht „objekt.name()“). Passend dazu kann es eine „set name(wert)“-Methode geben, die eine kontrollierte Zuweisung erlaubt, z. B. mit zusätzlicher Prüfung des neuen Wertes.</a:t>
            </a:r>
          </a:p>
        </p:txBody>
      </p:sp>
      <p:sp>
        <p:nvSpPr>
          <p:cNvPr id="4" name="Slide Number Placeholder 3"/>
          <p:cNvSpPr>
            <a:spLocks noGrp="1"/>
          </p:cNvSpPr>
          <p:nvPr>
            <p:ph type="sldNum" idx="66"/>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Die Klasse „Schwein“ „implements“ jetzt das Interface „Schmutzfink“ von vorher – das bedeutet, sie verpflichtet sich, die dort geforderte Methode „suhlen()“ tatsächlich zu besitzen. Der Compiler prüft das automatisch und meldet einen Fehler, falls eine geforderte Methode fehlt.</a:t>
            </a:r>
          </a:p>
        </p:txBody>
      </p:sp>
      <p:sp>
        <p:nvSpPr>
          <p:cNvPr id="4" name="Slide Number Placeholder 3"/>
          <p:cNvSpPr>
            <a:spLocks noGrp="1"/>
          </p:cNvSpPr>
          <p:nvPr>
            <p:ph type="sldNum" idx="66"/>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Vererbung“.</a:t>
            </a:r>
          </a:p>
          <a:p/>
          <a:p>
            <a:r>
              <a:t>Eine Klasse kann von einer anderen Klasse erben (analog zum „implements“ bei Interfaces, hier aber mit „extends“ und echter, wiederverwendbarer Implementierung statt nur einem Vertrag). Methoden können dabei auch „abstract“ sein: Die Basisklasse gibt nur die Signatur vor, jede konkrete Unterklasse muss die Methode selbst implementieren.</a:t>
            </a:r>
          </a:p>
        </p:txBody>
      </p:sp>
      <p:sp>
        <p:nvSpPr>
          <p:cNvPr id="4" name="Slide Number Placeholder 3"/>
          <p:cNvSpPr>
            <a:spLocks noGrp="1"/>
          </p:cNvSpPr>
          <p:nvPr>
            <p:ph type="sldNum" idx="66"/>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Fortgeführtes Codebeispiel der Klasse „Schwein“, die weiterhin das Interface „Schmutzfink“ implementiert – zeigt den vollständigen Methodenkörper von „suhlen()“ im Detail.</a:t>
            </a:r>
          </a:p>
        </p:txBody>
      </p:sp>
      <p:sp>
        <p:nvSpPr>
          <p:cNvPr id="4" name="Slide Number Placeholder 3"/>
          <p:cNvSpPr>
            <a:spLocks noGrp="1"/>
          </p:cNvSpPr>
          <p:nvPr>
            <p:ph type="sldNum" idx="66"/>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im Detail: Attribute und Methoden“.</a:t>
            </a:r>
          </a:p>
          <a:p/>
          <a:p>
            <a:r>
              <a:t>Erklärt „Overriding“: Eine Unterklasse kann eine Methode der Oberklasse mit derselben Signatur neu implementieren (überschreiben). Wird die Methode dann auf einem Objekt der Unterklasse aufgerufen, wird automatisch die überschriebene Version ausgeführt, nicht die der Oberklasse.</a:t>
            </a:r>
          </a:p>
        </p:txBody>
      </p:sp>
      <p:sp>
        <p:nvSpPr>
          <p:cNvPr id="4" name="Slide Number Placeholder 3"/>
          <p:cNvSpPr>
            <a:spLocks noGrp="1"/>
          </p:cNvSpPr>
          <p:nvPr>
            <p:ph type="sldNum" idx="66"/>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„Namespaces – Code Gruppen“ – kündigt das Thema Namensräume an.</a:t>
            </a:r>
          </a:p>
        </p:txBody>
      </p:sp>
      <p:sp>
        <p:nvSpPr>
          <p:cNvPr id="4" name="Slide Number Placeholder 3"/>
          <p:cNvSpPr>
            <a:spLocks noGrp="1"/>
          </p:cNvSpPr>
          <p:nvPr>
            <p:ph type="sldNum" idx="66"/>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„Namespaces“.</a:t>
            </a:r>
          </a:p>
          <a:p/>
          <a:p>
            <a:r>
              <a:t>Namespaces gruppieren zusammengehörige Deklarationen (Klassen, Interfaces etc.) unter einem gemeinsamen Namen, damit man sie außerhalb nur über diesen Namen ansprechen kann. Das verringert das Risiko von Namenskonflikten, wenn z. B. zwei Bibliotheken zufällig eine Klasse mit demselben Namen definieren. Hinweis: In modernen Angular-Projekten werden heute praktisch nur noch ES-Module (import/export, siehe nächste Folien) verwendet, Namespaces sind eher ein Randthema/Legacy-Konzept.</a:t>
            </a:r>
          </a:p>
        </p:txBody>
      </p:sp>
      <p:sp>
        <p:nvSpPr>
          <p:cNvPr id="4" name="Slide Number Placeholder 3"/>
          <p:cNvSpPr>
            <a:spLocks noGrp="1"/>
          </p:cNvSpPr>
          <p:nvPr>
            <p:ph type="sldNum" idx="66"/>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über drei Dateien: „Animal.ts“ definiert im Namespace „Animals“ ein Interface „Animal“. „Pig.ts“ referenziert diese Datei per Kommentar-Syntax „/// &lt;reference path=... /&gt;“ und implementiert im selben Namespace eine Klasse „Pig“. „Main.ts“ referenziert beide Dateien und kann dann über „Animals.Pig“ auf die Klasse zugreifen.</a:t>
            </a:r>
          </a:p>
        </p:txBody>
      </p:sp>
      <p:sp>
        <p:nvSpPr>
          <p:cNvPr id="4" name="Slide Number Placeholder 3"/>
          <p:cNvSpPr>
            <a:spLocks noGrp="1"/>
          </p:cNvSpPr>
          <p:nvPr>
            <p:ph type="sldNum" idx="66"/>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Exporte“.</a:t>
            </a:r>
          </a:p>
          <a:p/>
          <a:p>
            <a:r>
              <a:t>Zeigt die Unterschiede zwischen normalen (nicht exportierten, nur innerhalb der Datei sichtbaren) und mit „export“ versehenen Deklarationen: Variablen, Funktionen und Klassen können jeweils exportiert werden, um sie in anderen Dateien nutzbar zu machen.</a:t>
            </a:r>
          </a:p>
        </p:txBody>
      </p:sp>
      <p:sp>
        <p:nvSpPr>
          <p:cNvPr id="4" name="Slide Number Placeholder 3"/>
          <p:cNvSpPr>
            <a:spLocks noGrp="1"/>
          </p:cNvSpPr>
          <p:nvPr>
            <p:ph type="sldNum" idx="66"/>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„Named importieren“.</a:t>
            </a:r>
          </a:p>
          <a:p/>
          <a:p>
            <a:r>
              <a:t>Mit „import {publicA, publicB} from "./lib";“ werden gezielt einzelne, namentlich benannte Exporte aus einer anderen Datei geholt. Das ist die heute übliche Art, wie auch in Angular-Projekten Klassen, Funktionen oder Komponenten aus anderen Dateien importiert werden.</a:t>
            </a:r>
          </a:p>
        </p:txBody>
      </p:sp>
      <p:sp>
        <p:nvSpPr>
          <p:cNvPr id="4" name="Slide Number Placeholder 3"/>
          <p:cNvSpPr>
            <a:spLocks noGrp="1"/>
          </p:cNvSpPr>
          <p:nvPr>
            <p:ph type="sldNum" idx="66"/>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„Imports“ – wichtige Regeln. Import/Export-Anweisungen werden vom System „gehoisted“ (nach oben gezogen), das heißt die Reihenfolge im Quelltext spielt für die Verfügbarkeit keine Rolle. Sie dürfen aber nicht variabel oder bedingt (z. B. innerhalb eines „if“) sein – Module werden bereits beim Laden fest aufgelöst, nicht erst zur Laufzeit abhängig von Bedingungen.</a:t>
            </a:r>
          </a:p>
        </p:txBody>
      </p:sp>
      <p:sp>
        <p:nvSpPr>
          <p:cNvPr id="4" name="Slide Number Placeholder 3"/>
          <p:cNvSpPr>
            <a:spLocks noGrp="1"/>
          </p:cNvSpPr>
          <p:nvPr>
            <p:ph type="sldNum" idx="66"/>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 (Module): Die zuvor erstellte Klasse „Student“ soll in eine eigene Datei „student.ts“ ausgelagert und von dort per „export“ exportiert werden. In einer anderen Datei wird sie dann per „import“ wieder eingebunden und genutzt – eine erste praktische Anwendung des Modul-Konzepts, das später bei jeder Angular-Komponente wieder auftaucht.</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25)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25)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keine Elemente hinzugefügt/entfernt), sondern nur Eigenschaften/Verhalten eines bestehenden Elements, wie im Beispiel „[formGroup]“ und „formControlName“ bei einem Formularfeld.</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(Reactive Forms).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Submit-Aktion. Eine Gruppe enthält dabei eine Liste von Feldern, und ihr eigener Zustand hängt vom Zustand der enthaltenen Felder ab – z. B. ist die gesamte Gruppe „invalid“, sobald mindestens ein enthaltenes Feld ungültig ist. Ein einzelnes Feld besteht dabei im Kern aus einem Wert plus weiterem Zustand (siehe spätere Folien zu Validierung).</a:t>
            </a:r>
          </a:p>
        </p:txBody>
      </p:sp>
      <p:sp>
        <p:nvSpPr>
          <p:cNvPr id="4" name="Slide Number Placeholder 3"/>
          <p:cNvSpPr>
            <a:spLocks noGrp="1"/>
          </p:cNvSpPr>
          <p:nvPr>
            <p:ph type="sldNum" idx="66"/>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Bauen mit ReactiveFormsModule“.</a:t>
            </a:r>
          </a:p>
          <a:p/>
          <a:p>
            <a:r>
              <a:t>Zur Beschreibung eines Formulars nutzt man eigene Model-Klassen: „FormGroup“ und „FormControl“. Gruppen bilden dabei einen Baum, in dem einzelne „FormControl“-Felder die Blätter sind; das gesamte Formular selbst ist letztlich wieder nur eine „FormGroup“. Wichtig: Seit Angular 14 ist dieser Formular-Baum streng typisiert, sodass TypeScript den genauen Aufbau (welche Felder, welche Typen) bereits beim Schreiben des Codes prüfen kann.</a:t>
            </a:r>
          </a:p>
        </p:txBody>
      </p:sp>
      <p:sp>
        <p:nvSpPr>
          <p:cNvPr id="4" name="Slide Number Placeholder 3"/>
          <p:cNvSpPr>
            <a:spLocks noGrp="1"/>
          </p:cNvSpPr>
          <p:nvPr>
            <p:ph type="sldNum" idx="66"/>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„HowTo“ (Reactive Forms).</a:t>
            </a:r>
          </a:p>
          <a:p/>
          <a:p>
            <a:r>
              <a:t>Zeigt den vollständigen Ablauf: Import von „FormGroup“, „FormControl“ und „ReactiveFormsModule“ aus „@angular/forms“, Einbindung von „ReactiveFormsModule“ im „imports“-Array der Standalone-Komponente, und im Template die Verbindung über „[formGroup]="form"“ am „&lt;form&gt;“-Tag sowie „[formControl]“ bzw. „formControlName“ an den einzelnen Eingabefeldern. Das „(ngSubmit)“-Event fängt das Absenden des Formulars ab.</a:t>
            </a:r>
          </a:p>
        </p:txBody>
      </p:sp>
      <p:sp>
        <p:nvSpPr>
          <p:cNvPr id="4" name="Slide Number Placeholder 3"/>
          <p:cNvSpPr>
            <a:spLocks noGrp="1"/>
          </p:cNvSpPr>
          <p:nvPr>
            <p:ph type="sldNum" idx="66"/>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22 (FormBuilder): Die Anwendung wird für die Formulare-API vorbereitet, indem „ReactiveFormsModule“ im „imports“-Array von „CustomerDetailsComponent“ eingebunden wird. Anschließend wird dort ein echtes Formular implementiert, um Kundendaten bearbeiten zu können.</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zur doppelten Validierung.</a:t>
            </a:r>
          </a:p>
          <a:p/>
          <a:p>
            <a:r>
              <a:t>Eine zweifache Validierung (Client und Server) ist nicht redundant, sondern hat unterschiedliche Zwecke: Client-seitige Validierung verbessert die Nutzererfahrung (sofortiges Feedback), Server-seitige Validierung ist aus Sicherheitsgründen zwingend notwendig (der Client kann nie vollständig vertraut werden). Bei den Validatoren selbst unterscheidet man eingebaute (built-in) und selbst geschriebene (custom) Validatoren.</a:t>
            </a:r>
          </a:p>
        </p:txBody>
      </p:sp>
      <p:sp>
        <p:nvSpPr>
          <p:cNvPr id="4" name="Slide Number Placeholder 3"/>
          <p:cNvSpPr>
            <a:spLocks noGrp="1"/>
          </p:cNvSpPr>
          <p:nvPr>
            <p:ph type="sldNum" idx="66"/>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Validatoren.</a:t>
            </a:r>
          </a:p>
          <a:p/>
          <a:p>
            <a:r>
              <a:t>Beim Anlegen einer „FormGroup“ werden den einzelnen „FormControl“-Feldern direkt Validatoren mitgegeben, z. B. „Validators.required“ (Pflichtfeld), „Validators.maxLength(10)“ (maximale Zeichenlänge) oder „Validators.pattern('[0-9]{5}')“ (reguläre Ausdrücke, hier für eine fünfstellige Postleitzahl).</a:t>
            </a:r>
          </a:p>
        </p:txBody>
      </p:sp>
      <p:sp>
        <p:nvSpPr>
          <p:cNvPr id="4" name="Slide Number Placeholder 3"/>
          <p:cNvSpPr>
            <a:spLocks noGrp="1"/>
          </p:cNvSpPr>
          <p:nvPr>
            <p:ph type="sldNum" idx="66"/>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„Validierungsfehler“ – Zustandsmodell eines Feldes.</a:t>
            </a:r>
          </a:p>
          <a:p/>
          <a:p>
            <a:r>
              <a:t>Jedes Feld (und auch jede Gruppe/das ganze Formular) hat mehrere unabhängige Zustände: „untouched“/„touched“ (wurde das Feld schon einmal fokussiert), „pristine“/„dirty“ (wurde der Wert schon verändert), „valid“/„errors“ (ist der aktuelle Wert gültig) sowie natürlich der „value“ selbst. Angular setzt passend dazu automatisch CSS-Klassen wie „ng-valid“/„ng-invalid“ an den Elementen, worüber man visuelles Feedback stylen kann.</a:t>
            </a:r>
          </a:p>
        </p:txBody>
      </p:sp>
      <p:sp>
        <p:nvSpPr>
          <p:cNvPr id="4" name="Slide Number Placeholder 3"/>
          <p:cNvSpPr>
            <a:spLocks noGrp="1"/>
          </p:cNvSpPr>
          <p:nvPr>
            <p:ph type="sldNum" idx="66"/>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„Zugriff auf Fehlerzustand“.</a:t>
            </a:r>
          </a:p>
          <a:p/>
          <a:p>
            <a:r>
              <a:t>Zeigt, wie man anhand der Feldzustände dynamisch CSS-Klassen setzt, z. B. „[class.has-error]="form.controls.email.dirty &amp;&amp; !form.controls.email.valid"“ – ein Fehler-Stil wird also nur angezeigt, wenn der Nutzer das Feld bereits verändert hat UND es aktuell ungültig ist (nicht sofort beim ersten Anzeigen des leeren Formulars).</a:t>
            </a:r>
          </a:p>
        </p:txBody>
      </p:sp>
      <p:sp>
        <p:nvSpPr>
          <p:cNvPr id="4" name="Slide Number Placeholder 3"/>
          <p:cNvSpPr>
            <a:spLocks noGrp="1"/>
          </p:cNvSpPr>
          <p:nvPr>
            <p:ph type="sldNum" idx="66"/>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„ErrorsMap“.</a:t>
            </a:r>
          </a:p>
          <a:p/>
          <a:p>
            <a:r>
              <a:t>Über das „errors“-Objekt eines Feldes lässt sich gezielt prüfen, welcher konkrete Validierungsfehler vorliegt, z. B. „form.controls.password.errors?.required“ für eine fehlende Pflichteingabe. So können pro Feld mehrere, unterschiedliche Fehlermeldungen abhängig vom genauen Fehlertyp angezeigt werden.</a:t>
            </a:r>
          </a:p>
        </p:txBody>
      </p:sp>
      <p:sp>
        <p:nvSpPr>
          <p:cNvPr id="4" name="Slide Number Placeholder 3"/>
          <p:cNvSpPr>
            <a:spLocks noGrp="1"/>
          </p:cNvSpPr>
          <p:nvPr>
            <p:ph type="sldNum" idx="66"/>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22, Fortsetzung (Validierung): In „CustomerDetailComponent“ sollen Vor- und Nachname als Pflichtfelder validiert werden, die Postleitzahl als Text, der aber nur Ziffern enthalten darf. Für jedes ungültige Feld soll eine passende Fehlermeldung angezeigt und das Absenden eines ungültigen Formulars verhindert werden.</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„Ausblick: Resource API“.</a:t>
            </a:r>
          </a:p>
          <a:p/>
          <a:p>
            <a:r>
              <a:t>Zeigt eine mögliche Zukunftsrichtung: „CustomerDetailsComponent“ erhält die ID als Signal-Input und lädt darauf basierend automatisch neu, sobald sich die ID ändert – ganz ohne manuelles Abonnieren, über eine sogenannte Resource (z. B. „httpResource“/„rxResource“, teilweise noch experimentell in aktuellen Angular-Versionen).</a:t>
            </a:r>
          </a:p>
        </p:txBody>
      </p:sp>
      <p:sp>
        <p:nvSpPr>
          <p:cNvPr id="4" name="Slide Number Placeholder 3"/>
          <p:cNvSpPr>
            <a:spLocks noGrp="1"/>
          </p:cNvSpPr>
          <p:nvPr>
            <p:ph type="sldNum" idx="66"/>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a:t>
            </a:r>
          </a:p>
          <a:p/>
          <a:p>
            <a:r>
              <a:t>Eigene Direktiven lassen sich einfach per „ng generate directive &lt;directive-name&gt;“ erzeugen. Eine Direktive ist ebenfalls eine annotierte TypeScript-Klasse; der „selector“ definiert dabei aber kein neues HTML-Element wie bei Komponenten, sondern ein neues HTML-Attribut, das man auf bestehende Elemente setzen kann, um deren DOM-Verhalten oder -Erscheinung zu verändern.</a:t>
            </a:r>
          </a:p>
        </p:txBody>
      </p:sp>
      <p:sp>
        <p:nvSpPr>
          <p:cNvPr id="4" name="Slide Number Placeholder 3"/>
          <p:cNvSpPr>
            <a:spLocks noGrp="1"/>
          </p:cNvSpPr>
          <p:nvPr>
            <p:ph type="sldNum" idx="66"/>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 Directive: Beispiel“.</a:t>
            </a:r>
          </a:p>
          <a:p/>
          <a:p>
            <a:r>
              <a:t>Zeigt eine einfache Attribut-Direktive „[appHighlight]“, die per „ElementRef“ und „inject()“ Zugriff auf das zugehörige DOM-Element bekommt (z. B. um dessen Hintergrundfarbe zu ändern) – ein vollständiges Beispiel dazu findet sich in der offiziellen Angular-Dokumentation unter angular.dev/guide/directives/attribute-directives.</a:t>
            </a:r>
          </a:p>
        </p:txBody>
      </p:sp>
      <p:sp>
        <p:nvSpPr>
          <p:cNvPr id="4" name="Slide Number Placeholder 3"/>
          <p:cNvSpPr>
            <a:spLocks noGrp="1"/>
          </p:cNvSpPr>
          <p:nvPr>
            <p:ph type="sldNum" idx="66"/>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 Module (NgModule)“ – markiert deutlich den Beginn des Legacy-Kapitels. Wichtiger Hinweis an die Gruppe: Alles Folgende ist NICHT mehr der heutige Standard, sondern zeigt, wie Angular-Projekte vor der Standalone-Umstellung (bis Angular 14) organisiert waren. Relevant vor allem für alle, die in bestehenden, älteren Projekten arbeiten müssen (siehe auch Projektordner 25_modules_legacy).</a:t>
            </a:r>
          </a:p>
        </p:txBody>
      </p:sp>
      <p:sp>
        <p:nvSpPr>
          <p:cNvPr id="4" name="Slide Number Placeholder 3"/>
          <p:cNvSpPr>
            <a:spLocks noGrp="1"/>
          </p:cNvSpPr>
          <p:nvPr>
            <p:ph type="sldNum" idx="66"/>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Modul“.</a:t>
            </a:r>
          </a:p>
          <a:p/>
          <a:p>
            <a:r>
              <a:t>Das klassische NgModule-Konzept: Angular-spezifischer Code musste in Modulen organisiert werden, nach ähnlichen Grundgedanken wie normale ES6-Module (Kapselung, Wiederverwendbarkeit). Module ermöglichten das gezielte Einbinden externer Bibliotheken und eine genaue Steuerung, was innerhalb der Anwendung überall sichtbar bzw. verwendbar war.</a:t>
            </a:r>
          </a:p>
        </p:txBody>
      </p:sp>
      <p:sp>
        <p:nvSpPr>
          <p:cNvPr id="4" name="Slide Number Placeholder 3"/>
          <p:cNvSpPr>
            <a:spLocks noGrp="1"/>
          </p:cNvSpPr>
          <p:nvPr>
            <p:ph type="sldNum" idx="66"/>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Moduls“.</a:t>
            </a:r>
          </a:p>
          <a:p/>
          <a:p>
            <a:r>
              <a:t>Im Gegensatz zur heutigen Standalone-Struktur gab es zusätzlich eine Datei „src/app/app.module.ts“, die das Hauptmodul der Anwendung definierte. Komponenten selbst (TypeScript-Klasse und Template) blieben strukturell ähnlich wie heute, mussten aber zusätzlich in genau einem Modul deklariert werden.</a:t>
            </a:r>
          </a:p>
        </p:txBody>
      </p:sp>
      <p:sp>
        <p:nvSpPr>
          <p:cNvPr id="4" name="Slide Number Placeholder 3"/>
          <p:cNvSpPr>
            <a:spLocks noGrp="1"/>
          </p:cNvSpPr>
          <p:nvPr>
            <p:ph type="sldNum" idx="66"/>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„Referenz auf Module in Index-Seite“ – zeigt vermutlich, dass sich an der eigentlichen „index.html“ kaum etwas ändert; der Unterschied liegt im Start-/Bootstrapping-Mechanismus, der über das Modul läuft statt direkt über „bootstrapApplication“.</a:t>
            </a:r>
          </a:p>
        </p:txBody>
      </p:sp>
      <p:sp>
        <p:nvSpPr>
          <p:cNvPr id="4" name="Slide Number Placeholder 3"/>
          <p:cNvSpPr>
            <a:spLocks noGrp="1"/>
          </p:cNvSpPr>
          <p:nvPr>
            <p:ph type="sldNum" idx="66"/>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 (Legacy-Wiederholung, identisch zum modernen Standalone-Kapitel).</a:t>
            </a:r>
          </a:p>
          <a:p/>
          <a:p>
            <a:r>
              <a:t>Auch im Modul-basierten Ansatz ist eine Komponente eine TypeScript-Klasse mit @Component-Annotation – dieser Grundbaustein hat sich durch die Standalone-Migration nicht verändert, nur die Art, wie die Komponente „bekannt gemacht“ wird (Modul-Deklaration statt „imports: []“).</a:t>
            </a:r>
          </a:p>
        </p:txBody>
      </p:sp>
      <p:sp>
        <p:nvSpPr>
          <p:cNvPr id="4" name="Slide Number Placeholder 3"/>
          <p:cNvSpPr>
            <a:spLocks noGrp="1"/>
          </p:cNvSpPr>
          <p:nvPr>
            <p:ph type="sldNum" idx="66"/>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 (Legacy-Wiederholung) – wiederholt die grundlegende Rolle einer Komponente: Ihre Eigenschaften sind die Schnittstelle zum Template, Funktionen dienen als Event-Handler. Auch das bleibt zwischen Modul- und Standalone-Ansatz identisch.</a:t>
            </a:r>
          </a:p>
        </p:txBody>
      </p:sp>
      <p:sp>
        <p:nvSpPr>
          <p:cNvPr id="4" name="Slide Number Placeholder 3"/>
          <p:cNvSpPr>
            <a:spLocks noGrp="1"/>
          </p:cNvSpPr>
          <p:nvPr>
            <p:ph type="sldNum" idx="66"/>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„Angular-Module: Die Component“ (Legacy).</a:t>
            </a:r>
          </a:p>
          <a:p/>
          <a:p>
            <a:r>
              <a:t>Zeigt dieselbe Beispiel-Komponente wie im modernen Kapitel, aber im Kontext, dass diese Klasse zusätzlich noch irgendwo in einem NgModule deklariert werden muss (siehe folgende Folien), statt eigenständig per „imports: []“ zu funktionieren.</a:t>
            </a:r>
          </a:p>
        </p:txBody>
      </p:sp>
      <p:sp>
        <p:nvSpPr>
          <p:cNvPr id="4" name="Slide Number Placeholder 3"/>
          <p:cNvSpPr>
            <a:spLocks noGrp="1"/>
          </p:cNvSpPr>
          <p:nvPr>
            <p:ph type="sldNum" idx="66"/>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Das HTML-Template“ – zeigt vermutlich, dass das Template selbst technisch unverändert bleibt; der Unterschied zum Standalone-Ansatz betrifft nur, welche Direktiven/Komponenten im Template ohne zusätzliche Deklaration im Modul überhaupt genutzt werden können.</a:t>
            </a:r>
          </a:p>
        </p:txBody>
      </p:sp>
      <p:sp>
        <p:nvSpPr>
          <p:cNvPr id="4" name="Slide Number Placeholder 3"/>
          <p:cNvSpPr>
            <a:spLocks noGrp="1"/>
          </p:cNvSpPr>
          <p:nvPr>
            <p:ph type="sldNum" idx="66"/>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 leitet die konkrete Struktur einer „@NgModule“-Annotation ein (declarations, imports, providers, bootstrap), die auf der übernächsten Folie im Detail gezeigt wird.</a:t>
            </a:r>
          </a:p>
        </p:txBody>
      </p:sp>
      <p:sp>
        <p:nvSpPr>
          <p:cNvPr id="4" name="Slide Number Placeholder 3"/>
          <p:cNvSpPr>
            <a:spLocks noGrp="1"/>
          </p:cNvSpPr>
          <p:nvPr>
            <p:ph type="sldNum" idx="66"/>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bis hier her“ (Legacy).</a:t>
            </a:r>
          </a:p>
          <a:p/>
          <a:p>
            <a:r>
              <a:t>Fasst den Modul-basierten Startvorgang zusammen: „bootstrapModule“ wird mit einem Modul (AppModule) aufgerufen, das Modul ist eine Referenz auf eine Klasse mit einem Decorator, und dieser Modul-Decorator listet die zur Anwendung gehörenden Komponenten auf – Angular erfährt so, welche Komponenten überhaupt zur Anwendung gehören.</a:t>
            </a:r>
          </a:p>
        </p:txBody>
      </p:sp>
      <p:sp>
        <p:nvSpPr>
          <p:cNvPr id="4" name="Slide Number Placeholder 3"/>
          <p:cNvSpPr>
            <a:spLocks noGrp="1"/>
          </p:cNvSpPr>
          <p:nvPr>
            <p:ph type="sldNum" idx="66"/>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(zweiter Teil) – zeigt vermutlich die vollständige, visuelle Struktur einer typischen „AppModule“-Klasse mit allen Decorator-Feldern im Detail.</a:t>
            </a:r>
          </a:p>
        </p:txBody>
      </p:sp>
      <p:sp>
        <p:nvSpPr>
          <p:cNvPr id="4" name="Slide Number Placeholder 3"/>
          <p:cNvSpPr>
            <a:spLocks noGrp="1"/>
          </p:cNvSpPr>
          <p:nvPr>
            <p:ph type="sldNum" idx="66"/>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(Legacy, Gegenstück zur modernen Bootstrapping-Folie).</a:t>
            </a:r>
          </a:p>
          <a:p/>
          <a:p>
            <a:r>
              <a:t>„bootstrapModule“ wird mit dem AppModule aufgerufen; das Modul hat einen Decorator mit einem Feld „bootstrap“, das die Referenz auf die eigentliche Wurzelkomponente (z. B. AppComponent) enthält – erst darüber weiß Angular, welche Komponente tatsächlich im DOM gerendert werden soll.</a:t>
            </a:r>
          </a:p>
        </p:txBody>
      </p:sp>
      <p:sp>
        <p:nvSpPr>
          <p:cNvPr id="4" name="Slide Number Placeholder 3"/>
          <p:cNvSpPr>
            <a:spLocks noGrp="1"/>
          </p:cNvSpPr>
          <p:nvPr>
            <p:ph type="sldNum" idx="66"/>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„Deklaration, Imports und Exports“ (Legacy).</a:t>
            </a:r>
          </a:p>
          <a:p/>
          <a:p>
            <a:r>
              <a:t>Ein „@NgModule({...})“-Beispiel: „declarations“ listet die zum Modul gehörenden Komponenten auf (hier ReleaseListComponent, ReleaseCardComponent), „imports“ bindet andere Module ein (z. B. BrowserModule), „exports“ macht ausgewählte, eigene Komponenten auch für andere, dieses Modul importierende Module nutzbar.</a:t>
            </a:r>
          </a:p>
        </p:txBody>
      </p:sp>
      <p:sp>
        <p:nvSpPr>
          <p:cNvPr id="4" name="Slide Number Placeholder 3"/>
          <p:cNvSpPr>
            <a:spLocks noGrp="1"/>
          </p:cNvSpPr>
          <p:nvPr>
            <p:ph type="sldNum" idx="66"/>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generieren“ (Legacy).</a:t>
            </a:r>
          </a:p>
          <a:p/>
          <a:p>
            <a:r>
              <a:t>Das Angular CLI konnte auch komplette Module automatisch anlegen: „ng generate module name“ erzeugt eine Modul-Klasse mit Annotation. Wichtiger Stolperstein, der explizit erwähnt wird: Ein neues Modul wird NICHT automatisch im nächsthöher gelegenen Modul registriert – das musste man händisch ergänzen.</a:t>
            </a:r>
          </a:p>
        </p:txBody>
      </p:sp>
      <p:sp>
        <p:nvSpPr>
          <p:cNvPr id="4" name="Slide Number Placeholder 3"/>
          <p:cNvSpPr>
            <a:spLocks noGrp="1"/>
          </p:cNvSpPr>
          <p:nvPr>
            <p:ph type="sldNum" idx="66"/>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DI Konfig“.</a:t>
            </a:r>
          </a:p>
          <a:p/>
          <a:p>
            <a:r>
              <a:t>Gleiches Grundprinzip wie im modernen Kapitel (Injector → Provider → Instance), aber die Konfiguration erfolgte hier zusätzlich zur Möglichkeit direkt am Service auch klassisch am Modul selbst, über das „providers“-Array in der „@NgModule“-Annotation.</a:t>
            </a:r>
          </a:p>
        </p:txBody>
      </p:sp>
      <p:sp>
        <p:nvSpPr>
          <p:cNvPr id="4" name="Slide Number Placeholder 3"/>
          <p:cNvSpPr>
            <a:spLocks noGrp="1"/>
          </p:cNvSpPr>
          <p:nvPr>
            <p:ph type="sldNum" idx="66"/>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Wie geht DI in Angular“ – inhaltlich identisch zur modernen DI-Folie (direkte Klassenangabe als Kurzform, vollständiges Provider-Objekt mit „provide“ und Erzeugungsrezept), nur im Kontext der Modul-Konfiguration statt der heutigen, meist service- oder komponentenbasierten Konfiguration.</a:t>
            </a:r>
          </a:p>
        </p:txBody>
      </p:sp>
      <p:sp>
        <p:nvSpPr>
          <p:cNvPr id="4" name="Slide Number Placeholder 3"/>
          <p:cNvSpPr>
            <a:spLocks noGrp="1"/>
          </p:cNvSpPr>
          <p:nvPr>
            <p:ph type="sldNum" idx="66"/>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Deklaration an Modulen“.</a:t>
            </a:r>
          </a:p>
          <a:p/>
          <a:p>
            <a:r>
              <a:t>Auch Pipes mussten früher in einem Modul deklariert (und bei Bedarf exportiert) werden, wie hier am Beispiel „HasLikesPipe“ innerhalb eines „AppModule“ gezeigt – im Gegensatz zum heutigen, direkten Import in der jeweiligen Standalone-Komponente.</a:t>
            </a:r>
          </a:p>
        </p:txBody>
      </p:sp>
      <p:sp>
        <p:nvSpPr>
          <p:cNvPr id="4" name="Slide Number Placeholder 3"/>
          <p:cNvSpPr>
            <a:spLocks noGrp="1"/>
          </p:cNvSpPr>
          <p:nvPr>
            <p:ph type="sldNum" idx="66"/>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Routenkonfiguration“.</a:t>
            </a:r>
          </a:p>
          <a:p/>
          <a:p>
            <a:r>
              <a:t>Das „RouterModule“ musste explizit in „AppModule“ importiert werden, um die Provider für den Router-Service bereitzustellen; der zugehörige Aufruf „RouterModule.forRoot(...)“ durfte dabei nur genau einmal im gesamten AppModule verwendet werden – ein häufiger Fehlerquellenhinweis in Legacy-Projekten.</a:t>
            </a:r>
          </a:p>
        </p:txBody>
      </p:sp>
      <p:sp>
        <p:nvSpPr>
          <p:cNvPr id="4" name="Slide Number Placeholder 3"/>
          <p:cNvSpPr>
            <a:spLocks noGrp="1"/>
          </p:cNvSpPr>
          <p:nvPr>
            <p:ph type="sldNum" idx="66"/>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Beispiel: Routen-Definition“.</a:t>
            </a:r>
          </a:p>
          <a:p/>
          <a:p>
            <a:r>
              <a:t>Zeigt dieselbe Grundidee wie die moderne „app.routes.ts“, aber eingebettet in „RouterModule.forRoot(appRoutes)“ innerhalb der „@NgModule“-Annotation, inklusive Redirect-Route und Fallback-Route mit „**“ auf eine „PageNotFoundComponent“.</a:t>
            </a:r>
          </a:p>
        </p:txBody>
      </p:sp>
      <p:sp>
        <p:nvSpPr>
          <p:cNvPr id="4" name="Slide Number Placeholder 3"/>
          <p:cNvSpPr>
            <a:spLocks noGrp="1"/>
          </p:cNvSpPr>
          <p:nvPr>
            <p:ph type="sldNum" idx="66"/>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Location-Strategy“ – inhaltlich identisch zur modernen Folie zu PathLocationStrategy/HashLocationStrategy; im NgModule-Kontext musste dafür zusätzlich ein „&lt;base href="."&gt;“-Tag in der „index.html“ korrekt gesetzt sein.</a:t>
            </a:r>
          </a:p>
        </p:txBody>
      </p:sp>
      <p:sp>
        <p:nvSpPr>
          <p:cNvPr id="4" name="Slide Number Placeholder 3"/>
          <p:cNvSpPr>
            <a:spLocks noGrp="1"/>
          </p:cNvSpPr>
          <p:nvPr>
            <p:ph type="sldNum" idx="66"/>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ActivatedRoute und params.subscribe“.</a:t>
            </a:r>
          </a:p>
          <a:p/>
          <a:p>
            <a:r>
              <a:t>Der klassische Weg, um an Routenparameter zu kommen: „ActivatedRoute“ wird per Konstruktor injiziert, und man abonniert manuell „route.params“ per „.subscribe(...)“, um bei jeder Änderung der Route den neuen Parameterwert zu erhalten. Wichtig: Diese Subscription musste in „ngOnDestroy“ selbst wieder abgemeldet werden (daher „implements OnInit, OnDestroy“) – im Gegensatz zum modernen, automatischen Component Input Binding.</a:t>
            </a:r>
          </a:p>
        </p:txBody>
      </p:sp>
      <p:sp>
        <p:nvSpPr>
          <p:cNvPr id="4" name="Slide Number Placeholder 3"/>
          <p:cNvSpPr>
            <a:spLocks noGrp="1"/>
          </p:cNvSpPr>
          <p:nvPr>
            <p:ph type="sldNum" idx="66"/>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Der Service HttpClient“.</a:t>
            </a:r>
          </a:p>
          <a:p/>
          <a:p>
            <a:r>
              <a:t>Auch früher war „HttpClient“ ein normaler, injizierbarer Service, allerdings musste dafür zusätzlich das „HttpModule“ (bzw. später „HttpClientModule“) explizit in „AppModule“ importiert werden – ein zusätzlicher Schritt, der beim modernen „provideHttpClient()“ in „main.ts“ entfällt.</a:t>
            </a:r>
          </a:p>
        </p:txBody>
      </p:sp>
      <p:sp>
        <p:nvSpPr>
          <p:cNvPr id="4" name="Slide Number Placeholder 3"/>
          <p:cNvSpPr>
            <a:spLocks noGrp="1"/>
          </p:cNvSpPr>
          <p:nvPr>
            <p:ph type="sldNum" idx="66"/>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25 (Legacy – Angular Module): Das mitgelieferte, NgModule-basierte Beispielprojekt „25_modules_legacy“ wird geöffnet, Backend und App gestartet und der Aufbau analysiert (main.ts mit „bootstrapModule“, AppModule mit declarations/imports/providers/bootstrap). Zusätzlich soll eine eigene, klassisch deklarierte Komponente im Modul erstellt werden, eine Standalone-Komponente per „imports: []“ in ein NgModule eingebunden werden (Mischbetrieb beider Ansätze), und optional kann das Projekt per „ng generate @angular/core:standalone“ automatisiert migriert werden.</a:t>
            </a:r>
          </a:p>
        </p:txBody>
      </p:sp>
      <p:sp>
        <p:nvSpPr>
          <p:cNvPr id="4" name="Slide Number Placeholder 3"/>
          <p:cNvSpPr>
            <a:spLocks noGrp="1"/>
          </p:cNvSpPr>
          <p:nvPr>
            <p:ph type="sldNum" idx="66"/>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markiert das Ende des eigentlichen Angular-Teils; es folgt ergänzendes Hintergrundwissen zu node.js und npm, das für das Verständnis der Werkzeugkette hilfreich, aber kein Angular-spezifisches Thema mehr ist.</a:t>
            </a:r>
          </a:p>
        </p:txBody>
      </p:sp>
      <p:sp>
        <p:nvSpPr>
          <p:cNvPr id="4" name="Slide Number Placeholder 3"/>
          <p:cNvSpPr>
            <a:spLocks noGrp="1"/>
          </p:cNvSpPr>
          <p:nvPr>
            <p:ph type="sldNum" idx="66"/>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leitet den Anhang zu node.js ein, der Laufzeitumgebung, auf der das gesamte Angular-Tooling (CLI, npm) letztlich basiert.</a:t>
            </a:r>
          </a:p>
        </p:txBody>
      </p:sp>
      <p:sp>
        <p:nvSpPr>
          <p:cNvPr id="4" name="Slide Number Placeholder 3"/>
          <p:cNvSpPr>
            <a:spLocks noGrp="1"/>
          </p:cNvSpPr>
          <p:nvPr>
            <p:ph type="sldNum" idx="66"/>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 Interpreter für server-seitiges JavaScript, basierend auf Googles V8-Engine (derselben Engine, die auch im Chrome-Browser JavaScript ausführt). Wichtig: Mit node.js selbst lassen sich keine Browser-Anwendungen mit UI betreiben – es gibt dort keine Benutzeroberfläche und keine User-Events, node.js läuft rein serverseitig bzw. als Kommandozeilenwerkzeug.</a:t>
            </a:r>
          </a:p>
        </p:txBody>
      </p:sp>
      <p:sp>
        <p:nvSpPr>
          <p:cNvPr id="4" name="Slide Number Placeholder 3"/>
          <p:cNvSpPr>
            <a:spLocks noGrp="1"/>
          </p:cNvSpPr>
          <p:nvPr>
            <p:ph type="sldNum" idx="66"/>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kompletter http-Server“.</a:t>
            </a:r>
          </a:p>
          <a:p/>
          <a:p>
            <a:r>
              <a:t>Zeigt, wie man mit node.js, ganz ohne zusätzliche Frameworks, allein mit den Modulen „http“ und „fs“ (Dateisystem) einen minimalen eigenen Webserver schreiben kann, der eingehende Anfragen selbst behandelt und z. B. abhängig von der angeforderten URL unterschiedliche Antworten liefert.</a:t>
            </a:r>
          </a:p>
        </p:txBody>
      </p:sp>
      <p:sp>
        <p:nvSpPr>
          <p:cNvPr id="4" name="Slide Number Placeholder 3"/>
          <p:cNvSpPr>
            <a:spLocks noGrp="1"/>
          </p:cNvSpPr>
          <p:nvPr>
            <p:ph type="sldNum" idx="66"/>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„Installation: node.js“ – zeigt vermutlich Screenshots des Installationsvorgangs von node.js auf dem jeweiligen Betriebssystem.</a:t>
            </a:r>
          </a:p>
        </p:txBody>
      </p:sp>
      <p:sp>
        <p:nvSpPr>
          <p:cNvPr id="4" name="Slide Number Placeholder 3"/>
          <p:cNvSpPr>
            <a:spLocks noGrp="1"/>
          </p:cNvSpPr>
          <p:nvPr>
            <p:ph type="sldNum" idx="66"/>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„Testen der Installation“ – zeigt vermutlich, wie man per Kommandozeile (z. B. „node -v“) prüft, ob node.js korrekt installiert wurde.</a:t>
            </a:r>
          </a:p>
        </p:txBody>
      </p:sp>
      <p:sp>
        <p:nvSpPr>
          <p:cNvPr id="4" name="Slide Number Placeholder 3"/>
          <p:cNvSpPr>
            <a:spLocks noGrp="1"/>
          </p:cNvSpPr>
          <p:nvPr>
            <p:ph type="sldNum" idx="66"/>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und Browser-basierte Anwendungen“.</a:t>
            </a:r>
          </a:p>
          <a:p/>
          <a:p>
            <a:r>
              <a:t>Auch wenn node.js selbst nicht im Browser läuft, wird es in der Webentwicklung dennoch häufig genutzt: als lokaler Web-Server, der JavaScript-Dateien und andere statische Ressourcen an den Browser ausliefert – genau das, was z. B. der „ng serve“-Entwicklungsserver im Hintergrund letztlich auch tut.</a:t>
            </a:r>
          </a:p>
        </p:txBody>
      </p:sp>
      <p:sp>
        <p:nvSpPr>
          <p:cNvPr id="4" name="Slide Number Placeholder 3"/>
          <p:cNvSpPr>
            <a:spLocks noGrp="1"/>
          </p:cNvSpPr>
          <p:nvPr>
            <p:ph type="sldNum" idx="66"/>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leitet den letzten Anhangs-Abschnitt zum Paketmanager npm ein, der im Kurs von Anfang an ständig genutzt wurde (z. B. für „npm install“).</a:t>
            </a:r>
          </a:p>
        </p:txBody>
      </p:sp>
      <p:sp>
        <p:nvSpPr>
          <p:cNvPr id="4" name="Slide Number Placeholder 3"/>
          <p:cNvSpPr>
            <a:spLocks noGrp="1"/>
          </p:cNvSpPr>
          <p:nvPr>
            <p:ph type="sldNum" idx="66"/>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primär ein Paketmanager (zum Verwalten und Installieren von Bibliotheken/Abhängigkeiten) und wird automatisch mit jeder node.js-Installation mitgeliefert, prüfbar per „npm -v“. Die zentrale, öffentliche npm-Registry im Internet enthält alle veröffentlichten Pakete und basiert intern auf einer CouchDB-Datenbank.</a:t>
            </a:r>
          </a:p>
        </p:txBody>
      </p:sp>
      <p:sp>
        <p:nvSpPr>
          <p:cNvPr id="4" name="Slide Number Placeholder 3"/>
          <p:cNvSpPr>
            <a:spLocks noGrp="1"/>
          </p:cNvSpPr>
          <p:nvPr>
            <p:ph type="sldNum" idx="66"/>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Kommandos“.</a:t>
            </a:r>
          </a:p>
          <a:p/>
          <a:p>
            <a:r>
              <a:t>npm wird primär über die Kommandozeile bedient (eine grafische Oberfläche existiert nur als separates, zusätzliches Werkzeug). Ein integriertes Hilfesystem ist über „npm -h“ bzw. „npm &lt;command&gt; -h“ erreichbar, ergänzt durch die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 leitet ein, wie eine über npm installierte Bibliothek intern aufgebaut ist.</a:t>
            </a:r>
          </a:p>
        </p:txBody>
      </p:sp>
      <p:sp>
        <p:nvSpPr>
          <p:cNvPr id="4" name="Slide Number Placeholder 3"/>
          <p:cNvSpPr>
            <a:spLocks noGrp="1"/>
          </p:cNvSpPr>
          <p:nvPr>
            <p:ph type="sldNum" idx="66"/>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Modules“.</a:t>
            </a:r>
          </a:p>
          <a:p/>
          <a:p>
            <a:r>
              <a:t>Jede über npm geladene Bibliothek ist selbst als eigenständiges Node-Module aufgebaut: Sie besitzt eine eigene „package.json“ (beschreibt das Projekt/Modul) sowie ihre eigenen, abhängigen Bibliotheken in einem Unterordner – Node-Module können also selbst wieder von weiteren Node-Modulen abhängen.</a:t>
            </a:r>
          </a:p>
        </p:txBody>
      </p:sp>
      <p:sp>
        <p:nvSpPr>
          <p:cNvPr id="4" name="Slide Number Placeholder 3"/>
          <p:cNvSpPr>
            <a:spLocks noGrp="1"/>
          </p:cNvSpPr>
          <p:nvPr>
            <p:ph type="sldNum" idx="66"/>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Diese zentrale Projektdatei im JSON-Format enthält u. a. den Projektnamen, die aktuelle Versionsnummer, Meta-Informationen wie Autor, Schlüsselwörter und Lizenz, die Liste der Abhängigkeiten (Dependencies) sowie den bereits bekannten „scripts“-Block mit den Kurzbefehlen des Projekts.</a:t>
            </a:r>
          </a:p>
        </p:txBody>
      </p:sp>
      <p:sp>
        <p:nvSpPr>
          <p:cNvPr id="4" name="Slide Number Placeholder 3"/>
          <p:cNvSpPr>
            <a:spLocks noGrp="1"/>
          </p:cNvSpPr>
          <p:nvPr>
            <p:ph type="sldNum" idx="66"/>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„Initialisierung eines Projekts“.</a:t>
            </a:r>
          </a:p>
          <a:p/>
          <a:p>
            <a:r>
              <a:t>Jedes eigene npm-Projekt ist letztlich selbst wieder ein Node-Module. Mit „npm init“ wird interaktiv abgefragt, welche Informationen (Name, Version, Beschreibung usw.) in die neu zu erstellende „package.json“ eingetragen werden sollen.</a:t>
            </a:r>
          </a:p>
        </p:txBody>
      </p:sp>
      <p:sp>
        <p:nvSpPr>
          <p:cNvPr id="4" name="Slide Number Placeholder 3"/>
          <p:cNvSpPr>
            <a:spLocks noGrp="1"/>
          </p:cNvSpPr>
          <p:nvPr>
            <p:ph type="sldNum" idx="66"/>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„Projektstruktur“ – zeigt vermutlich den typischen Ordneraufbau eines einfachen, node-basierten Projekts (z. B. „node_modules“, „package.json“, eigene Quellcode-Dateien) als Referenz für den Anhang.</a:t>
            </a:r>
          </a:p>
        </p:txBody>
      </p:sp>
      <p:sp>
        <p:nvSpPr>
          <p:cNvPr id="4" name="Slide Number Placeholder 3"/>
          <p:cNvSpPr>
            <a:spLocks noGrp="1"/>
          </p:cNvSpPr>
          <p:nvPr>
            <p:ph type="sldNum" idx="66"/>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Projekt“.</a:t>
            </a:r>
          </a:p>
          <a:p/>
          <a:p>
            <a:r>
              <a:t>Zeigt eine minimale, vollständige „package.json“ mit Name, Version, Beschreibung, dem Haupteinstiegspunkt „main: index.js“ und einem einfachen, noch nicht konfigurierten „test“-Script als Platzhalter.</a:t>
            </a:r>
          </a:p>
        </p:txBody>
      </p:sp>
      <p:sp>
        <p:nvSpPr>
          <p:cNvPr id="4" name="Slide Number Placeholder 3"/>
          <p:cNvSpPr>
            <a:spLocks noGrp="1"/>
          </p:cNvSpPr>
          <p:nvPr>
            <p:ph type="sldNum" idx="66"/>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Node-Module“.</a:t>
            </a:r>
          </a:p>
          <a:p/>
          <a:p>
            <a:r>
              <a:t>Eine Datei „index.js“ exportiert über „module.exports = { ... }“ ein Objekt mit einer Funktion „log“. In der interaktiven node-Konsole (REPL) lässt sich dieses Modul per „require('./index.js')“ laden und die exportierte Funktion direkt aufrufen – das Grundprinzip von „require“/„module.exports“, dem klassischen node.js-Modulsystem (im Unterschied zu den ES-Modulen mit „import“/„export“, die im TypeScript-Kapitel gezeigt wurden).</a:t>
            </a:r>
          </a:p>
        </p:txBody>
      </p:sp>
      <p:sp>
        <p:nvSpPr>
          <p:cNvPr id="4" name="Slide Number Placeholder 3"/>
          <p:cNvSpPr>
            <a:spLocks noGrp="1"/>
          </p:cNvSpPr>
          <p:nvPr>
            <p:ph type="sldNum" idx="66"/>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„Installieren von Abhängigkeiten“ – Abschlussfolie des Anhangs.</a:t>
            </a:r>
          </a:p>
          <a:p/>
          <a:p>
            <a:r>
              <a:t>Abhängigkeiten werden per „npm install“ von einer npm-Registry geladen; ohne weitere Konfiguration ist das die offizielle Standard-Registry im Internet, wofür eine Internetverbindung notwendig ist. Es können aber auch alternative, z. B. firmeninterne Registries konfiguriert werden.</a:t>
            </a:r>
          </a:p>
        </p:txBody>
      </p:sp>
      <p:sp>
        <p:nvSpPr>
          <p:cNvPr id="4" name="Slide Number Placeholder 3"/>
          <p:cNvSpPr>
            <a:spLocks noGrp="1"/>
          </p:cNvSpPr>
          <p:nvPr>
            <p:ph type="sldNum" idx="66"/>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(httpResource &amp; rxResource)“.</a:t>
            </a:r>
          </a:p>
          <a:p/>
          <a:p>
            <a:r>
              <a:t>Erklärung für die Dolmetscherin:</a:t>
            </a:r>
          </a:p>
          <a:p>
            <a:r>
              <a:t>Die Resource API ist eine der wichtigsten Neuerungen in Angular 19 und 21 für das Laden von Daten über das Netzwerk.</a:t>
            </a:r>
          </a:p>
          <a:p/>
          <a:p>
            <a:r>
              <a:t>Bisher musste man für HTTP-Abfragen immer RxJS-Observables abonnieren (per .subscribe() oder im Template mit der async-Pipe) und Ladezustände oder Fehlermeldungen manuell in separaten Variablen speichern. Die Resource API vereinfacht das drastisch:</a:t>
            </a:r>
          </a:p>
          <a:p>
            <a:r>
              <a:t>Mit Funktionen wie httpResource() oder rxResource() deklariert man eine Datenquelle. Angular kümmert sich vollautomatisch um das Absenden des Requests und stellt das Ergebnis direkt als Signals bereit: value() für die geladenen Daten, isLoading() als boolescher Ladeindikator und error() für eventuelle Netzwerkfehler.</a:t>
            </a:r>
          </a:p>
          <a:p>
            <a:r>
              <a:t>Ändert sich ein Parameter (zum Beispiel die ID des Kunden in der URL), bricht die Resource den alten Request automatisch ab und lädt die neuen Daten nach. Das spart viel fehleranfälligen Code.</a:t>
            </a:r>
          </a:p>
        </p:txBody>
      </p:sp>
      <p:sp>
        <p:nvSpPr>
          <p:cNvPr id="4" name="Slide Number Placeholder 3"/>
          <p:cNvSpPr>
            <a:spLocks noGrp="1"/>
          </p:cNvSpPr>
          <p:nvPr>
            <p:ph type="sldNum" idx="66"/>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httpResource &amp; rxResource“.</a:t>
            </a:r>
          </a:p>
          <a:p/>
          <a:p>
            <a:r>
              <a:t>Erklärung für die Dolmetscherin:</a:t>
            </a:r>
          </a:p>
          <a:p>
            <a:r>
              <a:t>Diese Folie zeigt konkreten TypeScript-Code für den Einsatz der beiden Resource-Funktionen.</a:t>
            </a:r>
          </a:p>
          <a:p/>
          <a:p>
            <a:r>
              <a:t>Oberer Block: In der Kundenliste reicht ein Einzeiler mit httpResource('/api/customer'). Angular liefert die Daten als Signal customers und den Ladestatus als Signal isLoading.</a:t>
            </a:r>
          </a:p>
          <a:p/>
          <a:p>
            <a:r>
              <a:t>Unterer Block: In der Detail-Komponente wird rxResource verwendet. Über params: () =&gt; this.id() wird der Datenstrom an das Signal-Input der URL gebunden. Sobald der Anwender einen anderen Kunden anklickt, wird stream ausgeführt und der passende Kunde geladen. Im Template kann man direkt @if (isLoading()) und @if (customer()) verwenden.</a:t>
            </a:r>
          </a:p>
        </p:txBody>
      </p:sp>
      <p:sp>
        <p:nvSpPr>
          <p:cNvPr id="4" name="Slide Number Placeholder 3"/>
          <p:cNvSpPr>
            <a:spLocks noGrp="1"/>
          </p:cNvSpPr>
          <p:nvPr>
            <p:ph type="sldNum" idx="66"/>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a:t>
            </a:r>
          </a:p>
          <a:p/>
          <a:p>
            <a:r>
              <a:t>Die Teilnehmer modernisieren hier die Backend-Kommunikation der Schulungs-App:</a:t>
            </a:r>
          </a:p>
          <a:p>
            <a:r>
              <a:t>In der Kundenliste wird httpResource eingesetzt, um die Liste vom Server zu laden und Ladebalken anzuzeigen. In der Detailansicht wird rxResource eingesetzt, damit beim Klick auf einen Kunden die Details automatisch geladen werden, ohne dass man manuelle Subscriptions oder Lifecycle-Hooks verwalten muss.</a:t>
            </a:r>
          </a:p>
        </p:txBody>
      </p:sp>
      <p:sp>
        <p:nvSpPr>
          <p:cNvPr id="4" name="Slide Number Placeholder 3"/>
          <p:cNvSpPr>
            <a:spLocks noGrp="1"/>
          </p:cNvSpPr>
          <p:nvPr>
            <p:ph type="sldNum" idx="66"/>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„Bild-Optimierung mit NgOptimizedImage“.</a:t>
            </a:r>
          </a:p>
          <a:p/>
          <a:p>
            <a:r>
              <a:t>Erklärung für die Dolmetscherin:</a:t>
            </a:r>
          </a:p>
          <a:p>
            <a:r>
              <a:t>Diese Folie behandelt die eingebaute Angular-Direktive NgOptimizedImage zur Bildoptimierung.</a:t>
            </a:r>
          </a:p>
          <a:p/>
          <a:p>
            <a:r>
              <a:t>Bilder sind oft der größte Leistungsfresser im Web. Wenn ein normales &lt;img&gt;-Tag ohne Größenangaben geladen wird, springt das Layout beim Laden plötzlich hin und her – das nennt man Layout Shift und stört Nutzer sehr.</a:t>
            </a:r>
          </a:p>
          <a:p/>
          <a:p>
            <a:r>
              <a:t>NgOptimizedImage löst das: Man schreibt [ngSrc] statt [src]. Angular erzwingt feste Breiten- und Höhenangaben, lädt Bilder standardmäßig erst nach, wenn man zu ihnen scrollt (Lazy Loading), und lädt wichtige Bilder im sichtbaren Bereich mit höchster Priorität (priority-Attribut). Zudem warnt Angular in der Entwickler-Konsole, wenn Bilder falsch dimensioniert sind.</a:t>
            </a:r>
          </a:p>
        </p:txBody>
      </p:sp>
      <p:sp>
        <p:nvSpPr>
          <p:cNvPr id="4" name="Slide Number Placeholder 3"/>
          <p:cNvSpPr>
            <a:spLocks noGrp="1"/>
          </p:cNvSpPr>
          <p:nvPr>
            <p:ph type="sldNum" idx="66"/>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NgOptimizedImage“.</a:t>
            </a:r>
          </a:p>
          <a:p/>
          <a:p>
            <a:r>
              <a:t>Erklärung für die Dolmetscherin:</a:t>
            </a:r>
          </a:p>
          <a:p>
            <a:r>
              <a:t>Diese Folie zeigt die praktische Anwendung im Code:</a:t>
            </a:r>
          </a:p>
          <a:p>
            <a:r>
              <a:t>1. NgOptimizedImage wird aus @angular/common importiert und in das imports-Array der Komponente eingetragen.</a:t>
            </a:r>
          </a:p>
          <a:p>
            <a:r>
              <a:t>2. Im HTML-Template wird das Attribut [ngSrc] mit der Bild-URL belegt.</a:t>
            </a:r>
          </a:p>
          <a:p>
            <a:r>
              <a:t>3. width="200" und height="200" teilen dem Browser die genaue Pixelgröße mit.</a:t>
            </a:r>
          </a:p>
          <a:p>
            <a:r>
              <a:t>4. Das Attribut priority kennzeichnet das Bild als wichtig, sodass der Browser es sofort ohne Verzögerung herunterlädt.</a:t>
            </a:r>
          </a:p>
        </p:txBody>
      </p:sp>
      <p:sp>
        <p:nvSpPr>
          <p:cNvPr id="4" name="Slide Number Placeholder 3"/>
          <p:cNvSpPr>
            <a:spLocks noGrp="1"/>
          </p:cNvSpPr>
          <p:nvPr>
            <p:ph type="sldNum" idx="66"/>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a:t>
            </a:r>
          </a:p>
          <a:p/>
          <a:p>
            <a:r>
              <a:t>Die Teilnehmer rüsten die Bildausgabe in den Kundendetails auf die moderne Direktive um. Dabei lernen sie, wie [ngSrc], feste Breiten-/Höhenangaben und das priority-Attribut zusammenspielen.</a:t>
            </a:r>
          </a:p>
        </p:txBody>
      </p:sp>
      <p:sp>
        <p:nvSpPr>
          <p:cNvPr id="4" name="Slide Number Placeholder 3"/>
          <p:cNvSpPr>
            <a:spLocks noGrp="1"/>
          </p:cNvSpPr>
          <p:nvPr>
            <p:ph type="sldNum" idx="66"/>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Erklärung für die Dolmetscherin:</a:t>
            </a:r>
          </a:p>
          <a:p>
            <a:r>
              <a:t>Diese Folie stellt die neuen Signal Queries in Angular vor.</a:t>
            </a:r>
          </a:p>
          <a:p/>
          <a:p>
            <a:r>
              <a:t>Manchmal muss eine Komponente direkt auf ein HTML-Element in ihrem eigenen Template zugreifen – zum Beispiel um den Tastatur-Fokus auf ein Suchfeld zu setzen oder eine Animation zu starten. Früher brauchte man dafür den Dekorator @ViewChild und musste warten, bis der Lifecycle-Hook ngAfterViewInit aufgerufen wurde.</a:t>
            </a:r>
          </a:p>
          <a:p/>
          <a:p>
            <a:r>
              <a:t>Mit viewChild() deklariert man eine solche Abfrage einfach als Signal. Angular befüllt das Signal automatisch, sobald das Element gerendert ist. Das ist viel einfacher, typsicher und funktioniert nahtlos mit allen anderen Signal-Funktionen.</a:t>
            </a:r>
          </a:p>
        </p:txBody>
      </p:sp>
      <p:sp>
        <p:nvSpPr>
          <p:cNvPr id="4" name="Slide Number Placeholder 3"/>
          <p:cNvSpPr>
            <a:spLocks noGrp="1"/>
          </p:cNvSpPr>
          <p:nvPr>
            <p:ph type="sldNum" idx="66"/>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DOM-Zugriff mit viewChild()“.</a:t>
            </a:r>
          </a:p>
          <a:p/>
          <a:p>
            <a:r>
              <a:t>Erklärung für die Dolmetscherin:</a:t>
            </a:r>
          </a:p>
          <a:p>
            <a:r>
              <a:t>Diese Folie zeigt ein konkretes Code-Beispiel für ein Suchfeld:</a:t>
            </a:r>
          </a:p>
          <a:p>
            <a:r>
              <a:t>Im Template erhält das &lt;input&gt;-Feld eine Markierung mit #searchInput. In der TypeScript-Klasse wird searchInput = viewChild('searchInput') deklariert. Klickt der Anwender auf Zurücksetzen, liest die Methode resetSearch das Signal mit this.searchInput() aus und setzt über .nativeElement.focus() den Eingabefokus direkt wieder in das Feld.</a:t>
            </a:r>
          </a:p>
        </p:txBody>
      </p:sp>
      <p:sp>
        <p:nvSpPr>
          <p:cNvPr id="4" name="Slide Number Placeholder 3"/>
          <p:cNvSpPr>
            <a:spLocks noGrp="1"/>
          </p:cNvSpPr>
          <p:nvPr>
            <p:ph type="sldNum" idx="66"/>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a:t>
            </a:r>
          </a:p>
          <a:p/>
          <a:p>
            <a:r>
              <a:t>Die Teilnehmer bauen eine Filterfunktion in die Kundenliste ein und nutzen viewChild(), um nach dem Löschen des Filters den Eingabefokus programmatisch wieder auf das Suchfeld zu setzen.</a:t>
            </a:r>
          </a:p>
        </p:txBody>
      </p:sp>
      <p:sp>
        <p:nvSpPr>
          <p:cNvPr id="4" name="Slide Number Placeholder 3"/>
          <p:cNvSpPr>
            <a:spLocks noGrp="1"/>
          </p:cNvSpPr>
          <p:nvPr>
            <p:ph type="sldNum" idx="66"/>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„Komponenten-Komposition mit &lt;ng-content&gt;“.</a:t>
            </a:r>
          </a:p>
          <a:p/>
          <a:p>
            <a:r>
              <a:t>Erklärung für die Dolmetscherin:</a:t>
            </a:r>
          </a:p>
          <a:p>
            <a:r>
              <a:t>Diese Folie erklärt das Konzept der Content Projection in Angular.</a:t>
            </a:r>
          </a:p>
          <a:p/>
          <a:p>
            <a:r>
              <a:t>Content Projection bedeutet, dass eine Elternkomponente beliebigen HTML-Inhalt in das Innere einer Kindkomponente hineinstecken kann – ähnlich wie ein Bilderrahmen, in den man verschiedene Bilder einsetzt. Die Kindkomponente definiert mit dem Tag &lt;ng-content&gt; die Stellen, an denen der hineingereichte Inhalt erscheinen soll.</a:t>
            </a:r>
          </a:p>
          <a:p/>
          <a:p>
            <a:r>
              <a:t>Über das select-Attribut kann man mehrere getrennte Fächer (Slots) anlegen: zum Beispiel einen Bereich für die Überschrift, einen Hauptbereich für den Inhalt und einen Fußbereich für Buttons. Das ermöglicht saubere, wiederverwendbare Design-Komponenten.</a:t>
            </a:r>
          </a:p>
        </p:txBody>
      </p:sp>
      <p:sp>
        <p:nvSpPr>
          <p:cNvPr id="4" name="Slide Number Placeholder 3"/>
          <p:cNvSpPr>
            <a:spLocks noGrp="1"/>
          </p:cNvSpPr>
          <p:nvPr>
            <p:ph type="sldNum" idx="66"/>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Multi-Slot Content Projection“.</a:t>
            </a:r>
          </a:p>
          <a:p/>
          <a:p>
            <a:r>
              <a:t>Erklärung für die Dolmetscherin:</a:t>
            </a:r>
          </a:p>
          <a:p>
            <a:r>
              <a:t>Diese Folie zeigt das Zusammenspiel von CardComponent und Elterntemplate im Code:</a:t>
            </a:r>
          </a:p>
          <a:p>
            <a:r>
              <a:t>Oben: Die Card-Komponente stellt drei Slots bereit: [card-header], den Hauptslot ohne Einschränkung und [card-footer].</a:t>
            </a:r>
          </a:p>
          <a:p/>
          <a:p>
            <a:r>
              <a:t>Unten: Bei der Verwendung übergibt die Elternkomponente Elemente mit den passenden Attributen (card-header für die Überschrift, card-footer für den Speichern-Button) und packt das Formular einfach in den Hauptbereich. Angular ordnet jedes Element automatisch dem richtigen Slot zu.</a:t>
            </a:r>
          </a:p>
        </p:txBody>
      </p:sp>
      <p:sp>
        <p:nvSpPr>
          <p:cNvPr id="4" name="Slide Number Placeholder 3"/>
          <p:cNvSpPr>
            <a:spLocks noGrp="1"/>
          </p:cNvSpPr>
          <p:nvPr>
            <p:ph type="sldNum" idx="66"/>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a:t>
            </a:r>
          </a:p>
          <a:p/>
          <a:p>
            <a:r>
              <a:t>Die Teilnehmer erstellen eine eigene wiederverwendbare Card-Komponente mit Multi-Slot Content Projection und betten die Kundendetails und Buttons strukturiert darin ein.</a:t>
            </a:r>
          </a:p>
        </p:txBody>
      </p:sp>
      <p:sp>
        <p:nvSpPr>
          <p:cNvPr id="4" name="Slide Number Placeholder 3"/>
          <p:cNvSpPr>
            <a:spLocks noGrp="1"/>
          </p:cNvSpPr>
          <p:nvPr>
            <p:ph type="sldNum" idx="66"/>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„Server-Side Rendering (SSR) &amp; Hydration“.</a:t>
            </a:r>
          </a:p>
          <a:p/>
          <a:p>
            <a:r>
              <a:t>Erklärung für die Dolmetscherin:</a:t>
            </a:r>
          </a:p>
          <a:p>
            <a:r>
              <a:t>Diese Folie gibt einen Überblick über Server-Side Rendering (SSR) und Hydration in modernen Angular-Versionen.</a:t>
            </a:r>
          </a:p>
          <a:p/>
          <a:p>
            <a:r>
              <a:t>Klassische Single-Page-Apps senden zunächst eine fast leere HTML-Seite an den Browser, und erst wenn das gesamte JavaScript geladen ist, wird die Seite sichtbar. Das ist schlecht für Suchmaschinen und langsame Mobilgeräte.</a:t>
            </a:r>
          </a:p>
          <a:p/>
          <a:p>
            <a:r>
              <a:t>Mit SSR rendert der Server die fertige HTML-Seite vorab. Der Nutzer sieht die Seite sofort (schneller First Contentful Paint). Im Hintergrund lädt Angular das JavaScript und verknüpft die interaktiven Funktionen mit dem bestehenden HTML – das nennt man Hydration (ohne Flackern). Mit Event Replay merkt sich Angular sogar Klicks, die der Anwender während des Ladens macht, und führt sie direkt nach der Hydration aus.</a:t>
            </a:r>
          </a:p>
        </p:txBody>
      </p:sp>
      <p:sp>
        <p:nvSpPr>
          <p:cNvPr id="4" name="Slide Number Placeholder 3"/>
          <p:cNvSpPr>
            <a:spLocks noGrp="1"/>
          </p:cNvSpPr>
          <p:nvPr>
            <p:ph type="sldNum" idx="66"/>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Route Guards“.</a:t>
            </a:r>
          </a:p>
          <a:p/>
          <a:p>
            <a:r>
              <a:t>Erklärung für die Dolmetscherin:</a:t>
            </a:r>
          </a:p>
          <a:p>
            <a:r>
              <a:t>Route Guards schützen bestimmte Seiten oder Routen vor unberechtigtem Zugriff – zum Beispiel darf ein Anwender die Kundendaten nur sehen, wenn er eingeloggt ist.</a:t>
            </a:r>
          </a:p>
          <a:p/>
          <a:p>
            <a:r>
              <a:t>In älteren Angular-Versionen musste man dafür eine ganze TypeScript-Klasse mit dem Interface CanActivate schreiben. In modernem Angular reicht eine einfache Funktion: export const authGuard: CanActivateFn = () =&gt; { ... }.</a:t>
            </a:r>
          </a:p>
          <a:p>
            <a:r>
              <a:t>Über inject() holt sich der Guard den AuthService und den Router. Ist der Nutzer eingeloggt, gibt er true zurück. Andernfalls leitet er per router.navigate(["/login"]) auf die Login-Seite um und gibt false zurück.</a:t>
            </a:r>
          </a:p>
          <a:p>
            <a:r>
              <a:t>In der Routen-Konfiguration wird der Guard einfach im canActivate-Array eingetragen: canActivate: [authGuard].</a:t>
            </a:r>
          </a:p>
        </p:txBody>
      </p:sp>
      <p:sp>
        <p:nvSpPr>
          <p:cNvPr id="4" name="Slide Number Placeholder 3"/>
          <p:cNvSpPr>
            <a:spLocks noGrp="1"/>
          </p:cNvSpPr>
          <p:nvPr>
            <p:ph type="sldNum" idx="66"/>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HTTP-Interceptors“.</a:t>
            </a:r>
          </a:p>
          <a:p/>
          <a:p>
            <a:r>
              <a:t>Erklärung für die Dolmetscherin:</a:t>
            </a:r>
          </a:p>
          <a:p>
            <a:r>
              <a:t>Ein HTTP-Interceptor fängt alle ausgehenden Netzwerkanfragen und eingehenden Antworten ab – ähnlich wie eine Zollkontrolle oder ein Postprüfer.</a:t>
            </a:r>
          </a:p>
          <a:p/>
          <a:p>
            <a:r>
              <a:t>Typische Aufgaben sind das Protokollieren von Anfragen (Logging), das automatische Hinzufügen von Sicherheits-Tokens (Auth-Header) oder die zentrale Behandlung von Serverfehlern.</a:t>
            </a:r>
          </a:p>
          <a:p/>
          <a:p>
            <a:r>
              <a:t>Auch hier nutzt modernes Angular eine einfache funktionale Schreibweise: export const loggingInterceptor: HttpInterceptorFn = (req, next) =&gt; { ... }.</a:t>
            </a:r>
          </a:p>
          <a:p>
            <a:r>
              <a:t>Mit next(req) wird die Anfrage weitergereicht. Über RxJS-Operatoren wie tap() kann die Dauer und das Ergebnis des Requests in der Konsole ausgegeben werden.</a:t>
            </a:r>
          </a:p>
          <a:p>
            <a:r>
              <a:t>Die Registrierung erfolgt in main.ts über provideHttpClient(withInterceptors([loggingInterceptor])).</a:t>
            </a:r>
          </a:p>
        </p:txBody>
      </p:sp>
      <p:sp>
        <p:nvSpPr>
          <p:cNvPr id="4" name="Slide Number Placeholder 3"/>
          <p:cNvSpPr>
            <a:spLocks noGrp="1"/>
          </p:cNvSpPr>
          <p:nvPr>
            <p:ph type="sldNum" idx="66"/>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a:t>
            </a:r>
          </a:p>
          <a:p/>
          <a:p>
            <a:r>
              <a:t>Die Teilnehmer schützen die Kundenrouten durch einen funktionalen Route Guard (authGuard) und erstellen eine Login-Komponente. Zudem implementieren sie einen funktionalen HTTP-Interceptor (loggingInterceptor), der alle HTTP-Aufrufe mit Zeitmessung in der Entwickler-Konsole protokolliert.</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jpeg"/><Relationship Id="rId3" Type="http://schemas.openxmlformats.org/officeDocument/2006/relationships/notesSlide" Target="../notesSlides/notesSlide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3.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 Id="rId7" Type="http://schemas.openxmlformats.org/officeDocument/2006/relationships/notesSlide" Target="../notesSlides/notesSlide5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6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2.jpeg"/><Relationship Id="rId3" Type="http://schemas.openxmlformats.org/officeDocument/2006/relationships/notesSlide" Target="../notesSlides/notesSlide6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13.png"/><Relationship Id="rId3" Type="http://schemas.openxmlformats.org/officeDocument/2006/relationships/notesSlide" Target="../notesSlides/notesSlide6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4.png"/><Relationship Id="rId3" Type="http://schemas.openxmlformats.org/officeDocument/2006/relationships/notesSlide" Target="../notesSlides/notesSlide6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 Id="rId7" Type="http://schemas.openxmlformats.org/officeDocument/2006/relationships/notesSlide" Target="../notesSlides/notesSlide7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angular.io/guide/attribute-directives" TargetMode="Externa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5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9.png"/><Relationship Id="rId3" Type="http://schemas.openxmlformats.org/officeDocument/2006/relationships/notesSlide" Target="../notesSlides/notesSlide25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8.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9.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0.png"/><Relationship Id="rId3" Type="http://schemas.openxmlformats.org/officeDocument/2006/relationships/notesSlide" Target="../notesSlides/notesSlide260.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4.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8.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9.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0.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4.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5.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2.jpeg"/><Relationship Id="rId3" Type="http://schemas.openxmlformats.org/officeDocument/2006/relationships/notesSlide" Target="../notesSlides/notesSlide276.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8.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9.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52.png"/><Relationship Id="rId3" Type="http://schemas.openxmlformats.org/officeDocument/2006/relationships/notesSlide" Target="../notesSlides/notesSlide280.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5.xml"/><Relationship Id="rId3" Type="http://schemas.openxmlformats.org/officeDocument/2006/relationships/diagramLayout" Target="../diagrams/layout15.xml"/><Relationship Id="rId4" Type="http://schemas.openxmlformats.org/officeDocument/2006/relationships/diagramQuickStyle" Target="../diagrams/quickStyle15.xml"/><Relationship Id="rId5" Type="http://schemas.openxmlformats.org/officeDocument/2006/relationships/diagramColors" Target="../diagrams/colors15.xml"/><Relationship Id="rId6" Type="http://schemas.microsoft.com/office/2007/relationships/diagramDrawing" Target="../diagrams/drawing15.xml"/><Relationship Id="rId7" Type="http://schemas.openxmlformats.org/officeDocument/2006/relationships/notesSlide" Target="../notesSlides/notesSlide28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3.jpeg"/><Relationship Id="rId3" Type="http://schemas.openxmlformats.org/officeDocument/2006/relationships/notesSlide" Target="../notesSlides/notesSlide28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misc/registry" TargetMode="External"/><Relationship Id="rId3" Type="http://schemas.openxmlformats.org/officeDocument/2006/relationships/notesSlide" Target="../notesSlides/notesSlide284.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 TargetMode="External"/><Relationship Id="rId3" Type="http://schemas.openxmlformats.org/officeDocument/2006/relationships/notesSlide" Target="../notesSlides/notesSlide285.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4.jpeg"/><Relationship Id="rId3" Type="http://schemas.openxmlformats.org/officeDocument/2006/relationships/notesSlide" Target="../notesSlides/notesSlide286.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8.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9.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 Id="rId7" Type="http://schemas.openxmlformats.org/officeDocument/2006/relationships/notesSlide" Target="../notesSlides/notesSlide290.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8" name="Picture 6" descr="CPU mit Binärzahlen und Blaupause"/>
          <p:cNvPicPr/>
          <p:nvPr/>
        </p:nvPicPr>
        <p:blipFill>
          <a:blip r:embed="rId2">
            <a:alphaModFix amt="50000"/>
          </a:blip>
          <a:stretch/>
        </p:blipFill>
        <p:spPr>
          <a:xfrm>
            <a:off x="0" y="0"/>
            <a:ext cx="12190680" cy="6856560"/>
          </a:xfrm>
          <a:prstGeom prst="rect">
            <a:avLst/>
          </a:prstGeom>
          <a:noFill/>
          <a:ln w="0">
            <a:noFill/>
          </a:ln>
        </p:spPr>
      </p:pic>
      <p:sp>
        <p:nvSpPr>
          <p:cNvPr id="16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Einrichten von Typescript </a:t>
            </a:r>
            <a:endParaRPr lang="de-DE" sz="6000" b="0" u="none" strike="noStrike">
              <a:solidFill>
                <a:srgbClr val="FFFFFF"/>
              </a:solidFill>
              <a:uFillTx/>
              <a:latin typeface="Arial"/>
            </a:endParaRPr>
          </a:p>
        </p:txBody>
      </p:sp>
      <p:sp>
        <p:nvSpPr>
          <p:cNvPr id="17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Installation</a:t>
            </a:r>
            <a:endParaRPr lang="de-DE" sz="2400" b="0" u="none" strike="noStrike">
              <a:solidFill>
                <a:srgbClr val="FFFFFF"/>
              </a:solidFill>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Benötigte Komponenten</a:t>
            </a:r>
            <a:endParaRPr lang="de-DE" sz="4400" b="0" u="none" strike="noStrike">
              <a:solidFill>
                <a:srgbClr val="000000"/>
              </a:solidFill>
              <a:uFillTx/>
              <a:latin typeface="Arial"/>
            </a:endParaRPr>
          </a:p>
        </p:txBody>
      </p:sp>
      <p:sp>
        <p:nvSpPr>
          <p:cNvPr id="1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TypeScript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r>
              <a:rPr lang="de-DE" sz="2400" b="0" u="none" strike="noStrike" dirty="0">
                <a:solidFill>
                  <a:schemeClr val="dk1"/>
                </a:solidFill>
                <a:uFillTx/>
                <a:latin typeface="Courier New"/>
              </a:rPr>
              <a:t>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Oder global</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sudo</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g</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Lite-Server</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lite</a:t>
            </a:r>
            <a:r>
              <a:rPr lang="de-DE" sz="2400" b="0" u="none" strike="noStrike" dirty="0">
                <a:solidFill>
                  <a:schemeClr val="dk1"/>
                </a:solidFill>
                <a:uFillTx/>
                <a:latin typeface="Courier New"/>
              </a:rPr>
              <a:t>-server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Parallelisierung von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-Kommandos</a:t>
            </a:r>
            <a:endParaRPr lang="de-DE" sz="2800" b="0" u="none" strike="noStrike" dirty="0">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2000" b="0" u="none" strike="noStrike" dirty="0" err="1">
                <a:solidFill>
                  <a:schemeClr val="dk1"/>
                </a:solidFill>
                <a:uFillTx/>
                <a:latin typeface="Courier New"/>
              </a:rPr>
              <a:t>npm</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install</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concurrenty</a:t>
            </a:r>
            <a:r>
              <a:rPr lang="de-DE" sz="2000" b="0" u="none" strike="noStrike" dirty="0">
                <a:solidFill>
                  <a:schemeClr val="dk1"/>
                </a:solidFill>
                <a:uFillTx/>
                <a:latin typeface="Courier New"/>
              </a:rPr>
              <a:t> --save-</a:t>
            </a:r>
            <a:r>
              <a:rPr lang="de-DE" sz="2000" b="0" u="none" strike="noStrike" dirty="0" err="1">
                <a:solidFill>
                  <a:schemeClr val="dk1"/>
                </a:solidFill>
                <a:uFillTx/>
                <a:latin typeface="Courier New"/>
              </a:rPr>
              <a:t>dev</a:t>
            </a:r>
            <a:endParaRPr lang="de-DE" sz="20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Konfiguration des TypeScript-Compilers</a:t>
            </a:r>
            <a:endParaRPr lang="de-DE" sz="4400" b="0" u="none" strike="noStrike">
              <a:solidFill>
                <a:srgbClr val="000000"/>
              </a:solidFill>
              <a:uFillTx/>
              <a:latin typeface="Arial"/>
            </a:endParaRPr>
          </a:p>
        </p:txBody>
      </p:sp>
      <p:sp>
        <p:nvSpPr>
          <p:cNvPr id="1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tsc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Erzeugt die Datei </a:t>
            </a:r>
            <a:r>
              <a:rPr lang="de-DE" sz="2400" b="0" i="1" u="none" strike="noStrike">
                <a:solidFill>
                  <a:schemeClr val="dk1"/>
                </a:solidFill>
                <a:uFillTx/>
                <a:latin typeface="Courier New"/>
              </a:rPr>
              <a:t>tsconfig.json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Darin werden alle möglichen Konfigurationen angelegt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wobei die allermeisten auskommentiert sind</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Für die folgenden Beispiele wird insbesondere der strict-Mode aktiviert</a:t>
            </a:r>
            <a:endParaRPr lang="de-DE" sz="2800" b="0" u="none" strike="noStrike">
              <a:solidFill>
                <a:srgbClr val="000000"/>
              </a:solidFill>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Scripts der package.json</a:t>
            </a:r>
            <a:endParaRPr lang="de-DE" sz="4400" b="0" u="none" strike="noStrike">
              <a:solidFill>
                <a:srgbClr val="000000"/>
              </a:solidFill>
              <a:uFillTx/>
              <a:latin typeface="Arial"/>
            </a:endParaRPr>
          </a:p>
        </p:txBody>
      </p:sp>
      <p:sp>
        <p:nvSpPr>
          <p:cNvPr id="17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"serve": "lite-server",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 "tsc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"compile-watch": "tsc -w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"start": "concurrently \"npm run compile-watch\" \"npm run serve\""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Benutzung</a:t>
            </a:r>
            <a:endParaRPr lang="de-DE" sz="4400" b="0" u="none" strike="noStrike">
              <a:solidFill>
                <a:srgbClr val="000000"/>
              </a:solidFill>
              <a:uFillTx/>
              <a:latin typeface="Arial"/>
            </a:endParaRPr>
          </a:p>
        </p:txBody>
      </p:sp>
      <p:sp>
        <p:nvSpPr>
          <p:cNvPr id="1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Starten mit </a:t>
            </a:r>
            <a:r>
              <a:rPr lang="de-DE" sz="2800" b="0" u="none" strike="noStrike">
                <a:solidFill>
                  <a:schemeClr val="dk1"/>
                </a:solidFill>
                <a:uFillTx/>
                <a:latin typeface="Courier New"/>
              </a:rPr>
              <a:t>npm start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TypeScript-Transpiler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Lite Server mit Browser-Sync</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Default-Browser und stellt die </a:t>
            </a:r>
            <a:r>
              <a:rPr lang="de-DE" sz="2400" b="0" i="1" u="none" strike="noStrike">
                <a:solidFill>
                  <a:schemeClr val="dk1"/>
                </a:solidFill>
                <a:uFillTx/>
                <a:latin typeface="Courier New"/>
              </a:rPr>
              <a:t>index.html</a:t>
            </a:r>
            <a:r>
              <a:rPr lang="de-DE" sz="2400" b="0" u="none" strike="noStrike">
                <a:solidFill>
                  <a:schemeClr val="dk1"/>
                </a:solidFill>
                <a:uFillTx/>
                <a:latin typeface="Calibri"/>
              </a:rPr>
              <a:t>-Seite dar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Parallelisierung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Sämtliche Dateien mit der Endung </a:t>
            </a:r>
            <a:r>
              <a:rPr lang="de-DE" sz="2400" b="0" u="none" strike="noStrike">
                <a:solidFill>
                  <a:schemeClr val="dk1"/>
                </a:solidFill>
                <a:uFillTx/>
                <a:latin typeface="Courier New"/>
              </a:rPr>
              <a:t>.ts</a:t>
            </a:r>
            <a:r>
              <a:rPr lang="de-DE" sz="2400" b="0" u="none" strike="noStrike">
                <a:solidFill>
                  <a:schemeClr val="dk1"/>
                </a:solidFill>
                <a:uFillTx/>
                <a:latin typeface="Calibri"/>
              </a:rPr>
              <a:t> im Ordner </a:t>
            </a:r>
            <a:r>
              <a:rPr lang="de-DE" sz="2400" b="0" i="1" u="none" strike="noStrike">
                <a:solidFill>
                  <a:schemeClr val="dk1"/>
                </a:solidFill>
                <a:uFillTx/>
                <a:latin typeface="Courier New"/>
              </a:rPr>
              <a:t>src</a:t>
            </a:r>
            <a:r>
              <a:rPr lang="de-DE" sz="2400" b="0" u="none" strike="noStrike">
                <a:solidFill>
                  <a:schemeClr val="dk1"/>
                </a:solidFill>
                <a:uFillTx/>
                <a:latin typeface="Calibri"/>
              </a:rPr>
              <a:t> werden automatisch nach </a:t>
            </a:r>
            <a:r>
              <a:rPr lang="de-DE" sz="2400" b="0" i="1" u="none" strike="noStrike">
                <a:solidFill>
                  <a:schemeClr val="dk1"/>
                </a:solidFill>
                <a:uFillTx/>
                <a:latin typeface="Courier New"/>
              </a:rPr>
              <a:t>dist</a:t>
            </a:r>
            <a:r>
              <a:rPr lang="de-DE" sz="2400" b="0" u="none" strike="noStrike">
                <a:solidFill>
                  <a:schemeClr val="dk1"/>
                </a:solidFill>
                <a:uFillTx/>
                <a:latin typeface="Calibri"/>
              </a:rPr>
              <a:t> transpiliert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a:t>
            </a:r>
            <a:r>
              <a:rPr lang="de-DE" sz="2400" b="0" u="none" strike="noStrike">
                <a:solidFill>
                  <a:schemeClr val="dk1"/>
                </a:solidFill>
                <a:uFillTx/>
                <a:latin typeface="Courier New"/>
              </a:rPr>
              <a:t>.ts</a:t>
            </a:r>
            <a:r>
              <a:rPr lang="de-DE" sz="2400" b="0" u="none" strike="noStrike">
                <a:solidFill>
                  <a:schemeClr val="dk1"/>
                </a:solidFill>
                <a:uFillTx/>
                <a:latin typeface="Calibri"/>
              </a:rPr>
              <a:t>-Dateien werden automatisch erkannt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Server aktualisiert den Browser  mit den geänderten Informationen</a:t>
            </a:r>
            <a:endParaRPr lang="de-DE" sz="2400" b="0" u="none" strike="noStrike">
              <a:solidFill>
                <a:srgbClr val="000000"/>
              </a:solidFill>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400" b="0" u="none" strike="noStrike">
                <a:solidFill>
                  <a:schemeClr val="dk1"/>
                </a:solidFill>
                <a:uFillTx/>
                <a:latin typeface="Calibri Light"/>
              </a:rPr>
              <a:t>Type Hierarchy</a:t>
            </a:r>
            <a:endParaRPr lang="de-DE" sz="4400" b="0" u="none" strike="noStrike">
              <a:solidFill>
                <a:srgbClr val="000000"/>
              </a:solidFill>
              <a:uFillTx/>
              <a:latin typeface="Arial"/>
            </a:endParaRPr>
          </a:p>
        </p:txBody>
      </p:sp>
      <p:graphicFrame>
        <p:nvGraphicFramePr>
          <p:cNvPr id="3" name="Diagram3"/>
          <p:cNvGraphicFramePr/>
          <p:nvPr>
            <p:extLst>
              <p:ext uri="{D42A27DB-BD31-4B8C-83A1-F6EECF244321}">
                <p14:modId xmlns:p14="http://schemas.microsoft.com/office/powerpoint/2010/main" val="2526847042"/>
              </p:ext>
            </p:extLst>
          </p:nvPr>
        </p:nvGraphicFramePr>
        <p:xfrm>
          <a:off x="4965480" y="2438280"/>
          <a:ext cx="6585120" cy="3783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6"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useBgFill="1">
        <p:nvSpPr>
          <p:cNvPr id="187" name="Rectangle 9">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8" name="Rectangle 11">
            <a:extLst>
              <a:ext uri="{C183D7F6-B498-43B3-948B-1728B52AA6E4}">
                <adec:decorative xmlns:adec="http://schemas.microsoft.com/office/drawing/2017/decorative" val="1"/>
              </a:ext>
            </a:extLst>
          </p:cNvPr>
          <p:cNvSpPr/>
          <p:nvPr/>
        </p:nvSpPr>
        <p:spPr>
          <a:xfrm rot="5400000" flipH="1">
            <a:off x="-1411560" y="1411560"/>
            <a:ext cx="6856560" cy="4036320"/>
          </a:xfrm>
          <a:prstGeom prst="rect">
            <a:avLst/>
          </a:prstGeom>
          <a:gradFill rotWithShape="0">
            <a:gsLst>
              <a:gs pos="8000">
                <a:srgbClr val="000000"/>
              </a:gs>
              <a:gs pos="100000">
                <a:srgbClr val="16735A"/>
              </a:gs>
            </a:gsLst>
            <a:lin ang="19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9" name="Rectangle 13">
            <a:extLst>
              <a:ext uri="{C183D7F6-B498-43B3-948B-1728B52AA6E4}">
                <adec:decorative xmlns:adec="http://schemas.microsoft.com/office/drawing/2017/decorative" val="1"/>
              </a:ext>
            </a:extLst>
          </p:cNvPr>
          <p:cNvSpPr/>
          <p:nvPr/>
        </p:nvSpPr>
        <p:spPr>
          <a:xfrm rot="5400000" flipH="1">
            <a:off x="-1411560" y="1421640"/>
            <a:ext cx="6856560" cy="4036320"/>
          </a:xfrm>
          <a:prstGeom prst="rect">
            <a:avLst/>
          </a:prstGeom>
          <a:gradFill rotWithShape="0">
            <a:gsLst>
              <a:gs pos="0">
                <a:srgbClr val="000000">
                  <a:alpha val="0"/>
                </a:srgbClr>
              </a:gs>
              <a:gs pos="99000">
                <a:srgbClr val="1D9A78">
                  <a:alpha val="46000"/>
                </a:srgbClr>
              </a:gs>
            </a:gsLst>
            <a:lin ang="18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0" name="Rectangle 15">
            <a:extLst>
              <a:ext uri="{C183D7F6-B498-43B3-948B-1728B52AA6E4}">
                <adec:decorative xmlns:adec="http://schemas.microsoft.com/office/drawing/2017/decorative" val="1"/>
              </a:ext>
            </a:extLst>
          </p:cNvPr>
          <p:cNvSpPr/>
          <p:nvPr/>
        </p:nvSpPr>
        <p:spPr>
          <a:xfrm rot="5400000" flipH="1">
            <a:off x="765000" y="3589560"/>
            <a:ext cx="2500560" cy="4036320"/>
          </a:xfrm>
          <a:prstGeom prst="rect">
            <a:avLst/>
          </a:prstGeom>
          <a:gradFill rotWithShape="0">
            <a:gsLst>
              <a:gs pos="2000">
                <a:srgbClr val="1D9A78">
                  <a:alpha val="29000"/>
                </a:srgbClr>
              </a:gs>
              <a:gs pos="100000">
                <a:srgbClr val="000000">
                  <a:alpha val="30000"/>
                </a:srgbClr>
              </a:gs>
            </a:gsLst>
            <a:lin ang="2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1" name="Freeform: Shape 17">
            <a:extLst>
              <a:ext uri="{C183D7F6-B498-43B3-948B-1728B52AA6E4}">
                <adec:decorative xmlns:adec="http://schemas.microsoft.com/office/drawing/2017/decorative" val="1"/>
              </a:ext>
            </a:extLst>
          </p:cNvPr>
          <p:cNvSpPr/>
          <p:nvPr/>
        </p:nvSpPr>
        <p:spPr>
          <a:xfrm rot="20635800">
            <a:off x="-501480" y="969480"/>
            <a:ext cx="3898800" cy="4177440"/>
          </a:xfrm>
          <a:custGeom>
            <a:avLst/>
            <a:gdLst>
              <a:gd name="textAreaLeft" fmla="*/ 0 w 3898800"/>
              <a:gd name="textAreaRight" fmla="*/ 3900240 w 3898800"/>
              <a:gd name="textAreaTop" fmla="*/ 0 h 4177440"/>
              <a:gd name="textAreaBottom" fmla="*/ 4178880 h 4177440"/>
            </a:gdLst>
            <a:ahLst/>
            <a:cxnLst/>
            <a:rect l="textAreaLeft" t="textAreaTop" r="textAreaRight" b="textAreaBottom"/>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rotWithShape="0">
            <a:gsLst>
              <a:gs pos="29000">
                <a:srgbClr val="000000">
                  <a:alpha val="0"/>
                </a:srgbClr>
              </a:gs>
              <a:gs pos="100000">
                <a:srgbClr val="1D9A78">
                  <a:alpha val="43000"/>
                </a:srgbClr>
              </a:gs>
            </a:gsLst>
            <a:lin ang="83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2" name="Rectangle 19">
            <a:extLst>
              <a:ext uri="{C183D7F6-B498-43B3-948B-1728B52AA6E4}">
                <adec:decorative xmlns:adec="http://schemas.microsoft.com/office/drawing/2017/decorative" val="1"/>
              </a:ext>
            </a:extLst>
          </p:cNvPr>
          <p:cNvSpPr/>
          <p:nvPr/>
        </p:nvSpPr>
        <p:spPr>
          <a:xfrm rot="5400000" flipH="1">
            <a:off x="-1411560" y="1401480"/>
            <a:ext cx="6856560" cy="4036320"/>
          </a:xfrm>
          <a:prstGeom prst="rect">
            <a:avLst/>
          </a:prstGeom>
          <a:gradFill rotWithShape="0">
            <a:gsLst>
              <a:gs pos="0">
                <a:srgbClr val="000000">
                  <a:alpha val="0"/>
                </a:srgbClr>
              </a:gs>
              <a:gs pos="99000">
                <a:srgbClr val="5AE0BB">
                  <a:alpha val="11000"/>
                </a:srgbClr>
              </a:gs>
            </a:gsLst>
            <a:lin ang="1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3" name="PlaceHolder 1"/>
          <p:cNvSpPr>
            <a:spLocks noGrp="1"/>
          </p:cNvSpPr>
          <p:nvPr>
            <p:ph type="title"/>
          </p:nvPr>
        </p:nvSpPr>
        <p:spPr>
          <a:xfrm>
            <a:off x="466560" y="586800"/>
            <a:ext cx="3200040" cy="338616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de-DE" sz="4000" b="0" u="none" strike="noStrike">
                <a:solidFill>
                  <a:srgbClr val="FFFFFF"/>
                </a:solidFill>
                <a:uFillTx/>
                <a:latin typeface="Calibri Light"/>
              </a:rPr>
              <a:t>Spezielle Typen</a:t>
            </a:r>
            <a:endParaRPr lang="de-DE" sz="4000" b="0" u="none" strike="noStrike">
              <a:solidFill>
                <a:srgbClr val="000000"/>
              </a:solidFill>
              <a:uFillTx/>
              <a:latin typeface="Arial"/>
            </a:endParaRPr>
          </a:p>
        </p:txBody>
      </p:sp>
      <p:sp>
        <p:nvSpPr>
          <p:cNvPr id="194" name="PlaceHolder 2"/>
          <p:cNvSpPr>
            <a:spLocks noGrp="1"/>
          </p:cNvSpPr>
          <p:nvPr>
            <p:ph/>
          </p:nvPr>
        </p:nvSpPr>
        <p:spPr>
          <a:xfrm>
            <a:off x="4810320" y="649440"/>
            <a:ext cx="6553800" cy="55447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null</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ist nicht gesetzt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undefined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oder Funktion ist nicht vorhanden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unterschiedlich zu null</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any</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untypisierte Variable, die jeden Wert zugewiesen bekommen kann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ist bei Bedarf auch eine untypisierte Programmierung auch in TypeScript möglich</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void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Funktion, die keinen expliziten </a:t>
            </a:r>
            <a:r>
              <a:rPr lang="de-DE" sz="1700" b="0" u="none" strike="noStrike">
                <a:solidFill>
                  <a:schemeClr val="dk1"/>
                </a:solidFill>
                <a:uFillTx/>
                <a:latin typeface="Courier New"/>
              </a:rPr>
              <a:t>return</a:t>
            </a:r>
            <a:r>
              <a:rPr lang="de-DE" sz="1700" b="0" u="none" strike="noStrike">
                <a:solidFill>
                  <a:schemeClr val="dk1"/>
                </a:solidFill>
                <a:uFillTx/>
                <a:latin typeface="Calibri"/>
              </a:rPr>
              <a:t>-Wert aufweist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never</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Der Rückgabetyp einer Funktion, die kein implizites oder explizites </a:t>
            </a:r>
            <a:r>
              <a:rPr lang="de-DE" sz="1700" b="0" u="none" strike="noStrike">
                <a:solidFill>
                  <a:schemeClr val="dk1"/>
                </a:solidFill>
                <a:uFillTx/>
                <a:latin typeface="Courier New"/>
              </a:rPr>
              <a:t>return</a:t>
            </a:r>
            <a:r>
              <a:rPr lang="de-DE" sz="1700" b="0" u="none" strike="noStrike">
                <a:solidFill>
                  <a:schemeClr val="dk1"/>
                </a:solidFill>
                <a:uFillTx/>
                <a:latin typeface="Calibri"/>
              </a:rPr>
              <a:t>-Statement aufweist</a:t>
            </a:r>
            <a:endParaRPr lang="de-DE" sz="17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Endlose Ausführung oder garantiertes Werfen einer </a:t>
            </a:r>
            <a:r>
              <a:rPr lang="de-DE" sz="1700" b="0" u="none" strike="noStrike">
                <a:solidFill>
                  <a:schemeClr val="dk1"/>
                </a:solidFill>
                <a:uFillTx/>
                <a:latin typeface="Courier New"/>
              </a:rPr>
              <a:t>Exception</a:t>
            </a:r>
            <a:endParaRPr lang="de-DE" sz="1700" b="0" u="none" strike="noStrike">
              <a:solidFill>
                <a:srgbClr val="000000"/>
              </a:solidFill>
              <a:uFillTx/>
              <a:latin typeface="Arial"/>
            </a:endParaRPr>
          </a:p>
          <a:p>
            <a:pPr indent="0" defTabSz="914400">
              <a:lnSpc>
                <a:spcPct val="90000"/>
              </a:lnSpc>
              <a:spcBef>
                <a:spcPts val="499"/>
              </a:spcBef>
              <a:buNone/>
              <a:tabLst>
                <a:tab pos="0" algn="l"/>
              </a:tabLst>
            </a:pPr>
            <a:endParaRPr lang="de-DE" sz="1700" b="0" u="none" strike="noStrike">
              <a:solidFill>
                <a:srgbClr val="000000"/>
              </a:solidFill>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Variablen Deklaration</a:t>
            </a:r>
            <a:endParaRPr lang="de-DE" sz="4400" b="0" u="none" strike="noStrike">
              <a:solidFill>
                <a:srgbClr val="000000"/>
              </a:solidFill>
              <a:uFillTx/>
              <a:latin typeface="Arial"/>
            </a:endParaRPr>
          </a:p>
        </p:txBody>
      </p:sp>
      <p:sp>
        <p:nvSpPr>
          <p:cNvPr id="19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97"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8"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9"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0"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1"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Typisierte Deklaration von Variablen</a:t>
            </a:r>
            <a:endParaRPr lang="de-DE" sz="4000" b="0" u="none" strike="noStrike">
              <a:solidFill>
                <a:srgbClr val="000000"/>
              </a:solidFill>
              <a:uFillTx/>
              <a:latin typeface="Arial"/>
            </a:endParaRPr>
          </a:p>
        </p:txBody>
      </p:sp>
      <p:sp>
        <p:nvSpPr>
          <p:cNvPr id="20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600" b="0" u="none" strike="noStrike">
                <a:solidFill>
                  <a:schemeClr val="dk1"/>
                </a:solidFill>
                <a:uFillTx/>
                <a:latin typeface="Calibri"/>
              </a:rPr>
              <a:t>Explizite Typisierung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string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boolean</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Type Inference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Hier wird der Typ durch die Zuweisung eines Wertes definiert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"Hello"</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true</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Contextual Type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Auch bei Zuweisungen versucht TypeScript, untypisierte Deklarationen zu erkennen</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window.onmousedown = function(mouseEvent)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    console.log(mouseEvent.button);  //&lt;- Error,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endParaRPr lang="de-DE" sz="1600" b="0" u="none" strike="noStrike">
              <a:solidFill>
                <a:srgbClr val="000000"/>
              </a:solidFill>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04"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5" name="Rectangle 12">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6" name="Rectangle 14">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7" name="Rectangle 16">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8" name="Rectangle 18">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9"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fontScale="92500"/>
          </a:bodyPr>
          <a:lstStyle/>
          <a:p>
            <a:pPr indent="0" defTabSz="914400">
              <a:lnSpc>
                <a:spcPct val="90000"/>
              </a:lnSpc>
              <a:buNone/>
              <a:tabLst>
                <a:tab pos="0" algn="l"/>
              </a:tabLst>
            </a:pPr>
            <a:r>
              <a:rPr lang="de-DE" sz="4000" b="0" u="none" strike="noStrike">
                <a:solidFill>
                  <a:srgbClr val="FFFFFF"/>
                </a:solidFill>
                <a:uFillTx/>
                <a:latin typeface="Calibri Light"/>
              </a:rPr>
              <a:t>Deklaration von Variablen mit const und let</a:t>
            </a:r>
            <a:endParaRPr lang="de-DE" sz="4000" b="0" u="none" strike="noStrike">
              <a:solidFill>
                <a:srgbClr val="000000"/>
              </a:solidFill>
              <a:uFillTx/>
              <a:latin typeface="Arial"/>
            </a:endParaRPr>
          </a:p>
        </p:txBody>
      </p:sp>
      <p:sp>
        <p:nvSpPr>
          <p:cNvPr id="210"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let | const&lt;name&gt;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const name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let state</a:t>
            </a:r>
            <a:endParaRPr lang="de-DE" sz="2000" b="0" u="none" strike="noStrike">
              <a:solidFill>
                <a:srgbClr val="000000"/>
              </a:solidFill>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Variable Samples</a:t>
            </a:r>
            <a:endParaRPr lang="de-DE" sz="4400" b="0" u="none" strike="noStrike">
              <a:solidFill>
                <a:srgbClr val="000000"/>
              </a:solidFill>
              <a:uFillTx/>
              <a:latin typeface="Arial"/>
            </a:endParaRPr>
          </a:p>
        </p:txBody>
      </p:sp>
      <p:sp>
        <p:nvSpPr>
          <p:cNvPr id="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message</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CE9178"/>
                </a:solidFill>
                <a:uFillTx/>
                <a:latin typeface="Menlo"/>
              </a:rPr>
              <a:t>"Hello Typscript"</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message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f</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 = </a:t>
            </a:r>
            <a:r>
              <a:rPr lang="de-DE" sz="2400" b="0" u="none" strike="noStrike">
                <a:solidFill>
                  <a:srgbClr val="CE9178"/>
                </a:solidFill>
                <a:uFillTx/>
                <a:latin typeface="Menlo"/>
              </a:rPr>
              <a:t>"Hello, world!"</a:t>
            </a:r>
            <a:r>
              <a:rPr lang="de-DE" sz="2400" b="0" u="none" strike="noStrike">
                <a:solidFill>
                  <a:srgbClr val="D4D4D4"/>
                </a:solidFill>
                <a:uFillTx/>
                <a:latin typeface="Menlo"/>
              </a:rPr>
              <a:t>;</a:t>
            </a: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a:t>
            </a:r>
            <a:endParaRPr lang="de-DE" sz="4400" b="0" u="none" strike="noStrike">
              <a:solidFill>
                <a:srgbClr val="000000"/>
              </a:solidFill>
              <a:uFillTx/>
              <a:latin typeface="Arial"/>
            </a:endParaRPr>
          </a:p>
        </p:txBody>
      </p:sp>
      <p:sp>
        <p:nvSpPr>
          <p:cNvPr id="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9CDCFE"/>
                </a:solidFill>
                <a:uFillTx/>
                <a:latin typeface="Menlo"/>
              </a:rPr>
              <a:t>someFlag</a:t>
            </a:r>
            <a:r>
              <a:rPr lang="de-DE" sz="2800" b="0" u="none" strike="noStrike">
                <a:solidFill>
                  <a:srgbClr val="D4D4D4"/>
                </a:solidFill>
                <a:uFillTx/>
                <a:latin typeface="Menlo"/>
              </a:rPr>
              <a:t>: </a:t>
            </a:r>
            <a:r>
              <a:rPr lang="de-DE" sz="2800" b="0" u="none" strike="noStrike">
                <a:solidFill>
                  <a:srgbClr val="4EC9B0"/>
                </a:solidFill>
                <a:uFillTx/>
                <a:latin typeface="Menlo"/>
              </a:rPr>
              <a:t>boolean</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if</a:t>
            </a:r>
            <a:r>
              <a:rPr lang="de-DE" sz="2400" b="0" u="none" strike="noStrike">
                <a:solidFill>
                  <a:srgbClr val="D4D4D4"/>
                </a:solidFill>
                <a:uFillTx/>
                <a:latin typeface="Menlo"/>
              </a:rPr>
              <a:t> (</a:t>
            </a:r>
            <a:r>
              <a:rPr lang="de-DE" sz="2400" b="0" u="none" strike="noStrike">
                <a:solidFill>
                  <a:srgbClr val="9CDCFE"/>
                </a:solidFill>
                <a:uFillTx/>
                <a:latin typeface="Menlo"/>
              </a:rPr>
              <a:t>someFlag</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x</a:t>
            </a:r>
            <a:r>
              <a:rPr lang="de-DE" sz="2400" b="0" u="none" strike="noStrike">
                <a:solidFill>
                  <a:srgbClr val="D4D4D4"/>
                </a:solidFill>
                <a:uFillTx/>
                <a:latin typeface="Menlo"/>
              </a:rPr>
              <a:t> = </a:t>
            </a:r>
            <a:r>
              <a:rPr lang="de-DE" sz="2400" b="0" u="none" strike="noStrike">
                <a:solidFill>
                  <a:srgbClr val="B5CEA8"/>
                </a:solidFill>
                <a:uFillTx/>
                <a:latin typeface="Menlo"/>
              </a:rPr>
              <a:t>10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br>
              <a:rPr sz="2800"/>
            </a:br>
            <a:r>
              <a:rPr lang="de-DE" sz="2800" b="0" u="none" strike="noStrike">
                <a:solidFill>
                  <a:srgbClr val="D4D4D4"/>
                </a:solidFill>
                <a:uFillTx/>
                <a:latin typeface="Menlo"/>
              </a:rPr>
              <a:t>	</a:t>
            </a:r>
            <a:r>
              <a:rPr lang="de-DE" sz="2800" b="0" u="none" strike="noStrike">
                <a:solidFill>
                  <a:srgbClr val="C586C0"/>
                </a:solidFill>
                <a:uFillTx/>
                <a:latin typeface="Menlo"/>
              </a:rPr>
              <a:t>return</a:t>
            </a:r>
            <a:r>
              <a:rPr lang="de-DE" sz="2800" b="0" u="none" strike="noStrike">
                <a:solidFill>
                  <a:srgbClr val="D4D4D4"/>
                </a:solidFill>
                <a:uFillTx/>
                <a:latin typeface="Menlo"/>
              </a:rPr>
              <a:t> </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569CD6"/>
                </a:solidFill>
                <a:uFillTx/>
                <a:latin typeface="Menlo"/>
              </a:rPr>
              <a:t>false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2</a:t>
            </a:r>
            <a:endParaRPr lang="de-DE" sz="4400" b="0" u="none" strike="noStrike">
              <a:solidFill>
                <a:srgbClr val="000000"/>
              </a:solidFill>
              <a:uFillTx/>
              <a:latin typeface="Arial"/>
            </a:endParaRPr>
          </a:p>
        </p:txBody>
      </p:sp>
      <p:sp>
        <p:nvSpPr>
          <p:cNvPr id="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sumOf</a:t>
            </a:r>
            <a:r>
              <a:rPr lang="de-DE" sz="2800" b="0" u="none" strike="noStrike">
                <a:solidFill>
                  <a:srgbClr val="D4D4D4"/>
                </a:solidFill>
                <a:uFillTx/>
                <a:latin typeface="Menlo"/>
              </a:rPr>
              <a:t>(</a:t>
            </a:r>
            <a:r>
              <a:rPr lang="de-DE" sz="2800" b="0" u="none" strike="noStrike">
                <a:solidFill>
                  <a:srgbClr val="9CDCFE"/>
                </a:solidFill>
                <a:uFillTx/>
                <a:latin typeface="Menlo"/>
              </a:rPr>
              <a:t>matrix</a:t>
            </a:r>
            <a:r>
              <a:rPr lang="de-DE" sz="2800" b="0" u="none" strike="noStrike">
                <a:solidFill>
                  <a:srgbClr val="D4D4D4"/>
                </a:solidFill>
                <a:uFillTx/>
                <a:latin typeface="Menlo"/>
              </a:rPr>
              <a:t>: </a:t>
            </a:r>
            <a:r>
              <a:rPr lang="de-DE" sz="2800" b="0" u="none" strike="noStrike">
                <a:solidFill>
                  <a:srgbClr val="4EC9B0"/>
                </a:solidFill>
                <a:uFillTx/>
                <a:latin typeface="Menlo"/>
              </a:rPr>
              <a:t>number</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row</a:t>
            </a:r>
            <a:r>
              <a:rPr lang="de-DE" sz="2400" b="0" u="none" strike="noStrike">
                <a:solidFill>
                  <a:srgbClr val="D4D4D4"/>
                </a:solidFill>
                <a:uFillTx/>
                <a:latin typeface="Menlo"/>
              </a:rPr>
              <a:t> =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3</a:t>
            </a:r>
            <a:endParaRPr lang="de-DE" sz="4400" b="0" u="none" strike="noStrike">
              <a:solidFill>
                <a:srgbClr val="000000"/>
              </a:solidFill>
              <a:uFillTx/>
              <a:latin typeface="Arial"/>
            </a:endParaRPr>
          </a:p>
        </p:txBody>
      </p:sp>
      <p:sp>
        <p:nvSpPr>
          <p:cNvPr id="2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C586C0"/>
                </a:solidFill>
                <a:uFillTx/>
                <a:latin typeface="Menlo"/>
              </a:rPr>
              <a:t>for</a:t>
            </a:r>
            <a:r>
              <a:rPr lang="de-DE" sz="2800" b="0" u="none" strike="noStrike">
                <a:solidFill>
                  <a:srgbClr val="D4D4D4"/>
                </a:solidFill>
                <a:uFillTx/>
                <a:latin typeface="Menlo"/>
              </a:rPr>
              <a:t> (</a:t>
            </a: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 </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&lt; </a:t>
            </a:r>
            <a:r>
              <a:rPr lang="de-DE" sz="2800" b="0" u="none" strike="noStrike">
                <a:solidFill>
                  <a:srgbClr val="B5CEA8"/>
                </a:solidFill>
                <a:uFillTx/>
                <a:latin typeface="Menlo"/>
              </a:rPr>
              <a:t>10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CDCAA"/>
                </a:solidFill>
                <a:uFillTx/>
                <a:latin typeface="Menlo"/>
              </a:rPr>
              <a:t>setTimeout</a:t>
            </a:r>
            <a:r>
              <a:rPr lang="de-DE" sz="2400" b="0" u="none" strike="noStrike">
                <a:solidFill>
                  <a:srgbClr val="D4D4D4"/>
                </a:solidFill>
                <a:uFillTx/>
                <a:latin typeface="Menlo"/>
              </a:rPr>
              <a:t>(</a:t>
            </a:r>
            <a:r>
              <a:rPr lang="de-DE" sz="2400" b="0" u="none" strike="noStrike">
                <a:solidFill>
                  <a:srgbClr val="569CD6"/>
                </a:solidFill>
                <a:uFillTx/>
                <a:latin typeface="Menlo"/>
              </a:rPr>
              <a:t>function</a:t>
            </a:r>
            <a:r>
              <a:rPr lang="de-DE" sz="2400" b="0" u="none" strike="noStrike">
                <a:solidFill>
                  <a:srgbClr val="D4D4D4"/>
                </a:solidFill>
                <a:uFillTx/>
                <a:latin typeface="Menlo"/>
              </a:rPr>
              <a:t>() { </a:t>
            </a: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100</a:t>
            </a:r>
            <a:r>
              <a:rPr lang="de-DE" sz="2400" b="0" u="none" strike="noStrike">
                <a:solidFill>
                  <a:srgbClr val="D4D4D4"/>
                </a:solidFill>
                <a:uFillTx/>
                <a:latin typeface="Menlo"/>
              </a:rPr>
              <a:t> * </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a:t>
            </a:r>
            <a:endParaRPr lang="de-DE" sz="4400" b="0" u="none" strike="noStrike">
              <a:solidFill>
                <a:srgbClr val="000000"/>
              </a:solidFill>
              <a:uFillTx/>
              <a:latin typeface="Arial"/>
            </a:endParaRPr>
          </a:p>
        </p:txBody>
      </p:sp>
      <p:sp>
        <p:nvSpPr>
          <p:cNvPr id="220"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someFunc</a:t>
            </a:r>
            <a:r>
              <a:rPr lang="de-DE" sz="2000" b="0" u="none" strike="noStrike">
                <a:solidFill>
                  <a:srgbClr val="D4D4D4"/>
                </a:solidFill>
                <a:uFillTx/>
                <a:latin typeface="Menlo"/>
              </a:rPr>
              <a:t>(</a:t>
            </a:r>
            <a:r>
              <a:rPr lang="de-DE" sz="2000" b="0" u="none" strike="noStrike">
                <a:solidFill>
                  <a:srgbClr val="9CDCFE"/>
                </a:solidFill>
                <a:uFillTx/>
                <a:latin typeface="Menlo"/>
              </a:rPr>
              <a:t>flag</a:t>
            </a:r>
            <a:r>
              <a:rPr lang="de-DE" sz="2000" b="0" u="none" strike="noStrike">
                <a:solidFill>
                  <a:srgbClr val="D4D4D4"/>
                </a:solidFill>
                <a:uFillTx/>
                <a:latin typeface="Menlo"/>
              </a:rPr>
              <a:t>: </a:t>
            </a:r>
            <a:r>
              <a:rPr lang="de-DE" sz="2000" b="0" u="none" strike="noStrike">
                <a:solidFill>
                  <a:srgbClr val="4EC9B0"/>
                </a:solidFill>
                <a:uFillTx/>
                <a:latin typeface="Menlo"/>
              </a:rPr>
              <a:t>boolean</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a</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if</a:t>
            </a:r>
            <a:r>
              <a:rPr lang="de-DE" sz="1600" b="0" u="none" strike="noStrike">
                <a:solidFill>
                  <a:srgbClr val="D4D4D4"/>
                </a:solidFill>
                <a:uFillTx/>
                <a:latin typeface="Menlo"/>
              </a:rPr>
              <a:t> (</a:t>
            </a:r>
            <a:r>
              <a:rPr lang="de-DE" sz="1600" b="0" u="none" strike="noStrike">
                <a:solidFill>
                  <a:srgbClr val="9CDCFE"/>
                </a:solidFill>
                <a:uFillTx/>
                <a:latin typeface="Menlo"/>
              </a:rPr>
              <a:t>input</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569CD6"/>
                </a:solidFill>
                <a:uFillTx/>
                <a:latin typeface="Menlo"/>
              </a:rPr>
              <a:t>let</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 = </a:t>
            </a:r>
            <a:r>
              <a:rPr lang="de-DE" sz="1200" b="0" u="none" strike="noStrike">
                <a:solidFill>
                  <a:srgbClr val="9CDCFE"/>
                </a:solidFill>
                <a:uFillTx/>
                <a:latin typeface="Menlo"/>
              </a:rPr>
              <a:t>a</a:t>
            </a:r>
            <a:r>
              <a:rPr lang="de-DE" sz="1200" b="0" u="none" strike="noStrike">
                <a:solidFill>
                  <a:srgbClr val="D4D4D4"/>
                </a:solidFill>
                <a:uFillTx/>
                <a:latin typeface="Menlo"/>
              </a:rPr>
              <a:t> + </a:t>
            </a:r>
            <a:r>
              <a:rPr lang="de-DE" sz="1200" b="0" u="none" strike="noStrike">
                <a:solidFill>
                  <a:srgbClr val="B5CEA8"/>
                </a:solidFill>
                <a:uFillTx/>
                <a:latin typeface="Menlo"/>
              </a:rPr>
              <a:t>1</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C586C0"/>
                </a:solidFill>
                <a:uFillTx/>
                <a:latin typeface="Menlo"/>
              </a:rPr>
              <a:t>return</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6A9955"/>
                </a:solidFill>
                <a:uFillTx/>
                <a:latin typeface="Menlo"/>
              </a:rPr>
              <a:t>// CompileError: 'b' doesn't exist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b</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1"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2	</a:t>
            </a:r>
            <a:endParaRPr lang="de-DE" sz="4400" b="0" u="none" strike="noStrike">
              <a:solidFill>
                <a:srgbClr val="000000"/>
              </a:solidFill>
              <a:uFillTx/>
              <a:latin typeface="Arial"/>
            </a:endParaRPr>
          </a:p>
        </p:txBody>
      </p:sp>
      <p:sp>
        <p:nvSpPr>
          <p:cNvPr id="223"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foo</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	</a:t>
            </a:r>
            <a:r>
              <a:rPr lang="de-DE" sz="2000" b="0" u="none" strike="noStrike">
                <a:solidFill>
                  <a:srgbClr val="C586C0"/>
                </a:solidFill>
                <a:uFillTx/>
                <a:latin typeface="Menlo"/>
              </a:rPr>
              <a:t>return</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6A9955"/>
                </a:solidFill>
                <a:uFillTx/>
                <a:latin typeface="Menlo"/>
              </a:rPr>
              <a:t>// undefined</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DCDCAA"/>
                </a:solidFill>
                <a:uFillTx/>
                <a:latin typeface="Menlo"/>
              </a:rPr>
              <a:t>foo</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569CD6"/>
                </a:solidFill>
                <a:uFillTx/>
                <a:latin typeface="Menlo"/>
              </a:rPr>
              <a:t>let</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4"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3</a:t>
            </a:r>
            <a:endParaRPr lang="de-DE" sz="4400" b="0" u="none" strike="noStrike">
              <a:solidFill>
                <a:srgbClr val="000000"/>
              </a:solidFill>
              <a:uFillTx/>
              <a:latin typeface="Arial"/>
            </a:endParaRPr>
          </a:p>
        </p:txBody>
      </p:sp>
      <p:sp>
        <p:nvSpPr>
          <p:cNvPr id="22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sumOfWithLet</a:t>
            </a:r>
            <a:r>
              <a:rPr lang="de-DE" sz="2000" b="0" u="none" strike="noStrike">
                <a:solidFill>
                  <a:srgbClr val="D4D4D4"/>
                </a:solidFill>
                <a:uFillTx/>
                <a:latin typeface="Menlo"/>
              </a:rPr>
              <a:t>(</a:t>
            </a:r>
            <a:r>
              <a:rPr lang="de-DE" sz="2000" b="0" u="none" strike="noStrike">
                <a:solidFill>
                  <a:srgbClr val="9CDCFE"/>
                </a:solidFill>
                <a:uFillTx/>
                <a:latin typeface="Menlo"/>
              </a:rPr>
              <a:t>matrix</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	var</a:t>
            </a:r>
            <a:r>
              <a:rPr lang="de-DE" sz="1600" b="0" u="none" strike="noStrike">
                <a:solidFill>
                  <a:srgbClr val="D4D4D4"/>
                </a:solidFill>
                <a:uFillTx/>
                <a:latin typeface="Menlo"/>
              </a:rPr>
              <a:t> </a:t>
            </a:r>
            <a:r>
              <a:rPr lang="de-DE" sz="1600" b="0" u="none" strike="noStrike">
                <a:solidFill>
                  <a:srgbClr val="9CDCFE"/>
                </a:solidFill>
                <a:uFillTx/>
                <a:latin typeface="Menlo"/>
              </a:rPr>
              <a:t>row</a:t>
            </a:r>
            <a:r>
              <a:rPr lang="de-DE" sz="1600" b="0" u="none" strike="noStrike">
                <a:solidFill>
                  <a:srgbClr val="D4D4D4"/>
                </a:solidFill>
                <a:uFillTx/>
                <a:latin typeface="Menlo"/>
              </a:rPr>
              <a:t> =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	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9CDCFE"/>
                </a:solidFill>
                <a:uFillTx/>
                <a:latin typeface="Menlo"/>
              </a:rPr>
              <a:t>		sum</a:t>
            </a:r>
            <a:r>
              <a:rPr lang="de-DE" sz="1600" b="0" u="none" strike="noStrike">
                <a:solidFill>
                  <a:srgbClr val="D4D4D4"/>
                </a:solidFill>
                <a:uFillTx/>
                <a:latin typeface="Menlo"/>
              </a:rPr>
              <a:t> +=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p:txBody>
      </p:sp>
      <p:pic>
        <p:nvPicPr>
          <p:cNvPr id="227"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838080" y="291240"/>
            <a:ext cx="10514160" cy="93132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en-US" sz="5400" b="0" u="none" strike="noStrike">
                <a:solidFill>
                  <a:schemeClr val="dk1"/>
                </a:solidFill>
                <a:uFillTx/>
                <a:latin typeface="Calibri Light"/>
              </a:rPr>
              <a:t>const</a:t>
            </a:r>
            <a:endParaRPr lang="de-DE" sz="5400" b="0" u="none" strike="noStrike">
              <a:solidFill>
                <a:srgbClr val="000000"/>
              </a:solidFill>
              <a:uFillTx/>
              <a:latin typeface="Arial"/>
            </a:endParaRPr>
          </a:p>
        </p:txBody>
      </p:sp>
      <p:pic>
        <p:nvPicPr>
          <p:cNvPr id="229" name="Picture 6" descr="A close up of a screen&#10;&#10;Description automatically generated"/>
          <p:cNvPicPr/>
          <p:nvPr/>
        </p:nvPicPr>
        <p:blipFill>
          <a:blip r:embed="rId2"/>
          <a:stretch/>
        </p:blipFill>
        <p:spPr>
          <a:xfrm>
            <a:off x="838080" y="3137760"/>
            <a:ext cx="10514160" cy="189144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1"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boolean_expression1</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a:t>
            </a: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boolean_expression2</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//someOther</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//elsedo</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2"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4"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n</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1</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 &gt; </a:t>
            </a:r>
            <a:r>
              <a:rPr lang="de-DE" sz="2400" b="0" u="none" strike="noStrike">
                <a:solidFill>
                  <a:srgbClr val="B5CEA8"/>
                </a:solidFill>
                <a:uFillTx/>
                <a:latin typeface="Menlo"/>
              </a:rPr>
              <a:t>5</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do</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&gt;</a:t>
            </a:r>
            <a:r>
              <a:rPr lang="de-DE" sz="2400" b="0" u="none" strike="noStrike">
                <a:solidFill>
                  <a:srgbClr val="B5CEA8"/>
                </a:solidFill>
                <a:uFillTx/>
                <a:latin typeface="Menlo"/>
              </a:rPr>
              <a:t>5</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5"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Datentyp</a:t>
            </a:r>
            <a:endParaRPr lang="de-DE" sz="4400" b="0" u="none" strike="noStrike">
              <a:solidFill>
                <a:srgbClr val="000000"/>
              </a:solidFill>
              <a:uFillTx/>
              <a:latin typeface="Arial"/>
            </a:endParaRPr>
          </a:p>
        </p:txBody>
      </p:sp>
      <p:graphicFrame>
        <p:nvGraphicFramePr>
          <p:cNvPr id="4" name="Diagram4"/>
          <p:cNvGraphicFramePr/>
          <p:nvPr>
            <p:extLst>
              <p:ext uri="{D42A27DB-BD31-4B8C-83A1-F6EECF244321}">
                <p14:modId xmlns:p14="http://schemas.microsoft.com/office/powerpoint/2010/main" val="3035454158"/>
              </p:ext>
            </p:extLst>
          </p:nvPr>
        </p:nvGraphicFramePr>
        <p:xfrm>
          <a:off x="859320" y="184680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Funktionen</a:t>
            </a:r>
            <a:endParaRPr lang="de-DE" sz="4400" b="0" u="none" strike="noStrike">
              <a:solidFill>
                <a:srgbClr val="000000"/>
              </a:solidFill>
              <a:uFillTx/>
              <a:latin typeface="Arial"/>
            </a:endParaRPr>
          </a:p>
        </p:txBody>
      </p:sp>
      <p:sp>
        <p:nvSpPr>
          <p:cNvPr id="23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toFixed()</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numToFixed</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"numToFixed.toFixed(2)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2</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"numToFixed.toFixed(6)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4</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toLocaleString()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a:t>
            </a:r>
            <a:r>
              <a:rPr lang="de-DE" sz="2000" b="0" u="none" strike="noStrike">
                <a:solidFill>
                  <a:srgbClr val="DCDCAA"/>
                </a:solidFill>
                <a:uFillTx/>
                <a:latin typeface="Menlo"/>
              </a:rPr>
              <a:t>toLocaleString</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String Funktionen	</a:t>
            </a:r>
            <a:endParaRPr lang="de-DE" sz="4400" b="0" u="none" strike="noStrike">
              <a:solidFill>
                <a:srgbClr val="000000"/>
              </a:solidFill>
              <a:uFillTx/>
              <a:latin typeface="Arial"/>
            </a:endParaRPr>
          </a:p>
        </p:txBody>
      </p:sp>
      <p:sp>
        <p:nvSpPr>
          <p:cNvPr id="2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str1</a:t>
            </a:r>
            <a:r>
              <a:rPr lang="de-DE" sz="2800" b="0" u="none" strike="noStrike">
                <a:solidFill>
                  <a:srgbClr val="D4D4D4"/>
                </a:solidFill>
                <a:uFillTx/>
                <a:latin typeface="Menlo"/>
              </a:rPr>
              <a:t> = </a:t>
            </a:r>
            <a:r>
              <a:rPr lang="de-DE" sz="2800" b="0" u="none" strike="noStrike">
                <a:solidFill>
                  <a:srgbClr val="569CD6"/>
                </a:solidFill>
                <a:uFillTx/>
                <a:latin typeface="Menlo"/>
              </a:rPr>
              <a:t>new</a:t>
            </a:r>
            <a:r>
              <a:rPr lang="de-DE" sz="2800" b="0" u="none" strike="noStrike">
                <a:solidFill>
                  <a:srgbClr val="D4D4D4"/>
                </a:solidFill>
                <a:uFillTx/>
                <a:latin typeface="Menlo"/>
              </a:rPr>
              <a:t> </a:t>
            </a:r>
            <a:r>
              <a:rPr lang="de-DE" sz="2800" b="0" u="none" strike="noStrike">
                <a:solidFill>
                  <a:srgbClr val="4EC9B0"/>
                </a:solidFill>
                <a:uFillTx/>
                <a:latin typeface="Menlo"/>
              </a:rPr>
              <a:t>String</a:t>
            </a:r>
            <a:r>
              <a:rPr lang="de-DE" sz="2800" b="0" u="none" strike="noStrike">
                <a:solidFill>
                  <a:srgbClr val="D4D4D4"/>
                </a:solidFill>
                <a:uFillTx/>
                <a:latin typeface="Menlo"/>
              </a:rPr>
              <a:t>( </a:t>
            </a:r>
            <a:r>
              <a:rPr lang="de-DE" sz="2800" b="0" u="none" strike="noStrike">
                <a:solidFill>
                  <a:srgbClr val="CE9178"/>
                </a:solidFill>
                <a:uFillTx/>
                <a:latin typeface="Menlo"/>
              </a:rPr>
              <a:t>"The TS String"</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index</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indexOf</a:t>
            </a:r>
            <a:r>
              <a:rPr lang="de-DE" sz="2800" b="0" u="none" strike="noStrike">
                <a:solidFill>
                  <a:srgbClr val="D4D4D4"/>
                </a:solidFill>
                <a:uFillTx/>
                <a:latin typeface="Menlo"/>
              </a:rPr>
              <a:t>( </a:t>
            </a:r>
            <a:r>
              <a:rPr lang="de-DE" sz="2800" b="0" u="none" strike="noStrike">
                <a:solidFill>
                  <a:srgbClr val="CE9178"/>
                </a:solidFill>
                <a:uFillTx/>
                <a:latin typeface="Menlo"/>
              </a:rPr>
              <a:t>"String"</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"indexOf found String :"</a:t>
            </a:r>
            <a:r>
              <a:rPr lang="de-DE" sz="2800" b="0" u="none" strike="noStrike">
                <a:solidFill>
                  <a:srgbClr val="D4D4D4"/>
                </a:solidFill>
                <a:uFillTx/>
                <a:latin typeface="Menlo"/>
              </a:rPr>
              <a:t> + </a:t>
            </a:r>
            <a:r>
              <a:rPr lang="de-DE" sz="2800" b="0" u="none" strike="noStrike">
                <a:solidFill>
                  <a:srgbClr val="9CDCFE"/>
                </a:solidFill>
                <a:uFillTx/>
                <a:latin typeface="Menlo"/>
              </a:rPr>
              <a:t>index</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"(1,2):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"(0,8):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B5CEA8"/>
                </a:solidFill>
                <a:uFillTx/>
                <a:latin typeface="Menlo"/>
              </a:rPr>
              <a:t>8</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Funktionen deklarieren</a:t>
            </a:r>
            <a:endParaRPr lang="de-DE" sz="4400" b="0" u="none" strike="noStrike">
              <a:solidFill>
                <a:srgbClr val="000000"/>
              </a:solidFill>
              <a:uFillTx/>
              <a:latin typeface="Arial"/>
            </a:endParaRPr>
          </a:p>
        </p:txBody>
      </p:sp>
      <p:sp>
        <p:nvSpPr>
          <p:cNvPr id="242"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 (param1[:type], param2?[:type])</a:t>
            </a:r>
            <a:endParaRPr lang="de-DE" sz="2400" b="0" u="none" strike="noStrike">
              <a:solidFill>
                <a:srgbClr val="000000"/>
              </a:solidFill>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Varargs AKA Rest Parameters</a:t>
            </a:r>
            <a:endParaRPr lang="de-DE" sz="4400" b="0" u="none" strike="noStrike">
              <a:solidFill>
                <a:srgbClr val="000000"/>
              </a:solidFill>
              <a:uFillTx/>
              <a:latin typeface="Arial"/>
            </a:endParaRPr>
          </a:p>
        </p:txBody>
      </p:sp>
      <p:sp>
        <p:nvSpPr>
          <p:cNvPr id="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9CDCFE"/>
                </a:solidFill>
                <a:uFillTx/>
                <a:latin typeface="Menlo"/>
              </a:rPr>
              <a:t>nums</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&lt;</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CE9178"/>
                </a:solidFill>
                <a:uFillTx/>
                <a:latin typeface="Menlo"/>
              </a:rPr>
              <a:t>"sum of the numbers"</a:t>
            </a:r>
            <a:r>
              <a:rPr lang="de-DE" sz="2400" b="0" u="none" strike="noStrike">
                <a:solidFill>
                  <a:srgbClr val="D4D4D4"/>
                </a:solidFill>
                <a:uFillTx/>
                <a:latin typeface="Menlo"/>
              </a:rPr>
              <a:t>,</a:t>
            </a:r>
            <a:r>
              <a:rPr lang="de-DE" sz="2400" b="0" u="none" strike="noStrike">
                <a:solidFill>
                  <a:srgbClr val="9CDCFE"/>
                </a:solidFill>
                <a:uFillTx/>
                <a:latin typeface="Menlo"/>
              </a:rPr>
              <a:t>sum</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a:t>
            </a:r>
            <a:r>
              <a:rPr lang="de-DE" sz="2800" b="0" u="none" strike="noStrike">
                <a:solidFill>
                  <a:srgbClr val="B5CEA8"/>
                </a:solidFill>
                <a:uFillTx/>
                <a:latin typeface="Menlo"/>
              </a:rPr>
              <a:t>3</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endParaRPr lang="de-DE" sz="2800" b="0" u="none" strike="noStrike">
              <a:solidFill>
                <a:srgbClr val="000000"/>
              </a:solidFill>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Default Parameter</a:t>
            </a:r>
            <a:endParaRPr lang="de-DE" sz="4400" b="0" u="none" strike="noStrike">
              <a:solidFill>
                <a:srgbClr val="000000"/>
              </a:solidFill>
              <a:uFillTx/>
              <a:latin typeface="Arial"/>
            </a:endParaRPr>
          </a:p>
        </p:txBody>
      </p:sp>
      <p:sp>
        <p:nvSpPr>
          <p:cNvPr id="24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name(param1[:type],param2[:type] = default_value) { }</a:t>
            </a:r>
            <a:endParaRPr lang="de-DE" sz="2400" b="0" u="none" strike="noStrike">
              <a:solidFill>
                <a:srgbClr val="000000"/>
              </a:solidFill>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Anonyme Funktionen</a:t>
            </a:r>
            <a:endParaRPr lang="de-DE" sz="4400" b="0" u="none" strike="noStrike">
              <a:solidFill>
                <a:srgbClr val="000000"/>
              </a:solidFill>
              <a:uFillTx/>
              <a:latin typeface="Arial"/>
            </a:endParaRPr>
          </a:p>
        </p:txBody>
      </p:sp>
      <p:sp>
        <p:nvSpPr>
          <p:cNvPr id="248" name="PlaceHolder 2"/>
          <p:cNvSpPr>
            <a:spLocks noGrp="1"/>
          </p:cNvSpPr>
          <p:nvPr>
            <p:ph/>
          </p:nvPr>
        </p:nvSpPr>
        <p:spPr>
          <a:xfrm>
            <a:off x="4975920" y="963720"/>
            <a:ext cx="663300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de-DE" sz="2400" b="0" u="none" strike="noStrike">
                <a:solidFill>
                  <a:schemeClr val="dk1"/>
                </a:solidFill>
                <a:uFillTx/>
                <a:latin typeface="Calibri"/>
              </a:rPr>
              <a:t>var res = function( [arguments] ) {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 [param1, parma2,…param n] )=&gt;statement;</a:t>
            </a:r>
            <a:endParaRPr lang="de-DE" sz="2800" b="0" u="none" strike="noStrike">
              <a:solidFill>
                <a:srgbClr val="000000"/>
              </a:solidFill>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überladen</a:t>
            </a:r>
            <a:endParaRPr lang="de-DE" sz="4400" b="0" u="none" strike="noStrike">
              <a:solidFill>
                <a:srgbClr val="000000"/>
              </a:solidFill>
              <a:uFillTx/>
              <a:latin typeface="Arial"/>
            </a:endParaRPr>
          </a:p>
        </p:txBody>
      </p:sp>
      <p:sp>
        <p:nvSpPr>
          <p:cNvPr id="2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r>
              <a:rPr lang="de-DE" sz="2800" b="0" u="none" strike="noStrike">
                <a:solidFill>
                  <a:srgbClr val="D4D4D4"/>
                </a:solidFill>
                <a:uFillTx/>
                <a:latin typeface="Menlo"/>
              </a:rPr>
              <a:t>1.SIGNATURES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n</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s</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2. 1 BODY FOR ALL</a:t>
            </a: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	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51"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2"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3"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4"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5"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6"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Container</a:t>
            </a:r>
            <a:endParaRPr lang="de-DE" sz="4000" b="0" u="none" strike="noStrike">
              <a:solidFill>
                <a:srgbClr val="000000"/>
              </a:solidFill>
              <a:uFillTx/>
              <a:latin typeface="Arial"/>
            </a:endParaRPr>
          </a:p>
        </p:txBody>
      </p:sp>
      <p:sp>
        <p:nvSpPr>
          <p:cNvPr id="257"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array</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Liste</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tuple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anderen Basis-Typen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enum</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Werten</a:t>
            </a:r>
            <a:endParaRPr lang="de-DE" sz="2000" b="0" u="none" strike="noStrike">
              <a:solidFill>
                <a:srgbClr val="000000"/>
              </a:solidFill>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Rounded Rectangle 3"/>
          <p:cNvSpPr/>
          <p:nvPr/>
        </p:nvSpPr>
        <p:spPr>
          <a:xfrm>
            <a:off x="794160" y="4908960"/>
            <a:ext cx="9479520" cy="105732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cxnSp>
        <p:nvCxnSpPr>
          <p:cNvPr id="259" name="Straight Connector 5"/>
          <p:cNvCxnSpPr/>
          <p:nvPr/>
        </p:nvCxnSpPr>
        <p:spPr>
          <a:xfrm>
            <a:off x="2045160" y="4908600"/>
            <a:ext cx="1440" cy="1072440"/>
          </a:xfrm>
          <a:prstGeom prst="straightConnector1">
            <a:avLst/>
          </a:prstGeom>
          <a:ln w="0">
            <a:solidFill>
              <a:srgbClr val="000000"/>
            </a:solidFill>
          </a:ln>
        </p:spPr>
      </p:cxnSp>
      <p:cxnSp>
        <p:nvCxnSpPr>
          <p:cNvPr id="260" name="Straight Connector 6"/>
          <p:cNvCxnSpPr/>
          <p:nvPr/>
        </p:nvCxnSpPr>
        <p:spPr>
          <a:xfrm>
            <a:off x="3160080" y="4880520"/>
            <a:ext cx="1440" cy="1072440"/>
          </a:xfrm>
          <a:prstGeom prst="straightConnector1">
            <a:avLst/>
          </a:prstGeom>
          <a:ln w="0">
            <a:solidFill>
              <a:srgbClr val="000000"/>
            </a:solidFill>
          </a:ln>
        </p:spPr>
      </p:cxnSp>
      <p:cxnSp>
        <p:nvCxnSpPr>
          <p:cNvPr id="261" name="Straight Connector 7"/>
          <p:cNvCxnSpPr/>
          <p:nvPr/>
        </p:nvCxnSpPr>
        <p:spPr>
          <a:xfrm>
            <a:off x="4443480" y="4896720"/>
            <a:ext cx="1440" cy="1072080"/>
          </a:xfrm>
          <a:prstGeom prst="straightConnector1">
            <a:avLst/>
          </a:prstGeom>
          <a:ln w="0">
            <a:solidFill>
              <a:srgbClr val="000000"/>
            </a:solidFill>
          </a:ln>
        </p:spPr>
      </p:cxnSp>
      <p:cxnSp>
        <p:nvCxnSpPr>
          <p:cNvPr id="262" name="Straight Connector 8"/>
          <p:cNvCxnSpPr/>
          <p:nvPr/>
        </p:nvCxnSpPr>
        <p:spPr>
          <a:xfrm>
            <a:off x="8458200" y="4880520"/>
            <a:ext cx="1440" cy="1072440"/>
          </a:xfrm>
          <a:prstGeom prst="straightConnector1">
            <a:avLst/>
          </a:prstGeom>
          <a:ln w="0">
            <a:solidFill>
              <a:srgbClr val="000000"/>
            </a:solidFill>
          </a:ln>
        </p:spPr>
      </p:cxnSp>
      <p:cxnSp>
        <p:nvCxnSpPr>
          <p:cNvPr id="263" name="Straight Connector 9"/>
          <p:cNvCxnSpPr/>
          <p:nvPr/>
        </p:nvCxnSpPr>
        <p:spPr>
          <a:xfrm>
            <a:off x="7166520" y="4908600"/>
            <a:ext cx="1440" cy="1072440"/>
          </a:xfrm>
          <a:prstGeom prst="straightConnector1">
            <a:avLst/>
          </a:prstGeom>
          <a:ln w="0">
            <a:solidFill>
              <a:srgbClr val="000000"/>
            </a:solidFill>
          </a:ln>
        </p:spPr>
      </p:cxnSp>
      <p:cxnSp>
        <p:nvCxnSpPr>
          <p:cNvPr id="264" name="Straight Connector 10"/>
          <p:cNvCxnSpPr/>
          <p:nvPr/>
        </p:nvCxnSpPr>
        <p:spPr>
          <a:xfrm>
            <a:off x="5766840" y="4908600"/>
            <a:ext cx="1440" cy="1072440"/>
          </a:xfrm>
          <a:prstGeom prst="straightConnector1">
            <a:avLst/>
          </a:prstGeom>
          <a:ln w="0">
            <a:solidFill>
              <a:srgbClr val="000000"/>
            </a:solidFill>
          </a:ln>
        </p:spPr>
      </p:cxnSp>
      <p:sp>
        <p:nvSpPr>
          <p:cNvPr id="265" name="TextBox 11"/>
          <p:cNvSpPr/>
          <p:nvPr/>
        </p:nvSpPr>
        <p:spPr>
          <a:xfrm>
            <a:off x="1375920" y="4511880"/>
            <a:ext cx="781776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0	1	         2		3	      4		5	    6</a:t>
            </a:r>
            <a:endParaRPr lang="de-DE" sz="1800" b="0" u="none" strike="noStrike">
              <a:solidFill>
                <a:srgbClr val="000000"/>
              </a:solidFill>
              <a:uFillTx/>
              <a:latin typeface="Arial"/>
            </a:endParaRPr>
          </a:p>
        </p:txBody>
      </p:sp>
      <p:sp>
        <p:nvSpPr>
          <p:cNvPr id="266" name="Rectangle 13"/>
          <p:cNvSpPr/>
          <p:nvPr/>
        </p:nvSpPr>
        <p:spPr>
          <a:xfrm>
            <a:off x="6244560" y="3238200"/>
            <a:ext cx="4390200" cy="1461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nummern</a:t>
            </a:r>
            <a:r>
              <a:rPr lang="de-DE" sz="1800" b="0" u="none" strike="noStrike">
                <a:solidFill>
                  <a:srgbClr val="D4D4D4"/>
                </a:solidFill>
                <a:uFillTx/>
                <a:latin typeface="Menlo"/>
              </a:rPr>
              <a:t> = [</a:t>
            </a:r>
            <a:r>
              <a:rPr lang="de-DE" sz="1800" b="0" u="none" strike="noStrike">
                <a:solidFill>
                  <a:srgbClr val="B5CEA8"/>
                </a:solidFill>
                <a:uFillTx/>
                <a:latin typeface="Menlo"/>
              </a:rPr>
              <a:t>1</a:t>
            </a:r>
            <a:r>
              <a:rPr lang="de-DE" sz="1800" b="0" u="none" strike="noStrike">
                <a:solidFill>
                  <a:srgbClr val="D4D4D4"/>
                </a:solidFill>
                <a:uFillTx/>
                <a:latin typeface="Menlo"/>
              </a:rPr>
              <a:t>,</a:t>
            </a:r>
            <a:r>
              <a:rPr lang="de-DE" sz="1800" b="0" u="none" strike="noStrike">
                <a:solidFill>
                  <a:srgbClr val="B5CEA8"/>
                </a:solidFill>
                <a:uFillTx/>
                <a:latin typeface="Menlo"/>
              </a:rPr>
              <a:t>3</a:t>
            </a:r>
            <a:r>
              <a:rPr lang="de-DE" sz="1800" b="0" u="none" strike="noStrike">
                <a:solidFill>
                  <a:srgbClr val="D4D4D4"/>
                </a:solidFill>
                <a:uFillTx/>
                <a:latin typeface="Menlo"/>
              </a:rPr>
              <a:t>,</a:t>
            </a:r>
            <a:r>
              <a:rPr lang="de-DE" sz="1800" b="0" u="none" strike="noStrike">
                <a:solidFill>
                  <a:srgbClr val="B5CEA8"/>
                </a:solidFill>
                <a:uFillTx/>
                <a:latin typeface="Menlo"/>
              </a:rPr>
              <a:t>5</a:t>
            </a:r>
            <a:r>
              <a:rPr lang="de-DE" sz="1800" b="0" u="none" strike="noStrike">
                <a:solidFill>
                  <a:srgbClr val="D4D4D4"/>
                </a:solidFill>
                <a:uFillTx/>
                <a:latin typeface="Menlo"/>
              </a:rPr>
              <a:t>,</a:t>
            </a:r>
            <a:r>
              <a:rPr lang="de-DE" sz="1800" b="0" u="none" strike="noStrike">
                <a:solidFill>
                  <a:srgbClr val="B5CEA8"/>
                </a:solidFill>
                <a:uFillTx/>
                <a:latin typeface="Menlo"/>
              </a:rPr>
              <a:t>7</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secondEntry</a:t>
            </a:r>
            <a:r>
              <a:rPr lang="de-DE" sz="1800" b="0" u="none" strike="noStrike">
                <a:solidFill>
                  <a:srgbClr val="D4D4D4"/>
                </a:solidFill>
                <a:uFillTx/>
                <a:latin typeface="Menlo"/>
              </a:rPr>
              <a:t> =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B5CEA8"/>
                </a:solidFill>
                <a:uFillTx/>
                <a:latin typeface="Menlo"/>
              </a:rPr>
              <a:t>1</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 </a:t>
            </a:r>
            <a:endParaRPr lang="de-DE" sz="1800" b="0" u="none" strike="noStrike">
              <a:solidFill>
                <a:srgbClr val="000000"/>
              </a:solidFill>
              <a:uFillTx/>
              <a:latin typeface="Arial"/>
            </a:endParaRPr>
          </a:p>
        </p:txBody>
      </p:sp>
      <p:sp>
        <p:nvSpPr>
          <p:cNvPr id="267" name="Rectangle 14"/>
          <p:cNvSpPr/>
          <p:nvPr/>
        </p:nvSpPr>
        <p:spPr>
          <a:xfrm>
            <a:off x="908640" y="878400"/>
            <a:ext cx="5834520" cy="455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2400" b="0" u="none" strike="noStrike">
                <a:solidFill>
                  <a:schemeClr val="dk1"/>
                </a:solidFill>
                <a:uFillTx/>
                <a:latin typeface="Calibri"/>
              </a:rPr>
              <a:t>var array_name[:data type] = [val1,val2…valn]</a:t>
            </a:r>
            <a:endParaRPr lang="de-DE" sz="2400" b="0" u="none" strike="noStrike">
              <a:solidFill>
                <a:srgbClr val="000000"/>
              </a:solidFill>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Rectangle 1"/>
          <p:cNvSpPr/>
          <p:nvPr/>
        </p:nvSpPr>
        <p:spPr>
          <a:xfrm>
            <a:off x="4523760" y="3947400"/>
            <a:ext cx="740988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 </a:t>
            </a:r>
            <a:r>
              <a:rPr lang="de-DE" sz="1800" b="0" u="none" strike="noStrike">
                <a:solidFill>
                  <a:srgbClr val="569CD6"/>
                </a:solidFill>
                <a:uFillTx/>
                <a:latin typeface="Menlo"/>
              </a:rPr>
              <a:t>new</a:t>
            </a:r>
            <a:r>
              <a:rPr lang="de-DE" sz="1800" b="0" u="none" strike="noStrike">
                <a:solidFill>
                  <a:srgbClr val="D4D4D4"/>
                </a:solidFill>
                <a:uFillTx/>
                <a:latin typeface="Menlo"/>
              </a:rPr>
              <a:t> </a:t>
            </a:r>
            <a:r>
              <a:rPr lang="de-DE" sz="1800" b="0" u="none" strike="noStrike">
                <a:solidFill>
                  <a:srgbClr val="4EC9B0"/>
                </a:solidFill>
                <a:uFillTx/>
                <a:latin typeface="Menlo"/>
              </a:rPr>
              <a:t>Array</a:t>
            </a:r>
            <a:r>
              <a:rPr lang="de-DE" sz="1800" b="0" u="none" strike="noStrike">
                <a:solidFill>
                  <a:srgbClr val="D4D4D4"/>
                </a:solidFill>
                <a:uFillTx/>
                <a:latin typeface="Menlo"/>
              </a:rPr>
              <a:t>(</a:t>
            </a:r>
            <a:r>
              <a:rPr lang="de-DE" sz="1800" b="0" u="none" strike="noStrike">
                <a:solidFill>
                  <a:srgbClr val="B5CEA8"/>
                </a:solidFill>
                <a:uFillTx/>
                <a:latin typeface="Menlo"/>
              </a:rPr>
              <a:t>4</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br>
              <a:rPr sz="1800"/>
            </a:br>
            <a:r>
              <a:rPr lang="de-DE" sz="1800" b="0" u="none" strike="noStrike">
                <a:solidFill>
                  <a:srgbClr val="C586C0"/>
                </a:solidFill>
                <a:uFillTx/>
                <a:latin typeface="Menlo"/>
              </a:rPr>
              <a:t>for</a:t>
            </a:r>
            <a:r>
              <a:rPr lang="de-DE" sz="1800" b="0" u="none" strike="noStrike">
                <a:solidFill>
                  <a:srgbClr val="D4D4D4"/>
                </a:solidFill>
                <a:uFillTx/>
                <a:latin typeface="Menlo"/>
              </a:rPr>
              <a:t>(</a:t>
            </a: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0</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&lt;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length</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	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10</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4EC9B0"/>
                </a:solidFill>
                <a:uFillTx/>
                <a:latin typeface="Menlo"/>
              </a:rPr>
              <a:t>	console</a:t>
            </a:r>
            <a:r>
              <a:rPr lang="de-DE" sz="1800" b="0" u="none" strike="noStrike">
                <a:solidFill>
                  <a:srgbClr val="D4D4D4"/>
                </a:solidFill>
                <a:uFillTx/>
                <a:latin typeface="Menlo"/>
              </a:rPr>
              <a:t>.</a:t>
            </a:r>
            <a:r>
              <a:rPr lang="de-DE" sz="1800" b="0" u="none" strike="noStrike">
                <a:solidFill>
                  <a:srgbClr val="DCDCAA"/>
                </a:solidFill>
                <a:uFillTx/>
                <a:latin typeface="Menlo"/>
              </a:rPr>
              <a:t>log</a:t>
            </a:r>
            <a:r>
              <a:rPr lang="de-DE" sz="1800" b="0" u="none" strike="noStrike">
                <a:solidFill>
                  <a:srgbClr val="D4D4D4"/>
                </a:solidFill>
                <a:uFillTx/>
                <a:latin typeface="Menlo"/>
              </a:rPr>
              <a: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a:t>
            </a:r>
            <a:endParaRPr lang="de-DE" sz="1800" b="0" u="none" strike="noStrike">
              <a:solidFill>
                <a:srgbClr val="000000"/>
              </a:solidFill>
              <a:uFillTx/>
              <a:latin typeface="Arial"/>
            </a:endParaRPr>
          </a:p>
        </p:txBody>
      </p:sp>
      <p:pic>
        <p:nvPicPr>
          <p:cNvPr id="269" name="Picture 5" descr="A crowd of people in a room&#10;&#10;Description automatically generated"/>
          <p:cNvPicPr/>
          <p:nvPr/>
        </p:nvPicPr>
        <p:blipFill>
          <a:blip r:embed="rId2"/>
          <a:stretch/>
        </p:blipFill>
        <p:spPr>
          <a:xfrm>
            <a:off x="885960" y="990720"/>
            <a:ext cx="3046680" cy="22082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70" name="Rectangle 72">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1" name="PlaceHolder 1"/>
          <p:cNvSpPr>
            <a:spLocks noGrp="1"/>
          </p:cNvSpPr>
          <p:nvPr>
            <p:ph type="title"/>
          </p:nvPr>
        </p:nvSpPr>
        <p:spPr>
          <a:xfrm>
            <a:off x="5297760" y="329040"/>
            <a:ext cx="6249600" cy="1781640"/>
          </a:xfrm>
          <a:prstGeom prst="rect">
            <a:avLst/>
          </a:prstGeom>
          <a:noFill/>
          <a:ln w="0">
            <a:noFill/>
          </a:ln>
        </p:spPr>
        <p:txBody>
          <a:bodyPr lIns="91440" tIns="45720" rIns="91440" bIns="45720" anchor="b">
            <a:normAutofit fontScale="92500"/>
          </a:bodyPr>
          <a:lstStyle/>
          <a:p>
            <a:pPr indent="0" defTabSz="914400">
              <a:lnSpc>
                <a:spcPct val="90000"/>
              </a:lnSpc>
              <a:buNone/>
              <a:tabLst>
                <a:tab pos="0" algn="l"/>
              </a:tabLst>
            </a:pPr>
            <a:r>
              <a:rPr lang="en-US" sz="5400" b="0" u="none" strike="noStrike">
                <a:solidFill>
                  <a:schemeClr val="dk1"/>
                </a:solidFill>
                <a:uFillTx/>
                <a:latin typeface="Calibri Light"/>
              </a:rPr>
              <a:t>Array Schnittstellen Auszug </a:t>
            </a:r>
            <a:endParaRPr lang="de-DE" sz="5400" b="0" u="none" strike="noStrike">
              <a:solidFill>
                <a:srgbClr val="000000"/>
              </a:solidFill>
              <a:uFillTx/>
              <a:latin typeface="Arial"/>
            </a:endParaRPr>
          </a:p>
        </p:txBody>
      </p:sp>
      <p:pic>
        <p:nvPicPr>
          <p:cNvPr id="272" name="Picture 4" descr="NewSpringcollection2007_"/>
          <p:cNvPicPr/>
          <p:nvPr/>
        </p:nvPicPr>
        <p:blipFill>
          <a:blip r:embed="rId2"/>
          <a:srcRect l="21422" r="10668"/>
          <a:stretch/>
        </p:blipFill>
        <p:spPr>
          <a:xfrm>
            <a:off x="0" y="0"/>
            <a:ext cx="4655880" cy="6856560"/>
          </a:xfrm>
          <a:prstGeom prst="rect">
            <a:avLst/>
          </a:prstGeom>
          <a:noFill/>
          <a:ln w="0">
            <a:noFill/>
          </a:ln>
        </p:spPr>
      </p:pic>
      <p:sp>
        <p:nvSpPr>
          <p:cNvPr id="273" name="sketchy line">
            <a:extLst>
              <a:ext uri="{C183D7F6-B498-43B3-948B-1728B52AA6E4}">
                <adec:decorative xmlns:adec="http://schemas.microsoft.com/office/drawing/2017/decorative" val="1"/>
              </a:ext>
            </a:extLst>
          </p:cNvPr>
          <p:cNvSpPr/>
          <p:nvPr/>
        </p:nvSpPr>
        <p:spPr>
          <a:xfrm>
            <a:off x="5297760" y="2374920"/>
            <a:ext cx="4242240" cy="16920"/>
          </a:xfrm>
          <a:custGeom>
            <a:avLst/>
            <a:gdLst>
              <a:gd name="textAreaLeft" fmla="*/ 0 w 4242240"/>
              <a:gd name="textAreaRight" fmla="*/ 4243680 w 4242240"/>
              <a:gd name="textAreaTop" fmla="*/ 0 h 16920"/>
              <a:gd name="textAreaBottom" fmla="*/ 18360 h 16920"/>
            </a:gdLst>
            <a:ahLst/>
            <a:cxnLst/>
            <a:rect l="textAreaLeft" t="textAreaTop" r="textAreaRight" b="textAreaBottom"/>
            <a:pathLst>
              <a:path w="4243589" h="18288" fill="none">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4" name="PlaceHolder 2"/>
          <p:cNvSpPr>
            <a:spLocks noGrp="1"/>
          </p:cNvSpPr>
          <p:nvPr>
            <p:ph/>
          </p:nvPr>
        </p:nvSpPr>
        <p:spPr>
          <a:xfrm>
            <a:off x="5297760" y="2706480"/>
            <a:ext cx="6249600" cy="34822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concat(value1, value2, ..., valueN)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indexOf(o)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lastIndexOf(o) : number;</a:t>
            </a:r>
            <a:r>
              <a:rPr lang="en-US" sz="2200" b="1" u="none" strike="noStrike">
                <a:solidFill>
                  <a:schemeClr val="dk1"/>
                </a:solidFill>
                <a:uFillTx/>
                <a:latin typeface="Calibri"/>
              </a:rPr>
              <a:t> </a:t>
            </a:r>
            <a:endParaRPr lang="de-DE" sz="22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push(e1,e2,..en)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unshift(e1,e2,..en)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pop()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shift() : T;</a:t>
            </a:r>
            <a:endParaRPr lang="de-DE" sz="2200" b="0" u="none" strike="noStrike">
              <a:solidFill>
                <a:srgbClr val="000000"/>
              </a:solidFill>
              <a:uFillTx/>
              <a:latin typeface="Arial"/>
            </a:endParaRPr>
          </a:p>
        </p:txBody>
      </p:sp>
      <p:sp>
        <p:nvSpPr>
          <p:cNvPr id="275" name="Rectangle 1"/>
          <p:cNvSpPr/>
          <p:nvPr/>
        </p:nvSpPr>
        <p:spPr>
          <a:xfrm>
            <a:off x="5297760" y="6319080"/>
            <a:ext cx="63511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n-DE" sz="1800" b="0" u="none" strike="noStrike">
                <a:solidFill>
                  <a:schemeClr val="dk1"/>
                </a:solidFill>
                <a:uFillTx/>
                <a:latin typeface="Calibri"/>
              </a:rPr>
              <a:t>https://www.tutorialspoint.com/typescript/typescript_arrays.htm</a:t>
            </a:r>
            <a:endParaRPr lang="de-DE" sz="1800" b="0" u="none" strike="noStrike">
              <a:solidFill>
                <a:srgbClr val="000000"/>
              </a:solidFill>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concat()</a:t>
            </a:r>
            <a:endParaRPr lang="de-DE" sz="4400" b="0" u="none" strike="noStrike">
              <a:solidFill>
                <a:srgbClr val="000000"/>
              </a:solidFill>
              <a:uFillTx/>
              <a:latin typeface="Arial"/>
            </a:endParaRPr>
          </a:p>
        </p:txBody>
      </p:sp>
      <p:sp>
        <p:nvSpPr>
          <p:cNvPr id="27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 = [</a:t>
            </a:r>
            <a:r>
              <a:rPr lang="de-DE" sz="2800" b="0" u="none" strike="noStrike">
                <a:solidFill>
                  <a:srgbClr val="CE9178"/>
                </a:solidFill>
                <a:uFillTx/>
                <a:latin typeface="Menlo"/>
              </a:rPr>
              <a:t>"a"</a:t>
            </a:r>
            <a:r>
              <a:rPr lang="de-DE" sz="2800" b="0" u="none" strike="noStrike">
                <a:solidFill>
                  <a:srgbClr val="D4D4D4"/>
                </a:solidFill>
                <a:uFillTx/>
                <a:latin typeface="Menlo"/>
              </a:rPr>
              <a:t>, </a:t>
            </a:r>
            <a:r>
              <a:rPr lang="de-DE" sz="2800" b="0" u="none" strike="noStrike">
                <a:solidFill>
                  <a:srgbClr val="CE9178"/>
                </a:solidFill>
                <a:uFillTx/>
                <a:latin typeface="Menlo"/>
              </a:rPr>
              <a:t>"b"</a:t>
            </a:r>
            <a:r>
              <a:rPr lang="de-DE" sz="2800" b="0" u="none" strike="noStrike">
                <a:solidFill>
                  <a:srgbClr val="D4D4D4"/>
                </a:solidFill>
                <a:uFillTx/>
                <a:latin typeface="Menlo"/>
              </a:rPr>
              <a:t>, </a:t>
            </a:r>
            <a:r>
              <a:rPr lang="de-DE" sz="2800" b="0" u="none" strike="noStrike">
                <a:solidFill>
                  <a:srgbClr val="CE9178"/>
                </a:solidFill>
                <a:uFillTx/>
                <a:latin typeface="Menlo"/>
              </a:rPr>
              <a:t>"c"</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nummern2</a:t>
            </a:r>
            <a:r>
              <a:rPr lang="de-DE" sz="2800" b="0" u="none" strike="noStrike">
                <a:solidFill>
                  <a:srgbClr val="D4D4D4"/>
                </a:solidFill>
                <a:uFillTx/>
                <a:latin typeface="Menlo"/>
              </a:rPr>
              <a:t> = [</a:t>
            </a:r>
            <a:r>
              <a:rPr lang="de-DE" sz="2800" b="0" u="none" strike="noStrike">
                <a:solidFill>
                  <a:srgbClr val="B5CEA8"/>
                </a:solidFill>
                <a:uFillTx/>
                <a:latin typeface="Menlo"/>
              </a:rPr>
              <a:t>1</a:t>
            </a:r>
            <a:r>
              <a:rPr lang="de-DE" sz="2800" b="0" u="none" strike="noStrike">
                <a:solidFill>
                  <a:srgbClr val="D4D4D4"/>
                </a:solidFill>
                <a:uFillTx/>
                <a:latin typeface="Menlo"/>
              </a:rPr>
              <a:t>, </a:t>
            </a:r>
            <a:r>
              <a:rPr lang="de-DE" sz="2800" b="0" u="none" strike="noStrike">
                <a:solidFill>
                  <a:srgbClr val="B5CEA8"/>
                </a:solidFill>
                <a:uFillTx/>
                <a:latin typeface="Menlo"/>
              </a:rPr>
              <a:t>2</a:t>
            </a:r>
            <a:r>
              <a:rPr lang="de-DE" sz="2800" b="0" u="none" strike="noStrike">
                <a:solidFill>
                  <a:srgbClr val="D4D4D4"/>
                </a:solidFill>
                <a:uFillTx/>
                <a:latin typeface="Menlo"/>
              </a:rPr>
              <a:t>, </a:t>
            </a:r>
            <a:r>
              <a:rPr lang="de-DE" sz="2800" b="0" u="none" strike="noStrike">
                <a:solidFill>
                  <a:srgbClr val="B5CEA8"/>
                </a:solidFill>
                <a:uFillTx/>
                <a:latin typeface="Menlo"/>
              </a:rPr>
              <a:t>3</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alphaNumeric</a:t>
            </a:r>
            <a:r>
              <a:rPr lang="de-DE" sz="2800" b="0" u="none" strike="noStrike">
                <a:solidFill>
                  <a:srgbClr val="D4D4D4"/>
                </a:solidFill>
                <a:uFillTx/>
                <a:latin typeface="Menlo"/>
              </a:rPr>
              <a:t> =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DCDCAA"/>
                </a:solidFill>
                <a:uFillTx/>
                <a:latin typeface="Menlo"/>
              </a:rPr>
              <a:t>concat</a:t>
            </a:r>
            <a:r>
              <a:rPr lang="de-DE" sz="2800" b="0" u="none" strike="noStrike">
                <a:solidFill>
                  <a:srgbClr val="D4D4D4"/>
                </a:solidFill>
                <a:uFillTx/>
                <a:latin typeface="Menlo"/>
              </a:rPr>
              <a:t>(</a:t>
            </a:r>
            <a:r>
              <a:rPr lang="de-DE" sz="2800" b="0" u="none" strike="noStrike">
                <a:solidFill>
                  <a:srgbClr val="9CDCFE"/>
                </a:solidFill>
                <a:uFillTx/>
                <a:latin typeface="Menlo"/>
              </a:rPr>
              <a:t>nummern2</a:t>
            </a:r>
            <a:r>
              <a:rPr lang="de-DE" sz="2800" b="0" u="none" strike="noStrike">
                <a:solidFill>
                  <a:srgbClr val="D4D4D4"/>
                </a:solidFill>
                <a:uFillTx/>
                <a:latin typeface="Menlo"/>
              </a:rPr>
              <a:t>); </a:t>
            </a:r>
            <a:endParaRPr lang="de-DE" sz="2800" b="0" u="none" strike="noStrike">
              <a:solidFill>
                <a:srgbClr val="000000"/>
              </a:solidFill>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Pop und push</a:t>
            </a:r>
            <a:endParaRPr lang="de-DE" sz="4400" b="0" u="none" strike="noStrike">
              <a:solidFill>
                <a:srgbClr val="000000"/>
              </a:solidFill>
              <a:uFillTx/>
              <a:latin typeface="Arial"/>
            </a:endParaRPr>
          </a:p>
        </p:txBody>
      </p:sp>
      <p:sp>
        <p:nvSpPr>
          <p:cNvPr id="279" name="PlaceHolder 2"/>
          <p:cNvSpPr>
            <a:spLocks noGrp="1"/>
          </p:cNvSpPr>
          <p:nvPr>
            <p:ph/>
          </p:nvPr>
        </p:nvSpPr>
        <p:spPr>
          <a:xfrm>
            <a:off x="3473280" y="3073320"/>
            <a:ext cx="8717040" cy="15033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lengthAfterPush</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push</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000" b="0" u="none" strike="noStrike">
                <a:solidFill>
                  <a:srgbClr val="569CD6"/>
                </a:solidFill>
                <a:uFillTx/>
                <a:latin typeface="Menlo"/>
              </a:rPr>
              <a:t>new</a:t>
            </a:r>
            <a:r>
              <a:rPr lang="en-GB" sz="2000" b="0" u="none" strike="noStrike">
                <a:solidFill>
                  <a:srgbClr val="D4D4D4"/>
                </a:solidFill>
                <a:uFillTx/>
                <a:latin typeface="Menlo"/>
              </a:rPr>
              <a:t> </a:t>
            </a:r>
            <a:r>
              <a:rPr lang="en-GB" sz="2000" b="0" u="none" strike="noStrike">
                <a:solidFill>
                  <a:srgbClr val="4EC9B0"/>
                </a:solidFill>
                <a:uFillTx/>
                <a:latin typeface="Menlo"/>
              </a:rPr>
              <a:t>Fahrzeug</a:t>
            </a:r>
            <a:r>
              <a:rPr lang="en-GB" sz="2000" b="0" u="none" strike="noStrike">
                <a:solidFill>
                  <a:srgbClr val="D4D4D4"/>
                </a:solidFill>
                <a:uFillTx/>
                <a:latin typeface="Menlo"/>
              </a:rPr>
              <a:t>(</a:t>
            </a:r>
            <a:r>
              <a:rPr lang="en-GB" sz="2000" b="0" u="none" strike="noStrike">
                <a:solidFill>
                  <a:srgbClr val="CE9178"/>
                </a:solidFill>
                <a:uFillTx/>
                <a:latin typeface="Menlo"/>
              </a:rPr>
              <a:t>"Cybertruck Dual Motor"</a:t>
            </a:r>
            <a:r>
              <a:rPr lang="en-GB" sz="2000" b="0" u="none" strike="noStrike">
                <a:solidFill>
                  <a:srgbClr val="D4D4D4"/>
                </a:solidFill>
                <a:uFillTx/>
                <a:latin typeface="Menlo"/>
              </a:rPr>
              <a:t>,</a:t>
            </a:r>
            <a:r>
              <a:rPr lang="en-GB" sz="2000" b="0" u="none" strike="noStrike">
                <a:solidFill>
                  <a:srgbClr val="CE9178"/>
                </a:solidFill>
                <a:uFillTx/>
                <a:latin typeface="Menlo"/>
              </a:rPr>
              <a:t>"Tesla"</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fahrzeug</a:t>
            </a:r>
            <a:r>
              <a:rPr lang="en-GB" sz="2000" b="0" u="none" strike="noStrike">
                <a:solidFill>
                  <a:srgbClr val="D4D4D4"/>
                </a:solidFill>
                <a:uFillTx/>
                <a:latin typeface="Menlo"/>
              </a:rPr>
              <a:t>:</a:t>
            </a:r>
            <a:r>
              <a:rPr lang="en-GB" sz="2000" b="0" u="none" strike="noStrike">
                <a:solidFill>
                  <a:srgbClr val="4EC9B0"/>
                </a:solidFill>
                <a:uFillTx/>
                <a:latin typeface="Menlo"/>
              </a:rPr>
              <a:t>Fahrzeug</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pop</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sp>
        <p:nvSpPr>
          <p:cNvPr id="280" name="Rectangle 27"/>
          <p:cNvSpPr/>
          <p:nvPr/>
        </p:nvSpPr>
        <p:spPr>
          <a:xfrm>
            <a:off x="6095880" y="4149720"/>
            <a:ext cx="912960" cy="912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1" name="Rectangle 28"/>
          <p:cNvSpPr/>
          <p:nvPr/>
        </p:nvSpPr>
        <p:spPr>
          <a:xfrm>
            <a:off x="2063880" y="472428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2" name="Line 29"/>
          <p:cNvSpPr/>
          <p:nvPr/>
        </p:nvSpPr>
        <p:spPr>
          <a:xfrm>
            <a:off x="2063520" y="50130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3" name="Line 30"/>
          <p:cNvSpPr/>
          <p:nvPr/>
        </p:nvSpPr>
        <p:spPr>
          <a:xfrm>
            <a:off x="2063520" y="537336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4" name="Line 31"/>
          <p:cNvSpPr/>
          <p:nvPr/>
        </p:nvSpPr>
        <p:spPr>
          <a:xfrm>
            <a:off x="2063520" y="5733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5" name="Line 32"/>
          <p:cNvSpPr/>
          <p:nvPr/>
        </p:nvSpPr>
        <p:spPr>
          <a:xfrm>
            <a:off x="2063520" y="6165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6" name="Text Box 33"/>
          <p:cNvSpPr/>
          <p:nvPr/>
        </p:nvSpPr>
        <p:spPr>
          <a:xfrm>
            <a:off x="2424600" y="472428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87" name="Text Box 34"/>
          <p:cNvSpPr/>
          <p:nvPr/>
        </p:nvSpPr>
        <p:spPr>
          <a:xfrm>
            <a:off x="2352600" y="508464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88" name="Text Box 35"/>
          <p:cNvSpPr/>
          <p:nvPr/>
        </p:nvSpPr>
        <p:spPr>
          <a:xfrm>
            <a:off x="2207160" y="537372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89" name="Text Box 36"/>
          <p:cNvSpPr/>
          <p:nvPr/>
        </p:nvSpPr>
        <p:spPr>
          <a:xfrm>
            <a:off x="2356200" y="580536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290" name="AutoShape 46"/>
          <p:cNvCxnSpPr>
            <a:stCxn id="281" idx="3"/>
          </p:cNvCxnSpPr>
          <p:nvPr/>
        </p:nvCxnSpPr>
        <p:spPr>
          <a:xfrm>
            <a:off x="3646800" y="5659920"/>
            <a:ext cx="1874160" cy="2520"/>
          </a:xfrm>
          <a:prstGeom prst="straightConnector1">
            <a:avLst/>
          </a:prstGeom>
          <a:ln w="9525">
            <a:solidFill>
              <a:srgbClr val="000000"/>
            </a:solidFill>
            <a:round/>
            <a:tailEnd type="triangle" w="med" len="med"/>
          </a:ln>
        </p:spPr>
      </p:cxnSp>
      <p:sp>
        <p:nvSpPr>
          <p:cNvPr id="291" name="Rectangle 49"/>
          <p:cNvSpPr/>
          <p:nvPr/>
        </p:nvSpPr>
        <p:spPr>
          <a:xfrm>
            <a:off x="8616960" y="4797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92" name="Line 50"/>
          <p:cNvSpPr/>
          <p:nvPr/>
        </p:nvSpPr>
        <p:spPr>
          <a:xfrm>
            <a:off x="8616600" y="5086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3" name="Line 51"/>
          <p:cNvSpPr/>
          <p:nvPr/>
        </p:nvSpPr>
        <p:spPr>
          <a:xfrm>
            <a:off x="8616600" y="5446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4" name="Line 52"/>
          <p:cNvSpPr/>
          <p:nvPr/>
        </p:nvSpPr>
        <p:spPr>
          <a:xfrm>
            <a:off x="8616600" y="5806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5" name="Line 53"/>
          <p:cNvSpPr/>
          <p:nvPr/>
        </p:nvSpPr>
        <p:spPr>
          <a:xfrm>
            <a:off x="8616600" y="6238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6" name="Text Box 54"/>
          <p:cNvSpPr/>
          <p:nvPr/>
        </p:nvSpPr>
        <p:spPr>
          <a:xfrm>
            <a:off x="8977680" y="4797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97" name="Text Box 55"/>
          <p:cNvSpPr/>
          <p:nvPr/>
        </p:nvSpPr>
        <p:spPr>
          <a:xfrm>
            <a:off x="8906040" y="5157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98" name="Text Box 56"/>
          <p:cNvSpPr/>
          <p:nvPr/>
        </p:nvSpPr>
        <p:spPr>
          <a:xfrm>
            <a:off x="8760240" y="5446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99" name="Text Box 57"/>
          <p:cNvSpPr/>
          <p:nvPr/>
        </p:nvSpPr>
        <p:spPr>
          <a:xfrm>
            <a:off x="8909640" y="5878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300" name="AutoShape 59"/>
          <p:cNvCxnSpPr>
            <a:endCxn id="291" idx="1"/>
          </p:cNvCxnSpPr>
          <p:nvPr/>
        </p:nvCxnSpPr>
        <p:spPr>
          <a:xfrm>
            <a:off x="7103880" y="5661000"/>
            <a:ext cx="1513440" cy="72360"/>
          </a:xfrm>
          <a:prstGeom prst="bentConnector3">
            <a:avLst>
              <a:gd name="adj1" fmla="val 49964"/>
            </a:avLst>
          </a:prstGeom>
          <a:ln w="9525">
            <a:solidFill>
              <a:srgbClr val="000000"/>
            </a:solidFill>
            <a:miter/>
            <a:tailEnd type="triangle" w="med" len="med"/>
          </a:ln>
        </p:spPr>
      </p:cxnSp>
      <p:sp>
        <p:nvSpPr>
          <p:cNvPr id="301" name="Text Box 61"/>
          <p:cNvSpPr/>
          <p:nvPr/>
        </p:nvSpPr>
        <p:spPr>
          <a:xfrm>
            <a:off x="7086240" y="5083200"/>
            <a:ext cx="127512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Fahrzeug ct =</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v.pop();</a:t>
            </a:r>
            <a:endParaRPr lang="de-DE" sz="1400" b="0" u="none" strike="noStrike">
              <a:solidFill>
                <a:srgbClr val="000000"/>
              </a:solidFill>
              <a:uFillTx/>
              <a:latin typeface="Arial"/>
            </a:endParaRPr>
          </a:p>
        </p:txBody>
      </p:sp>
      <p:sp>
        <p:nvSpPr>
          <p:cNvPr id="302" name="Text Box 48"/>
          <p:cNvSpPr/>
          <p:nvPr/>
        </p:nvSpPr>
        <p:spPr>
          <a:xfrm>
            <a:off x="5547960" y="6257520"/>
            <a:ext cx="1507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Tesla Cybertruck</a:t>
            </a:r>
            <a:endParaRPr lang="de-DE" sz="1400" b="0" u="none" strike="noStrike">
              <a:solidFill>
                <a:srgbClr val="000000"/>
              </a:solidFill>
              <a:uFillTx/>
              <a:latin typeface="Arial"/>
            </a:endParaRPr>
          </a:p>
        </p:txBody>
      </p:sp>
      <p:sp>
        <p:nvSpPr>
          <p:cNvPr id="303" name="Rectangle 28"/>
          <p:cNvSpPr/>
          <p:nvPr/>
        </p:nvSpPr>
        <p:spPr>
          <a:xfrm>
            <a:off x="5519880" y="4770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304" name="Line 29"/>
          <p:cNvSpPr/>
          <p:nvPr/>
        </p:nvSpPr>
        <p:spPr>
          <a:xfrm>
            <a:off x="5519520" y="5059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5" name="Line 30"/>
          <p:cNvSpPr/>
          <p:nvPr/>
        </p:nvSpPr>
        <p:spPr>
          <a:xfrm>
            <a:off x="5519520" y="5419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6" name="Line 31"/>
          <p:cNvSpPr/>
          <p:nvPr/>
        </p:nvSpPr>
        <p:spPr>
          <a:xfrm>
            <a:off x="5519520" y="5779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7" name="Line 32"/>
          <p:cNvSpPr/>
          <p:nvPr/>
        </p:nvSpPr>
        <p:spPr>
          <a:xfrm>
            <a:off x="5519520" y="6211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8" name="Text Box 33"/>
          <p:cNvSpPr/>
          <p:nvPr/>
        </p:nvSpPr>
        <p:spPr>
          <a:xfrm>
            <a:off x="5880600" y="4770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309" name="Text Box 34"/>
          <p:cNvSpPr/>
          <p:nvPr/>
        </p:nvSpPr>
        <p:spPr>
          <a:xfrm>
            <a:off x="5808600" y="5130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310" name="Text Box 35"/>
          <p:cNvSpPr/>
          <p:nvPr/>
        </p:nvSpPr>
        <p:spPr>
          <a:xfrm>
            <a:off x="5663160" y="5419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311" name="Text Box 36"/>
          <p:cNvSpPr/>
          <p:nvPr/>
        </p:nvSpPr>
        <p:spPr>
          <a:xfrm>
            <a:off x="5812200" y="5851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Rectangle 5"/>
          <p:cNvSpPr/>
          <p:nvPr/>
        </p:nvSpPr>
        <p:spPr>
          <a:xfrm>
            <a:off x="655200" y="365040"/>
            <a:ext cx="5118840" cy="1691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defTabSz="914400">
              <a:lnSpc>
                <a:spcPct val="90000"/>
              </a:lnSpc>
              <a:spcAft>
                <a:spcPts val="601"/>
              </a:spcAft>
            </a:pPr>
            <a:r>
              <a:rPr lang="en-US" sz="4400" b="1" u="none" strike="noStrike" spc="51">
                <a:solidFill>
                  <a:schemeClr val="dk1"/>
                </a:solidFill>
                <a:uFillTx/>
                <a:latin typeface="Calibri Light"/>
              </a:rPr>
              <a:t>UNION TYPES</a:t>
            </a:r>
            <a:endParaRPr lang="de-DE" sz="4400" b="0" u="none" strike="noStrike">
              <a:solidFill>
                <a:srgbClr val="000000"/>
              </a:solidFill>
              <a:uFillTx/>
              <a:latin typeface="Arial"/>
            </a:endParaRPr>
          </a:p>
        </p:txBody>
      </p:sp>
      <p:sp>
        <p:nvSpPr>
          <p:cNvPr id="313" name="Rectangle 6"/>
          <p:cNvSpPr/>
          <p:nvPr/>
        </p:nvSpPr>
        <p:spPr>
          <a:xfrm>
            <a:off x="529560" y="3549600"/>
            <a:ext cx="6311880" cy="238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B5CEA8"/>
                </a:solidFill>
                <a:uFillTx/>
                <a:latin typeface="Menlo"/>
              </a:rPr>
              <a:t>42</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"numeric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CE9178"/>
                </a:solidFill>
                <a:uFillTx/>
                <a:latin typeface="Menlo"/>
              </a:rPr>
              <a:t>"42 as 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"string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14" name="Picture 4"/>
          <p:cNvSpPr/>
          <p:nvPr/>
        </p:nvSpPr>
        <p:spPr>
          <a:xfrm>
            <a:off x="5878800" y="0"/>
            <a:ext cx="6311880" cy="6856560"/>
          </a:xfrm>
          <a:custGeom>
            <a:avLst/>
            <a:gdLst>
              <a:gd name="textAreaLeft" fmla="*/ 0 w 6311880"/>
              <a:gd name="textAreaRight" fmla="*/ 6313320 w 6311880"/>
              <a:gd name="textAreaTop" fmla="*/ 0 h 6856560"/>
              <a:gd name="textAreaBottom" fmla="*/ 6858000 h 6856560"/>
            </a:gdLst>
            <a:ahLst/>
            <a:cxnLst/>
            <a:rect l="textAreaLeft" t="textAreaTop" r="textAreaRight" b="textAreaBottom"/>
            <a:pathLst>
              <a:path w="6313150" h="6857997">
                <a:moveTo>
                  <a:pt x="65565" y="0"/>
                </a:moveTo>
                <a:lnTo>
                  <a:pt x="6313150" y="0"/>
                </a:lnTo>
                <a:lnTo>
                  <a:pt x="6313150" y="6857997"/>
                </a:lnTo>
                <a:lnTo>
                  <a:pt x="3293946" y="6857997"/>
                </a:lnTo>
                <a:lnTo>
                  <a:pt x="3235857" y="6823061"/>
                </a:lnTo>
                <a:cubicBezTo>
                  <a:pt x="1291240" y="5592803"/>
                  <a:pt x="0" y="3423096"/>
                  <a:pt x="0" y="951803"/>
                </a:cubicBezTo>
                <a:cubicBezTo>
                  <a:pt x="0" y="727140"/>
                  <a:pt x="10673" y="504970"/>
                  <a:pt x="31536" y="285771"/>
                </a:cubicBez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Schnittstellen - Interfaces</a:t>
            </a:r>
            <a:endParaRPr lang="de-DE" sz="4400" b="0" u="none" strike="noStrike">
              <a:solidFill>
                <a:srgbClr val="000000"/>
              </a:solidFill>
              <a:uFillTx/>
              <a:latin typeface="Arial"/>
            </a:endParaRPr>
          </a:p>
        </p:txBody>
      </p:sp>
      <p:sp>
        <p:nvSpPr>
          <p:cNvPr id="31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Schnittstelle beschreibt eine Menge von Signaturen und Attributen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Externe </a:t>
            </a:r>
            <a:r>
              <a:rPr lang="de-DE" sz="2400" b="0" i="1" u="none" strike="noStrike">
                <a:solidFill>
                  <a:schemeClr val="dk1"/>
                </a:solidFill>
                <a:uFillTx/>
                <a:latin typeface="Calibri"/>
              </a:rPr>
              <a:t>Sicht</a:t>
            </a:r>
            <a:r>
              <a:rPr lang="de-DE" sz="2400" b="0" u="none" strike="noStrike">
                <a:solidFill>
                  <a:schemeClr val="dk1"/>
                </a:solidFill>
                <a:uFillTx/>
                <a:latin typeface="Calibri"/>
              </a:rPr>
              <a:t>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Verhalten der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Enthält in der Regel nicht alle Attribute/Methoden der Klasse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Klasse kann mehrere Interfaces </a:t>
            </a:r>
            <a:r>
              <a:rPr lang="de-DE" sz="2400" b="0" i="1" u="none" strike="noStrike">
                <a:solidFill>
                  <a:schemeClr val="dk1"/>
                </a:solidFill>
                <a:uFillTx/>
                <a:latin typeface="Calibri"/>
              </a:rPr>
              <a:t>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Muss alle in der Schnittstelle deklarierten Methoden 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Schnittstellenmethoden sind de facto abstrakt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Enum</a:t>
            </a:r>
            <a:endParaRPr lang="de-DE" sz="4400" b="0" u="none" strike="noStrike">
              <a:solidFill>
                <a:srgbClr val="000000"/>
              </a:solidFill>
              <a:uFillTx/>
              <a:latin typeface="Arial"/>
            </a:endParaRPr>
          </a:p>
        </p:txBody>
      </p:sp>
      <p:sp>
        <p:nvSpPr>
          <p:cNvPr id="3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enum</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Up</a:t>
            </a:r>
            <a:r>
              <a:rPr lang="en-GB" sz="2800" b="0" u="none" strike="noStrike">
                <a:solidFill>
                  <a:srgbClr val="D4D4D4"/>
                </a:solidFill>
                <a:uFillTx/>
                <a:latin typeface="Menlo"/>
              </a:rPr>
              <a:t> = </a:t>
            </a:r>
            <a:r>
              <a:rPr lang="en-GB" sz="2800" b="0" u="none" strike="noStrike">
                <a:solidFill>
                  <a:srgbClr val="B5CEA8"/>
                </a:solidFill>
                <a:uFillTx/>
                <a:latin typeface="Menlo"/>
              </a:rPr>
              <a:t>1</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Left</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Right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dir</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Nonsens Code</a:t>
            </a:r>
            <a:endParaRPr lang="de-DE" sz="4400" b="0" u="none" strike="noStrike">
              <a:solidFill>
                <a:srgbClr val="000000"/>
              </a:solidFill>
              <a:uFillTx/>
              <a:latin typeface="Arial"/>
            </a:endParaRPr>
          </a:p>
        </p:txBody>
      </p:sp>
      <p:sp>
        <p:nvSpPr>
          <p:cNvPr id="3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569CD6"/>
              </a:buClr>
              <a:buFont typeface="Arial"/>
              <a:buChar char="•"/>
            </a:pPr>
            <a:r>
              <a:rPr lang="en-GB" sz="2800" b="0" u="none" strike="noStrike">
                <a:solidFill>
                  <a:srgbClr val="569CD6"/>
                </a:solidFill>
                <a:uFillTx/>
                <a:latin typeface="Menlo"/>
              </a:rPr>
              <a:t>function</a:t>
            </a:r>
            <a:r>
              <a:rPr lang="en-GB" sz="2800" b="0" u="none" strike="noStrike">
                <a:solidFill>
                  <a:srgbClr val="D4D4D4"/>
                </a:solidFill>
                <a:uFillTx/>
                <a:latin typeface="Menlo"/>
              </a:rPr>
              <a:t> </a:t>
            </a:r>
            <a:r>
              <a:rPr lang="en-GB" sz="2800" b="0" u="none" strike="noStrike">
                <a:solidFill>
                  <a:srgbClr val="DCDCAA"/>
                </a:solidFill>
                <a:uFillTx/>
                <a:latin typeface="Menlo"/>
              </a:rPr>
              <a:t>some</a:t>
            </a:r>
            <a:r>
              <a:rPr lang="en-GB" sz="2800" b="0" u="none" strike="noStrike">
                <a:solidFill>
                  <a:srgbClr val="D4D4D4"/>
                </a:solidFill>
                <a:uFillTx/>
                <a:latin typeface="Menlo"/>
              </a:rPr>
              <a:t>(</a:t>
            </a:r>
            <a:r>
              <a:rPr lang="en-GB" sz="2800" b="0" u="none" strike="noStrike">
                <a:solidFill>
                  <a:srgbClr val="9CDCFE"/>
                </a:solidFill>
                <a:uFillTx/>
                <a:latin typeface="Menlo"/>
              </a:rPr>
              <a:t>x</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C586C0"/>
              </a:buClr>
              <a:buFont typeface="Arial"/>
              <a:buChar char="•"/>
            </a:pPr>
            <a:r>
              <a:rPr lang="en-GB" sz="2800" b="0" u="none" strike="noStrike">
                <a:solidFill>
                  <a:srgbClr val="C586C0"/>
                </a:solidFill>
                <a:uFillTx/>
                <a:latin typeface="Menlo"/>
              </a:rPr>
              <a:t>if</a:t>
            </a:r>
            <a:r>
              <a:rPr lang="en-GB" sz="2800" b="0" u="none" strike="noStrike">
                <a:solidFill>
                  <a:srgbClr val="D4D4D4"/>
                </a:solidFill>
                <a:uFillTx/>
                <a:latin typeface="Menlo"/>
              </a:rPr>
              <a:t>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 ||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Error! This condition will always return 'true' since the types 'Direction.Up' and 'Direction.Down' have no overlap.</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21" name="Rectangle 71">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2" name="Rectangle 73">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3" name="Rectangle 75">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4" name="Rectangle 77">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5" name="Freeform: Shape 79">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6" name="PlaceHolder 1"/>
          <p:cNvSpPr>
            <a:spLocks noGrp="1"/>
          </p:cNvSpPr>
          <p:nvPr>
            <p:ph type="title"/>
          </p:nvPr>
        </p:nvSpPr>
        <p:spPr>
          <a:xfrm>
            <a:off x="659880" y="2766960"/>
            <a:ext cx="2879280" cy="307044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rgbClr val="FFFFFF"/>
                </a:solidFill>
                <a:uFillTx/>
                <a:latin typeface="Calibri Light"/>
              </a:rPr>
              <a:t>Beispiel Interface</a:t>
            </a:r>
            <a:endParaRPr lang="de-DE" sz="4000" b="0" u="none" strike="noStrike">
              <a:solidFill>
                <a:srgbClr val="000000"/>
              </a:solidFill>
              <a:uFillTx/>
              <a:latin typeface="Arial"/>
            </a:endParaRPr>
          </a:p>
        </p:txBody>
      </p:sp>
      <p:pic>
        <p:nvPicPr>
          <p:cNvPr id="327" name="Inhaltsplatzhalter 4" descr="schnittstelle.jpg"/>
          <p:cNvPicPr/>
          <p:nvPr/>
        </p:nvPicPr>
        <p:blipFill>
          <a:blip r:embed="rId3"/>
          <a:stretch/>
        </p:blipFill>
        <p:spPr>
          <a:xfrm>
            <a:off x="6464160" y="467280"/>
            <a:ext cx="3300840" cy="592200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Rectangle 3"/>
          <p:cNvSpPr/>
          <p:nvPr/>
        </p:nvSpPr>
        <p:spPr>
          <a:xfrm>
            <a:off x="1514520" y="2780280"/>
            <a:ext cx="891396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suhlen</a:t>
            </a:r>
            <a:r>
              <a:rPr lang="en-GB" sz="1800" b="0" u="none" strike="noStrike">
                <a:solidFill>
                  <a:srgbClr val="D4D4D4"/>
                </a:solidFill>
                <a:uFillTx/>
                <a:latin typeface="Menlo"/>
              </a:rPr>
              <a:t> : ()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CE9178"/>
                </a:solidFill>
                <a:uFillTx/>
                <a:latin typeface="Menlo"/>
              </a:rPr>
              <a:t>"Ich mag nicht schmutzig sein"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2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a:t>
            </a:r>
            <a:endParaRPr lang="de-DE" sz="4400" b="0" u="none" strike="noStrike">
              <a:solidFill>
                <a:srgbClr val="000000"/>
              </a:solidFill>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Rectangle 3"/>
          <p:cNvSpPr/>
          <p:nvPr/>
        </p:nvSpPr>
        <p:spPr>
          <a:xfrm>
            <a:off x="1514520" y="2780280"/>
            <a:ext cx="891396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4EC9B0"/>
                </a:solidFill>
                <a:uFillTx/>
                <a:latin typeface="Menlo"/>
              </a:rPr>
              <a:t>Schmutzfink</a:t>
            </a:r>
            <a:r>
              <a:rPr lang="en-GB" sz="1800" b="0" u="none" strike="noStrike">
                <a:solidFill>
                  <a:srgbClr val="D4D4D4"/>
                </a:solidFill>
                <a:uFillTx/>
                <a:latin typeface="Menlo"/>
              </a:rPr>
              <a:t> =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 :</a:t>
            </a:r>
            <a:r>
              <a:rPr lang="en-GB" sz="1800" b="0" u="none" strike="noStrike">
                <a:solidFill>
                  <a:srgbClr val="D4D4D4"/>
                </a:solidFill>
                <a:uFillTx/>
                <a:latin typeface="Menlo"/>
              </a:rPr>
              <a:t> </a:t>
            </a:r>
            <a:r>
              <a:rPr lang="en-GB" sz="1800" b="0" u="none" strike="noStrike">
                <a:solidFill>
                  <a:srgbClr val="CE9178"/>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 ist gerne im Dreck"</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DCDCAA"/>
                </a:solidFill>
                <a:uFillTx/>
                <a:latin typeface="Menlo"/>
              </a:rPr>
              <a:t>suhlen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 mit var</a:t>
            </a:r>
            <a:endParaRPr lang="de-DE" sz="4400" b="0" u="none" strike="noStrike">
              <a:solidFill>
                <a:srgbClr val="000000"/>
              </a:solidFill>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Inline Interface Def</a:t>
            </a:r>
            <a:endParaRPr lang="de-DE" sz="4400" b="0" u="none" strike="noStrike">
              <a:solidFill>
                <a:srgbClr val="000000"/>
              </a:solidFill>
              <a:uFillTx/>
              <a:latin typeface="Arial"/>
            </a:endParaRPr>
          </a:p>
        </p:txBody>
      </p:sp>
      <p:sp>
        <p:nvSpPr>
          <p:cNvPr id="333" name="Rectangle 2"/>
          <p:cNvSpPr/>
          <p:nvPr/>
        </p:nvSpPr>
        <p:spPr>
          <a:xfrm>
            <a:off x="2683080" y="2828880"/>
            <a:ext cx="64594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function</a:t>
            </a:r>
            <a:r>
              <a:rPr lang="en-GB" sz="1800" b="0" u="none" strike="noStrike">
                <a:solidFill>
                  <a:srgbClr val="D4D4D4"/>
                </a:solidFill>
                <a:uFillTx/>
                <a:latin typeface="Menlo"/>
              </a:rPr>
              <a:t> </a:t>
            </a: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335" name="Rectangle 2"/>
          <p:cNvSpPr/>
          <p:nvPr/>
        </p:nvSpPr>
        <p:spPr>
          <a:xfrm>
            <a:off x="1154880" y="3285360"/>
            <a:ext cx="8938080" cy="2284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br>
              <a:rPr sz="1800"/>
            </a:b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readonly</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	weight</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missPiggy2_1</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r>
              <a:rPr lang="en-GB" sz="1800" b="0" u="none" strike="noStrike">
                <a:solidFill>
                  <a:srgbClr val="9CDCFE"/>
                </a:solidFill>
                <a:uFillTx/>
                <a:latin typeface="Menlo"/>
              </a:rPr>
              <a:t>weight:</a:t>
            </a:r>
            <a:r>
              <a:rPr lang="en-GB" sz="1800" b="0" u="none" strike="noStrike">
                <a:solidFill>
                  <a:srgbClr val="D4D4D4"/>
                </a:solidFill>
                <a:uFillTx/>
                <a:latin typeface="Menlo"/>
              </a:rPr>
              <a:t> </a:t>
            </a:r>
            <a:r>
              <a:rPr lang="en-GB" sz="1800" b="0" u="none" strike="noStrike">
                <a:solidFill>
                  <a:srgbClr val="B5CEA8"/>
                </a:solidFill>
                <a:uFillTx/>
                <a:latin typeface="Menlo"/>
              </a:rPr>
              <a:t>100</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Klassen deklarieren</a:t>
            </a:r>
            <a:endParaRPr lang="de-DE" sz="4400" b="0" u="none" strike="noStrike">
              <a:solidFill>
                <a:srgbClr val="000000"/>
              </a:solidFill>
              <a:uFillTx/>
              <a:latin typeface="Arial"/>
            </a:endParaRPr>
          </a:p>
        </p:txBody>
      </p:sp>
      <p:sp>
        <p:nvSpPr>
          <p:cNvPr id="337"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GB" sz="2400" b="0" u="none" strike="noStrike">
                <a:solidFill>
                  <a:schemeClr val="dk1"/>
                </a:solidFill>
                <a:uFillTx/>
                <a:latin typeface="Calibri"/>
              </a:rPr>
              <a:t>	class class_name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//class scope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a:t>
            </a:r>
            <a:endParaRPr lang="de-DE" sz="2400" b="0" u="none" strike="noStrike">
              <a:solidFill>
                <a:srgbClr val="000000"/>
              </a:solidFill>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Member von Klassen</a:t>
            </a:r>
            <a:endParaRPr lang="de-DE" sz="4400" b="0" u="none" strike="noStrike">
              <a:solidFill>
                <a:srgbClr val="000000"/>
              </a:solidFill>
              <a:uFillTx/>
              <a:latin typeface="Arial"/>
            </a:endParaRPr>
          </a:p>
        </p:txBody>
      </p:sp>
      <p:graphicFrame>
        <p:nvGraphicFramePr>
          <p:cNvPr id="5" name="Diagram5"/>
          <p:cNvGraphicFramePr/>
          <p:nvPr>
            <p:extLst>
              <p:ext uri="{D42A27DB-BD31-4B8C-83A1-F6EECF244321}">
                <p14:modId xmlns:p14="http://schemas.microsoft.com/office/powerpoint/2010/main" val="1693529396"/>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Klassen Definition</a:t>
            </a:r>
            <a:endParaRPr lang="de-DE" sz="4400" b="0" u="none" strike="noStrike">
              <a:solidFill>
                <a:srgbClr val="000000"/>
              </a:solidFill>
              <a:uFillTx/>
              <a:latin typeface="Arial"/>
            </a:endParaRPr>
          </a:p>
        </p:txBody>
      </p:sp>
      <p:sp>
        <p:nvSpPr>
          <p:cNvPr id="3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gibLaut</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readonly</a:t>
            </a:r>
            <a:endParaRPr lang="de-DE" sz="4400" b="0" u="none" strike="noStrike">
              <a:solidFill>
                <a:srgbClr val="000000"/>
              </a:solidFill>
              <a:uFillTx/>
              <a:latin typeface="Arial"/>
            </a:endParaRPr>
          </a:p>
        </p:txBody>
      </p:sp>
      <p:sp>
        <p:nvSpPr>
          <p:cNvPr id="34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readonly</a:t>
            </a:r>
            <a:r>
              <a:rPr lang="de-DE" sz="2800" b="0" u="none" strike="noStrike">
                <a:solidFill>
                  <a:schemeClr val="dk1"/>
                </a:solidFill>
                <a:uFillTx/>
                <a:latin typeface="Calibri"/>
              </a:rPr>
              <a:t>-Attribute sind möglich</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Verkürzter Konstruktor durch "Parameter 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constructor(readonly attr:type) </a:t>
            </a:r>
            <a:r>
              <a:rPr lang="de-DE" sz="2400" b="0" u="none" strike="noStrike">
                <a:solidFill>
                  <a:schemeClr val="dk1"/>
                </a:solidFill>
                <a:uFillTx/>
                <a:latin typeface="Calibri"/>
              </a:rPr>
              <a:t>deklariert und setzt ein Attribut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a:t>
            </a:r>
            <a:endParaRPr lang="de-DE" sz="4400" b="0" u="none" strike="noStrike">
              <a:solidFill>
                <a:srgbClr val="000000"/>
              </a:solidFill>
              <a:uFillTx/>
              <a:latin typeface="Arial"/>
            </a:endParaRPr>
          </a:p>
        </p:txBody>
      </p:sp>
      <p:sp>
        <p:nvSpPr>
          <p:cNvPr id="3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Sichtbarkeiten von Exemplarvariablen und 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public	Zugriff von allen Klassen möglich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protected	Zugriff von Unterklassen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private	Zugriff nur innerhalb Klasse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pic>
        <p:nvPicPr>
          <p:cNvPr id="345" name="Picture 4" descr="cd_bild_sichtbarkeit"/>
          <p:cNvPicPr/>
          <p:nvPr/>
        </p:nvPicPr>
        <p:blipFill>
          <a:blip r:embed="rId3"/>
          <a:stretch/>
        </p:blipFill>
        <p:spPr>
          <a:xfrm>
            <a:off x="5238720" y="4500720"/>
            <a:ext cx="2157480" cy="2065320"/>
          </a:xfrm>
          <a:prstGeom prst="rect">
            <a:avLst/>
          </a:prstGeom>
          <a:noFill/>
          <a:ln w="0">
            <a:noFill/>
          </a:ln>
        </p:spPr>
      </p:pic>
      <p:sp>
        <p:nvSpPr>
          <p:cNvPr id="346" name="Line 5"/>
          <p:cNvSpPr/>
          <p:nvPr/>
        </p:nvSpPr>
        <p:spPr>
          <a:xfrm flipV="1">
            <a:off x="4511520" y="4952880"/>
            <a:ext cx="746280" cy="131760"/>
          </a:xfrm>
          <a:prstGeom prst="line">
            <a:avLst/>
          </a:prstGeom>
          <a:ln w="9525">
            <a:solidFill>
              <a:srgbClr val="00000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uFillTx/>
              <a:latin typeface="Calibri"/>
            </a:endParaRPr>
          </a:p>
        </p:txBody>
      </p:sp>
      <p:sp>
        <p:nvSpPr>
          <p:cNvPr id="347" name="Text Box 6"/>
          <p:cNvSpPr/>
          <p:nvPr/>
        </p:nvSpPr>
        <p:spPr>
          <a:xfrm>
            <a:off x="3270600" y="4940280"/>
            <a:ext cx="108180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sichtbarkeit</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private</a:t>
            </a:r>
            <a:endParaRPr lang="de-DE" sz="1400" b="0" u="none" strike="noStrike">
              <a:solidFill>
                <a:srgbClr val="000000"/>
              </a:solidFill>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Sichtbarkeit Beispiel</a:t>
            </a:r>
            <a:endParaRPr lang="de-DE" sz="4400" b="0" u="none" strike="noStrike">
              <a:solidFill>
                <a:srgbClr val="000000"/>
              </a:solidFill>
              <a:uFillTx/>
              <a:latin typeface="Arial"/>
            </a:endParaRPr>
          </a:p>
        </p:txBody>
      </p:sp>
      <p:sp>
        <p:nvSpPr>
          <p:cNvPr id="3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	private</a:t>
            </a:r>
            <a:r>
              <a:rPr lang="en-GB" sz="2800" b="0" u="none" strike="noStrike">
                <a:solidFill>
                  <a:srgbClr val="D4D4D4"/>
                </a:solidFill>
                <a:uFillTx/>
                <a:latin typeface="Menlo"/>
              </a:rPr>
              <a:t> </a:t>
            </a:r>
            <a:r>
              <a:rPr lang="en-GB" sz="2800" b="0" u="none" strike="noStrike">
                <a:solidFill>
                  <a:srgbClr val="9CDCFE"/>
                </a:solidFill>
                <a:uFillTx/>
                <a:latin typeface="Menlo"/>
              </a:rPr>
              <a:t>name</a:t>
            </a:r>
            <a:r>
              <a:rPr lang="en-GB" sz="2800" b="0" u="none" strike="noStrike">
                <a:solidFill>
                  <a:srgbClr val="D4D4D4"/>
                </a:solidFill>
                <a:uFillTx/>
                <a:latin typeface="Menlo"/>
              </a:rPr>
              <a:t> :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1: Erstelle die Klasse Student,</a:t>
            </a:r>
            <a:br>
              <a:rPr sz="4400"/>
            </a:br>
            <a:r>
              <a:rPr lang="de-DE" sz="4400" b="0" u="none" strike="noStrike">
                <a:solidFill>
                  <a:schemeClr val="dk1"/>
                </a:solidFill>
                <a:uFillTx/>
                <a:latin typeface="Calibri Light"/>
              </a:rPr>
              <a:t>so dass sie wie hier arbeitet</a:t>
            </a:r>
            <a:endParaRPr lang="de-DE" sz="4400" b="0" u="none" strike="noStrike">
              <a:solidFill>
                <a:srgbClr val="000000"/>
              </a:solidFill>
              <a:uFillTx/>
              <a:latin typeface="Arial"/>
            </a:endParaRPr>
          </a:p>
        </p:txBody>
      </p:sp>
      <p:sp>
        <p:nvSpPr>
          <p:cNvPr id="3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mit Matrikelnummer: 123456"</a:t>
            </a:r>
            <a:endParaRPr lang="de-DE" sz="2800" b="0" u="none" strike="noStrike">
              <a:solidFill>
                <a:srgbClr val="000000"/>
              </a:solidFill>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2: Erstelle einen Konstruktor,</a:t>
            </a:r>
            <a:br>
              <a:rPr sz="4400"/>
            </a:br>
            <a:r>
              <a:rPr lang="de-DE" sz="4400" b="0" u="none" strike="noStrike">
                <a:solidFill>
                  <a:schemeClr val="dk1"/>
                </a:solidFill>
                <a:uFillTx/>
                <a:latin typeface="Calibri Light"/>
              </a:rPr>
              <a:t>so dass die Klasse wie hier arbeitet</a:t>
            </a:r>
            <a:endParaRPr lang="de-DE" sz="4400" b="0" u="none" strike="noStrike">
              <a:solidFill>
                <a:srgbClr val="000000"/>
              </a:solidFill>
              <a:uFillTx/>
              <a:latin typeface="Arial"/>
            </a:endParaRPr>
          </a:p>
        </p:txBody>
      </p:sp>
      <p:sp>
        <p:nvSpPr>
          <p:cNvPr id="3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"Max"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Max mit Matrikelnummer: 123456"</a:t>
            </a:r>
            <a:endParaRPr lang="de-DE" sz="2800" b="0" u="none" strike="noStrike">
              <a:solidFill>
                <a:srgbClr val="000000"/>
              </a:solidFill>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Getter Setter</a:t>
            </a:r>
            <a:endParaRPr lang="de-DE" sz="4400" b="0" u="none" strike="noStrike">
              <a:solidFill>
                <a:srgbClr val="000000"/>
              </a:solidFill>
              <a:uFillTx/>
              <a:latin typeface="Arial"/>
            </a:endParaRPr>
          </a:p>
        </p:txBody>
      </p:sp>
      <p:sp>
        <p:nvSpPr>
          <p:cNvPr id="355" name="Rectangle 2"/>
          <p:cNvSpPr/>
          <p:nvPr/>
        </p:nvSpPr>
        <p:spPr>
          <a:xfrm>
            <a:off x="3336840" y="2171880"/>
            <a:ext cx="6094440" cy="3930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get</a:t>
            </a:r>
            <a:r>
              <a:rPr lang="en-GB" sz="1800" b="0" u="none" strike="noStrike">
                <a:solidFill>
                  <a:srgbClr val="D4D4D4"/>
                </a:solidFill>
                <a:uFillTx/>
                <a:latin typeface="Menlo"/>
              </a:rPr>
              <a:t> </a:t>
            </a: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9CDCFE"/>
                </a:solidFill>
                <a:uFillTx/>
                <a:latin typeface="Menlo"/>
              </a:rPr>
              <a:t>new_name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new_name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6" name="Inhaltsplatzhalter 7" descr="2schnittstelle.jpg"/>
          <p:cNvPicPr/>
          <p:nvPr/>
        </p:nvPicPr>
        <p:blipFill>
          <a:blip r:embed="rId3"/>
          <a:stretch/>
        </p:blipFill>
        <p:spPr>
          <a:xfrm>
            <a:off x="3645720" y="677880"/>
            <a:ext cx="5297760" cy="5500440"/>
          </a:xfrm>
          <a:prstGeom prst="rect">
            <a:avLst/>
          </a:prstGeom>
          <a:noFill/>
          <a:ln w="0">
            <a:noFill/>
          </a:ln>
        </p:spPr>
      </p:pic>
    </p:spTree>
  </p:cSld>
  <p:clrMapOvr>
    <a:masterClrMapping/>
  </p:clrMapOvr>
  <p:transition spd="med">
    <p:dissolv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3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interface</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9CDCFE"/>
                </a:solidFill>
                <a:uFillTx/>
                <a:latin typeface="Menlo"/>
              </a:rPr>
              <a:t>	suhlen</a:t>
            </a:r>
            <a:r>
              <a:rPr lang="en-GB" sz="2800" b="0" u="none" strike="noStrike">
                <a:solidFill>
                  <a:srgbClr val="D4D4D4"/>
                </a:solidFill>
                <a:uFillTx/>
                <a:latin typeface="Menlo"/>
              </a:rPr>
              <a:t> : () </a:t>
            </a:r>
            <a:r>
              <a:rPr lang="en-GB" sz="2800" b="0" u="none" strike="noStrike">
                <a:solidFill>
                  <a:srgbClr val="569CD6"/>
                </a:solidFill>
                <a:uFillTx/>
                <a:latin typeface="Menlo"/>
              </a:rPr>
              <a:t>=&gt;</a:t>
            </a:r>
            <a:r>
              <a:rPr lang="en-GB" sz="2800" b="0" u="none" strike="noStrike">
                <a:solidFill>
                  <a:srgbClr val="D4D4D4"/>
                </a:solidFill>
                <a:uFillTx/>
                <a:latin typeface="Menlo"/>
              </a:rPr>
              <a:t>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 </a:t>
            </a:r>
            <a:r>
              <a:rPr lang="en-GB" sz="2800" b="0" u="none" strike="noStrike">
                <a:solidFill>
                  <a:srgbClr val="569CD6"/>
                </a:solidFill>
                <a:uFillTx/>
                <a:latin typeface="Menlo"/>
              </a:rPr>
              <a:t>implements</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private</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suhlen</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miss_piggy</a:t>
            </a:r>
            <a:r>
              <a:rPr lang="en-GB" sz="2800" b="0" u="none" strike="noStrike">
                <a:solidFill>
                  <a:srgbClr val="D4D4D4"/>
                </a:solidFill>
                <a:uFillTx/>
                <a:latin typeface="Menlo"/>
              </a:rPr>
              <a:t> : </a:t>
            </a:r>
            <a:r>
              <a:rPr lang="en-GB" sz="2800" b="0" u="none" strike="noStrike">
                <a:solidFill>
                  <a:srgbClr val="4EC9B0"/>
                </a:solidFill>
                <a:uFillTx/>
                <a:latin typeface="Menlo"/>
              </a:rPr>
              <a:t>Schmutzfink</a:t>
            </a:r>
            <a:r>
              <a:rPr lang="en-GB" sz="2800" b="0" u="none" strike="noStrike">
                <a:solidFill>
                  <a:srgbClr val="D4D4D4"/>
                </a:solidFill>
                <a:uFillTx/>
                <a:latin typeface="Menlo"/>
              </a:rPr>
              <a:t> = </a:t>
            </a:r>
            <a:r>
              <a:rPr lang="en-GB" sz="2800" b="0" u="none" strike="noStrike">
                <a:solidFill>
                  <a:srgbClr val="569CD6"/>
                </a:solidFill>
                <a:uFillTx/>
                <a:latin typeface="Menlo"/>
              </a:rPr>
              <a:t>new</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r>
              <a:rPr lang="en-GB" sz="2800" b="0" u="none" strike="noStrike">
                <a:solidFill>
                  <a:srgbClr val="CE9178"/>
                </a:solidFill>
                <a:uFillTx/>
                <a:latin typeface="Menlo"/>
              </a:rPr>
              <a:t>"Miss Piggy"</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9CDCFE"/>
                </a:solidFill>
                <a:uFillTx/>
                <a:latin typeface="Menlo"/>
              </a:rPr>
              <a:t>miss_piggy</a:t>
            </a:r>
            <a:r>
              <a:rPr lang="en-GB" sz="2800" b="0" u="none" strike="noStrike">
                <a:solidFill>
                  <a:srgbClr val="D4D4D4"/>
                </a:solidFill>
                <a:uFillTx/>
                <a:latin typeface="Menlo"/>
              </a:rPr>
              <a:t>.</a:t>
            </a:r>
            <a:r>
              <a:rPr lang="en-GB" sz="2800" b="0" u="none" strike="noStrike">
                <a:solidFill>
                  <a:srgbClr val="DCDCAA"/>
                </a:solidFill>
                <a:uFillTx/>
                <a:latin typeface="Menlo"/>
              </a:rPr>
              <a:t>suhlen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59"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0" name="Rectangle 7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1" name="Rectangle 74">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2" name="Rectangle 76">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3" name="Freeform: Shape 78">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4" name="Rectangle 1"/>
          <p:cNvSpPr/>
          <p:nvPr/>
        </p:nvSpPr>
        <p:spPr>
          <a:xfrm>
            <a:off x="659880" y="2766960"/>
            <a:ext cx="2879280" cy="3070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90000"/>
              </a:lnSpc>
              <a:spcAft>
                <a:spcPts val="601"/>
              </a:spcAft>
            </a:pPr>
            <a:r>
              <a:rPr lang="en-US" sz="4000" b="1" u="none" strike="noStrike" spc="51">
                <a:solidFill>
                  <a:srgbClr val="FFFFFF"/>
                </a:solidFill>
                <a:uFillTx/>
                <a:latin typeface="Calibri Light"/>
              </a:rPr>
              <a:t>Vererbung</a:t>
            </a:r>
            <a:endParaRPr lang="de-DE" sz="4000" b="0" u="none" strike="noStrike">
              <a:solidFill>
                <a:srgbClr val="000000"/>
              </a:solidFill>
              <a:uFillTx/>
              <a:latin typeface="Arial"/>
            </a:endParaRPr>
          </a:p>
        </p:txBody>
      </p:sp>
      <p:pic>
        <p:nvPicPr>
          <p:cNvPr id="365" name="Inhaltsplatzhalter 3" descr="lineWriter.jpg"/>
          <p:cNvPicPr/>
          <p:nvPr/>
        </p:nvPicPr>
        <p:blipFill>
          <a:blip r:embed="rId3"/>
          <a:stretch/>
        </p:blipFill>
        <p:spPr>
          <a:xfrm>
            <a:off x="4502520" y="1116720"/>
            <a:ext cx="7224480" cy="4623120"/>
          </a:xfrm>
          <a:prstGeom prst="rect">
            <a:avLst/>
          </a:prstGeom>
          <a:noFill/>
          <a:ln w="0">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Vererbung</a:t>
            </a:r>
            <a:endParaRPr lang="de-DE" sz="4400" b="0" u="none" strike="noStrike">
              <a:solidFill>
                <a:srgbClr val="000000"/>
              </a:solidFill>
              <a:uFillTx/>
              <a:latin typeface="Arial"/>
            </a:endParaRPr>
          </a:p>
        </p:txBody>
      </p:sp>
      <p:sp>
        <p:nvSpPr>
          <p:cNvPr id="3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Klassen unterstützen das Konzept der Vererbung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einer Klasse können auch abstrakt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Analog zu Definition einer Interface-Funktion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Klasse, die mit </a:t>
            </a:r>
            <a:r>
              <a:rPr lang="de-DE" sz="2400" b="0" u="none" strike="noStrike">
                <a:solidFill>
                  <a:schemeClr val="dk1"/>
                </a:solidFill>
                <a:uFillTx/>
                <a:latin typeface="Courier New"/>
              </a:rPr>
              <a:t>new</a:t>
            </a:r>
            <a:r>
              <a:rPr lang="de-DE" sz="2400" b="0" u="none" strike="noStrike">
                <a:solidFill>
                  <a:schemeClr val="dk1"/>
                </a:solidFill>
                <a:uFillTx/>
                <a:latin typeface="Calibri"/>
              </a:rPr>
              <a:t> instanziiert werden soll darf keine 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Interface kann von einer Klasse erben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darf die Klasse keine nicht-abstrakten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Klasse kann eine Schnittstelle implementieren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Schlüsselwort </a:t>
            </a:r>
            <a:r>
              <a:rPr lang="de-DE" sz="2400" b="0" u="none" strike="noStrike">
                <a:solidFill>
                  <a:schemeClr val="dk1"/>
                </a:solidFill>
                <a:uFillTx/>
                <a:latin typeface="Courier New"/>
              </a:rPr>
              <a:t>implements</a:t>
            </a:r>
            <a:endParaRPr lang="de-DE" sz="2400" b="0" u="none" strike="noStrike">
              <a:solidFill>
                <a:srgbClr val="000000"/>
              </a:solidFill>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Rectangle 1"/>
          <p:cNvSpPr/>
          <p:nvPr/>
        </p:nvSpPr>
        <p:spPr>
          <a:xfrm>
            <a:off x="1082880" y="612720"/>
            <a:ext cx="8348400" cy="5301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CDCAA"/>
                </a:solidFill>
                <a:uFillTx/>
                <a:latin typeface="Menlo"/>
              </a:rPr>
              <a:t>suhlen</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CE9178"/>
                </a:solidFill>
                <a:uFillTx/>
                <a:latin typeface="Menlo"/>
              </a:rPr>
              <a:t>"Ich bin "</a:t>
            </a:r>
            <a:r>
              <a:rPr lang="en-GB" sz="1800" b="0" u="none" strike="noStrike">
                <a:solidFill>
                  <a:srgbClr val="D4D4D4"/>
                </a:solidFill>
                <a:uFillTx/>
                <a:latin typeface="Menlo"/>
              </a:rPr>
              <a:t> +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Mastschwein</a:t>
            </a:r>
            <a:r>
              <a:rPr lang="en-GB" sz="1800" b="0" u="none" strike="noStrike">
                <a:solidFill>
                  <a:srgbClr val="D4D4D4"/>
                </a:solidFill>
                <a:uFillTx/>
                <a:latin typeface="Menlo"/>
              </a:rPr>
              <a:t> </a:t>
            </a:r>
            <a:r>
              <a:rPr lang="en-GB" sz="1800" b="0" u="none" strike="noStrike">
                <a:solidFill>
                  <a:srgbClr val="569CD6"/>
                </a:solidFill>
                <a:uFillTx/>
                <a:latin typeface="Menlo"/>
              </a:rPr>
              <a:t>extends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	genmodifikation</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super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genmodifikation</a:t>
            </a:r>
            <a:r>
              <a:rPr lang="en-GB" sz="1800" b="0" u="none" strike="noStrike">
                <a:solidFill>
                  <a:srgbClr val="D4D4D4"/>
                </a:solidFill>
                <a:uFillTx/>
                <a:latin typeface="Menlo"/>
              </a:rPr>
              <a:t> =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br>
              <a:rPr sz="1800"/>
            </a:b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im Detail: Attribute und Methoden </a:t>
            </a:r>
            <a:endParaRPr lang="de-DE" sz="4400" b="0" u="none" strike="noStrike">
              <a:solidFill>
                <a:srgbClr val="000000"/>
              </a:solidFill>
              <a:uFillTx/>
              <a:latin typeface="Arial"/>
            </a:endParaRPr>
          </a:p>
        </p:txBody>
      </p:sp>
      <p:sp>
        <p:nvSpPr>
          <p:cNvPr id="3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können überschrieben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Subklasse implementiert die selbe Signatur einer Methode wie die Superklasse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Aufrufe von überschriebenen Methoden werden zur Laufzeit ausgewertet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Polymorphie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Zugriff auf eine Methode der Superklassen-Hierarchie ist mit der Referenz </a:t>
            </a:r>
            <a:r>
              <a:rPr lang="de-DE" sz="2400" b="0" u="none" strike="noStrike">
                <a:solidFill>
                  <a:schemeClr val="dk1"/>
                </a:solidFill>
                <a:uFillTx/>
                <a:latin typeface="Courier New"/>
              </a:rPr>
              <a:t>super</a:t>
            </a:r>
            <a:r>
              <a:rPr lang="de-DE" sz="2400" b="0" u="none" strike="noStrike">
                <a:solidFill>
                  <a:schemeClr val="dk1"/>
                </a:solidFill>
                <a:uFillTx/>
                <a:latin typeface="Calibri"/>
              </a:rPr>
              <a: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2" name="Rectangle 2"/>
          <p:cNvSpPr/>
          <p:nvPr/>
        </p:nvSpPr>
        <p:spPr>
          <a:xfrm>
            <a:off x="3878280" y="2967480"/>
            <a:ext cx="443340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harsh" dir="t"/>
            </a:scene3d>
            <a:sp3d extrusionH="57150" prstMaterial="matte">
              <a:bevelT w="63500" h="12700" prst="angle"/>
              <a:contourClr>
                <a:schemeClr val="bg1"/>
              </a:contourClr>
            </a:sp3d>
          </a:bodyPr>
          <a:lstStyle/>
          <a:p>
            <a:pPr algn="ctr" defTabSz="914400">
              <a:lnSpc>
                <a:spcPct val="100000"/>
              </a:lnSpc>
            </a:pPr>
            <a:r>
              <a:rPr lang="en-GB" sz="5400" b="1" u="none" strike="noStrike">
                <a:solidFill>
                  <a:schemeClr val="accent3"/>
                </a:solidFill>
                <a:uFillTx/>
                <a:latin typeface="Calibri"/>
              </a:rPr>
              <a:t>Code Gruppen </a:t>
            </a:r>
            <a:endParaRPr lang="de-DE" sz="5400" b="0" u="none" strike="noStrike">
              <a:solidFill>
                <a:srgbClr val="000000"/>
              </a:solidFill>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Namespaces gruppieren Deklarationen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sind nur innerhalb des Namespaces direkt ansprechbar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wird die Wahrscheinlichkeit von Namenskollisionen vermieden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Deklarationen werden mit Hilfe des Schlüsselworts </a:t>
            </a:r>
            <a:r>
              <a:rPr lang="de-DE" sz="2800" b="0" u="none" strike="noStrike">
                <a:solidFill>
                  <a:schemeClr val="dk1"/>
                </a:solidFill>
                <a:uFillTx/>
                <a:latin typeface="Courier New"/>
              </a:rPr>
              <a:t>export</a:t>
            </a:r>
            <a:r>
              <a:rPr lang="de-DE" sz="2800" b="0" u="none" strike="noStrike">
                <a:solidFill>
                  <a:schemeClr val="dk1"/>
                </a:solidFill>
                <a:uFillTx/>
                <a:latin typeface="Calibri"/>
              </a:rPr>
              <a:t> anderen Namespaces zur Verfügung 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Aus einem anderen Namespace müssen die Variablen mit dem Namespace angesprochen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"Qualifizierte Namen"</a:t>
            </a:r>
            <a:endParaRPr lang="de-DE" sz="2400" b="0" u="none" strike="noStrike">
              <a:solidFill>
                <a:srgbClr val="000000"/>
              </a:solidFill>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Rectangle 2"/>
          <p:cNvSpPr/>
          <p:nvPr/>
        </p:nvSpPr>
        <p:spPr>
          <a:xfrm>
            <a:off x="786240" y="789480"/>
            <a:ext cx="6094440" cy="146124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	makeSomeNoise</a:t>
            </a:r>
            <a:r>
              <a:rPr lang="en-GB" sz="1800" b="0" u="none" strike="noStrike">
                <a:solidFill>
                  <a:srgbClr val="D4D4D4"/>
                </a:solidFill>
                <a:uFillTx/>
                <a:latin typeface="Menlo"/>
              </a:rPr>
              <a:t>():</a:t>
            </a:r>
            <a:r>
              <a:rPr lang="en-GB" sz="1800" b="0" u="none" strike="noStrike">
                <a:solidFill>
                  <a:srgbClr val="4EC9B0"/>
                </a:solidFill>
                <a:uFillTx/>
                <a:latin typeface="Menlo"/>
              </a:rPr>
              <a:t>void</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6" name="TextBox 3"/>
          <p:cNvSpPr/>
          <p:nvPr/>
        </p:nvSpPr>
        <p:spPr>
          <a:xfrm>
            <a:off x="791280" y="420120"/>
            <a:ext cx="1048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Animal.ts</a:t>
            </a:r>
            <a:endParaRPr lang="de-DE" sz="1800" b="0" u="none" strike="noStrike">
              <a:solidFill>
                <a:srgbClr val="000000"/>
              </a:solidFill>
              <a:uFillTx/>
              <a:latin typeface="Arial"/>
            </a:endParaRPr>
          </a:p>
        </p:txBody>
      </p:sp>
      <p:sp>
        <p:nvSpPr>
          <p:cNvPr id="377" name="Rectangle 4"/>
          <p:cNvSpPr/>
          <p:nvPr/>
        </p:nvSpPr>
        <p:spPr>
          <a:xfrm>
            <a:off x="786240" y="3114000"/>
            <a:ext cx="6094440" cy="310716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Pig</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CDCAA"/>
                </a:solidFill>
                <a:uFillTx/>
                <a:latin typeface="Menlo"/>
              </a:rPr>
              <a:t>makeSomeNoise</a:t>
            </a:r>
            <a:r>
              <a:rPr lang="en-GB" sz="1800" b="0" u="none" strike="noStrike">
                <a:solidFill>
                  <a:srgbClr val="D4D4D4"/>
                </a:solidFill>
                <a:uFillTx/>
                <a:latin typeface="Menlo"/>
              </a:rPr>
              <a:t>(): </a:t>
            </a:r>
            <a:r>
              <a:rPr lang="en-GB" sz="1800" b="0" u="none" strike="noStrike">
                <a:solidFill>
                  <a:srgbClr val="4EC9B0"/>
                </a:solidFill>
                <a:uFillTx/>
                <a:latin typeface="Menlo"/>
              </a:rPr>
              <a:t>void</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"Oink"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8" name="TextBox 5"/>
          <p:cNvSpPr/>
          <p:nvPr/>
        </p:nvSpPr>
        <p:spPr>
          <a:xfrm>
            <a:off x="789480" y="2744640"/>
            <a:ext cx="676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Pig.ts</a:t>
            </a:r>
            <a:endParaRPr lang="de-DE" sz="1800" b="0" u="none" strike="noStrike">
              <a:solidFill>
                <a:srgbClr val="000000"/>
              </a:solidFill>
              <a:uFillTx/>
              <a:latin typeface="Arial"/>
            </a:endParaRPr>
          </a:p>
        </p:txBody>
      </p:sp>
      <p:sp>
        <p:nvSpPr>
          <p:cNvPr id="379" name="Rectangle 6"/>
          <p:cNvSpPr/>
          <p:nvPr/>
        </p:nvSpPr>
        <p:spPr>
          <a:xfrm>
            <a:off x="7115040" y="1812960"/>
            <a:ext cx="5075280" cy="228420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"Pig.ts"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br>
              <a:rPr sz="1800"/>
            </a:br>
            <a:br>
              <a:rPr sz="1800"/>
            </a:br>
            <a:r>
              <a:rPr lang="en-GB" sz="1800" b="0" u="none" strike="noStrike">
                <a:solidFill>
                  <a:srgbClr val="569CD6"/>
                </a:solidFill>
                <a:uFillTx/>
                <a:latin typeface="Menlo"/>
              </a:rPr>
              <a:t>let</a:t>
            </a:r>
            <a:r>
              <a:rPr lang="en-GB" sz="1800" b="0" u="none" strike="noStrike">
                <a:solidFill>
                  <a:srgbClr val="D4D4D4"/>
                </a:solidFill>
                <a:uFillTx/>
                <a:latin typeface="Menlo"/>
              </a:rPr>
              <a:t> </a:t>
            </a:r>
            <a:r>
              <a:rPr lang="en-GB" sz="1800" b="0" u="none" strike="noStrike">
                <a:solidFill>
                  <a:srgbClr val="9CDCFE"/>
                </a:solidFill>
                <a:uFillTx/>
                <a:latin typeface="Menlo"/>
              </a:rPr>
              <a:t>pig</a:t>
            </a:r>
            <a:r>
              <a:rPr lang="en-GB" sz="1800" b="0" u="none" strike="noStrike">
                <a:solidFill>
                  <a:srgbClr val="D4D4D4"/>
                </a:solidFill>
                <a:uFillTx/>
                <a:latin typeface="Menlo"/>
              </a:rPr>
              <a:t> = </a:t>
            </a:r>
            <a:r>
              <a:rPr lang="en-GB" sz="1800" b="0" u="none" strike="noStrike">
                <a:solidFill>
                  <a:srgbClr val="569CD6"/>
                </a:solidFill>
                <a:uFillTx/>
                <a:latin typeface="Menlo"/>
              </a:rPr>
              <a:t>new</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r>
              <a:rPr lang="en-GB" sz="1800" b="0" u="none" strike="noStrike">
                <a:solidFill>
                  <a:srgbClr val="4EC9B0"/>
                </a:solidFill>
                <a:uFillTx/>
                <a:latin typeface="Menlo"/>
              </a:rPr>
              <a:t>Pig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pig</a:t>
            </a:r>
            <a:r>
              <a:rPr lang="en-GB" sz="1800" b="0" u="none" strike="noStrike">
                <a:solidFill>
                  <a:srgbClr val="D4D4D4"/>
                </a:solidFill>
                <a:uFillTx/>
                <a:latin typeface="Menlo"/>
              </a:rPr>
              <a:t>.</a:t>
            </a:r>
            <a:r>
              <a:rPr lang="en-GB" sz="1800" b="0" u="none" strike="noStrike">
                <a:solidFill>
                  <a:srgbClr val="DCDCAA"/>
                </a:solidFill>
                <a:uFillTx/>
                <a:latin typeface="Menlo"/>
              </a:rPr>
              <a:t>makeSomeNoise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p:txBody>
      </p:sp>
      <p:sp>
        <p:nvSpPr>
          <p:cNvPr id="380" name="TextBox 9"/>
          <p:cNvSpPr/>
          <p:nvPr/>
        </p:nvSpPr>
        <p:spPr>
          <a:xfrm>
            <a:off x="7133040" y="1443600"/>
            <a:ext cx="876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Main</a:t>
            </a:r>
            <a:r>
              <a:rPr lang="en-DE" sz="1800" b="0" u="none" strike="noStrike">
                <a:solidFill>
                  <a:schemeClr val="dk1"/>
                </a:solidFill>
                <a:uFillTx/>
                <a:latin typeface="Calibri"/>
              </a:rPr>
              <a:t>.ts</a:t>
            </a:r>
            <a:endParaRPr lang="de-DE" sz="1800" b="0" u="none" strike="noStrike">
              <a:solidFill>
                <a:srgbClr val="000000"/>
              </a:solidFill>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Weitere Exporte </a:t>
            </a:r>
            <a:endParaRPr lang="de-DE" sz="4400" b="0" u="none" strike="noStrike">
              <a:solidFill>
                <a:srgbClr val="000000"/>
              </a:solidFill>
              <a:uFillTx/>
              <a:latin typeface="Arial"/>
            </a:endParaRPr>
          </a:p>
        </p:txBody>
      </p:sp>
      <p:sp>
        <p:nvSpPr>
          <p:cNvPr id="3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aPrivate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publicA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publicB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publicC</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PublicD</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Named importieren</a:t>
            </a:r>
            <a:endParaRPr lang="de-DE" sz="4400" b="0" u="none" strike="noStrike">
              <a:solidFill>
                <a:srgbClr val="000000"/>
              </a:solidFill>
              <a:uFillTx/>
              <a:latin typeface="Arial"/>
            </a:endParaRPr>
          </a:p>
        </p:txBody>
      </p:sp>
      <p:sp>
        <p:nvSpPr>
          <p:cNvPr id="3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1" u="none" strike="noStrike">
                <a:solidFill>
                  <a:srgbClr val="333333"/>
                </a:solidFill>
                <a:uFillTx/>
                <a:latin typeface="Aller"/>
              </a:rPr>
              <a:t>named exports</a:t>
            </a:r>
            <a:r>
              <a:rPr lang="de-DE" sz="2800" b="0" u="none" strike="noStrike">
                <a:solidFill>
                  <a:srgbClr val="333333"/>
                </a:solidFill>
                <a:uFillTx/>
                <a:latin typeface="Aller"/>
              </a:rPr>
              <a:t> importieren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publicA</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publicB</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"./lib"</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Imports</a:t>
            </a:r>
            <a:endParaRPr lang="de-DE" sz="4400" b="0" u="none" strike="noStrike">
              <a:solidFill>
                <a:srgbClr val="000000"/>
              </a:solidFill>
              <a:uFillTx/>
              <a:latin typeface="Arial"/>
            </a:endParaRPr>
          </a:p>
        </p:txBody>
      </p:sp>
      <p:sp>
        <p:nvSpPr>
          <p:cNvPr id="3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Alle import Statements sind </a:t>
            </a:r>
            <a:r>
              <a:rPr lang="de-DE" sz="2800" b="0" i="1" u="none" strike="noStrike">
                <a:solidFill>
                  <a:srgbClr val="333333"/>
                </a:solidFill>
                <a:uFillTx/>
                <a:latin typeface="Aller"/>
              </a:rPr>
              <a:t>hoisted</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import/export Statements dürfen nicht ...</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variabel sein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conditional sein (if, case, etc.)</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Erlaubt statische Analyse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Bundling</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Code Navigation in IDE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8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8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389"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3: Module</a:t>
            </a:r>
            <a:endParaRPr lang="de-DE" sz="3600" b="0" u="none" strike="noStrike">
              <a:solidFill>
                <a:srgbClr val="000000"/>
              </a:solidFill>
              <a:uFillTx/>
              <a:latin typeface="Arial"/>
            </a:endParaRPr>
          </a:p>
        </p:txBody>
      </p:sp>
      <p:grpSp>
        <p:nvGrpSpPr>
          <p:cNvPr id="390"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391"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2"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3"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4"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395"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Lagere die Klasse Student in ein Module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Erstelle eine Datei student.ts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Klasse dort hin und exportiere sie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Importiere die Klasse in der ursprünglichen Datei</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396"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397"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8"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9"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0"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25)</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25</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formGroup</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"form"</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a:t>
            </a:r>
            <a:r>
              <a:rPr lang="de-DE" sz="2800" b="0" u="none" strike="noStrike" dirty="0" err="1">
                <a:solidFill>
                  <a:srgbClr val="1E347B"/>
                </a:solidFill>
                <a:uFillTx/>
                <a:latin typeface="SourceCodePro"/>
              </a:rPr>
              <a:t>input</a:t>
            </a:r>
            <a:r>
              <a:rPr lang="de-DE" sz="2800" b="0" u="none" strike="noStrike" dirty="0">
                <a:solidFill>
                  <a:srgbClr val="48484C"/>
                </a:solidFill>
                <a:uFillTx/>
                <a:latin typeface="SourceCodePro"/>
              </a:rPr>
              <a:t> </a:t>
            </a:r>
            <a:r>
              <a:rPr lang="de-DE" sz="2800" b="0" u="none" strike="noStrike" dirty="0">
                <a:solidFill>
                  <a:srgbClr val="008080"/>
                </a:solidFill>
                <a:uFillTx/>
                <a:latin typeface="SourceCodePro"/>
              </a:rPr>
              <a:t>type</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"email"</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formControlName</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"mail"</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Gruppe enthält Liste von Feldern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Zustand abhängig von enthaltenen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z.B: Gruppe invalide, falls min. 1 Feld invalide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Feld ist ein Wert + weitere Zustände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dirty, touched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valid</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Bauen mit ReactiveFormsModule</a:t>
            </a:r>
            <a:endParaRPr lang="de-DE" sz="4400" b="0" u="none" strike="noStrike">
              <a:solidFill>
                <a:srgbClr val="000000"/>
              </a:solidFill>
              <a:uFillTx/>
              <a:latin typeface="Arial"/>
            </a:endParaRPr>
          </a:p>
        </p:txBody>
      </p:sp>
      <p:sp>
        <p:nvSpPr>
          <p:cNvPr id="108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Model-Klassen um Formular zu beschreiben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FormGroup und FormControl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Gruppen bilden Baum mit Feldern als Blätter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 selbst ist eine FormGroup</a:t>
            </a:r>
            <a:endParaRPr lang="de-DE" sz="2400" b="0" u="none" strike="noStrike">
              <a:solidFill>
                <a:srgbClr val="000000"/>
              </a:solidFill>
              <a:uFillTx/>
              <a:latin typeface="Arial"/>
            </a:endParaRPr>
          </a:p>
          <a:p>
            <a:pPr marL="685800"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Seit Angular 14 streng typisiert: FormGroup&lt;{ name: FormControl&lt;string&gt; }&gt;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HowTo</a:t>
            </a:r>
            <a:endParaRPr lang="de-DE" sz="4400" b="0" u="none" strike="noStrike">
              <a:solidFill>
                <a:srgbClr val="000000"/>
              </a:solidFill>
              <a:uFillTx/>
              <a:latin typeface="Arial"/>
            </a:endParaRPr>
          </a:p>
        </p:txBody>
      </p:sp>
      <p:sp>
        <p:nvSpPr>
          <p:cNvPr id="1091" name="PlaceHolder 2"/>
          <p:cNvSpPr>
            <a:spLocks noGrp="1"/>
          </p:cNvSpPr>
          <p:nvPr>
            <p:ph/>
          </p:nvPr>
        </p:nvSpPr>
        <p:spPr>
          <a:xfrm>
            <a:off x="213120" y="2506680"/>
            <a:ext cx="10514160" cy="4349880"/>
          </a:xfrm>
          <a:prstGeom prst="rect">
            <a:avLst/>
          </a:prstGeom>
          <a:noFill/>
          <a:ln w="0">
            <a:noFill/>
          </a:ln>
        </p:spPr>
        <p:txBody>
          <a:bodyPr lIns="91440" tIns="45720" rIns="91440" bIns="45720" anchor="t">
            <a:normAutofit/>
          </a:bodyPr>
          <a:lstStyle/>
          <a:p>
            <a:pPr indent="0" defTabSz="914400">
              <a:lnSpc>
                <a:spcPct val="90000"/>
              </a:lnSpc>
              <a:spcBef>
                <a:spcPts val="910"/>
              </a:spcBef>
              <a:buNone/>
              <a:tabLst>
                <a:tab pos="0" algn="l"/>
              </a:tabLst>
            </a:pPr>
            <a:r>
              <a:rPr lang="de-DE" sz="1700" b="0" u="none" strike="noStrike">
                <a:solidFill>
                  <a:srgbClr val="1E347B"/>
                </a:solidFill>
                <a:uFillTx/>
                <a:latin typeface="SourceCodePro"/>
              </a:rPr>
              <a:t>import { FormGroup, FormControl, ReactiveFormsModule } from "@angular/forms";</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@Component({ imports: [ReactiveFormsModule], …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export class ReleaseFormComponent implements 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release = input.required&lt;Release&gt;();</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form = new FormGroup({</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name: new FormControl('', { nonNullable: true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date: new FormControl&lt;string | null&gt;(null)</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ngOnInit()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this.form.patchValue({ name: this.release().name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p:txBody>
      </p:sp>
      <p:sp>
        <p:nvSpPr>
          <p:cNvPr id="1092" name="Rechteck 3"/>
          <p:cNvSpPr/>
          <p:nvPr/>
        </p:nvSpPr>
        <p:spPr>
          <a:xfrm>
            <a:off x="6219360" y="4184640"/>
            <a:ext cx="609444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1E347B"/>
                </a:solidFill>
                <a:uFillTx/>
                <a:latin typeface="SourceCodePro"/>
              </a:rPr>
              <a:t>&lt;form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formGroup</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ngSubmit</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"onSubmit()"</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Name: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"text"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"form.controls.name"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Date: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formControlName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&lt;/form&gt;</a:t>
            </a:r>
            <a:endParaRPr lang="de-DE" sz="1800" b="0" u="none" strike="noStrike">
              <a:solidFill>
                <a:srgbClr val="000000"/>
              </a:solidFill>
              <a:uFillTx/>
              <a:latin typeface="Arial"/>
            </a:endParaRPr>
          </a:p>
          <a:p>
            <a:pPr marL="457200" defTabSz="914400">
              <a:lnSpc>
                <a:spcPct val="100000"/>
              </a:lnSpc>
            </a:pPr>
            <a:br>
              <a:rPr sz="1800"/>
            </a:br>
            <a:endParaRPr lang="de-DE" sz="1800" b="0" u="none" strike="noStrike">
              <a:solidFill>
                <a:srgbClr val="000000"/>
              </a:solidFill>
              <a:uFillTx/>
              <a:latin typeface="Arial"/>
            </a:endParaRPr>
          </a:p>
        </p:txBody>
      </p:sp>
      <p:cxnSp>
        <p:nvCxnSpPr>
          <p:cNvPr id="1093" name="Gerade Verbindung mit Pfeil 5"/>
          <p:cNvCxnSpPr/>
          <p:nvPr/>
        </p:nvCxnSpPr>
        <p:spPr>
          <a:xfrm flipV="1">
            <a:off x="4189680" y="4433040"/>
            <a:ext cx="3913920" cy="522360"/>
          </a:xfrm>
          <a:prstGeom prst="straightConnector1">
            <a:avLst/>
          </a:prstGeom>
          <a:ln w="0">
            <a:solidFill>
              <a:srgbClr val="B74919"/>
            </a:solidFill>
            <a:tailEnd type="triangle" w="med" len="med"/>
          </a:ln>
        </p:spPr>
      </p:cxnSp>
      <p:cxnSp>
        <p:nvCxnSpPr>
          <p:cNvPr id="1094" name="Gerader Verbinder 9"/>
          <p:cNvCxnSpPr/>
          <p:nvPr/>
        </p:nvCxnSpPr>
        <p:spPr>
          <a:xfrm>
            <a:off x="10623960" y="5555880"/>
            <a:ext cx="1440" cy="613800"/>
          </a:xfrm>
          <a:prstGeom prst="straightConnector1">
            <a:avLst/>
          </a:prstGeom>
          <a:ln w="0">
            <a:solidFill>
              <a:srgbClr val="1D9A78"/>
            </a:solidFill>
          </a:ln>
        </p:spPr>
      </p:cxnSp>
      <p:cxnSp>
        <p:nvCxnSpPr>
          <p:cNvPr id="1095" name="Gerader Verbinder 11"/>
          <p:cNvCxnSpPr/>
          <p:nvPr/>
        </p:nvCxnSpPr>
        <p:spPr>
          <a:xfrm flipH="1" flipV="1">
            <a:off x="1937160" y="6051960"/>
            <a:ext cx="8680320" cy="125280"/>
          </a:xfrm>
          <a:prstGeom prst="straightConnector1">
            <a:avLst/>
          </a:prstGeom>
          <a:ln w="0">
            <a:solidFill>
              <a:srgbClr val="1D9A78"/>
            </a:solidFill>
          </a:ln>
        </p:spPr>
      </p:cxnSp>
      <p:cxnSp>
        <p:nvCxnSpPr>
          <p:cNvPr id="1096" name="Gerade Verbindung mit Pfeil 13"/>
          <p:cNvCxnSpPr/>
          <p:nvPr/>
        </p:nvCxnSpPr>
        <p:spPr>
          <a:xfrm flipV="1">
            <a:off x="1937160" y="5796360"/>
            <a:ext cx="1440" cy="226080"/>
          </a:xfrm>
          <a:prstGeom prst="straightConnector1">
            <a:avLst/>
          </a:prstGeom>
          <a:ln w="0">
            <a:solidFill>
              <a:srgbClr val="1D9A78"/>
            </a:solidFill>
            <a:tailEnd type="triangle" w="med" len="med"/>
          </a:ln>
        </p:spPr>
      </p:cxn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9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9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9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22: FormBuilder</a:t>
            </a:r>
            <a:endParaRPr lang="de-DE" sz="3600" b="0" u="none" strike="noStrike">
              <a:solidFill>
                <a:srgbClr val="000000"/>
              </a:solidFill>
              <a:uFillTx/>
              <a:latin typeface="Arial"/>
            </a:endParaRPr>
          </a:p>
        </p:txBody>
      </p:sp>
      <p:grpSp>
        <p:nvGrpSpPr>
          <p:cNvPr id="110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0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0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Bereite die Anwendung für die Verwendung der Forms-API 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ReactiveFormsModule im imports-Array von CustomerDetailsComponent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in CustomerDetailsComponent ein Formular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die typisierte Forms-API (FormGroup/FormControl oder inject(FormBuilder).nonNullable) und speichere das Formular in einem Feld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für jedes Feld in Customer (außer ID und image) ein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Initialisiere die Felder mit den vom Service geholten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ein passendes Template mit einem Label und passendem Input pro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Tip: </a:t>
            </a:r>
            <a:r>
              <a:rPr lang="de-DE" sz="1100" b="0" i="1" u="none" strike="noStrike">
                <a:solidFill>
                  <a:schemeClr val="dk2"/>
                </a:solidFill>
                <a:uFillTx/>
                <a:latin typeface="Calibri"/>
              </a:rPr>
              <a:t>&lt;input type="date"&gt; </a:t>
            </a:r>
            <a:r>
              <a:rPr lang="de-DE" sz="1100" b="0" u="none" strike="noStrike">
                <a:solidFill>
                  <a:schemeClr val="dk2"/>
                </a:solidFill>
                <a:uFillTx/>
                <a:latin typeface="Calibri"/>
              </a:rPr>
              <a:t>für lastOrderDate, Daten-Mapping erforderlich</a:t>
            </a:r>
            <a:br>
              <a:rPr sz="1100"/>
            </a:br>
            <a:r>
              <a:rPr lang="de-DE" sz="1100" b="0" i="1" u="none" strike="noStrike">
                <a:solidFill>
                  <a:schemeClr val="dk2"/>
                </a:solidFill>
                <a:uFillTx/>
                <a:latin typeface="Calibri"/>
              </a:rPr>
              <a:t>customer.lastOrderDate.toIsoString().substr(0, 10) </a:t>
            </a:r>
            <a:r>
              <a:rPr lang="de-DE" sz="1100" b="0" u="none" strike="noStrike">
                <a:solidFill>
                  <a:schemeClr val="dk2"/>
                </a:solidFill>
                <a:uFillTx/>
                <a:latin typeface="Calibri"/>
              </a:rPr>
              <a:t>und </a:t>
            </a:r>
            <a:r>
              <a:rPr lang="de-DE" sz="1100" b="0" i="1" u="none" strike="noStrike">
                <a:solidFill>
                  <a:schemeClr val="dk2"/>
                </a:solidFill>
                <a:uFillTx/>
                <a:latin typeface="Calibri"/>
              </a:rPr>
              <a:t>new Date(inputValue)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das Speichern der geänderten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das ngSubmit-Event am Formular und einen Submit-Button zum Speichern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Übernehme die geänderten Daten in das Domain-Objekt (Tip: Object.assign)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110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0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1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Client-seitig Validierung für User Experience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Server-seitig Validierung für Sicherheit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Build-in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Mittels Attributierung bzw. Direktive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der Forms API</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a:t>
            </a:r>
            <a:endParaRPr lang="de-DE" sz="4400" b="0" u="none" strike="noStrike">
              <a:solidFill>
                <a:srgbClr val="000000"/>
              </a:solidFill>
              <a:uFillTx/>
              <a:latin typeface="Arial"/>
            </a:endParaRPr>
          </a:p>
        </p:txBody>
      </p:sp>
      <p:sp>
        <p:nvSpPr>
          <p:cNvPr id="11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this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form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FormGroup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name: new FormControl('', Validators.required),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city</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maxLength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10</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zip</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pattern</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'[0-9]{5}'</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street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compose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		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required</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minLength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Validierungsfehler</a:t>
            </a:r>
            <a:endParaRPr lang="de-DE" sz="4400" b="0" u="none" strike="noStrike">
              <a:solidFill>
                <a:srgbClr val="000000"/>
              </a:solidFill>
              <a:uFillTx/>
              <a:latin typeface="Arial"/>
            </a:endParaRPr>
          </a:p>
        </p:txBody>
      </p:sp>
      <p:sp>
        <p:nvSpPr>
          <p:cNvPr id="11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Zustand pro Feld / Gruppe / Formular</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untouched, touched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pristine, dirty</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valid, errors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Value</a:t>
            </a:r>
            <a:endParaRPr lang="de-DE" sz="2400" b="0" u="none" strike="noStrike">
              <a:solidFill>
                <a:srgbClr val="000000"/>
              </a:solidFill>
              <a:uFillTx/>
              <a:latin typeface="Arial"/>
            </a:endParaRPr>
          </a:p>
          <a:p>
            <a:pPr marL="285840" indent="-28584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Zusammenspiel mit CSS Klassen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Angular setzt CSS-Klassen an Formular und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ng-valid, ng-invalid, ng-pristine, ng-dirty</a:t>
            </a:r>
            <a:endParaRPr lang="de-DE" sz="2400" b="0" u="none" strike="noStrike">
              <a:solidFill>
                <a:srgbClr val="000000"/>
              </a:solidFill>
              <a:uFillTx/>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Zugriff auf Fehlerzustand</a:t>
            </a:r>
            <a:endParaRPr lang="de-DE" sz="4400" b="0" u="none" strike="noStrike">
              <a:solidFill>
                <a:srgbClr val="000000"/>
              </a:solidFill>
              <a:uFillTx/>
              <a:latin typeface="Arial"/>
            </a:endParaRPr>
          </a:p>
        </p:txBody>
      </p:sp>
      <p:sp>
        <p:nvSpPr>
          <p:cNvPr id="1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"form-group"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has-error</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.dirty &amp;&amp; 	!form.controls.</a:t>
            </a:r>
            <a:r>
              <a:rPr lang="de-DE" sz="3600" b="0" u="none" strike="noStrike">
                <a:solidFill>
                  <a:srgbClr val="DD1144"/>
                </a:solidFill>
                <a:uFillTx/>
                <a:latin typeface="SourceCodePro"/>
              </a:rPr>
              <a:t>email</a:t>
            </a:r>
            <a:r>
              <a:rPr lang="de-DE" sz="2800" b="0" u="none" strike="noStrike">
                <a:solidFill>
                  <a:srgbClr val="DD1144"/>
                </a:solidFill>
                <a:uFillTx/>
                <a:latin typeface="SourceCodePro"/>
              </a:rPr>
              <a:t>.valid"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has-warning</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.pristine &amp;&amp; 	!form.controls.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.valid"</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&lt;input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type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"email"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formControlName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ErrorsMap</a:t>
            </a:r>
            <a:endParaRPr lang="de-DE" sz="4400" b="0" u="none" strike="noStrike">
              <a:solidFill>
                <a:srgbClr val="000000"/>
              </a:solidFill>
              <a:uFillTx/>
              <a:latin typeface="Arial"/>
            </a:endParaRPr>
          </a:p>
        </p:txBody>
      </p:sp>
      <p:sp>
        <p:nvSpPr>
          <p:cNvPr id="112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hidden</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"!form.controls.password.dirty"</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"!form.controls.password.errors?.required"</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ist Pflichtfeld</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"!form.controls.password.errors?.complex"</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muss aus 8 Zeichen und mind. 1 Sonderzeichen und Großbuchstaben bestehen.</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2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2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2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22: Validierung</a:t>
            </a:r>
            <a:endParaRPr lang="de-DE" sz="3600" b="0" u="none" strike="noStrike">
              <a:solidFill>
                <a:srgbClr val="000000"/>
              </a:solidFill>
              <a:uFillTx/>
              <a:latin typeface="Arial"/>
            </a:endParaRPr>
          </a:p>
        </p:txBody>
      </p:sp>
      <p:grpSp>
        <p:nvGrpSpPr>
          <p:cNvPr id="112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2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3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Validiere in CustomerDetailComponent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First- und lastname required</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Zip als string aber nur zahlen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Gib für jedes invalide Feld eine Fehlermeldung aus</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Verhindere das Absenden des invaliden Formulares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Tip: [disabled] an Submit-Button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13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3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Ausblick: Resource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class CustomerDetailsComponent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private readonly customerService = inject(CustomerService);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id = input.required&lt;string&gt;();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lädt automatisch neu, sobald sich id() ändert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 = httpResource&lt;Customer&gt;(() =&gt; `api/customer/${this.id()}`);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Alternative mit bestehendem Observable-Service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customer2 = rxResource({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params: () =&gt; 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stream: ({ params }) =&gt; this.customerService.getById(params)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&lt;!-- Template --&gt;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(customer.isLoading()) { &lt;p&gt;Lade…&lt;/p&gt;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(customer.hasValue()) { &lt;p&gt;{{ customer.value().firstname }}&lt;/p&gt;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Resource APIs sind teilweise noch experimentell</a:t>
            </a:r>
            <a:endParaRPr lang="de-DE" sz="1700" b="0" u="none" strike="noStrike">
              <a:solidFill>
                <a:srgbClr val="000000"/>
              </a:solidFill>
              <a:uFillTx/>
              <a:latin typeface="Arial"/>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Direktiven</a:t>
            </a:r>
            <a:endParaRPr lang="de-DE" sz="4400" b="0" u="none" strike="noStrike">
              <a:solidFill>
                <a:srgbClr val="000000"/>
              </a:solidFill>
              <a:uFillTx/>
              <a:latin typeface="Arial"/>
            </a:endParaRPr>
          </a:p>
        </p:txBody>
      </p:sp>
      <p:sp>
        <p:nvSpPr>
          <p:cNvPr id="1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Können simpel erstellt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ng generate directive &lt;directive-name&gt;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Direktive ist wiederum eine annotierte TypeScript-Klasse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a:t>
            </a:r>
            <a:r>
              <a:rPr lang="de-DE" sz="2400" b="0" u="none" strike="noStrike">
                <a:solidFill>
                  <a:schemeClr val="dk1"/>
                </a:solidFill>
                <a:uFillTx/>
                <a:latin typeface="Courier New"/>
              </a:rPr>
              <a:t>selector</a:t>
            </a:r>
            <a:r>
              <a:rPr lang="de-DE" sz="2400" b="0" u="none" strike="noStrike">
                <a:solidFill>
                  <a:schemeClr val="dk1"/>
                </a:solidFill>
                <a:uFillTx/>
                <a:latin typeface="Calibri"/>
              </a:rPr>
              <a:t> ist das neue HTML-Attribute oder -Element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Das DOM-Element, das manipuliert werden soll, wird per inject(ElementRef) bereitgestellt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Directive: Beispiel</a:t>
            </a:r>
            <a:endParaRPr lang="de-DE" sz="4400" b="0" u="none" strike="noStrike">
              <a:solidFill>
                <a:srgbClr val="000000"/>
              </a:solidFill>
              <a:uFillTx/>
              <a:latin typeface="Arial"/>
            </a:endParaRPr>
          </a:p>
        </p:txBody>
      </p:sp>
      <p:sp>
        <p:nvSpPr>
          <p:cNvPr id="1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Ein Beispiel ist unter https://angular.dev/guide/directives/attribute-directives zu finden</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import { Directive, ElementRef, inject } from '@angular/core';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@Directive({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selector: '[appHighlight]'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export class HighlightDirective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private readonly el = inject(ElementRef);</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constructor()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this.el.nativeElement.style.backgroundColor = 'yellow';</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Verwendung: HighlightDirective im imports-Array der Komponente</a:t>
            </a:r>
            <a:endParaRPr lang="de-DE" sz="2000" b="0" u="none" strike="noStrike">
              <a:solidFill>
                <a:srgbClr val="000000"/>
              </a:solidFill>
              <a:uFillTx/>
              <a:latin typeface="Arial"/>
            </a:endParaRP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Route Guards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authGuard: CanActivateFn = ()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authService = inject(AuthService);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router = inject(Router);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if (authService.isLoggedIn()) { return true;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router.navigate(['/login']);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false;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den Routen: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path: 'customer', component: CustomerListComponent, canActivate: [authGuard] }</a:t>
            </a:r>
            <a:endParaRPr lang="de-DE" sz="1700" b="0" u="none" strike="noStrike">
              <a:solidFill>
                <a:srgbClr val="000000"/>
              </a:solidFill>
              <a:uFillTx/>
              <a:latin typeface="Arial"/>
            </a:endParaRP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HTTP-Interceptors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loggingInterceptor: HttpInterceptorFn = (req, next)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console.log(`[HTTP] ${req.method} ${req.url} gestartet`);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next(req);</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main.ts: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provideHttpClient(withInterceptors([loggingInterceptor]))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Vorteile: keine Klasse/Interface nötig, inject() funktioniert auch hier,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mehrere Guards/Interceptors einfach als Array kombinierbar</a:t>
            </a:r>
            <a:endParaRPr lang="de-DE" sz="1700" b="0" u="none" strike="noStrike">
              <a:solidFill>
                <a:srgbClr val="000000"/>
              </a:solidFill>
              <a:uFillTx/>
              <a:latin typeface="Arial"/>
            </a:endParaRP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25: Funktionale Guards &amp; 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einen AuthService mit Login-Status als Signal</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Guard authGuard (CanActivateFn)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Schütze die Routen customer und customer/:id mit canActivate: [authGuard]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 einfache LoginComponent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Interceptor loggingInterceptor (HttpInterceptorFn)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Registriere ihn über provideHttpClient(withInterceptors([...]))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Musterlösung: 25_httpInterceptorGuard (baut auf 23_communication auf)</a:t>
            </a:r>
            <a:endParaRPr lang="de-DE" sz="1700" b="0" u="none" strike="noStrike">
              <a:solidFill>
                <a:srgbClr val="000000"/>
              </a:solidFill>
              <a:uFillTx/>
              <a:latin typeface="Arial"/>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Resource API (httpResource &amp; rxResource)</a:t>
            </a:r>
          </a:p>
        </p:txBody>
      </p:sp>
      <p:sp>
        <p:nvSpPr>
          <p:cNvPr id="3" name="Subtitle 2"/>
          <p:cNvSpPr>
            <a:spLocks noGrp="1"/>
          </p:cNvSpPr>
          <p:nvPr>
            <p:ph type="subTitle"/>
          </p:nvPr>
        </p:nvSpPr>
        <p:spPr/>
        <p:txBody>
          <a:bodyPr/>
          <a:lstStyle/>
          <a:p>
            <a:pPr>
              <a:defRPr sz="2000">
                <a:latin typeface="Segoe UI"/>
              </a:defRPr>
            </a:pPr>
            <a:r>
              <a:t>Deklaratives asynchrones Datenladen in Angular 21</a:t>
            </a:r>
          </a:p>
          <a:p>
            <a:pPr>
              <a:defRPr sz="2000">
                <a:latin typeface="Segoe UI"/>
              </a:defRPr>
            </a:pPr>
            <a:r>
              <a:t>Direkte Integration von HTTP-Requests in die Signal-Welt:</a:t>
            </a:r>
          </a:p>
          <a:p>
            <a:pPr>
              <a:defRPr sz="1600">
                <a:latin typeface="Consolas"/>
              </a:defRPr>
            </a:pPr>
            <a:r>
              <a:t>  • httpResource('/api/customer'): Gibt reaktives Resource-Objekt zurück</a:t>
            </a:r>
          </a:p>
          <a:p>
            <a:pPr>
              <a:defRPr sz="1700">
                <a:latin typeface="Segoe UI"/>
              </a:defRPr>
            </a:pPr>
            <a:r>
              <a:t>  • Liefert fertige Signals: .value(), .isLoading(), .error(), .status()</a:t>
            </a:r>
          </a:p>
          <a:p>
            <a:pPr>
              <a:defRPr sz="1700">
                <a:latin typeface="Segoe UI"/>
              </a:defRPr>
            </a:pPr>
            <a:r>
              <a:t>  • Kein manuelles .subscribe(), keine explizite async-Pipe erforderlich</a:t>
            </a:r>
          </a:p>
          <a:p>
            <a:pPr>
              <a:defRPr sz="2000">
                <a:latin typeface="Segoe UI"/>
              </a:defRPr>
            </a:pPr>
            <a:r>
              <a:t>rxResource für dynamische Parameter und RxJS-Streams:</a:t>
            </a:r>
          </a:p>
          <a:p>
            <a:pPr>
              <a:defRPr sz="1700">
                <a:latin typeface="Segoe UI"/>
              </a:defRPr>
            </a:pPr>
            <a:r>
              <a:t>  • Reagiert automatisch auf Signal-Änderungen (z. B. params: () =&gt; this.id())</a:t>
            </a:r>
          </a:p>
          <a:p>
            <a:pPr>
              <a:defRPr sz="1700">
                <a:latin typeface="Segoe UI"/>
              </a:defRPr>
            </a:pPr>
            <a:r>
              <a:t>  • Automatisches Request-Cancelling bei schnellen Parameter-Änderungen</a:t>
            </a:r>
          </a:p>
          <a:p>
            <a:pPr>
              <a:defRPr sz="1700">
                <a:latin typeface="Segoe UI"/>
              </a:defRPr>
            </a:pPr>
            <a:r>
              <a:t>  • Unterstützt Neuladen per .reload() und manuelle Mutation per .set()/.update()</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httpResource &amp; rxResource</a:t>
            </a:r>
          </a:p>
        </p:txBody>
      </p:sp>
      <p:sp>
        <p:nvSpPr>
          <p:cNvPr id="3" name="Subtitle 2"/>
          <p:cNvSpPr>
            <a:spLocks noGrp="1"/>
          </p:cNvSpPr>
          <p:nvPr>
            <p:ph type="subTitle"/>
          </p:nvPr>
        </p:nvSpPr>
        <p:spPr/>
        <p:txBody>
          <a:bodyPr/>
          <a:lstStyle/>
          <a:p>
            <a:pPr>
              <a:defRPr sz="1600">
                <a:latin typeface="Consolas"/>
              </a:defRPr>
            </a:pPr>
            <a:r>
              <a:t>// Liste laden mit httpResource in CustomerListComponent:</a:t>
            </a:r>
          </a:p>
          <a:p>
            <a:pPr>
              <a:defRPr sz="1600">
                <a:latin typeface="Consolas"/>
              </a:defRPr>
            </a:pPr>
            <a:r>
              <a:t>customerResource = httpResource&lt;Customer[]&gt;('/api/customer');</a:t>
            </a:r>
          </a:p>
          <a:p>
            <a:pPr>
              <a:defRPr sz="2000">
                <a:latin typeface="Segoe UI"/>
              </a:defRPr>
            </a:pPr>
            <a:r>
              <a:t>customers = this.customerResource.value;</a:t>
            </a:r>
          </a:p>
          <a:p>
            <a:pPr>
              <a:defRPr sz="2000">
                <a:latin typeface="Segoe UI"/>
              </a:defRPr>
            </a:pPr>
            <a:r>
              <a:t>isLoading = this.customerResource.isLoading;</a:t>
            </a:r>
          </a:p>
          <a:p>
            <a:pPr>
              <a:defRPr sz="2000">
                <a:latin typeface="Segoe UI"/>
              </a:defRPr>
            </a:pPr>
          </a:p>
          <a:p>
            <a:pPr>
              <a:defRPr sz="1600">
                <a:latin typeface="Consolas"/>
              </a:defRPr>
            </a:pPr>
            <a:r>
              <a:t>// Detailansicht mit dynamischer ID per rxResource:</a:t>
            </a:r>
          </a:p>
          <a:p>
            <a:pPr>
              <a:defRPr sz="2000">
                <a:latin typeface="Segoe UI"/>
              </a:defRPr>
            </a:pPr>
            <a:r>
              <a:t>id = input&lt;string&gt;();</a:t>
            </a:r>
          </a:p>
          <a:p>
            <a:pPr>
              <a:defRPr sz="2000">
                <a:latin typeface="Segoe UI"/>
              </a:defRPr>
            </a:pPr>
            <a:r>
              <a:t>customerResource = rxResource({</a:t>
            </a:r>
          </a:p>
          <a:p>
            <a:pPr>
              <a:defRPr sz="2000">
                <a:latin typeface="Segoe UI"/>
              </a:defRPr>
            </a:pPr>
            <a:r>
              <a:t>  params: () =&gt; this.id(),</a:t>
            </a:r>
          </a:p>
          <a:p>
            <a:pPr>
              <a:defRPr sz="2000">
                <a:latin typeface="Segoe UI"/>
              </a:defRPr>
            </a:pPr>
            <a:r>
              <a:t>  stream: ({ params }) =&gt; this.customerService.getById(params!)</a:t>
            </a:r>
          </a:p>
          <a:p>
            <a:pPr>
              <a:defRPr sz="2000">
                <a:latin typeface="Segoe UI"/>
              </a:defRPr>
            </a:pPr>
            <a:r>
              <a:t>});</a:t>
            </a:r>
          </a:p>
          <a:p>
            <a:pPr>
              <a:defRPr sz="2000">
                <a:latin typeface="Segoe UI"/>
              </a:defRPr>
            </a:pPr>
            <a:r>
              <a:t>customer = this.customerResource.value; // Reagiert sofort auf id-Wechsel</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26: Resource API</a:t>
            </a:r>
          </a:p>
        </p:txBody>
      </p:sp>
      <p:sp>
        <p:nvSpPr>
          <p:cNvPr id="3" name="Subtitle 2"/>
          <p:cNvSpPr>
            <a:spLocks noGrp="1"/>
          </p:cNvSpPr>
          <p:nvPr>
            <p:ph type="subTitle"/>
          </p:nvPr>
        </p:nvSpPr>
        <p:spPr/>
        <p:txBody>
          <a:bodyPr/>
          <a:lstStyle/>
          <a:p>
            <a:pPr>
              <a:defRPr sz="2000" b="1">
                <a:latin typeface="Segoe UI"/>
              </a:defRPr>
            </a:pPr>
            <a:r>
              <a:t>Öffne das Projekt 26_resourceApi</a:t>
            </a:r>
          </a:p>
          <a:p>
            <a:pPr>
              <a:defRPr sz="1600">
                <a:latin typeface="Consolas"/>
              </a:defRPr>
            </a:pPr>
            <a:r>
              <a:t>1. Kundenliste auf httpResource umstellen:</a:t>
            </a:r>
          </a:p>
          <a:p>
            <a:pPr>
              <a:defRPr sz="1600">
                <a:latin typeface="Consolas"/>
              </a:defRPr>
            </a:pPr>
            <a:r>
              <a:t>   • Verwende httpResource in CustomerListComponent für das Laden der Kunden</a:t>
            </a:r>
          </a:p>
          <a:p>
            <a:pPr>
              <a:defRPr sz="1700">
                <a:latin typeface="Segoe UI"/>
              </a:defRPr>
            </a:pPr>
            <a:r>
              <a:t>   • Zeige im Template Ladezustand (@if isLoading()) und Fehler an</a:t>
            </a:r>
          </a:p>
          <a:p>
            <a:pPr>
              <a:defRPr sz="2000" b="1">
                <a:latin typeface="Segoe UI"/>
              </a:defRPr>
            </a:pPr>
            <a:r>
              <a:t>2. Detailansicht auf rxResource umstellen:</a:t>
            </a:r>
          </a:p>
          <a:p>
            <a:pPr>
              <a:defRPr sz="1700">
                <a:latin typeface="Segoe UI"/>
              </a:defRPr>
            </a:pPr>
            <a:r>
              <a:t>   • Binde das Laden der Kundendetails an das Signal-Input id per rxResource</a:t>
            </a:r>
          </a:p>
          <a:p>
            <a:pPr>
              <a:defRPr sz="1700">
                <a:latin typeface="Segoe UI"/>
              </a:defRPr>
            </a:pPr>
            <a:r>
              <a:t>   • Entferne manuelle effect()-Aufrufe für das Nachladen bei ID-Änderung</a:t>
            </a:r>
          </a:p>
          <a:p>
            <a:pPr>
              <a:defRPr sz="2000" b="1">
                <a:latin typeface="Segoe UI"/>
              </a:defRPr>
            </a:pPr>
            <a:r>
              <a:t>3. Teste das Verhalten im Browser:</a:t>
            </a:r>
          </a:p>
          <a:p>
            <a:pPr>
              <a:defRPr sz="1700">
                <a:latin typeface="Segoe UI"/>
              </a:defRPr>
            </a:pPr>
            <a:r>
              <a:t>   • Wechsle zwischen verschiedenen Kunden und beobachte die reaktive Aktualisierung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Bild-Optimierung mit NgOptimizedImage</a:t>
            </a:r>
          </a:p>
        </p:txBody>
      </p:sp>
      <p:sp>
        <p:nvSpPr>
          <p:cNvPr id="3" name="Subtitle 2"/>
          <p:cNvSpPr>
            <a:spLocks noGrp="1"/>
          </p:cNvSpPr>
          <p:nvPr>
            <p:ph type="subTitle"/>
          </p:nvPr>
        </p:nvSpPr>
        <p:spPr/>
        <p:txBody>
          <a:bodyPr/>
          <a:lstStyle/>
          <a:p>
            <a:pPr>
              <a:defRPr sz="2000">
                <a:latin typeface="Segoe UI"/>
              </a:defRPr>
            </a:pPr>
            <a:r>
              <a:t>Direktive NgOptimizedImage aus @angular/common für Web-Performance</a:t>
            </a:r>
          </a:p>
          <a:p>
            <a:pPr>
              <a:defRPr sz="2000">
                <a:latin typeface="Segoe UI"/>
              </a:defRPr>
            </a:pPr>
            <a:r>
              <a:t>Vermeidung von Cumulative Layout Shift (CLS):</a:t>
            </a:r>
          </a:p>
          <a:p>
            <a:pPr>
              <a:defRPr sz="1700">
                <a:latin typeface="Segoe UI"/>
              </a:defRPr>
            </a:pPr>
            <a:r>
              <a:t>  • Verpflichtende Angabe von width und height (oder fill-Modus)</a:t>
            </a:r>
          </a:p>
          <a:p>
            <a:pPr>
              <a:defRPr sz="1700">
                <a:latin typeface="Segoe UI"/>
              </a:defRPr>
            </a:pPr>
            <a:r>
              <a:t>  • Browser reserviert sofort den passenden Platz im Layout</a:t>
            </a:r>
          </a:p>
          <a:p>
            <a:pPr>
              <a:defRPr sz="2000">
                <a:latin typeface="Segoe UI"/>
              </a:defRPr>
            </a:pPr>
            <a:r>
              <a:t>Automatische Lade-Optimierung:</a:t>
            </a:r>
          </a:p>
          <a:p>
            <a:pPr>
              <a:defRPr sz="1700">
                <a:latin typeface="Segoe UI"/>
              </a:defRPr>
            </a:pPr>
            <a:r>
              <a:t>  • Standardmäßig Lazy Loading (Bilder laden erst, wenn sie ins Sichtfeld scrollen)</a:t>
            </a:r>
          </a:p>
          <a:p>
            <a:pPr>
              <a:defRPr sz="1700">
                <a:latin typeface="Segoe UI"/>
              </a:defRPr>
            </a:pPr>
            <a:r>
              <a:t>  • priority-Attribut für wichtige Hero-/LCP-Bilder (Largest Contentful Paint)</a:t>
            </a:r>
          </a:p>
          <a:p>
            <a:pPr>
              <a:defRPr sz="1700">
                <a:latin typeface="Segoe UI"/>
              </a:defRPr>
            </a:pPr>
            <a:r>
              <a:t>  • Automatisches Erzeugen von srcset für hochauflösende Displays (Retina)</a:t>
            </a:r>
          </a:p>
          <a:p>
            <a:pPr>
              <a:defRPr sz="2000">
                <a:latin typeface="Segoe UI"/>
              </a:defRPr>
            </a:pPr>
            <a:r>
              <a:t>Integration mit CDNs (Cloudinary, Imgix) über provideImageLoader()</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NgOptimizedImage</a:t>
            </a:r>
          </a:p>
        </p:txBody>
      </p:sp>
      <p:sp>
        <p:nvSpPr>
          <p:cNvPr id="3" name="Subtitle 2"/>
          <p:cNvSpPr>
            <a:spLocks noGrp="1"/>
          </p:cNvSpPr>
          <p:nvPr>
            <p:ph type="subTitle"/>
          </p:nvPr>
        </p:nvSpPr>
        <p:spPr/>
        <p:txBody>
          <a:bodyPr/>
          <a:lstStyle/>
          <a:p>
            <a:pPr>
              <a:defRPr sz="1600">
                <a:latin typeface="Consolas"/>
              </a:defRPr>
            </a:pPr>
            <a:r>
              <a:t>// 1. Direktive in Standalone-Komponente importieren:</a:t>
            </a:r>
          </a:p>
          <a:p>
            <a:pPr>
              <a:defRPr sz="2000">
                <a:latin typeface="Segoe UI"/>
              </a:defRPr>
            </a:pPr>
            <a:r>
              <a:t>import { NgOptimizedImage } from '@angular/common';</a:t>
            </a:r>
          </a:p>
          <a:p>
            <a:pPr>
              <a:defRPr sz="2000">
                <a:latin typeface="Segoe UI"/>
              </a:defRPr>
            </a:pPr>
          </a:p>
          <a:p>
            <a:pPr>
              <a:defRPr sz="2000">
                <a:latin typeface="Segoe UI"/>
              </a:defRPr>
            </a:pPr>
            <a:r>
              <a:t>@Component({</a:t>
            </a:r>
          </a:p>
          <a:p>
            <a:pPr>
              <a:defRPr sz="2000">
                <a:latin typeface="Segoe UI"/>
              </a:defRPr>
            </a:pPr>
            <a:r>
              <a:t>  standalone: true,</a:t>
            </a:r>
          </a:p>
          <a:p>
            <a:pPr>
              <a:defRPr sz="2000">
                <a:latin typeface="Segoe UI"/>
              </a:defRPr>
            </a:pPr>
            <a:r>
              <a:t>  imports: [NgOptimizedImage],</a:t>
            </a:r>
          </a:p>
          <a:p>
            <a:pPr>
              <a:defRPr sz="2000">
                <a:latin typeface="Segoe UI"/>
              </a:defRPr>
            </a:pPr>
            <a:r>
              <a:t>  template: `</a:t>
            </a:r>
          </a:p>
          <a:p>
            <a:pPr>
              <a:defRPr sz="2000">
                <a:latin typeface="Segoe UI"/>
              </a:defRPr>
            </a:pPr>
            <a:r>
              <a:t>    &lt;!-- Feste Dimensionen verhindern Layout Shift --&gt;</a:t>
            </a:r>
          </a:p>
          <a:p>
            <a:pPr>
              <a:defRPr sz="2000">
                <a:latin typeface="Segoe UI"/>
              </a:defRPr>
            </a:pPr>
            <a:r>
              <a:t>    &lt;img [ngSrc]="customer().imageUrl" width="200" height="200" priority&gt;</a:t>
            </a:r>
          </a:p>
          <a:p>
            <a:pPr>
              <a:defRPr sz="2000">
                <a:latin typeface="Segoe UI"/>
              </a:defRPr>
            </a:pPr>
            <a:r>
              <a:t>  `</a:t>
            </a:r>
          </a:p>
          <a:p>
            <a:pPr>
              <a:defRPr sz="2000">
                <a:latin typeface="Segoe UI"/>
              </a:defRPr>
            </a:pPr>
            <a:r>
              <a:t>})</a:t>
            </a:r>
          </a:p>
          <a:p>
            <a:pPr>
              <a:defRPr sz="2000">
                <a:latin typeface="Segoe UI"/>
              </a:defRPr>
            </a:pPr>
            <a:r>
              <a:t>export class CustomerDetailsComponent {}</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27: NgOptimizedImage</a:t>
            </a:r>
          </a:p>
        </p:txBody>
      </p:sp>
      <p:sp>
        <p:nvSpPr>
          <p:cNvPr id="3" name="Subtitle 2"/>
          <p:cNvSpPr>
            <a:spLocks noGrp="1"/>
          </p:cNvSpPr>
          <p:nvPr>
            <p:ph type="subTitle"/>
          </p:nvPr>
        </p:nvSpPr>
        <p:spPr/>
        <p:txBody>
          <a:bodyPr/>
          <a:lstStyle/>
          <a:p>
            <a:pPr>
              <a:defRPr sz="2000" b="1">
                <a:latin typeface="Segoe UI"/>
              </a:defRPr>
            </a:pPr>
            <a:r>
              <a:t>Öffne das Projekt 27_ngOptimizedImage</a:t>
            </a:r>
          </a:p>
          <a:p>
            <a:pPr>
              <a:defRPr sz="2000" b="1">
                <a:latin typeface="Segoe UI"/>
              </a:defRPr>
            </a:pPr>
            <a:r>
              <a:t>1. NgOptimizedImage in CustomerDetailsComponent einbinden:</a:t>
            </a:r>
          </a:p>
          <a:p>
            <a:pPr>
              <a:defRPr sz="1700">
                <a:latin typeface="Segoe UI"/>
              </a:defRPr>
            </a:pPr>
            <a:r>
              <a:t>   • Importiere NgOptimizedImage aus @angular/common im imports-Array</a:t>
            </a:r>
          </a:p>
          <a:p>
            <a:pPr>
              <a:defRPr sz="1700">
                <a:latin typeface="Segoe UI"/>
              </a:defRPr>
            </a:pPr>
            <a:r>
              <a:t>   • Ersetze [src] durch [ngSrc] für das Kundenbild</a:t>
            </a:r>
          </a:p>
          <a:p>
            <a:pPr>
              <a:defRPr sz="1700">
                <a:latin typeface="Segoe UI"/>
              </a:defRPr>
            </a:pPr>
            <a:r>
              <a:t>   • Setze explizite Dimensionen width="200" und height="200"</a:t>
            </a:r>
          </a:p>
          <a:p>
            <a:pPr>
              <a:defRPr sz="1700">
                <a:latin typeface="Segoe UI"/>
              </a:defRPr>
            </a:pPr>
            <a:r>
              <a:t>   • Ergänze das Attribut priority für das Detailbild</a:t>
            </a:r>
          </a:p>
          <a:p>
            <a:pPr>
              <a:defRPr sz="2000" b="1">
                <a:latin typeface="Segoe UI"/>
              </a:defRPr>
            </a:pPr>
            <a:r>
              <a:t>2. Überprüfe das Verhalten:</a:t>
            </a:r>
          </a:p>
          <a:p>
            <a:pPr>
              <a:defRPr sz="1700">
                <a:latin typeface="Segoe UI"/>
              </a:defRPr>
            </a:pPr>
            <a:r>
              <a:t>   • Öffne die Browser-Entwicklertools (Konsole &amp; Network-Tab)</a:t>
            </a:r>
          </a:p>
          <a:p>
            <a:pPr>
              <a:defRPr sz="1700">
                <a:latin typeface="Segoe UI"/>
              </a:defRPr>
            </a:pPr>
            <a:r>
              <a:t>   • Beobachte, dass Angular keine CLS-Warnungen mehr meldet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Signal Queries: viewChild &amp; contentChild</a:t>
            </a:r>
          </a:p>
        </p:txBody>
      </p:sp>
      <p:sp>
        <p:nvSpPr>
          <p:cNvPr id="3" name="Subtitle 2"/>
          <p:cNvSpPr>
            <a:spLocks noGrp="1"/>
          </p:cNvSpPr>
          <p:nvPr>
            <p:ph type="subTitle"/>
          </p:nvPr>
        </p:nvSpPr>
        <p:spPr/>
        <p:txBody>
          <a:bodyPr/>
          <a:lstStyle/>
          <a:p>
            <a:pPr>
              <a:defRPr sz="2000">
                <a:latin typeface="Segoe UI"/>
              </a:defRPr>
            </a:pPr>
            <a:r>
              <a:t>Signal-basierte DOM- und Komponenten-Abfragen ab Angular 17.2+</a:t>
            </a:r>
          </a:p>
          <a:p>
            <a:pPr>
              <a:defRPr sz="2000">
                <a:latin typeface="Segoe UI"/>
              </a:defRPr>
            </a:pPr>
            <a:r>
              <a:t>Ersatz für klassische Dekoratoren (@ViewChild, @ViewChildren, @ContentChild):</a:t>
            </a:r>
          </a:p>
          <a:p>
            <a:pPr>
              <a:defRPr sz="1700">
                <a:latin typeface="Segoe UI"/>
              </a:defRPr>
            </a:pPr>
            <a:r>
              <a:t>  • viewChild('refName'): Greift auf ein Element/Komponente im eigenen Template zu</a:t>
            </a:r>
          </a:p>
          <a:p>
            <a:pPr>
              <a:defRPr sz="1700">
                <a:latin typeface="Segoe UI"/>
              </a:defRPr>
            </a:pPr>
            <a:r>
              <a:t>  • contentChild('refName'): Greift auf projizierten Content (&lt;ng-content&gt;) zu</a:t>
            </a:r>
          </a:p>
          <a:p>
            <a:pPr>
              <a:defRPr sz="1700">
                <a:latin typeface="Segoe UI"/>
              </a:defRPr>
            </a:pPr>
            <a:r>
              <a:t>  • viewChildren('refName') / contentChildren(...): Liefert ein Array von Treffern</a:t>
            </a:r>
          </a:p>
          <a:p>
            <a:pPr>
              <a:defRPr sz="2000">
                <a:latin typeface="Segoe UI"/>
              </a:defRPr>
            </a:pPr>
            <a:r>
              <a:t>Vorteile der Signal-Varianten:</a:t>
            </a:r>
          </a:p>
          <a:p>
            <a:pPr>
              <a:defRPr sz="1700">
                <a:latin typeface="Segoe UI"/>
              </a:defRPr>
            </a:pPr>
            <a:r>
              <a:t>  • Typsicher: Liefert ein Signal&lt;T | undefined&gt; oder Signal&lt;T&gt; bei viewChild.required()</a:t>
            </a:r>
          </a:p>
          <a:p>
            <a:pPr>
              <a:defRPr sz="1700">
                <a:latin typeface="Segoe UI"/>
              </a:defRPr>
            </a:pPr>
            <a:r>
              <a:t>  • Kein Lebenszyklus-Zwang: Kein Warten auf ngAfterViewInit nötig</a:t>
            </a:r>
          </a:p>
          <a:p>
            <a:pPr>
              <a:defRPr sz="1700">
                <a:latin typeface="Segoe UI"/>
              </a:defRPr>
            </a:pPr>
            <a:r>
              <a:t>  • Reaktiv: Kann direkt in computed() oder effect() verwendet werden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DOM-Zugriff mit viewChild()</a:t>
            </a:r>
          </a:p>
        </p:txBody>
      </p:sp>
      <p:sp>
        <p:nvSpPr>
          <p:cNvPr id="3" name="Subtitle 2"/>
          <p:cNvSpPr>
            <a:spLocks noGrp="1"/>
          </p:cNvSpPr>
          <p:nvPr>
            <p:ph type="subTitle"/>
          </p:nvPr>
        </p:nvSpPr>
        <p:spPr/>
        <p:txBody>
          <a:bodyPr/>
          <a:lstStyle/>
          <a:p>
            <a:pPr>
              <a:defRPr sz="1600">
                <a:latin typeface="Consolas"/>
              </a:defRPr>
            </a:pPr>
            <a:r>
              <a:t>// Template mit Referenzvariable #searchInput:</a:t>
            </a:r>
          </a:p>
          <a:p>
            <a:pPr>
              <a:defRPr sz="1600">
                <a:latin typeface="Consolas"/>
              </a:defRPr>
            </a:pPr>
            <a:r>
              <a:t>// &lt;input #searchInput type="text" placeholder="Kunde suchen..."&gt;</a:t>
            </a:r>
          </a:p>
          <a:p>
            <a:pPr>
              <a:defRPr sz="1600">
                <a:latin typeface="Consolas"/>
              </a:defRPr>
            </a:pPr>
            <a:r>
              <a:t>// &lt;button (click)="resetSearch()"&gt;Zurücksetzen&lt;/button&gt;</a:t>
            </a:r>
          </a:p>
          <a:p>
            <a:pPr>
              <a:defRPr sz="2000">
                <a:latin typeface="Segoe UI"/>
              </a:defRPr>
            </a:pPr>
          </a:p>
          <a:p>
            <a:pPr>
              <a:defRPr sz="2000">
                <a:latin typeface="Segoe UI"/>
              </a:defRPr>
            </a:pPr>
            <a:r>
              <a:t>export class CustomerListComponent {</a:t>
            </a:r>
          </a:p>
          <a:p>
            <a:pPr>
              <a:defRPr sz="2000">
                <a:latin typeface="Segoe UI"/>
              </a:defRPr>
            </a:pPr>
            <a:r>
              <a:t>  // Signal Query auf das native Input-Element:</a:t>
            </a:r>
          </a:p>
          <a:p>
            <a:pPr>
              <a:defRPr sz="2000">
                <a:latin typeface="Segoe UI"/>
              </a:defRPr>
            </a:pPr>
            <a:r>
              <a:t>  searchInput = viewChild&lt;ElementRef&lt;HTMLInputElement&gt;&gt;('searchInput');</a:t>
            </a:r>
          </a:p>
          <a:p>
            <a:pPr>
              <a:defRPr sz="2000">
                <a:latin typeface="Segoe UI"/>
              </a:defRPr>
            </a:pPr>
          </a:p>
          <a:p>
            <a:pPr>
              <a:defRPr sz="2000">
                <a:latin typeface="Segoe UI"/>
              </a:defRPr>
            </a:pPr>
            <a:r>
              <a:t>  resetSearch(): void {</a:t>
            </a:r>
          </a:p>
          <a:p>
            <a:pPr>
              <a:defRPr sz="2000">
                <a:latin typeface="Segoe UI"/>
              </a:defRPr>
            </a:pPr>
            <a:r>
              <a:t>    // Direktes Auslesen und Zugriff auf native DOM-Methoden:</a:t>
            </a:r>
          </a:p>
          <a:p>
            <a:pPr>
              <a:defRPr sz="2000">
                <a:latin typeface="Segoe UI"/>
              </a:defRPr>
            </a:pPr>
            <a:r>
              <a:t>    const input = this.searchInput()?.nativeElement;</a:t>
            </a:r>
          </a:p>
          <a:p>
            <a:pPr>
              <a:defRPr sz="2000">
                <a:latin typeface="Segoe UI"/>
              </a:defRPr>
            </a:pPr>
            <a:r>
              <a:t>    if (input) {</a:t>
            </a:r>
          </a:p>
          <a:p>
            <a:pPr>
              <a:defRPr sz="2000">
                <a:latin typeface="Segoe UI"/>
              </a:defRPr>
            </a:pPr>
            <a:r>
              <a:t>      input.value = '';</a:t>
            </a:r>
          </a:p>
          <a:p>
            <a:pPr>
              <a:defRPr sz="2000">
                <a:latin typeface="Segoe UI"/>
              </a:defRPr>
            </a:pPr>
            <a:r>
              <a:t>      input.focus(); // Fokus zurück auf das Suchfeld setzen</a:t>
            </a:r>
          </a:p>
          <a:p>
            <a:pPr>
              <a:defRPr sz="2000">
                <a:latin typeface="Segoe UI"/>
              </a:defRPr>
            </a:pPr>
            <a:r>
              <a:t>    }</a:t>
            </a:r>
          </a:p>
          <a:p>
            <a:pPr>
              <a:defRPr sz="2000">
                <a:latin typeface="Segoe UI"/>
              </a:defRPr>
            </a:pPr>
            <a:r>
              <a:t>  }</a:t>
            </a:r>
          </a:p>
          <a:p>
            <a:pPr>
              <a:defRPr sz="2000">
                <a:latin typeface="Segoe UI"/>
              </a:defRPr>
            </a:pPr>
            <a:r>
              <a:t>}</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28: viewChild()</a:t>
            </a:r>
          </a:p>
        </p:txBody>
      </p:sp>
      <p:sp>
        <p:nvSpPr>
          <p:cNvPr id="3" name="Subtitle 2"/>
          <p:cNvSpPr>
            <a:spLocks noGrp="1"/>
          </p:cNvSpPr>
          <p:nvPr>
            <p:ph type="subTitle"/>
          </p:nvPr>
        </p:nvSpPr>
        <p:spPr/>
        <p:txBody>
          <a:bodyPr/>
          <a:lstStyle/>
          <a:p>
            <a:pPr>
              <a:defRPr sz="2000" b="1">
                <a:latin typeface="Segoe UI"/>
              </a:defRPr>
            </a:pPr>
            <a:r>
              <a:t>Öffne das Projekt 28_viewChild</a:t>
            </a:r>
          </a:p>
          <a:p>
            <a:pPr>
              <a:defRPr sz="2000" b="1">
                <a:latin typeface="Segoe UI"/>
              </a:defRPr>
            </a:pPr>
            <a:r>
              <a:t>1. Suchfeld in CustomerListComponent ergänzen:</a:t>
            </a:r>
          </a:p>
          <a:p>
            <a:pPr>
              <a:defRPr sz="1700">
                <a:latin typeface="Segoe UI"/>
              </a:defRPr>
            </a:pPr>
            <a:r>
              <a:t>   • Füge ein Eingabefeld mit Template-Variable #searchInput ein</a:t>
            </a:r>
          </a:p>
          <a:p>
            <a:pPr>
              <a:defRPr sz="1700">
                <a:latin typeface="Segoe UI"/>
              </a:defRPr>
            </a:pPr>
            <a:r>
              <a:t>   • Deklariere searchInput = viewChild&lt;ElementRef&gt;('searchInput')</a:t>
            </a:r>
          </a:p>
          <a:p>
            <a:pPr>
              <a:defRPr sz="2000" b="1">
                <a:latin typeface="Segoe UI"/>
              </a:defRPr>
            </a:pPr>
            <a:r>
              <a:t>2. Filterlogik und Fokus-Steuerung umsetzen:</a:t>
            </a:r>
          </a:p>
          <a:p>
            <a:pPr>
              <a:defRPr sz="1700">
                <a:latin typeface="Segoe UI"/>
              </a:defRPr>
            </a:pPr>
            <a:r>
              <a:t>   • Filtere die angezeigte Kundenliste dynamisch nach dem eingegebenen Namen</a:t>
            </a:r>
          </a:p>
          <a:p>
            <a:pPr>
              <a:defRPr sz="1700">
                <a:latin typeface="Segoe UI"/>
              </a:defRPr>
            </a:pPr>
            <a:r>
              <a:t>   • Erstelle einen Button 'Filter löschen', der den Text leert und per searchInput().nativeElement.focus() den Fokus setzt</a:t>
            </a:r>
          </a:p>
          <a:p>
            <a:pPr>
              <a:defRPr sz="2000" b="1">
                <a:latin typeface="Segoe UI"/>
              </a:defRPr>
            </a:pPr>
            <a:r>
              <a:t>3. Teste im Browser:</a:t>
            </a:r>
          </a:p>
          <a:p>
            <a:pPr>
              <a:defRPr sz="1700">
                <a:latin typeface="Segoe UI"/>
              </a:defRPr>
            </a:pPr>
            <a:r>
              <a:t>   • Filtere nach einem Kunden und prüfe das Zurücksetzen und die Fokus-Platzierung</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Komponenten-Komposition mit &lt;ng-content&gt;</a:t>
            </a:r>
          </a:p>
        </p:txBody>
      </p:sp>
      <p:sp>
        <p:nvSpPr>
          <p:cNvPr id="3" name="Subtitle 2"/>
          <p:cNvSpPr>
            <a:spLocks noGrp="1"/>
          </p:cNvSpPr>
          <p:nvPr>
            <p:ph type="subTitle"/>
          </p:nvPr>
        </p:nvSpPr>
        <p:spPr/>
        <p:txBody>
          <a:bodyPr/>
          <a:lstStyle/>
          <a:p>
            <a:pPr>
              <a:defRPr sz="2000">
                <a:latin typeface="Segoe UI"/>
              </a:defRPr>
            </a:pPr>
            <a:r>
              <a:t>Content Projection ermöglicht flexible, wiederverwendbare UI-Container</a:t>
            </a:r>
          </a:p>
          <a:p>
            <a:pPr>
              <a:defRPr sz="2000">
                <a:latin typeface="Segoe UI"/>
              </a:defRPr>
            </a:pPr>
            <a:r>
              <a:t>Prinzip: HTML/Komponenten werden von der Elternkomponente an die Kindkomponente übergeben</a:t>
            </a:r>
          </a:p>
          <a:p>
            <a:pPr>
              <a:defRPr sz="2000">
                <a:latin typeface="Segoe UI"/>
              </a:defRPr>
            </a:pPr>
            <a:r>
              <a:t>Vorteile:</a:t>
            </a:r>
          </a:p>
          <a:p>
            <a:pPr>
              <a:defRPr sz="1700">
                <a:latin typeface="Segoe UI"/>
              </a:defRPr>
            </a:pPr>
            <a:r>
              <a:t>  • Höhere Wiederverwendbarkeit (Card, Modal-Dialog, Tabs, Accordion)</a:t>
            </a:r>
          </a:p>
          <a:p>
            <a:pPr>
              <a:defRPr sz="1700">
                <a:latin typeface="Segoe UI"/>
              </a:defRPr>
            </a:pPr>
            <a:r>
              <a:t>  • Trennung von Layout-Struktur und fachlichem Inhalt</a:t>
            </a:r>
          </a:p>
          <a:p>
            <a:pPr>
              <a:defRPr sz="2000">
                <a:latin typeface="Segoe UI"/>
              </a:defRPr>
            </a:pPr>
            <a:r>
              <a:t>Multi-Slot Content Projection mit select-Attribut:</a:t>
            </a:r>
          </a:p>
          <a:p>
            <a:pPr>
              <a:defRPr sz="1700">
                <a:latin typeface="Segoe UI"/>
              </a:defRPr>
            </a:pPr>
            <a:r>
              <a:t>  • &lt;ng-content select="[card-header]"&gt;: Platzhalter für spezifische Bereiche</a:t>
            </a:r>
          </a:p>
          <a:p>
            <a:pPr>
              <a:defRPr sz="1700">
                <a:latin typeface="Segoe UI"/>
              </a:defRPr>
            </a:pPr>
            <a:r>
              <a:t>  • &lt;ng-content&gt;: Default-Platzhalter für den gesamten restlichen Inhalt</a:t>
            </a:r>
          </a:p>
          <a:p>
            <a:pPr>
              <a:defRPr sz="1700">
                <a:latin typeface="Segoe UI"/>
              </a:defRPr>
            </a:pPr>
            <a:r>
              <a:t>  • &lt;ng-content select="[card-footer]"&gt;: Platzhalter für Aktionen / Buttons</a:t>
            </a:r>
          </a:p>
          <a:p>
            <a:pPr>
              <a:defRPr sz="2000">
                <a:latin typeface="Segoe UI"/>
              </a:defRPr>
            </a:pPr>
            <a:r>
              <a:t>Inhalte werden im Kontext der Elternkomponente evaluiert (Scope &amp; Bindings)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Multi-Slot Content Projection</a:t>
            </a:r>
          </a:p>
        </p:txBody>
      </p:sp>
      <p:sp>
        <p:nvSpPr>
          <p:cNvPr id="3" name="Subtitle 2"/>
          <p:cNvSpPr>
            <a:spLocks noGrp="1"/>
          </p:cNvSpPr>
          <p:nvPr>
            <p:ph type="subTitle"/>
          </p:nvPr>
        </p:nvSpPr>
        <p:spPr/>
        <p:txBody>
          <a:bodyPr/>
          <a:lstStyle/>
          <a:p>
            <a:pPr>
              <a:defRPr sz="1600">
                <a:latin typeface="Consolas"/>
              </a:defRPr>
            </a:pPr>
            <a:r>
              <a:t>&lt;!-- Template von CardComponent (app-card): --&gt;</a:t>
            </a:r>
          </a:p>
          <a:p>
            <a:pPr>
              <a:defRPr sz="2000">
                <a:latin typeface="Segoe UI"/>
              </a:defRPr>
            </a:pPr>
            <a:r>
              <a:t>&lt;div class="card"&gt;</a:t>
            </a:r>
          </a:p>
          <a:p>
            <a:pPr>
              <a:defRPr sz="2000">
                <a:latin typeface="Segoe UI"/>
              </a:defRPr>
            </a:pPr>
            <a:r>
              <a:t>  &lt;div class="card-header"&gt;&lt;ng-content select="[card-header]" /&gt;&lt;/div&gt;</a:t>
            </a:r>
          </a:p>
          <a:p>
            <a:pPr>
              <a:defRPr sz="2000">
                <a:latin typeface="Segoe UI"/>
              </a:defRPr>
            </a:pPr>
            <a:r>
              <a:t>  &lt;div class="card-body"&gt;&lt;ng-content /&gt;&lt;/div&gt;</a:t>
            </a:r>
          </a:p>
          <a:p>
            <a:pPr>
              <a:defRPr sz="2000">
                <a:latin typeface="Segoe UI"/>
              </a:defRPr>
            </a:pPr>
            <a:r>
              <a:t>  &lt;div class="card-footer"&gt;&lt;ng-content select="[card-footer]" /&gt;&lt;/div&gt;</a:t>
            </a:r>
          </a:p>
          <a:p>
            <a:pPr>
              <a:defRPr sz="2000">
                <a:latin typeface="Segoe UI"/>
              </a:defRPr>
            </a:pPr>
            <a:r>
              <a:t>&lt;/div&gt;</a:t>
            </a:r>
          </a:p>
          <a:p>
            <a:pPr>
              <a:defRPr sz="2000">
                <a:latin typeface="Segoe UI"/>
              </a:defRPr>
            </a:pPr>
          </a:p>
          <a:p>
            <a:pPr>
              <a:defRPr sz="1600">
                <a:latin typeface="Consolas"/>
              </a:defRPr>
            </a:pPr>
            <a:r>
              <a:t>&lt;!-- Verwendung in CustomerDetailsComponent: --&gt;</a:t>
            </a:r>
          </a:p>
          <a:p>
            <a:pPr>
              <a:defRPr sz="2000">
                <a:latin typeface="Segoe UI"/>
              </a:defRPr>
            </a:pPr>
            <a:r>
              <a:t>&lt;app-card&gt;</a:t>
            </a:r>
          </a:p>
          <a:p>
            <a:pPr>
              <a:defRPr sz="2000">
                <a:latin typeface="Segoe UI"/>
              </a:defRPr>
            </a:pPr>
            <a:r>
              <a:t>  &lt;h3 card-header&gt;Kundendetails&lt;/h3&gt;</a:t>
            </a:r>
          </a:p>
          <a:p>
            <a:pPr>
              <a:defRPr sz="2000">
                <a:latin typeface="Segoe UI"/>
              </a:defRPr>
            </a:pPr>
            <a:r>
              <a:t>  &lt;form [formGroup]="form"&gt;&lt;!-- Eingabefelder im Body --&gt;&lt;/form&gt;</a:t>
            </a:r>
          </a:p>
          <a:p>
            <a:pPr>
              <a:defRPr sz="2000">
                <a:latin typeface="Segoe UI"/>
              </a:defRPr>
            </a:pPr>
            <a:r>
              <a:t>  &lt;div card-footer&gt;&lt;button (click)="save()"&gt;Speichern&lt;/button&gt;&lt;/div&gt;</a:t>
            </a:r>
          </a:p>
          <a:p>
            <a:pPr>
              <a:defRPr sz="2000">
                <a:latin typeface="Segoe UI"/>
              </a:defRPr>
            </a:pPr>
            <a:r>
              <a:t>&lt;/app-card&gt;</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29: Content Projection</a:t>
            </a:r>
          </a:p>
        </p:txBody>
      </p:sp>
      <p:sp>
        <p:nvSpPr>
          <p:cNvPr id="3" name="Subtitle 2"/>
          <p:cNvSpPr>
            <a:spLocks noGrp="1"/>
          </p:cNvSpPr>
          <p:nvPr>
            <p:ph type="subTitle"/>
          </p:nvPr>
        </p:nvSpPr>
        <p:spPr/>
        <p:txBody>
          <a:bodyPr/>
          <a:lstStyle/>
          <a:p>
            <a:pPr>
              <a:defRPr sz="2000" b="1">
                <a:latin typeface="Segoe UI"/>
              </a:defRPr>
            </a:pPr>
            <a:r>
              <a:t>Öffne das Projekt 29_contentProjection</a:t>
            </a:r>
          </a:p>
          <a:p>
            <a:pPr>
              <a:defRPr sz="2000" b="1">
                <a:latin typeface="Segoe UI"/>
              </a:defRPr>
            </a:pPr>
            <a:r>
              <a:t>1. Wiederverwendbare Card-Komponente erstellen:</a:t>
            </a:r>
          </a:p>
          <a:p>
            <a:pPr>
              <a:defRPr sz="1700">
                <a:latin typeface="Segoe UI"/>
              </a:defRPr>
            </a:pPr>
            <a:r>
              <a:t>   • Erzeuge CardComponent in src/app/shared/card/</a:t>
            </a:r>
          </a:p>
          <a:p>
            <a:pPr>
              <a:defRPr sz="1700">
                <a:latin typeface="Segoe UI"/>
              </a:defRPr>
            </a:pPr>
            <a:r>
              <a:t>   • Definiere drei Slots mit &lt;ng-content&gt;: [card-header], Default und [card-footer]</a:t>
            </a:r>
          </a:p>
          <a:p>
            <a:pPr>
              <a:defRPr sz="1700">
                <a:latin typeface="Segoe UI"/>
              </a:defRPr>
            </a:pPr>
            <a:r>
              <a:t>   • Gib der Card ein ansprechendes Rahmen- und Schatten-Design per CSS</a:t>
            </a:r>
          </a:p>
          <a:p>
            <a:pPr>
              <a:defRPr sz="2000" b="1">
                <a:latin typeface="Segoe UI"/>
              </a:defRPr>
            </a:pPr>
            <a:r>
              <a:t>2. Card in CustomerDetailsComponent einbinden:</a:t>
            </a:r>
          </a:p>
          <a:p>
            <a:pPr>
              <a:defRPr sz="1700">
                <a:latin typeface="Segoe UI"/>
              </a:defRPr>
            </a:pPr>
            <a:r>
              <a:t>   • Importiere CardComponent und platziere das Detailformular innerhalb von &lt;app-card&gt;</a:t>
            </a:r>
          </a:p>
          <a:p>
            <a:pPr>
              <a:defRPr sz="1700">
                <a:latin typeface="Segoe UI"/>
              </a:defRPr>
            </a:pPr>
            <a:r>
              <a:t>   • Weise Überschrift und Aktions-Buttons den entsprechenden Slots zu</a:t>
            </a:r>
          </a:p>
          <a:p>
            <a:pPr>
              <a:defRPr sz="2000" b="1">
                <a:latin typeface="Segoe UI"/>
              </a:defRPr>
            </a:pPr>
            <a:r>
              <a:t>3. Teste das visuelle Ergebnis im Browser</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Server-Side Rendering (SSR) &amp; Hydration</a:t>
            </a:r>
          </a:p>
        </p:txBody>
      </p:sp>
      <p:sp>
        <p:nvSpPr>
          <p:cNvPr id="3" name="Subtitle 2"/>
          <p:cNvSpPr>
            <a:spLocks noGrp="1"/>
          </p:cNvSpPr>
          <p:nvPr>
            <p:ph type="subTitle"/>
          </p:nvPr>
        </p:nvSpPr>
        <p:spPr/>
        <p:txBody>
          <a:bodyPr/>
          <a:lstStyle/>
          <a:p>
            <a:pPr>
              <a:defRPr sz="2000">
                <a:latin typeface="Segoe UI"/>
              </a:defRPr>
            </a:pPr>
            <a:r>
              <a:t>Modernes Rendering-Modell ab Angular 17+ (Standard bei ng new)</a:t>
            </a:r>
          </a:p>
          <a:p>
            <a:pPr>
              <a:defRPr sz="2000">
                <a:latin typeface="Segoe UI"/>
              </a:defRPr>
            </a:pPr>
            <a:r>
              <a:t>Server-Side Rendering (SSR) mit @angular/ssr:</a:t>
            </a:r>
          </a:p>
          <a:p>
            <a:pPr>
              <a:defRPr sz="1700">
                <a:latin typeface="Segoe UI"/>
              </a:defRPr>
            </a:pPr>
            <a:r>
              <a:t>  • Initiales Rendern des HTML auf dem Node.js-Server</a:t>
            </a:r>
          </a:p>
          <a:p>
            <a:pPr>
              <a:defRPr sz="1700">
                <a:latin typeface="Segoe UI"/>
              </a:defRPr>
            </a:pPr>
            <a:r>
              <a:t>  • Schneller First Contentful Paint (FCP) und optimale Suchmaschinen-Indexierung (SEO)</a:t>
            </a:r>
          </a:p>
          <a:p>
            <a:pPr>
              <a:defRPr sz="2000">
                <a:latin typeface="Segoe UI"/>
              </a:defRPr>
            </a:pPr>
            <a:r>
              <a:t>Non-Destructive Hydration:</a:t>
            </a:r>
          </a:p>
          <a:p>
            <a:pPr>
              <a:defRPr sz="1700">
                <a:latin typeface="Segoe UI"/>
              </a:defRPr>
            </a:pPr>
            <a:r>
              <a:t>  • Client-Browser zerstört nicht den Server-DOM, sondern übernimmt ihn nahtlos</a:t>
            </a:r>
          </a:p>
          <a:p>
            <a:pPr>
              <a:defRPr sz="1700">
                <a:latin typeface="Segoe UI"/>
              </a:defRPr>
            </a:pPr>
            <a:r>
              <a:t>  • Kein sichtbares UI-Flackern beim Starten der Angular-Anwendung</a:t>
            </a:r>
          </a:p>
          <a:p>
            <a:pPr>
              <a:defRPr sz="2000">
                <a:latin typeface="Segoe UI"/>
              </a:defRPr>
            </a:pPr>
            <a:r>
              <a:t>Event Replay (Angular 18+):</a:t>
            </a:r>
          </a:p>
          <a:p>
            <a:pPr>
              <a:defRPr sz="1700">
                <a:latin typeface="Segoe UI"/>
              </a:defRPr>
            </a:pPr>
            <a:r>
              <a:t>  • Klicks und Eingaben vor Abschluss der Hydration werden zwischengespeichert</a:t>
            </a:r>
          </a:p>
          <a:p>
            <a:pPr>
              <a:defRPr sz="1700">
                <a:latin typeface="Segoe UI"/>
              </a:defRPr>
            </a:pPr>
            <a:r>
              <a:t>  • Nach Start der Anwendung werden die Aktionen automatisch abgespielt</a:t>
            </a:r>
          </a:p>
          <a:p>
            <a:pPr>
              <a:defRPr sz="2000">
                <a:latin typeface="Segoe UI"/>
              </a:defRPr>
            </a:pPr>
            <a:r>
              <a:t>Setup in main.config.ts: provideClientHydration(withEventReplay())</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A6CB-ADC2-4A49-F648-89AC3305282C}"/>
            </a:ext>
          </a:extLst>
        </p:cNvPr>
        <p:cNvGrpSpPr/>
        <p:nvPr/>
      </p:nvGrpSpPr>
      <p:grpSpPr>
        <a:xfrm>
          <a:off x="0" y="0"/>
          <a:ext cx="0" cy="0"/>
          <a:chOff x="0" y="0"/>
          <a:chExt cx="0" cy="0"/>
        </a:xfrm>
      </p:grpSpPr>
      <p:sp>
        <p:nvSpPr>
          <p:cNvPr id="468" name="Rectangle 19">
            <a:extLst>
              <a:ext uri="{FF2B5EF4-FFF2-40B4-BE49-F238E27FC236}">
                <a16:creationId xmlns:a16="http://schemas.microsoft.com/office/drawing/2014/main" id="{13B630D4-2025-7783-D478-2A9099B4B682}"/>
              </a:ex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a:extLst>
              <a:ext uri="{FF2B5EF4-FFF2-40B4-BE49-F238E27FC236}">
                <a16:creationId xmlns:a16="http://schemas.microsoft.com/office/drawing/2014/main" id="{A9102D2B-C67B-E6CE-0364-DC0244BFBFA2}"/>
              </a:ext>
            </a:extLst>
          </p:cNvPr>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 Module (NgModule)</a:t>
            </a:r>
            <a:endParaRPr lang="de-DE" sz="7200" b="0" u="none" strike="noStrike" dirty="0">
              <a:solidFill>
                <a:srgbClr val="000000"/>
              </a:solidFill>
              <a:uFillTx/>
              <a:latin typeface="Arial"/>
            </a:endParaRPr>
          </a:p>
        </p:txBody>
      </p:sp>
    </p:spTree>
    <p:extLst>
      <p:ext uri="{BB962C8B-B14F-4D97-AF65-F5344CB8AC3E}">
        <p14:creationId xmlns:p14="http://schemas.microsoft.com/office/powerpoint/2010/main" val="2710323235"/>
      </p:ext>
    </p:extLst>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051E-010F-E9DB-0449-9B0536446F32}"/>
            </a:ext>
          </a:extLst>
        </p:cNvPr>
        <p:cNvGrpSpPr/>
        <p:nvPr/>
      </p:nvGrpSpPr>
      <p:grpSpPr>
        <a:xfrm>
          <a:off x="0" y="0"/>
          <a:ext cx="0" cy="0"/>
          <a:chOff x="0" y="0"/>
          <a:chExt cx="0" cy="0"/>
        </a:xfrm>
      </p:grpSpPr>
      <p:sp useBgFill="1">
        <p:nvSpPr>
          <p:cNvPr id="470" name="Rectangle 7">
            <a:extLst>
              <a:ext uri="{FF2B5EF4-FFF2-40B4-BE49-F238E27FC236}">
                <a16:creationId xmlns:a16="http://schemas.microsoft.com/office/drawing/2014/main" id="{F91F6562-3088-FC7F-C63E-205BEB15E4DB}"/>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FF2B5EF4-FFF2-40B4-BE49-F238E27FC236}">
                <a16:creationId xmlns:a16="http://schemas.microsoft.com/office/drawing/2014/main" id="{241B5756-3121-9FC1-2C28-ECCCE526E98C}"/>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FF2B5EF4-FFF2-40B4-BE49-F238E27FC236}">
                <a16:creationId xmlns:a16="http://schemas.microsoft.com/office/drawing/2014/main" id="{03975521-EAFC-3E5D-AC4B-CA9FC19CA137}"/>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FF2B5EF4-FFF2-40B4-BE49-F238E27FC236}">
                <a16:creationId xmlns:a16="http://schemas.microsoft.com/office/drawing/2014/main" id="{A1743429-1850-41A8-4826-FFBB170F5D53}"/>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FF2B5EF4-FFF2-40B4-BE49-F238E27FC236}">
                <a16:creationId xmlns:a16="http://schemas.microsoft.com/office/drawing/2014/main" id="{4C1CB3D5-3E7B-E81A-35D7-7102D763E0CC}"/>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a:extLst>
              <a:ext uri="{FF2B5EF4-FFF2-40B4-BE49-F238E27FC236}">
                <a16:creationId xmlns:a16="http://schemas.microsoft.com/office/drawing/2014/main" id="{1765237A-BC4E-5B6F-40B2-BC8F88CDBB55}"/>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Was ist ein Modul</a:t>
            </a:r>
            <a:endParaRPr lang="de-DE" sz="4000" b="0" u="none" strike="noStrike">
              <a:solidFill>
                <a:srgbClr val="000000"/>
              </a:solidFill>
              <a:uFillTx/>
              <a:latin typeface="Arial"/>
            </a:endParaRPr>
          </a:p>
        </p:txBody>
      </p:sp>
      <p:sp>
        <p:nvSpPr>
          <p:cNvPr id="476" name="PlaceHolder 2">
            <a:extLst>
              <a:ext uri="{FF2B5EF4-FFF2-40B4-BE49-F238E27FC236}">
                <a16:creationId xmlns:a16="http://schemas.microsoft.com/office/drawing/2014/main" id="{0312532E-BD52-4B87-C70B-D5ADF2876EE7}"/>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Angular-spezifischer Code muss organisiert werden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Gleiche Grundgedanken und Aufbau wie bei ES6 Modulen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Kapselung &amp; Wiederverwendbarkeit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Leichtes Einbinden von Bibliotheken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Genaue Steuerung was wo verwendet wird</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Kompromiss zwischen</a:t>
            </a:r>
            <a:br>
              <a:rPr sz="2000"/>
            </a:br>
            <a:r>
              <a:rPr lang="de-DE" sz="2000" b="0" u="none" strike="noStrike">
                <a:solidFill>
                  <a:schemeClr val="dk1"/>
                </a:solidFill>
                <a:uFillTx/>
                <a:latin typeface="Calibri"/>
              </a:rPr>
              <a:t>"alles immer angeben müssen" (Angular &lt; 2.0.0-rc.5) und</a:t>
            </a:r>
            <a:br>
              <a:rPr sz="2000"/>
            </a:br>
            <a:r>
              <a:rPr lang="de-DE" sz="2000" b="0" u="none" strike="noStrike">
                <a:solidFill>
                  <a:schemeClr val="dk1"/>
                </a:solidFill>
                <a:uFillTx/>
                <a:latin typeface="Calibri"/>
              </a:rPr>
              <a:t>"einfach rein schmeißen" (AngularJS 1)</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spTree>
    <p:extLst>
      <p:ext uri="{BB962C8B-B14F-4D97-AF65-F5344CB8AC3E}">
        <p14:creationId xmlns:p14="http://schemas.microsoft.com/office/powerpoint/2010/main" val="61817222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E11D-6D3A-A835-CF5D-3258302B25D5}"/>
            </a:ext>
          </a:extLst>
        </p:cNvPr>
        <p:cNvGrpSpPr/>
        <p:nvPr/>
      </p:nvGrpSpPr>
      <p:grpSpPr>
        <a:xfrm>
          <a:off x="0" y="0"/>
          <a:ext cx="0" cy="0"/>
          <a:chOff x="0" y="0"/>
          <a:chExt cx="0" cy="0"/>
        </a:xfrm>
      </p:grpSpPr>
      <p:sp useBgFill="1">
        <p:nvSpPr>
          <p:cNvPr id="477" name="Rectangle 12">
            <a:extLst>
              <a:ext uri="{FF2B5EF4-FFF2-40B4-BE49-F238E27FC236}">
                <a16:creationId xmlns:a16="http://schemas.microsoft.com/office/drawing/2014/main" id="{CA02EA36-F573-3474-3515-297E2109840A}"/>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FF2B5EF4-FFF2-40B4-BE49-F238E27FC236}">
                <a16:creationId xmlns:a16="http://schemas.microsoft.com/office/drawing/2014/main" id="{41D634CC-729C-F010-D629-9B68541A0EB5}"/>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FF2B5EF4-FFF2-40B4-BE49-F238E27FC236}">
                <a16:creationId xmlns:a16="http://schemas.microsoft.com/office/drawing/2014/main" id="{885796EE-3AD5-5B40-7D58-B47685C3EE90}"/>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FF2B5EF4-FFF2-40B4-BE49-F238E27FC236}">
                <a16:creationId xmlns:a16="http://schemas.microsoft.com/office/drawing/2014/main" id="{DD787181-E3FF-E3BF-BE4B-08D4AA97F1F0}"/>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FF2B5EF4-FFF2-40B4-BE49-F238E27FC236}">
                <a16:creationId xmlns:a16="http://schemas.microsoft.com/office/drawing/2014/main" id="{3C14D31F-9768-4D45-3D90-F2ABECF73BD9}"/>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a:extLst>
              <a:ext uri="{FF2B5EF4-FFF2-40B4-BE49-F238E27FC236}">
                <a16:creationId xmlns:a16="http://schemas.microsoft.com/office/drawing/2014/main" id="{C990544B-859D-8D49-62BE-428EF029B49B}"/>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Moduls</a:t>
            </a:r>
            <a:endParaRPr lang="de-DE" sz="4000" b="0" u="none" strike="noStrike">
              <a:solidFill>
                <a:srgbClr val="000000"/>
              </a:solidFill>
              <a:uFillTx/>
              <a:latin typeface="Arial"/>
            </a:endParaRPr>
          </a:p>
        </p:txBody>
      </p:sp>
      <p:sp>
        <p:nvSpPr>
          <p:cNvPr id="483" name="PlaceHolder 2">
            <a:extLst>
              <a:ext uri="{FF2B5EF4-FFF2-40B4-BE49-F238E27FC236}">
                <a16:creationId xmlns:a16="http://schemas.microsoft.com/office/drawing/2014/main" id="{8EECC88E-50E0-B3D8-D00A-687D4B97D531}"/>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src/index.html</a:t>
            </a:r>
            <a:endParaRPr lang="de-DE" sz="1800" b="0" u="none" strike="noStrike">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1800" b="0" u="none" strike="noStrike">
                <a:solidFill>
                  <a:schemeClr val="dk1"/>
                </a:solidFill>
                <a:uFillTx/>
                <a:latin typeface="Calibri"/>
              </a:rPr>
              <a:t>Die Hauptseite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src/app/app.module.ts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Moduls</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dynamischen Anteils einer Komponente mit TypeScript</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src/app/app.component.html</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HTML-Templates einer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src/app/app.component.css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Stylesheet der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src/app/app.component.spec.ts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von Karma-Tests </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extLst>
      <p:ext uri="{BB962C8B-B14F-4D97-AF65-F5344CB8AC3E}">
        <p14:creationId xmlns:p14="http://schemas.microsoft.com/office/powerpoint/2010/main" val="3678440033"/>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8E9-CD00-EF03-9743-CA66C0D3E299}"/>
            </a:ext>
          </a:extLst>
        </p:cNvPr>
        <p:cNvGrpSpPr/>
        <p:nvPr/>
      </p:nvGrpSpPr>
      <p:grpSpPr>
        <a:xfrm>
          <a:off x="0" y="0"/>
          <a:ext cx="0" cy="0"/>
          <a:chOff x="0" y="0"/>
          <a:chExt cx="0" cy="0"/>
        </a:xfrm>
      </p:grpSpPr>
      <p:sp useBgFill="1">
        <p:nvSpPr>
          <p:cNvPr id="484" name="Rectangle 70">
            <a:extLst>
              <a:ext uri="{FF2B5EF4-FFF2-40B4-BE49-F238E27FC236}">
                <a16:creationId xmlns:a16="http://schemas.microsoft.com/office/drawing/2014/main" id="{3A15611D-39CE-1989-B00F-3F03613D2BA4}"/>
              </a:ex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a:extLst>
              <a:ext uri="{FF2B5EF4-FFF2-40B4-BE49-F238E27FC236}">
                <a16:creationId xmlns:a16="http://schemas.microsoft.com/office/drawing/2014/main" id="{221E38BF-3FA4-4789-5568-ABEC35BDD787}"/>
              </a:ext>
            </a:extLst>
          </p:cNvPr>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2500"/>
          </a:bodyPr>
          <a:lstStyle/>
          <a:p>
            <a:pPr indent="0" algn="ctr" defTabSz="914400">
              <a:lnSpc>
                <a:spcPct val="90000"/>
              </a:lnSpc>
              <a:buNone/>
              <a:tabLst>
                <a:tab pos="0" algn="l"/>
              </a:tabLst>
            </a:pPr>
            <a:r>
              <a:rPr lang="en-US" sz="5200" b="0" u="none" strike="noStrike">
                <a:solidFill>
                  <a:schemeClr val="dk1"/>
                </a:solidFill>
                <a:uFillTx/>
                <a:latin typeface="Calibri Light"/>
              </a:rPr>
              <a:t>Referenz auf Module in Index-Seite</a:t>
            </a:r>
            <a:endParaRPr lang="de-DE" sz="5200" b="0" u="none" strike="noStrike">
              <a:solidFill>
                <a:srgbClr val="000000"/>
              </a:solidFill>
              <a:uFillTx/>
              <a:latin typeface="Arial"/>
            </a:endParaRPr>
          </a:p>
        </p:txBody>
      </p:sp>
      <p:cxnSp>
        <p:nvCxnSpPr>
          <p:cNvPr id="486" name="Gerade Verbindung mit Pfeil 8">
            <a:extLst>
              <a:ext uri="{FF2B5EF4-FFF2-40B4-BE49-F238E27FC236}">
                <a16:creationId xmlns:a16="http://schemas.microsoft.com/office/drawing/2014/main" id="{7DAD50F8-73F2-54CC-57AE-2E0E7E528282}"/>
              </a:ext>
            </a:extLst>
          </p:cNvPr>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a:extLst>
              <a:ext uri="{FF2B5EF4-FFF2-40B4-BE49-F238E27FC236}">
                <a16:creationId xmlns:a16="http://schemas.microsoft.com/office/drawing/2014/main" id="{AD81CE0B-3356-3F17-1B6A-ABE774B96E54}"/>
              </a:ext>
            </a:extLst>
          </p:cNvPr>
          <p:cNvGrpSpPr/>
          <p:nvPr/>
        </p:nvGrpSpPr>
        <p:grpSpPr>
          <a:xfrm>
            <a:off x="2859120" y="1828800"/>
            <a:ext cx="6472800" cy="4350960"/>
            <a:chOff x="2859120" y="1828800"/>
            <a:chExt cx="6472800" cy="4350960"/>
          </a:xfrm>
        </p:grpSpPr>
        <p:pic>
          <p:nvPicPr>
            <p:cNvPr id="488" name="Picture 2">
              <a:extLst>
                <a:ext uri="{FF2B5EF4-FFF2-40B4-BE49-F238E27FC236}">
                  <a16:creationId xmlns:a16="http://schemas.microsoft.com/office/drawing/2014/main" id="{00B8EB95-DF7D-6A40-99E6-14C331E04E03}"/>
                </a:ext>
              </a:extLst>
            </p:cNvPr>
            <p:cNvPicPr/>
            <p:nvPr/>
          </p:nvPicPr>
          <p:blipFill>
            <a:blip r:embed="rId2"/>
            <a:stretch/>
          </p:blipFill>
          <p:spPr>
            <a:xfrm>
              <a:off x="2859120" y="1828800"/>
              <a:ext cx="6472800" cy="3276000"/>
            </a:xfrm>
            <a:prstGeom prst="rect">
              <a:avLst/>
            </a:prstGeom>
            <a:noFill/>
            <a:ln w="0">
              <a:noFill/>
            </a:ln>
          </p:spPr>
        </p:pic>
        <p:sp>
          <p:nvSpPr>
            <p:cNvPr id="489" name="Legende mit Linie 1 5">
              <a:extLst>
                <a:ext uri="{FF2B5EF4-FFF2-40B4-BE49-F238E27FC236}">
                  <a16:creationId xmlns:a16="http://schemas.microsoft.com/office/drawing/2014/main" id="{12216B13-3195-66A6-B677-48BAF9FB0B74}"/>
                </a:ext>
              </a:extLst>
            </p:cNvPr>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a:extLst>
              <a:ext uri="{FF2B5EF4-FFF2-40B4-BE49-F238E27FC236}">
                <a16:creationId xmlns:a16="http://schemas.microsoft.com/office/drawing/2014/main" id="{D9DA14EB-EFD9-8BDF-960A-7FA597149567}"/>
              </a:ext>
            </a:extLst>
          </p:cNvPr>
          <p:cNvCxnSpPr/>
          <p:nvPr/>
        </p:nvCxnSpPr>
        <p:spPr>
          <a:xfrm flipH="1" flipV="1">
            <a:off x="5348520" y="4458960"/>
            <a:ext cx="1529280" cy="64836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32171742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CBE91-2CD2-AD0C-A3E3-C3A02E7BD9B4}"/>
            </a:ext>
          </a:extLst>
        </p:cNvPr>
        <p:cNvGrpSpPr/>
        <p:nvPr/>
      </p:nvGrpSpPr>
      <p:grpSpPr>
        <a:xfrm>
          <a:off x="0" y="0"/>
          <a:ext cx="0" cy="0"/>
          <a:chOff x="0" y="0"/>
          <a:chExt cx="0" cy="0"/>
        </a:xfrm>
      </p:grpSpPr>
      <p:sp>
        <p:nvSpPr>
          <p:cNvPr id="491" name="PlaceHolder 1">
            <a:extLst>
              <a:ext uri="{FF2B5EF4-FFF2-40B4-BE49-F238E27FC236}">
                <a16:creationId xmlns:a16="http://schemas.microsoft.com/office/drawing/2014/main" id="{50FF4DB0-49F1-ACCA-4EC1-2393638953F1}"/>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a:extLst>
              <a:ext uri="{FF2B5EF4-FFF2-40B4-BE49-F238E27FC236}">
                <a16:creationId xmlns:a16="http://schemas.microsoft.com/office/drawing/2014/main" id="{DD610C24-2C61-13F8-D407-B610B5CE3AA1}"/>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31410243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EFFC9-8E4D-4D48-043C-369B6CADB540}"/>
            </a:ext>
          </a:extLst>
        </p:cNvPr>
        <p:cNvGrpSpPr/>
        <p:nvPr/>
      </p:nvGrpSpPr>
      <p:grpSpPr>
        <a:xfrm>
          <a:off x="0" y="0"/>
          <a:ext cx="0" cy="0"/>
          <a:chOff x="0" y="0"/>
          <a:chExt cx="0" cy="0"/>
        </a:xfrm>
      </p:grpSpPr>
      <p:sp>
        <p:nvSpPr>
          <p:cNvPr id="493" name="PlaceHolder 1">
            <a:extLst>
              <a:ext uri="{FF2B5EF4-FFF2-40B4-BE49-F238E27FC236}">
                <a16:creationId xmlns:a16="http://schemas.microsoft.com/office/drawing/2014/main" id="{814E1C06-44B7-05C0-3739-1DB1106058D7}"/>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a:extLst>
              <a:ext uri="{FF2B5EF4-FFF2-40B4-BE49-F238E27FC236}">
                <a16:creationId xmlns:a16="http://schemas.microsoft.com/office/drawing/2014/main" id="{11C5C325-94D8-42A8-B664-CCFBEFE1A972}"/>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441094309"/>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FB250-1AB1-AFC8-E8F2-6E37E225DC68}"/>
            </a:ext>
          </a:extLst>
        </p:cNvPr>
        <p:cNvGrpSpPr/>
        <p:nvPr/>
      </p:nvGrpSpPr>
      <p:grpSpPr>
        <a:xfrm>
          <a:off x="0" y="0"/>
          <a:ext cx="0" cy="0"/>
          <a:chOff x="0" y="0"/>
          <a:chExt cx="0" cy="0"/>
        </a:xfrm>
      </p:grpSpPr>
      <p:sp>
        <p:nvSpPr>
          <p:cNvPr id="495" name="PlaceHolder 1">
            <a:extLst>
              <a:ext uri="{FF2B5EF4-FFF2-40B4-BE49-F238E27FC236}">
                <a16:creationId xmlns:a16="http://schemas.microsoft.com/office/drawing/2014/main" id="{51B3BB4A-776F-95B1-9186-BEDEDD1DABF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Die Component</a:t>
            </a:r>
            <a:endParaRPr lang="de-DE" sz="4400" b="0" u="none" strike="noStrike">
              <a:solidFill>
                <a:srgbClr val="000000"/>
              </a:solidFill>
              <a:uFillTx/>
              <a:latin typeface="Arial"/>
            </a:endParaRPr>
          </a:p>
        </p:txBody>
      </p:sp>
      <p:sp>
        <p:nvSpPr>
          <p:cNvPr id="496" name="PlaceHolder 2">
            <a:extLst>
              <a:ext uri="{FF2B5EF4-FFF2-40B4-BE49-F238E27FC236}">
                <a16:creationId xmlns:a16="http://schemas.microsoft.com/office/drawing/2014/main" id="{8F4E3228-6FCE-10CB-017D-BEA1D0B3C05A}"/>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a:extLst>
              <a:ext uri="{FF2B5EF4-FFF2-40B4-BE49-F238E27FC236}">
                <a16:creationId xmlns:a16="http://schemas.microsoft.com/office/drawing/2014/main" id="{BBF103DB-4587-4352-9490-FFD36CDAFD68}"/>
              </a:ext>
            </a:extLst>
          </p:cNvPr>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a:extLst>
              <a:ext uri="{FF2B5EF4-FFF2-40B4-BE49-F238E27FC236}">
                <a16:creationId xmlns:a16="http://schemas.microsoft.com/office/drawing/2014/main" id="{C46B5330-FF00-BD4E-FC43-FFCF8C85D47F}"/>
              </a:ext>
            </a:extLst>
          </p:cNvPr>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a:extLst>
              <a:ext uri="{FF2B5EF4-FFF2-40B4-BE49-F238E27FC236}">
                <a16:creationId xmlns:a16="http://schemas.microsoft.com/office/drawing/2014/main" id="{0957CF1D-D60A-1D8D-3313-F500BF8E3BB8}"/>
              </a:ext>
            </a:extLst>
          </p:cNvPr>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a:extLst>
              <a:ext uri="{FF2B5EF4-FFF2-40B4-BE49-F238E27FC236}">
                <a16:creationId xmlns:a16="http://schemas.microsoft.com/office/drawing/2014/main" id="{8DCB0920-C8CA-D866-7E2C-7ACBD9F8ECE4}"/>
              </a:ext>
            </a:extLst>
          </p:cNvPr>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a:extLst>
              <a:ext uri="{FF2B5EF4-FFF2-40B4-BE49-F238E27FC236}">
                <a16:creationId xmlns:a16="http://schemas.microsoft.com/office/drawing/2014/main" id="{EE4D74B7-F17F-F70D-ABFC-0A6402D2B9D7}"/>
              </a:ext>
            </a:extLst>
          </p:cNvPr>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a:extLst>
              <a:ext uri="{FF2B5EF4-FFF2-40B4-BE49-F238E27FC236}">
                <a16:creationId xmlns:a16="http://schemas.microsoft.com/office/drawing/2014/main" id="{1438C3AE-31DC-A50E-95B9-5CCC667B8A2D}"/>
              </a:ext>
            </a:extLst>
          </p:cNvPr>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a:extLst>
              <a:ext uri="{FF2B5EF4-FFF2-40B4-BE49-F238E27FC236}">
                <a16:creationId xmlns:a16="http://schemas.microsoft.com/office/drawing/2014/main" id="{892DC9A3-73D9-81E5-E2F8-49DC1DAF4A23}"/>
              </a:ext>
            </a:extLst>
          </p:cNvPr>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a:extLst>
              <a:ext uri="{FF2B5EF4-FFF2-40B4-BE49-F238E27FC236}">
                <a16:creationId xmlns:a16="http://schemas.microsoft.com/office/drawing/2014/main" id="{88854060-AAF6-5FF0-DCAE-637763DDE067}"/>
              </a:ext>
            </a:extLst>
          </p:cNvPr>
          <p:cNvCxnSpPr/>
          <p:nvPr/>
        </p:nvCxnSpPr>
        <p:spPr>
          <a:xfrm flipH="1" flipV="1">
            <a:off x="3953880" y="4289760"/>
            <a:ext cx="4510800" cy="45900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77466293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6EA8-31A8-210F-48FE-6FF24A441CD6}"/>
            </a:ext>
          </a:extLst>
        </p:cNvPr>
        <p:cNvGrpSpPr/>
        <p:nvPr/>
      </p:nvGrpSpPr>
      <p:grpSpPr>
        <a:xfrm>
          <a:off x="0" y="0"/>
          <a:ext cx="0" cy="0"/>
          <a:chOff x="0" y="0"/>
          <a:chExt cx="0" cy="0"/>
        </a:xfrm>
      </p:grpSpPr>
      <p:sp>
        <p:nvSpPr>
          <p:cNvPr id="505" name="PlaceHolder 1">
            <a:extLst>
              <a:ext uri="{FF2B5EF4-FFF2-40B4-BE49-F238E27FC236}">
                <a16:creationId xmlns:a16="http://schemas.microsoft.com/office/drawing/2014/main" id="{2B5A7888-8ECB-1184-E5A2-CCEA2604B290}"/>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Das HTML-Template</a:t>
            </a:r>
            <a:endParaRPr lang="de-DE" sz="4400" b="0" u="none" strike="noStrike">
              <a:solidFill>
                <a:srgbClr val="000000"/>
              </a:solidFill>
              <a:uFillTx/>
              <a:latin typeface="Arial"/>
            </a:endParaRPr>
          </a:p>
        </p:txBody>
      </p:sp>
      <p:grpSp>
        <p:nvGrpSpPr>
          <p:cNvPr id="506" name="Gruppieren 5">
            <a:extLst>
              <a:ext uri="{FF2B5EF4-FFF2-40B4-BE49-F238E27FC236}">
                <a16:creationId xmlns:a16="http://schemas.microsoft.com/office/drawing/2014/main" id="{3BB0FAD5-8BC9-601C-3416-73D5B1952007}"/>
              </a:ext>
            </a:extLst>
          </p:cNvPr>
          <p:cNvGrpSpPr/>
          <p:nvPr/>
        </p:nvGrpSpPr>
        <p:grpSpPr>
          <a:xfrm>
            <a:off x="838080" y="1384200"/>
            <a:ext cx="9035280" cy="5265720"/>
            <a:chOff x="838080" y="1384200"/>
            <a:chExt cx="9035280" cy="5265720"/>
          </a:xfrm>
        </p:grpSpPr>
        <p:pic>
          <p:nvPicPr>
            <p:cNvPr id="507" name="Picture 2">
              <a:extLst>
                <a:ext uri="{FF2B5EF4-FFF2-40B4-BE49-F238E27FC236}">
                  <a16:creationId xmlns:a16="http://schemas.microsoft.com/office/drawing/2014/main" id="{7EDBA99B-479D-0969-996C-69259FBFEE24}"/>
                </a:ext>
              </a:extLst>
            </p:cNvPr>
            <p:cNvPicPr/>
            <p:nvPr/>
          </p:nvPicPr>
          <p:blipFill>
            <a:blip r:embed="rId2"/>
            <a:srcRect r="31407"/>
            <a:stretch/>
          </p:blipFill>
          <p:spPr>
            <a:xfrm>
              <a:off x="838080" y="1384200"/>
              <a:ext cx="7164360" cy="5265720"/>
            </a:xfrm>
            <a:prstGeom prst="rect">
              <a:avLst/>
            </a:prstGeom>
            <a:noFill/>
            <a:ln w="0">
              <a:noFill/>
            </a:ln>
          </p:spPr>
        </p:pic>
        <p:sp>
          <p:nvSpPr>
            <p:cNvPr id="508" name="Legende mit Linie 1 6">
              <a:extLst>
                <a:ext uri="{FF2B5EF4-FFF2-40B4-BE49-F238E27FC236}">
                  <a16:creationId xmlns:a16="http://schemas.microsoft.com/office/drawing/2014/main" id="{15BFF4EA-E848-D678-DDB5-08C7BCBCFAC7}"/>
                </a:ext>
              </a:extLst>
            </p:cNvPr>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a:extLst>
              <a:ext uri="{FF2B5EF4-FFF2-40B4-BE49-F238E27FC236}">
                <a16:creationId xmlns:a16="http://schemas.microsoft.com/office/drawing/2014/main" id="{43594C18-706B-DDEC-84C2-914897851735}"/>
              </a:ext>
            </a:extLst>
          </p:cNvPr>
          <p:cNvCxnSpPr/>
          <p:nvPr/>
        </p:nvCxnSpPr>
        <p:spPr>
          <a:xfrm flipH="1">
            <a:off x="5198040" y="2541240"/>
            <a:ext cx="2121480" cy="154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11475215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BDE5-E5CE-B692-5C3E-66A745CABF45}"/>
            </a:ext>
          </a:extLst>
        </p:cNvPr>
        <p:cNvGrpSpPr/>
        <p:nvPr/>
      </p:nvGrpSpPr>
      <p:grpSpPr>
        <a:xfrm>
          <a:off x="0" y="0"/>
          <a:ext cx="0" cy="0"/>
          <a:chOff x="0" y="0"/>
          <a:chExt cx="0" cy="0"/>
        </a:xfrm>
      </p:grpSpPr>
      <p:sp>
        <p:nvSpPr>
          <p:cNvPr id="510" name="PlaceHolder 1">
            <a:extLst>
              <a:ext uri="{FF2B5EF4-FFF2-40B4-BE49-F238E27FC236}">
                <a16:creationId xmlns:a16="http://schemas.microsoft.com/office/drawing/2014/main" id="{E3A56073-D1E2-D5F9-54C7-4CE9BEA4DB2B}"/>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11" name="Gruppieren 5">
            <a:extLst>
              <a:ext uri="{FF2B5EF4-FFF2-40B4-BE49-F238E27FC236}">
                <a16:creationId xmlns:a16="http://schemas.microsoft.com/office/drawing/2014/main" id="{86CF11C3-6633-C0F8-4AF3-5BCA98155151}"/>
              </a:ext>
            </a:extLst>
          </p:cNvPr>
          <p:cNvGrpSpPr/>
          <p:nvPr/>
        </p:nvGrpSpPr>
        <p:grpSpPr>
          <a:xfrm>
            <a:off x="1376280" y="1369800"/>
            <a:ext cx="8819640" cy="5312160"/>
            <a:chOff x="1376280" y="1369800"/>
            <a:chExt cx="8819640" cy="5312160"/>
          </a:xfrm>
        </p:grpSpPr>
        <p:pic>
          <p:nvPicPr>
            <p:cNvPr id="512" name="Picture 2">
              <a:extLst>
                <a:ext uri="{FF2B5EF4-FFF2-40B4-BE49-F238E27FC236}">
                  <a16:creationId xmlns:a16="http://schemas.microsoft.com/office/drawing/2014/main" id="{F022C183-6AF4-D305-EAD2-A258177D216F}"/>
                </a:ext>
              </a:extLst>
            </p:cNvPr>
            <p:cNvPicPr/>
            <p:nvPr/>
          </p:nvPicPr>
          <p:blipFill>
            <a:blip r:embed="rId2"/>
            <a:stretch/>
          </p:blipFill>
          <p:spPr>
            <a:xfrm>
              <a:off x="1376280" y="1369800"/>
              <a:ext cx="6418440" cy="4789800"/>
            </a:xfrm>
            <a:prstGeom prst="rect">
              <a:avLst/>
            </a:prstGeom>
            <a:noFill/>
            <a:ln w="0">
              <a:noFill/>
            </a:ln>
          </p:spPr>
        </p:pic>
        <p:sp>
          <p:nvSpPr>
            <p:cNvPr id="513" name="Legende mit Linie 1 6">
              <a:extLst>
                <a:ext uri="{FF2B5EF4-FFF2-40B4-BE49-F238E27FC236}">
                  <a16:creationId xmlns:a16="http://schemas.microsoft.com/office/drawing/2014/main" id="{8C978B35-36B2-46C3-75E1-8147D55A5764}"/>
                </a:ext>
              </a:extLst>
            </p:cNvPr>
            <p:cNvSpPr/>
            <p:nvPr/>
          </p:nvSpPr>
          <p:spPr>
            <a:xfrm>
              <a:off x="7641000" y="1823040"/>
              <a:ext cx="2554920" cy="1006560"/>
            </a:xfrm>
            <a:prstGeom prst="borderCallout1">
              <a:avLst>
                <a:gd name="adj1" fmla="val 18750"/>
                <a:gd name="adj2" fmla="val -8333"/>
                <a:gd name="adj3" fmla="val 14544"/>
                <a:gd name="adj4" fmla="val -3455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von Angular-Core und dem Browser-Support</a:t>
              </a:r>
              <a:endParaRPr lang="de-DE" sz="1800" b="0" u="none" strike="noStrike">
                <a:solidFill>
                  <a:srgbClr val="000000"/>
                </a:solidFill>
                <a:uFillTx/>
                <a:latin typeface="Arial"/>
              </a:endParaRPr>
            </a:p>
          </p:txBody>
        </p:sp>
        <p:sp>
          <p:nvSpPr>
            <p:cNvPr id="514" name="Legende mit Linie 1 7">
              <a:extLst>
                <a:ext uri="{FF2B5EF4-FFF2-40B4-BE49-F238E27FC236}">
                  <a16:creationId xmlns:a16="http://schemas.microsoft.com/office/drawing/2014/main" id="{A645C0AB-48ED-3E1D-A7F2-59A72FA7DA66}"/>
                </a:ext>
              </a:extLst>
            </p:cNvPr>
            <p:cNvSpPr/>
            <p:nvPr/>
          </p:nvSpPr>
          <p:spPr>
            <a:xfrm>
              <a:off x="7641000" y="2975040"/>
              <a:ext cx="2554920" cy="1006560"/>
            </a:xfrm>
            <a:prstGeom prst="borderCallout1">
              <a:avLst>
                <a:gd name="adj1" fmla="val 18750"/>
                <a:gd name="adj2" fmla="val -8333"/>
                <a:gd name="adj3" fmla="val -14237"/>
                <a:gd name="adj4" fmla="val -42805"/>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der eigenen Komponente</a:t>
              </a:r>
              <a:endParaRPr lang="de-DE" sz="1800" b="0" u="none" strike="noStrike">
                <a:solidFill>
                  <a:srgbClr val="000000"/>
                </a:solidFill>
                <a:uFillTx/>
                <a:latin typeface="Arial"/>
              </a:endParaRPr>
            </a:p>
          </p:txBody>
        </p:sp>
        <p:sp>
          <p:nvSpPr>
            <p:cNvPr id="515" name="Legende mit Linie 1 8">
              <a:extLst>
                <a:ext uri="{FF2B5EF4-FFF2-40B4-BE49-F238E27FC236}">
                  <a16:creationId xmlns:a16="http://schemas.microsoft.com/office/drawing/2014/main" id="{2D8DAC1A-E3C2-4717-1D64-C7A534A94247}"/>
                </a:ext>
              </a:extLst>
            </p:cNvPr>
            <p:cNvSpPr/>
            <p:nvPr/>
          </p:nvSpPr>
          <p:spPr>
            <a:xfrm>
              <a:off x="7641000" y="56754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Durch den Export wird das Modul aktiviert</a:t>
              </a:r>
              <a:endParaRPr lang="de-DE" sz="1800" b="0" u="none" strike="noStrike">
                <a:solidFill>
                  <a:srgbClr val="000000"/>
                </a:solidFill>
                <a:uFillTx/>
                <a:latin typeface="Arial"/>
              </a:endParaRPr>
            </a:p>
          </p:txBody>
        </p:sp>
        <p:sp>
          <p:nvSpPr>
            <p:cNvPr id="516" name="Legende mit Linie 1 9">
              <a:extLst>
                <a:ext uri="{FF2B5EF4-FFF2-40B4-BE49-F238E27FC236}">
                  <a16:creationId xmlns:a16="http://schemas.microsoft.com/office/drawing/2014/main" id="{BB436715-9C5B-3849-68FD-C49CDA073B7D}"/>
                </a:ext>
              </a:extLst>
            </p:cNvPr>
            <p:cNvSpPr/>
            <p:nvPr/>
          </p:nvSpPr>
          <p:spPr>
            <a:xfrm>
              <a:off x="7641000" y="4271400"/>
              <a:ext cx="2554920" cy="1006560"/>
            </a:xfrm>
            <a:prstGeom prst="borderCallout1">
              <a:avLst>
                <a:gd name="adj1" fmla="val 18750"/>
                <a:gd name="adj2" fmla="val -8333"/>
                <a:gd name="adj3" fmla="val 50303"/>
                <a:gd name="adj4" fmla="val -12019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aller Eigenschaften des Moduls</a:t>
              </a:r>
              <a:endParaRPr lang="de-DE" sz="1800" b="0" u="none" strike="noStrike">
                <a:solidFill>
                  <a:srgbClr val="000000"/>
                </a:solidFill>
                <a:uFillTx/>
                <a:latin typeface="Arial"/>
              </a:endParaRPr>
            </a:p>
          </p:txBody>
        </p:sp>
      </p:grpSp>
      <p:cxnSp>
        <p:nvCxnSpPr>
          <p:cNvPr id="517" name="Gerade Verbindung mit Pfeil 11">
            <a:extLst>
              <a:ext uri="{FF2B5EF4-FFF2-40B4-BE49-F238E27FC236}">
                <a16:creationId xmlns:a16="http://schemas.microsoft.com/office/drawing/2014/main" id="{FB482755-09A7-8BF3-4D24-657E4913E6F6}"/>
              </a:ext>
            </a:extLst>
          </p:cNvPr>
          <p:cNvCxnSpPr/>
          <p:nvPr/>
        </p:nvCxnSpPr>
        <p:spPr>
          <a:xfrm flipH="1" flipV="1">
            <a:off x="5861880" y="2975040"/>
            <a:ext cx="1479600" cy="455400"/>
          </a:xfrm>
          <a:prstGeom prst="straightConnector1">
            <a:avLst/>
          </a:prstGeom>
          <a:ln w="0">
            <a:solidFill>
              <a:srgbClr val="1D9A78"/>
            </a:solidFill>
            <a:tailEnd type="triangle" w="med" len="med"/>
          </a:ln>
        </p:spPr>
      </p:cxnSp>
      <p:cxnSp>
        <p:nvCxnSpPr>
          <p:cNvPr id="518" name="Gerade Verbindung mit Pfeil 17">
            <a:extLst>
              <a:ext uri="{FF2B5EF4-FFF2-40B4-BE49-F238E27FC236}">
                <a16:creationId xmlns:a16="http://schemas.microsoft.com/office/drawing/2014/main" id="{D3F94CA2-905C-58A7-4252-4828D594BE0A}"/>
              </a:ext>
            </a:extLst>
          </p:cNvPr>
          <p:cNvCxnSpPr/>
          <p:nvPr/>
        </p:nvCxnSpPr>
        <p:spPr>
          <a:xfrm flipH="1" flipV="1">
            <a:off x="3769560" y="3983040"/>
            <a:ext cx="3398760" cy="678600"/>
          </a:xfrm>
          <a:prstGeom prst="straightConnector1">
            <a:avLst/>
          </a:prstGeom>
          <a:ln w="0">
            <a:solidFill>
              <a:srgbClr val="1D9A78"/>
            </a:solidFill>
            <a:tailEnd type="triangle" w="med" len="med"/>
          </a:ln>
        </p:spPr>
      </p:cxnSp>
      <p:cxnSp>
        <p:nvCxnSpPr>
          <p:cNvPr id="519" name="Gerade Verbindung mit Pfeil 19">
            <a:extLst>
              <a:ext uri="{FF2B5EF4-FFF2-40B4-BE49-F238E27FC236}">
                <a16:creationId xmlns:a16="http://schemas.microsoft.com/office/drawing/2014/main" id="{87A64F01-A3DD-D561-B0E6-800628C5753B}"/>
              </a:ext>
            </a:extLst>
          </p:cNvPr>
          <p:cNvCxnSpPr/>
          <p:nvPr/>
        </p:nvCxnSpPr>
        <p:spPr>
          <a:xfrm flipH="1">
            <a:off x="2275560" y="6021000"/>
            <a:ext cx="5366520" cy="144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41974026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DCD0-93A6-1375-0407-8CD156CA3973}"/>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53F256-08FA-2930-C951-45D0185C1828}"/>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Ablauf bis hier her</a:t>
            </a:r>
            <a:endParaRPr lang="de-DE" sz="4400" b="0" u="none" strike="noStrike">
              <a:solidFill>
                <a:srgbClr val="000000"/>
              </a:solidFill>
              <a:uFillTx/>
              <a:latin typeface="Arial"/>
            </a:endParaRPr>
          </a:p>
        </p:txBody>
      </p:sp>
      <p:sp>
        <p:nvSpPr>
          <p:cNvPr id="521" name="PlaceHolder 2">
            <a:extLst>
              <a:ext uri="{FF2B5EF4-FFF2-40B4-BE49-F238E27FC236}">
                <a16:creationId xmlns:a16="http://schemas.microsoft.com/office/drawing/2014/main" id="{C59A1369-6CA1-4EA9-6EA3-D6BCF6B53E06}"/>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bis hier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enthält 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Woher weiß Angular welche Komponente für das Bootstrapping verwendet werden soll?</a:t>
            </a: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156272210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69CA-71FC-5DBD-04F1-55B9142A0463}"/>
            </a:ext>
          </a:extLst>
        </p:cNvPr>
        <p:cNvGrpSpPr/>
        <p:nvPr/>
      </p:nvGrpSpPr>
      <p:grpSpPr>
        <a:xfrm>
          <a:off x="0" y="0"/>
          <a:ext cx="0" cy="0"/>
          <a:chOff x="0" y="0"/>
          <a:chExt cx="0" cy="0"/>
        </a:xfrm>
      </p:grpSpPr>
      <p:sp>
        <p:nvSpPr>
          <p:cNvPr id="522" name="PlaceHolder 1">
            <a:extLst>
              <a:ext uri="{FF2B5EF4-FFF2-40B4-BE49-F238E27FC236}">
                <a16:creationId xmlns:a16="http://schemas.microsoft.com/office/drawing/2014/main" id="{7CBD5ECB-0870-2F6E-4D33-B3CFD9D90096}"/>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23" name="Gruppieren 5">
            <a:extLst>
              <a:ext uri="{FF2B5EF4-FFF2-40B4-BE49-F238E27FC236}">
                <a16:creationId xmlns:a16="http://schemas.microsoft.com/office/drawing/2014/main" id="{B2F151CD-B472-B4C0-22E1-AB583632DBDD}"/>
              </a:ext>
            </a:extLst>
          </p:cNvPr>
          <p:cNvGrpSpPr/>
          <p:nvPr/>
        </p:nvGrpSpPr>
        <p:grpSpPr>
          <a:xfrm>
            <a:off x="1451520" y="1326240"/>
            <a:ext cx="8819640" cy="5312520"/>
            <a:chOff x="1451520" y="1326240"/>
            <a:chExt cx="8819640" cy="5312520"/>
          </a:xfrm>
        </p:grpSpPr>
        <p:pic>
          <p:nvPicPr>
            <p:cNvPr id="524" name="Picture 2">
              <a:extLst>
                <a:ext uri="{FF2B5EF4-FFF2-40B4-BE49-F238E27FC236}">
                  <a16:creationId xmlns:a16="http://schemas.microsoft.com/office/drawing/2014/main" id="{B1A8C3C9-A133-B5A9-18B3-CDE8A8665E5E}"/>
                </a:ext>
              </a:extLst>
            </p:cNvPr>
            <p:cNvPicPr/>
            <p:nvPr/>
          </p:nvPicPr>
          <p:blipFill>
            <a:blip r:embed="rId2"/>
            <a:stretch/>
          </p:blipFill>
          <p:spPr>
            <a:xfrm>
              <a:off x="1451520" y="1326240"/>
              <a:ext cx="6418440" cy="4789800"/>
            </a:xfrm>
            <a:prstGeom prst="rect">
              <a:avLst/>
            </a:prstGeom>
            <a:noFill/>
            <a:ln w="0">
              <a:noFill/>
            </a:ln>
          </p:spPr>
        </p:pic>
        <p:sp>
          <p:nvSpPr>
            <p:cNvPr id="525" name="Legende mit Linie 1 8">
              <a:extLst>
                <a:ext uri="{FF2B5EF4-FFF2-40B4-BE49-F238E27FC236}">
                  <a16:creationId xmlns:a16="http://schemas.microsoft.com/office/drawing/2014/main" id="{028A4743-5803-0460-24B3-1C101CA926BB}"/>
                </a:ext>
              </a:extLst>
            </p:cNvPr>
            <p:cNvSpPr/>
            <p:nvPr/>
          </p:nvSpPr>
          <p:spPr>
            <a:xfrm>
              <a:off x="7716240" y="56322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„Main“ Component</a:t>
              </a:r>
              <a:endParaRPr lang="de-DE" sz="1800" b="0" u="none" strike="noStrike">
                <a:solidFill>
                  <a:srgbClr val="000000"/>
                </a:solidFill>
                <a:uFillTx/>
                <a:latin typeface="Arial"/>
              </a:endParaRPr>
            </a:p>
          </p:txBody>
        </p:sp>
      </p:grpSp>
      <p:cxnSp>
        <p:nvCxnSpPr>
          <p:cNvPr id="526" name="Gerade Verbindung mit Pfeil 19">
            <a:extLst>
              <a:ext uri="{FF2B5EF4-FFF2-40B4-BE49-F238E27FC236}">
                <a16:creationId xmlns:a16="http://schemas.microsoft.com/office/drawing/2014/main" id="{78773D40-83F1-FE4D-9D1A-0BDCEE4C00B6}"/>
              </a:ext>
            </a:extLst>
          </p:cNvPr>
          <p:cNvCxnSpPr/>
          <p:nvPr/>
        </p:nvCxnSpPr>
        <p:spPr>
          <a:xfrm flipH="1" flipV="1">
            <a:off x="4559400" y="5423760"/>
            <a:ext cx="3082680" cy="5986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8989783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9CAD6-B838-7DF4-4B64-C471F7A377E1}"/>
            </a:ext>
          </a:extLst>
        </p:cNvPr>
        <p:cNvGrpSpPr/>
        <p:nvPr/>
      </p:nvGrpSpPr>
      <p:grpSpPr>
        <a:xfrm>
          <a:off x="0" y="0"/>
          <a:ext cx="0" cy="0"/>
          <a:chOff x="0" y="0"/>
          <a:chExt cx="0" cy="0"/>
        </a:xfrm>
      </p:grpSpPr>
      <p:sp>
        <p:nvSpPr>
          <p:cNvPr id="527" name="Rectangle 7">
            <a:extLst>
              <a:ext uri="{FF2B5EF4-FFF2-40B4-BE49-F238E27FC236}">
                <a16:creationId xmlns:a16="http://schemas.microsoft.com/office/drawing/2014/main" id="{78361653-AEE0-3EBD-63CC-A2CFF3C8A0D8}"/>
              </a:ex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a:extLst>
              <a:ext uri="{FF2B5EF4-FFF2-40B4-BE49-F238E27FC236}">
                <a16:creationId xmlns:a16="http://schemas.microsoft.com/office/drawing/2014/main" id="{6519FC65-E49A-9298-AC24-9D788A076E39}"/>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a:extLst>
              <a:ext uri="{FF2B5EF4-FFF2-40B4-BE49-F238E27FC236}">
                <a16:creationId xmlns:a16="http://schemas.microsoft.com/office/drawing/2014/main" id="{CC95F139-51D4-B0FD-9B68-8F5FE4C51AC3}"/>
              </a:ext>
            </a:extLst>
          </p:cNvPr>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insgesamt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hat Feld bootstrap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Feld bootstrap hält Referenz auf Komponenten Klasse (AppComponent)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Komponenten-Klasse hat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Komponenten-Decorator hat Feld selector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Selector wird in DOM aus index.html gesucht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 wird instanziiert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600" b="0" u="none" strike="noStrike">
              <a:solidFill>
                <a:srgbClr val="000000"/>
              </a:solidFill>
              <a:uFillTx/>
              <a:latin typeface="Arial"/>
            </a:endParaRPr>
          </a:p>
        </p:txBody>
      </p:sp>
    </p:spTree>
    <p:extLst>
      <p:ext uri="{BB962C8B-B14F-4D97-AF65-F5344CB8AC3E}">
        <p14:creationId xmlns:p14="http://schemas.microsoft.com/office/powerpoint/2010/main" val="189923843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2147-24E1-5084-C55C-734754B6F93E}"/>
            </a:ext>
          </a:extLst>
        </p:cNvPr>
        <p:cNvGrpSpPr/>
        <p:nvPr/>
      </p:nvGrpSpPr>
      <p:grpSpPr>
        <a:xfrm>
          <a:off x="0" y="0"/>
          <a:ext cx="0" cy="0"/>
          <a:chOff x="0" y="0"/>
          <a:chExt cx="0" cy="0"/>
        </a:xfrm>
      </p:grpSpPr>
      <p:sp>
        <p:nvSpPr>
          <p:cNvPr id="600" name="PlaceHolder 1">
            <a:extLst>
              <a:ext uri="{FF2B5EF4-FFF2-40B4-BE49-F238E27FC236}">
                <a16:creationId xmlns:a16="http://schemas.microsoft.com/office/drawing/2014/main" id="{FA14A6CD-5E4E-6F50-2EC3-C50CB9FE5D7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Deklaration, Imports und Exports</a:t>
            </a:r>
            <a:endParaRPr lang="de-DE" sz="4400" b="0" u="none" strike="noStrike" dirty="0">
              <a:solidFill>
                <a:srgbClr val="000000"/>
              </a:solidFill>
              <a:uFillTx/>
              <a:latin typeface="Arial"/>
            </a:endParaRPr>
          </a:p>
        </p:txBody>
      </p:sp>
      <p:sp>
        <p:nvSpPr>
          <p:cNvPr id="601" name="PlaceHolder 2">
            <a:extLst>
              <a:ext uri="{FF2B5EF4-FFF2-40B4-BE49-F238E27FC236}">
                <a16:creationId xmlns:a16="http://schemas.microsoft.com/office/drawing/2014/main" id="{4246F74B-B3E6-BB26-1369-168F7990D685}"/>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ReleaseCardComponent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BrowserModule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508939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generieren</a:t>
            </a:r>
            <a:endParaRPr lang="de-DE" sz="4400" b="0" u="none" strike="noStrike">
              <a:solidFill>
                <a:srgbClr val="000000"/>
              </a:solidFill>
              <a:uFillTx/>
              <a:latin typeface="Arial"/>
            </a:endParaRPr>
          </a:p>
        </p:txBody>
      </p:sp>
      <p:sp>
        <p:nvSpPr>
          <p:cNvPr id="60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Angular CLI legt neue Module an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Module-Klasse + Annotation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generate module </a:t>
            </a:r>
            <a:r>
              <a:rPr lang="de-DE" sz="2800" b="0" i="1" u="none" strike="noStrike">
                <a:solidFill>
                  <a:schemeClr val="dk1"/>
                </a:solidFill>
                <a:uFillTx/>
                <a:latin typeface="Calibri"/>
              </a:rPr>
              <a:t>name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a:t>
            </a:r>
            <a:r>
              <a:rPr lang="de-DE" sz="2800" b="0" i="1" u="none" strike="noStrike">
                <a:solidFill>
                  <a:schemeClr val="dk1"/>
                </a:solidFill>
                <a:uFillTx/>
                <a:latin typeface="Calibri"/>
              </a:rPr>
              <a:t>NICHT</a:t>
            </a:r>
            <a:r>
              <a:rPr lang="de-DE" sz="2800" b="0" u="none" strike="noStrike">
                <a:solidFill>
                  <a:schemeClr val="dk1"/>
                </a:solidFill>
                <a:uFillTx/>
                <a:latin typeface="Calibri"/>
              </a:rPr>
              <a:t> automatisch am nächsthöherer gelegenen Modul registriert </a:t>
            </a:r>
            <a:r>
              <a:rPr lang="de-DE" sz="2800" b="0" u="none" strike="noStrike">
                <a:solidFill>
                  <a:schemeClr val="dk1"/>
                </a:solidFill>
                <a:uFillTx/>
                <a:latin typeface="Wingdings"/>
              </a:rPr>
              <a:t></a:t>
            </a:r>
            <a:r>
              <a:rPr lang="de-DE" sz="2800" b="0" u="none" strike="noStrike">
                <a:solidFill>
                  <a:schemeClr val="dk1"/>
                </a:solidFill>
                <a:uFillTx/>
                <a:latin typeface="Calibri"/>
              </a:rPr>
              <a:t> selbst machen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3965960293"/>
      </p:ext>
    </p:extLst>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Muss konfiguriert werden: </a:t>
            </a:r>
            <a:r>
              <a:rPr lang="de-DE" sz="2400" b="0" i="1" u="none" strike="noStrike">
                <a:solidFill>
                  <a:srgbClr val="333333"/>
                </a:solidFill>
                <a:uFillTx/>
                <a:latin typeface="Aller"/>
              </a:rPr>
              <a:t>Providers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an Modulen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@NgModule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providers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 array of providers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TrackModule</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tabLst>
                <a:tab pos="0" algn="l"/>
              </a:tabLst>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soll es erzeugt werden soll -&gt;</a:t>
            </a:r>
            <a:br>
              <a:rPr sz="2400"/>
            </a:br>
            <a:r>
              <a:rPr lang="de-DE" sz="2400" b="0" u="none" strike="noStrike">
                <a:solidFill>
                  <a:srgbClr val="333333"/>
                </a:solidFill>
                <a:uFillTx/>
                <a:latin typeface="Aller"/>
              </a:rPr>
              <a:t>useClass, useValue, useFactory oder useExisting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providers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useClass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same as shortcut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useExisting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different token, same instance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TrackModule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Deklaration an Modulen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verwendet um Provider für Router Service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wird von RouterModule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RouterModule muss in AppModule importiert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forRoot darf nur einmal im AppModule verwendet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forChild nur bei Lazy-Loading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625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const appRoutes: Routes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'path1', component: Component1},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  redirectTo: '/index', pathMatch: 'full'},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component: PageNotFoundComponent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@NgModule({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imports: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RouterModule.forRoot(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appRoutes,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enableTracing: true } // &lt;-- debugging purposes only</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AppModule { }</a:t>
            </a:r>
            <a:endParaRPr lang="de-DE" sz="2800" b="0" u="none" strike="noStrike">
              <a:solidFill>
                <a:srgbClr val="000000"/>
              </a:solidFill>
              <a:uFillTx/>
              <a:latin typeface="Arial"/>
            </a:endParaRP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a:t>
            </a:r>
            <a:r>
              <a:rPr lang="de-DE" sz="2400" b="1" u="none" strike="noStrike">
                <a:solidFill>
                  <a:srgbClr val="333333"/>
                </a:solidFill>
                <a:uFillTx/>
                <a:latin typeface="Aller"/>
              </a:rPr>
              <a:t>(default)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a:t>
            </a:r>
            <a:r>
              <a:rPr lang="de-DE" sz="2400" b="0" i="1" u="none" strike="noStrike">
                <a:solidFill>
                  <a:srgbClr val="333333"/>
                </a:solidFill>
                <a:uFillTx/>
                <a:latin typeface="Aller"/>
              </a:rPr>
              <a:t>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a:t>
            </a:r>
            <a:r>
              <a:rPr lang="de-DE" sz="2800" b="1" u="none" strike="noStrike">
                <a:solidFill>
                  <a:srgbClr val="333333"/>
                </a:solidFill>
                <a:uFillTx/>
                <a:latin typeface="Aller"/>
              </a:rPr>
              <a:t>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routes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'./app/app.routes'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RouterModule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forRoot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useHash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true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br>
              <a:rPr sz="2800"/>
            </a:br>
            <a:endParaRPr lang="de-DE" sz="2800" b="0" u="none" strike="noStrike">
              <a:solidFill>
                <a:srgbClr val="000000"/>
              </a:solidFill>
              <a:uFillTx/>
              <a:latin typeface="Arial"/>
            </a:endParaRP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ActivatedRoute und params.subscribe</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ActivatedRoute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ArtistDetailsComponent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implements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OnInit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OnDestroy</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Subscription</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constructor</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ActivatedRoute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ngOnInit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route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r>
              <a:rPr lang="de-DE" sz="2400" b="0" u="none" strike="noStrike">
                <a:solidFill>
                  <a:srgbClr val="48484C"/>
                </a:solidFill>
                <a:uFillTx/>
                <a:latin typeface="SourceCodePro"/>
              </a:rPr>
              <a:t>subscribe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console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log</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ngOnDestroy</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unsubscribe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1057" name="Gerade Verbindung mit Pfeil 4"/>
          <p:cNvCxnSpPr/>
          <p:nvPr/>
        </p:nvCxnSpPr>
        <p:spPr>
          <a:xfrm flipH="1">
            <a:off x="6990840" y="3429000"/>
            <a:ext cx="580320" cy="889560"/>
          </a:xfrm>
          <a:prstGeom prst="straightConnector1">
            <a:avLst/>
          </a:prstGeom>
          <a:ln w="0">
            <a:solidFill>
              <a:srgbClr val="1D9A78"/>
            </a:solidFill>
            <a:tailEnd type="triangle" w="med" len="med"/>
          </a:ln>
        </p:spPr>
      </p:cxnSp>
      <p:sp>
        <p:nvSpPr>
          <p:cNvPr id="1058" name="Textfeld 7"/>
          <p:cNvSpPr/>
          <p:nvPr/>
        </p:nvSpPr>
        <p:spPr>
          <a:xfrm>
            <a:off x="7424280" y="3244320"/>
            <a:ext cx="2574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Zugriff auf Pfadparameter</a:t>
            </a:r>
            <a:endParaRPr lang="de-DE" sz="1800" b="0" u="none" strike="noStrike">
              <a:solidFill>
                <a:srgbClr val="000000"/>
              </a:solidFill>
              <a:uFillTx/>
              <a:latin typeface="Arial"/>
            </a:endParaRP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HttpClient ist ein Service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und steht damit via Dependency Injection zur Verfügung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HttpModule in AppModule importieren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XHRBackend führt Requests aus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Das API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umfasst die Standard-http-Methoden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ist asynchron konzipiert</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http.get('/endpoint').subscribe(data =&gt; {</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 Read the result field from the JSON response.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this.results = data['jsonAttribute'];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
        <p:cNvGrpSpPr/>
        <p:nvPr/>
      </p:nvGrpSpPr>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r>
              <a:t>Übung 30: Legacy – Angular Module</a:t>
            </a: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r>
              <a:t>Öffne das Projekt 30_modules_legacy (NgModule-basierte Variante)</a:t>
            </a:r>
          </a:p>
          <a:p>
            <a:r>
              <a:t>Backend starten (server: npm install, node server.js)</a:t>
            </a:r>
          </a:p>
          <a:p>
            <a:r>
              <a:t>App starten mit ng serve --proxy-config dev.proxy.json</a:t>
            </a:r>
          </a:p>
          <a:p>
            <a:r>
              <a:t>Analysiere den Aufbau</a:t>
            </a:r>
          </a:p>
          <a:p>
            <a:r>
              <a:t>main.ts: platformBrowserDynamic().bootstrapModule(AppModule)</a:t>
            </a:r>
          </a:p>
          <a:p>
            <a:r>
              <a:t>AppModule: declarations, imports, providers, bootstrap</a:t>
            </a:r>
          </a:p>
          <a:p>
            <a:r>
              <a:t>TrainingsModule und AppRoutingModule (RouterModule.forRoot)</a:t>
            </a:r>
          </a:p>
          <a:p>
            <a:r>
              <a:t>Erweitere das Modul</a:t>
            </a:r>
          </a:p>
          <a:p>
            <a:r>
              <a:t>Erzeuge eine Komponente per ng g c trainings/training-info --standalone=false und deklariere sie im TrainingsModule</a:t>
            </a:r>
          </a:p>
          <a:p>
            <a:r>
              <a:t>Binde eine Standalone-Komponente über imports: [] in ein NgModule ein (Mischbetrieb)</a:t>
            </a:r>
          </a:p>
          <a:p>
            <a:r>
              <a:t>Optional: Migriere das Projekt</a:t>
            </a:r>
          </a:p>
          <a:p>
            <a:r>
              <a:t>ng generate @angular/core:standalone ausführen und mit 23_communication vergleichen</a:t>
            </a: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1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8" name="Rectangle 1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9" name="Rectangle 14">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20" name="Picture 6" descr="Einen Termin in einen Papierkalender eintragen"/>
          <p:cNvPicPr/>
          <p:nvPr/>
        </p:nvPicPr>
        <p:blipFill>
          <a:blip r:embed="rId2"/>
          <a:srcRect r="20784"/>
          <a:stretch/>
        </p:blipFill>
        <p:spPr>
          <a:xfrm>
            <a:off x="4038480" y="0"/>
            <a:ext cx="8158680" cy="6874200"/>
          </a:xfrm>
          <a:prstGeom prst="rect">
            <a:avLst/>
          </a:prstGeom>
          <a:noFill/>
          <a:ln w="0">
            <a:noFill/>
          </a:ln>
        </p:spPr>
      </p:pic>
      <p:sp>
        <p:nvSpPr>
          <p:cNvPr id="1221" name="Freeform: Shape 16">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22"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Anhang</a:t>
            </a:r>
            <a:endParaRPr lang="de-DE" sz="4000" b="0" u="none" strike="noStrike">
              <a:solidFill>
                <a:srgbClr val="000000"/>
              </a:solidFill>
              <a:uFillTx/>
              <a:latin typeface="Arial"/>
            </a:endParaRPr>
          </a:p>
        </p:txBody>
      </p:sp>
      <p:sp>
        <p:nvSpPr>
          <p:cNvPr id="1223"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4"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node.js</a:t>
            </a:r>
            <a:endParaRPr lang="de-DE" sz="6000" b="0" u="none" strike="noStrike">
              <a:solidFill>
                <a:srgbClr val="000000"/>
              </a:solidFill>
              <a:uFillTx/>
              <a:latin typeface="Arial"/>
            </a:endParaRPr>
          </a:p>
        </p:txBody>
      </p:sp>
      <p:sp>
        <p:nvSpPr>
          <p:cNvPr id="1225"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node.js?</a:t>
            </a:r>
            <a:endParaRPr lang="de-DE" sz="4400" b="0" u="none" strike="noStrike">
              <a:solidFill>
                <a:srgbClr val="000000"/>
              </a:solidFill>
              <a:uFillTx/>
              <a:latin typeface="Arial"/>
            </a:endParaRPr>
          </a:p>
        </p:txBody>
      </p:sp>
      <p:sp>
        <p:nvSpPr>
          <p:cNvPr id="12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7500" lnSpcReduction="20000"/>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node.js ist ein Interpreter für Server-seitiges JavaScript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 Grundlagen der Google V8-Engine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Mit node.js können damit keine Browser-Anwendungen betrieben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UI, Keine User-Events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Html-Dokument und  damit kein DOM</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Browser-API</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Window</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Historie</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Dafür stellt node.js eigene Bibliotheken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Dateizugriff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Multithreading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Networking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rPr>
              <a:t>https://nodejs.org/dist/latest-v8.x/docs/api/</a:t>
            </a:r>
            <a:endParaRPr lang="de-DE" sz="2400" b="0" u="none" strike="noStrike">
              <a:solidFill>
                <a:srgbClr val="000000"/>
              </a:solidFill>
              <a:uFillTx/>
              <a:latin typeface="Arial"/>
            </a:endParaRPr>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12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http = require('http');</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fs = require('fs');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http.createServer(function handler(req, res)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url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if (url.match(/.html/))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res.writeHead(200,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'Content-Type' : 'text/html'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 else if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filename = "./static-content"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fs.createReadStream(filename).pipe(res);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}).listen(6061, '127.0.0.1');</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Installation: node.js</a:t>
            </a:r>
            <a:endParaRPr lang="de-DE" sz="4400" b="0" u="none" strike="noStrike">
              <a:solidFill>
                <a:srgbClr val="000000"/>
              </a:solidFill>
              <a:uFillTx/>
              <a:latin typeface="Arial"/>
            </a:endParaRPr>
          </a:p>
        </p:txBody>
      </p:sp>
      <p:pic>
        <p:nvPicPr>
          <p:cNvPr id="1231" name="Picture 2"/>
          <p:cNvPicPr/>
          <p:nvPr/>
        </p:nvPicPr>
        <p:blipFill>
          <a:blip r:embed="rId2"/>
          <a:stretch/>
        </p:blipFill>
        <p:spPr>
          <a:xfrm>
            <a:off x="3500280" y="1817280"/>
            <a:ext cx="6086520" cy="4575240"/>
          </a:xfrm>
          <a:prstGeom prst="rect">
            <a:avLst/>
          </a:prstGeom>
          <a:noFill/>
          <a:ln w="9525">
            <a:solidFill>
              <a:srgbClr val="000000"/>
            </a:solidFill>
            <a:miter/>
          </a:ln>
        </p:spPr>
      </p:pic>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32" name="Rectangle 8">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3"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6000" b="0" u="none" strike="noStrike">
                <a:solidFill>
                  <a:schemeClr val="lt1"/>
                </a:solidFill>
                <a:uFillTx/>
                <a:latin typeface="Calibri Light"/>
              </a:rPr>
              <a:t>Testen der Installation</a:t>
            </a:r>
            <a:endParaRPr lang="de-DE" sz="6000" b="0" u="none" strike="noStrike">
              <a:solidFill>
                <a:srgbClr val="000000"/>
              </a:solidFill>
              <a:uFillTx/>
              <a:latin typeface="Arial"/>
            </a:endParaRPr>
          </a:p>
        </p:txBody>
      </p:sp>
      <p:graphicFrame>
        <p:nvGraphicFramePr>
          <p:cNvPr id="15" name="Diagram15"/>
          <p:cNvGraphicFramePr/>
          <p:nvPr>
            <p:extLst>
              <p:ext uri="{D42A27DB-BD31-4B8C-83A1-F6EECF244321}">
                <p14:modId xmlns:p14="http://schemas.microsoft.com/office/powerpoint/2010/main" val="3074464505"/>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und Browser-basierte Anwendungen</a:t>
            </a:r>
            <a:endParaRPr lang="de-DE" sz="4400" b="0" u="none" strike="noStrike">
              <a:solidFill>
                <a:srgbClr val="000000"/>
              </a:solidFill>
              <a:uFillTx/>
              <a:latin typeface="Arial"/>
            </a:endParaRPr>
          </a:p>
        </p:txBody>
      </p:sp>
      <p:sp>
        <p:nvSpPr>
          <p:cNvPr id="12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Obwohl node.js nicht im Browser ausgeführt wird, wird es trotzdem gerne im Rahmen der Software-Entwicklung genutzt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Hierzu wird node als Web Server eingesetzt, der die JavaScript-Dateien sowie die statischen Ressourcen (HTML, CSS, …) zum Browser sendet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eines Browser-Sync-Frameworks triggern Änderungen von JavaScript-Dateien auf Server-Seite einen Browser-Refresh</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sng" strike="noStrike">
                <a:solidFill>
                  <a:schemeClr val="dk1"/>
                </a:solidFill>
                <a:uFillTx/>
                <a:latin typeface="Courier New"/>
              </a:rPr>
              <a:t>https://www.browsersync.io/</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Damit werden Änderungen ohne weitere Benutzer-Interaktion sofort angezeigt</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eine agile Software-Entwicklung natürlich äußerst praktisch</a:t>
            </a:r>
            <a:endParaRPr lang="de-DE" sz="2000" b="0" u="none" strike="noStrike">
              <a:solidFill>
                <a:srgbClr val="000000"/>
              </a:solidFill>
              <a:uFillTx/>
              <a:latin typeface="Arial"/>
            </a:endParaRPr>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36"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7" name="Rectangle 10">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8" name="Rectangle 12">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39" name="Picture 4" descr="Cardboard boxes on conveyor belt"/>
          <p:cNvPicPr/>
          <p:nvPr/>
        </p:nvPicPr>
        <p:blipFill>
          <a:blip r:embed="rId2"/>
          <a:srcRect l="15465" r="5319"/>
          <a:stretch/>
        </p:blipFill>
        <p:spPr>
          <a:xfrm>
            <a:off x="4038480" y="0"/>
            <a:ext cx="8158680" cy="6874200"/>
          </a:xfrm>
          <a:prstGeom prst="rect">
            <a:avLst/>
          </a:prstGeom>
          <a:noFill/>
          <a:ln w="0">
            <a:noFill/>
          </a:ln>
        </p:spPr>
      </p:pic>
      <p:sp>
        <p:nvSpPr>
          <p:cNvPr id="1240" name="Freeform: Shape 14">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41"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npm – Der Node Package Manager</a:t>
            </a:r>
            <a:endParaRPr lang="de-DE" sz="4000" b="0" u="none" strike="noStrike">
              <a:solidFill>
                <a:srgbClr val="000000"/>
              </a:solidFill>
              <a:uFillTx/>
              <a:latin typeface="Arial"/>
            </a:endParaRPr>
          </a:p>
        </p:txBody>
      </p:sp>
      <p:sp>
        <p:nvSpPr>
          <p:cNvPr id="1242"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npm?</a:t>
            </a:r>
            <a:endParaRPr lang="de-DE" sz="4400" b="0" u="none" strike="noStrike">
              <a:solidFill>
                <a:srgbClr val="000000"/>
              </a:solidFill>
              <a:uFillTx/>
              <a:latin typeface="Arial"/>
            </a:endParaRPr>
          </a:p>
        </p:txBody>
      </p:sp>
      <p:sp>
        <p:nvSpPr>
          <p:cNvPr id="1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Primär ein Packaging Manager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ist Bestandteil der </a:t>
            </a:r>
            <a:r>
              <a:rPr lang="de-DE" sz="2800" b="0" u="none" strike="noStrike">
                <a:solidFill>
                  <a:schemeClr val="dk1"/>
                </a:solidFill>
                <a:uFillTx/>
                <a:latin typeface="Courier New"/>
              </a:rPr>
              <a:t>node</a:t>
            </a:r>
            <a:r>
              <a:rPr lang="de-DE" sz="2800" b="0" u="none" strike="noStrike">
                <a:solidFill>
                  <a:schemeClr val="dk1"/>
                </a:solidFill>
                <a:uFillTx/>
                <a:latin typeface="Calibri"/>
              </a:rPr>
              <a:t>-Installation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–v</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offizielle npm Registry liegt im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600" b="0" u="sng" strike="noStrike">
                <a:solidFill>
                  <a:schemeClr val="dk1"/>
                </a:solidFill>
                <a:uFillTx/>
                <a:latin typeface="Courier New"/>
                <a:hlinkClick r:id="rId2"/>
              </a:rPr>
              <a:t>https://docs.npmjs.com/misc/registry</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 Wesentlichen eine CouchDB</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Laden der Software durch RESTful Aufrufe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t>
            </a:r>
            <a:r>
              <a:rPr lang="de-DE" sz="2400" b="0" u="none" strike="noStrike">
                <a:solidFill>
                  <a:schemeClr val="dk1"/>
                </a:solidFill>
                <a:uFillTx/>
                <a:latin typeface="Courier New"/>
              </a:rPr>
              <a:t>npm</a:t>
            </a:r>
            <a:r>
              <a:rPr lang="de-DE" sz="2400" b="0" u="none" strike="noStrike">
                <a:solidFill>
                  <a:schemeClr val="dk1"/>
                </a:solidFill>
                <a:uFillTx/>
                <a:latin typeface="Calibri"/>
              </a:rPr>
              <a:t>-Registry  ist aktuell die größte Sammlung von Software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Unternehmens-interne oder private Registries können angemietet werden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Kommandos</a:t>
            </a:r>
            <a:endParaRPr lang="de-DE" sz="4400" b="0" u="none" strike="noStrike">
              <a:solidFill>
                <a:srgbClr val="000000"/>
              </a:solidFill>
              <a:uFillTx/>
              <a:latin typeface="Arial"/>
            </a:endParaRPr>
          </a:p>
        </p:txBody>
      </p:sp>
      <p:sp>
        <p:nvSpPr>
          <p:cNvPr id="124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wird über die Kommandozeile angesprochen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grafische Oberfläche wird als separates Modul zur Verfügung 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Hilfesystem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&lt;command&gt;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hlinkClick r:id="rId2"/>
              </a:rPr>
              <a:t>https://docs.npmjs.com/</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4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48" name="Picture 6" descr="Sphere of mesh and nodes"/>
          <p:cNvPicPr/>
          <p:nvPr/>
        </p:nvPicPr>
        <p:blipFill>
          <a:blip r:embed="rId2">
            <a:alphaModFix amt="50000"/>
          </a:blip>
          <a:srcRect t="2677" b="22323"/>
          <a:stretch/>
        </p:blipFill>
        <p:spPr>
          <a:xfrm>
            <a:off x="0" y="0"/>
            <a:ext cx="12190680" cy="6856560"/>
          </a:xfrm>
          <a:prstGeom prst="rect">
            <a:avLst/>
          </a:prstGeom>
          <a:noFill/>
          <a:ln w="0">
            <a:noFill/>
          </a:ln>
        </p:spPr>
      </p:pic>
      <p:sp>
        <p:nvSpPr>
          <p:cNvPr id="124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Node-Modules</a:t>
            </a:r>
            <a:endParaRPr lang="de-DE" sz="6000" b="0" u="none" strike="noStrike">
              <a:solidFill>
                <a:srgbClr val="FFFFFF"/>
              </a:solidFill>
              <a:uFillTx/>
              <a:latin typeface="Arial"/>
            </a:endParaRPr>
          </a:p>
        </p:txBody>
      </p:sp>
      <p:sp>
        <p:nvSpPr>
          <p:cNvPr id="125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Modules</a:t>
            </a:r>
            <a:endParaRPr lang="de-DE" sz="4400" b="0" u="none" strike="noStrike">
              <a:solidFill>
                <a:srgbClr val="000000"/>
              </a:solidFill>
              <a:uFillTx/>
              <a:latin typeface="Arial"/>
            </a:endParaRPr>
          </a:p>
        </p:txBody>
      </p:sp>
      <p:sp>
        <p:nvSpPr>
          <p:cNvPr id="12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via </a:t>
            </a:r>
            <a:r>
              <a:rPr lang="de-DE" sz="2800" b="0" u="none" strike="noStrike">
                <a:solidFill>
                  <a:schemeClr val="dk1"/>
                </a:solidFill>
                <a:uFillTx/>
                <a:latin typeface="Courier New"/>
              </a:rPr>
              <a:t>npm</a:t>
            </a:r>
            <a:r>
              <a:rPr lang="de-DE" sz="2800" b="0" u="none" strike="noStrike">
                <a:solidFill>
                  <a:schemeClr val="dk1"/>
                </a:solidFill>
                <a:uFillTx/>
                <a:latin typeface="Calibri"/>
              </a:rPr>
              <a:t> geladene Bibliothek wird als Node-Module konzipiert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Modul besitzt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Informationsdatei, die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die das Projekt zusätzlich beschreibt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Abhängige Bibliotheken im Unterverzeichnis </a:t>
            </a:r>
            <a:r>
              <a:rPr lang="de-DE" sz="2400" b="0" i="1" u="none" strike="noStrike">
                <a:solidFill>
                  <a:schemeClr val="dk1"/>
                </a:solidFill>
                <a:uFillTx/>
                <a:latin typeface="Courier New"/>
              </a:rPr>
              <a:t>node_modules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sind selbst ebenfalls Node-Module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Einen Entry-Point, in dem der Module-Entwickler das Fachobjekt seines Moduls erzeugt und exportiert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Dazu wird dem </a:t>
            </a:r>
            <a:r>
              <a:rPr lang="de-DE" sz="2000" b="0" u="none" strike="noStrike">
                <a:solidFill>
                  <a:schemeClr val="dk1"/>
                </a:solidFill>
                <a:uFillTx/>
                <a:latin typeface="Courier New"/>
              </a:rPr>
              <a:t>module</a:t>
            </a:r>
            <a:r>
              <a:rPr lang="de-DE" sz="2000" b="0" u="none" strike="noStrike">
                <a:solidFill>
                  <a:schemeClr val="dk1"/>
                </a:solidFill>
                <a:uFillTx/>
                <a:latin typeface="Calibri"/>
              </a:rPr>
              <a:t>-Objekt die Eigenschaft </a:t>
            </a:r>
            <a:r>
              <a:rPr lang="de-DE" sz="2000" b="0" u="none" strike="noStrike">
                <a:solidFill>
                  <a:schemeClr val="dk1"/>
                </a:solidFill>
                <a:uFillTx/>
                <a:latin typeface="Courier New"/>
              </a:rPr>
              <a:t>exports</a:t>
            </a:r>
            <a:r>
              <a:rPr lang="de-DE" sz="2000" b="0" u="none" strike="noStrike">
                <a:solidFill>
                  <a:schemeClr val="dk1"/>
                </a:solidFill>
                <a:uFillTx/>
                <a:latin typeface="Calibri"/>
              </a:rPr>
              <a:t> gesetzt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Zur Benutzung eines Moduls innerhalb eines Scripts dient der Node-Befehl </a:t>
            </a:r>
            <a:r>
              <a:rPr lang="de-DE" sz="2400" b="0" u="none" strike="noStrike">
                <a:solidFill>
                  <a:schemeClr val="dk1"/>
                </a:solidFill>
                <a:uFillTx/>
                <a:latin typeface="Courier New"/>
              </a:rPr>
              <a:t>require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Der Rückgabewert von </a:t>
            </a:r>
            <a:r>
              <a:rPr lang="de-DE" sz="2000" b="0" u="none" strike="noStrike">
                <a:solidFill>
                  <a:schemeClr val="dk1"/>
                </a:solidFill>
                <a:uFillTx/>
                <a:latin typeface="Courier New"/>
              </a:rPr>
              <a:t>require</a:t>
            </a:r>
            <a:r>
              <a:rPr lang="de-DE" sz="2000" b="0" u="none" strike="noStrike">
                <a:solidFill>
                  <a:schemeClr val="dk1"/>
                </a:solidFill>
                <a:uFillTx/>
                <a:latin typeface="Calibri"/>
              </a:rPr>
              <a:t> ist das vom Modul erzeugte und exportierte Fachobjekt</a:t>
            </a:r>
            <a:endParaRPr lang="de-DE" sz="2000" b="0" u="none" strike="noStrike">
              <a:solidFill>
                <a:srgbClr val="000000"/>
              </a:solidFill>
              <a:uFillTx/>
              <a:latin typeface="Arial"/>
            </a:endParaRP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package.json</a:t>
            </a:r>
            <a:endParaRPr lang="de-DE" sz="4400" b="0" u="none" strike="noStrike">
              <a:solidFill>
                <a:srgbClr val="000000"/>
              </a:solidFill>
              <a:uFillTx/>
              <a:latin typeface="Arial"/>
            </a:endParaRPr>
          </a:p>
        </p:txBody>
      </p:sp>
      <p:sp>
        <p:nvSpPr>
          <p:cNvPr id="125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Enthält die Projektinformation im JSON-Format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Datei enthält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Projektnamen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aktuelle Versionsnummer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Meta-Informationen wie Autor, Schlüsselwörter, Lizenz</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Dependencies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a:t>
            </a:r>
            <a:r>
              <a:rPr lang="de-DE" sz="2400" b="0" u="none" strike="noStrike">
                <a:solidFill>
                  <a:schemeClr val="dk1"/>
                </a:solidFill>
                <a:uFillTx/>
                <a:latin typeface="Courier New"/>
              </a:rPr>
              <a:t>scripts</a:t>
            </a:r>
            <a:r>
              <a:rPr lang="de-DE" sz="2400" b="0" u="none" strike="noStrike">
                <a:solidFill>
                  <a:schemeClr val="dk1"/>
                </a:solidFill>
                <a:uFillTx/>
                <a:latin typeface="Calibri"/>
              </a:rPr>
              <a:t>-Objekt mit ausführbaren Befehlen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können mit </a:t>
            </a:r>
            <a:r>
              <a:rPr lang="de-DE" sz="2000" b="0" u="none" strike="noStrike">
                <a:solidFill>
                  <a:schemeClr val="dk1"/>
                </a:solidFill>
                <a:uFillTx/>
                <a:latin typeface="Courier New"/>
              </a:rPr>
              <a:t>npm run &lt;script&gt;</a:t>
            </a:r>
            <a:r>
              <a:rPr lang="de-DE" sz="2000" b="0" u="none" strike="noStrike">
                <a:solidFill>
                  <a:schemeClr val="dk1"/>
                </a:solidFill>
                <a:uFillTx/>
                <a:latin typeface="Calibri"/>
              </a:rPr>
              <a:t> ausgeführt werden</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Initialisierung eines Projekts</a:t>
            </a:r>
            <a:endParaRPr lang="de-DE" sz="4400" b="0" u="none" strike="noStrike">
              <a:solidFill>
                <a:srgbClr val="000000"/>
              </a:solidFill>
              <a:uFillTx/>
              <a:latin typeface="Arial"/>
            </a:endParaRPr>
          </a:p>
        </p:txBody>
      </p:sp>
      <p:sp>
        <p:nvSpPr>
          <p:cNvPr id="12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a:t>
            </a:r>
            <a:r>
              <a:rPr lang="de-DE" sz="2800" b="0" u="none" strike="noStrike">
                <a:solidFill>
                  <a:schemeClr val="dk1"/>
                </a:solidFill>
                <a:uFillTx/>
                <a:latin typeface="Courier New"/>
              </a:rPr>
              <a:t>npm</a:t>
            </a:r>
            <a:r>
              <a:rPr lang="de-DE" sz="2800" b="0" u="none" strike="noStrike">
                <a:solidFill>
                  <a:schemeClr val="dk1"/>
                </a:solidFill>
                <a:uFillTx/>
                <a:latin typeface="Calibri"/>
              </a:rPr>
              <a:t>-basierte Projekt ist ein neues Node-Module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npm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Dabei werden interaktiv die Informationen abgefragt, die zur Erstellung der initialen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benötigt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graphicFrame>
        <p:nvGraphicFramePr>
          <p:cNvPr id="16" name="Diagram16"/>
          <p:cNvGraphicFramePr/>
          <p:nvPr>
            <p:extLst>
              <p:ext uri="{D42A27DB-BD31-4B8C-83A1-F6EECF244321}">
                <p14:modId xmlns:p14="http://schemas.microsoft.com/office/powerpoint/2010/main" val="958983526"/>
              </p:ext>
            </p:extLst>
          </p:nvPr>
        </p:nvGraphicFramePr>
        <p:xfrm>
          <a:off x="6217560" y="1122120"/>
          <a:ext cx="4138920" cy="5255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Projekt</a:t>
            </a:r>
            <a:endParaRPr lang="de-DE" sz="4400" b="0" u="none" strike="noStrike">
              <a:solidFill>
                <a:srgbClr val="000000"/>
              </a:solidFill>
              <a:uFillTx/>
              <a:latin typeface="Arial"/>
            </a:endParaRPr>
          </a:p>
        </p:txBody>
      </p:sp>
      <p:sp>
        <p:nvSpPr>
          <p:cNvPr id="125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55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"name": "npm-sample",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"version": "1.0.0",</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"description": "a simple training project",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"main": "index.js",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"keywords":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"training"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"author": "theAuthor",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"license": "ISC"</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Node-Module</a:t>
            </a:r>
            <a:endParaRPr lang="de-DE" sz="4400" b="0" u="none" strike="noStrike">
              <a:solidFill>
                <a:srgbClr val="000000"/>
              </a:solidFill>
              <a:uFillTx/>
              <a:latin typeface="Arial"/>
            </a:endParaRPr>
          </a:p>
        </p:txBody>
      </p:sp>
      <p:sp>
        <p:nvSpPr>
          <p:cNvPr id="12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Datei </a:t>
            </a:r>
            <a:r>
              <a:rPr lang="de-DE" sz="2800" b="0" i="1" u="none" strike="noStrike">
                <a:solidFill>
                  <a:schemeClr val="dk1"/>
                </a:solidFill>
                <a:uFillTx/>
                <a:latin typeface="Courier New"/>
              </a:rPr>
              <a:t>index.js</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module.exports =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log: function(){</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console.log('Hello')</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der REPL</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var training = require('./index.js')</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training.log()</a:t>
            </a:r>
            <a:endParaRPr lang="de-DE" sz="2400" b="0" u="none" strike="noStrike">
              <a:solidFill>
                <a:srgbClr val="000000"/>
              </a:solidFill>
              <a:uFillTx/>
              <a:latin typeface="Arial"/>
            </a:endParaRP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Installieren von Abhängigkeiten</a:t>
            </a:r>
            <a:endParaRPr lang="de-DE" sz="4400" b="0" u="none" strike="noStrike">
              <a:solidFill>
                <a:srgbClr val="000000"/>
              </a:solidFill>
              <a:uFillTx/>
              <a:latin typeface="Arial"/>
            </a:endParaRPr>
          </a:p>
        </p:txBody>
      </p:sp>
      <p:sp>
        <p:nvSpPr>
          <p:cNvPr id="12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Abhängigkeiten werden mit </a:t>
            </a:r>
            <a:r>
              <a:rPr lang="de-DE" sz="2800" b="0" u="none" strike="noStrike" dirty="0" err="1">
                <a:solidFill>
                  <a:schemeClr val="dk1"/>
                </a:solidFill>
                <a:uFillTx/>
                <a:latin typeface="Courier New"/>
              </a:rPr>
              <a:t>npm</a:t>
            </a:r>
            <a:r>
              <a:rPr lang="de-DE" sz="2800" b="0" u="none" strike="noStrike" dirty="0">
                <a:solidFill>
                  <a:schemeClr val="dk1"/>
                </a:solidFill>
                <a:uFillTx/>
                <a:latin typeface="Courier New"/>
              </a:rPr>
              <a:t> </a:t>
            </a:r>
            <a:r>
              <a:rPr lang="de-DE" sz="2800" b="0" u="none" strike="noStrike" dirty="0" err="1">
                <a:solidFill>
                  <a:schemeClr val="dk1"/>
                </a:solidFill>
                <a:uFillTx/>
                <a:latin typeface="Courier New"/>
              </a:rPr>
              <a:t>install</a:t>
            </a:r>
            <a:r>
              <a:rPr lang="de-DE" sz="2800" b="0" u="none" strike="noStrike" dirty="0">
                <a:solidFill>
                  <a:schemeClr val="dk1"/>
                </a:solidFill>
                <a:uFillTx/>
                <a:latin typeface="Calibri"/>
              </a:rPr>
              <a:t> von einer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-Registry geladen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Ohne weitere Konfiguration wird dazu die Standard-Registry benutzt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Damit ist eine Internet-Verbindung notwendig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Es können aber auch Unternehmens-interne Repository-Server benutzt werden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z.B. Nexus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Rechner-Registry</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Die Abhängigkeiten werden auf dem Rechner abgelegt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Ab jetzt ist damit keine Internet-Verbindung mehr nötig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Orte:</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lokale Ablage in einem Unterverzeichnis namens </a:t>
            </a:r>
            <a:r>
              <a:rPr lang="de-DE" sz="2000" b="0" i="1" u="none" strike="noStrike" dirty="0" err="1">
                <a:solidFill>
                  <a:schemeClr val="dk1"/>
                </a:solidFill>
                <a:uFillTx/>
                <a:latin typeface="Courier New"/>
              </a:rPr>
              <a:t>node</a:t>
            </a:r>
            <a:r>
              <a:rPr lang="de-DE" sz="2000" b="0" i="1" u="none" strike="noStrike" dirty="0">
                <a:solidFill>
                  <a:schemeClr val="dk1"/>
                </a:solidFill>
                <a:uFillTx/>
                <a:latin typeface="Courier New"/>
              </a:rPr>
              <a:t>-modules</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t>
            </a:r>
            <a:r>
              <a:rPr lang="de-DE" sz="1800" b="0" u="none" strike="noStrike" dirty="0" err="1">
                <a:solidFill>
                  <a:schemeClr val="dk1"/>
                </a:solidFill>
                <a:uFillTx/>
                <a:latin typeface="Calibri"/>
              </a:rPr>
              <a:t>Dependencies</a:t>
            </a:r>
            <a:r>
              <a:rPr lang="de-DE" sz="1800" b="0" u="none" strike="noStrike" dirty="0">
                <a:solidFill>
                  <a:schemeClr val="dk1"/>
                </a:solidFill>
                <a:uFillTx/>
                <a:latin typeface="Calibri"/>
              </a:rPr>
              <a:t> für eigene Software-Projekte</a:t>
            </a:r>
            <a:endParaRPr lang="de-DE" sz="18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globale Ablage</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allgemein verwendbaren Werkzeugen</a:t>
            </a:r>
            <a:endParaRPr lang="de-DE" sz="1800" b="0" u="none" strike="noStrike" dirty="0">
              <a:solidFill>
                <a:srgbClr val="000000"/>
              </a:solidFill>
              <a:uFillTx/>
              <a:latin typeface="Arial"/>
            </a:endParaRP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