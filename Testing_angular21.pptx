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87" r:id="rId37"/>
    <p:sldId id="259" r:id="rId5"/>
    <p:sldId id="260" r:id="rId6"/>
    <p:sldId id="261" r:id="rId7"/>
    <p:sldId id="288" r:id="rId38"/>
    <p:sldId id="262" r:id="rId8"/>
    <p:sldId id="263" r:id="rId9"/>
    <p:sldId id="264" r:id="rId10"/>
    <p:sldId id="265" r:id="rId11"/>
    <p:sldId id="267" r:id="rId12"/>
    <p:sldId id="266" r:id="rId13"/>
    <p:sldId id="271" r:id="rId14"/>
    <p:sldId id="268" r:id="rId15"/>
    <p:sldId id="269" r:id="rId16"/>
    <p:sldId id="270" r:id="rId17"/>
    <p:sldId id="272" r:id="rId18"/>
    <p:sldId id="273" r:id="rId19"/>
    <p:sldId id="274" r:id="rId20"/>
    <p:sldId id="275" r:id="rId21"/>
    <p:sldId id="276" r:id="rId22"/>
    <p:sldId id="277" r:id="rId23"/>
    <p:sldId id="278" r:id="rId24"/>
    <p:sldId id="279" r:id="rId25"/>
    <p:sldId id="280" r:id="rId26"/>
    <p:sldId id="286" r:id="rId27"/>
    <p:sldId id="281" r:id="rId28"/>
    <p:sldId id="282" r:id="rId29"/>
    <p:sldId id="283" r:id="rId30"/>
    <p:sldId id="284" r:id="rId31"/>
    <p:sldId id="285" r:id="rId3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2" autoAdjust="0"/>
    <p:restoredTop sz="94660"/>
  </p:normalViewPr>
  <p:slideViewPr>
    <p:cSldViewPr snapToGrid="0">
      <p:cViewPr varScale="1">
        <p:scale>
          <a:sx n="116" d="100"/>
          <a:sy n="116" d="100"/>
        </p:scale>
        <p:origin x="336"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4.xml"/><Relationship Id="rId38" Type="http://schemas.openxmlformats.org/officeDocument/2006/relationships/slide" Target="slides/slide33.xml"/><Relationship Id="rId39"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4.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1" Type="http://schemas.openxmlformats.org/officeDocument/2006/relationships/hyperlink" Target="https://github.com/JamieMason/Jasmine-Matchers" TargetMode="External"/></Relationships>
</file>

<file path=ppt/diagrams/_rels/drawing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4.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1" Type="http://schemas.openxmlformats.org/officeDocument/2006/relationships/hyperlink" Target="https://github.com/JamieMason/Jasmine-Matchers" TargetMode="Externa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A6386A-D168-401D-A37B-EEAF81D5FE00}" type="doc">
      <dgm:prSet loTypeId="urn:microsoft.com/office/officeart/2005/8/layout/pyramid1" loCatId="pyramid" qsTypeId="urn:microsoft.com/office/officeart/2005/8/quickstyle/3d7" qsCatId="3D" csTypeId="urn:microsoft.com/office/officeart/2005/8/colors/accent1_3" csCatId="accent1" phldr="1"/>
      <dgm:spPr/>
    </dgm:pt>
    <dgm:pt modelId="{7039DE13-BEF4-4D0A-A98A-F718C0F53979}">
      <dgm:prSet phldrT="[Text]"/>
      <dgm:spPr/>
      <dgm:t>
        <a:bodyPr/>
        <a:lstStyle/>
        <a:p>
          <a:r>
            <a:rPr lang="de-DE" dirty="0"/>
            <a:t>Akzeptanz</a:t>
          </a:r>
        </a:p>
      </dgm:t>
    </dgm:pt>
    <dgm:pt modelId="{8AAD9BBC-CCE0-480C-B104-D0FD8654E4E3}" type="parTrans" cxnId="{3B727EDC-5D54-42B1-AA8C-01285D4BD0E0}">
      <dgm:prSet/>
      <dgm:spPr/>
      <dgm:t>
        <a:bodyPr/>
        <a:lstStyle/>
        <a:p>
          <a:endParaRPr lang="de-DE"/>
        </a:p>
      </dgm:t>
    </dgm:pt>
    <dgm:pt modelId="{B129AAB3-9053-45B6-A1E7-E06A264EEA8F}" type="sibTrans" cxnId="{3B727EDC-5D54-42B1-AA8C-01285D4BD0E0}">
      <dgm:prSet/>
      <dgm:spPr/>
      <dgm:t>
        <a:bodyPr/>
        <a:lstStyle/>
        <a:p>
          <a:endParaRPr lang="de-DE"/>
        </a:p>
      </dgm:t>
    </dgm:pt>
    <dgm:pt modelId="{E6ACE6A1-2330-4CE6-A3C8-E6EFB145077A}">
      <dgm:prSet phldrT="[Text]"/>
      <dgm:spPr/>
      <dgm:t>
        <a:bodyPr/>
        <a:lstStyle/>
        <a:p>
          <a:r>
            <a:rPr lang="de-DE" dirty="0"/>
            <a:t>Integration</a:t>
          </a:r>
        </a:p>
      </dgm:t>
    </dgm:pt>
    <dgm:pt modelId="{35F81608-EF7C-4375-9690-A76F38A6113F}" type="parTrans" cxnId="{9C96457D-3CB3-4E5D-A346-8950169526E2}">
      <dgm:prSet/>
      <dgm:spPr/>
      <dgm:t>
        <a:bodyPr/>
        <a:lstStyle/>
        <a:p>
          <a:endParaRPr lang="de-DE"/>
        </a:p>
      </dgm:t>
    </dgm:pt>
    <dgm:pt modelId="{1F1617C8-2315-48C2-B1B5-6951E12EE613}" type="sibTrans" cxnId="{9C96457D-3CB3-4E5D-A346-8950169526E2}">
      <dgm:prSet/>
      <dgm:spPr/>
      <dgm:t>
        <a:bodyPr/>
        <a:lstStyle/>
        <a:p>
          <a:endParaRPr lang="de-DE"/>
        </a:p>
      </dgm:t>
    </dgm:pt>
    <dgm:pt modelId="{44D5DCC6-429E-402A-84FD-2E1D7E4C94E3}">
      <dgm:prSet phldrT="[Text]"/>
      <dgm:spPr/>
      <dgm:t>
        <a:bodyPr/>
        <a:lstStyle/>
        <a:p>
          <a:r>
            <a:rPr lang="de-DE" dirty="0"/>
            <a:t>Unit</a:t>
          </a:r>
        </a:p>
      </dgm:t>
    </dgm:pt>
    <dgm:pt modelId="{8BE2BC6E-1C12-45B9-96BA-64DA11F9EE6D}" type="parTrans" cxnId="{EB8D5C29-A414-467B-881F-784420E4B9AD}">
      <dgm:prSet/>
      <dgm:spPr/>
      <dgm:t>
        <a:bodyPr/>
        <a:lstStyle/>
        <a:p>
          <a:endParaRPr lang="de-DE"/>
        </a:p>
      </dgm:t>
    </dgm:pt>
    <dgm:pt modelId="{7870C898-B884-4A41-8A6C-1392CD329815}" type="sibTrans" cxnId="{EB8D5C29-A414-467B-881F-784420E4B9AD}">
      <dgm:prSet/>
      <dgm:spPr/>
      <dgm:t>
        <a:bodyPr/>
        <a:lstStyle/>
        <a:p>
          <a:endParaRPr lang="de-DE"/>
        </a:p>
      </dgm:t>
    </dgm:pt>
    <dgm:pt modelId="{813381E1-75E5-4434-A0D9-2BA2919AB181}" type="pres">
      <dgm:prSet presAssocID="{64A6386A-D168-401D-A37B-EEAF81D5FE00}" presName="Name0" presStyleCnt="0">
        <dgm:presLayoutVars>
          <dgm:dir/>
          <dgm:animLvl val="lvl"/>
          <dgm:resizeHandles val="exact"/>
        </dgm:presLayoutVars>
      </dgm:prSet>
      <dgm:spPr/>
    </dgm:pt>
    <dgm:pt modelId="{0B60F3A5-023E-49E5-B79F-850FC61DE86C}" type="pres">
      <dgm:prSet presAssocID="{7039DE13-BEF4-4D0A-A98A-F718C0F53979}" presName="Name8" presStyleCnt="0"/>
      <dgm:spPr/>
    </dgm:pt>
    <dgm:pt modelId="{A088F3A6-9404-4EE0-986C-04CF8F182FB0}" type="pres">
      <dgm:prSet presAssocID="{7039DE13-BEF4-4D0A-A98A-F718C0F53979}" presName="level" presStyleLbl="node1" presStyleIdx="0" presStyleCnt="3">
        <dgm:presLayoutVars>
          <dgm:chMax val="1"/>
          <dgm:bulletEnabled val="1"/>
        </dgm:presLayoutVars>
      </dgm:prSet>
      <dgm:spPr/>
    </dgm:pt>
    <dgm:pt modelId="{2B223F14-E5D5-4F44-9385-88F44F5E22BC}" type="pres">
      <dgm:prSet presAssocID="{7039DE13-BEF4-4D0A-A98A-F718C0F53979}" presName="levelTx" presStyleLbl="revTx" presStyleIdx="0" presStyleCnt="0">
        <dgm:presLayoutVars>
          <dgm:chMax val="1"/>
          <dgm:bulletEnabled val="1"/>
        </dgm:presLayoutVars>
      </dgm:prSet>
      <dgm:spPr/>
    </dgm:pt>
    <dgm:pt modelId="{47DB64D5-05D8-4CF0-A3F7-167D9EB6BF6A}" type="pres">
      <dgm:prSet presAssocID="{E6ACE6A1-2330-4CE6-A3C8-E6EFB145077A}" presName="Name8" presStyleCnt="0"/>
      <dgm:spPr/>
    </dgm:pt>
    <dgm:pt modelId="{646428AF-D0C8-419E-AC44-F9D9F973D289}" type="pres">
      <dgm:prSet presAssocID="{E6ACE6A1-2330-4CE6-A3C8-E6EFB145077A}" presName="level" presStyleLbl="node1" presStyleIdx="1" presStyleCnt="3">
        <dgm:presLayoutVars>
          <dgm:chMax val="1"/>
          <dgm:bulletEnabled val="1"/>
        </dgm:presLayoutVars>
      </dgm:prSet>
      <dgm:spPr/>
    </dgm:pt>
    <dgm:pt modelId="{A924CFDA-2994-493D-8323-515F6B7AFAD3}" type="pres">
      <dgm:prSet presAssocID="{E6ACE6A1-2330-4CE6-A3C8-E6EFB145077A}" presName="levelTx" presStyleLbl="revTx" presStyleIdx="0" presStyleCnt="0">
        <dgm:presLayoutVars>
          <dgm:chMax val="1"/>
          <dgm:bulletEnabled val="1"/>
        </dgm:presLayoutVars>
      </dgm:prSet>
      <dgm:spPr/>
    </dgm:pt>
    <dgm:pt modelId="{34C15803-1A09-4B29-8FA6-C14FBA414321}" type="pres">
      <dgm:prSet presAssocID="{44D5DCC6-429E-402A-84FD-2E1D7E4C94E3}" presName="Name8" presStyleCnt="0"/>
      <dgm:spPr/>
    </dgm:pt>
    <dgm:pt modelId="{E86C77F4-24C4-4C50-9158-8632E1334CA4}" type="pres">
      <dgm:prSet presAssocID="{44D5DCC6-429E-402A-84FD-2E1D7E4C94E3}" presName="level" presStyleLbl="node1" presStyleIdx="2" presStyleCnt="3">
        <dgm:presLayoutVars>
          <dgm:chMax val="1"/>
          <dgm:bulletEnabled val="1"/>
        </dgm:presLayoutVars>
      </dgm:prSet>
      <dgm:spPr/>
    </dgm:pt>
    <dgm:pt modelId="{D5BCE4D5-9816-41A7-A4E6-FF5E46216EDF}" type="pres">
      <dgm:prSet presAssocID="{44D5DCC6-429E-402A-84FD-2E1D7E4C94E3}" presName="levelTx" presStyleLbl="revTx" presStyleIdx="0" presStyleCnt="0">
        <dgm:presLayoutVars>
          <dgm:chMax val="1"/>
          <dgm:bulletEnabled val="1"/>
        </dgm:presLayoutVars>
      </dgm:prSet>
      <dgm:spPr/>
    </dgm:pt>
  </dgm:ptLst>
  <dgm:cxnLst>
    <dgm:cxn modelId="{EB8D5C29-A414-467B-881F-784420E4B9AD}" srcId="{64A6386A-D168-401D-A37B-EEAF81D5FE00}" destId="{44D5DCC6-429E-402A-84FD-2E1D7E4C94E3}" srcOrd="2" destOrd="0" parTransId="{8BE2BC6E-1C12-45B9-96BA-64DA11F9EE6D}" sibTransId="{7870C898-B884-4A41-8A6C-1392CD329815}"/>
    <dgm:cxn modelId="{30BE0636-D7C4-4505-9C6B-D1B895825970}" type="presOf" srcId="{44D5DCC6-429E-402A-84FD-2E1D7E4C94E3}" destId="{E86C77F4-24C4-4C50-9158-8632E1334CA4}" srcOrd="0" destOrd="0" presId="urn:microsoft.com/office/officeart/2005/8/layout/pyramid1"/>
    <dgm:cxn modelId="{8303D757-77F4-493C-BB1B-C9EFA36F0E0D}" type="presOf" srcId="{E6ACE6A1-2330-4CE6-A3C8-E6EFB145077A}" destId="{646428AF-D0C8-419E-AC44-F9D9F973D289}" srcOrd="0" destOrd="0" presId="urn:microsoft.com/office/officeart/2005/8/layout/pyramid1"/>
    <dgm:cxn modelId="{A6C7BA58-1A0C-455A-BC17-39437ABEC34C}" type="presOf" srcId="{44D5DCC6-429E-402A-84FD-2E1D7E4C94E3}" destId="{D5BCE4D5-9816-41A7-A4E6-FF5E46216EDF}" srcOrd="1" destOrd="0" presId="urn:microsoft.com/office/officeart/2005/8/layout/pyramid1"/>
    <dgm:cxn modelId="{9C96457D-3CB3-4E5D-A346-8950169526E2}" srcId="{64A6386A-D168-401D-A37B-EEAF81D5FE00}" destId="{E6ACE6A1-2330-4CE6-A3C8-E6EFB145077A}" srcOrd="1" destOrd="0" parTransId="{35F81608-EF7C-4375-9690-A76F38A6113F}" sibTransId="{1F1617C8-2315-48C2-B1B5-6951E12EE613}"/>
    <dgm:cxn modelId="{03267E92-1E48-4CD0-BFCD-4726169C0397}" type="presOf" srcId="{7039DE13-BEF4-4D0A-A98A-F718C0F53979}" destId="{2B223F14-E5D5-4F44-9385-88F44F5E22BC}" srcOrd="1" destOrd="0" presId="urn:microsoft.com/office/officeart/2005/8/layout/pyramid1"/>
    <dgm:cxn modelId="{763A8D93-B7B8-4DA7-ACB1-83C6A2E3D4A3}" type="presOf" srcId="{7039DE13-BEF4-4D0A-A98A-F718C0F53979}" destId="{A088F3A6-9404-4EE0-986C-04CF8F182FB0}" srcOrd="0" destOrd="0" presId="urn:microsoft.com/office/officeart/2005/8/layout/pyramid1"/>
    <dgm:cxn modelId="{822B9F96-29C4-4EFA-A4AE-9F08C07738E6}" type="presOf" srcId="{64A6386A-D168-401D-A37B-EEAF81D5FE00}" destId="{813381E1-75E5-4434-A0D9-2BA2919AB181}" srcOrd="0" destOrd="0" presId="urn:microsoft.com/office/officeart/2005/8/layout/pyramid1"/>
    <dgm:cxn modelId="{916F2CC5-FB86-407E-9537-75723D3A23B2}" type="presOf" srcId="{E6ACE6A1-2330-4CE6-A3C8-E6EFB145077A}" destId="{A924CFDA-2994-493D-8323-515F6B7AFAD3}" srcOrd="1" destOrd="0" presId="urn:microsoft.com/office/officeart/2005/8/layout/pyramid1"/>
    <dgm:cxn modelId="{3B727EDC-5D54-42B1-AA8C-01285D4BD0E0}" srcId="{64A6386A-D168-401D-A37B-EEAF81D5FE00}" destId="{7039DE13-BEF4-4D0A-A98A-F718C0F53979}" srcOrd="0" destOrd="0" parTransId="{8AAD9BBC-CCE0-480C-B104-D0FD8654E4E3}" sibTransId="{B129AAB3-9053-45B6-A1E7-E06A264EEA8F}"/>
    <dgm:cxn modelId="{0CA33056-C4A3-4D6B-86D8-8E7B921BC4AC}" type="presParOf" srcId="{813381E1-75E5-4434-A0D9-2BA2919AB181}" destId="{0B60F3A5-023E-49E5-B79F-850FC61DE86C}" srcOrd="0" destOrd="0" presId="urn:microsoft.com/office/officeart/2005/8/layout/pyramid1"/>
    <dgm:cxn modelId="{E14ECE2E-8AF3-486E-B5CE-E7BA2AC73499}" type="presParOf" srcId="{0B60F3A5-023E-49E5-B79F-850FC61DE86C}" destId="{A088F3A6-9404-4EE0-986C-04CF8F182FB0}" srcOrd="0" destOrd="0" presId="urn:microsoft.com/office/officeart/2005/8/layout/pyramid1"/>
    <dgm:cxn modelId="{F023F087-3441-4CCD-AA93-CDA24D7EE184}" type="presParOf" srcId="{0B60F3A5-023E-49E5-B79F-850FC61DE86C}" destId="{2B223F14-E5D5-4F44-9385-88F44F5E22BC}" srcOrd="1" destOrd="0" presId="urn:microsoft.com/office/officeart/2005/8/layout/pyramid1"/>
    <dgm:cxn modelId="{6BCD6EAF-E883-4B4D-90DD-C9580ED46D6C}" type="presParOf" srcId="{813381E1-75E5-4434-A0D9-2BA2919AB181}" destId="{47DB64D5-05D8-4CF0-A3F7-167D9EB6BF6A}" srcOrd="1" destOrd="0" presId="urn:microsoft.com/office/officeart/2005/8/layout/pyramid1"/>
    <dgm:cxn modelId="{9C68226D-A22D-4B84-8531-3AA68D60D87E}" type="presParOf" srcId="{47DB64D5-05D8-4CF0-A3F7-167D9EB6BF6A}" destId="{646428AF-D0C8-419E-AC44-F9D9F973D289}" srcOrd="0" destOrd="0" presId="urn:microsoft.com/office/officeart/2005/8/layout/pyramid1"/>
    <dgm:cxn modelId="{4BD11107-7ED3-4436-856E-E02AD36F4281}" type="presParOf" srcId="{47DB64D5-05D8-4CF0-A3F7-167D9EB6BF6A}" destId="{A924CFDA-2994-493D-8323-515F6B7AFAD3}" srcOrd="1" destOrd="0" presId="urn:microsoft.com/office/officeart/2005/8/layout/pyramid1"/>
    <dgm:cxn modelId="{4F20A6D1-E6A8-4A73-8249-38B2C6D685AF}" type="presParOf" srcId="{813381E1-75E5-4434-A0D9-2BA2919AB181}" destId="{34C15803-1A09-4B29-8FA6-C14FBA414321}" srcOrd="2" destOrd="0" presId="urn:microsoft.com/office/officeart/2005/8/layout/pyramid1"/>
    <dgm:cxn modelId="{75B1CBDF-F93F-4661-8EE1-3639CB5BB672}" type="presParOf" srcId="{34C15803-1A09-4B29-8FA6-C14FBA414321}" destId="{E86C77F4-24C4-4C50-9158-8632E1334CA4}" srcOrd="0" destOrd="0" presId="urn:microsoft.com/office/officeart/2005/8/layout/pyramid1"/>
    <dgm:cxn modelId="{127185C4-CB84-46A0-9218-09D9A327955F}" type="presParOf" srcId="{34C15803-1A09-4B29-8FA6-C14FBA414321}" destId="{D5BCE4D5-9816-41A7-A4E6-FF5E46216EDF}"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C96855-8A2C-4CDE-8FDE-C15371F5104F}"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E53DDB19-6E49-4199-9FD2-F907941C4068}">
      <dgm:prSet/>
      <dgm:spPr/>
      <dgm:t>
        <a:bodyPr/>
        <a:lstStyle/>
        <a:p>
          <a:pPr>
            <a:lnSpc>
              <a:spcPct val="100000"/>
            </a:lnSpc>
            <a:defRPr b="1"/>
          </a:pPr>
          <a:r>
            <a:rPr lang="de-DE"/>
            <a:t>Vitest</a:t>
          </a:r>
          <a:endParaRPr lang="en-US"/>
        </a:p>
      </dgm:t>
    </dgm:pt>
    <dgm:pt modelId="{336FCF06-0902-4D83-8103-2DF63C773389}" type="parTrans" cxnId="{AD840718-9D33-4A5A-86AB-CA5EFE1F9DD1}">
      <dgm:prSet/>
      <dgm:spPr/>
      <dgm:t>
        <a:bodyPr/>
        <a:lstStyle/>
        <a:p>
          <a:endParaRPr lang="en-US"/>
        </a:p>
      </dgm:t>
    </dgm:pt>
    <dgm:pt modelId="{36C5CEED-B48A-4708-93FD-CAD164CB32FE}" type="sibTrans" cxnId="{AD840718-9D33-4A5A-86AB-CA5EFE1F9DD1}">
      <dgm:prSet/>
      <dgm:spPr/>
      <dgm:t>
        <a:bodyPr/>
        <a:lstStyle/>
        <a:p>
          <a:endParaRPr lang="en-US"/>
        </a:p>
      </dgm:t>
    </dgm:pt>
    <dgm:pt modelId="{9C46AEDA-BED4-4E6B-B11D-BE6F0DD3A01B}">
      <dgm:prSet/>
      <dgm:spPr/>
      <dgm:t>
        <a:bodyPr/>
        <a:lstStyle/>
        <a:p>
          <a:pPr>
            <a:lnSpc>
              <a:spcPct val="100000"/>
            </a:lnSpc>
          </a:pPr>
          <a:r>
            <a:rPr lang="de-DE"/>
            <a:t>Test-Runner und Framework: startet die Tests, stellt Mocks und Matcher bereit, meldet die Ergebnisse</a:t>
          </a:r>
          <a:endParaRPr lang="en-US"/>
        </a:p>
      </dgm:t>
    </dgm:pt>
    <dgm:pt modelId="{CB73FDCE-358B-4CA6-A359-47B1370F2A7B}" type="parTrans" cxnId="{CC304D3C-8189-498E-92E4-4CF7A6D19C04}">
      <dgm:prSet/>
      <dgm:spPr/>
      <dgm:t>
        <a:bodyPr/>
        <a:lstStyle/>
        <a:p>
          <a:endParaRPr lang="en-US"/>
        </a:p>
      </dgm:t>
    </dgm:pt>
    <dgm:pt modelId="{31D90495-DCEA-4B2B-A878-FAF5D2F327C6}" type="sibTrans" cxnId="{CC304D3C-8189-498E-92E4-4CF7A6D19C04}">
      <dgm:prSet/>
      <dgm:spPr/>
      <dgm:t>
        <a:bodyPr/>
        <a:lstStyle/>
        <a:p>
          <a:endParaRPr lang="en-US"/>
        </a:p>
      </dgm:t>
    </dgm:pt>
    <dgm:pt modelId="{308A3662-86FC-46C4-83C8-7AD38FFE0D51}">
      <dgm:prSet/>
      <dgm:spPr/>
      <dgm:t>
        <a:bodyPr/>
        <a:lstStyle/>
        <a:p>
          <a:pPr>
            <a:lnSpc>
              <a:spcPct val="100000"/>
            </a:lnSpc>
            <a:defRPr b="1"/>
          </a:pPr>
          <a:r>
            <a:rPr lang="de-DE"/>
            <a:t>jsdom</a:t>
          </a:r>
          <a:endParaRPr lang="en-US"/>
        </a:p>
      </dgm:t>
    </dgm:pt>
    <dgm:pt modelId="{DA6A4A7C-BF66-4165-A9B0-2F2CB6E5719C}" type="parTrans" cxnId="{17170348-BC25-4CDC-B339-355E74FF638E}">
      <dgm:prSet/>
      <dgm:spPr/>
      <dgm:t>
        <a:bodyPr/>
        <a:lstStyle/>
        <a:p>
          <a:endParaRPr lang="en-US"/>
        </a:p>
      </dgm:t>
    </dgm:pt>
    <dgm:pt modelId="{2790D9F1-F182-4457-B9E9-6A4240D870DD}" type="sibTrans" cxnId="{17170348-BC25-4CDC-B339-355E74FF638E}">
      <dgm:prSet/>
      <dgm:spPr/>
      <dgm:t>
        <a:bodyPr/>
        <a:lstStyle/>
        <a:p>
          <a:endParaRPr lang="en-US"/>
        </a:p>
      </dgm:t>
    </dgm:pt>
    <dgm:pt modelId="{29556642-FD50-44CD-B2AD-CEE2297D8DB0}">
      <dgm:prSet/>
      <dgm:spPr/>
      <dgm:t>
        <a:bodyPr/>
        <a:lstStyle/>
        <a:p>
          <a:pPr>
            <a:lnSpc>
              <a:spcPct val="100000"/>
            </a:lnSpc>
          </a:pPr>
          <a:r>
            <a:rPr lang="de-DE"/>
            <a:t>Simulierte Browser-Umgebung: Komponenten laufen im Test ohne echten Browser</a:t>
          </a:r>
          <a:endParaRPr lang="en-US"/>
        </a:p>
      </dgm:t>
    </dgm:pt>
    <dgm:pt modelId="{8E23F8ED-EF44-4AC0-A9F3-C18A2F5B0233}" type="parTrans" cxnId="{7EC9F2C5-CEEF-4299-A891-77F2F1EA71EB}">
      <dgm:prSet/>
      <dgm:spPr/>
      <dgm:t>
        <a:bodyPr/>
        <a:lstStyle/>
        <a:p>
          <a:endParaRPr lang="en-US"/>
        </a:p>
      </dgm:t>
    </dgm:pt>
    <dgm:pt modelId="{A9C21AD5-0B57-4FCB-8214-DEB004C460F6}" type="sibTrans" cxnId="{7EC9F2C5-CEEF-4299-A891-77F2F1EA71EB}">
      <dgm:prSet/>
      <dgm:spPr/>
      <dgm:t>
        <a:bodyPr/>
        <a:lstStyle/>
        <a:p>
          <a:endParaRPr lang="en-US"/>
        </a:p>
      </dgm:t>
    </dgm:pt>
    <dgm:pt modelId="{B43160B8-4209-4F7F-9C04-846E3181C1D9}" type="pres">
      <dgm:prSet presAssocID="{A9C96855-8A2C-4CDE-8FDE-C15371F5104F}" presName="root" presStyleCnt="0">
        <dgm:presLayoutVars>
          <dgm:dir/>
          <dgm:resizeHandles val="exact"/>
        </dgm:presLayoutVars>
      </dgm:prSet>
      <dgm:spPr/>
    </dgm:pt>
    <dgm:pt modelId="{A9F85CBB-D475-4820-8EDE-374413C3618F}" type="pres">
      <dgm:prSet presAssocID="{E53DDB19-6E49-4199-9FD2-F907941C4068}" presName="compNode" presStyleCnt="0"/>
      <dgm:spPr/>
    </dgm:pt>
    <dgm:pt modelId="{07CCE3D9-085C-4A25-B476-CCFB2668A933}" type="pres">
      <dgm:prSet presAssocID="{E53DDB19-6E49-4199-9FD2-F907941C406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rrow Circle"/>
        </a:ext>
      </dgm:extLst>
    </dgm:pt>
    <dgm:pt modelId="{DA7516E4-F30F-4056-8F34-559C41FA3E9D}" type="pres">
      <dgm:prSet presAssocID="{E53DDB19-6E49-4199-9FD2-F907941C4068}" presName="iconSpace" presStyleCnt="0"/>
      <dgm:spPr/>
    </dgm:pt>
    <dgm:pt modelId="{B0D34C94-75D5-46C0-9452-088105C92D65}" type="pres">
      <dgm:prSet presAssocID="{E53DDB19-6E49-4199-9FD2-F907941C4068}" presName="parTx" presStyleLbl="revTx" presStyleIdx="0" presStyleCnt="4">
        <dgm:presLayoutVars>
          <dgm:chMax val="0"/>
          <dgm:chPref val="0"/>
        </dgm:presLayoutVars>
      </dgm:prSet>
      <dgm:spPr/>
    </dgm:pt>
    <dgm:pt modelId="{0106B549-355C-4A5D-AD7F-0FF533608E8B}" type="pres">
      <dgm:prSet presAssocID="{E53DDB19-6E49-4199-9FD2-F907941C4068}" presName="txSpace" presStyleCnt="0"/>
      <dgm:spPr/>
    </dgm:pt>
    <dgm:pt modelId="{0E68AF0D-FC1C-469B-8F1F-F84126F11B95}" type="pres">
      <dgm:prSet presAssocID="{E53DDB19-6E49-4199-9FD2-F907941C4068}" presName="desTx" presStyleLbl="revTx" presStyleIdx="1" presStyleCnt="4">
        <dgm:presLayoutVars/>
      </dgm:prSet>
      <dgm:spPr/>
    </dgm:pt>
    <dgm:pt modelId="{57E13C1E-5603-4FC9-8D96-5E825BF24188}" type="pres">
      <dgm:prSet presAssocID="{36C5CEED-B48A-4708-93FD-CAD164CB32FE}" presName="sibTrans" presStyleCnt="0"/>
      <dgm:spPr/>
    </dgm:pt>
    <dgm:pt modelId="{A405572C-9480-47EF-B226-33C7434A3C3F}" type="pres">
      <dgm:prSet presAssocID="{308A3662-86FC-46C4-83C8-7AD38FFE0D51}" presName="compNode" presStyleCnt="0"/>
      <dgm:spPr/>
    </dgm:pt>
    <dgm:pt modelId="{08A9250D-2E7F-4853-A363-7686AC1C988E}" type="pres">
      <dgm:prSet presAssocID="{308A3662-86FC-46C4-83C8-7AD38FFE0D5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shi"/>
        </a:ext>
      </dgm:extLst>
    </dgm:pt>
    <dgm:pt modelId="{48A8B3A9-B566-4AFF-883B-84BFA51A8794}" type="pres">
      <dgm:prSet presAssocID="{308A3662-86FC-46C4-83C8-7AD38FFE0D51}" presName="iconSpace" presStyleCnt="0"/>
      <dgm:spPr/>
    </dgm:pt>
    <dgm:pt modelId="{A234CB7D-C497-4752-9B9E-0CFFF7A266A8}" type="pres">
      <dgm:prSet presAssocID="{308A3662-86FC-46C4-83C8-7AD38FFE0D51}" presName="parTx" presStyleLbl="revTx" presStyleIdx="2" presStyleCnt="4">
        <dgm:presLayoutVars>
          <dgm:chMax val="0"/>
          <dgm:chPref val="0"/>
        </dgm:presLayoutVars>
      </dgm:prSet>
      <dgm:spPr/>
    </dgm:pt>
    <dgm:pt modelId="{2B5B0BBC-1F13-4820-85B6-1543BF00D55B}" type="pres">
      <dgm:prSet presAssocID="{308A3662-86FC-46C4-83C8-7AD38FFE0D51}" presName="txSpace" presStyleCnt="0"/>
      <dgm:spPr/>
    </dgm:pt>
    <dgm:pt modelId="{E7BF5337-0866-48EE-B50A-FC264C1E22CD}" type="pres">
      <dgm:prSet presAssocID="{308A3662-86FC-46C4-83C8-7AD38FFE0D51}" presName="desTx" presStyleLbl="revTx" presStyleIdx="3" presStyleCnt="4">
        <dgm:presLayoutVars/>
      </dgm:prSet>
      <dgm:spPr/>
    </dgm:pt>
  </dgm:ptLst>
  <dgm:cxnLst>
    <dgm:cxn modelId="{7841F901-6028-4BBD-8402-1346D4540693}" type="presOf" srcId="{9C46AEDA-BED4-4E6B-B11D-BE6F0DD3A01B}" destId="{0E68AF0D-FC1C-469B-8F1F-F84126F11B95}" srcOrd="0" destOrd="0" presId="urn:microsoft.com/office/officeart/2018/5/layout/CenteredIconLabelDescriptionList"/>
    <dgm:cxn modelId="{AD840718-9D33-4A5A-86AB-CA5EFE1F9DD1}" srcId="{A9C96855-8A2C-4CDE-8FDE-C15371F5104F}" destId="{E53DDB19-6E49-4199-9FD2-F907941C4068}" srcOrd="0" destOrd="0" parTransId="{336FCF06-0902-4D83-8103-2DF63C773389}" sibTransId="{36C5CEED-B48A-4708-93FD-CAD164CB32FE}"/>
    <dgm:cxn modelId="{8378471C-4FB4-492F-B870-D9872FF0F084}" type="presOf" srcId="{29556642-FD50-44CD-B2AD-CEE2297D8DB0}" destId="{E7BF5337-0866-48EE-B50A-FC264C1E22CD}" srcOrd="0" destOrd="0" presId="urn:microsoft.com/office/officeart/2018/5/layout/CenteredIconLabelDescriptionList"/>
    <dgm:cxn modelId="{01082A2A-2A73-46E9-BB4F-053814D95BA5}" type="presOf" srcId="{308A3662-86FC-46C4-83C8-7AD38FFE0D51}" destId="{A234CB7D-C497-4752-9B9E-0CFFF7A266A8}" srcOrd="0" destOrd="0" presId="urn:microsoft.com/office/officeart/2018/5/layout/CenteredIconLabelDescriptionList"/>
    <dgm:cxn modelId="{CC304D3C-8189-498E-92E4-4CF7A6D19C04}" srcId="{E53DDB19-6E49-4199-9FD2-F907941C4068}" destId="{9C46AEDA-BED4-4E6B-B11D-BE6F0DD3A01B}" srcOrd="0" destOrd="0" parTransId="{CB73FDCE-358B-4CA6-A359-47B1370F2A7B}" sibTransId="{31D90495-DCEA-4B2B-A878-FAF5D2F327C6}"/>
    <dgm:cxn modelId="{17170348-BC25-4CDC-B339-355E74FF638E}" srcId="{A9C96855-8A2C-4CDE-8FDE-C15371F5104F}" destId="{308A3662-86FC-46C4-83C8-7AD38FFE0D51}" srcOrd="1" destOrd="0" parTransId="{DA6A4A7C-BF66-4165-A9B0-2F2CB6E5719C}" sibTransId="{2790D9F1-F182-4457-B9E9-6A4240D870DD}"/>
    <dgm:cxn modelId="{7EC9F2C5-CEEF-4299-A891-77F2F1EA71EB}" srcId="{308A3662-86FC-46C4-83C8-7AD38FFE0D51}" destId="{29556642-FD50-44CD-B2AD-CEE2297D8DB0}" srcOrd="0" destOrd="0" parTransId="{8E23F8ED-EF44-4AC0-A9F3-C18A2F5B0233}" sibTransId="{A9C21AD5-0B57-4FCB-8214-DEB004C460F6}"/>
    <dgm:cxn modelId="{AE8BE5E0-4373-4987-BD3D-C169AFB80A4D}" type="presOf" srcId="{A9C96855-8A2C-4CDE-8FDE-C15371F5104F}" destId="{B43160B8-4209-4F7F-9C04-846E3181C1D9}" srcOrd="0" destOrd="0" presId="urn:microsoft.com/office/officeart/2018/5/layout/CenteredIconLabelDescriptionList"/>
    <dgm:cxn modelId="{2C4549F7-E19A-4EBF-BA7D-AA24AD25CFD4}" type="presOf" srcId="{E53DDB19-6E49-4199-9FD2-F907941C4068}" destId="{B0D34C94-75D5-46C0-9452-088105C92D65}" srcOrd="0" destOrd="0" presId="urn:microsoft.com/office/officeart/2018/5/layout/CenteredIconLabelDescriptionList"/>
    <dgm:cxn modelId="{0988278F-647C-4757-AC1A-6056366C7F34}" type="presParOf" srcId="{B43160B8-4209-4F7F-9C04-846E3181C1D9}" destId="{A9F85CBB-D475-4820-8EDE-374413C3618F}" srcOrd="0" destOrd="0" presId="urn:microsoft.com/office/officeart/2018/5/layout/CenteredIconLabelDescriptionList"/>
    <dgm:cxn modelId="{231E3ACD-9FA3-46DC-8401-3042A0AD27ED}" type="presParOf" srcId="{A9F85CBB-D475-4820-8EDE-374413C3618F}" destId="{07CCE3D9-085C-4A25-B476-CCFB2668A933}" srcOrd="0" destOrd="0" presId="urn:microsoft.com/office/officeart/2018/5/layout/CenteredIconLabelDescriptionList"/>
    <dgm:cxn modelId="{0967E652-7E78-48D6-9243-4363AD35A629}" type="presParOf" srcId="{A9F85CBB-D475-4820-8EDE-374413C3618F}" destId="{DA7516E4-F30F-4056-8F34-559C41FA3E9D}" srcOrd="1" destOrd="0" presId="urn:microsoft.com/office/officeart/2018/5/layout/CenteredIconLabelDescriptionList"/>
    <dgm:cxn modelId="{690A11B4-4263-4322-959C-A1EE342D7CFA}" type="presParOf" srcId="{A9F85CBB-D475-4820-8EDE-374413C3618F}" destId="{B0D34C94-75D5-46C0-9452-088105C92D65}" srcOrd="2" destOrd="0" presId="urn:microsoft.com/office/officeart/2018/5/layout/CenteredIconLabelDescriptionList"/>
    <dgm:cxn modelId="{AEA09A3E-0857-4133-ABBF-0138AC21F749}" type="presParOf" srcId="{A9F85CBB-D475-4820-8EDE-374413C3618F}" destId="{0106B549-355C-4A5D-AD7F-0FF533608E8B}" srcOrd="3" destOrd="0" presId="urn:microsoft.com/office/officeart/2018/5/layout/CenteredIconLabelDescriptionList"/>
    <dgm:cxn modelId="{1C8C53DE-7A32-4D05-8F50-6F13BDF1C72D}" type="presParOf" srcId="{A9F85CBB-D475-4820-8EDE-374413C3618F}" destId="{0E68AF0D-FC1C-469B-8F1F-F84126F11B95}" srcOrd="4" destOrd="0" presId="urn:microsoft.com/office/officeart/2018/5/layout/CenteredIconLabelDescriptionList"/>
    <dgm:cxn modelId="{EB2924F9-5B6C-4B0F-84E8-66B60B51D63E}" type="presParOf" srcId="{B43160B8-4209-4F7F-9C04-846E3181C1D9}" destId="{57E13C1E-5603-4FC9-8D96-5E825BF24188}" srcOrd="1" destOrd="0" presId="urn:microsoft.com/office/officeart/2018/5/layout/CenteredIconLabelDescriptionList"/>
    <dgm:cxn modelId="{64F91C44-A065-4F8A-84BC-7C117AC3FAC3}" type="presParOf" srcId="{B43160B8-4209-4F7F-9C04-846E3181C1D9}" destId="{A405572C-9480-47EF-B226-33C7434A3C3F}" srcOrd="2" destOrd="0" presId="urn:microsoft.com/office/officeart/2018/5/layout/CenteredIconLabelDescriptionList"/>
    <dgm:cxn modelId="{DDB91115-4D7C-4254-A1B6-E9078C714106}" type="presParOf" srcId="{A405572C-9480-47EF-B226-33C7434A3C3F}" destId="{08A9250D-2E7F-4853-A363-7686AC1C988E}" srcOrd="0" destOrd="0" presId="urn:microsoft.com/office/officeart/2018/5/layout/CenteredIconLabelDescriptionList"/>
    <dgm:cxn modelId="{7CBA9884-D777-48A7-A52B-B357C2D11151}" type="presParOf" srcId="{A405572C-9480-47EF-B226-33C7434A3C3F}" destId="{48A8B3A9-B566-4AFF-883B-84BFA51A8794}" srcOrd="1" destOrd="0" presId="urn:microsoft.com/office/officeart/2018/5/layout/CenteredIconLabelDescriptionList"/>
    <dgm:cxn modelId="{3BCFE7F8-9FB1-4258-B760-924632F3F8DB}" type="presParOf" srcId="{A405572C-9480-47EF-B226-33C7434A3C3F}" destId="{A234CB7D-C497-4752-9B9E-0CFFF7A266A8}" srcOrd="2" destOrd="0" presId="urn:microsoft.com/office/officeart/2018/5/layout/CenteredIconLabelDescriptionList"/>
    <dgm:cxn modelId="{20F20117-0D38-45DF-B67E-7C6325F854C7}" type="presParOf" srcId="{A405572C-9480-47EF-B226-33C7434A3C3F}" destId="{2B5B0BBC-1F13-4820-85B6-1543BF00D55B}" srcOrd="3" destOrd="0" presId="urn:microsoft.com/office/officeart/2018/5/layout/CenteredIconLabelDescriptionList"/>
    <dgm:cxn modelId="{53297D16-ED05-44E6-B40C-3A8FFAB3C3B3}" type="presParOf" srcId="{A405572C-9480-47EF-B226-33C7434A3C3F}" destId="{E7BF5337-0866-48EE-B50A-FC264C1E22CD}"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7F6692-96B6-4456-87C1-16C5DB05A91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de-DE"/>
        </a:p>
      </dgm:t>
    </dgm:pt>
    <dgm:pt modelId="{BECAC726-45D0-440D-A857-8061C1209A17}">
      <dgm:prSet/>
      <dgm:spPr/>
      <dgm:t>
        <a:bodyPr/>
        <a:lstStyle/>
        <a:p>
          <a:r>
            <a:rPr lang="de-DE" b="1" i="0" baseline="0"/>
            <a:t>Suites – describe(name, fn)</a:t>
          </a:r>
          <a:endParaRPr lang="de-DE" dirty="0"/>
        </a:p>
      </dgm:t>
    </dgm:pt>
    <dgm:pt modelId="{1F9442BA-CA2A-4680-A53B-3EAA95E5961A}" type="parTrans" cxnId="{DE6502C5-942D-4D63-8AEC-EF1E3C9C6AAB}">
      <dgm:prSet/>
      <dgm:spPr/>
      <dgm:t>
        <a:bodyPr/>
        <a:lstStyle/>
        <a:p>
          <a:endParaRPr lang="de-DE"/>
        </a:p>
      </dgm:t>
    </dgm:pt>
    <dgm:pt modelId="{188A117F-61DE-48AA-B107-53CD306E6A43}" type="sibTrans" cxnId="{DE6502C5-942D-4D63-8AEC-EF1E3C9C6AAB}">
      <dgm:prSet/>
      <dgm:spPr/>
      <dgm:t>
        <a:bodyPr/>
        <a:lstStyle/>
        <a:p>
          <a:endParaRPr lang="de-DE"/>
        </a:p>
      </dgm:t>
    </dgm:pt>
    <dgm:pt modelId="{BFF20BD0-9D87-45B5-9F2E-A65B05874187}">
      <dgm:prSet/>
      <dgm:spPr/>
      <dgm:t>
        <a:bodyPr/>
        <a:lstStyle/>
        <a:p>
          <a:r>
            <a:rPr lang="de-DE" b="0" i="0" baseline="0"/>
            <a:t>Eine Suite bündelt zusammengehörige Tests (describe-Block)</a:t>
          </a:r>
        </a:p>
        <a:p>
          <a:endParaRPr lang="de-DE" dirty="0"/>
        </a:p>
      </dgm:t>
    </dgm:pt>
    <dgm:pt modelId="{DB43D97D-68AF-4397-9DA2-C842E083B2B6}" type="parTrans" cxnId="{70F046D8-FE99-487A-BE1E-1C86022DDF3E}">
      <dgm:prSet/>
      <dgm:spPr/>
      <dgm:t>
        <a:bodyPr/>
        <a:lstStyle/>
        <a:p>
          <a:endParaRPr lang="de-DE"/>
        </a:p>
      </dgm:t>
    </dgm:pt>
    <dgm:pt modelId="{96678B37-9A45-4DF7-B3A9-FC32AB3A9D3C}" type="sibTrans" cxnId="{70F046D8-FE99-487A-BE1E-1C86022DDF3E}">
      <dgm:prSet/>
      <dgm:spPr/>
      <dgm:t>
        <a:bodyPr/>
        <a:lstStyle/>
        <a:p>
          <a:endParaRPr lang="de-DE"/>
        </a:p>
      </dgm:t>
    </dgm:pt>
    <dgm:pt modelId="{5BD4CA29-64BB-48F2-B855-D4E63CC88C79}">
      <dgm:prSet/>
      <dgm:spPr/>
      <dgm:t>
        <a:bodyPr/>
        <a:lstStyle/>
        <a:p>
          <a:r>
            <a:rPr lang="de-DE" b="1" i="0" baseline="0"/>
            <a:t>Tests (Specs) – it(name, fn)</a:t>
          </a:r>
          <a:endParaRPr lang="de-DE"/>
        </a:p>
      </dgm:t>
    </dgm:pt>
    <dgm:pt modelId="{26D30539-68B9-45E1-ADF2-D5ECC21BD2DE}" type="parTrans" cxnId="{80AA5F8E-1B7A-4F8A-8BC0-467161FB2479}">
      <dgm:prSet/>
      <dgm:spPr/>
      <dgm:t>
        <a:bodyPr/>
        <a:lstStyle/>
        <a:p>
          <a:endParaRPr lang="de-DE"/>
        </a:p>
      </dgm:t>
    </dgm:pt>
    <dgm:pt modelId="{B32095D9-BDD4-4EA1-9377-159FA5507981}" type="sibTrans" cxnId="{80AA5F8E-1B7A-4F8A-8BC0-467161FB2479}">
      <dgm:prSet/>
      <dgm:spPr/>
      <dgm:t>
        <a:bodyPr/>
        <a:lstStyle/>
        <a:p>
          <a:endParaRPr lang="de-DE"/>
        </a:p>
      </dgm:t>
    </dgm:pt>
    <dgm:pt modelId="{ED887B3A-CD86-467E-9B98-D250664AE3B8}">
      <dgm:prSet/>
      <dgm:spPr/>
      <dgm:t>
        <a:bodyPr/>
        <a:lstStyle/>
        <a:p>
          <a:r>
            <a:rPr lang="de-DE" b="0" i="0" baseline="0" dirty="0"/>
            <a:t>1 Test bestehend aus Titel</a:t>
          </a:r>
          <a:endParaRPr lang="de-DE" dirty="0"/>
        </a:p>
      </dgm:t>
    </dgm:pt>
    <dgm:pt modelId="{0775C39C-142F-4748-B57A-EAC0ACEAAA99}" type="parTrans" cxnId="{3ECF86E6-8FE4-49F7-9902-9AF42577D976}">
      <dgm:prSet/>
      <dgm:spPr/>
      <dgm:t>
        <a:bodyPr/>
        <a:lstStyle/>
        <a:p>
          <a:endParaRPr lang="de-DE"/>
        </a:p>
      </dgm:t>
    </dgm:pt>
    <dgm:pt modelId="{C6F7AE38-10EC-40ED-9C65-C73B481A389B}" type="sibTrans" cxnId="{3ECF86E6-8FE4-49F7-9902-9AF42577D976}">
      <dgm:prSet/>
      <dgm:spPr/>
      <dgm:t>
        <a:bodyPr/>
        <a:lstStyle/>
        <a:p>
          <a:endParaRPr lang="de-DE"/>
        </a:p>
      </dgm:t>
    </dgm:pt>
    <dgm:pt modelId="{64C13141-9677-43BC-A016-D820C1DE80DB}">
      <dgm:prSet/>
      <dgm:spPr/>
      <dgm:t>
        <a:bodyPr/>
        <a:lstStyle/>
        <a:p>
          <a:r>
            <a:rPr lang="de-DE" b="1" i="0" baseline="0" dirty="0" err="1"/>
            <a:t>Expectations</a:t>
          </a:r>
          <a:r>
            <a:rPr lang="de-DE" b="0" i="0" baseline="0" dirty="0"/>
            <a:t> </a:t>
          </a:r>
          <a:r>
            <a:rPr lang="de-DE" b="0" i="0" baseline="0" dirty="0" err="1"/>
            <a:t>expect</a:t>
          </a:r>
          <a:r>
            <a:rPr lang="de-DE" b="0" i="0" baseline="0" dirty="0"/>
            <a:t>(</a:t>
          </a:r>
          <a:r>
            <a:rPr lang="de-DE" b="0" i="0" baseline="0" dirty="0" err="1"/>
            <a:t>actual</a:t>
          </a:r>
          <a:r>
            <a:rPr lang="de-DE" b="0" i="0" baseline="0" dirty="0"/>
            <a:t>).</a:t>
          </a:r>
          <a:r>
            <a:rPr lang="de-DE" b="0" i="0" baseline="0" dirty="0" err="1"/>
            <a:t>toBe</a:t>
          </a:r>
          <a:r>
            <a:rPr lang="de-DE" b="0" i="0" baseline="0" dirty="0"/>
            <a:t>(</a:t>
          </a:r>
          <a:r>
            <a:rPr lang="de-DE" b="0" i="0" baseline="0" dirty="0" err="1"/>
            <a:t>expected</a:t>
          </a:r>
          <a:r>
            <a:rPr lang="de-DE" b="0" i="0" baseline="0" dirty="0"/>
            <a:t>)</a:t>
          </a:r>
          <a:endParaRPr lang="de-DE" dirty="0"/>
        </a:p>
      </dgm:t>
    </dgm:pt>
    <dgm:pt modelId="{273021C2-AEDC-4798-B5C7-60599740FD70}" type="parTrans" cxnId="{90685DCE-3C8A-42F7-AFF1-3718C91AC7E7}">
      <dgm:prSet/>
      <dgm:spPr/>
      <dgm:t>
        <a:bodyPr/>
        <a:lstStyle/>
        <a:p>
          <a:endParaRPr lang="de-DE"/>
        </a:p>
      </dgm:t>
    </dgm:pt>
    <dgm:pt modelId="{DB9D7383-79F5-42F2-B397-9A8709D6BB4B}" type="sibTrans" cxnId="{90685DCE-3C8A-42F7-AFF1-3718C91AC7E7}">
      <dgm:prSet/>
      <dgm:spPr/>
      <dgm:t>
        <a:bodyPr/>
        <a:lstStyle/>
        <a:p>
          <a:endParaRPr lang="de-DE"/>
        </a:p>
      </dgm:t>
    </dgm:pt>
    <dgm:pt modelId="{2DE97B66-0570-4475-BFDF-EF08BA8734E9}">
      <dgm:prSet/>
      <dgm:spPr/>
      <dgm:t>
        <a:bodyPr/>
        <a:lstStyle/>
        <a:p>
          <a:r>
            <a:rPr lang="de-DE" b="0" i="0" baseline="0" dirty="0"/>
            <a:t>Erwartung - technische Implementierung deines Tests </a:t>
          </a:r>
          <a:r>
            <a:rPr lang="de-DE" b="0" i="0" baseline="0" dirty="0">
              <a:sym typeface="Wingdings" panose="05000000000000000000" pitchFamily="2" charset="2"/>
            </a:rPr>
            <a:t> </a:t>
          </a:r>
          <a:r>
            <a:rPr lang="de-DE" b="0" i="0" baseline="0" dirty="0" err="1"/>
            <a:t>true</a:t>
          </a:r>
          <a:r>
            <a:rPr lang="de-DE" b="0" i="0" baseline="0" dirty="0"/>
            <a:t> oder </a:t>
          </a:r>
          <a:r>
            <a:rPr lang="de-DE" b="0" i="0" baseline="0" dirty="0" err="1"/>
            <a:t>false</a:t>
          </a:r>
          <a:r>
            <a:rPr lang="de-DE" b="0" i="0" baseline="0" dirty="0"/>
            <a:t> auswertet.</a:t>
          </a:r>
          <a:endParaRPr lang="de-DE" dirty="0"/>
        </a:p>
      </dgm:t>
    </dgm:pt>
    <dgm:pt modelId="{E19FBD73-AE33-4A91-AB00-D3214970C262}" type="parTrans" cxnId="{7CB19EBC-74C8-46B5-BF6B-07ACD5CD06F8}">
      <dgm:prSet/>
      <dgm:spPr/>
      <dgm:t>
        <a:bodyPr/>
        <a:lstStyle/>
        <a:p>
          <a:endParaRPr lang="de-DE"/>
        </a:p>
      </dgm:t>
    </dgm:pt>
    <dgm:pt modelId="{DD5EBCC4-E7EE-45FD-B8F4-0E83796EB4C9}" type="sibTrans" cxnId="{7CB19EBC-74C8-46B5-BF6B-07ACD5CD06F8}">
      <dgm:prSet/>
      <dgm:spPr/>
      <dgm:t>
        <a:bodyPr/>
        <a:lstStyle/>
        <a:p>
          <a:endParaRPr lang="de-DE"/>
        </a:p>
      </dgm:t>
    </dgm:pt>
    <dgm:pt modelId="{21E5C1A9-A6D7-4921-A1AF-1A1CFF29E518}">
      <dgm:prSet/>
      <dgm:spPr/>
      <dgm:t>
        <a:bodyPr/>
        <a:lstStyle/>
        <a:p>
          <a:r>
            <a:rPr lang="de-DE" b="1" i="0" baseline="0" dirty="0" err="1"/>
            <a:t>Matchers</a:t>
          </a:r>
          <a:r>
            <a:rPr lang="de-DE" b="0" i="0" baseline="0" dirty="0"/>
            <a:t> </a:t>
          </a:r>
          <a:endParaRPr lang="de-DE" dirty="0"/>
        </a:p>
      </dgm:t>
    </dgm:pt>
    <dgm:pt modelId="{AE20DBF9-CA0F-42DA-9E85-885056B7DDEF}" type="parTrans" cxnId="{6C00EC81-9C80-463F-89D9-3DEEA1101DA6}">
      <dgm:prSet/>
      <dgm:spPr/>
      <dgm:t>
        <a:bodyPr/>
        <a:lstStyle/>
        <a:p>
          <a:endParaRPr lang="de-DE"/>
        </a:p>
      </dgm:t>
    </dgm:pt>
    <dgm:pt modelId="{30CE53BB-6EA8-48C0-B3AC-4D1128C08A35}" type="sibTrans" cxnId="{6C00EC81-9C80-463F-89D9-3DEEA1101DA6}">
      <dgm:prSet/>
      <dgm:spPr/>
      <dgm:t>
        <a:bodyPr/>
        <a:lstStyle/>
        <a:p>
          <a:endParaRPr lang="de-DE"/>
        </a:p>
      </dgm:t>
    </dgm:pt>
    <dgm:pt modelId="{EB8175D5-12CB-4D6C-A933-7CAC26169F0C}">
      <dgm:prSet/>
      <dgm:spPr/>
      <dgm:t>
        <a:bodyPr/>
        <a:lstStyle/>
        <a:p>
          <a:r>
            <a:rPr lang="de-DE" b="0" i="0" baseline="0"/>
            <a:t>vordefinierte Hilfsfunktionen für Erwartungen, z. B.: toBe, toEqual, toContain, toHaveLength, toHaveBeenCalledWith.</a:t>
          </a:r>
          <a:endParaRPr lang="de-DE" dirty="0"/>
        </a:p>
      </dgm:t>
    </dgm:pt>
    <dgm:pt modelId="{F7EE66AC-B80A-471A-B674-40F559EF35FB}" type="parTrans" cxnId="{FC89D1DC-AF9E-411C-9B39-960EABF20962}">
      <dgm:prSet/>
      <dgm:spPr/>
      <dgm:t>
        <a:bodyPr/>
        <a:lstStyle/>
        <a:p>
          <a:endParaRPr lang="de-DE"/>
        </a:p>
      </dgm:t>
    </dgm:pt>
    <dgm:pt modelId="{FE06DA30-C194-4594-91E9-31AAAC775610}" type="sibTrans" cxnId="{FC89D1DC-AF9E-411C-9B39-960EABF20962}">
      <dgm:prSet/>
      <dgm:spPr/>
      <dgm:t>
        <a:bodyPr/>
        <a:lstStyle/>
        <a:p>
          <a:endParaRPr lang="de-DE"/>
        </a:p>
      </dgm:t>
    </dgm:pt>
    <dgm:pt modelId="{1CD4BA28-77CD-4398-8712-C026520C8BEA}">
      <dgm:prSet/>
      <dgm:spPr/>
      <dgm:t>
        <a:bodyPr/>
        <a:lstStyle/>
        <a:p>
          <a:r>
            <a:rPr lang="de-DE" b="0" i="0" baseline="0"/>
            <a:t>komplette Liste: vitest.dev/api/expect</a:t>
          </a:r>
          <a:endParaRPr lang="de-DE" dirty="0"/>
        </a:p>
      </dgm:t>
    </dgm:pt>
    <dgm:pt modelId="{250C3356-BCD3-42CF-B6E7-DDAAF6B43929}" type="parTrans" cxnId="{C1665036-E9AE-42FF-8B80-44B816A77177}">
      <dgm:prSet/>
      <dgm:spPr/>
      <dgm:t>
        <a:bodyPr/>
        <a:lstStyle/>
        <a:p>
          <a:endParaRPr lang="de-DE"/>
        </a:p>
      </dgm:t>
    </dgm:pt>
    <dgm:pt modelId="{CD86291A-EC72-42F1-B952-65DF8643B0EA}" type="sibTrans" cxnId="{C1665036-E9AE-42FF-8B80-44B816A77177}">
      <dgm:prSet/>
      <dgm:spPr/>
      <dgm:t>
        <a:bodyPr/>
        <a:lstStyle/>
        <a:p>
          <a:endParaRPr lang="de-DE"/>
        </a:p>
      </dgm:t>
    </dgm:pt>
    <dgm:pt modelId="{9590E413-9933-4931-B9C9-53D533CC432A}">
      <dgm:prSet/>
      <dgm:spPr/>
      <dgm:t>
        <a:bodyPr/>
        <a:lstStyle/>
        <a:p>
          <a:r>
            <a:rPr lang="de-DE" b="0" i="0" baseline="0" dirty="0"/>
            <a:t>und einer Funktion mit dem Test -&gt; Erwartungen(</a:t>
          </a:r>
          <a:r>
            <a:rPr lang="de-DE" b="0" i="0" baseline="0" dirty="0" err="1"/>
            <a:t>Expectations</a:t>
          </a:r>
          <a:r>
            <a:rPr lang="de-DE" b="0" i="0" baseline="0" dirty="0"/>
            <a:t>).</a:t>
          </a:r>
          <a:endParaRPr lang="de-DE" dirty="0"/>
        </a:p>
      </dgm:t>
    </dgm:pt>
    <dgm:pt modelId="{290E19DB-9915-4EDE-8B85-79925E92213A}" type="parTrans" cxnId="{C71F9371-94B3-4A21-BDE0-D20F0065FBC0}">
      <dgm:prSet/>
      <dgm:spPr/>
    </dgm:pt>
    <dgm:pt modelId="{9F98DE4F-6200-4AC8-9B39-5B156C7BE086}" type="sibTrans" cxnId="{C71F9371-94B3-4A21-BDE0-D20F0065FBC0}">
      <dgm:prSet/>
      <dgm:spPr/>
    </dgm:pt>
    <dgm:pt modelId="{E0CA874B-E355-415E-A7E9-877D90015EEB}" type="pres">
      <dgm:prSet presAssocID="{707F6692-96B6-4456-87C1-16C5DB05A91D}" presName="linear" presStyleCnt="0">
        <dgm:presLayoutVars>
          <dgm:animLvl val="lvl"/>
          <dgm:resizeHandles val="exact"/>
        </dgm:presLayoutVars>
      </dgm:prSet>
      <dgm:spPr/>
    </dgm:pt>
    <dgm:pt modelId="{0A9B180D-B7C3-4E5D-A7EB-F1475AC1023F}" type="pres">
      <dgm:prSet presAssocID="{BECAC726-45D0-440D-A857-8061C1209A17}" presName="parentText" presStyleLbl="node1" presStyleIdx="0" presStyleCnt="4">
        <dgm:presLayoutVars>
          <dgm:chMax val="0"/>
          <dgm:bulletEnabled val="1"/>
        </dgm:presLayoutVars>
      </dgm:prSet>
      <dgm:spPr/>
    </dgm:pt>
    <dgm:pt modelId="{3AF48667-E455-4AD5-9EB2-2F57E30D9E4E}" type="pres">
      <dgm:prSet presAssocID="{BECAC726-45D0-440D-A857-8061C1209A17}" presName="childText" presStyleLbl="revTx" presStyleIdx="0" presStyleCnt="4">
        <dgm:presLayoutVars>
          <dgm:bulletEnabled val="1"/>
        </dgm:presLayoutVars>
      </dgm:prSet>
      <dgm:spPr/>
    </dgm:pt>
    <dgm:pt modelId="{84162E57-A478-47CF-9BF2-01046F705EE1}" type="pres">
      <dgm:prSet presAssocID="{5BD4CA29-64BB-48F2-B855-D4E63CC88C79}" presName="parentText" presStyleLbl="node1" presStyleIdx="1" presStyleCnt="4">
        <dgm:presLayoutVars>
          <dgm:chMax val="0"/>
          <dgm:bulletEnabled val="1"/>
        </dgm:presLayoutVars>
      </dgm:prSet>
      <dgm:spPr/>
    </dgm:pt>
    <dgm:pt modelId="{DF9830E0-DE46-4D24-8E6A-AEC5332C0007}" type="pres">
      <dgm:prSet presAssocID="{5BD4CA29-64BB-48F2-B855-D4E63CC88C79}" presName="childText" presStyleLbl="revTx" presStyleIdx="1" presStyleCnt="4">
        <dgm:presLayoutVars>
          <dgm:bulletEnabled val="1"/>
        </dgm:presLayoutVars>
      </dgm:prSet>
      <dgm:spPr/>
    </dgm:pt>
    <dgm:pt modelId="{4E5A6E15-1584-4A63-A686-4EB0A710EC9F}" type="pres">
      <dgm:prSet presAssocID="{64C13141-9677-43BC-A016-D820C1DE80DB}" presName="parentText" presStyleLbl="node1" presStyleIdx="2" presStyleCnt="4">
        <dgm:presLayoutVars>
          <dgm:chMax val="0"/>
          <dgm:bulletEnabled val="1"/>
        </dgm:presLayoutVars>
      </dgm:prSet>
      <dgm:spPr/>
    </dgm:pt>
    <dgm:pt modelId="{8278C054-AE80-4B90-9CAE-AB98E6F5322F}" type="pres">
      <dgm:prSet presAssocID="{64C13141-9677-43BC-A016-D820C1DE80DB}" presName="childText" presStyleLbl="revTx" presStyleIdx="2" presStyleCnt="4">
        <dgm:presLayoutVars>
          <dgm:bulletEnabled val="1"/>
        </dgm:presLayoutVars>
      </dgm:prSet>
      <dgm:spPr/>
    </dgm:pt>
    <dgm:pt modelId="{37316E1F-704C-439D-9C83-CEFB0220BA78}" type="pres">
      <dgm:prSet presAssocID="{21E5C1A9-A6D7-4921-A1AF-1A1CFF29E518}" presName="parentText" presStyleLbl="node1" presStyleIdx="3" presStyleCnt="4">
        <dgm:presLayoutVars>
          <dgm:chMax val="0"/>
          <dgm:bulletEnabled val="1"/>
        </dgm:presLayoutVars>
      </dgm:prSet>
      <dgm:spPr/>
    </dgm:pt>
    <dgm:pt modelId="{73D449A3-B6A8-4F4E-A3B5-EF0995A190F4}" type="pres">
      <dgm:prSet presAssocID="{21E5C1A9-A6D7-4921-A1AF-1A1CFF29E518}" presName="childText" presStyleLbl="revTx" presStyleIdx="3" presStyleCnt="4">
        <dgm:presLayoutVars>
          <dgm:bulletEnabled val="1"/>
        </dgm:presLayoutVars>
      </dgm:prSet>
      <dgm:spPr/>
    </dgm:pt>
  </dgm:ptLst>
  <dgm:cxnLst>
    <dgm:cxn modelId="{81518204-AD31-40F6-85B5-FE6BCB8A707B}" type="presOf" srcId="{707F6692-96B6-4456-87C1-16C5DB05A91D}" destId="{E0CA874B-E355-415E-A7E9-877D90015EEB}" srcOrd="0" destOrd="0" presId="urn:microsoft.com/office/officeart/2005/8/layout/vList2"/>
    <dgm:cxn modelId="{FE33C208-1630-45B8-93ED-31C44D6ADF0D}" type="presOf" srcId="{5BD4CA29-64BB-48F2-B855-D4E63CC88C79}" destId="{84162E57-A478-47CF-9BF2-01046F705EE1}" srcOrd="0" destOrd="0" presId="urn:microsoft.com/office/officeart/2005/8/layout/vList2"/>
    <dgm:cxn modelId="{10F0E81D-193F-478A-88F7-DA74AEC5DC62}" type="presOf" srcId="{21E5C1A9-A6D7-4921-A1AF-1A1CFF29E518}" destId="{37316E1F-704C-439D-9C83-CEFB0220BA78}" srcOrd="0" destOrd="0" presId="urn:microsoft.com/office/officeart/2005/8/layout/vList2"/>
    <dgm:cxn modelId="{C1665036-E9AE-42FF-8B80-44B816A77177}" srcId="{21E5C1A9-A6D7-4921-A1AF-1A1CFF29E518}" destId="{1CD4BA28-77CD-4398-8712-C026520C8BEA}" srcOrd="1" destOrd="0" parTransId="{250C3356-BCD3-42CF-B6E7-DDAAF6B43929}" sibTransId="{CD86291A-EC72-42F1-B952-65DF8643B0EA}"/>
    <dgm:cxn modelId="{895EB93B-A47E-492B-BE6F-1AEA6964AD67}" type="presOf" srcId="{1CD4BA28-77CD-4398-8712-C026520C8BEA}" destId="{73D449A3-B6A8-4F4E-A3B5-EF0995A190F4}" srcOrd="0" destOrd="1" presId="urn:microsoft.com/office/officeart/2005/8/layout/vList2"/>
    <dgm:cxn modelId="{9F801165-206F-4FF5-87CC-034C07673E8F}" type="presOf" srcId="{ED887B3A-CD86-467E-9B98-D250664AE3B8}" destId="{DF9830E0-DE46-4D24-8E6A-AEC5332C0007}" srcOrd="0" destOrd="0" presId="urn:microsoft.com/office/officeart/2005/8/layout/vList2"/>
    <dgm:cxn modelId="{95563B4E-5FD8-4632-8A98-F3D17DC303EB}" type="presOf" srcId="{64C13141-9677-43BC-A016-D820C1DE80DB}" destId="{4E5A6E15-1584-4A63-A686-4EB0A710EC9F}" srcOrd="0" destOrd="0" presId="urn:microsoft.com/office/officeart/2005/8/layout/vList2"/>
    <dgm:cxn modelId="{C71F9371-94B3-4A21-BDE0-D20F0065FBC0}" srcId="{5BD4CA29-64BB-48F2-B855-D4E63CC88C79}" destId="{9590E413-9933-4931-B9C9-53D533CC432A}" srcOrd="1" destOrd="0" parTransId="{290E19DB-9915-4EDE-8B85-79925E92213A}" sibTransId="{9F98DE4F-6200-4AC8-9B39-5B156C7BE086}"/>
    <dgm:cxn modelId="{3F789D52-5E96-4367-8394-0B3AE0B02A80}" type="presOf" srcId="{9590E413-9933-4931-B9C9-53D533CC432A}" destId="{DF9830E0-DE46-4D24-8E6A-AEC5332C0007}" srcOrd="0" destOrd="1" presId="urn:microsoft.com/office/officeart/2005/8/layout/vList2"/>
    <dgm:cxn modelId="{D95A7576-BF4F-4CF7-BA96-AFE7AF83949D}" type="presOf" srcId="{2DE97B66-0570-4475-BFDF-EF08BA8734E9}" destId="{8278C054-AE80-4B90-9CAE-AB98E6F5322F}" srcOrd="0" destOrd="0" presId="urn:microsoft.com/office/officeart/2005/8/layout/vList2"/>
    <dgm:cxn modelId="{CC694659-534E-4F2B-A931-844C8520985C}" type="presOf" srcId="{BFF20BD0-9D87-45B5-9F2E-A65B05874187}" destId="{3AF48667-E455-4AD5-9EB2-2F57E30D9E4E}" srcOrd="0" destOrd="0" presId="urn:microsoft.com/office/officeart/2005/8/layout/vList2"/>
    <dgm:cxn modelId="{5A08BB7F-F575-4E22-AB04-6E0F25CA57AE}" type="presOf" srcId="{BECAC726-45D0-440D-A857-8061C1209A17}" destId="{0A9B180D-B7C3-4E5D-A7EB-F1475AC1023F}" srcOrd="0" destOrd="0" presId="urn:microsoft.com/office/officeart/2005/8/layout/vList2"/>
    <dgm:cxn modelId="{6C00EC81-9C80-463F-89D9-3DEEA1101DA6}" srcId="{707F6692-96B6-4456-87C1-16C5DB05A91D}" destId="{21E5C1A9-A6D7-4921-A1AF-1A1CFF29E518}" srcOrd="3" destOrd="0" parTransId="{AE20DBF9-CA0F-42DA-9E85-885056B7DDEF}" sibTransId="{30CE53BB-6EA8-48C0-B3AC-4D1128C08A35}"/>
    <dgm:cxn modelId="{79CC0E89-82C5-414F-B951-04D1979CC53C}" type="presOf" srcId="{EB8175D5-12CB-4D6C-A933-7CAC26169F0C}" destId="{73D449A3-B6A8-4F4E-A3B5-EF0995A190F4}" srcOrd="0" destOrd="0" presId="urn:microsoft.com/office/officeart/2005/8/layout/vList2"/>
    <dgm:cxn modelId="{80AA5F8E-1B7A-4F8A-8BC0-467161FB2479}" srcId="{707F6692-96B6-4456-87C1-16C5DB05A91D}" destId="{5BD4CA29-64BB-48F2-B855-D4E63CC88C79}" srcOrd="1" destOrd="0" parTransId="{26D30539-68B9-45E1-ADF2-D5ECC21BD2DE}" sibTransId="{B32095D9-BDD4-4EA1-9377-159FA5507981}"/>
    <dgm:cxn modelId="{7CB19EBC-74C8-46B5-BF6B-07ACD5CD06F8}" srcId="{64C13141-9677-43BC-A016-D820C1DE80DB}" destId="{2DE97B66-0570-4475-BFDF-EF08BA8734E9}" srcOrd="0" destOrd="0" parTransId="{E19FBD73-AE33-4A91-AB00-D3214970C262}" sibTransId="{DD5EBCC4-E7EE-45FD-B8F4-0E83796EB4C9}"/>
    <dgm:cxn modelId="{DE6502C5-942D-4D63-8AEC-EF1E3C9C6AAB}" srcId="{707F6692-96B6-4456-87C1-16C5DB05A91D}" destId="{BECAC726-45D0-440D-A857-8061C1209A17}" srcOrd="0" destOrd="0" parTransId="{1F9442BA-CA2A-4680-A53B-3EAA95E5961A}" sibTransId="{188A117F-61DE-48AA-B107-53CD306E6A43}"/>
    <dgm:cxn modelId="{90685DCE-3C8A-42F7-AFF1-3718C91AC7E7}" srcId="{707F6692-96B6-4456-87C1-16C5DB05A91D}" destId="{64C13141-9677-43BC-A016-D820C1DE80DB}" srcOrd="2" destOrd="0" parTransId="{273021C2-AEDC-4798-B5C7-60599740FD70}" sibTransId="{DB9D7383-79F5-42F2-B397-9A8709D6BB4B}"/>
    <dgm:cxn modelId="{70F046D8-FE99-487A-BE1E-1C86022DDF3E}" srcId="{BECAC726-45D0-440D-A857-8061C1209A17}" destId="{BFF20BD0-9D87-45B5-9F2E-A65B05874187}" srcOrd="0" destOrd="0" parTransId="{DB43D97D-68AF-4397-9DA2-C842E083B2B6}" sibTransId="{96678B37-9A45-4DF7-B3A9-FC32AB3A9D3C}"/>
    <dgm:cxn modelId="{FC89D1DC-AF9E-411C-9B39-960EABF20962}" srcId="{21E5C1A9-A6D7-4921-A1AF-1A1CFF29E518}" destId="{EB8175D5-12CB-4D6C-A933-7CAC26169F0C}" srcOrd="0" destOrd="0" parTransId="{F7EE66AC-B80A-471A-B674-40F559EF35FB}" sibTransId="{FE06DA30-C194-4594-91E9-31AAAC775610}"/>
    <dgm:cxn modelId="{3ECF86E6-8FE4-49F7-9902-9AF42577D976}" srcId="{5BD4CA29-64BB-48F2-B855-D4E63CC88C79}" destId="{ED887B3A-CD86-467E-9B98-D250664AE3B8}" srcOrd="0" destOrd="0" parTransId="{0775C39C-142F-4748-B57A-EAC0ACEAAA99}" sibTransId="{C6F7AE38-10EC-40ED-9C65-C73B481A389B}"/>
    <dgm:cxn modelId="{E3EAECE3-350B-4C49-AFA3-A69E67027943}" type="presParOf" srcId="{E0CA874B-E355-415E-A7E9-877D90015EEB}" destId="{0A9B180D-B7C3-4E5D-A7EB-F1475AC1023F}" srcOrd="0" destOrd="0" presId="urn:microsoft.com/office/officeart/2005/8/layout/vList2"/>
    <dgm:cxn modelId="{6FBA105C-F6FC-4847-8A07-8A99FB230958}" type="presParOf" srcId="{E0CA874B-E355-415E-A7E9-877D90015EEB}" destId="{3AF48667-E455-4AD5-9EB2-2F57E30D9E4E}" srcOrd="1" destOrd="0" presId="urn:microsoft.com/office/officeart/2005/8/layout/vList2"/>
    <dgm:cxn modelId="{7BCFF3FF-F3CD-41E4-95D5-CF9CDA1E1887}" type="presParOf" srcId="{E0CA874B-E355-415E-A7E9-877D90015EEB}" destId="{84162E57-A478-47CF-9BF2-01046F705EE1}" srcOrd="2" destOrd="0" presId="urn:microsoft.com/office/officeart/2005/8/layout/vList2"/>
    <dgm:cxn modelId="{57AFFA0C-41EC-45E7-B154-FA508FFD0234}" type="presParOf" srcId="{E0CA874B-E355-415E-A7E9-877D90015EEB}" destId="{DF9830E0-DE46-4D24-8E6A-AEC5332C0007}" srcOrd="3" destOrd="0" presId="urn:microsoft.com/office/officeart/2005/8/layout/vList2"/>
    <dgm:cxn modelId="{0D447314-74EF-43FE-B771-2F5AC66180B4}" type="presParOf" srcId="{E0CA874B-E355-415E-A7E9-877D90015EEB}" destId="{4E5A6E15-1584-4A63-A686-4EB0A710EC9F}" srcOrd="4" destOrd="0" presId="urn:microsoft.com/office/officeart/2005/8/layout/vList2"/>
    <dgm:cxn modelId="{3E92C8A0-8FD9-4B7C-9D6C-87A56265201E}" type="presParOf" srcId="{E0CA874B-E355-415E-A7E9-877D90015EEB}" destId="{8278C054-AE80-4B90-9CAE-AB98E6F5322F}" srcOrd="5" destOrd="0" presId="urn:microsoft.com/office/officeart/2005/8/layout/vList2"/>
    <dgm:cxn modelId="{E83BF49C-41C9-40B6-9BA0-60C73BD65A97}" type="presParOf" srcId="{E0CA874B-E355-415E-A7E9-877D90015EEB}" destId="{37316E1F-704C-439D-9C83-CEFB0220BA78}" srcOrd="6" destOrd="0" presId="urn:microsoft.com/office/officeart/2005/8/layout/vList2"/>
    <dgm:cxn modelId="{6D5DA747-F095-42B9-A475-5934E7E6D0C4}" type="presParOf" srcId="{E0CA874B-E355-415E-A7E9-877D90015EEB}" destId="{73D449A3-B6A8-4F4E-A3B5-EF0995A190F4}"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CB052D-0457-41C4-BABF-E47B0CE5B0D4}" type="doc">
      <dgm:prSet loTypeId="urn:microsoft.com/office/officeart/2005/8/layout/vList2" loCatId="list" qsTypeId="urn:microsoft.com/office/officeart/2005/8/quickstyle/3d7" qsCatId="3D" csTypeId="urn:microsoft.com/office/officeart/2005/8/colors/accent1_2" csCatId="accent1" phldr="1"/>
      <dgm:spPr/>
      <dgm:t>
        <a:bodyPr/>
        <a:lstStyle/>
        <a:p>
          <a:endParaRPr lang="de-DE"/>
        </a:p>
      </dgm:t>
    </dgm:pt>
    <dgm:pt modelId="{FF770ABD-476B-491E-B183-05CFDBC32927}">
      <dgm:prSet/>
      <dgm:spPr/>
      <dgm:t>
        <a:bodyPr/>
        <a:lstStyle/>
        <a:p>
          <a:r>
            <a:rPr lang="de-DE" b="0" i="0" baseline="0" dirty="0" err="1"/>
            <a:t>beforeEach</a:t>
          </a:r>
          <a:endParaRPr lang="de-DE" b="0" i="0" baseline="0" dirty="0"/>
        </a:p>
        <a:p>
          <a:r>
            <a:rPr lang="de-DE" b="0" i="0" baseline="0" dirty="0" err="1"/>
            <a:t>afterEach</a:t>
          </a:r>
          <a:r>
            <a:rPr lang="de-DE" b="0" i="0" baseline="0" dirty="0"/>
            <a:t> </a:t>
          </a:r>
          <a:endParaRPr lang="de-DE" dirty="0"/>
        </a:p>
      </dgm:t>
    </dgm:pt>
    <dgm:pt modelId="{41034B70-FD88-4E14-B305-A50A4ACB2A95}" type="parTrans" cxnId="{A03D54E3-5262-429F-809A-90C91FFA4A01}">
      <dgm:prSet/>
      <dgm:spPr/>
      <dgm:t>
        <a:bodyPr/>
        <a:lstStyle/>
        <a:p>
          <a:endParaRPr lang="de-DE"/>
        </a:p>
      </dgm:t>
    </dgm:pt>
    <dgm:pt modelId="{836B1768-0B93-4010-B102-B30418B85F6E}" type="sibTrans" cxnId="{A03D54E3-5262-429F-809A-90C91FFA4A01}">
      <dgm:prSet/>
      <dgm:spPr/>
      <dgm:t>
        <a:bodyPr/>
        <a:lstStyle/>
        <a:p>
          <a:endParaRPr lang="de-DE"/>
        </a:p>
      </dgm:t>
    </dgm:pt>
    <dgm:pt modelId="{31227B9A-8502-4139-8B3B-721589D4066B}">
      <dgm:prSet/>
      <dgm:spPr/>
      <dgm:t>
        <a:bodyPr/>
        <a:lstStyle/>
        <a:p>
          <a:r>
            <a:rPr lang="de-DE" b="0" i="0" baseline="0"/>
            <a:t>einmal pro Test (it)</a:t>
          </a:r>
          <a:endParaRPr lang="de-DE"/>
        </a:p>
      </dgm:t>
    </dgm:pt>
    <dgm:pt modelId="{4E7949F6-840F-4E60-9998-7D887D5883D8}" type="parTrans" cxnId="{89D1302E-119E-48F9-991A-5034D42BA8AD}">
      <dgm:prSet/>
      <dgm:spPr/>
      <dgm:t>
        <a:bodyPr/>
        <a:lstStyle/>
        <a:p>
          <a:endParaRPr lang="de-DE"/>
        </a:p>
      </dgm:t>
    </dgm:pt>
    <dgm:pt modelId="{CF2A0314-4E61-47C8-855D-1979E44E18A7}" type="sibTrans" cxnId="{89D1302E-119E-48F9-991A-5034D42BA8AD}">
      <dgm:prSet/>
      <dgm:spPr/>
      <dgm:t>
        <a:bodyPr/>
        <a:lstStyle/>
        <a:p>
          <a:endParaRPr lang="de-DE"/>
        </a:p>
      </dgm:t>
    </dgm:pt>
    <dgm:pt modelId="{20A8C8B7-9931-47EB-8280-0C0AAB59D4B8}">
      <dgm:prSet/>
      <dgm:spPr/>
      <dgm:t>
        <a:bodyPr/>
        <a:lstStyle/>
        <a:p>
          <a:r>
            <a:rPr lang="de-DE" b="0" i="0" baseline="0" dirty="0" err="1"/>
            <a:t>beforeAll</a:t>
          </a:r>
          <a:endParaRPr lang="de-DE" b="0" i="0" baseline="0" dirty="0"/>
        </a:p>
        <a:p>
          <a:r>
            <a:rPr lang="de-DE" b="0" i="0" baseline="0" dirty="0" err="1"/>
            <a:t>afterAll</a:t>
          </a:r>
          <a:r>
            <a:rPr lang="de-DE" b="0" i="0" baseline="0" dirty="0"/>
            <a:t> </a:t>
          </a:r>
          <a:endParaRPr lang="de-DE" dirty="0"/>
        </a:p>
      </dgm:t>
    </dgm:pt>
    <dgm:pt modelId="{DE1F8E87-7928-4190-808A-D6DBFFFB6336}" type="parTrans" cxnId="{FAA0014C-F7EC-425F-8360-57DCE0D3D231}">
      <dgm:prSet/>
      <dgm:spPr/>
      <dgm:t>
        <a:bodyPr/>
        <a:lstStyle/>
        <a:p>
          <a:endParaRPr lang="de-DE"/>
        </a:p>
      </dgm:t>
    </dgm:pt>
    <dgm:pt modelId="{97215995-6B2A-4848-83BB-6BCD71084C8D}" type="sibTrans" cxnId="{FAA0014C-F7EC-425F-8360-57DCE0D3D231}">
      <dgm:prSet/>
      <dgm:spPr/>
      <dgm:t>
        <a:bodyPr/>
        <a:lstStyle/>
        <a:p>
          <a:endParaRPr lang="de-DE"/>
        </a:p>
      </dgm:t>
    </dgm:pt>
    <dgm:pt modelId="{B37F0508-79D2-4119-A4D8-FA8ED1B18BBF}">
      <dgm:prSet/>
      <dgm:spPr/>
      <dgm:t>
        <a:bodyPr/>
        <a:lstStyle/>
        <a:p>
          <a:r>
            <a:rPr lang="de-DE" b="0" i="0" baseline="0"/>
            <a:t>einmal pro Test-Suite (describe)</a:t>
          </a:r>
          <a:endParaRPr lang="de-DE"/>
        </a:p>
      </dgm:t>
    </dgm:pt>
    <dgm:pt modelId="{E10C1E4E-8657-4EAE-9251-1FC4CB550D27}" type="parTrans" cxnId="{63FC1538-D6FE-4831-8669-01DACD45BCA4}">
      <dgm:prSet/>
      <dgm:spPr/>
      <dgm:t>
        <a:bodyPr/>
        <a:lstStyle/>
        <a:p>
          <a:endParaRPr lang="de-DE"/>
        </a:p>
      </dgm:t>
    </dgm:pt>
    <dgm:pt modelId="{2675E554-AED9-4876-9A54-4533F9717C9A}" type="sibTrans" cxnId="{63FC1538-D6FE-4831-8669-01DACD45BCA4}">
      <dgm:prSet/>
      <dgm:spPr/>
      <dgm:t>
        <a:bodyPr/>
        <a:lstStyle/>
        <a:p>
          <a:endParaRPr lang="de-DE"/>
        </a:p>
      </dgm:t>
    </dgm:pt>
    <dgm:pt modelId="{2F270731-3CAC-4CA6-9862-8CDC8C098DA7}" type="pres">
      <dgm:prSet presAssocID="{8CCB052D-0457-41C4-BABF-E47B0CE5B0D4}" presName="linear" presStyleCnt="0">
        <dgm:presLayoutVars>
          <dgm:animLvl val="lvl"/>
          <dgm:resizeHandles val="exact"/>
        </dgm:presLayoutVars>
      </dgm:prSet>
      <dgm:spPr/>
    </dgm:pt>
    <dgm:pt modelId="{D7DBF538-DD2C-469B-B36F-5668DAA2B5B4}" type="pres">
      <dgm:prSet presAssocID="{FF770ABD-476B-491E-B183-05CFDBC32927}" presName="parentText" presStyleLbl="node1" presStyleIdx="0" presStyleCnt="2">
        <dgm:presLayoutVars>
          <dgm:chMax val="0"/>
          <dgm:bulletEnabled val="1"/>
        </dgm:presLayoutVars>
      </dgm:prSet>
      <dgm:spPr/>
    </dgm:pt>
    <dgm:pt modelId="{D56A4DE7-1BA2-4EE0-AA5F-A45824C1565E}" type="pres">
      <dgm:prSet presAssocID="{FF770ABD-476B-491E-B183-05CFDBC32927}" presName="childText" presStyleLbl="revTx" presStyleIdx="0" presStyleCnt="2">
        <dgm:presLayoutVars>
          <dgm:bulletEnabled val="1"/>
        </dgm:presLayoutVars>
      </dgm:prSet>
      <dgm:spPr/>
    </dgm:pt>
    <dgm:pt modelId="{1F3D2DF8-00F0-4EF1-BC71-7C64B4B66AA2}" type="pres">
      <dgm:prSet presAssocID="{20A8C8B7-9931-47EB-8280-0C0AAB59D4B8}" presName="parentText" presStyleLbl="node1" presStyleIdx="1" presStyleCnt="2">
        <dgm:presLayoutVars>
          <dgm:chMax val="0"/>
          <dgm:bulletEnabled val="1"/>
        </dgm:presLayoutVars>
      </dgm:prSet>
      <dgm:spPr/>
    </dgm:pt>
    <dgm:pt modelId="{0903BF19-5929-4641-8E1E-21C9DFF66A2F}" type="pres">
      <dgm:prSet presAssocID="{20A8C8B7-9931-47EB-8280-0C0AAB59D4B8}" presName="childText" presStyleLbl="revTx" presStyleIdx="1" presStyleCnt="2">
        <dgm:presLayoutVars>
          <dgm:bulletEnabled val="1"/>
        </dgm:presLayoutVars>
      </dgm:prSet>
      <dgm:spPr/>
    </dgm:pt>
  </dgm:ptLst>
  <dgm:cxnLst>
    <dgm:cxn modelId="{ACB03C0F-5668-47C4-AFCB-3043AEC6B8EF}" type="presOf" srcId="{31227B9A-8502-4139-8B3B-721589D4066B}" destId="{D56A4DE7-1BA2-4EE0-AA5F-A45824C1565E}" srcOrd="0" destOrd="0" presId="urn:microsoft.com/office/officeart/2005/8/layout/vList2"/>
    <dgm:cxn modelId="{89D1302E-119E-48F9-991A-5034D42BA8AD}" srcId="{FF770ABD-476B-491E-B183-05CFDBC32927}" destId="{31227B9A-8502-4139-8B3B-721589D4066B}" srcOrd="0" destOrd="0" parTransId="{4E7949F6-840F-4E60-9998-7D887D5883D8}" sibTransId="{CF2A0314-4E61-47C8-855D-1979E44E18A7}"/>
    <dgm:cxn modelId="{63FC1538-D6FE-4831-8669-01DACD45BCA4}" srcId="{20A8C8B7-9931-47EB-8280-0C0AAB59D4B8}" destId="{B37F0508-79D2-4119-A4D8-FA8ED1B18BBF}" srcOrd="0" destOrd="0" parTransId="{E10C1E4E-8657-4EAE-9251-1FC4CB550D27}" sibTransId="{2675E554-AED9-4876-9A54-4533F9717C9A}"/>
    <dgm:cxn modelId="{FAA0014C-F7EC-425F-8360-57DCE0D3D231}" srcId="{8CCB052D-0457-41C4-BABF-E47B0CE5B0D4}" destId="{20A8C8B7-9931-47EB-8280-0C0AAB59D4B8}" srcOrd="1" destOrd="0" parTransId="{DE1F8E87-7928-4190-808A-D6DBFFFB6336}" sibTransId="{97215995-6B2A-4848-83BB-6BCD71084C8D}"/>
    <dgm:cxn modelId="{C7D18985-E9EB-4A04-A4D2-2A28468567BE}" type="presOf" srcId="{B37F0508-79D2-4119-A4D8-FA8ED1B18BBF}" destId="{0903BF19-5929-4641-8E1E-21C9DFF66A2F}" srcOrd="0" destOrd="0" presId="urn:microsoft.com/office/officeart/2005/8/layout/vList2"/>
    <dgm:cxn modelId="{545D10AE-A9A0-4AD5-8874-5F071111903C}" type="presOf" srcId="{20A8C8B7-9931-47EB-8280-0C0AAB59D4B8}" destId="{1F3D2DF8-00F0-4EF1-BC71-7C64B4B66AA2}" srcOrd="0" destOrd="0" presId="urn:microsoft.com/office/officeart/2005/8/layout/vList2"/>
    <dgm:cxn modelId="{A03D54E3-5262-429F-809A-90C91FFA4A01}" srcId="{8CCB052D-0457-41C4-BABF-E47B0CE5B0D4}" destId="{FF770ABD-476B-491E-B183-05CFDBC32927}" srcOrd="0" destOrd="0" parTransId="{41034B70-FD88-4E14-B305-A50A4ACB2A95}" sibTransId="{836B1768-0B93-4010-B102-B30418B85F6E}"/>
    <dgm:cxn modelId="{D65A04E9-FC9A-40BA-B10C-07892E9C7AFD}" type="presOf" srcId="{8CCB052D-0457-41C4-BABF-E47B0CE5B0D4}" destId="{2F270731-3CAC-4CA6-9862-8CDC8C098DA7}" srcOrd="0" destOrd="0" presId="urn:microsoft.com/office/officeart/2005/8/layout/vList2"/>
    <dgm:cxn modelId="{B655DFEA-36B5-4B03-A7EC-FFD76DB067B4}" type="presOf" srcId="{FF770ABD-476B-491E-B183-05CFDBC32927}" destId="{D7DBF538-DD2C-469B-B36F-5668DAA2B5B4}" srcOrd="0" destOrd="0" presId="urn:microsoft.com/office/officeart/2005/8/layout/vList2"/>
    <dgm:cxn modelId="{58AF7697-7787-4815-818C-D4B2A81A783D}" type="presParOf" srcId="{2F270731-3CAC-4CA6-9862-8CDC8C098DA7}" destId="{D7DBF538-DD2C-469B-B36F-5668DAA2B5B4}" srcOrd="0" destOrd="0" presId="urn:microsoft.com/office/officeart/2005/8/layout/vList2"/>
    <dgm:cxn modelId="{DB480136-F99A-41DA-B737-20196B85D428}" type="presParOf" srcId="{2F270731-3CAC-4CA6-9862-8CDC8C098DA7}" destId="{D56A4DE7-1BA2-4EE0-AA5F-A45824C1565E}" srcOrd="1" destOrd="0" presId="urn:microsoft.com/office/officeart/2005/8/layout/vList2"/>
    <dgm:cxn modelId="{FF32C118-5052-4B8F-8E95-1C91F5D1553E}" type="presParOf" srcId="{2F270731-3CAC-4CA6-9862-8CDC8C098DA7}" destId="{1F3D2DF8-00F0-4EF1-BC71-7C64B4B66AA2}" srcOrd="2" destOrd="0" presId="urn:microsoft.com/office/officeart/2005/8/layout/vList2"/>
    <dgm:cxn modelId="{6DA916C7-91CE-417C-9ACC-09ED5ACF82BF}" type="presParOf" srcId="{2F270731-3CAC-4CA6-9862-8CDC8C098DA7}" destId="{0903BF19-5929-4641-8E1E-21C9DFF66A2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88F3A6-9404-4EE0-986C-04CF8F182FB0}">
      <dsp:nvSpPr>
        <dsp:cNvPr id="0" name=""/>
        <dsp:cNvSpPr/>
      </dsp:nvSpPr>
      <dsp:spPr>
        <a:xfrm>
          <a:off x="2961216" y="0"/>
          <a:ext cx="2961216" cy="1225550"/>
        </a:xfrm>
        <a:prstGeom prst="trapezoid">
          <a:avLst>
            <a:gd name="adj" fmla="val 120812"/>
          </a:avLst>
        </a:prstGeom>
        <a:solidFill>
          <a:schemeClr val="accent1">
            <a:shade val="80000"/>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2000250">
            <a:lnSpc>
              <a:spcPct val="90000"/>
            </a:lnSpc>
            <a:spcBef>
              <a:spcPct val="0"/>
            </a:spcBef>
            <a:spcAft>
              <a:spcPct val="35000"/>
            </a:spcAft>
            <a:buNone/>
          </a:pPr>
          <a:r>
            <a:rPr lang="de-DE" sz="4500" kern="1200" dirty="0"/>
            <a:t>Akzeptanz</a:t>
          </a:r>
        </a:p>
      </dsp:txBody>
      <dsp:txXfrm>
        <a:off x="2961216" y="0"/>
        <a:ext cx="2961216" cy="1225550"/>
      </dsp:txXfrm>
    </dsp:sp>
    <dsp:sp modelId="{646428AF-D0C8-419E-AC44-F9D9F973D289}">
      <dsp:nvSpPr>
        <dsp:cNvPr id="0" name=""/>
        <dsp:cNvSpPr/>
      </dsp:nvSpPr>
      <dsp:spPr>
        <a:xfrm>
          <a:off x="1480608" y="1225550"/>
          <a:ext cx="5922433" cy="1225550"/>
        </a:xfrm>
        <a:prstGeom prst="trapezoid">
          <a:avLst>
            <a:gd name="adj" fmla="val 120812"/>
          </a:avLst>
        </a:prstGeom>
        <a:solidFill>
          <a:schemeClr val="accent1">
            <a:shade val="80000"/>
            <a:hueOff val="182957"/>
            <a:satOff val="-8944"/>
            <a:lumOff val="14474"/>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2000250">
            <a:lnSpc>
              <a:spcPct val="90000"/>
            </a:lnSpc>
            <a:spcBef>
              <a:spcPct val="0"/>
            </a:spcBef>
            <a:spcAft>
              <a:spcPct val="35000"/>
            </a:spcAft>
            <a:buNone/>
          </a:pPr>
          <a:r>
            <a:rPr lang="de-DE" sz="4500" kern="1200" dirty="0"/>
            <a:t>Integration</a:t>
          </a:r>
        </a:p>
      </dsp:txBody>
      <dsp:txXfrm>
        <a:off x="2517034" y="1225550"/>
        <a:ext cx="3849581" cy="1225550"/>
      </dsp:txXfrm>
    </dsp:sp>
    <dsp:sp modelId="{E86C77F4-24C4-4C50-9158-8632E1334CA4}">
      <dsp:nvSpPr>
        <dsp:cNvPr id="0" name=""/>
        <dsp:cNvSpPr/>
      </dsp:nvSpPr>
      <dsp:spPr>
        <a:xfrm>
          <a:off x="0" y="2451100"/>
          <a:ext cx="8883650" cy="1225550"/>
        </a:xfrm>
        <a:prstGeom prst="trapezoid">
          <a:avLst>
            <a:gd name="adj" fmla="val 120812"/>
          </a:avLst>
        </a:prstGeom>
        <a:solidFill>
          <a:schemeClr val="accent1">
            <a:shade val="80000"/>
            <a:hueOff val="365914"/>
            <a:satOff val="-17887"/>
            <a:lumOff val="28949"/>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2000250">
            <a:lnSpc>
              <a:spcPct val="90000"/>
            </a:lnSpc>
            <a:spcBef>
              <a:spcPct val="0"/>
            </a:spcBef>
            <a:spcAft>
              <a:spcPct val="35000"/>
            </a:spcAft>
            <a:buNone/>
          </a:pPr>
          <a:r>
            <a:rPr lang="de-DE" sz="4500" kern="1200" dirty="0"/>
            <a:t>Unit</a:t>
          </a:r>
        </a:p>
      </dsp:txBody>
      <dsp:txXfrm>
        <a:off x="1554638" y="2451100"/>
        <a:ext cx="5774372" cy="1225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CE3D9-085C-4A25-B476-CCFB2668A933}">
      <dsp:nvSpPr>
        <dsp:cNvPr id="0" name=""/>
        <dsp:cNvSpPr/>
      </dsp:nvSpPr>
      <dsp:spPr>
        <a:xfrm>
          <a:off x="1328058" y="461865"/>
          <a:ext cx="1429312" cy="1429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D34C94-75D5-46C0-9452-088105C92D65}">
      <dsp:nvSpPr>
        <dsp:cNvPr id="0" name=""/>
        <dsp:cNvSpPr/>
      </dsp:nvSpPr>
      <dsp:spPr>
        <a:xfrm>
          <a:off x="839" y="2009597"/>
          <a:ext cx="4083750" cy="612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de-DE" sz="3600" kern="1200"/>
            <a:t>Vitest</a:t>
          </a:r>
          <a:endParaRPr lang="en-US" sz="3600" kern="1200"/>
        </a:p>
      </dsp:txBody>
      <dsp:txXfrm>
        <a:off x="839" y="2009597"/>
        <a:ext cx="4083750" cy="612562"/>
      </dsp:txXfrm>
    </dsp:sp>
    <dsp:sp modelId="{0E68AF0D-FC1C-469B-8F1F-F84126F11B95}">
      <dsp:nvSpPr>
        <dsp:cNvPr id="0" name=""/>
        <dsp:cNvSpPr/>
      </dsp:nvSpPr>
      <dsp:spPr>
        <a:xfrm>
          <a:off x="839" y="2677239"/>
          <a:ext cx="4083750" cy="538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de-DE" sz="1700" kern="1200"/>
            <a:t>Test-Runner und Framework: startet die Tests, stellt Mocks und Matcher bereit, meldet die Ergebnisse</a:t>
          </a:r>
          <a:endParaRPr lang="en-US" sz="1700" kern="1200"/>
        </a:p>
      </dsp:txBody>
      <dsp:txXfrm>
        <a:off x="839" y="2677239"/>
        <a:ext cx="4083750" cy="538578"/>
      </dsp:txXfrm>
    </dsp:sp>
    <dsp:sp modelId="{08A9250D-2E7F-4853-A363-7686AC1C988E}">
      <dsp:nvSpPr>
        <dsp:cNvPr id="0" name=""/>
        <dsp:cNvSpPr/>
      </dsp:nvSpPr>
      <dsp:spPr>
        <a:xfrm>
          <a:off x="6126464" y="461865"/>
          <a:ext cx="1429312" cy="1429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34CB7D-C497-4752-9B9E-0CFFF7A266A8}">
      <dsp:nvSpPr>
        <dsp:cNvPr id="0" name=""/>
        <dsp:cNvSpPr/>
      </dsp:nvSpPr>
      <dsp:spPr>
        <a:xfrm>
          <a:off x="4799246" y="2009597"/>
          <a:ext cx="4083750" cy="612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de-DE" sz="3600" kern="1200"/>
            <a:t>jsdom</a:t>
          </a:r>
          <a:endParaRPr lang="en-US" sz="3600" kern="1200"/>
        </a:p>
      </dsp:txBody>
      <dsp:txXfrm>
        <a:off x="4799246" y="2009597"/>
        <a:ext cx="4083750" cy="612562"/>
      </dsp:txXfrm>
    </dsp:sp>
    <dsp:sp modelId="{E7BF5337-0866-48EE-B50A-FC264C1E22CD}">
      <dsp:nvSpPr>
        <dsp:cNvPr id="0" name=""/>
        <dsp:cNvSpPr/>
      </dsp:nvSpPr>
      <dsp:spPr>
        <a:xfrm>
          <a:off x="4799246" y="2677239"/>
          <a:ext cx="4083750" cy="538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de-DE" sz="1700" kern="1200"/>
            <a:t>Simulierte Browser-Umgebung: Komponenten laufen im Test ohne echten Browser</a:t>
          </a:r>
          <a:endParaRPr lang="en-US" sz="1700" kern="1200"/>
        </a:p>
      </dsp:txBody>
      <dsp:txXfrm>
        <a:off x="4799246" y="2677239"/>
        <a:ext cx="4083750" cy="5385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B180D-B7C3-4E5D-A7EB-F1475AC1023F}">
      <dsp:nvSpPr>
        <dsp:cNvPr id="0" name=""/>
        <dsp:cNvSpPr/>
      </dsp:nvSpPr>
      <dsp:spPr>
        <a:xfrm>
          <a:off x="0" y="96802"/>
          <a:ext cx="8883650" cy="4176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de-DE" sz="1700" b="1" i="0" kern="1200" baseline="0"/>
            <a:t>Suites – describe(name, fn)</a:t>
          </a:r>
          <a:endParaRPr lang="de-DE" sz="1700" kern="1200" dirty="0"/>
        </a:p>
      </dsp:txBody>
      <dsp:txXfrm>
        <a:off x="20390" y="117192"/>
        <a:ext cx="8842870" cy="376910"/>
      </dsp:txXfrm>
    </dsp:sp>
    <dsp:sp modelId="{3AF48667-E455-4AD5-9EB2-2F57E30D9E4E}">
      <dsp:nvSpPr>
        <dsp:cNvPr id="0" name=""/>
        <dsp:cNvSpPr/>
      </dsp:nvSpPr>
      <dsp:spPr>
        <a:xfrm>
          <a:off x="0" y="514492"/>
          <a:ext cx="888365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05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de-DE" sz="1300" b="0" i="0" kern="1200" baseline="0"/>
            <a:t>Eine Suite bündelt zusammengehörige Tests (describe-Block)</a:t>
          </a:r>
        </a:p>
        <a:p>
          <a:pPr marL="114300" lvl="1" indent="-114300" algn="l" defTabSz="577850">
            <a:lnSpc>
              <a:spcPct val="90000"/>
            </a:lnSpc>
            <a:spcBef>
              <a:spcPct val="0"/>
            </a:spcBef>
            <a:spcAft>
              <a:spcPct val="20000"/>
            </a:spcAft>
            <a:buChar char="•"/>
          </a:pPr>
          <a:endParaRPr lang="de-DE" sz="1300" kern="1200" dirty="0"/>
        </a:p>
      </dsp:txBody>
      <dsp:txXfrm>
        <a:off x="0" y="514492"/>
        <a:ext cx="8883650" cy="448672"/>
      </dsp:txXfrm>
    </dsp:sp>
    <dsp:sp modelId="{84162E57-A478-47CF-9BF2-01046F705EE1}">
      <dsp:nvSpPr>
        <dsp:cNvPr id="0" name=""/>
        <dsp:cNvSpPr/>
      </dsp:nvSpPr>
      <dsp:spPr>
        <a:xfrm>
          <a:off x="0" y="963164"/>
          <a:ext cx="8883650" cy="4176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de-DE" sz="1700" b="1" i="0" kern="1200" baseline="0"/>
            <a:t>Tests (Specs) – it(name, fn)</a:t>
          </a:r>
          <a:endParaRPr lang="de-DE" sz="1700" kern="1200"/>
        </a:p>
      </dsp:txBody>
      <dsp:txXfrm>
        <a:off x="20390" y="983554"/>
        <a:ext cx="8842870" cy="376910"/>
      </dsp:txXfrm>
    </dsp:sp>
    <dsp:sp modelId="{DF9830E0-DE46-4D24-8E6A-AEC5332C0007}">
      <dsp:nvSpPr>
        <dsp:cNvPr id="0" name=""/>
        <dsp:cNvSpPr/>
      </dsp:nvSpPr>
      <dsp:spPr>
        <a:xfrm>
          <a:off x="0" y="1380854"/>
          <a:ext cx="888365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05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de-DE" sz="1300" b="0" i="0" kern="1200" baseline="0" dirty="0"/>
            <a:t>1 Test bestehend aus Titel</a:t>
          </a:r>
          <a:endParaRPr lang="de-DE" sz="1300" kern="1200" dirty="0"/>
        </a:p>
        <a:p>
          <a:pPr marL="114300" lvl="1" indent="-114300" algn="l" defTabSz="577850">
            <a:lnSpc>
              <a:spcPct val="90000"/>
            </a:lnSpc>
            <a:spcBef>
              <a:spcPct val="0"/>
            </a:spcBef>
            <a:spcAft>
              <a:spcPct val="20000"/>
            </a:spcAft>
            <a:buChar char="•"/>
          </a:pPr>
          <a:r>
            <a:rPr lang="de-DE" sz="1300" b="0" i="0" kern="1200" baseline="0" dirty="0"/>
            <a:t>und einer Funktion mit dem Test -&gt; Erwartungen(</a:t>
          </a:r>
          <a:r>
            <a:rPr lang="de-DE" sz="1300" b="0" i="0" kern="1200" baseline="0" dirty="0" err="1"/>
            <a:t>Expectations</a:t>
          </a:r>
          <a:r>
            <a:rPr lang="de-DE" sz="1300" b="0" i="0" kern="1200" baseline="0" dirty="0"/>
            <a:t>).</a:t>
          </a:r>
          <a:endParaRPr lang="de-DE" sz="1300" kern="1200" dirty="0"/>
        </a:p>
      </dsp:txBody>
      <dsp:txXfrm>
        <a:off x="0" y="1380854"/>
        <a:ext cx="8883650" cy="448672"/>
      </dsp:txXfrm>
    </dsp:sp>
    <dsp:sp modelId="{4E5A6E15-1584-4A63-A686-4EB0A710EC9F}">
      <dsp:nvSpPr>
        <dsp:cNvPr id="0" name=""/>
        <dsp:cNvSpPr/>
      </dsp:nvSpPr>
      <dsp:spPr>
        <a:xfrm>
          <a:off x="0" y="1829527"/>
          <a:ext cx="8883650" cy="4176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de-DE" sz="1700" b="1" i="0" kern="1200" baseline="0" dirty="0" err="1"/>
            <a:t>Expectations</a:t>
          </a:r>
          <a:r>
            <a:rPr lang="de-DE" sz="1700" b="0" i="0" kern="1200" baseline="0" dirty="0"/>
            <a:t> </a:t>
          </a:r>
          <a:r>
            <a:rPr lang="de-DE" sz="1700" b="0" i="0" kern="1200" baseline="0" dirty="0" err="1"/>
            <a:t>expect</a:t>
          </a:r>
          <a:r>
            <a:rPr lang="de-DE" sz="1700" b="0" i="0" kern="1200" baseline="0" dirty="0"/>
            <a:t>(</a:t>
          </a:r>
          <a:r>
            <a:rPr lang="de-DE" sz="1700" b="0" i="0" kern="1200" baseline="0" dirty="0" err="1"/>
            <a:t>actual</a:t>
          </a:r>
          <a:r>
            <a:rPr lang="de-DE" sz="1700" b="0" i="0" kern="1200" baseline="0" dirty="0"/>
            <a:t>).</a:t>
          </a:r>
          <a:r>
            <a:rPr lang="de-DE" sz="1700" b="0" i="0" kern="1200" baseline="0" dirty="0" err="1"/>
            <a:t>toBe</a:t>
          </a:r>
          <a:r>
            <a:rPr lang="de-DE" sz="1700" b="0" i="0" kern="1200" baseline="0" dirty="0"/>
            <a:t>(</a:t>
          </a:r>
          <a:r>
            <a:rPr lang="de-DE" sz="1700" b="0" i="0" kern="1200" baseline="0" dirty="0" err="1"/>
            <a:t>expected</a:t>
          </a:r>
          <a:r>
            <a:rPr lang="de-DE" sz="1700" b="0" i="0" kern="1200" baseline="0" dirty="0"/>
            <a:t>)</a:t>
          </a:r>
          <a:endParaRPr lang="de-DE" sz="1700" kern="1200" dirty="0"/>
        </a:p>
      </dsp:txBody>
      <dsp:txXfrm>
        <a:off x="20390" y="1849917"/>
        <a:ext cx="8842870" cy="376910"/>
      </dsp:txXfrm>
    </dsp:sp>
    <dsp:sp modelId="{8278C054-AE80-4B90-9CAE-AB98E6F5322F}">
      <dsp:nvSpPr>
        <dsp:cNvPr id="0" name=""/>
        <dsp:cNvSpPr/>
      </dsp:nvSpPr>
      <dsp:spPr>
        <a:xfrm>
          <a:off x="0" y="2247217"/>
          <a:ext cx="8883650"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05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de-DE" sz="1300" b="0" i="0" kern="1200" baseline="0" dirty="0"/>
            <a:t>Erwartung - technische Implementierung deines Tests </a:t>
          </a:r>
          <a:r>
            <a:rPr lang="de-DE" sz="1300" b="0" i="0" kern="1200" baseline="0" dirty="0">
              <a:sym typeface="Wingdings" panose="05000000000000000000" pitchFamily="2" charset="2"/>
            </a:rPr>
            <a:t> </a:t>
          </a:r>
          <a:r>
            <a:rPr lang="de-DE" sz="1300" b="0" i="0" kern="1200" baseline="0" dirty="0" err="1"/>
            <a:t>true</a:t>
          </a:r>
          <a:r>
            <a:rPr lang="de-DE" sz="1300" b="0" i="0" kern="1200" baseline="0" dirty="0"/>
            <a:t> oder </a:t>
          </a:r>
          <a:r>
            <a:rPr lang="de-DE" sz="1300" b="0" i="0" kern="1200" baseline="0" dirty="0" err="1"/>
            <a:t>false</a:t>
          </a:r>
          <a:r>
            <a:rPr lang="de-DE" sz="1300" b="0" i="0" kern="1200" baseline="0" dirty="0"/>
            <a:t> auswertet.</a:t>
          </a:r>
          <a:endParaRPr lang="de-DE" sz="1300" kern="1200" dirty="0"/>
        </a:p>
      </dsp:txBody>
      <dsp:txXfrm>
        <a:off x="0" y="2247217"/>
        <a:ext cx="8883650" cy="281520"/>
      </dsp:txXfrm>
    </dsp:sp>
    <dsp:sp modelId="{37316E1F-704C-439D-9C83-CEFB0220BA78}">
      <dsp:nvSpPr>
        <dsp:cNvPr id="0" name=""/>
        <dsp:cNvSpPr/>
      </dsp:nvSpPr>
      <dsp:spPr>
        <a:xfrm>
          <a:off x="0" y="2528737"/>
          <a:ext cx="8883650" cy="4176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de-DE" sz="1700" b="1" i="0" kern="1200" baseline="0" dirty="0" err="1"/>
            <a:t>Matchers</a:t>
          </a:r>
          <a:r>
            <a:rPr lang="de-DE" sz="1700" b="0" i="0" kern="1200" baseline="0" dirty="0"/>
            <a:t> </a:t>
          </a:r>
          <a:endParaRPr lang="de-DE" sz="1700" kern="1200" dirty="0"/>
        </a:p>
      </dsp:txBody>
      <dsp:txXfrm>
        <a:off x="20390" y="2549127"/>
        <a:ext cx="8842870" cy="376910"/>
      </dsp:txXfrm>
    </dsp:sp>
    <dsp:sp modelId="{73D449A3-B6A8-4F4E-A3B5-EF0995A190F4}">
      <dsp:nvSpPr>
        <dsp:cNvPr id="0" name=""/>
        <dsp:cNvSpPr/>
      </dsp:nvSpPr>
      <dsp:spPr>
        <a:xfrm>
          <a:off x="0" y="2946427"/>
          <a:ext cx="8883650"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05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de-DE" sz="1300" b="0" i="0" kern="1200" baseline="0"/>
            <a:t>vordefinierte Hilfsfunktionen für Erwartungen, z. B.: toBe, toEqual, toContain, toHaveLength, toHaveBeenCalledWith.</a:t>
          </a:r>
          <a:endParaRPr lang="de-DE" sz="1300" kern="1200" dirty="0"/>
        </a:p>
        <a:p>
          <a:pPr marL="114300" lvl="1" indent="-114300" algn="l" defTabSz="577850">
            <a:lnSpc>
              <a:spcPct val="90000"/>
            </a:lnSpc>
            <a:spcBef>
              <a:spcPct val="0"/>
            </a:spcBef>
            <a:spcAft>
              <a:spcPct val="20000"/>
            </a:spcAft>
            <a:buChar char="•"/>
          </a:pPr>
          <a:r>
            <a:rPr lang="de-DE" sz="1300" b="0" i="0" kern="1200" baseline="0"/>
            <a:t>komplette Liste: vitest.dev/api/expect</a:t>
          </a:r>
          <a:endParaRPr lang="de-DE" sz="1300" kern="1200" dirty="0"/>
        </a:p>
      </dsp:txBody>
      <dsp:txXfrm>
        <a:off x="0" y="2946427"/>
        <a:ext cx="8883650" cy="6334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BF538-DD2C-469B-B36F-5668DAA2B5B4}">
      <dsp:nvSpPr>
        <dsp:cNvPr id="0" name=""/>
        <dsp:cNvSpPr/>
      </dsp:nvSpPr>
      <dsp:spPr>
        <a:xfrm>
          <a:off x="0" y="34815"/>
          <a:ext cx="8883650" cy="1323270"/>
        </a:xfrm>
        <a:prstGeom prst="round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de-DE" sz="2900" b="0" i="0" kern="1200" baseline="0" dirty="0" err="1"/>
            <a:t>beforeEach</a:t>
          </a:r>
          <a:endParaRPr lang="de-DE" sz="2900" b="0" i="0" kern="1200" baseline="0" dirty="0"/>
        </a:p>
        <a:p>
          <a:pPr marL="0" lvl="0" indent="0" algn="l" defTabSz="1289050">
            <a:lnSpc>
              <a:spcPct val="90000"/>
            </a:lnSpc>
            <a:spcBef>
              <a:spcPct val="0"/>
            </a:spcBef>
            <a:spcAft>
              <a:spcPct val="35000"/>
            </a:spcAft>
            <a:buNone/>
          </a:pPr>
          <a:r>
            <a:rPr lang="de-DE" sz="2900" b="0" i="0" kern="1200" baseline="0" dirty="0" err="1"/>
            <a:t>afterEach</a:t>
          </a:r>
          <a:r>
            <a:rPr lang="de-DE" sz="2900" b="0" i="0" kern="1200" baseline="0" dirty="0"/>
            <a:t> </a:t>
          </a:r>
          <a:endParaRPr lang="de-DE" sz="2900" kern="1200" dirty="0"/>
        </a:p>
      </dsp:txBody>
      <dsp:txXfrm>
        <a:off x="64597" y="99412"/>
        <a:ext cx="8754456" cy="1194076"/>
      </dsp:txXfrm>
    </dsp:sp>
    <dsp:sp modelId="{D56A4DE7-1BA2-4EE0-AA5F-A45824C1565E}">
      <dsp:nvSpPr>
        <dsp:cNvPr id="0" name=""/>
        <dsp:cNvSpPr/>
      </dsp:nvSpPr>
      <dsp:spPr>
        <a:xfrm>
          <a:off x="0" y="1358085"/>
          <a:ext cx="8883650" cy="48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056"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de-DE" sz="2300" b="0" i="0" kern="1200" baseline="0"/>
            <a:t>einmal pro Test (it)</a:t>
          </a:r>
          <a:endParaRPr lang="de-DE" sz="2300" kern="1200"/>
        </a:p>
      </dsp:txBody>
      <dsp:txXfrm>
        <a:off x="0" y="1358085"/>
        <a:ext cx="8883650" cy="480240"/>
      </dsp:txXfrm>
    </dsp:sp>
    <dsp:sp modelId="{1F3D2DF8-00F0-4EF1-BC71-7C64B4B66AA2}">
      <dsp:nvSpPr>
        <dsp:cNvPr id="0" name=""/>
        <dsp:cNvSpPr/>
      </dsp:nvSpPr>
      <dsp:spPr>
        <a:xfrm>
          <a:off x="0" y="1838325"/>
          <a:ext cx="8883650" cy="1323270"/>
        </a:xfrm>
        <a:prstGeom prst="round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de-DE" sz="2900" b="0" i="0" kern="1200" baseline="0" dirty="0" err="1"/>
            <a:t>beforeAll</a:t>
          </a:r>
          <a:endParaRPr lang="de-DE" sz="2900" b="0" i="0" kern="1200" baseline="0" dirty="0"/>
        </a:p>
        <a:p>
          <a:pPr marL="0" lvl="0" indent="0" algn="l" defTabSz="1289050">
            <a:lnSpc>
              <a:spcPct val="90000"/>
            </a:lnSpc>
            <a:spcBef>
              <a:spcPct val="0"/>
            </a:spcBef>
            <a:spcAft>
              <a:spcPct val="35000"/>
            </a:spcAft>
            <a:buNone/>
          </a:pPr>
          <a:r>
            <a:rPr lang="de-DE" sz="2900" b="0" i="0" kern="1200" baseline="0" dirty="0" err="1"/>
            <a:t>afterAll</a:t>
          </a:r>
          <a:r>
            <a:rPr lang="de-DE" sz="2900" b="0" i="0" kern="1200" baseline="0" dirty="0"/>
            <a:t> </a:t>
          </a:r>
          <a:endParaRPr lang="de-DE" sz="2900" kern="1200" dirty="0"/>
        </a:p>
      </dsp:txBody>
      <dsp:txXfrm>
        <a:off x="64597" y="1902922"/>
        <a:ext cx="8754456" cy="1194076"/>
      </dsp:txXfrm>
    </dsp:sp>
    <dsp:sp modelId="{0903BF19-5929-4641-8E1E-21C9DFF66A2F}">
      <dsp:nvSpPr>
        <dsp:cNvPr id="0" name=""/>
        <dsp:cNvSpPr/>
      </dsp:nvSpPr>
      <dsp:spPr>
        <a:xfrm>
          <a:off x="0" y="3161594"/>
          <a:ext cx="8883650" cy="48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056"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de-DE" sz="2300" b="0" i="0" kern="1200" baseline="0"/>
            <a:t>einmal pro Test-Suite (describe)</a:t>
          </a:r>
          <a:endParaRPr lang="de-DE" sz="2300" kern="1200"/>
        </a:p>
      </dsp:txBody>
      <dsp:txXfrm>
        <a:off x="0" y="3161594"/>
        <a:ext cx="8883650" cy="48024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„Umstieg von Jasmine auf Vitest (Bestandsprojekte)“.</a:t>
            </a:r>
          </a:p>
          <a:p/>
          <a:p>
            <a:r>
              <a:t>Viele bestehende Projekte haben noch Tests im alten Stil mit Jasmine. Diese Folie ist ein Spickzettel für den Umstieg. Links steht die alte Schreibweise, rechts die neue für Vitest. Die Funktionen „describe“, „it“ und „expect“ bleiben gleich. Anders sind vor allem die Ersatzfunktionen: „jasmine.createSpy“ wird zu „vi.fn“, „spyOn“ wird zu „vi.spyOn“, und „and.returnValue“ wird zu „mockReturnValue“.</a:t>
            </a:r>
          </a:p>
          <a:p/>
          <a:p>
            <a:r>
              <a:t>Auch die Prüfung der Listenlänge heißt anders: Aus „toHaveSize“ wird „toHaveLength“. Tests mit „done“-Funktion schreibt man mit „async“ und „await“ um. Die Dateien „karma.conf.js“, „test.ts“ und „polyfills.ts“ werden nicht mehr gebraucht.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„Testing“.</a:t>
            </a:r>
          </a:p>
          <a:p/>
          <a:p>
            <a:r>
              <a:t>Dieses Kapitel behandelt das automatische Testen von Angular-Anwendungen. Für kleine Tests einzelner Bausteine, die „Unit Tests“, wird jetzt „Vitest“ verwendet. Vitest ist das Werkzeug, das ab Angular 21 standardmäßig mitgeliefert wird. Für Tests, die die ganze Anwendung im Browser durchspielen, den „End-to-End-Tests“, werden „Cypress“ und „Playwright“ genannt.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„Angular Test-Runner: Vitest (Default ab v21)“.</a:t>
            </a:r>
          </a:p>
          <a:p/>
          <a:p>
            <a:r>
              <a:t>Ein „Test-Runner“ ist ein Programm, das die Tests startet und das Ergebnis anzeigt. Früher benutzte Angular dafür „Karma“ zusammen mit „Jasmine“. Ab Angular 21 ist „Vitest“ der Standard. Vitest startet die Tests, bietet Funktionen zum Prüfen und zum Nachbauen von Abhängigkeiten und zeigt die Ergebnisse in der Konsole.</a:t>
            </a:r>
          </a:p>
          <a:p/>
          <a:p>
            <a:r>
              <a:t>„jsdom“ ist ein Programm, das einen Browser nachbildet. Dadurch laufen die Komponenten im Test sehr schnell, ohne dass ein echter Browser geöffnet werden muss.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„Vitest – Standard-Test-Runner ab Angular 21“.</a:t>
            </a:r>
          </a:p>
          <a:p/>
          <a:p>
            <a:r>
              <a:t>In der Datei „angular.json“ steht, wie Tests gestartet werden. Der Eintrag „builder“ nennt das Werkzeug „@angular/build:unit-test“, und „runner“ ist auf „vitest“ eingestellt. Mit dem Befehl „ng test“ startet man die Tests. Mit „ng test --watch=false“ laufen sie einmal durch und das Programm beendet sich danach.</a:t>
            </a:r>
          </a:p>
          <a:p/>
          <a:p>
            <a:r>
              <a:t>Die Grundbausteine „describe“, „it“, „expect“, „beforeEach“ und „afterEach“ sind wie gewohnt. Zum Nachbauen von Abhängigkeiten gibt es „vi.fn()“ und „vi.spyOn()“. Projekte, die noch Karma und Jasmine nutzen, laufen weiter. Wie der Umstieg gelingt, zeigen die nächsten Folien.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„Konfiguration Vitest package.json“.</a:t>
            </a:r>
          </a:p>
          <a:p/>
          <a:p>
            <a:r>
              <a:t>Die Datei „package.json“ listet alle Pakete, die ein Projekt braucht. Für die Tests sind drei Pakete wichtig: „@angular/build“ enthält das Angular-Werkzeug zum Starten der Tests, „vitest“ ist der Test-Runner selbst und „jsdom“ ist der nachgebaute Browser. Die Pakete von Karma und Jasmine werden nicht mehr gebraucht. In den Übungsprojekten ist „vitest“ auf die Version 4.0.18 festgelegt, weil die Installation mit älteren npm-Versionen bei neueren Vitest-Versionen abbrechen kann.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„Konfiguration Vitest angular.json“.</a:t>
            </a:r>
          </a:p>
          <a:p/>
          <a:p>
            <a:r>
              <a:t>Im Abschnitt „test“ der Datei „angular.json“ steht, wie die Tests laufen. Der „builder“ ist das Werkzeug, das die Tests ausführt: „@angular/build:unit-test“. Die Zeile „runner“ mit dem Wert „vitest“ wählt Vitest aus. Der Pfeil zeigt auf diese Zeile. Die frühere Einstellung mit Karma, mit Polyfills für „zone.js“, fällt weg.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„Konfiguration Vitest tsconfig.spec.json“.</a:t>
            </a:r>
          </a:p>
          <a:p/>
          <a:p>
            <a:r>
              <a:t>Die Datei „tsconfig.spec.json“ steuert, wie TypeScript die Testdateien liest. Im Eintrag „types“ steht jetzt „vitest/globals“ statt „jasmine“. Dadurch kennt TypeScript die Funktionen „describe“, „it“, „expect“ und „vi“, ohne dass man sie in jeder Testdatei einzeln importieren muss.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„Test Runner“.</a:t>
            </a:r>
          </a:p>
          <a:p/>
          <a:p>
            <a:r>
              <a:t>Mit dem Befehl „ng test“ werden die Tests gestartet. Das Bild zeigt die Ausgabe in der Konsole. Jede Zeile mit einem Haken steht für eine Testdatei, in der alle Tests bestanden haben. Dahinter steht, wie viele Tests es in der Datei gibt. Unten fasst Vitest zusammen: Alle sieben Dateien und alle 49 Tests waren erfolgreich. Wenn ein Test fehlschlägt, zeigt Vitest die Datei, den Test und die Abweichung 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„Vitest Vokabular“.</a:t>
            </a:r>
          </a:p>
          <a:p/>
          <a:p>
            <a:r>
              <a:t>Vier Begriffe sind wichtig. Eine „Suite“ ist eine Gruppe zusammengehöriger Tests. Man schreibt sie mit „describe“, einem Namen und einer Funktion. Ein „Test“, oft „Spec“ genannt, ist ein einzelner Prüfablauf. Man schreibt ihn mit „it“, einem Namen und einer Funktion.</a:t>
            </a:r>
          </a:p>
          <a:p/>
          <a:p>
            <a:r>
              <a:t>Eine „Expectation“, auf Deutsch Erwartung, steht in der Zeile „expect(actual).toBe(expected)“. Sie vergleicht den tatsächlichen Wert mit dem erwarteten Wert und ergibt wahr oder falsch. Die Prüffunktionen wie „toBe“ oder „toEqual“ heißen „Matcher“. Vitest bringt viele davon mit, zum Beispiel für Texte, Listen und Funktionsaufrufe.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„Mocking Dependencies“.</a:t>
            </a:r>
          </a:p>
          <a:p/>
          <a:p>
            <a:r>
              <a:t>Beim Testen einer Komponente soll nicht der echte Service laufen, der zum Beispiel Daten vom Server holt. Stattdessen baut man einen Ersatz. Hier ist es ein einfaches Objekt mit der Funktion „requestName“. Die Funktion wird mit „vi.fn()“ erzeugt. Das ist eine Mock-Funktion, die sich merkt, wie oft und womit sie aufgerufen wurde.</a:t>
            </a:r>
          </a:p>
          <a:p/>
          <a:p>
            <a:r>
              <a:t>In „providers“ sagt man Angular: Wenn jemand den „GreeterService“ anfordert, gib stattdessen dieses Objekt heraus. Mit „mockReturnValue“ legt man fest, was die Mock-Funktion zurückgibt, hier den Text „Tester“.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„Async result“.</a:t>
            </a:r>
          </a:p>
          <a:p/>
          <a:p>
            <a:r>
              <a:t>Hier wird ein Service nachgebaut, der seine Daten erst später liefert. „of“ erzeugt dafür ein Observable, das sofort zwei Namen liefert. Der erste Test prüft, dass am Anfang noch kein Absatz sichtbar ist. Der zweite Test ruft die Methode „requestNames“ auf und prüft danach, dass zwei Absätze erscheinen.</a:t>
            </a:r>
          </a:p>
          <a:p/>
          <a:p>
            <a:r>
              <a:t>Wichtig ist das Wort „await“ vor „fixture.whenStable()“. Es lässt den Test warten, bis die Anzeige aktualisiert ist. Ohne „await“ würde der Test schon enden, bevor die Prüfung läuft, und könnte falsch bestanden werden. Die Prüfung der Anzahl heißt in Vitest „toHaveLength“.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Codefolie „Throw Error“.</a:t>
            </a:r>
          </a:p>
          <a:p/>
          <a:p>
            <a:r>
              <a:t>So testet man den Fehlerfall. Die Mock-Funktion liefert diesmal ein Observable, das sofort einen Fehler meldet. Damit prüft man, ob die Komponente mit einem fehlgeschlagenen Aufruf richtig umgeht.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„Übung 1“.</a:t>
            </a:r>
          </a:p>
          <a:p/>
          <a:p>
            <a:r>
              <a:t>Erklärung für die Dolmetscherin:</a:t>
            </a:r>
          </a:p>
          <a:p>
            <a:r>
              <a:t>Die Teilnehmer testen die „CustomerListComponent“. Dabei ersetzen sie den Service durch ein Ersatzobjekt mit „vi.fn()“, das keinen, einen oder zwei Kunden liefert, und prüfen, ob die Liste richtig aufgebaut ist. Außerdem testen sie die Pipe „currentActiveCustomers“ mit verschiedenen Werten für „daysInPast“.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2360898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8030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3475859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3634533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2343637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4193586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1392521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935927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904555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2293093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‹Nr.›</a:t>
            </a:fld>
            <a:endParaRPr lang="en-US"/>
          </a:p>
        </p:txBody>
      </p:sp>
    </p:spTree>
    <p:extLst>
      <p:ext uri="{BB962C8B-B14F-4D97-AF65-F5344CB8AC3E}">
        <p14:creationId xmlns:p14="http://schemas.microsoft.com/office/powerpoint/2010/main" val="13311642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‹Nr.›</a:t>
            </a:fld>
            <a:endParaRPr lang="en-US"/>
          </a:p>
        </p:txBody>
      </p:sp>
    </p:spTree>
    <p:extLst>
      <p:ext uri="{BB962C8B-B14F-4D97-AF65-F5344CB8AC3E}">
        <p14:creationId xmlns:p14="http://schemas.microsoft.com/office/powerpoint/2010/main" val="76353814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image" Target="../media/image1.png"/><Relationship Id="rId5"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9EBE4E-5983-B393-1D5E-731351065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Person In A Lab">
            <a:extLst>
              <a:ext uri="{FF2B5EF4-FFF2-40B4-BE49-F238E27FC236}">
                <a16:creationId xmlns:a16="http://schemas.microsoft.com/office/drawing/2014/main" id="{EF0AA351-BF1B-3CE5-65BC-95077FAA5DEF}"/>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3"/>
          <a:stretch/>
        </p:blipFill>
        <p:spPr>
          <a:xfrm>
            <a:off x="20" y="10"/>
            <a:ext cx="12191979" cy="6857989"/>
          </a:xfrm>
          <a:prstGeom prst="rect">
            <a:avLst/>
          </a:prstGeom>
        </p:spPr>
      </p:pic>
      <p:sp>
        <p:nvSpPr>
          <p:cNvPr id="11" name="Freeform: Shape 10">
            <a:extLst>
              <a:ext uri="{FF2B5EF4-FFF2-40B4-BE49-F238E27FC236}">
                <a16:creationId xmlns:a16="http://schemas.microsoft.com/office/drawing/2014/main" id="{2CEF5482-568A-9463-C672-BC6D644DF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39511" y="-72076"/>
            <a:ext cx="8582352" cy="4875036"/>
          </a:xfrm>
          <a:custGeom>
            <a:avLst/>
            <a:gdLst>
              <a:gd name="connsiteX0" fmla="*/ 1259133 w 8582352"/>
              <a:gd name="connsiteY0" fmla="*/ 1707 h 4875036"/>
              <a:gd name="connsiteX1" fmla="*/ 29139 w 8582352"/>
              <a:gd name="connsiteY1" fmla="*/ 317762 h 4875036"/>
              <a:gd name="connsiteX2" fmla="*/ 0 w 8582352"/>
              <a:gd name="connsiteY2" fmla="*/ 333585 h 4875036"/>
              <a:gd name="connsiteX3" fmla="*/ 79271 w 8582352"/>
              <a:gd name="connsiteY3" fmla="*/ 4875036 h 4875036"/>
              <a:gd name="connsiteX4" fmla="*/ 8582352 w 8582352"/>
              <a:gd name="connsiteY4" fmla="*/ 4726614 h 4875036"/>
              <a:gd name="connsiteX5" fmla="*/ 3064323 w 8582352"/>
              <a:gd name="connsiteY5" fmla="*/ 550287 h 4875036"/>
              <a:gd name="connsiteX6" fmla="*/ 3002736 w 8582352"/>
              <a:gd name="connsiteY6" fmla="*/ 506058 h 4875036"/>
              <a:gd name="connsiteX7" fmla="*/ 1429589 w 8582352"/>
              <a:gd name="connsiteY7" fmla="*/ 840 h 4875036"/>
              <a:gd name="connsiteX8" fmla="*/ 1259133 w 8582352"/>
              <a:gd name="connsiteY8" fmla="*/ 1707 h 487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82352" h="4875036">
                <a:moveTo>
                  <a:pt x="1259133" y="1707"/>
                </a:moveTo>
                <a:cubicBezTo>
                  <a:pt x="833461" y="16212"/>
                  <a:pt x="412733" y="123046"/>
                  <a:pt x="29139" y="317762"/>
                </a:cubicBezTo>
                <a:lnTo>
                  <a:pt x="0" y="333585"/>
                </a:lnTo>
                <a:lnTo>
                  <a:pt x="79271" y="4875036"/>
                </a:lnTo>
                <a:lnTo>
                  <a:pt x="8582352" y="4726614"/>
                </a:lnTo>
                <a:lnTo>
                  <a:pt x="3064323" y="550287"/>
                </a:lnTo>
                <a:lnTo>
                  <a:pt x="3002736" y="506058"/>
                </a:lnTo>
                <a:cubicBezTo>
                  <a:pt x="2522288" y="179187"/>
                  <a:pt x="1975404" y="13891"/>
                  <a:pt x="1429589" y="840"/>
                </a:cubicBezTo>
                <a:cubicBezTo>
                  <a:pt x="1372734" y="-519"/>
                  <a:pt x="1315889" y="-227"/>
                  <a:pt x="1259133" y="1707"/>
                </a:cubicBezTo>
                <a:close/>
              </a:path>
            </a:pathLst>
          </a:custGeom>
          <a:gradFill>
            <a:gsLst>
              <a:gs pos="22000">
                <a:schemeClr val="bg2">
                  <a:alpha val="80000"/>
                </a:schemeClr>
              </a:gs>
              <a:gs pos="100000">
                <a:schemeClr val="accent1">
                  <a:lumMod val="60000"/>
                  <a:lumOff val="40000"/>
                  <a:alpha val="86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596B2C3E-53C1-4742-01E6-9118292D8263}"/>
              </a:ext>
            </a:extLst>
          </p:cNvPr>
          <p:cNvSpPr>
            <a:spLocks noGrp="1"/>
          </p:cNvSpPr>
          <p:nvPr>
            <p:ph type="ctrTitle"/>
          </p:nvPr>
        </p:nvSpPr>
        <p:spPr>
          <a:xfrm>
            <a:off x="950791" y="739101"/>
            <a:ext cx="4213437" cy="1772279"/>
          </a:xfrm>
        </p:spPr>
        <p:txBody>
          <a:bodyPr>
            <a:normAutofit/>
          </a:bodyPr>
          <a:lstStyle/>
          <a:p>
            <a:r>
              <a:rPr lang="de-DE" err="1"/>
              <a:t>Testing</a:t>
            </a:r>
            <a:endParaRPr lang="de-DE"/>
          </a:p>
        </p:txBody>
      </p:sp>
      <p:sp>
        <p:nvSpPr>
          <p:cNvPr id="3" name="Untertitel 2">
            <a:extLst>
              <a:ext uri="{FF2B5EF4-FFF2-40B4-BE49-F238E27FC236}">
                <a16:creationId xmlns:a16="http://schemas.microsoft.com/office/drawing/2014/main" id="{F6FE2463-7C2F-2E79-7A17-D4CAE48C947F}"/>
              </a:ext>
            </a:extLst>
          </p:cNvPr>
          <p:cNvSpPr>
            <a:spLocks noGrp="1"/>
          </p:cNvSpPr>
          <p:nvPr>
            <p:ph type="subTitle" idx="1"/>
          </p:nvPr>
        </p:nvSpPr>
        <p:spPr>
          <a:xfrm>
            <a:off x="950792" y="2514600"/>
            <a:ext cx="3209017" cy="970952"/>
          </a:xfrm>
        </p:spPr>
        <p:txBody>
          <a:bodyPr>
            <a:normAutofit/>
          </a:bodyPr>
          <a:lstStyle/>
          <a:p>
            <a:pPr/>
            <a:r>
              <a:rPr lang="de-DE"/>
              <a:t>Unit Tests (Vitest)</a:t>
            </a:r>
          </a:p>
          <a:p>
            <a:pPr/>
            <a:r>
              <a:rPr lang="de-DE"/>
              <a:t>End-to-End (Cypress / Playwright)</a:t>
            </a:r>
          </a:p>
        </p:txBody>
      </p:sp>
      <p:sp>
        <p:nvSpPr>
          <p:cNvPr id="13" name="Freeform: Shape 12">
            <a:extLst>
              <a:ext uri="{FF2B5EF4-FFF2-40B4-BE49-F238E27FC236}">
                <a16:creationId xmlns:a16="http://schemas.microsoft.com/office/drawing/2014/main" id="{D38784C3-11AE-0BE2-6339-1A2BDAC7F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740000" flipV="1">
            <a:off x="7888979" y="5020683"/>
            <a:ext cx="4324338" cy="1889417"/>
          </a:xfrm>
          <a:custGeom>
            <a:avLst/>
            <a:gdLst>
              <a:gd name="connsiteX0" fmla="*/ 26412 w 4324338"/>
              <a:gd name="connsiteY0" fmla="*/ 1889417 h 1889417"/>
              <a:gd name="connsiteX1" fmla="*/ 4324338 w 4324338"/>
              <a:gd name="connsiteY1" fmla="*/ 1814397 h 1889417"/>
              <a:gd name="connsiteX2" fmla="*/ 2459858 w 4324338"/>
              <a:gd name="connsiteY2" fmla="*/ 403264 h 1889417"/>
              <a:gd name="connsiteX3" fmla="*/ 2414726 w 4324338"/>
              <a:gd name="connsiteY3" fmla="*/ 370852 h 1889417"/>
              <a:gd name="connsiteX4" fmla="*/ 1261883 w 4324338"/>
              <a:gd name="connsiteY4" fmla="*/ 615 h 1889417"/>
              <a:gd name="connsiteX5" fmla="*/ 70385 w 4324338"/>
              <a:gd name="connsiteY5" fmla="*/ 326182 h 1889417"/>
              <a:gd name="connsiteX6" fmla="*/ 0 w 4324338"/>
              <a:gd name="connsiteY6" fmla="*/ 376291 h 188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4338" h="1889417">
                <a:moveTo>
                  <a:pt x="26412" y="1889417"/>
                </a:moveTo>
                <a:lnTo>
                  <a:pt x="4324338" y="1814397"/>
                </a:lnTo>
                <a:lnTo>
                  <a:pt x="2459858" y="403264"/>
                </a:lnTo>
                <a:lnTo>
                  <a:pt x="2414726" y="370852"/>
                </a:lnTo>
                <a:cubicBezTo>
                  <a:pt x="2062641" y="131313"/>
                  <a:pt x="1661870" y="10180"/>
                  <a:pt x="1261883" y="615"/>
                </a:cubicBezTo>
                <a:cubicBezTo>
                  <a:pt x="845229" y="-9347"/>
                  <a:pt x="429425" y="101751"/>
                  <a:pt x="70385" y="326182"/>
                </a:cubicBezTo>
                <a:lnTo>
                  <a:pt x="0" y="376291"/>
                </a:lnTo>
                <a:close/>
              </a:path>
            </a:pathLst>
          </a:custGeom>
          <a:gradFill>
            <a:gsLst>
              <a:gs pos="27000">
                <a:schemeClr val="bg2">
                  <a:alpha val="70000"/>
                </a:schemeClr>
              </a:gs>
              <a:gs pos="100000">
                <a:schemeClr val="accent1">
                  <a:lumMod val="60000"/>
                  <a:lumOff val="40000"/>
                  <a:alpha val="77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9595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6DA7F5EA-8FEB-C433-9A48-AF55DAB02939}"/>
              </a:ext>
            </a:extLst>
          </p:cNvPr>
          <p:cNvSpPr>
            <a:spLocks noGrp="1"/>
          </p:cNvSpPr>
          <p:nvPr>
            <p:ph type="title"/>
          </p:nvPr>
        </p:nvSpPr>
        <p:spPr/>
        <p:txBody>
          <a:bodyPr/>
          <a:lstStyle/>
          <a:p>
            <a:r>
              <a:rPr lang="de-DE" dirty="0"/>
              <a:t>Testpyramide</a:t>
            </a:r>
          </a:p>
        </p:txBody>
      </p:sp>
      <p:graphicFrame>
        <p:nvGraphicFramePr>
          <p:cNvPr id="8" name="Inhaltsplatzhalter 7">
            <a:extLst>
              <a:ext uri="{FF2B5EF4-FFF2-40B4-BE49-F238E27FC236}">
                <a16:creationId xmlns:a16="http://schemas.microsoft.com/office/drawing/2014/main" id="{2EFFA64C-9641-5177-EBA9-F660B8C88CFE}"/>
              </a:ext>
            </a:extLst>
          </p:cNvPr>
          <p:cNvGraphicFramePr>
            <a:graphicFrameLocks noGrp="1"/>
          </p:cNvGraphicFramePr>
          <p:nvPr>
            <p:ph idx="1"/>
            <p:extLst>
              <p:ext uri="{D42A27DB-BD31-4B8C-83A1-F6EECF244321}">
                <p14:modId xmlns:p14="http://schemas.microsoft.com/office/powerpoint/2010/main" val="2894893712"/>
              </p:ext>
            </p:extLst>
          </p:nvPr>
        </p:nvGraphicFramePr>
        <p:xfrm>
          <a:off x="1069975" y="2139950"/>
          <a:ext cx="8883650" cy="3676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1432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BA10E3-6828-8372-6B9B-70B0C210587E}"/>
              </a:ext>
            </a:extLst>
          </p:cNvPr>
          <p:cNvSpPr>
            <a:spLocks noGrp="1"/>
          </p:cNvSpPr>
          <p:nvPr>
            <p:ph type="title"/>
          </p:nvPr>
        </p:nvSpPr>
        <p:spPr/>
        <p:txBody>
          <a:bodyPr/>
          <a:lstStyle/>
          <a:p>
            <a:r>
              <a:t>Angular Test-Runner: Vitest (Default ab v21)</a:t>
            </a:r>
          </a:p>
        </p:txBody>
      </p:sp>
      <p:graphicFrame>
        <p:nvGraphicFramePr>
          <p:cNvPr id="5" name="Inhaltsplatzhalter 2">
            <a:extLst>
              <a:ext uri="{FF2B5EF4-FFF2-40B4-BE49-F238E27FC236}">
                <a16:creationId xmlns:a16="http://schemas.microsoft.com/office/drawing/2014/main" id="{AEB6252D-EDFA-A4AB-5589-4FE0C0F2CCFF}"/>
              </a:ext>
            </a:extLst>
          </p:cNvPr>
          <p:cNvGraphicFramePr>
            <a:graphicFrameLocks noGrp="1"/>
          </p:cNvGraphicFramePr>
          <p:nvPr>
            <p:ph idx="1"/>
          </p:nvPr>
        </p:nvGraphicFramePr>
        <p:xfrm>
          <a:off x="1069848" y="2139696"/>
          <a:ext cx="8883836" cy="36776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1734610"/>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1">
            <a:extLst>
              <a:ext uri="{FF2B5EF4-FFF2-40B4-BE49-F238E27FC236}">
                <a16:creationId xmlns:a16="http://schemas.microsoft.com/office/drawing/2014/main" id="{E1D70460-FE6D-DB11-EDE0-0BBD52907F4F}"/>
              </a:ext>
            </a:extLst>
          </p:cNvPr>
          <p:cNvSpPr>
            <a:spLocks noGrp="1"/>
          </p:cNvSpPr>
          <p:nvPr>
            <p:ph type="title"/>
          </p:nvPr>
        </p:nvSpPr>
        <p:spPr>
          <a:xfrm>
            <a:off x="1987680" y="1143000"/>
            <a:ext cx="7946597" cy="1257300"/>
          </a:xfrm>
        </p:spPr>
        <p:txBody>
          <a:bodyPr anchor="ctr">
            <a:normAutofit/>
          </a:bodyPr>
          <a:lstStyle/>
          <a:p>
            <a:r>
              <a:t>Vitest – Standard-Test-Runner ab Angular 21</a:t>
            </a:r>
          </a:p>
        </p:txBody>
      </p:sp>
      <p:sp>
        <p:nvSpPr>
          <p:cNvPr id="4" name="Rectangle 1">
            <a:extLst>
              <a:ext uri="{FF2B5EF4-FFF2-40B4-BE49-F238E27FC236}">
                <a16:creationId xmlns:a16="http://schemas.microsoft.com/office/drawing/2014/main" id="{9952C1FA-BE54-8105-0D00-6D9827FD2E9E}"/>
              </a:ext>
            </a:extLst>
          </p:cNvPr>
          <p:cNvSpPr>
            <a:spLocks noGrp="1" noChangeArrowheads="1"/>
          </p:cNvSpPr>
          <p:nvPr>
            <p:ph idx="1"/>
          </p:nvPr>
        </p:nvSpPr>
        <p:spPr bwMode="auto">
          <a:xfrm>
            <a:off x="1987680" y="2411519"/>
            <a:ext cx="5380530" cy="3394641"/>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Neue Projekte (ng new) und alle Übungsprojekte nutzen Vitest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angular.json</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"test":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"builder": "@angular/build:unit-test",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"options": { "tsConfig": "tsconfig.spec.json", "runner": "vitest"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Start: ng test   (einmalig: ng test --watch=false)</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describe / it / expect / beforeEach / afterEach: wie gewohnt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Mocks und Spies: vi.fn() und vi.spyOn()</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Bestandsprojekte mit Karma/Jasmine laufen weiter (Umstieg: siehe nächste Folien)</a:t>
            </a:r>
          </a:p>
        </p:txBody>
      </p:sp>
      <p:sp>
        <p:nvSpPr>
          <p:cNvPr id="11" name="Footer Placeholder 11">
            <a:extLst>
              <a:ext uri="{FF2B5EF4-FFF2-40B4-BE49-F238E27FC236}">
                <a16:creationId xmlns:a16="http://schemas.microsoft.com/office/drawing/2014/main" id="{D3F11434-174D-1999-3EFB-12EAB103792E}"/>
              </a:ext>
            </a:extLst>
          </p:cNvPr>
          <p:cNvSpPr>
            <a:spLocks noGrp="1"/>
          </p:cNvSpPr>
          <p:nvPr>
            <p:ph type="ftr" sz="quarter" idx="11"/>
          </p:nvPr>
        </p:nvSpPr>
        <p:spPr>
          <a:xfrm>
            <a:off x="8610602" y="6318446"/>
            <a:ext cx="2743198" cy="365125"/>
          </a:xfrm>
        </p:spPr>
        <p:txBody>
          <a:bodyPr/>
          <a:lstStyle/>
          <a:p>
            <a:pPr>
              <a:spcAft>
                <a:spcPts val="600"/>
              </a:spcAft>
            </a:pPr>
            <a:r>
              <a:rPr lang="en-US" dirty="0" err="1"/>
              <a:t>Vitest</a:t>
            </a:r>
            <a:endParaRPr lang="en-US" dirty="0"/>
          </a:p>
        </p:txBody>
      </p:sp>
      <p:sp>
        <p:nvSpPr>
          <p:cNvPr id="13" name="Slide Number Placeholder 12">
            <a:extLst>
              <a:ext uri="{FF2B5EF4-FFF2-40B4-BE49-F238E27FC236}">
                <a16:creationId xmlns:a16="http://schemas.microsoft.com/office/drawing/2014/main" id="{E81E43C7-A0CC-1802-1337-C72177715401}"/>
              </a:ext>
            </a:extLst>
          </p:cNvPr>
          <p:cNvSpPr>
            <a:spLocks noGrp="1"/>
          </p:cNvSpPr>
          <p:nvPr>
            <p:ph type="sldNum" sz="quarter" idx="12"/>
          </p:nvPr>
        </p:nvSpPr>
        <p:spPr>
          <a:xfrm>
            <a:off x="11353800" y="6318446"/>
            <a:ext cx="615696" cy="365125"/>
          </a:xfrm>
        </p:spPr>
        <p:txBody>
          <a:bodyPr/>
          <a:lstStyle/>
          <a:p>
            <a:pPr>
              <a:spcAft>
                <a:spcPts val="600"/>
              </a:spcAft>
            </a:pPr>
            <a:fld id="{5E84AC6A-A0EF-437B-BCEE-4772B0214A58}" type="slidenum">
              <a:rPr lang="en-US" smtClean="0"/>
              <a:pPr>
                <a:spcAft>
                  <a:spcPts val="600"/>
                </a:spcAft>
              </a:pPr>
              <a:t>9</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720AAA-9770-6A4F-16E9-8F92A340BF78}"/>
              </a:ext>
            </a:extLst>
          </p:cNvPr>
          <p:cNvSpPr>
            <a:spLocks noGrp="1"/>
          </p:cNvSpPr>
          <p:nvPr>
            <p:ph type="title"/>
          </p:nvPr>
        </p:nvSpPr>
        <p:spPr>
          <a:xfrm>
            <a:off x="1987680" y="1143000"/>
            <a:ext cx="7946597" cy="1257300"/>
          </a:xfrm>
        </p:spPr>
        <p:txBody>
          <a:bodyPr anchor="ctr">
            <a:normAutofit/>
          </a:bodyPr>
          <a:lstStyle/>
          <a:p>
            <a:r>
              <a:t>Konfiguration Vitest package.json</a:t>
            </a:r>
          </a:p>
        </p:txBody>
      </p:sp>
      <p:sp>
        <p:nvSpPr>
          <p:cNvPr id="4" name="Rectangle 1">
            <a:extLst>
              <a:ext uri="{FF2B5EF4-FFF2-40B4-BE49-F238E27FC236}">
                <a16:creationId xmlns:a16="http://schemas.microsoft.com/office/drawing/2014/main" id="{59558BAC-2A72-11F6-ED49-294F48B7BD26}"/>
              </a:ext>
            </a:extLst>
          </p:cNvPr>
          <p:cNvSpPr>
            <a:spLocks noGrp="1" noChangeArrowheads="1"/>
          </p:cNvSpPr>
          <p:nvPr>
            <p:ph idx="1"/>
          </p:nvPr>
        </p:nvSpPr>
        <p:spPr bwMode="auto">
          <a:xfrm>
            <a:off x="1987680" y="2411519"/>
            <a:ext cx="5380530" cy="3394641"/>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"devDependencies": {</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"@angular/build": "^21.0.0",</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"jsdom": "^28.0.0",</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"typescript": "~5.9.0",</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"vitest": "~4.0.18",</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a:t>
            </a:r>
          </a:p>
        </p:txBody>
      </p:sp>
      <p:sp>
        <p:nvSpPr>
          <p:cNvPr id="11" name="Footer Placeholder 11">
            <a:extLst>
              <a:ext uri="{FF2B5EF4-FFF2-40B4-BE49-F238E27FC236}">
                <a16:creationId xmlns:a16="http://schemas.microsoft.com/office/drawing/2014/main" id="{D3F11434-174D-1999-3EFB-12EAB103792E}"/>
              </a:ext>
            </a:extLst>
          </p:cNvPr>
          <p:cNvSpPr>
            <a:spLocks noGrp="1"/>
          </p:cNvSpPr>
          <p:nvPr>
            <p:ph type="ftr" sz="quarter" idx="4294967295"/>
          </p:nvPr>
        </p:nvSpPr>
        <p:spPr>
          <a:xfrm>
            <a:off x="8610602" y="6318446"/>
            <a:ext cx="2743198" cy="365125"/>
          </a:xfrm>
        </p:spPr>
        <p:txBody>
          <a:bodyPr/>
          <a:lstStyle/>
          <a:p>
            <a:pPr>
              <a:spcAft>
                <a:spcPts val="600"/>
              </a:spcAft>
            </a:pPr>
            <a:r>
              <a:rPr lang="en-US" dirty="0"/>
              <a:t>Angular Testing</a:t>
            </a:r>
          </a:p>
        </p:txBody>
      </p:sp>
      <p:sp>
        <p:nvSpPr>
          <p:cNvPr id="13" name="Slide Number Placeholder 12">
            <a:extLst>
              <a:ext uri="{FF2B5EF4-FFF2-40B4-BE49-F238E27FC236}">
                <a16:creationId xmlns:a16="http://schemas.microsoft.com/office/drawing/2014/main" id="{E81E43C7-A0CC-1802-1337-C72177715401}"/>
              </a:ext>
            </a:extLst>
          </p:cNvPr>
          <p:cNvSpPr>
            <a:spLocks noGrp="1"/>
          </p:cNvSpPr>
          <p:nvPr>
            <p:ph type="sldNum" sz="quarter" idx="4294967295"/>
          </p:nvPr>
        </p:nvSpPr>
        <p:spPr>
          <a:xfrm>
            <a:off x="11353800" y="6318446"/>
            <a:ext cx="615696" cy="365125"/>
          </a:xfrm>
        </p:spPr>
        <p:txBody>
          <a:bodyPr/>
          <a:lstStyle/>
          <a:p>
            <a:pPr>
              <a:spcAft>
                <a:spcPts val="600"/>
              </a:spcAft>
            </a:pPr>
            <a:fld id="{5E84AC6A-A0EF-437B-BCEE-4772B0214A58}" type="slidenum">
              <a:rPr lang="en-US" smtClean="0"/>
              <a:pPr>
                <a:spcAft>
                  <a:spcPts val="600"/>
                </a:spcAft>
              </a:pPr>
              <a:t>4</a:t>
            </a:fld>
            <a:endParaRPr lang="en-US"/>
          </a:p>
        </p:txBody>
      </p:sp>
      <p:pic>
        <p:nvPicPr>
          <p:cNvPr id="8" name="Grafik 7" descr="Zurück mit einfarbiger Füllung">
            <a:extLst>
              <a:ext uri="{FF2B5EF4-FFF2-40B4-BE49-F238E27FC236}">
                <a16:creationId xmlns:a16="http://schemas.microsoft.com/office/drawing/2014/main" id="{643150EC-20A9-BE42-F514-AA1BCB30C2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0092" y="2143369"/>
            <a:ext cx="914400" cy="914400"/>
          </a:xfrm>
          <a:prstGeom prst="rect">
            <a:avLst/>
          </a:prstGeom>
        </p:spPr>
      </p:pic>
    </p:spTree>
    <p:extLst>
      <p:ext uri="{BB962C8B-B14F-4D97-AF65-F5344CB8AC3E}">
        <p14:creationId xmlns:p14="http://schemas.microsoft.com/office/powerpoint/2010/main" val="2085522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8DE788-13DB-12AF-782D-619111C4FB3D}"/>
              </a:ext>
            </a:extLst>
          </p:cNvPr>
          <p:cNvSpPr>
            <a:spLocks noGrp="1"/>
          </p:cNvSpPr>
          <p:nvPr>
            <p:ph type="title"/>
          </p:nvPr>
        </p:nvSpPr>
        <p:spPr>
          <a:xfrm>
            <a:off x="1987680" y="1143000"/>
            <a:ext cx="7946597" cy="1257300"/>
          </a:xfrm>
        </p:spPr>
        <p:txBody>
          <a:bodyPr anchor="ctr">
            <a:normAutofit/>
          </a:bodyPr>
          <a:lstStyle/>
          <a:p>
            <a:r>
              <a:t>Konfiguration Vitest angular.json</a:t>
            </a:r>
          </a:p>
        </p:txBody>
      </p:sp>
      <p:sp>
        <p:nvSpPr>
          <p:cNvPr id="4" name="Rectangle 1">
            <a:extLst>
              <a:ext uri="{FF2B5EF4-FFF2-40B4-BE49-F238E27FC236}">
                <a16:creationId xmlns:a16="http://schemas.microsoft.com/office/drawing/2014/main" id="{305CB7CE-0BEC-7931-2897-2A79D93A6A1A}"/>
              </a:ext>
            </a:extLst>
          </p:cNvPr>
          <p:cNvSpPr>
            <a:spLocks noGrp="1" noChangeArrowheads="1"/>
          </p:cNvSpPr>
          <p:nvPr>
            <p:ph idx="1"/>
          </p:nvPr>
        </p:nvSpPr>
        <p:spPr bwMode="auto">
          <a:xfrm>
            <a:off x="1987680" y="2411519"/>
            <a:ext cx="5380530" cy="3394641"/>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"test":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"builder": "@angular/build:unit-test",</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"options":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"tsConfig": "tsconfig.spec.json",</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"runner": "vitest"</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a:t>
            </a:r>
          </a:p>
        </p:txBody>
      </p:sp>
      <p:sp>
        <p:nvSpPr>
          <p:cNvPr id="11" name="Footer Placeholder 11">
            <a:extLst>
              <a:ext uri="{FF2B5EF4-FFF2-40B4-BE49-F238E27FC236}">
                <a16:creationId xmlns:a16="http://schemas.microsoft.com/office/drawing/2014/main" id="{D3F11434-174D-1999-3EFB-12EAB103792E}"/>
              </a:ext>
            </a:extLst>
          </p:cNvPr>
          <p:cNvSpPr>
            <a:spLocks noGrp="1"/>
          </p:cNvSpPr>
          <p:nvPr>
            <p:ph type="ftr" sz="quarter" idx="4294967295"/>
          </p:nvPr>
        </p:nvSpPr>
        <p:spPr>
          <a:xfrm>
            <a:off x="8610602" y="6318446"/>
            <a:ext cx="2743198" cy="365125"/>
          </a:xfrm>
        </p:spPr>
        <p:txBody>
          <a:bodyPr/>
          <a:lstStyle/>
          <a:p>
            <a:r>
              <a:t>angular.json</a:t>
            </a:r>
          </a:p>
        </p:txBody>
      </p:sp>
      <p:sp>
        <p:nvSpPr>
          <p:cNvPr id="13" name="Slide Number Placeholder 12">
            <a:extLst>
              <a:ext uri="{FF2B5EF4-FFF2-40B4-BE49-F238E27FC236}">
                <a16:creationId xmlns:a16="http://schemas.microsoft.com/office/drawing/2014/main" id="{E81E43C7-A0CC-1802-1337-C72177715401}"/>
              </a:ext>
            </a:extLst>
          </p:cNvPr>
          <p:cNvSpPr>
            <a:spLocks noGrp="1"/>
          </p:cNvSpPr>
          <p:nvPr>
            <p:ph type="sldNum" sz="quarter" idx="4294967295"/>
          </p:nvPr>
        </p:nvSpPr>
        <p:spPr>
          <a:xfrm>
            <a:off x="11353800" y="6318446"/>
            <a:ext cx="615696" cy="365125"/>
          </a:xfrm>
        </p:spPr>
        <p:txBody>
          <a:bodyPr/>
          <a:lstStyle/>
          <a:p>
            <a:pPr>
              <a:spcAft>
                <a:spcPts val="600"/>
              </a:spcAft>
            </a:pPr>
            <a:fld id="{5E84AC6A-A0EF-437B-BCEE-4772B0214A58}" type="slidenum">
              <a:rPr lang="en-US" smtClean="0"/>
              <a:pPr>
                <a:spcAft>
                  <a:spcPts val="600"/>
                </a:spcAft>
              </a:pPr>
              <a:t>5</a:t>
            </a:fld>
            <a:endParaRPr lang="en-US"/>
          </a:p>
        </p:txBody>
      </p:sp>
      <p:pic>
        <p:nvPicPr>
          <p:cNvPr id="5" name="Grafik 4" descr="Zurück mit einfarbiger Füllung">
            <a:extLst>
              <a:ext uri="{FF2B5EF4-FFF2-40B4-BE49-F238E27FC236}">
                <a16:creationId xmlns:a16="http://schemas.microsoft.com/office/drawing/2014/main" id="{1707459A-D1C7-372E-7619-B670F20EAE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5820" y="3077990"/>
            <a:ext cx="914400" cy="914400"/>
          </a:xfrm>
          <a:prstGeom prst="rect">
            <a:avLst/>
          </a:prstGeom>
        </p:spPr>
      </p:pic>
    </p:spTree>
    <p:extLst>
      <p:ext uri="{BB962C8B-B14F-4D97-AF65-F5344CB8AC3E}">
        <p14:creationId xmlns:p14="http://schemas.microsoft.com/office/powerpoint/2010/main" val="178211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5ECB3C-9DF6-E646-F29F-FAA41226BE2C}"/>
              </a:ext>
            </a:extLst>
          </p:cNvPr>
          <p:cNvSpPr>
            <a:spLocks noGrp="1"/>
          </p:cNvSpPr>
          <p:nvPr>
            <p:ph type="title"/>
          </p:nvPr>
        </p:nvSpPr>
        <p:spPr>
          <a:xfrm>
            <a:off x="1066799" y="1132367"/>
            <a:ext cx="7608074" cy="1257299"/>
          </a:xfrm>
        </p:spPr>
        <p:txBody>
          <a:bodyPr anchor="ctr">
            <a:normAutofit/>
          </a:bodyPr>
          <a:lstStyle/>
          <a:p>
            <a:r>
              <a:t>Konfiguration Vitest tsconfig.spec.json</a:t>
            </a:r>
          </a:p>
        </p:txBody>
      </p:sp>
      <p:sp>
        <p:nvSpPr>
          <p:cNvPr id="4" name="Rectangle 1">
            <a:extLst>
              <a:ext uri="{FF2B5EF4-FFF2-40B4-BE49-F238E27FC236}">
                <a16:creationId xmlns:a16="http://schemas.microsoft.com/office/drawing/2014/main" id="{5356549B-316D-0806-0D40-1760A4E52E56}"/>
              </a:ext>
            </a:extLst>
          </p:cNvPr>
          <p:cNvSpPr>
            <a:spLocks noGrp="1" noChangeArrowheads="1"/>
          </p:cNvSpPr>
          <p:nvPr>
            <p:ph idx="1"/>
          </p:nvPr>
        </p:nvSpPr>
        <p:spPr bwMode="auto">
          <a:xfrm>
            <a:off x="1066800" y="2736850"/>
            <a:ext cx="5029200" cy="2978152"/>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To learn more about this file see: https://angular.dev/reference/configs/file-structure.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"extends": "./tsconfig.json",</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"compilerOptions":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"outDir": "./out-tsc/spec",</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"types":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"vitest/globals"</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"include":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"src/**/*.spec.ts",</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"src/**/*.d.ts"</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  ]</a:t>
            </a:r>
            <a:br>
              <a:rPr kumimoji="0" lang="de-DE" altLang="de-DE" sz="1100" b="0" i="0" u="none" strike="noStrike" cap="none" normalizeH="0" baseline="0" dirty="0">
                <a:ln>
                  <a:noFill/>
                </a:ln>
                <a:effectLst/>
              </a:rPr>
            </a:br>
            <a:r>
              <a:rPr kumimoji="0" lang="de-DE" altLang="de-DE" sz="1100" b="0" i="0" u="none" strike="noStrike" cap="none" normalizeH="0" baseline="0">
                <a:ln>
                  <a:noFill/>
                </a:ln>
                <a:effectLst/>
              </a:rPr>
              <a:t>}</a:t>
            </a:r>
          </a:p>
        </p:txBody>
      </p:sp>
      <p:sp>
        <p:nvSpPr>
          <p:cNvPr id="11" name="Footer Placeholder 4">
            <a:extLst>
              <a:ext uri="{FF2B5EF4-FFF2-40B4-BE49-F238E27FC236}">
                <a16:creationId xmlns:a16="http://schemas.microsoft.com/office/drawing/2014/main" id="{1708E09F-170D-14D7-B0A7-90CEA3BF602E}"/>
              </a:ext>
            </a:extLst>
          </p:cNvPr>
          <p:cNvSpPr>
            <a:spLocks noGrp="1"/>
          </p:cNvSpPr>
          <p:nvPr>
            <p:ph type="ftr" sz="quarter" idx="4294967295"/>
          </p:nvPr>
        </p:nvSpPr>
        <p:spPr>
          <a:xfrm>
            <a:off x="8610602" y="6318446"/>
            <a:ext cx="2743198" cy="365125"/>
          </a:xfrm>
        </p:spPr>
        <p:txBody>
          <a:bodyPr/>
          <a:lstStyle/>
          <a:p>
            <a:pPr>
              <a:spcAft>
                <a:spcPts val="600"/>
              </a:spcAft>
            </a:pPr>
            <a:r>
              <a:rPr lang="en-US" dirty="0" err="1"/>
              <a:t>tsconfig.spec.json</a:t>
            </a:r>
            <a:endParaRPr lang="en-US" dirty="0"/>
          </a:p>
        </p:txBody>
      </p:sp>
      <p:sp>
        <p:nvSpPr>
          <p:cNvPr id="13" name="Slide Number Placeholder 5">
            <a:extLst>
              <a:ext uri="{FF2B5EF4-FFF2-40B4-BE49-F238E27FC236}">
                <a16:creationId xmlns:a16="http://schemas.microsoft.com/office/drawing/2014/main" id="{F76A1578-4BAB-8672-0768-2FB5B6E7D8CD}"/>
              </a:ext>
            </a:extLst>
          </p:cNvPr>
          <p:cNvSpPr>
            <a:spLocks noGrp="1"/>
          </p:cNvSpPr>
          <p:nvPr>
            <p:ph type="sldNum" sz="quarter" idx="4294967295"/>
          </p:nvPr>
        </p:nvSpPr>
        <p:spPr>
          <a:xfrm>
            <a:off x="11353800" y="6318446"/>
            <a:ext cx="615696" cy="365125"/>
          </a:xfrm>
        </p:spPr>
        <p:txBody>
          <a:bodyPr/>
          <a:lstStyle/>
          <a:p>
            <a:pPr>
              <a:spcAft>
                <a:spcPts val="600"/>
              </a:spcAft>
            </a:pPr>
            <a:fld id="{5E84AC6A-A0EF-437B-BCEE-4772B0214A58}" type="slidenum">
              <a:rPr lang="en-US" smtClean="0"/>
              <a:pPr>
                <a:spcAft>
                  <a:spcPts val="600"/>
                </a:spcAft>
              </a:pPr>
              <a:t>6</a:t>
            </a:fld>
            <a:endParaRPr lang="en-US"/>
          </a:p>
        </p:txBody>
      </p:sp>
      <p:pic>
        <p:nvPicPr>
          <p:cNvPr id="5" name="Grafik 4" descr="Zurück mit einfarbiger Füllung">
            <a:extLst>
              <a:ext uri="{FF2B5EF4-FFF2-40B4-BE49-F238E27FC236}">
                <a16:creationId xmlns:a16="http://schemas.microsoft.com/office/drawing/2014/main" id="{82661B4D-E347-1EC2-49C1-8A3E63189D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50745" y="4355106"/>
            <a:ext cx="914400" cy="914400"/>
          </a:xfrm>
          <a:prstGeom prst="rect">
            <a:avLst/>
          </a:prstGeom>
        </p:spPr>
      </p:pic>
    </p:spTree>
    <p:extLst>
      <p:ext uri="{BB962C8B-B14F-4D97-AF65-F5344CB8AC3E}">
        <p14:creationId xmlns:p14="http://schemas.microsoft.com/office/powerpoint/2010/main" val="577984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3D5A2-9ED6-C9C4-5208-B47F4DBB2BAC}"/>
              </a:ext>
            </a:extLst>
          </p:cNvPr>
          <p:cNvSpPr>
            <a:spLocks noGrp="1"/>
          </p:cNvSpPr>
          <p:nvPr>
            <p:ph type="ctrTitle"/>
          </p:nvPr>
        </p:nvSpPr>
        <p:spPr>
          <a:xfrm>
            <a:off x="1066801" y="5074083"/>
            <a:ext cx="5508170" cy="1240970"/>
          </a:xfrm>
        </p:spPr>
        <p:txBody>
          <a:bodyPr anchor="t">
            <a:normAutofit/>
          </a:bodyPr>
          <a:lstStyle/>
          <a:p>
            <a:pPr algn="r"/>
            <a:r>
              <a:rPr lang="de-DE"/>
              <a:t>Test Runner</a:t>
            </a:r>
          </a:p>
        </p:txBody>
      </p:sp>
      <p:sp>
        <p:nvSpPr>
          <p:cNvPr id="18" name="Subtitle 2">
            <a:extLst>
              <a:ext uri="{FF2B5EF4-FFF2-40B4-BE49-F238E27FC236}">
                <a16:creationId xmlns:a16="http://schemas.microsoft.com/office/drawing/2014/main" id="{009106D3-01C3-DD00-6EFD-E230063B074F}"/>
              </a:ext>
            </a:extLst>
          </p:cNvPr>
          <p:cNvSpPr>
            <a:spLocks noGrp="1"/>
          </p:cNvSpPr>
          <p:nvPr>
            <p:ph type="subTitle" idx="1"/>
          </p:nvPr>
        </p:nvSpPr>
        <p:spPr>
          <a:xfrm>
            <a:off x="7668349" y="5233915"/>
            <a:ext cx="3380652" cy="900573"/>
          </a:xfrm>
        </p:spPr>
        <p:txBody>
          <a:bodyPr/>
          <a:lstStyle/>
          <a:p>
            <a:r>
              <a:rPr lang="en-US" dirty="0"/>
              <a:t>&gt; ng test</a:t>
            </a:r>
          </a:p>
        </p:txBody>
      </p:sp>
      <p:pic>
        <p:nvPicPr>
          <p:cNvPr id="5" name="Inhaltsplatzhalter 4">
            <a:extLst>
              <a:ext uri="{FF2B5EF4-FFF2-40B4-BE49-F238E27FC236}">
                <a16:creationId xmlns:a16="http://schemas.microsoft.com/office/drawing/2014/main" id="{3874CEC1-ED3B-9FCE-F069-CC4055662AC9}"/>
              </a:ext>
            </a:extLst>
          </p:cNvPr>
          <p:cNvPicPr>
            <a:picLocks noGrp="1" noChangeAspect="1"/>
          </p:cNvPicPr>
          <p:nvPr>
            <p:ph idx="4294967295"/>
          </p:nvPr>
        </p:nvPicPr>
        <p:blipFill>
          <a:blip r:embed="rId2"/>
          <a:stretch>
            <a:fillRect/>
          </a:stretch>
        </p:blipFill>
        <p:spPr>
          <a:xfrm>
            <a:off x="2470238" y="723512"/>
            <a:ext cx="7187834" cy="3827522"/>
          </a:xfrm>
          <a:noFill/>
        </p:spPr>
      </p:pic>
      <p:sp>
        <p:nvSpPr>
          <p:cNvPr id="20" name="Footer Placeholder 4">
            <a:extLst>
              <a:ext uri="{FF2B5EF4-FFF2-40B4-BE49-F238E27FC236}">
                <a16:creationId xmlns:a16="http://schemas.microsoft.com/office/drawing/2014/main" id="{1ACC6352-32E6-10D7-B4C7-4F0502E450C8}"/>
              </a:ext>
            </a:extLst>
          </p:cNvPr>
          <p:cNvSpPr>
            <a:spLocks noGrp="1"/>
          </p:cNvSpPr>
          <p:nvPr>
            <p:ph type="ftr" sz="quarter" idx="11"/>
          </p:nvPr>
        </p:nvSpPr>
        <p:spPr>
          <a:xfrm>
            <a:off x="8610602" y="6318446"/>
            <a:ext cx="2743198" cy="365125"/>
          </a:xfrm>
        </p:spPr>
        <p:txBody>
          <a:bodyPr/>
          <a:lstStyle/>
          <a:p>
            <a:r>
              <a:t>Vitest Test Result</a:t>
            </a:r>
          </a:p>
        </p:txBody>
      </p:sp>
      <p:sp>
        <p:nvSpPr>
          <p:cNvPr id="21" name="Slide Number Placeholder 5">
            <a:extLst>
              <a:ext uri="{FF2B5EF4-FFF2-40B4-BE49-F238E27FC236}">
                <a16:creationId xmlns:a16="http://schemas.microsoft.com/office/drawing/2014/main" id="{26552065-B3CA-5929-D039-2DBB600B8B87}"/>
              </a:ext>
            </a:extLst>
          </p:cNvPr>
          <p:cNvSpPr>
            <a:spLocks noGrp="1"/>
          </p:cNvSpPr>
          <p:nvPr>
            <p:ph type="sldNum" sz="quarter" idx="12"/>
          </p:nvPr>
        </p:nvSpPr>
        <p:spPr>
          <a:xfrm>
            <a:off x="11353800" y="6318446"/>
            <a:ext cx="615696" cy="365125"/>
          </a:xfrm>
        </p:spPr>
        <p:txBody>
          <a:bodyPr/>
          <a:lstStyle/>
          <a:p>
            <a:pPr>
              <a:spcAft>
                <a:spcPts val="600"/>
              </a:spcAft>
            </a:pPr>
            <a:fld id="{5E84AC6A-A0EF-437B-BCEE-4772B0214A58}" type="slidenum">
              <a:rPr lang="en-US" smtClean="0"/>
              <a:pPr>
                <a:spcAft>
                  <a:spcPts val="600"/>
                </a:spcAft>
              </a:pPr>
              <a:t>7</a:t>
            </a:fld>
            <a:endParaRPr lang="en-US"/>
          </a:p>
        </p:txBody>
      </p:sp>
    </p:spTree>
    <p:extLst>
      <p:ext uri="{BB962C8B-B14F-4D97-AF65-F5344CB8AC3E}">
        <p14:creationId xmlns:p14="http://schemas.microsoft.com/office/powerpoint/2010/main" val="4173553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CAAFF1-5CE4-7989-6AB7-A3CF4DEB841B}"/>
              </a:ext>
            </a:extLst>
          </p:cNvPr>
          <p:cNvSpPr>
            <a:spLocks noGrp="1"/>
          </p:cNvSpPr>
          <p:nvPr>
            <p:ph type="title"/>
          </p:nvPr>
        </p:nvSpPr>
        <p:spPr/>
        <p:txBody>
          <a:bodyPr/>
          <a:lstStyle/>
          <a:p>
            <a:r>
              <a:t>Vitest Vokabular</a:t>
            </a:r>
          </a:p>
        </p:txBody>
      </p:sp>
      <p:graphicFrame>
        <p:nvGraphicFramePr>
          <p:cNvPr id="5" name="Inhaltsplatzhalter 4">
            <a:extLst>
              <a:ext uri="{FF2B5EF4-FFF2-40B4-BE49-F238E27FC236}">
                <a16:creationId xmlns:a16="http://schemas.microsoft.com/office/drawing/2014/main" id="{32FEE010-F51B-69CE-BC1F-2BAD76B1CAC8}"/>
              </a:ext>
            </a:extLst>
          </p:cNvPr>
          <p:cNvGraphicFramePr>
            <a:graphicFrameLocks noGrp="1"/>
          </p:cNvGraphicFramePr>
          <p:nvPr>
            <p:ph idx="1"/>
            <p:extLst>
              <p:ext uri="{D42A27DB-BD31-4B8C-83A1-F6EECF244321}">
                <p14:modId xmlns:p14="http://schemas.microsoft.com/office/powerpoint/2010/main" val="2713769126"/>
              </p:ext>
            </p:extLst>
          </p:nvPr>
        </p:nvGraphicFramePr>
        <p:xfrm>
          <a:off x="1069975" y="2139950"/>
          <a:ext cx="8883650" cy="3676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0363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D70460-FE6D-DB11-EDE0-0BBD52907F4F}"/>
              </a:ext>
            </a:extLst>
          </p:cNvPr>
          <p:cNvSpPr>
            <a:spLocks noGrp="1"/>
          </p:cNvSpPr>
          <p:nvPr>
            <p:ph type="title"/>
          </p:nvPr>
        </p:nvSpPr>
        <p:spPr>
          <a:xfrm>
            <a:off x="1987680" y="1143000"/>
            <a:ext cx="7946597" cy="1257300"/>
          </a:xfrm>
        </p:spPr>
        <p:txBody>
          <a:bodyPr anchor="ctr">
            <a:normAutofit/>
          </a:bodyPr>
          <a:lstStyle/>
          <a:p>
            <a:r>
              <a:rPr lang="de-DE" dirty="0"/>
              <a:t>Einfaches Beispiel – Testsubjekt </a:t>
            </a:r>
            <a:r>
              <a:rPr lang="de-DE" dirty="0" err="1"/>
              <a:t>ExampleService</a:t>
            </a:r>
            <a:endParaRPr lang="de-DE" dirty="0"/>
          </a:p>
        </p:txBody>
      </p:sp>
      <p:sp>
        <p:nvSpPr>
          <p:cNvPr id="4" name="Rectangle 1">
            <a:extLst>
              <a:ext uri="{FF2B5EF4-FFF2-40B4-BE49-F238E27FC236}">
                <a16:creationId xmlns:a16="http://schemas.microsoft.com/office/drawing/2014/main" id="{9952C1FA-BE54-8105-0D00-6D9827FD2E9E}"/>
              </a:ext>
            </a:extLst>
          </p:cNvPr>
          <p:cNvSpPr>
            <a:spLocks noGrp="1" noChangeArrowheads="1"/>
          </p:cNvSpPr>
          <p:nvPr>
            <p:ph idx="1"/>
          </p:nvPr>
        </p:nvSpPr>
        <p:spPr bwMode="auto">
          <a:xfrm>
            <a:off x="1987680" y="2411519"/>
            <a:ext cx="5380530" cy="3394641"/>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dirty="0" err="1">
                <a:ln>
                  <a:noFill/>
                </a:ln>
                <a:effectLst/>
              </a:rPr>
              <a:t>describe</a:t>
            </a:r>
            <a:r>
              <a:rPr kumimoji="0" lang="de-DE" altLang="de-DE" sz="1100" b="0" i="0" u="none" strike="noStrike" cap="none" normalizeH="0" baseline="0" dirty="0">
                <a:ln>
                  <a:noFill/>
                </a:ln>
                <a:effectLst/>
              </a:rPr>
              <a:t>('</a:t>
            </a:r>
            <a:r>
              <a:rPr kumimoji="0" lang="de-DE" altLang="de-DE" sz="1100" b="0" i="0" u="none" strike="noStrike" cap="none" normalizeH="0" baseline="0" dirty="0" err="1">
                <a:ln>
                  <a:noFill/>
                </a:ln>
                <a:effectLst/>
              </a:rPr>
              <a:t>ExampleService</a:t>
            </a:r>
            <a:r>
              <a:rPr kumimoji="0" lang="de-DE" altLang="de-DE" sz="1100" b="0" i="0" u="none" strike="noStrike" cap="none" normalizeH="0" baseline="0" dirty="0">
                <a:ln>
                  <a:noFill/>
                </a:ln>
                <a:effectLst/>
              </a:rPr>
              <a:t>', () =&gt; {</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let</a:t>
            </a: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service</a:t>
            </a: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ExampleService</a:t>
            </a:r>
            <a:r>
              <a:rPr kumimoji="0" lang="de-DE" altLang="de-DE" sz="1100" b="0" i="0" u="none" strike="noStrike" cap="none" normalizeH="0" baseline="0" dirty="0">
                <a:ln>
                  <a:noFill/>
                </a:ln>
                <a:effectLst/>
              </a:rPr>
              <a:t>;</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br>
              <a:rPr kumimoji="0" lang="de-DE" altLang="de-DE" sz="1100" b="0" i="0" u="none" strike="noStrike" cap="none" normalizeH="0" baseline="0" dirty="0">
                <a:ln>
                  <a:noFill/>
                </a:ln>
                <a:effectLst/>
              </a:rPr>
            </a:b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beforeEach</a:t>
            </a:r>
            <a:r>
              <a:rPr kumimoji="0" lang="de-DE" altLang="de-DE" sz="1100" b="0" i="0" u="none" strike="noStrike" cap="none" normalizeH="0" baseline="0" dirty="0">
                <a:ln>
                  <a:noFill/>
                </a:ln>
                <a:effectLst/>
              </a:rPr>
              <a:t>(() =&gt; {</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r>
              <a:rPr kumimoji="0" lang="de-DE" altLang="de-DE" sz="1100" b="1" i="1" u="none" strike="noStrike" cap="none" normalizeH="0" baseline="0" dirty="0" err="1">
                <a:ln>
                  <a:noFill/>
                </a:ln>
                <a:effectLst/>
              </a:rPr>
              <a:t>TestBed</a:t>
            </a:r>
            <a:r>
              <a:rPr kumimoji="0" lang="de-DE" altLang="de-DE" sz="1100" b="0" i="0" u="none" strike="noStrike" cap="none" normalizeH="0" baseline="0" dirty="0" err="1">
                <a:ln>
                  <a:noFill/>
                </a:ln>
                <a:effectLst/>
              </a:rPr>
              <a:t>.configureTestingModule</a:t>
            </a:r>
            <a:r>
              <a:rPr kumimoji="0" lang="de-DE" altLang="de-DE" sz="1100" b="0" i="0" u="none" strike="noStrike" cap="none" normalizeH="0" baseline="0" dirty="0">
                <a:ln>
                  <a:noFill/>
                </a:ln>
                <a:effectLst/>
              </a:rPr>
              <a:t>({});</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service</a:t>
            </a:r>
            <a:r>
              <a:rPr kumimoji="0" lang="de-DE" altLang="de-DE" sz="1100" b="0" i="0" u="none" strike="noStrike" cap="none" normalizeH="0" baseline="0" dirty="0">
                <a:ln>
                  <a:noFill/>
                </a:ln>
                <a:effectLst/>
              </a:rPr>
              <a:t> = </a:t>
            </a:r>
            <a:r>
              <a:rPr kumimoji="0" lang="de-DE" altLang="de-DE" sz="1100" b="1" i="1" u="none" strike="noStrike" cap="none" normalizeH="0" baseline="0" dirty="0" err="1">
                <a:ln>
                  <a:noFill/>
                </a:ln>
                <a:effectLst/>
              </a:rPr>
              <a:t>TestBed</a:t>
            </a:r>
            <a:r>
              <a:rPr kumimoji="0" lang="de-DE" altLang="de-DE" sz="1100" b="0" i="0" u="none" strike="noStrike" cap="none" normalizeH="0" baseline="0" dirty="0" err="1">
                <a:ln>
                  <a:noFill/>
                </a:ln>
                <a:effectLst/>
              </a:rPr>
              <a:t>.inject</a:t>
            </a:r>
            <a:r>
              <a:rPr kumimoji="0" lang="de-DE" altLang="de-DE" sz="1100" b="0" i="0" u="none" strike="noStrike" cap="none" normalizeH="0" baseline="0" dirty="0">
                <a:ln>
                  <a:noFill/>
                </a:ln>
                <a:effectLst/>
              </a:rPr>
              <a:t>(</a:t>
            </a:r>
            <a:r>
              <a:rPr kumimoji="0" lang="de-DE" altLang="de-DE" sz="1100" b="0" i="0" u="none" strike="noStrike" cap="none" normalizeH="0" baseline="0" dirty="0" err="1">
                <a:ln>
                  <a:noFill/>
                </a:ln>
                <a:effectLst/>
              </a:rPr>
              <a:t>ExampleService</a:t>
            </a:r>
            <a:r>
              <a:rPr kumimoji="0" lang="de-DE" altLang="de-DE" sz="1100" b="0" i="0" u="none" strike="noStrike" cap="none" normalizeH="0" baseline="0" dirty="0">
                <a:ln>
                  <a:noFill/>
                </a:ln>
                <a:effectLst/>
              </a:rPr>
              <a:t>);</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br>
              <a:rPr kumimoji="0" lang="de-DE" altLang="de-DE" sz="1100" b="0" i="0" u="none" strike="noStrike" cap="none" normalizeH="0" baseline="0" dirty="0">
                <a:ln>
                  <a:noFill/>
                </a:ln>
                <a:effectLst/>
              </a:rPr>
            </a:b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it</a:t>
            </a:r>
            <a:r>
              <a:rPr kumimoji="0" lang="de-DE" altLang="de-DE" sz="1100" b="0" i="0" u="none" strike="noStrike" cap="none" normalizeH="0" baseline="0" dirty="0">
                <a:ln>
                  <a:noFill/>
                </a:ln>
                <a:effectLst/>
              </a:rPr>
              <a:t>('</a:t>
            </a:r>
            <a:r>
              <a:rPr kumimoji="0" lang="de-DE" altLang="de-DE" sz="1100" b="0" i="0" u="none" strike="noStrike" cap="none" normalizeH="0" baseline="0" dirty="0" err="1">
                <a:ln>
                  <a:noFill/>
                </a:ln>
                <a:effectLst/>
              </a:rPr>
              <a:t>should</a:t>
            </a: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be</a:t>
            </a: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created</a:t>
            </a:r>
            <a:r>
              <a:rPr kumimoji="0" lang="de-DE" altLang="de-DE" sz="1100" b="0" i="0" u="none" strike="noStrike" cap="none" normalizeH="0" baseline="0" dirty="0">
                <a:ln>
                  <a:noFill/>
                </a:ln>
                <a:effectLst/>
              </a:rPr>
              <a:t>', () =&gt; {</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r>
              <a:rPr kumimoji="0" lang="de-DE" altLang="de-DE" sz="1100" b="0" i="0" u="none" strike="noStrike" cap="none" normalizeH="0" baseline="0" dirty="0" err="1">
                <a:ln>
                  <a:noFill/>
                </a:ln>
                <a:effectLst/>
              </a:rPr>
              <a:t>expect</a:t>
            </a:r>
            <a:r>
              <a:rPr kumimoji="0" lang="de-DE" altLang="de-DE" sz="1100" b="0" i="0" u="none" strike="noStrike" cap="none" normalizeH="0" baseline="0" dirty="0">
                <a:ln>
                  <a:noFill/>
                </a:ln>
                <a:effectLst/>
              </a:rPr>
              <a:t>(</a:t>
            </a:r>
            <a:r>
              <a:rPr kumimoji="0" lang="de-DE" altLang="de-DE" sz="1100" b="0" i="0" u="none" strike="noStrike" cap="none" normalizeH="0" baseline="0" dirty="0" err="1">
                <a:ln>
                  <a:noFill/>
                </a:ln>
                <a:effectLst/>
              </a:rPr>
              <a:t>service</a:t>
            </a:r>
            <a:r>
              <a:rPr kumimoji="0" lang="de-DE" altLang="de-DE" sz="1100" b="0" i="0" u="none" strike="noStrike" cap="none" normalizeH="0" baseline="0" dirty="0">
                <a:ln>
                  <a:noFill/>
                </a:ln>
                <a:effectLst/>
              </a:rPr>
              <a:t>).</a:t>
            </a:r>
            <a:r>
              <a:rPr kumimoji="0" lang="de-DE" altLang="de-DE" sz="1100" b="0" i="0" u="none" strike="noStrike" cap="none" normalizeH="0" baseline="0" dirty="0" err="1">
                <a:ln>
                  <a:noFill/>
                </a:ln>
                <a:effectLst/>
              </a:rPr>
              <a:t>toBeTruthy</a:t>
            </a:r>
            <a:r>
              <a:rPr kumimoji="0" lang="de-DE" altLang="de-DE" sz="1100" b="0" i="0" u="none" strike="noStrike" cap="none" normalizeH="0" baseline="0" dirty="0">
                <a:ln>
                  <a:noFill/>
                </a:ln>
                <a:effectLst/>
              </a:rPr>
              <a:t>();</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  });</a:t>
            </a:r>
            <a:br>
              <a:rPr kumimoji="0" lang="de-DE" altLang="de-DE" sz="1100" b="0" i="0" u="none" strike="noStrike" cap="none" normalizeH="0" baseline="0" dirty="0">
                <a:ln>
                  <a:noFill/>
                </a:ln>
                <a:effectLst/>
              </a:rPr>
            </a:br>
            <a:r>
              <a:rPr kumimoji="0" lang="de-DE" altLang="de-DE" sz="1100" b="0" i="0" u="none" strike="noStrike" cap="none" normalizeH="0" baseline="0" dirty="0">
                <a:ln>
                  <a:noFill/>
                </a:ln>
                <a:effectLst/>
              </a:rPr>
              <a:t>});</a:t>
            </a:r>
          </a:p>
        </p:txBody>
      </p:sp>
      <p:sp>
        <p:nvSpPr>
          <p:cNvPr id="11" name="Footer Placeholder 11">
            <a:extLst>
              <a:ext uri="{FF2B5EF4-FFF2-40B4-BE49-F238E27FC236}">
                <a16:creationId xmlns:a16="http://schemas.microsoft.com/office/drawing/2014/main" id="{D3F11434-174D-1999-3EFB-12EAB103792E}"/>
              </a:ext>
            </a:extLst>
          </p:cNvPr>
          <p:cNvSpPr>
            <a:spLocks noGrp="1"/>
          </p:cNvSpPr>
          <p:nvPr>
            <p:ph type="ftr" sz="quarter" idx="11"/>
          </p:nvPr>
        </p:nvSpPr>
        <p:spPr>
          <a:xfrm>
            <a:off x="8610602" y="6318446"/>
            <a:ext cx="2743198" cy="365125"/>
          </a:xfrm>
        </p:spPr>
        <p:txBody>
          <a:bodyPr/>
          <a:lstStyle/>
          <a:p>
            <a:pPr>
              <a:spcAft>
                <a:spcPts val="600"/>
              </a:spcAft>
            </a:pPr>
            <a:r>
              <a:rPr lang="en-US" dirty="0" err="1"/>
              <a:t>Testexample</a:t>
            </a:r>
            <a:endParaRPr lang="en-US" dirty="0"/>
          </a:p>
        </p:txBody>
      </p:sp>
      <p:sp>
        <p:nvSpPr>
          <p:cNvPr id="13" name="Slide Number Placeholder 12">
            <a:extLst>
              <a:ext uri="{FF2B5EF4-FFF2-40B4-BE49-F238E27FC236}">
                <a16:creationId xmlns:a16="http://schemas.microsoft.com/office/drawing/2014/main" id="{E81E43C7-A0CC-1802-1337-C72177715401}"/>
              </a:ext>
            </a:extLst>
          </p:cNvPr>
          <p:cNvSpPr>
            <a:spLocks noGrp="1"/>
          </p:cNvSpPr>
          <p:nvPr>
            <p:ph type="sldNum" sz="quarter" idx="12"/>
          </p:nvPr>
        </p:nvSpPr>
        <p:spPr>
          <a:xfrm>
            <a:off x="11353800" y="6318446"/>
            <a:ext cx="615696" cy="365125"/>
          </a:xfrm>
        </p:spPr>
        <p:txBody>
          <a:bodyPr/>
          <a:lstStyle/>
          <a:p>
            <a:pPr>
              <a:spcAft>
                <a:spcPts val="600"/>
              </a:spcAft>
            </a:pPr>
            <a:fld id="{5E84AC6A-A0EF-437B-BCEE-4772B0214A58}" type="slidenum">
              <a:rPr lang="en-US" smtClean="0"/>
              <a:pPr>
                <a:spcAft>
                  <a:spcPts val="600"/>
                </a:spcAft>
              </a:pPr>
              <a:t>9</a:t>
            </a:fld>
            <a:endParaRPr lang="en-US"/>
          </a:p>
        </p:txBody>
      </p:sp>
      <p:sp>
        <p:nvSpPr>
          <p:cNvPr id="14" name="Textfeld 13">
            <a:extLst>
              <a:ext uri="{FF2B5EF4-FFF2-40B4-BE49-F238E27FC236}">
                <a16:creationId xmlns:a16="http://schemas.microsoft.com/office/drawing/2014/main" id="{DBD3A6F5-4BFF-4D21-0379-42109BB6DEDA}"/>
              </a:ext>
            </a:extLst>
          </p:cNvPr>
          <p:cNvSpPr txBox="1"/>
          <p:nvPr/>
        </p:nvSpPr>
        <p:spPr>
          <a:xfrm>
            <a:off x="6096000" y="3990041"/>
            <a:ext cx="1481496" cy="369332"/>
          </a:xfrm>
          <a:prstGeom prst="rect">
            <a:avLst/>
          </a:prstGeom>
          <a:noFill/>
        </p:spPr>
        <p:txBody>
          <a:bodyPr wrap="none" rtlCol="0">
            <a:spAutoFit/>
          </a:bodyPr>
          <a:lstStyle/>
          <a:p>
            <a:r>
              <a:rPr lang="de-DE" dirty="0" err="1">
                <a:solidFill>
                  <a:schemeClr val="accent1">
                    <a:lumMod val="60000"/>
                    <a:lumOff val="40000"/>
                  </a:schemeClr>
                </a:solidFill>
              </a:rPr>
              <a:t>Expectation</a:t>
            </a:r>
            <a:endParaRPr lang="de-DE" dirty="0">
              <a:solidFill>
                <a:schemeClr val="accent1">
                  <a:lumMod val="60000"/>
                  <a:lumOff val="40000"/>
                </a:schemeClr>
              </a:solidFill>
            </a:endParaRPr>
          </a:p>
        </p:txBody>
      </p:sp>
      <p:sp>
        <p:nvSpPr>
          <p:cNvPr id="15" name="Textfeld 14">
            <a:extLst>
              <a:ext uri="{FF2B5EF4-FFF2-40B4-BE49-F238E27FC236}">
                <a16:creationId xmlns:a16="http://schemas.microsoft.com/office/drawing/2014/main" id="{E7057F30-AA58-54F3-7950-66ABA073F411}"/>
              </a:ext>
            </a:extLst>
          </p:cNvPr>
          <p:cNvSpPr txBox="1"/>
          <p:nvPr/>
        </p:nvSpPr>
        <p:spPr>
          <a:xfrm>
            <a:off x="6111630" y="4359373"/>
            <a:ext cx="1082348" cy="369332"/>
          </a:xfrm>
          <a:prstGeom prst="rect">
            <a:avLst/>
          </a:prstGeom>
          <a:noFill/>
        </p:spPr>
        <p:txBody>
          <a:bodyPr wrap="none" rtlCol="0">
            <a:spAutoFit/>
          </a:bodyPr>
          <a:lstStyle/>
          <a:p>
            <a:r>
              <a:rPr lang="de-DE" dirty="0" err="1">
                <a:solidFill>
                  <a:schemeClr val="accent1">
                    <a:lumMod val="60000"/>
                    <a:lumOff val="40000"/>
                  </a:schemeClr>
                </a:solidFill>
              </a:rPr>
              <a:t>Matcher</a:t>
            </a:r>
            <a:endParaRPr lang="de-DE" dirty="0">
              <a:solidFill>
                <a:schemeClr val="accent1">
                  <a:lumMod val="60000"/>
                  <a:lumOff val="40000"/>
                </a:schemeClr>
              </a:solidFill>
            </a:endParaRPr>
          </a:p>
        </p:txBody>
      </p:sp>
      <p:sp>
        <p:nvSpPr>
          <p:cNvPr id="17" name="Textfeld 16">
            <a:extLst>
              <a:ext uri="{FF2B5EF4-FFF2-40B4-BE49-F238E27FC236}">
                <a16:creationId xmlns:a16="http://schemas.microsoft.com/office/drawing/2014/main" id="{31E8EE0E-5705-D8C6-387C-0AD81EEF5FA6}"/>
              </a:ext>
            </a:extLst>
          </p:cNvPr>
          <p:cNvSpPr txBox="1"/>
          <p:nvPr/>
        </p:nvSpPr>
        <p:spPr>
          <a:xfrm>
            <a:off x="6079847" y="3244334"/>
            <a:ext cx="822661" cy="369332"/>
          </a:xfrm>
          <a:prstGeom prst="rect">
            <a:avLst/>
          </a:prstGeom>
          <a:noFill/>
        </p:spPr>
        <p:txBody>
          <a:bodyPr wrap="none" rtlCol="0">
            <a:spAutoFit/>
          </a:bodyPr>
          <a:lstStyle/>
          <a:p>
            <a:r>
              <a:rPr lang="de-DE" dirty="0">
                <a:solidFill>
                  <a:schemeClr val="accent1">
                    <a:lumMod val="60000"/>
                    <a:lumOff val="40000"/>
                  </a:schemeClr>
                </a:solidFill>
              </a:rPr>
              <a:t>Setup</a:t>
            </a:r>
          </a:p>
        </p:txBody>
      </p:sp>
      <p:sp>
        <p:nvSpPr>
          <p:cNvPr id="20" name="Textfeld 19">
            <a:extLst>
              <a:ext uri="{FF2B5EF4-FFF2-40B4-BE49-F238E27FC236}">
                <a16:creationId xmlns:a16="http://schemas.microsoft.com/office/drawing/2014/main" id="{8C1D21A7-71A4-A589-9986-08CCC693EB9B}"/>
              </a:ext>
            </a:extLst>
          </p:cNvPr>
          <p:cNvSpPr txBox="1"/>
          <p:nvPr/>
        </p:nvSpPr>
        <p:spPr>
          <a:xfrm>
            <a:off x="6111630" y="2411519"/>
            <a:ext cx="736099" cy="369332"/>
          </a:xfrm>
          <a:prstGeom prst="rect">
            <a:avLst/>
          </a:prstGeom>
          <a:noFill/>
        </p:spPr>
        <p:txBody>
          <a:bodyPr wrap="none" rtlCol="0">
            <a:spAutoFit/>
          </a:bodyPr>
          <a:lstStyle/>
          <a:p>
            <a:r>
              <a:rPr lang="de-DE" dirty="0">
                <a:solidFill>
                  <a:schemeClr val="accent1">
                    <a:lumMod val="60000"/>
                    <a:lumOff val="40000"/>
                  </a:schemeClr>
                </a:solidFill>
              </a:rPr>
              <a:t>Suite</a:t>
            </a:r>
          </a:p>
        </p:txBody>
      </p:sp>
    </p:spTree>
    <p:extLst>
      <p:ext uri="{BB962C8B-B14F-4D97-AF65-F5344CB8AC3E}">
        <p14:creationId xmlns:p14="http://schemas.microsoft.com/office/powerpoint/2010/main" val="434699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5A5655-2A4D-58E6-D6CF-BF71CA417AED}"/>
              </a:ext>
            </a:extLst>
          </p:cNvPr>
          <p:cNvSpPr>
            <a:spLocks noGrp="1"/>
          </p:cNvSpPr>
          <p:nvPr>
            <p:ph type="title"/>
          </p:nvPr>
        </p:nvSpPr>
        <p:spPr/>
        <p:txBody>
          <a:bodyPr/>
          <a:lstStyle/>
          <a:p>
            <a:r>
              <a:rPr lang="de-DE" dirty="0"/>
              <a:t>Setup, </a:t>
            </a:r>
            <a:r>
              <a:rPr lang="de-DE" dirty="0" err="1"/>
              <a:t>Teardown</a:t>
            </a:r>
            <a:r>
              <a:rPr lang="de-DE" dirty="0"/>
              <a:t> </a:t>
            </a:r>
          </a:p>
        </p:txBody>
      </p:sp>
      <p:graphicFrame>
        <p:nvGraphicFramePr>
          <p:cNvPr id="5" name="Inhaltsplatzhalter 4">
            <a:extLst>
              <a:ext uri="{FF2B5EF4-FFF2-40B4-BE49-F238E27FC236}">
                <a16:creationId xmlns:a16="http://schemas.microsoft.com/office/drawing/2014/main" id="{6080F86F-9BAF-D620-A4FD-F60AE140071C}"/>
              </a:ext>
            </a:extLst>
          </p:cNvPr>
          <p:cNvGraphicFramePr>
            <a:graphicFrameLocks noGrp="1"/>
          </p:cNvGraphicFramePr>
          <p:nvPr>
            <p:ph idx="1"/>
            <p:extLst>
              <p:ext uri="{D42A27DB-BD31-4B8C-83A1-F6EECF244321}">
                <p14:modId xmlns:p14="http://schemas.microsoft.com/office/powerpoint/2010/main" val="3328342074"/>
              </p:ext>
            </p:extLst>
          </p:nvPr>
        </p:nvGraphicFramePr>
        <p:xfrm>
          <a:off x="1069975" y="2139950"/>
          <a:ext cx="8883650" cy="3676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971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C0D97D-ADFE-519C-9C64-81F0513D3353}"/>
              </a:ext>
            </a:extLst>
          </p:cNvPr>
          <p:cNvSpPr>
            <a:spLocks noGrp="1"/>
          </p:cNvSpPr>
          <p:nvPr>
            <p:ph type="title"/>
          </p:nvPr>
        </p:nvSpPr>
        <p:spPr/>
        <p:txBody>
          <a:bodyPr/>
          <a:lstStyle/>
          <a:p>
            <a:r>
              <a:rPr lang="de-DE" dirty="0"/>
              <a:t>Setup initialisiere </a:t>
            </a:r>
            <a:r>
              <a:rPr lang="de-DE" dirty="0" err="1"/>
              <a:t>Testwelt</a:t>
            </a:r>
            <a:endParaRPr lang="de-DE" dirty="0"/>
          </a:p>
        </p:txBody>
      </p:sp>
      <p:sp>
        <p:nvSpPr>
          <p:cNvPr id="3" name="Inhaltsplatzhalter 2">
            <a:extLst>
              <a:ext uri="{FF2B5EF4-FFF2-40B4-BE49-F238E27FC236}">
                <a16:creationId xmlns:a16="http://schemas.microsoft.com/office/drawing/2014/main" id="{24C5D27F-C0E0-440C-72B2-9815CF995141}"/>
              </a:ext>
            </a:extLst>
          </p:cNvPr>
          <p:cNvSpPr>
            <a:spLocks noGrp="1"/>
          </p:cNvSpPr>
          <p:nvPr>
            <p:ph idx="1"/>
          </p:nvPr>
        </p:nvSpPr>
        <p:spPr/>
        <p:txBody>
          <a:bodyPr/>
          <a:lstStyle/>
          <a:p>
            <a:r>
              <a:rPr kumimoji="0" lang="de-DE" altLang="de-DE" sz="1800" b="0" i="0" u="none" strike="noStrike" cap="none" normalizeH="0" baseline="0" dirty="0">
                <a:ln>
                  <a:noFill/>
                </a:ln>
                <a:effectLst/>
              </a:rPr>
              <a:t> </a:t>
            </a:r>
            <a:r>
              <a:rPr kumimoji="0" lang="de-DE" altLang="de-DE" sz="1800" b="0" i="0" u="none" strike="noStrike" cap="none" normalizeH="0" baseline="0" dirty="0" err="1">
                <a:ln>
                  <a:noFill/>
                </a:ln>
                <a:effectLst/>
              </a:rPr>
              <a:t>beforeEach</a:t>
            </a:r>
            <a:r>
              <a:rPr kumimoji="0" lang="de-DE" altLang="de-DE" sz="1800" b="0" i="0" u="none" strike="noStrike" cap="none" normalizeH="0" baseline="0" dirty="0">
                <a:ln>
                  <a:noFill/>
                </a:ln>
                <a:effectLst/>
              </a:rPr>
              <a:t>(() =&gt; {</a:t>
            </a:r>
            <a:br>
              <a:rPr kumimoji="0" lang="de-DE" altLang="de-DE" sz="1800" b="0" i="0" u="none" strike="noStrike" cap="none" normalizeH="0" baseline="0" dirty="0">
                <a:ln>
                  <a:noFill/>
                </a:ln>
                <a:effectLst/>
              </a:rPr>
            </a:br>
            <a:r>
              <a:rPr kumimoji="0" lang="de-DE" altLang="de-DE" sz="1800" b="0" i="0" u="none" strike="noStrike" cap="none" normalizeH="0" baseline="0" dirty="0">
                <a:ln>
                  <a:noFill/>
                </a:ln>
                <a:effectLst/>
              </a:rPr>
              <a:t>    </a:t>
            </a:r>
            <a:r>
              <a:rPr kumimoji="0" lang="de-DE" altLang="de-DE" sz="1800" b="1" i="1" u="none" strike="noStrike" cap="none" normalizeH="0" baseline="0" dirty="0" err="1">
                <a:ln>
                  <a:noFill/>
                </a:ln>
                <a:effectLst/>
              </a:rPr>
              <a:t>TestBed</a:t>
            </a:r>
            <a:r>
              <a:rPr kumimoji="0" lang="de-DE" altLang="de-DE" sz="1800" b="0" i="0" u="none" strike="noStrike" cap="none" normalizeH="0" baseline="0" dirty="0" err="1">
                <a:ln>
                  <a:noFill/>
                </a:ln>
                <a:effectLst/>
              </a:rPr>
              <a:t>.configureTestingModule</a:t>
            </a:r>
            <a:r>
              <a:rPr kumimoji="0" lang="de-DE" altLang="de-DE" sz="1800" b="0" i="0" u="none" strike="noStrike" cap="none" normalizeH="0" baseline="0" dirty="0">
                <a:ln>
                  <a:noFill/>
                </a:ln>
                <a:effectLst/>
              </a:rPr>
              <a:t>({});	</a:t>
            </a:r>
            <a:r>
              <a:rPr lang="de-DE" dirty="0">
                <a:solidFill>
                  <a:schemeClr val="accent1">
                    <a:lumMod val="60000"/>
                    <a:lumOff val="40000"/>
                  </a:schemeClr>
                </a:solidFill>
              </a:rPr>
              <a:t> Setup </a:t>
            </a:r>
            <a:r>
              <a:rPr lang="de-DE" dirty="0" err="1">
                <a:solidFill>
                  <a:schemeClr val="accent1">
                    <a:lumMod val="60000"/>
                    <a:lumOff val="40000"/>
                  </a:schemeClr>
                </a:solidFill>
              </a:rPr>
              <a:t>TestModule</a:t>
            </a:r>
            <a:r>
              <a:rPr lang="de-DE" dirty="0">
                <a:solidFill>
                  <a:schemeClr val="accent1">
                    <a:lumMod val="60000"/>
                    <a:lumOff val="40000"/>
                  </a:schemeClr>
                </a:solidFill>
              </a:rPr>
              <a:t> mittels </a:t>
            </a:r>
            <a:r>
              <a:rPr lang="de-DE" dirty="0" err="1">
                <a:solidFill>
                  <a:schemeClr val="accent1">
                    <a:lumMod val="60000"/>
                    <a:lumOff val="40000"/>
                  </a:schemeClr>
                </a:solidFill>
              </a:rPr>
              <a:t>Config</a:t>
            </a:r>
            <a:r>
              <a:rPr lang="de-DE" dirty="0">
                <a:solidFill>
                  <a:schemeClr val="accent1">
                    <a:lumMod val="60000"/>
                    <a:lumOff val="40000"/>
                  </a:schemeClr>
                </a:solidFill>
              </a:rPr>
              <a:t> 						</a:t>
            </a:r>
            <a:r>
              <a:rPr lang="de-DE" dirty="0" err="1">
                <a:solidFill>
                  <a:schemeClr val="accent1">
                    <a:lumMod val="60000"/>
                    <a:lumOff val="40000"/>
                  </a:schemeClr>
                </a:solidFill>
              </a:rPr>
              <a:t>Object</a:t>
            </a:r>
            <a:br>
              <a:rPr kumimoji="0" lang="de-DE" altLang="de-DE" sz="1800" b="0" i="0" u="none" strike="noStrike" cap="none" normalizeH="0" baseline="0" dirty="0">
                <a:ln>
                  <a:noFill/>
                </a:ln>
                <a:effectLst/>
              </a:rPr>
            </a:br>
            <a:r>
              <a:rPr kumimoji="0" lang="de-DE" altLang="de-DE" sz="1800" b="0" i="0" u="none" strike="noStrike" cap="none" normalizeH="0" baseline="0" dirty="0">
                <a:ln>
                  <a:noFill/>
                </a:ln>
                <a:effectLst/>
              </a:rPr>
              <a:t>    </a:t>
            </a:r>
            <a:r>
              <a:rPr kumimoji="0" lang="de-DE" altLang="de-DE" sz="1800" b="0" i="0" u="none" strike="noStrike" cap="none" normalizeH="0" baseline="0" dirty="0" err="1">
                <a:ln>
                  <a:noFill/>
                </a:ln>
                <a:effectLst/>
              </a:rPr>
              <a:t>service</a:t>
            </a:r>
            <a:r>
              <a:rPr kumimoji="0" lang="de-DE" altLang="de-DE" sz="1800" b="0" i="0" u="none" strike="noStrike" cap="none" normalizeH="0" baseline="0" dirty="0">
                <a:ln>
                  <a:noFill/>
                </a:ln>
                <a:effectLst/>
              </a:rPr>
              <a:t> = </a:t>
            </a:r>
            <a:r>
              <a:rPr kumimoji="0" lang="de-DE" altLang="de-DE" sz="1800" b="1" i="1" u="none" strike="noStrike" cap="none" normalizeH="0" baseline="0" dirty="0" err="1">
                <a:ln>
                  <a:noFill/>
                </a:ln>
                <a:effectLst/>
              </a:rPr>
              <a:t>TestBed</a:t>
            </a:r>
            <a:r>
              <a:rPr kumimoji="0" lang="de-DE" altLang="de-DE" sz="1800" b="0" i="0" u="none" strike="noStrike" cap="none" normalizeH="0" baseline="0" dirty="0" err="1">
                <a:ln>
                  <a:noFill/>
                </a:ln>
                <a:effectLst/>
              </a:rPr>
              <a:t>.inject</a:t>
            </a:r>
            <a:r>
              <a:rPr kumimoji="0" lang="de-DE" altLang="de-DE" sz="1800" b="0" i="0" u="none" strike="noStrike" cap="none" normalizeH="0" baseline="0" dirty="0">
                <a:ln>
                  <a:noFill/>
                </a:ln>
                <a:effectLst/>
              </a:rPr>
              <a:t>(</a:t>
            </a:r>
            <a:r>
              <a:rPr kumimoji="0" lang="de-DE" altLang="de-DE" sz="1800" b="0" i="0" u="none" strike="noStrike" cap="none" normalizeH="0" baseline="0" dirty="0" err="1">
                <a:ln>
                  <a:noFill/>
                </a:ln>
                <a:effectLst/>
              </a:rPr>
              <a:t>ExampleService</a:t>
            </a:r>
            <a:r>
              <a:rPr kumimoji="0" lang="de-DE" altLang="de-DE" sz="1800" b="0" i="0" u="none" strike="noStrike" cap="none" normalizeH="0" baseline="0" dirty="0">
                <a:ln>
                  <a:noFill/>
                </a:ln>
                <a:effectLst/>
              </a:rPr>
              <a:t>);</a:t>
            </a:r>
            <a:br>
              <a:rPr kumimoji="0" lang="de-DE" altLang="de-DE" sz="1800" b="0" i="0" u="none" strike="noStrike" cap="none" normalizeH="0" baseline="0" dirty="0">
                <a:ln>
                  <a:noFill/>
                </a:ln>
                <a:effectLst/>
              </a:rPr>
            </a:br>
            <a:r>
              <a:rPr kumimoji="0" lang="de-DE" altLang="de-DE" sz="1800" b="0" i="0" u="none" strike="noStrike" cap="none" normalizeH="0" baseline="0" dirty="0">
                <a:ln>
                  <a:noFill/>
                </a:ln>
                <a:effectLst/>
              </a:rPr>
              <a:t>  });</a:t>
            </a:r>
            <a:endParaRPr lang="de-DE" dirty="0"/>
          </a:p>
        </p:txBody>
      </p:sp>
    </p:spTree>
    <p:extLst>
      <p:ext uri="{BB962C8B-B14F-4D97-AF65-F5344CB8AC3E}">
        <p14:creationId xmlns:p14="http://schemas.microsoft.com/office/powerpoint/2010/main" val="3172002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9852A0-AED9-5108-F9BE-1469CC4B0DD4}"/>
              </a:ext>
            </a:extLst>
          </p:cNvPr>
          <p:cNvSpPr>
            <a:spLocks noGrp="1"/>
          </p:cNvSpPr>
          <p:nvPr>
            <p:ph type="title"/>
          </p:nvPr>
        </p:nvSpPr>
        <p:spPr/>
        <p:txBody>
          <a:bodyPr/>
          <a:lstStyle/>
          <a:p>
            <a:r>
              <a:rPr lang="de-DE" dirty="0" err="1"/>
              <a:t>Expectation</a:t>
            </a:r>
            <a:endParaRPr lang="de-DE" dirty="0"/>
          </a:p>
        </p:txBody>
      </p:sp>
      <p:sp>
        <p:nvSpPr>
          <p:cNvPr id="3" name="Inhaltsplatzhalter 2">
            <a:extLst>
              <a:ext uri="{FF2B5EF4-FFF2-40B4-BE49-F238E27FC236}">
                <a16:creationId xmlns:a16="http://schemas.microsoft.com/office/drawing/2014/main" id="{40FA3CC1-8C66-C510-08E4-6C875844186A}"/>
              </a:ext>
            </a:extLst>
          </p:cNvPr>
          <p:cNvSpPr>
            <a:spLocks noGrp="1"/>
          </p:cNvSpPr>
          <p:nvPr>
            <p:ph idx="1"/>
          </p:nvPr>
        </p:nvSpPr>
        <p:spPr/>
        <p:txBody>
          <a:bodyPr/>
          <a:lstStyle/>
          <a:p>
            <a:r>
              <a:rPr kumimoji="0" lang="de-DE" altLang="de-DE" sz="1800" b="0" i="0" u="none" strike="noStrike" cap="none" normalizeH="0" baseline="0" dirty="0">
                <a:ln>
                  <a:noFill/>
                </a:ln>
                <a:effectLst/>
              </a:rPr>
              <a:t> </a:t>
            </a:r>
          </a:p>
          <a:p>
            <a:pPr marL="0" indent="0">
              <a:buNone/>
            </a:pPr>
            <a:r>
              <a:rPr lang="de-DE" altLang="de-DE" dirty="0"/>
              <a:t>	</a:t>
            </a:r>
            <a:r>
              <a:rPr lang="de-DE" altLang="de-DE" dirty="0">
                <a:solidFill>
                  <a:schemeClr val="accent1">
                    <a:lumMod val="60000"/>
                    <a:lumOff val="40000"/>
                  </a:schemeClr>
                </a:solidFill>
              </a:rPr>
              <a:t>Beschreibung</a:t>
            </a:r>
          </a:p>
          <a:p>
            <a:r>
              <a:rPr kumimoji="0" lang="de-DE" altLang="de-DE" sz="1800" b="0" i="0" u="none" strike="noStrike" cap="none" normalizeH="0" baseline="0" dirty="0" err="1">
                <a:ln>
                  <a:noFill/>
                </a:ln>
                <a:effectLst/>
              </a:rPr>
              <a:t>it</a:t>
            </a:r>
            <a:r>
              <a:rPr kumimoji="0" lang="de-DE" altLang="de-DE" sz="1800" b="0" i="0" u="none" strike="noStrike" cap="none" normalizeH="0" baseline="0" dirty="0">
                <a:ln>
                  <a:noFill/>
                </a:ln>
                <a:effectLst/>
              </a:rPr>
              <a:t>('</a:t>
            </a:r>
            <a:r>
              <a:rPr kumimoji="0" lang="de-DE" altLang="de-DE" sz="1800" b="0" i="0" u="none" strike="noStrike" cap="none" normalizeH="0" baseline="0" dirty="0" err="1">
                <a:ln>
                  <a:noFill/>
                </a:ln>
                <a:effectLst/>
              </a:rPr>
              <a:t>should</a:t>
            </a:r>
            <a:r>
              <a:rPr kumimoji="0" lang="de-DE" altLang="de-DE" sz="1800" b="0" i="0" u="none" strike="noStrike" cap="none" normalizeH="0" baseline="0" dirty="0">
                <a:ln>
                  <a:noFill/>
                </a:ln>
                <a:effectLst/>
              </a:rPr>
              <a:t> </a:t>
            </a:r>
            <a:r>
              <a:rPr kumimoji="0" lang="de-DE" altLang="de-DE" sz="1800" b="0" i="0" u="none" strike="noStrike" cap="none" normalizeH="0" baseline="0" dirty="0" err="1">
                <a:ln>
                  <a:noFill/>
                </a:ln>
                <a:effectLst/>
              </a:rPr>
              <a:t>be</a:t>
            </a:r>
            <a:r>
              <a:rPr kumimoji="0" lang="de-DE" altLang="de-DE" sz="1800" b="0" i="0" u="none" strike="noStrike" cap="none" normalizeH="0" baseline="0" dirty="0">
                <a:ln>
                  <a:noFill/>
                </a:ln>
                <a:effectLst/>
              </a:rPr>
              <a:t> </a:t>
            </a:r>
            <a:r>
              <a:rPr kumimoji="0" lang="de-DE" altLang="de-DE" sz="1800" b="0" i="0" u="none" strike="noStrike" cap="none" normalizeH="0" baseline="0" dirty="0" err="1">
                <a:ln>
                  <a:noFill/>
                </a:ln>
                <a:effectLst/>
              </a:rPr>
              <a:t>created</a:t>
            </a:r>
            <a:r>
              <a:rPr kumimoji="0" lang="de-DE" altLang="de-DE" sz="1800" b="0" i="0" u="none" strike="noStrike" cap="none" normalizeH="0" baseline="0" dirty="0">
                <a:ln>
                  <a:noFill/>
                </a:ln>
                <a:effectLst/>
              </a:rPr>
              <a:t>', () =&gt; {</a:t>
            </a:r>
            <a:br>
              <a:rPr kumimoji="0" lang="de-DE" altLang="de-DE" sz="1800" b="0" i="0" u="none" strike="noStrike" cap="none" normalizeH="0" baseline="0" dirty="0">
                <a:ln>
                  <a:noFill/>
                </a:ln>
                <a:effectLst/>
              </a:rPr>
            </a:br>
            <a:r>
              <a:rPr kumimoji="0" lang="de-DE" altLang="de-DE" sz="1800" b="0" i="0" u="none" strike="noStrike" cap="none" normalizeH="0" baseline="0" dirty="0">
                <a:ln>
                  <a:noFill/>
                </a:ln>
                <a:effectLst/>
              </a:rPr>
              <a:t>    </a:t>
            </a:r>
            <a:r>
              <a:rPr kumimoji="0" lang="de-DE" altLang="de-DE" sz="1800" b="0" i="0" u="none" strike="noStrike" cap="none" normalizeH="0" baseline="0" dirty="0" err="1">
                <a:ln>
                  <a:noFill/>
                </a:ln>
                <a:effectLst/>
              </a:rPr>
              <a:t>expect</a:t>
            </a:r>
            <a:r>
              <a:rPr kumimoji="0" lang="de-DE" altLang="de-DE" sz="1800" b="0" i="0" u="none" strike="noStrike" cap="none" normalizeH="0" baseline="0" dirty="0">
                <a:ln>
                  <a:noFill/>
                </a:ln>
                <a:effectLst/>
              </a:rPr>
              <a:t>(</a:t>
            </a:r>
            <a:r>
              <a:rPr kumimoji="0" lang="de-DE" altLang="de-DE" sz="1800" b="0" i="0" u="none" strike="noStrike" cap="none" normalizeH="0" baseline="0" dirty="0" err="1">
                <a:ln>
                  <a:noFill/>
                </a:ln>
                <a:effectLst/>
              </a:rPr>
              <a:t>service</a:t>
            </a:r>
            <a:r>
              <a:rPr kumimoji="0" lang="de-DE" altLang="de-DE" sz="1800" b="0" i="0" u="none" strike="noStrike" cap="none" normalizeH="0" baseline="0" dirty="0">
                <a:ln>
                  <a:noFill/>
                </a:ln>
                <a:effectLst/>
              </a:rPr>
              <a:t>).</a:t>
            </a:r>
            <a:r>
              <a:rPr kumimoji="0" lang="de-DE" altLang="de-DE" sz="1800" b="0" i="0" u="none" strike="noStrike" cap="none" normalizeH="0" baseline="0" dirty="0" err="1">
                <a:ln>
                  <a:noFill/>
                </a:ln>
                <a:effectLst/>
              </a:rPr>
              <a:t>toBeTruthy</a:t>
            </a:r>
            <a:r>
              <a:rPr kumimoji="0" lang="de-DE" altLang="de-DE" sz="1800" b="0" i="0" u="none" strike="noStrike" cap="none" normalizeH="0" baseline="0" dirty="0">
                <a:ln>
                  <a:noFill/>
                </a:ln>
                <a:effectLst/>
              </a:rPr>
              <a:t>();		</a:t>
            </a:r>
            <a:r>
              <a:rPr kumimoji="0" lang="de-DE" altLang="de-DE" sz="1800" b="0" i="0" u="none" strike="noStrike" cap="none" normalizeH="0" baseline="0" dirty="0" err="1">
                <a:ln>
                  <a:noFill/>
                </a:ln>
                <a:solidFill>
                  <a:schemeClr val="accent1">
                    <a:lumMod val="60000"/>
                    <a:lumOff val="40000"/>
                  </a:schemeClr>
                </a:solidFill>
                <a:effectLst/>
              </a:rPr>
              <a:t>Testcode</a:t>
            </a:r>
            <a:r>
              <a:rPr kumimoji="0" lang="de-DE" altLang="de-DE" sz="1800" b="0" i="0" u="none" strike="noStrike" cap="none" normalizeH="0" baseline="0" dirty="0">
                <a:ln>
                  <a:noFill/>
                </a:ln>
                <a:solidFill>
                  <a:schemeClr val="accent1">
                    <a:lumMod val="60000"/>
                    <a:lumOff val="40000"/>
                  </a:schemeClr>
                </a:solidFill>
                <a:effectLst/>
              </a:rPr>
              <a:t> mit </a:t>
            </a:r>
            <a:r>
              <a:rPr kumimoji="0" lang="de-DE" altLang="de-DE" sz="1800" b="0" i="0" u="none" strike="noStrike" cap="none" normalizeH="0" baseline="0" dirty="0" err="1">
                <a:ln>
                  <a:noFill/>
                </a:ln>
                <a:solidFill>
                  <a:schemeClr val="accent1">
                    <a:lumMod val="60000"/>
                    <a:lumOff val="40000"/>
                  </a:schemeClr>
                </a:solidFill>
                <a:effectLst/>
              </a:rPr>
              <a:t>matcher</a:t>
            </a:r>
            <a:br>
              <a:rPr kumimoji="0" lang="de-DE" altLang="de-DE" sz="1800" b="0" i="0" u="none" strike="noStrike" cap="none" normalizeH="0" baseline="0" dirty="0">
                <a:ln>
                  <a:noFill/>
                </a:ln>
                <a:effectLst/>
              </a:rPr>
            </a:br>
            <a:r>
              <a:rPr kumimoji="0" lang="de-DE" altLang="de-DE" sz="1800" b="0" i="0" u="none" strike="noStrike" cap="none" normalizeH="0" baseline="0" dirty="0">
                <a:ln>
                  <a:noFill/>
                </a:ln>
                <a:effectLst/>
              </a:rPr>
              <a:t>  });</a:t>
            </a:r>
            <a:endParaRPr lang="de-DE" dirty="0"/>
          </a:p>
        </p:txBody>
      </p:sp>
    </p:spTree>
    <p:extLst>
      <p:ext uri="{BB962C8B-B14F-4D97-AF65-F5344CB8AC3E}">
        <p14:creationId xmlns:p14="http://schemas.microsoft.com/office/powerpoint/2010/main" val="950446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CFC3CE-7AC8-A70E-752B-4ABC0673EE90}"/>
              </a:ext>
            </a:extLst>
          </p:cNvPr>
          <p:cNvSpPr>
            <a:spLocks noGrp="1"/>
          </p:cNvSpPr>
          <p:nvPr>
            <p:ph type="title"/>
          </p:nvPr>
        </p:nvSpPr>
        <p:spPr/>
        <p:txBody>
          <a:bodyPr anchor="ctr">
            <a:normAutofit/>
          </a:bodyPr>
          <a:lstStyle/>
          <a:p>
            <a:r>
              <a:rPr lang="de-DE" sz="4800" dirty="0" err="1"/>
              <a:t>UnitTest</a:t>
            </a:r>
            <a:r>
              <a:rPr lang="de-DE" sz="4800" dirty="0"/>
              <a:t> </a:t>
            </a:r>
            <a:r>
              <a:rPr lang="de-DE" sz="4800" dirty="0" err="1"/>
              <a:t>Component</a:t>
            </a:r>
            <a:endParaRPr lang="de-DE" sz="4800" dirty="0"/>
          </a:p>
        </p:txBody>
      </p:sp>
      <p:sp>
        <p:nvSpPr>
          <p:cNvPr id="5" name="Rectangle 2">
            <a:extLst>
              <a:ext uri="{FF2B5EF4-FFF2-40B4-BE49-F238E27FC236}">
                <a16:creationId xmlns:a16="http://schemas.microsoft.com/office/drawing/2014/main" id="{19AED3C4-6E1F-6AD8-664D-00A626F0AF7A}"/>
              </a:ext>
            </a:extLst>
          </p:cNvPr>
          <p:cNvSpPr>
            <a:spLocks noGrp="1" noChangeArrowheads="1"/>
          </p:cNvSpPr>
          <p:nvPr>
            <p:ph sz="half" idx="1"/>
          </p:nvPr>
        </p:nvSpPr>
        <p:spPr bwMode="auto">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@Component({</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  selector: 'app-greeter',</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  templateUrl: './greeter.component.html',</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  styleUrl: './greeter.component.css'</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export class GreeterComponent {</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  name = signal('');</a:t>
            </a:r>
            <a:endParaRPr kumimoji="0" lang="de-DE" altLang="de-DE"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b="0" i="0" u="none" strike="noStrike" cap="none" normalizeH="0" baseline="0" dirty="0">
                <a:ln>
                  <a:noFill/>
                </a:ln>
                <a:effectLst/>
              </a:rPr>
              <a:t>}</a:t>
            </a:r>
            <a:endParaRPr kumimoji="0" lang="de-DE" altLang="de-DE" b="0" i="0" u="none" strike="noStrike" cap="none" normalizeH="0" baseline="0" dirty="0">
              <a:ln>
                <a:noFill/>
              </a:ln>
              <a:effectLst/>
            </a:endParaRPr>
          </a:p>
        </p:txBody>
      </p:sp>
      <p:sp>
        <p:nvSpPr>
          <p:cNvPr id="6" name="Inhaltsplatzhalter 5">
            <a:extLst>
              <a:ext uri="{FF2B5EF4-FFF2-40B4-BE49-F238E27FC236}">
                <a16:creationId xmlns:a16="http://schemas.microsoft.com/office/drawing/2014/main" id="{ADABBAE5-A9FC-9CCF-FC57-0F1E3A90C0DA}"/>
              </a:ext>
            </a:extLst>
          </p:cNvPr>
          <p:cNvSpPr>
            <a:spLocks noGrp="1"/>
          </p:cNvSpPr>
          <p:nvPr>
            <p:ph sz="half" idx="2"/>
          </p:nvPr>
        </p:nvSpPr>
        <p:spPr/>
        <p:txBody>
          <a:bodyPr/>
          <a:lstStyle/>
          <a:p>
            <a:pPr/>
            <a:r>
              <a:rPr lang="de-DE" dirty="0"/>
              <a:t>&lt;h1&gt;Hello {{name()}}&lt;/h1&gt;</a:t>
            </a:r>
          </a:p>
        </p:txBody>
      </p:sp>
      <p:sp>
        <p:nvSpPr>
          <p:cNvPr id="12" name="Footer Placeholder 4">
            <a:extLst>
              <a:ext uri="{FF2B5EF4-FFF2-40B4-BE49-F238E27FC236}">
                <a16:creationId xmlns:a16="http://schemas.microsoft.com/office/drawing/2014/main" id="{1708E09F-170D-14D7-B0A7-90CEA3BF602E}"/>
              </a:ext>
            </a:extLst>
          </p:cNvPr>
          <p:cNvSpPr>
            <a:spLocks noGrp="1"/>
          </p:cNvSpPr>
          <p:nvPr>
            <p:ph type="ftr" sz="quarter" idx="11"/>
          </p:nvPr>
        </p:nvSpPr>
        <p:spPr/>
        <p:txBody>
          <a:bodyPr/>
          <a:lstStyle/>
          <a:p>
            <a:pPr>
              <a:spcAft>
                <a:spcPts val="600"/>
              </a:spcAft>
            </a:pPr>
            <a:r>
              <a:rPr lang="en-US" dirty="0"/>
              <a:t>Sample Footer Text</a:t>
            </a:r>
          </a:p>
        </p:txBody>
      </p:sp>
      <p:sp>
        <p:nvSpPr>
          <p:cNvPr id="14" name="Slide Number Placeholder 5">
            <a:extLst>
              <a:ext uri="{FF2B5EF4-FFF2-40B4-BE49-F238E27FC236}">
                <a16:creationId xmlns:a16="http://schemas.microsoft.com/office/drawing/2014/main" id="{F76A1578-4BAB-8672-0768-2FB5B6E7D8CD}"/>
              </a:ext>
            </a:extLst>
          </p:cNvPr>
          <p:cNvSpPr>
            <a:spLocks noGrp="1"/>
          </p:cNvSpPr>
          <p:nvPr>
            <p:ph type="sldNum" sz="quarter" idx="12"/>
          </p:nvPr>
        </p:nvSpPr>
        <p:spPr/>
        <p:txBody>
          <a:bodyPr/>
          <a:lstStyle/>
          <a:p>
            <a:pPr>
              <a:spcAft>
                <a:spcPts val="600"/>
              </a:spcAft>
            </a:pPr>
            <a:fld id="{5E84AC6A-A0EF-437B-BCEE-4772B0214A58}" type="slidenum">
              <a:rPr lang="en-US" smtClean="0"/>
              <a:pPr>
                <a:spcAft>
                  <a:spcPts val="600"/>
                </a:spcAft>
              </a:pPr>
              <a:t>13</a:t>
            </a:fld>
            <a:endParaRPr lang="en-US"/>
          </a:p>
        </p:txBody>
      </p:sp>
      <p:sp>
        <p:nvSpPr>
          <p:cNvPr id="10" name="Date Placeholder 3">
            <a:extLst>
              <a:ext uri="{FF2B5EF4-FFF2-40B4-BE49-F238E27FC236}">
                <a16:creationId xmlns:a16="http://schemas.microsoft.com/office/drawing/2014/main" id="{FE3DA1AA-4BBD-31B3-0380-BB0333A77B3A}"/>
              </a:ext>
            </a:extLst>
          </p:cNvPr>
          <p:cNvSpPr>
            <a:spLocks noGrp="1"/>
          </p:cNvSpPr>
          <p:nvPr>
            <p:ph type="dt" sz="half" idx="4294967295"/>
          </p:nvPr>
        </p:nvSpPr>
        <p:spPr>
          <a:xfrm rot="5400000">
            <a:off x="9539288" y="4629150"/>
            <a:ext cx="2652712" cy="365125"/>
          </a:xfrm>
        </p:spPr>
        <p:txBody>
          <a:bodyPr/>
          <a:lstStyle/>
          <a:p>
            <a:pPr>
              <a:spcAft>
                <a:spcPts val="600"/>
              </a:spcAft>
            </a:pPr>
            <a:fld id="{426E4A9E-2EFE-45B0-B07E-8DDB65DD5AE0}" type="datetime1">
              <a:rPr lang="en-US" smtClean="0"/>
              <a:pPr>
                <a:spcAft>
                  <a:spcPts val="600"/>
                </a:spcAft>
              </a:pPr>
              <a:t>3/29/2025</a:t>
            </a:fld>
            <a:endParaRPr lang="en-US"/>
          </a:p>
        </p:txBody>
      </p:sp>
    </p:spTree>
    <p:extLst>
      <p:ext uri="{BB962C8B-B14F-4D97-AF65-F5344CB8AC3E}">
        <p14:creationId xmlns:p14="http://schemas.microsoft.com/office/powerpoint/2010/main" val="774112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F444EE-9E91-6096-554A-287967A8463B}"/>
              </a:ext>
            </a:extLst>
          </p:cNvPr>
          <p:cNvSpPr>
            <a:spLocks noGrp="1"/>
          </p:cNvSpPr>
          <p:nvPr>
            <p:ph type="title"/>
          </p:nvPr>
        </p:nvSpPr>
        <p:spPr>
          <a:xfrm>
            <a:off x="1987680" y="1143000"/>
            <a:ext cx="7946597" cy="1257300"/>
          </a:xfrm>
        </p:spPr>
        <p:txBody>
          <a:bodyPr anchor="ctr">
            <a:normAutofit/>
          </a:bodyPr>
          <a:lstStyle/>
          <a:p>
            <a:r>
              <a:rPr lang="de-DE" dirty="0" err="1"/>
              <a:t>UnitTests</a:t>
            </a:r>
            <a:r>
              <a:rPr lang="de-DE" dirty="0"/>
              <a:t> </a:t>
            </a:r>
            <a:r>
              <a:rPr lang="de-DE" dirty="0" err="1"/>
              <a:t>Component</a:t>
            </a:r>
            <a:r>
              <a:rPr lang="de-DE" dirty="0"/>
              <a:t> - Setup</a:t>
            </a:r>
          </a:p>
        </p:txBody>
      </p:sp>
      <p:sp>
        <p:nvSpPr>
          <p:cNvPr id="5" name="Rectangle 2">
            <a:extLst>
              <a:ext uri="{FF2B5EF4-FFF2-40B4-BE49-F238E27FC236}">
                <a16:creationId xmlns:a16="http://schemas.microsoft.com/office/drawing/2014/main" id="{BD0D94A8-BD16-2249-7BE1-0C01AE40C21D}"/>
              </a:ext>
            </a:extLst>
          </p:cNvPr>
          <p:cNvSpPr>
            <a:spLocks noGrp="1" noChangeArrowheads="1"/>
          </p:cNvSpPr>
          <p:nvPr>
            <p:ph idx="1"/>
          </p:nvPr>
        </p:nvSpPr>
        <p:spPr bwMode="auto">
          <a:xfrm>
            <a:off x="1987679" y="2411519"/>
            <a:ext cx="7664321" cy="3394641"/>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let component: GreeterComponent;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let fixture: ComponentFixture&lt;GreeterComponent&gt;;   // Teststeuerobjekt für Component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beforeEach(() =&gt;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TestBed.configureTestingModule({</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imports: [GreeterComponent]   // Standalone Component wird importiert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fixture = TestBed.createComponent(GreeterComponent);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component = fixture.componentInstance;</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componentRootElement = fixture.nativeElement;   // HTML Element der Component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debugElement = fixture.debugElement;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  fixture.detectChanges();   // ChangeDetection Trigger</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dirty="0" err="1">
                <a:ln>
                  <a:noFill/>
                </a:ln>
                <a:effectLst/>
              </a:rPr>
              <a:t>});</a:t>
            </a:r>
          </a:p>
        </p:txBody>
      </p:sp>
      <p:sp>
        <p:nvSpPr>
          <p:cNvPr id="12" name="Footer Placeholder 11">
            <a:extLst>
              <a:ext uri="{FF2B5EF4-FFF2-40B4-BE49-F238E27FC236}">
                <a16:creationId xmlns:a16="http://schemas.microsoft.com/office/drawing/2014/main" id="{D3F11434-174D-1999-3EFB-12EAB103792E}"/>
              </a:ext>
            </a:extLst>
          </p:cNvPr>
          <p:cNvSpPr>
            <a:spLocks noGrp="1"/>
          </p:cNvSpPr>
          <p:nvPr>
            <p:ph type="ftr" sz="quarter" idx="11"/>
          </p:nvPr>
        </p:nvSpPr>
        <p:spPr>
          <a:xfrm>
            <a:off x="8610602" y="6318446"/>
            <a:ext cx="2743198" cy="365125"/>
          </a:xfrm>
        </p:spPr>
        <p:txBody>
          <a:bodyPr/>
          <a:lstStyle/>
          <a:p>
            <a:pPr>
              <a:spcAft>
                <a:spcPts val="600"/>
              </a:spcAft>
            </a:pPr>
            <a:r>
              <a:rPr lang="en-US" dirty="0"/>
              <a:t>Unit Test Components</a:t>
            </a:r>
          </a:p>
        </p:txBody>
      </p:sp>
      <p:sp>
        <p:nvSpPr>
          <p:cNvPr id="14" name="Slide Number Placeholder 12">
            <a:extLst>
              <a:ext uri="{FF2B5EF4-FFF2-40B4-BE49-F238E27FC236}">
                <a16:creationId xmlns:a16="http://schemas.microsoft.com/office/drawing/2014/main" id="{E81E43C7-A0CC-1802-1337-C72177715401}"/>
              </a:ext>
            </a:extLst>
          </p:cNvPr>
          <p:cNvSpPr>
            <a:spLocks noGrp="1"/>
          </p:cNvSpPr>
          <p:nvPr>
            <p:ph type="sldNum" sz="quarter" idx="12"/>
          </p:nvPr>
        </p:nvSpPr>
        <p:spPr>
          <a:xfrm>
            <a:off x="11353800" y="6318446"/>
            <a:ext cx="615696" cy="365125"/>
          </a:xfrm>
        </p:spPr>
        <p:txBody>
          <a:bodyPr/>
          <a:lstStyle/>
          <a:p>
            <a:pPr>
              <a:spcAft>
                <a:spcPts val="600"/>
              </a:spcAft>
            </a:pPr>
            <a:fld id="{5E84AC6A-A0EF-437B-BCEE-4772B0214A58}" type="slidenum">
              <a:rPr lang="en-US" smtClean="0"/>
              <a:pPr>
                <a:spcAft>
                  <a:spcPts val="600"/>
                </a:spcAft>
              </a:pPr>
              <a:t>14</a:t>
            </a:fld>
            <a:endParaRPr lang="en-US"/>
          </a:p>
        </p:txBody>
      </p:sp>
      <p:sp>
        <p:nvSpPr>
          <p:cNvPr id="11" name="Rectangle 5">
            <a:extLst>
              <a:ext uri="{FF2B5EF4-FFF2-40B4-BE49-F238E27FC236}">
                <a16:creationId xmlns:a16="http://schemas.microsoft.com/office/drawing/2014/main" id="{5B6C7490-C829-0CF5-E2A0-6C26AC28E164}"/>
              </a:ext>
            </a:extLst>
          </p:cNvPr>
          <p:cNvSpPr>
            <a:spLocks noChangeArrowheads="1"/>
          </p:cNvSpPr>
          <p:nvPr/>
        </p:nvSpPr>
        <p:spPr bwMode="auto">
          <a:xfrm>
            <a:off x="0" y="43934"/>
            <a:ext cx="184731" cy="369332"/>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
        <p:nvSpPr>
          <p:cNvPr id="15" name="Rectangle 7">
            <a:extLst>
              <a:ext uri="{FF2B5EF4-FFF2-40B4-BE49-F238E27FC236}">
                <a16:creationId xmlns:a16="http://schemas.microsoft.com/office/drawing/2014/main" id="{F03AE2E5-5B17-351D-6E77-DEF7B5311F29}"/>
              </a:ext>
            </a:extLst>
          </p:cNvPr>
          <p:cNvSpPr>
            <a:spLocks noChangeArrowheads="1"/>
          </p:cNvSpPr>
          <p:nvPr/>
        </p:nvSpPr>
        <p:spPr bwMode="auto">
          <a:xfrm>
            <a:off x="0" y="43934"/>
            <a:ext cx="184731" cy="369332"/>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255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3AEFD0-530F-C1DD-4F17-1E1F677FD234}"/>
              </a:ext>
            </a:extLst>
          </p:cNvPr>
          <p:cNvSpPr>
            <a:spLocks noGrp="1"/>
          </p:cNvSpPr>
          <p:nvPr>
            <p:ph type="title"/>
          </p:nvPr>
        </p:nvSpPr>
        <p:spPr>
          <a:xfrm>
            <a:off x="1066799" y="1132367"/>
            <a:ext cx="7608074" cy="1257299"/>
          </a:xfrm>
        </p:spPr>
        <p:txBody>
          <a:bodyPr anchor="ctr">
            <a:normAutofit/>
          </a:bodyPr>
          <a:lstStyle/>
          <a:p>
            <a:r>
              <a:rPr lang="de-DE" sz="4100"/>
              <a:t>UnitTests Component – Set </a:t>
            </a:r>
          </a:p>
        </p:txBody>
      </p:sp>
      <p:sp>
        <p:nvSpPr>
          <p:cNvPr id="5" name="Rectangle 2">
            <a:extLst>
              <a:ext uri="{FF2B5EF4-FFF2-40B4-BE49-F238E27FC236}">
                <a16:creationId xmlns:a16="http://schemas.microsoft.com/office/drawing/2014/main" id="{DCA8FE52-3A60-C10E-55FB-78B2281E1535}"/>
              </a:ext>
            </a:extLst>
          </p:cNvPr>
          <p:cNvSpPr>
            <a:spLocks noGrp="1" noChangeArrowheads="1"/>
          </p:cNvSpPr>
          <p:nvPr>
            <p:ph idx="1"/>
          </p:nvPr>
        </p:nvSpPr>
        <p:spPr bwMode="auto">
          <a:xfrm>
            <a:off x="1066800" y="2736850"/>
            <a:ext cx="8280400" cy="2978152"/>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indent="0" defTabSz="914400" rtl="0" eaLnBrk="0" fontAlgn="base" latinLnBrk="0" hangingPunct="0">
              <a:lnSpc>
                <a:spcPct val="110000"/>
              </a:lnSpc>
              <a:spcBef>
                <a:spcPct val="0"/>
              </a:spcBef>
              <a:spcAft>
                <a:spcPts val="600"/>
              </a:spcAft>
              <a:buClrTx/>
              <a:buSzTx/>
              <a:buFontTx/>
              <a:buNone/>
              <a:tabLst/>
            </a:pPr>
            <a:r>
              <a:rPr kumimoji="0" lang="de-DE" altLang="de-DE" sz="1600" b="0" i="1" u="none" strike="noStrike" cap="none" normalizeH="0" baseline="0" dirty="0" err="1">
                <a:ln>
                  <a:noFill/>
                </a:ln>
                <a:solidFill>
                  <a:srgbClr val="080808"/>
                </a:solidFill>
                <a:effectLst/>
                <a:latin typeface="Arial Unicode MS"/>
              </a:rPr>
              <a:t>it('should show Hello &lt;name&gt;', async () =&gt; {</a:t>
            </a:r>
            <a:endParaRPr kumimoji="0" lang="de-DE" altLang="de-DE" sz="1500" b="0" i="0" u="none" strike="noStrike" cap="none" normalizeH="0" baseline="0" dirty="0">
              <a:ln>
                <a:noFill/>
              </a:ln>
              <a:effectLst/>
            </a:endParaRPr>
          </a:p>
          <a:p>
            <a:pPr marL="320040" lvl="1" indent="0" eaLnBrk="0" fontAlgn="base" hangingPunct="0">
              <a:lnSpc>
                <a:spcPct val="110000"/>
              </a:lnSpc>
              <a:spcBef>
                <a:spcPct val="0"/>
              </a:spcBef>
              <a:spcAft>
                <a:spcPts val="600"/>
              </a:spcAft>
              <a:buNone/>
            </a:pPr>
            <a:r>
              <a:rPr kumimoji="0" lang="de-DE" altLang="de-DE" sz="1500" b="0" i="0" u="none" strike="noStrike" cap="none" normalizeH="0" baseline="0" dirty="0">
                <a:ln>
                  <a:noFill/>
                </a:ln>
                <a:effectLst/>
              </a:rPr>
              <a:t>component.name.set('Tester');   // Signal setzen</a:t>
            </a:r>
            <a:endParaRPr kumimoji="0" lang="de-DE" altLang="de-DE" sz="1500" b="0" i="0" u="none" strike="noStrike" cap="none" normalizeH="0" baseline="0" dirty="0">
              <a:ln>
                <a:noFill/>
              </a:ln>
              <a:effectLst/>
            </a:endParaRPr>
          </a:p>
          <a:p>
            <a:pPr marL="320040" lvl="1" indent="0" eaLnBrk="0" fontAlgn="base" hangingPunct="0">
              <a:lnSpc>
                <a:spcPct val="110000"/>
              </a:lnSpc>
              <a:spcBef>
                <a:spcPct val="0"/>
              </a:spcBef>
              <a:spcAft>
                <a:spcPts val="600"/>
              </a:spcAft>
              <a:buNone/>
            </a:pPr>
            <a:r>
              <a:rPr kumimoji="0" lang="de-DE" altLang="de-DE" sz="1500" b="0" i="0" u="none" strike="noStrike" cap="none" normalizeH="0" baseline="0" dirty="0">
                <a:ln>
                  <a:noFill/>
                </a:ln>
                <a:effectLst/>
              </a:rPr>
              <a:t>fixture.detectChanges();   // Change Detection auslösen</a:t>
            </a:r>
            <a:endParaRPr kumimoji="0" lang="de-DE" altLang="de-DE" sz="1500" b="0" i="0" u="none" strike="noStrike" cap="none" normalizeH="0" baseline="0" dirty="0">
              <a:ln>
                <a:noFill/>
              </a:ln>
              <a:effectLst/>
            </a:endParaRPr>
          </a:p>
          <a:p>
            <a:pPr marL="320040" lvl="1" indent="0" eaLnBrk="0" fontAlgn="base" hangingPunct="0">
              <a:lnSpc>
                <a:spcPct val="110000"/>
              </a:lnSpc>
              <a:spcBef>
                <a:spcPct val="0"/>
              </a:spcBef>
              <a:spcAft>
                <a:spcPts val="600"/>
              </a:spcAft>
              <a:buNone/>
            </a:pPr>
            <a:r>
              <a:rPr kumimoji="0" lang="de-DE" altLang="de-DE" sz="1500" b="0" i="0" u="none" strike="noStrike" cap="none" normalizeH="0" baseline="0" dirty="0">
                <a:ln>
                  <a:noFill/>
                </a:ln>
                <a:effectLst/>
              </a:rPr>
              <a:t>await fixture.whenStable();   // Warte bis alle Async Calls beendet sind</a:t>
            </a:r>
            <a:endParaRPr kumimoji="0" lang="de-DE" altLang="de-DE" sz="1500" b="0" i="0" u="none" strike="noStrike" cap="none" normalizeH="0" baseline="0" dirty="0">
              <a:ln>
                <a:noFill/>
              </a:ln>
              <a:effectLst/>
            </a:endParaRPr>
          </a:p>
          <a:p>
            <a:pPr marL="320040" lvl="1" indent="0" eaLnBrk="0" fontAlgn="base" hangingPunct="0">
              <a:lnSpc>
                <a:spcPct val="110000"/>
              </a:lnSpc>
              <a:spcBef>
                <a:spcPct val="0"/>
              </a:spcBef>
              <a:spcAft>
                <a:spcPts val="600"/>
              </a:spcAft>
              <a:buNone/>
            </a:pPr>
            <a:r>
              <a:rPr kumimoji="0" lang="de-DE" altLang="de-DE" sz="1500" b="0" i="0" u="none" strike="noStrike" cap="none" normalizeH="0" baseline="0" dirty="0">
                <a:ln>
                  <a:noFill/>
                </a:ln>
                <a:effectLst/>
              </a:rPr>
              <a:t>expect(componentRootElement.querySelector('h1')?.textContent).toBe('Hello Tester');</a:t>
            </a:r>
            <a:endParaRPr kumimoji="0" lang="de-DE" altLang="de-DE" sz="1500" b="0" i="0" u="none" strike="noStrike" cap="none" normalizeH="0" baseline="0" dirty="0">
              <a:ln>
                <a:noFill/>
              </a:ln>
              <a:effectLst/>
            </a:endParaRPr>
          </a:p>
          <a:p>
            <a:pPr marL="320040" lvl="1" indent="0" eaLnBrk="0" fontAlgn="base" hangingPunct="0">
              <a:lnSpc>
                <a:spcPct val="110000"/>
              </a:lnSpc>
              <a:spcBef>
                <a:spcPct val="0"/>
              </a:spcBef>
              <a:spcAft>
                <a:spcPts val="600"/>
              </a:spcAft>
              <a:buNone/>
            </a:pPr>
            <a:r>
              <a:rPr kumimoji="0" lang="de-DE" altLang="de-DE" sz="1500" b="0" i="0" u="none" strike="noStrike" cap="none" normalizeH="0" baseline="0" dirty="0">
                <a:ln>
                  <a:noFill/>
                </a:ln>
                <a:effectLst/>
              </a:rPr>
              <a:t>expect(debugElement.query(By.css('h1')).nativeElement.textContent).toBe('Hello Tester');</a:t>
            </a:r>
            <a:endParaRPr kumimoji="0" lang="de-DE" altLang="de-DE" sz="1500" b="0" i="0" u="none" strike="noStrike" cap="none" normalizeH="0" baseline="0" dirty="0">
              <a:ln>
                <a:noFill/>
              </a:ln>
              <a:effectLst/>
            </a:endParaRP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600" b="0" i="1" u="none" strike="noStrike" cap="none" normalizeH="0" baseline="0" dirty="0" err="1">
                <a:ln>
                  <a:noFill/>
                </a:ln>
                <a:solidFill>
                  <a:srgbClr val="080808"/>
                </a:solidFill>
                <a:effectLst/>
                <a:latin typeface="Arial Unicode MS"/>
              </a:rPr>
              <a:t>});</a:t>
            </a:r>
            <a:endParaRPr kumimoji="0" lang="de-DE" altLang="de-DE" sz="1500" b="0" i="0" u="none" strike="noStrike" cap="none" normalizeH="0" baseline="0" dirty="0">
              <a:ln>
                <a:noFill/>
              </a:ln>
              <a:effectLst/>
            </a:endParaRPr>
          </a:p>
        </p:txBody>
      </p:sp>
      <p:sp>
        <p:nvSpPr>
          <p:cNvPr id="12" name="Footer Placeholder 4">
            <a:extLst>
              <a:ext uri="{FF2B5EF4-FFF2-40B4-BE49-F238E27FC236}">
                <a16:creationId xmlns:a16="http://schemas.microsoft.com/office/drawing/2014/main" id="{1708E09F-170D-14D7-B0A7-90CEA3BF602E}"/>
              </a:ext>
            </a:extLst>
          </p:cNvPr>
          <p:cNvSpPr>
            <a:spLocks noGrp="1"/>
          </p:cNvSpPr>
          <p:nvPr>
            <p:ph type="ftr" sz="quarter" idx="11"/>
          </p:nvPr>
        </p:nvSpPr>
        <p:spPr>
          <a:xfrm>
            <a:off x="8610602" y="6318446"/>
            <a:ext cx="2743198" cy="365125"/>
          </a:xfrm>
        </p:spPr>
        <p:txBody>
          <a:bodyPr/>
          <a:lstStyle/>
          <a:p>
            <a:pPr>
              <a:spcAft>
                <a:spcPts val="600"/>
              </a:spcAft>
            </a:pPr>
            <a:r>
              <a:rPr lang="en-US" dirty="0"/>
              <a:t>Unit Test Components</a:t>
            </a:r>
          </a:p>
        </p:txBody>
      </p:sp>
      <p:sp>
        <p:nvSpPr>
          <p:cNvPr id="14" name="Slide Number Placeholder 5">
            <a:extLst>
              <a:ext uri="{FF2B5EF4-FFF2-40B4-BE49-F238E27FC236}">
                <a16:creationId xmlns:a16="http://schemas.microsoft.com/office/drawing/2014/main" id="{F76A1578-4BAB-8672-0768-2FB5B6E7D8CD}"/>
              </a:ext>
            </a:extLst>
          </p:cNvPr>
          <p:cNvSpPr>
            <a:spLocks noGrp="1"/>
          </p:cNvSpPr>
          <p:nvPr>
            <p:ph type="sldNum" sz="quarter" idx="12"/>
          </p:nvPr>
        </p:nvSpPr>
        <p:spPr>
          <a:xfrm>
            <a:off x="11353800" y="6318446"/>
            <a:ext cx="615696" cy="365125"/>
          </a:xfrm>
        </p:spPr>
        <p:txBody>
          <a:bodyPr/>
          <a:lstStyle/>
          <a:p>
            <a:pPr>
              <a:spcAft>
                <a:spcPts val="600"/>
              </a:spcAft>
            </a:pPr>
            <a:fld id="{5E84AC6A-A0EF-437B-BCEE-4772B0214A58}" type="slidenum">
              <a:rPr lang="en-US" smtClean="0"/>
              <a:pPr>
                <a:spcAft>
                  <a:spcPts val="600"/>
                </a:spcAft>
              </a:pPr>
              <a:t>15</a:t>
            </a:fld>
            <a:endParaRPr lang="en-US"/>
          </a:p>
        </p:txBody>
      </p:sp>
      <p:sp>
        <p:nvSpPr>
          <p:cNvPr id="6" name="Rectangle 3">
            <a:extLst>
              <a:ext uri="{FF2B5EF4-FFF2-40B4-BE49-F238E27FC236}">
                <a16:creationId xmlns:a16="http://schemas.microsoft.com/office/drawing/2014/main" id="{771A523C-C74B-99DD-CE27-E968CE36D78E}"/>
              </a:ext>
            </a:extLst>
          </p:cNvPr>
          <p:cNvSpPr>
            <a:spLocks noChangeArrowheads="1"/>
          </p:cNvSpPr>
          <p:nvPr/>
        </p:nvSpPr>
        <p:spPr bwMode="auto">
          <a:xfrm>
            <a:off x="0" y="-33010"/>
            <a:ext cx="184731"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000" b="0" i="0" u="none" strike="noStrike" cap="none" normalizeH="0" baseline="0" dirty="0">
                <a:ln>
                  <a:noFill/>
                </a:ln>
                <a:solidFill>
                  <a:srgbClr val="080808"/>
                </a:solidFill>
                <a:effectLst/>
                <a:latin typeface="Arial Unicode MS"/>
              </a:rPr>
            </a:b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2478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4EBC0D-1E5B-8414-278E-22C6EBAFF903}"/>
              </a:ext>
            </a:extLst>
          </p:cNvPr>
          <p:cNvSpPr>
            <a:spLocks noGrp="1"/>
          </p:cNvSpPr>
          <p:nvPr>
            <p:ph type="title"/>
          </p:nvPr>
        </p:nvSpPr>
        <p:spPr/>
        <p:txBody>
          <a:bodyPr anchor="ctr">
            <a:normAutofit/>
          </a:bodyPr>
          <a:lstStyle/>
          <a:p>
            <a:r>
              <a:rPr lang="de-DE" sz="4800" dirty="0" err="1"/>
              <a:t>Dependency</a:t>
            </a:r>
            <a:r>
              <a:rPr lang="de-DE" sz="4800" dirty="0"/>
              <a:t> </a:t>
            </a:r>
            <a:r>
              <a:rPr lang="de-DE" sz="4800" dirty="0" err="1"/>
              <a:t>Injection</a:t>
            </a:r>
            <a:endParaRPr lang="de-DE" sz="4800" dirty="0"/>
          </a:p>
        </p:txBody>
      </p:sp>
      <p:sp>
        <p:nvSpPr>
          <p:cNvPr id="5" name="Rectangle 2">
            <a:extLst>
              <a:ext uri="{FF2B5EF4-FFF2-40B4-BE49-F238E27FC236}">
                <a16:creationId xmlns:a16="http://schemas.microsoft.com/office/drawing/2014/main" id="{A14DFC62-FC8E-404D-D6D9-65F85DE7095C}"/>
              </a:ext>
            </a:extLst>
          </p:cNvPr>
          <p:cNvSpPr>
            <a:spLocks noGrp="1" noChangeArrowheads="1"/>
          </p:cNvSpPr>
          <p:nvPr>
            <p:ph sz="half" idx="1"/>
          </p:nvPr>
        </p:nvSpPr>
        <p:spPr bwMode="auto">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export class GreeterComponent implements OnInit {</a:t>
            </a:r>
          </a:p>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  name = signal('');</a:t>
            </a:r>
          </a:p>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  private readonly service = inject(GreeterService);</a:t>
            </a:r>
          </a:p>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  public ngOnInit(): void {</a:t>
            </a:r>
          </a:p>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    this.name.set(this.service.requestName());</a:t>
            </a:r>
          </a:p>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  }</a:t>
            </a:r>
          </a:p>
          <a:p>
            <a:pPr marL="0" marR="0" indent="0" defTabSz="914400" rtl="0" eaLnBrk="0" fontAlgn="base" latinLnBrk="0" hangingPunct="0">
              <a:spcBef>
                <a:spcPct val="0"/>
              </a:spcBef>
              <a:spcAft>
                <a:spcPts val="600"/>
              </a:spcAft>
              <a:buClrTx/>
              <a:buSzTx/>
              <a:buFontTx/>
              <a:buNone/>
              <a:tabLst/>
            </a:pPr>
            <a:r>
              <a:rPr kumimoji="0" lang="de-DE" altLang="de-DE" sz="1700" b="0" i="0" u="none" strike="noStrike" cap="none" normalizeH="0" baseline="0" dirty="0" err="1">
                <a:ln>
                  <a:noFill/>
                </a:ln>
                <a:effectLst/>
              </a:rPr>
              <a:t>}</a:t>
            </a:r>
          </a:p>
        </p:txBody>
      </p:sp>
      <p:sp>
        <p:nvSpPr>
          <p:cNvPr id="6" name="Inhaltsplatzhalter 5">
            <a:extLst>
              <a:ext uri="{FF2B5EF4-FFF2-40B4-BE49-F238E27FC236}">
                <a16:creationId xmlns:a16="http://schemas.microsoft.com/office/drawing/2014/main" id="{8A50DF40-9C9A-5977-0DA3-BE10A9E4BC8A}"/>
              </a:ext>
            </a:extLst>
          </p:cNvPr>
          <p:cNvSpPr>
            <a:spLocks noGrp="1"/>
          </p:cNvSpPr>
          <p:nvPr>
            <p:ph sz="half" idx="2"/>
          </p:nvPr>
        </p:nvSpPr>
        <p:spPr/>
        <p:txBody>
          <a:bodyPr/>
          <a:lstStyle/>
          <a:p>
            <a:pPr marL="0" indent="0">
              <a:buNone/>
            </a:pPr>
            <a:r>
              <a:rPr lang="en-US" dirty="0"/>
              <a:t>@Injectable({ providedIn: 'root' })</a:t>
            </a:r>
          </a:p>
          <a:p>
            <a:pPr marL="0" indent="0">
              <a:buNone/>
            </a:pPr>
            <a:r>
              <a:rPr lang="en-US" dirty="0"/>
              <a:t>export class GreeterService {</a:t>
            </a:r>
          </a:p>
          <a:p>
            <a:pPr marL="0" indent="0">
              <a:buNone/>
            </a:pPr>
            <a:r>
              <a:rPr lang="en-US" dirty="0"/>
              <a:t>  public requestName(): string {</a:t>
            </a:r>
          </a:p>
          <a:p>
            <a:pPr marL="0" indent="0">
              <a:buNone/>
            </a:pPr>
            <a:r>
              <a:rPr lang="en-US" dirty="0"/>
              <a:t>    return 'some example name';</a:t>
            </a:r>
          </a:p>
          <a:p>
            <a:pPr marL="0" indent="0">
              <a:buNone/>
            </a:pPr>
            <a:r>
              <a:rPr lang="en-US" dirty="0"/>
              <a:t>  }</a:t>
            </a:r>
          </a:p>
          <a:p>
            <a:pPr marL="0" indent="0">
              <a:buNone/>
            </a:pPr>
            <a:r>
              <a:rPr lang="en-US" dirty="0"/>
              <a:t>}</a:t>
            </a:r>
          </a:p>
        </p:txBody>
      </p:sp>
      <p:sp>
        <p:nvSpPr>
          <p:cNvPr id="12" name="Footer Placeholder 4">
            <a:extLst>
              <a:ext uri="{FF2B5EF4-FFF2-40B4-BE49-F238E27FC236}">
                <a16:creationId xmlns:a16="http://schemas.microsoft.com/office/drawing/2014/main" id="{1708E09F-170D-14D7-B0A7-90CEA3BF602E}"/>
              </a:ext>
            </a:extLst>
          </p:cNvPr>
          <p:cNvSpPr>
            <a:spLocks noGrp="1"/>
          </p:cNvSpPr>
          <p:nvPr>
            <p:ph type="ftr" sz="quarter" idx="11"/>
          </p:nvPr>
        </p:nvSpPr>
        <p:spPr/>
        <p:txBody>
          <a:bodyPr/>
          <a:lstStyle/>
          <a:p>
            <a:pPr>
              <a:spcAft>
                <a:spcPts val="600"/>
              </a:spcAft>
            </a:pPr>
            <a:r>
              <a:rPr lang="en-US" dirty="0"/>
              <a:t>Sample Footer Text</a:t>
            </a:r>
          </a:p>
        </p:txBody>
      </p:sp>
      <p:sp>
        <p:nvSpPr>
          <p:cNvPr id="14" name="Slide Number Placeholder 5">
            <a:extLst>
              <a:ext uri="{FF2B5EF4-FFF2-40B4-BE49-F238E27FC236}">
                <a16:creationId xmlns:a16="http://schemas.microsoft.com/office/drawing/2014/main" id="{F76A1578-4BAB-8672-0768-2FB5B6E7D8CD}"/>
              </a:ext>
            </a:extLst>
          </p:cNvPr>
          <p:cNvSpPr>
            <a:spLocks noGrp="1"/>
          </p:cNvSpPr>
          <p:nvPr>
            <p:ph type="sldNum" sz="quarter" idx="12"/>
          </p:nvPr>
        </p:nvSpPr>
        <p:spPr/>
        <p:txBody>
          <a:bodyPr/>
          <a:lstStyle/>
          <a:p>
            <a:pPr>
              <a:spcAft>
                <a:spcPts val="600"/>
              </a:spcAft>
            </a:pPr>
            <a:fld id="{5E84AC6A-A0EF-437B-BCEE-4772B0214A58}" type="slidenum">
              <a:rPr lang="en-US" smtClean="0"/>
              <a:pPr>
                <a:spcAft>
                  <a:spcPts val="600"/>
                </a:spcAft>
              </a:pPr>
              <a:t>16</a:t>
            </a:fld>
            <a:endParaRPr lang="en-US"/>
          </a:p>
        </p:txBody>
      </p:sp>
      <p:sp>
        <p:nvSpPr>
          <p:cNvPr id="10" name="Date Placeholder 3">
            <a:extLst>
              <a:ext uri="{FF2B5EF4-FFF2-40B4-BE49-F238E27FC236}">
                <a16:creationId xmlns:a16="http://schemas.microsoft.com/office/drawing/2014/main" id="{FE3DA1AA-4BBD-31B3-0380-BB0333A77B3A}"/>
              </a:ext>
            </a:extLst>
          </p:cNvPr>
          <p:cNvSpPr>
            <a:spLocks noGrp="1"/>
          </p:cNvSpPr>
          <p:nvPr>
            <p:ph type="dt" sz="half" idx="4294967295"/>
          </p:nvPr>
        </p:nvSpPr>
        <p:spPr>
          <a:xfrm rot="5400000">
            <a:off x="9539288" y="4629150"/>
            <a:ext cx="2652712" cy="365125"/>
          </a:xfrm>
        </p:spPr>
        <p:txBody>
          <a:bodyPr/>
          <a:lstStyle/>
          <a:p>
            <a:pPr>
              <a:spcAft>
                <a:spcPts val="600"/>
              </a:spcAft>
            </a:pPr>
            <a:fld id="{426E4A9E-2EFE-45B0-B07E-8DDB65DD5AE0}" type="datetime1">
              <a:rPr lang="en-US" smtClean="0"/>
              <a:pPr>
                <a:spcAft>
                  <a:spcPts val="600"/>
                </a:spcAft>
              </a:pPr>
              <a:t>3/29/2025</a:t>
            </a:fld>
            <a:endParaRPr lang="en-US"/>
          </a:p>
        </p:txBody>
      </p:sp>
    </p:spTree>
    <p:extLst>
      <p:ext uri="{BB962C8B-B14F-4D97-AF65-F5344CB8AC3E}">
        <p14:creationId xmlns:p14="http://schemas.microsoft.com/office/powerpoint/2010/main" val="1671120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6E7E6B-66A3-38C7-5392-48484F9B6AB6}"/>
              </a:ext>
            </a:extLst>
          </p:cNvPr>
          <p:cNvSpPr>
            <a:spLocks noGrp="1"/>
          </p:cNvSpPr>
          <p:nvPr>
            <p:ph type="title"/>
          </p:nvPr>
        </p:nvSpPr>
        <p:spPr/>
        <p:txBody>
          <a:bodyPr/>
          <a:lstStyle/>
          <a:p>
            <a:r>
              <a:rPr lang="de-DE" dirty="0" err="1"/>
              <a:t>Mocking</a:t>
            </a:r>
            <a:r>
              <a:rPr lang="de-DE" dirty="0"/>
              <a:t> </a:t>
            </a:r>
            <a:r>
              <a:rPr lang="de-DE" dirty="0" err="1"/>
              <a:t>Dependencies</a:t>
            </a:r>
            <a:endParaRPr lang="de-DE" dirty="0"/>
          </a:p>
        </p:txBody>
      </p:sp>
      <p:sp>
        <p:nvSpPr>
          <p:cNvPr id="7" name="Rectangle 2">
            <a:extLst>
              <a:ext uri="{FF2B5EF4-FFF2-40B4-BE49-F238E27FC236}">
                <a16:creationId xmlns:a16="http://schemas.microsoft.com/office/drawing/2014/main" id="{12C14C6F-DBE8-E213-A2A9-AFB8C4DD36A9}"/>
              </a:ext>
            </a:extLst>
          </p:cNvPr>
          <p:cNvSpPr>
            <a:spLocks noGrp="1" noChangeArrowheads="1"/>
          </p:cNvSpPr>
          <p:nvPr>
            <p:ph idx="1"/>
          </p:nvPr>
        </p:nvSpPr>
        <p:spPr bwMode="auto">
          <a:xfrm>
            <a:off x="1069848" y="2439657"/>
            <a:ext cx="8507457" cy="30777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Ersatzobjekt mit Mock-Funktion statt echtem Service</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const greeterServiceSpy = { requestName: vi.fn() };</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beforeEach(() =&gt; {</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TestBed.configureTestingModule({</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imports: [GreeterComponent],</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providers: [</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 provide: GreeterService, useValue: greeterServiceSpy }</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 Rückgabewert festlegen</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greeterServiceSpy.requestName.mockReturnValue('Tester');</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  fixture = TestBed.createComponent(GreeterComponent);</a:t>
            </a: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sz="2000">
                <a:ln>
                  <a:noFill/>
                </a:ln>
                <a:solidFill>
                  <a:srgbClr val="0033B3"/>
                </a:solidFill>
                <a:effectLst/>
                <a:latin typeface="Arial Unicode MS"/>
              </a:rPr>
              <a:t>});</a:t>
            </a:r>
          </a:p>
        </p:txBody>
      </p:sp>
    </p:spTree>
    <p:extLst>
      <p:ext uri="{BB962C8B-B14F-4D97-AF65-F5344CB8AC3E}">
        <p14:creationId xmlns:p14="http://schemas.microsoft.com/office/powerpoint/2010/main" val="1409066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A10686-00F2-6975-2BF0-DB5137D386C5}"/>
              </a:ext>
            </a:extLst>
          </p:cNvPr>
          <p:cNvSpPr>
            <a:spLocks noGrp="1"/>
          </p:cNvSpPr>
          <p:nvPr>
            <p:ph type="title"/>
          </p:nvPr>
        </p:nvSpPr>
        <p:spPr/>
        <p:txBody>
          <a:bodyPr/>
          <a:lstStyle/>
          <a:p>
            <a:r>
              <a:rPr lang="de-DE" dirty="0" err="1"/>
              <a:t>Async</a:t>
            </a:r>
            <a:r>
              <a:rPr lang="de-DE" dirty="0"/>
              <a:t> </a:t>
            </a:r>
            <a:r>
              <a:rPr lang="de-DE" dirty="0" err="1"/>
              <a:t>result</a:t>
            </a:r>
            <a:endParaRPr lang="de-DE" dirty="0"/>
          </a:p>
        </p:txBody>
      </p:sp>
      <p:sp>
        <p:nvSpPr>
          <p:cNvPr id="12" name="Rectangle 3">
            <a:extLst>
              <a:ext uri="{FF2B5EF4-FFF2-40B4-BE49-F238E27FC236}">
                <a16:creationId xmlns:a16="http://schemas.microsoft.com/office/drawing/2014/main" id="{1CF11354-E15D-710E-A729-C07FEF16E2FA}"/>
              </a:ext>
            </a:extLst>
          </p:cNvPr>
          <p:cNvSpPr>
            <a:spLocks noGrp="1" noChangeArrowheads="1"/>
          </p:cNvSpPr>
          <p:nvPr>
            <p:ph sz="half" idx="2"/>
          </p:nvPr>
        </p:nvSpPr>
        <p:spPr bwMode="auto">
          <a:xfrm>
            <a:off x="6349795" y="3397239"/>
            <a:ext cx="3332964"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0" i="0" u="none" strike="noStrike" cap="none" normalizeH="0" baseline="0" dirty="0" err="1">
                <a:ln>
                  <a:noFill/>
                </a:ln>
                <a:solidFill>
                  <a:srgbClr val="0033B3"/>
                </a:solidFill>
                <a:effectLst/>
                <a:latin typeface="Arial Unicode MS"/>
              </a:rPr>
              <a:t>export</a:t>
            </a:r>
            <a:r>
              <a:rPr kumimoji="0" lang="de-DE" altLang="de-DE" sz="1200" b="0" i="0" u="none" strike="noStrike" cap="none" normalizeH="0" baseline="0" dirty="0">
                <a:ln>
                  <a:noFill/>
                </a:ln>
                <a:solidFill>
                  <a:srgbClr val="0033B3"/>
                </a:solidFill>
                <a:effectLst/>
                <a:latin typeface="Arial Unicode MS"/>
              </a:rPr>
              <a:t> </a:t>
            </a:r>
            <a:r>
              <a:rPr kumimoji="0" lang="de-DE" altLang="de-DE" sz="1200" b="0" i="0" u="none" strike="noStrike" cap="none" normalizeH="0" baseline="0" dirty="0" err="1">
                <a:ln>
                  <a:noFill/>
                </a:ln>
                <a:solidFill>
                  <a:srgbClr val="0033B3"/>
                </a:solidFill>
                <a:effectLst/>
                <a:latin typeface="Arial Unicode MS"/>
              </a:rPr>
              <a:t>class</a:t>
            </a:r>
            <a:r>
              <a:rPr kumimoji="0" lang="de-DE" altLang="de-DE" sz="1200" b="0" i="0" u="none" strike="noStrike" cap="none" normalizeH="0" baseline="0" dirty="0">
                <a:ln>
                  <a:noFill/>
                </a:ln>
                <a:solidFill>
                  <a:srgbClr val="0033B3"/>
                </a:solidFill>
                <a:effectLst/>
                <a:latin typeface="Arial Unicode MS"/>
              </a:rPr>
              <a:t> </a:t>
            </a:r>
            <a:r>
              <a:rPr kumimoji="0" lang="de-DE" altLang="de-DE" sz="1200" b="0" i="0" u="none" strike="noStrike" cap="none" normalizeH="0" baseline="0" dirty="0" err="1">
                <a:ln>
                  <a:noFill/>
                </a:ln>
                <a:solidFill>
                  <a:srgbClr val="000000"/>
                </a:solidFill>
                <a:effectLst/>
                <a:latin typeface="Arial Unicode MS"/>
              </a:rPr>
              <a:t>GreeterService</a:t>
            </a:r>
            <a:r>
              <a:rPr kumimoji="0" lang="de-DE" altLang="de-DE" sz="1200" b="0" i="0" u="none" strike="noStrike" cap="none" normalizeH="0" baseline="0" dirty="0">
                <a:ln>
                  <a:noFill/>
                </a:ln>
                <a:solidFill>
                  <a:srgbClr val="000000"/>
                </a:solidFill>
                <a:effectLst/>
                <a:latin typeface="Arial Unicode MS"/>
              </a:rPr>
              <a:t> </a:t>
            </a:r>
            <a:r>
              <a:rPr kumimoji="0" lang="de-DE" altLang="de-DE" sz="1200" b="0" i="0" u="none" strike="noStrike" cap="none" normalizeH="0" baseline="0" dirty="0">
                <a:ln>
                  <a:noFill/>
                </a:ln>
                <a:solidFill>
                  <a:srgbClr val="080808"/>
                </a:solidFill>
                <a:effectLst/>
                <a:latin typeface="Arial Unicode MS"/>
              </a:rPr>
              <a:t>{</a:t>
            </a:r>
            <a:br>
              <a:rPr kumimoji="0" lang="de-DE" altLang="de-DE" sz="1200" b="0" i="0" u="none" strike="noStrike" cap="none" normalizeH="0" baseline="0" dirty="0">
                <a:ln>
                  <a:noFill/>
                </a:ln>
                <a:solidFill>
                  <a:srgbClr val="080808"/>
                </a:solidFill>
                <a:effectLst/>
                <a:latin typeface="Arial Unicode MS"/>
              </a:rPr>
            </a:br>
            <a:br>
              <a:rPr kumimoji="0" lang="de-DE" altLang="de-DE" sz="1200" b="0" i="0" u="none" strike="noStrike" cap="none" normalizeH="0" baseline="0" dirty="0">
                <a:ln>
                  <a:noFill/>
                </a:ln>
                <a:solidFill>
                  <a:srgbClr val="080808"/>
                </a:solidFill>
                <a:effectLst/>
                <a:latin typeface="Arial Unicode MS"/>
              </a:rPr>
            </a:br>
            <a:r>
              <a:rPr kumimoji="0" lang="de-DE" altLang="de-DE" sz="1200" b="0" i="0" u="none" strike="noStrike" cap="none" normalizeH="0" baseline="0" dirty="0">
                <a:ln>
                  <a:noFill/>
                </a:ln>
                <a:solidFill>
                  <a:srgbClr val="080808"/>
                </a:solidFill>
                <a:effectLst/>
                <a:latin typeface="Arial Unicode MS"/>
              </a:rPr>
              <a:t>  </a:t>
            </a:r>
            <a:r>
              <a:rPr kumimoji="0" lang="de-DE" altLang="de-DE" sz="1200" b="0" i="0" u="none" strike="noStrike" cap="none" normalizeH="0" baseline="0" dirty="0" err="1">
                <a:ln>
                  <a:noFill/>
                </a:ln>
                <a:solidFill>
                  <a:srgbClr val="0033B3"/>
                </a:solidFill>
                <a:effectLst/>
                <a:latin typeface="Arial Unicode MS"/>
              </a:rPr>
              <a:t>public</a:t>
            </a:r>
            <a:r>
              <a:rPr kumimoji="0" lang="de-DE" altLang="de-DE" sz="1200" b="0" i="0" u="none" strike="noStrike" cap="none" normalizeH="0" baseline="0" dirty="0">
                <a:ln>
                  <a:noFill/>
                </a:ln>
                <a:solidFill>
                  <a:srgbClr val="0033B3"/>
                </a:solidFill>
                <a:effectLst/>
                <a:latin typeface="Arial Unicode MS"/>
              </a:rPr>
              <a:t> </a:t>
            </a:r>
            <a:r>
              <a:rPr kumimoji="0" lang="de-DE" altLang="de-DE" sz="1200" b="0" i="0" u="none" strike="noStrike" cap="none" normalizeH="0" baseline="0" dirty="0" err="1">
                <a:ln>
                  <a:noFill/>
                </a:ln>
                <a:solidFill>
                  <a:srgbClr val="7A7A43"/>
                </a:solidFill>
                <a:effectLst/>
                <a:latin typeface="Arial Unicode MS"/>
              </a:rPr>
              <a:t>requestNames</a:t>
            </a:r>
            <a:r>
              <a:rPr kumimoji="0" lang="de-DE" altLang="de-DE" sz="1200" b="0" i="0" u="none" strike="noStrike" cap="none" normalizeH="0" baseline="0" dirty="0">
                <a:ln>
                  <a:noFill/>
                </a:ln>
                <a:solidFill>
                  <a:srgbClr val="080808"/>
                </a:solidFill>
                <a:effectLst/>
                <a:latin typeface="Arial Unicode MS"/>
              </a:rPr>
              <a:t>():</a:t>
            </a:r>
            <a:r>
              <a:rPr kumimoji="0" lang="de-DE" altLang="de-DE" sz="1200" b="0" i="0" u="none" strike="noStrike" cap="none" normalizeH="0" baseline="0" dirty="0">
                <a:ln>
                  <a:noFill/>
                </a:ln>
                <a:solidFill>
                  <a:srgbClr val="000000"/>
                </a:solidFill>
                <a:effectLst/>
                <a:latin typeface="Arial Unicode MS"/>
              </a:rPr>
              <a:t>Observable</a:t>
            </a:r>
            <a:r>
              <a:rPr kumimoji="0" lang="de-DE" altLang="de-DE" sz="1200" b="0" i="0" u="none" strike="noStrike" cap="none" normalizeH="0" baseline="0" dirty="0">
                <a:ln>
                  <a:noFill/>
                </a:ln>
                <a:solidFill>
                  <a:srgbClr val="080808"/>
                </a:solidFill>
                <a:effectLst/>
                <a:latin typeface="Arial Unicode MS"/>
              </a:rPr>
              <a:t>&lt;</a:t>
            </a:r>
            <a:r>
              <a:rPr kumimoji="0" lang="de-DE" altLang="de-DE" sz="1200" b="0" i="0" u="none" strike="noStrike" cap="none" normalizeH="0" baseline="0" dirty="0" err="1">
                <a:ln>
                  <a:noFill/>
                </a:ln>
                <a:solidFill>
                  <a:srgbClr val="0033B3"/>
                </a:solidFill>
                <a:effectLst/>
                <a:latin typeface="Arial Unicode MS"/>
              </a:rPr>
              <a:t>string</a:t>
            </a:r>
            <a:r>
              <a:rPr kumimoji="0" lang="de-DE" altLang="de-DE" sz="1200" b="0" i="0" u="none" strike="noStrike" cap="none" normalizeH="0" baseline="0" dirty="0">
                <a:ln>
                  <a:noFill/>
                </a:ln>
                <a:solidFill>
                  <a:srgbClr val="080808"/>
                </a:solidFill>
                <a:effectLst/>
                <a:latin typeface="Arial Unicode MS"/>
              </a:rPr>
              <a:t>[]&gt;{</a:t>
            </a:r>
            <a:br>
              <a:rPr kumimoji="0" lang="de-DE" altLang="de-DE" sz="1200" b="0" i="0" u="none" strike="noStrike" cap="none" normalizeH="0" baseline="0" dirty="0">
                <a:ln>
                  <a:noFill/>
                </a:ln>
                <a:solidFill>
                  <a:srgbClr val="080808"/>
                </a:solidFill>
                <a:effectLst/>
                <a:latin typeface="Arial Unicode MS"/>
              </a:rPr>
            </a:br>
            <a:r>
              <a:rPr kumimoji="0" lang="de-DE" altLang="de-DE" sz="1200" b="0" i="0" u="none" strike="noStrike" cap="none" normalizeH="0" baseline="0" dirty="0">
                <a:ln>
                  <a:noFill/>
                </a:ln>
                <a:solidFill>
                  <a:srgbClr val="080808"/>
                </a:solidFill>
                <a:effectLst/>
                <a:latin typeface="Arial Unicode MS"/>
              </a:rPr>
              <a:t>    </a:t>
            </a:r>
            <a:r>
              <a:rPr kumimoji="0" lang="de-DE" altLang="de-DE" sz="1200" b="0" i="0" u="none" strike="noStrike" cap="none" normalizeH="0" baseline="0" dirty="0" err="1">
                <a:ln>
                  <a:noFill/>
                </a:ln>
                <a:solidFill>
                  <a:srgbClr val="0033B3"/>
                </a:solidFill>
                <a:effectLst/>
                <a:latin typeface="Arial Unicode MS"/>
              </a:rPr>
              <a:t>return</a:t>
            </a:r>
            <a:r>
              <a:rPr kumimoji="0" lang="de-DE" altLang="de-DE" sz="1200" b="0" i="0" u="none" strike="noStrike" cap="none" normalizeH="0" baseline="0" dirty="0">
                <a:ln>
                  <a:noFill/>
                </a:ln>
                <a:solidFill>
                  <a:srgbClr val="0033B3"/>
                </a:solidFill>
                <a:effectLst/>
                <a:latin typeface="Arial Unicode MS"/>
              </a:rPr>
              <a:t> </a:t>
            </a:r>
            <a:r>
              <a:rPr kumimoji="0" lang="de-DE" altLang="de-DE" sz="1200" b="0" i="1" u="none" strike="noStrike" cap="none" normalizeH="0" baseline="0" dirty="0">
                <a:ln>
                  <a:noFill/>
                </a:ln>
                <a:solidFill>
                  <a:srgbClr val="080808"/>
                </a:solidFill>
                <a:effectLst/>
                <a:latin typeface="Arial Unicode MS"/>
              </a:rPr>
              <a:t>//HTTP CALL…</a:t>
            </a:r>
            <a:br>
              <a:rPr kumimoji="0" lang="de-DE" altLang="de-DE" sz="1200" b="0" i="0" u="none" strike="noStrike" cap="none" normalizeH="0" baseline="0" dirty="0">
                <a:ln>
                  <a:noFill/>
                </a:ln>
                <a:solidFill>
                  <a:srgbClr val="080808"/>
                </a:solidFill>
                <a:effectLst/>
                <a:latin typeface="Arial Unicode MS"/>
              </a:rPr>
            </a:br>
            <a:r>
              <a:rPr kumimoji="0" lang="de-DE" altLang="de-DE" sz="1200" b="0" i="0" u="none" strike="noStrike" cap="none" normalizeH="0" baseline="0" dirty="0">
                <a:ln>
                  <a:noFill/>
                </a:ln>
                <a:solidFill>
                  <a:srgbClr val="080808"/>
                </a:solidFill>
                <a:effectLst/>
                <a:latin typeface="Arial Unicode MS"/>
              </a:rPr>
              <a:t>  }</a:t>
            </a:r>
            <a:br>
              <a:rPr kumimoji="0" lang="de-DE" altLang="de-DE" sz="1200" b="0" i="0" u="none" strike="noStrike" cap="none" normalizeH="0" baseline="0" dirty="0">
                <a:ln>
                  <a:noFill/>
                </a:ln>
                <a:solidFill>
                  <a:srgbClr val="080808"/>
                </a:solidFill>
                <a:effectLst/>
                <a:latin typeface="Arial Unicode MS"/>
              </a:rPr>
            </a:br>
            <a:r>
              <a:rPr kumimoji="0" lang="de-DE" altLang="de-DE" sz="1200" b="0" i="0" u="none" strike="noStrike" cap="none" normalizeH="0" baseline="0" dirty="0">
                <a:ln>
                  <a:noFill/>
                </a:ln>
                <a:solidFill>
                  <a:srgbClr val="080808"/>
                </a:solidFill>
                <a:effectLst/>
                <a:latin typeface="Arial Unicode MS"/>
              </a:rPr>
              <a:t>}</a:t>
            </a:r>
            <a:endParaRPr kumimoji="0" lang="de-DE" altLang="de-DE" sz="28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0C90EE2F-BABA-0D3A-D968-E457EFC2631C}"/>
              </a:ext>
            </a:extLst>
          </p:cNvPr>
          <p:cNvSpPr>
            <a:spLocks noGrp="1" noChangeArrowheads="1"/>
          </p:cNvSpPr>
          <p:nvPr>
            <p:ph sz="half" idx="1"/>
          </p:nvPr>
        </p:nvSpPr>
        <p:spPr bwMode="auto">
          <a:xfrm>
            <a:off x="1066800" y="2597020"/>
            <a:ext cx="3328155" cy="2800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@for (name of names(); track name) {</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&lt;p&gt;{{name}}&lt;/p&gt;</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export class GreeterComponent {</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names = signal&lt;string[]&gt;([]);</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private readonly service = inject(GreeterService);</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public requestNames(): void {</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this.service.requestNames().subscribe(result =&gt; this.names.set(result));</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  }</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100" b="0" i="0" u="none" strike="noStrike" cap="none" normalizeH="0" baseline="0" dirty="0">
                <a:ln>
                  <a:noFill/>
                </a:ln>
                <a:solidFill>
                  <a:srgbClr val="080808"/>
                </a:solidFill>
                <a:effectLst/>
                <a:latin typeface="Arial Unicode MS"/>
              </a:rPr>
              <a:t>}</a:t>
            </a:r>
            <a:endParaRPr kumimoji="0" lang="de-DE" altLang="de-DE" sz="24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0983ADEE-2848-C63E-EE4F-FEDEFDE30862}"/>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8089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52C2C10-CAB2-BC05-7953-61797AF2B5AF}"/>
              </a:ext>
            </a:extLst>
          </p:cNvPr>
          <p:cNvSpPr>
            <a:spLocks noGrp="1"/>
          </p:cNvSpPr>
          <p:nvPr>
            <p:ph type="title"/>
          </p:nvPr>
        </p:nvSpPr>
        <p:spPr/>
        <p:txBody>
          <a:bodyPr/>
          <a:lstStyle/>
          <a:p>
            <a:r>
              <a:rPr lang="de-DE" dirty="0" err="1"/>
              <a:t>Aync</a:t>
            </a:r>
            <a:r>
              <a:rPr lang="de-DE" dirty="0"/>
              <a:t> </a:t>
            </a:r>
            <a:r>
              <a:rPr lang="de-DE" dirty="0" err="1"/>
              <a:t>result</a:t>
            </a:r>
            <a:endParaRPr lang="de-DE" dirty="0"/>
          </a:p>
        </p:txBody>
      </p:sp>
      <p:sp>
        <p:nvSpPr>
          <p:cNvPr id="8" name="Rectangle 2">
            <a:extLst>
              <a:ext uri="{FF2B5EF4-FFF2-40B4-BE49-F238E27FC236}">
                <a16:creationId xmlns:a16="http://schemas.microsoft.com/office/drawing/2014/main" id="{4727F7D2-E880-2CC0-BF8D-164E1C0FC4A0}"/>
              </a:ext>
            </a:extLst>
          </p:cNvPr>
          <p:cNvSpPr>
            <a:spLocks noGrp="1" noChangeArrowheads="1"/>
          </p:cNvSpPr>
          <p:nvPr>
            <p:ph idx="1"/>
          </p:nvPr>
        </p:nvSpPr>
        <p:spPr bwMode="auto">
          <a:xfrm>
            <a:off x="1069848" y="2101101"/>
            <a:ext cx="8507457" cy="37548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greeterServiceSpy.requestNames.mockReturnValue(of(['Tester1', 'Tester2']));</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it('should show nothing at the beginning', async () =&gt; {</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fixture.detectChanges();</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await fixture.whenStable();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expect(componentRootElement.querySelector('p')).toBeNull();</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it('after requesting data 2 p-elements should be visible', async () =&gt; {</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component.requestNames();</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fixture.detectChanges();</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await fixture.whenStable();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  expect(componentRootElement.querySelectorAll('p')).toHaveLength(2);</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a:ln>
                  <a:noFill/>
                </a:ln>
                <a:solidFill>
                  <a:srgbClr val="248F8F"/>
                </a:solidFill>
                <a:effectLst/>
                <a:latin typeface="Arial Unicode MS"/>
              </a:rPr>
              <a:t>});</a:t>
            </a:r>
          </a:p>
        </p:txBody>
      </p:sp>
    </p:spTree>
    <p:extLst>
      <p:ext uri="{BB962C8B-B14F-4D97-AF65-F5344CB8AC3E}">
        <p14:creationId xmlns:p14="http://schemas.microsoft.com/office/powerpoint/2010/main" val="29254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D4491C-5DDB-B1BB-2500-8E557F84FA66}"/>
              </a:ext>
            </a:extLst>
          </p:cNvPr>
          <p:cNvSpPr>
            <a:spLocks noGrp="1"/>
          </p:cNvSpPr>
          <p:nvPr>
            <p:ph type="title"/>
          </p:nvPr>
        </p:nvSpPr>
        <p:spPr/>
        <p:txBody>
          <a:bodyPr/>
          <a:lstStyle/>
          <a:p>
            <a:r>
              <a:rPr lang="de-DE" dirty="0" err="1"/>
              <a:t>Throw</a:t>
            </a:r>
            <a:r>
              <a:rPr lang="de-DE" dirty="0"/>
              <a:t> Error</a:t>
            </a:r>
          </a:p>
        </p:txBody>
      </p:sp>
      <p:sp>
        <p:nvSpPr>
          <p:cNvPr id="4" name="Rectangle 1">
            <a:extLst>
              <a:ext uri="{FF2B5EF4-FFF2-40B4-BE49-F238E27FC236}">
                <a16:creationId xmlns:a16="http://schemas.microsoft.com/office/drawing/2014/main" id="{E6EA496A-C717-7651-5A49-E40165DDDB64}"/>
              </a:ext>
            </a:extLst>
          </p:cNvPr>
          <p:cNvSpPr>
            <a:spLocks noGrp="1" noChangeArrowheads="1"/>
          </p:cNvSpPr>
          <p:nvPr>
            <p:ph idx="1"/>
          </p:nvPr>
        </p:nvSpPr>
        <p:spPr bwMode="auto">
          <a:xfrm>
            <a:off x="1069848" y="3686151"/>
            <a:ext cx="8470204"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a:ln>
                  <a:noFill/>
                </a:ln>
                <a:solidFill>
                  <a:srgbClr val="248F8F"/>
                </a:solidFill>
                <a:effectLst/>
                <a:latin typeface="Arial Unicode MS"/>
              </a:rPr>
              <a:t>greeterServiceSpy.requestNames.mockReturnValue(throwError(() =&gt; new Error('TestError')));</a:t>
            </a:r>
            <a:endParaRPr kumimoji="0" lang="de-DE" altLang="de-DE"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4039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3C155B-CEA9-EF67-8F01-984F8D77E853}"/>
              </a:ext>
            </a:extLst>
          </p:cNvPr>
          <p:cNvSpPr>
            <a:spLocks noGrp="1"/>
          </p:cNvSpPr>
          <p:nvPr>
            <p:ph type="title"/>
          </p:nvPr>
        </p:nvSpPr>
        <p:spPr/>
        <p:txBody>
          <a:bodyPr/>
          <a:lstStyle/>
          <a:p>
            <a:r>
              <a:rPr lang="de-DE" dirty="0"/>
              <a:t>Trigger Eventhandling</a:t>
            </a:r>
          </a:p>
        </p:txBody>
      </p:sp>
      <p:sp>
        <p:nvSpPr>
          <p:cNvPr id="4" name="Rectangle 1">
            <a:extLst>
              <a:ext uri="{FF2B5EF4-FFF2-40B4-BE49-F238E27FC236}">
                <a16:creationId xmlns:a16="http://schemas.microsoft.com/office/drawing/2014/main" id="{1518505A-4988-2A88-517B-427A9E0B953A}"/>
              </a:ext>
            </a:extLst>
          </p:cNvPr>
          <p:cNvSpPr>
            <a:spLocks noGrp="1" noChangeArrowheads="1"/>
          </p:cNvSpPr>
          <p:nvPr>
            <p:ph sz="half" idx="1"/>
          </p:nvPr>
        </p:nvSpPr>
        <p:spPr bwMode="auto">
          <a:xfrm>
            <a:off x="1066800" y="2658574"/>
            <a:ext cx="4799712"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@for (name of names(); track name) {</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  &lt;p (click)="setSelectedName(name)"&gt;{{name}}&lt;/p&gt;</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selected = output&lt;string&gt;();</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public setSelectedName(name: string): void {</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  this.selected.emit(name);</a:t>
            </a: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de-DE" altLang="de-DE" sz="1200" b="0" i="0" u="none" strike="noStrike" cap="none" normalizeH="0" baseline="0" dirty="0">
                <a:ln>
                  <a:noFill/>
                </a:ln>
                <a:solidFill>
                  <a:srgbClr val="080808"/>
                </a:solidFill>
                <a:effectLst/>
                <a:latin typeface="Arial Unicode MS"/>
              </a:rPr>
              <a:t>}</a:t>
            </a:r>
            <a:endParaRPr kumimoji="0" lang="de-DE" altLang="de-DE" sz="12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C0D54C4D-B9B5-5283-D7AA-95941C69E68D}"/>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D7485382-9179-22F4-FDC2-379E84E6BDD8}"/>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D099F34F-D00B-9259-2F44-9F60766727B7}"/>
              </a:ext>
            </a:extLst>
          </p:cNvPr>
          <p:cNvSpPr>
            <a:spLocks noGrp="1" noChangeArrowheads="1"/>
          </p:cNvSpPr>
          <p:nvPr>
            <p:ph sz="half" idx="2"/>
          </p:nvPr>
        </p:nvSpPr>
        <p:spPr bwMode="auto">
          <a:xfrm>
            <a:off x="6349795" y="3274128"/>
            <a:ext cx="5131533" cy="14465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sz="1100" b="0" i="0" u="none" strike="noStrike" cap="none" normalizeH="0" baseline="0" dirty="0" err="1">
                <a:ln>
                  <a:noFill/>
                </a:ln>
                <a:solidFill>
                  <a:srgbClr val="0033B3"/>
                </a:solidFill>
                <a:effectLst/>
                <a:latin typeface="Arial Unicode MS"/>
              </a:rPr>
              <a:t>let selectedName = '';</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sz="1100" b="0" i="0" u="none" strike="noStrike" cap="none" normalizeH="0" baseline="0" dirty="0" err="1">
                <a:ln>
                  <a:noFill/>
                </a:ln>
                <a:solidFill>
                  <a:srgbClr val="0033B3"/>
                </a:solidFill>
                <a:effectLst/>
                <a:latin typeface="Arial Unicode MS"/>
              </a:rPr>
              <a:t>component.selected.subscribe(name =&gt; (selectedName = name));</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sz="1100" b="0" i="0" u="none" strike="noStrike" cap="none" normalizeH="0" baseline="0" dirty="0" err="1">
                <a:ln>
                  <a:noFill/>
                </a:ln>
                <a:solidFill>
                  <a:srgbClr val="0033B3"/>
                </a:solidFill>
                <a:effectLst/>
                <a:latin typeface="Arial Unicode MS"/>
              </a:rPr>
              <a:t>const allPElements = fixture.debugElement.queryAll(By.css('p'));</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sz="1100" b="0" i="0" u="none" strike="noStrike" cap="none" normalizeH="0" baseline="0" dirty="0" err="1">
                <a:ln>
                  <a:noFill/>
                </a:ln>
                <a:solidFill>
                  <a:srgbClr val="0033B3"/>
                </a:solidFill>
                <a:effectLst/>
                <a:latin typeface="Arial Unicode MS"/>
              </a:rPr>
              <a:t>allPElements.at(0)?.triggerEventHandler('click');</a:t>
            </a:r>
            <a:endParaRPr kumimoji="0" lang="de-DE" altLang="de-DE" sz="24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de-DE" altLang="de-DE" sz="1100" b="0" i="0" u="none" strike="noStrike" cap="none" normalizeH="0" baseline="0" dirty="0" err="1">
                <a:ln>
                  <a:noFill/>
                </a:ln>
                <a:solidFill>
                  <a:srgbClr val="0033B3"/>
                </a:solidFill>
                <a:effectLst/>
                <a:latin typeface="Arial Unicode MS"/>
              </a:rPr>
              <a:t>expect(selectedName).toEqual('Tester1');</a:t>
            </a:r>
            <a:endParaRPr kumimoji="0" lang="de-DE" altLang="de-DE"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6254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4086F5-5AAC-F692-73E3-87A47A652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7CFC751-5E23-CA2E-7E64-4E345F3753A6}"/>
              </a:ext>
            </a:extLst>
          </p:cNvPr>
          <p:cNvSpPr>
            <a:spLocks noGrp="1"/>
          </p:cNvSpPr>
          <p:nvPr>
            <p:ph type="title"/>
          </p:nvPr>
        </p:nvSpPr>
        <p:spPr>
          <a:xfrm>
            <a:off x="1066800" y="4107693"/>
            <a:ext cx="4305892" cy="1805111"/>
          </a:xfrm>
        </p:spPr>
        <p:txBody>
          <a:bodyPr anchor="ctr">
            <a:normAutofit/>
          </a:bodyPr>
          <a:lstStyle/>
          <a:p>
            <a:r>
              <a:rPr lang="de-DE" dirty="0"/>
              <a:t>Übung 1</a:t>
            </a:r>
          </a:p>
        </p:txBody>
      </p:sp>
      <p:sp>
        <p:nvSpPr>
          <p:cNvPr id="12" name="Freeform: Shape 11">
            <a:extLst>
              <a:ext uri="{FF2B5EF4-FFF2-40B4-BE49-F238E27FC236}">
                <a16:creationId xmlns:a16="http://schemas.microsoft.com/office/drawing/2014/main" id="{3351B06F-42FD-3E0A-3AA8-C51082644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9CF32190-1DF5-5FFF-D532-889495A9B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740000" flipV="1">
            <a:off x="7884803" y="5010325"/>
            <a:ext cx="4324338" cy="1889417"/>
          </a:xfrm>
          <a:custGeom>
            <a:avLst/>
            <a:gdLst>
              <a:gd name="connsiteX0" fmla="*/ 26412 w 4324338"/>
              <a:gd name="connsiteY0" fmla="*/ 1889417 h 1889417"/>
              <a:gd name="connsiteX1" fmla="*/ 4324338 w 4324338"/>
              <a:gd name="connsiteY1" fmla="*/ 1814397 h 1889417"/>
              <a:gd name="connsiteX2" fmla="*/ 2459858 w 4324338"/>
              <a:gd name="connsiteY2" fmla="*/ 403264 h 1889417"/>
              <a:gd name="connsiteX3" fmla="*/ 2414726 w 4324338"/>
              <a:gd name="connsiteY3" fmla="*/ 370852 h 1889417"/>
              <a:gd name="connsiteX4" fmla="*/ 1261883 w 4324338"/>
              <a:gd name="connsiteY4" fmla="*/ 615 h 1889417"/>
              <a:gd name="connsiteX5" fmla="*/ 70385 w 4324338"/>
              <a:gd name="connsiteY5" fmla="*/ 326182 h 1889417"/>
              <a:gd name="connsiteX6" fmla="*/ 0 w 4324338"/>
              <a:gd name="connsiteY6" fmla="*/ 376291 h 188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4338" h="1889417">
                <a:moveTo>
                  <a:pt x="26412" y="1889417"/>
                </a:moveTo>
                <a:lnTo>
                  <a:pt x="4324338" y="1814397"/>
                </a:lnTo>
                <a:lnTo>
                  <a:pt x="2459858" y="403264"/>
                </a:lnTo>
                <a:lnTo>
                  <a:pt x="2414726" y="370852"/>
                </a:lnTo>
                <a:cubicBezTo>
                  <a:pt x="2062641" y="131313"/>
                  <a:pt x="1661870" y="10180"/>
                  <a:pt x="1261883" y="615"/>
                </a:cubicBezTo>
                <a:cubicBezTo>
                  <a:pt x="845229" y="-9347"/>
                  <a:pt x="429425" y="101751"/>
                  <a:pt x="70385" y="326182"/>
                </a:cubicBezTo>
                <a:lnTo>
                  <a:pt x="0" y="376291"/>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Inhaltsplatzhalter 4">
            <a:extLst>
              <a:ext uri="{FF2B5EF4-FFF2-40B4-BE49-F238E27FC236}">
                <a16:creationId xmlns:a16="http://schemas.microsoft.com/office/drawing/2014/main" id="{1D276F74-51D9-8421-132E-D4C7B011C79A}"/>
              </a:ext>
            </a:extLst>
          </p:cNvPr>
          <p:cNvSpPr>
            <a:spLocks noGrp="1"/>
          </p:cNvSpPr>
          <p:nvPr>
            <p:ph idx="1"/>
          </p:nvPr>
        </p:nvSpPr>
        <p:spPr>
          <a:xfrm>
            <a:off x="6096000" y="1143000"/>
            <a:ext cx="4953000" cy="3829733"/>
          </a:xfrm>
        </p:spPr>
        <p:txBody>
          <a:bodyPr>
            <a:normAutofit/>
          </a:bodyPr>
          <a:lstStyle/>
          <a:p>
            <a:r>
              <a:rPr lang="de-DE" dirty="0"/>
              <a:t>Teste die Klasse </a:t>
            </a:r>
            <a:r>
              <a:rPr lang="de-DE" dirty="0" err="1"/>
              <a:t>CustomerListComponent</a:t>
            </a:r>
            <a:endParaRPr lang="de-DE" dirty="0"/>
          </a:p>
          <a:p>
            <a:pPr lvl="1"/>
            <a:r>
              <a:rPr lang="de-DE"/>
              <a:t>Mocke den Service mit vi.fn() und gib 0, 1, 2 Kunden zurück</a:t>
            </a:r>
          </a:p>
          <a:p>
            <a:pPr lvl="1"/>
            <a:r>
              <a:rPr lang="de-DE" dirty="0"/>
              <a:t>Prüfe ob die Liste &lt;</a:t>
            </a:r>
            <a:r>
              <a:rPr lang="de-DE" dirty="0" err="1"/>
              <a:t>ul</a:t>
            </a:r>
            <a:r>
              <a:rPr lang="de-DE" dirty="0"/>
              <a:t>&gt; korrekt aufgebaut</a:t>
            </a:r>
          </a:p>
          <a:p>
            <a:pPr lvl="1"/>
            <a:endParaRPr lang="de-DE" dirty="0"/>
          </a:p>
          <a:p>
            <a:r>
              <a:rPr lang="de-DE" dirty="0"/>
              <a:t>Teste die </a:t>
            </a:r>
            <a:r>
              <a:rPr lang="de-DE" sz="1800" dirty="0" err="1">
                <a:solidFill>
                  <a:schemeClr val="tx2"/>
                </a:solidFill>
              </a:rPr>
              <a:t>currentActiveCustomers</a:t>
            </a:r>
            <a:r>
              <a:rPr lang="de-DE" dirty="0"/>
              <a:t> Pipe</a:t>
            </a:r>
          </a:p>
          <a:p>
            <a:pPr lvl="1"/>
            <a:r>
              <a:rPr lang="de-DE" dirty="0"/>
              <a:t>Prüfe mit verschiedenen Werten für „</a:t>
            </a:r>
            <a:r>
              <a:rPr lang="de-DE" dirty="0" err="1"/>
              <a:t>da</a:t>
            </a:r>
            <a:r>
              <a:rPr lang="de-DE" sz="1600" dirty="0" err="1">
                <a:solidFill>
                  <a:schemeClr val="tx2"/>
                </a:solidFill>
              </a:rPr>
              <a:t>ysInPast</a:t>
            </a:r>
            <a:r>
              <a:rPr lang="de-DE" dirty="0"/>
              <a:t>“</a:t>
            </a:r>
          </a:p>
        </p:txBody>
      </p:sp>
    </p:spTree>
    <p:extLst>
      <p:ext uri="{BB962C8B-B14F-4D97-AF65-F5344CB8AC3E}">
        <p14:creationId xmlns:p14="http://schemas.microsoft.com/office/powerpoint/2010/main" val="2770735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3B0482E-5C65-7B49-641D-E98BA1ECD783}"/>
              </a:ext>
            </a:extLst>
          </p:cNvPr>
          <p:cNvSpPr>
            <a:spLocks noGrp="1"/>
          </p:cNvSpPr>
          <p:nvPr>
            <p:ph type="title"/>
          </p:nvPr>
        </p:nvSpPr>
        <p:spPr/>
        <p:txBody>
          <a:bodyPr/>
          <a:lstStyle/>
          <a:p>
            <a:r>
              <a:rPr lang="de-DE" dirty="0"/>
              <a:t>Cypress</a:t>
            </a:r>
          </a:p>
        </p:txBody>
      </p:sp>
      <p:sp>
        <p:nvSpPr>
          <p:cNvPr id="5" name="Textplatzhalter 4">
            <a:extLst>
              <a:ext uri="{FF2B5EF4-FFF2-40B4-BE49-F238E27FC236}">
                <a16:creationId xmlns:a16="http://schemas.microsoft.com/office/drawing/2014/main" id="{4B2CA7B2-281D-8EF9-C583-86A1FF043AAB}"/>
              </a:ext>
            </a:extLst>
          </p:cNvPr>
          <p:cNvSpPr>
            <a:spLocks noGrp="1"/>
          </p:cNvSpPr>
          <p:nvPr>
            <p:ph type="body" idx="1"/>
          </p:nvPr>
        </p:nvSpPr>
        <p:spPr/>
        <p:txBody>
          <a:bodyPr/>
          <a:lstStyle/>
          <a:p>
            <a:r>
              <a:rPr lang="de-DE" dirty="0"/>
              <a:t>End2End Tests</a:t>
            </a:r>
          </a:p>
        </p:txBody>
      </p:sp>
    </p:spTree>
    <p:extLst>
      <p:ext uri="{BB962C8B-B14F-4D97-AF65-F5344CB8AC3E}">
        <p14:creationId xmlns:p14="http://schemas.microsoft.com/office/powerpoint/2010/main" val="282963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0F56417-0663-8D3A-3BD9-0F0A743217E1}"/>
              </a:ext>
            </a:extLst>
          </p:cNvPr>
          <p:cNvSpPr>
            <a:spLocks noGrp="1"/>
          </p:cNvSpPr>
          <p:nvPr>
            <p:ph type="title"/>
          </p:nvPr>
        </p:nvSpPr>
        <p:spPr/>
        <p:txBody>
          <a:bodyPr/>
          <a:lstStyle/>
          <a:p>
            <a:r>
              <a:rPr lang="de-DE" dirty="0"/>
              <a:t>Installation Cypress</a:t>
            </a:r>
          </a:p>
        </p:txBody>
      </p:sp>
      <p:sp>
        <p:nvSpPr>
          <p:cNvPr id="5" name="Inhaltsplatzhalter 4">
            <a:extLst>
              <a:ext uri="{FF2B5EF4-FFF2-40B4-BE49-F238E27FC236}">
                <a16:creationId xmlns:a16="http://schemas.microsoft.com/office/drawing/2014/main" id="{192EA037-6CFE-8053-E09D-710FFF525BBA}"/>
              </a:ext>
            </a:extLst>
          </p:cNvPr>
          <p:cNvSpPr>
            <a:spLocks noGrp="1"/>
          </p:cNvSpPr>
          <p:nvPr>
            <p:ph idx="1"/>
          </p:nvPr>
        </p:nvSpPr>
        <p:spPr/>
        <p:txBody>
          <a:bodyPr>
            <a:normAutofit fontScale="25000" lnSpcReduction="20000"/>
          </a:bodyPr>
          <a:lstStyle/>
          <a:p>
            <a:pPr marL="0" indent="0">
              <a:buNone/>
            </a:pPr>
            <a:r>
              <a:rPr lang="de-DE" sz="4800" dirty="0" err="1"/>
              <a:t>ng</a:t>
            </a:r>
            <a:r>
              <a:rPr lang="de-DE" sz="4800" dirty="0"/>
              <a:t> e2e</a:t>
            </a:r>
          </a:p>
          <a:p>
            <a:pPr marL="0" indent="0">
              <a:buNone/>
            </a:pPr>
            <a:endParaRPr lang="de-DE" dirty="0"/>
          </a:p>
          <a:p>
            <a:pPr marL="0" indent="0">
              <a:buNone/>
            </a:pPr>
            <a:r>
              <a:rPr lang="en-US" sz="3600" dirty="0"/>
              <a:t>Cannot find "e2e" target for the specified project.</a:t>
            </a:r>
          </a:p>
          <a:p>
            <a:pPr marL="0" indent="0">
              <a:buNone/>
            </a:pPr>
            <a:r>
              <a:rPr lang="en-US" sz="3600" dirty="0"/>
              <a:t>You can add a package that implements these capabilities.</a:t>
            </a:r>
          </a:p>
          <a:p>
            <a:pPr marL="0" indent="0">
              <a:buNone/>
            </a:pPr>
            <a:endParaRPr lang="en-US" sz="3600" dirty="0"/>
          </a:p>
          <a:p>
            <a:pPr marL="0" indent="0">
              <a:buNone/>
            </a:pPr>
            <a:r>
              <a:rPr lang="en-US" sz="3600" dirty="0"/>
              <a:t>For example:</a:t>
            </a:r>
          </a:p>
          <a:p>
            <a:pPr marL="0" indent="0">
              <a:buNone/>
            </a:pPr>
            <a:r>
              <a:rPr lang="en-US" sz="3600" dirty="0"/>
              <a:t>  Cypress: ng add @cypress/schematic</a:t>
            </a:r>
          </a:p>
          <a:p>
            <a:pPr marL="0" indent="0">
              <a:buNone/>
            </a:pPr>
            <a:r>
              <a:rPr lang="en-US" sz="3600" dirty="0"/>
              <a:t>  </a:t>
            </a:r>
            <a:r>
              <a:rPr lang="en-US" sz="3600" dirty="0" err="1"/>
              <a:t>Nightwatch</a:t>
            </a:r>
            <a:r>
              <a:rPr lang="en-US" sz="3600" dirty="0"/>
              <a:t>: ng add @nightwatch/schematics</a:t>
            </a:r>
          </a:p>
          <a:p>
            <a:pPr marL="0" indent="0">
              <a:buNone/>
            </a:pPr>
            <a:r>
              <a:rPr lang="en-US" sz="3600" dirty="0"/>
              <a:t>  </a:t>
            </a:r>
            <a:r>
              <a:rPr lang="en-US" sz="3600" dirty="0" err="1"/>
              <a:t>WebdriverIO</a:t>
            </a:r>
            <a:r>
              <a:rPr lang="en-US" sz="3600" dirty="0"/>
              <a:t>: ng add @wdio/schematics</a:t>
            </a:r>
          </a:p>
          <a:p>
            <a:pPr marL="0" indent="0">
              <a:buNone/>
            </a:pPr>
            <a:r>
              <a:rPr lang="en-US" sz="3600" dirty="0"/>
              <a:t>  Puppeteer: ng add @puppeteer/ng-schematics</a:t>
            </a:r>
          </a:p>
          <a:p>
            <a:pPr marL="0" indent="0">
              <a:buNone/>
            </a:pPr>
            <a:r>
              <a:rPr lang="en-US" sz="3600" dirty="0"/>
              <a:t>  Playwright: ng add playwright-ng-schematics</a:t>
            </a:r>
          </a:p>
          <a:p>
            <a:pPr marL="0" indent="0">
              <a:buNone/>
            </a:pPr>
            <a:endParaRPr lang="en-US" sz="3600" dirty="0"/>
          </a:p>
          <a:p>
            <a:pPr marL="0" indent="0">
              <a:buNone/>
            </a:pPr>
            <a:r>
              <a:rPr lang="en-US" sz="3600" dirty="0"/>
              <a:t>Would you like to add a package with "e2e" capabilities now? Cypress</a:t>
            </a:r>
          </a:p>
          <a:p>
            <a:pPr marL="0" indent="0">
              <a:buNone/>
            </a:pPr>
            <a:r>
              <a:rPr lang="en-US" sz="3600" dirty="0" err="1"/>
              <a:t>i</a:t>
            </a:r>
            <a:r>
              <a:rPr lang="en-US" sz="3600" dirty="0"/>
              <a:t> Using package manager: </a:t>
            </a:r>
            <a:r>
              <a:rPr lang="en-US" sz="3600" dirty="0" err="1"/>
              <a:t>npm</a:t>
            </a:r>
            <a:endParaRPr lang="en-US" sz="3600" dirty="0"/>
          </a:p>
          <a:p>
            <a:pPr marL="0" indent="0">
              <a:buNone/>
            </a:pPr>
            <a:r>
              <a:rPr lang="en-US" sz="3600" dirty="0"/>
              <a:t>…</a:t>
            </a:r>
          </a:p>
          <a:p>
            <a:pPr marL="0" indent="0">
              <a:buNone/>
            </a:pPr>
            <a:endParaRPr lang="de-DE" dirty="0"/>
          </a:p>
        </p:txBody>
      </p:sp>
    </p:spTree>
    <p:extLst>
      <p:ext uri="{BB962C8B-B14F-4D97-AF65-F5344CB8AC3E}">
        <p14:creationId xmlns:p14="http://schemas.microsoft.com/office/powerpoint/2010/main" val="1413024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21F09C-DFAA-B7A4-FD19-F577E3DB2075}"/>
              </a:ext>
            </a:extLst>
          </p:cNvPr>
          <p:cNvSpPr>
            <a:spLocks noGrp="1"/>
          </p:cNvSpPr>
          <p:nvPr>
            <p:ph type="title"/>
          </p:nvPr>
        </p:nvSpPr>
        <p:spPr/>
        <p:txBody>
          <a:bodyPr/>
          <a:lstStyle/>
          <a:p>
            <a:r>
              <a:rPr lang="de-DE" dirty="0" err="1"/>
              <a:t>Konfig</a:t>
            </a:r>
            <a:endParaRPr lang="de-DE" dirty="0"/>
          </a:p>
        </p:txBody>
      </p:sp>
      <p:pic>
        <p:nvPicPr>
          <p:cNvPr id="5" name="Inhaltsplatzhalter 4">
            <a:extLst>
              <a:ext uri="{FF2B5EF4-FFF2-40B4-BE49-F238E27FC236}">
                <a16:creationId xmlns:a16="http://schemas.microsoft.com/office/drawing/2014/main" id="{A8E39FC3-E692-F32E-39CE-5AADE5596509}"/>
              </a:ext>
            </a:extLst>
          </p:cNvPr>
          <p:cNvPicPr>
            <a:picLocks noGrp="1" noChangeAspect="1"/>
          </p:cNvPicPr>
          <p:nvPr>
            <p:ph idx="1"/>
          </p:nvPr>
        </p:nvPicPr>
        <p:blipFill>
          <a:blip r:embed="rId2"/>
          <a:stretch>
            <a:fillRect/>
          </a:stretch>
        </p:blipFill>
        <p:spPr>
          <a:xfrm>
            <a:off x="4296867" y="2139950"/>
            <a:ext cx="2429865" cy="3676650"/>
          </a:xfrm>
        </p:spPr>
      </p:pic>
    </p:spTree>
    <p:extLst>
      <p:ext uri="{BB962C8B-B14F-4D97-AF65-F5344CB8AC3E}">
        <p14:creationId xmlns:p14="http://schemas.microsoft.com/office/powerpoint/2010/main" val="2220674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53D6DE-2EE0-C029-26EF-C2562DE6822B}"/>
              </a:ext>
            </a:extLst>
          </p:cNvPr>
          <p:cNvSpPr>
            <a:spLocks noGrp="1"/>
          </p:cNvSpPr>
          <p:nvPr>
            <p:ph type="title"/>
          </p:nvPr>
        </p:nvSpPr>
        <p:spPr/>
        <p:txBody>
          <a:bodyPr/>
          <a:lstStyle/>
          <a:p>
            <a:r>
              <a:rPr lang="de-DE" dirty="0"/>
              <a:t>Bestandteile eines Tests</a:t>
            </a:r>
          </a:p>
        </p:txBody>
      </p:sp>
      <p:sp>
        <p:nvSpPr>
          <p:cNvPr id="7" name="Rectangle 3">
            <a:extLst>
              <a:ext uri="{FF2B5EF4-FFF2-40B4-BE49-F238E27FC236}">
                <a16:creationId xmlns:a16="http://schemas.microsoft.com/office/drawing/2014/main" id="{04018C55-F147-BCB8-B747-6D26E3086FB4}"/>
              </a:ext>
            </a:extLst>
          </p:cNvPr>
          <p:cNvSpPr>
            <a:spLocks noGrp="1" noChangeArrowheads="1"/>
          </p:cNvSpPr>
          <p:nvPr>
            <p:ph idx="1"/>
          </p:nvPr>
        </p:nvSpPr>
        <p:spPr bwMode="auto">
          <a:xfrm>
            <a:off x="1069848" y="2562766"/>
            <a:ext cx="7284798" cy="28315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err="1">
                <a:ln>
                  <a:noFill/>
                </a:ln>
                <a:solidFill>
                  <a:srgbClr val="830091"/>
                </a:solidFill>
                <a:effectLst/>
                <a:latin typeface="JetBrains Mono"/>
              </a:rPr>
              <a:t>describe</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'My First Test'</a:t>
            </a:r>
            <a:r>
              <a:rPr kumimoji="0" lang="de-DE" altLang="de-DE" sz="1400" b="0" i="0" u="none" strike="noStrike" cap="none" normalizeH="0" baseline="0" dirty="0">
                <a:ln>
                  <a:noFill/>
                </a:ln>
                <a:solidFill>
                  <a:srgbClr val="080808"/>
                </a:solidFill>
                <a:effectLst/>
                <a:latin typeface="JetBrains Mono"/>
              </a:rPr>
              <a:t>, () =&gt; {			</a:t>
            </a:r>
            <a:r>
              <a:rPr kumimoji="0" lang="de-DE" altLang="de-DE" sz="1400" b="0" i="0" u="none" strike="noStrike" cap="none" normalizeH="0" baseline="0" dirty="0">
                <a:ln>
                  <a:noFill/>
                </a:ln>
                <a:solidFill>
                  <a:schemeClr val="accent1">
                    <a:lumMod val="60000"/>
                    <a:lumOff val="40000"/>
                  </a:schemeClr>
                </a:solidFill>
                <a:effectLst/>
              </a:rPr>
              <a:t> Suite </a:t>
            </a:r>
            <a:r>
              <a:rPr kumimoji="0" lang="de-DE" altLang="de-DE" sz="1400" b="0" i="0" u="none" strike="noStrike" cap="none" normalizeH="0" baseline="0" dirty="0">
                <a:ln>
                  <a:noFill/>
                </a:ln>
                <a:solidFill>
                  <a:srgbClr val="080808"/>
                </a:solidFill>
                <a:effectLst/>
                <a:latin typeface="JetBrains Mono"/>
              </a:rPr>
              <a:t>	</a:t>
            </a: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830091"/>
                </a:solidFill>
                <a:effectLst/>
                <a:latin typeface="JetBrains Mono"/>
              </a:rPr>
              <a:t>it</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'Visits </a:t>
            </a:r>
            <a:r>
              <a:rPr kumimoji="0" lang="de-DE" altLang="de-DE" sz="1400" b="0" i="0" u="none" strike="noStrike" cap="none" normalizeH="0" baseline="0" dirty="0" err="1">
                <a:ln>
                  <a:noFill/>
                </a:ln>
                <a:solidFill>
                  <a:srgbClr val="067D17"/>
                </a:solidFill>
                <a:effectLst/>
                <a:latin typeface="JetBrains Mono"/>
              </a:rPr>
              <a:t>the</a:t>
            </a:r>
            <a:r>
              <a:rPr kumimoji="0" lang="de-DE" altLang="de-DE" sz="1400" b="0" i="0" u="none" strike="noStrike" cap="none" normalizeH="0" baseline="0" dirty="0">
                <a:ln>
                  <a:noFill/>
                </a:ln>
                <a:solidFill>
                  <a:srgbClr val="067D17"/>
                </a:solidFill>
                <a:effectLst/>
                <a:latin typeface="JetBrains Mono"/>
              </a:rPr>
              <a:t> initial </a:t>
            </a:r>
            <a:r>
              <a:rPr kumimoji="0" lang="de-DE" altLang="de-DE" sz="1400" b="0" i="0" u="none" strike="noStrike" cap="none" normalizeH="0" baseline="0" dirty="0" err="1">
                <a:ln>
                  <a:noFill/>
                </a:ln>
                <a:solidFill>
                  <a:srgbClr val="067D17"/>
                </a:solidFill>
                <a:effectLst/>
                <a:latin typeface="JetBrains Mono"/>
              </a:rPr>
              <a:t>project</a:t>
            </a:r>
            <a:r>
              <a:rPr kumimoji="0" lang="de-DE" altLang="de-DE" sz="1400" b="0" i="0" u="none" strike="noStrike" cap="none" normalizeH="0" baseline="0" dirty="0">
                <a:ln>
                  <a:noFill/>
                </a:ln>
                <a:solidFill>
                  <a:srgbClr val="067D17"/>
                </a:solidFill>
                <a:effectLst/>
                <a:latin typeface="JetBrains Mono"/>
              </a:rPr>
              <a:t> </a:t>
            </a:r>
            <a:r>
              <a:rPr kumimoji="0" lang="de-DE" altLang="de-DE" sz="1400" b="0" i="0" u="none" strike="noStrike" cap="none" normalizeH="0" baseline="0" dirty="0" err="1">
                <a:ln>
                  <a:noFill/>
                </a:ln>
                <a:solidFill>
                  <a:srgbClr val="067D17"/>
                </a:solidFill>
                <a:effectLst/>
                <a:latin typeface="JetBrains Mono"/>
              </a:rPr>
              <a:t>page</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a:ln>
                  <a:noFill/>
                </a:ln>
                <a:solidFill>
                  <a:srgbClr val="080808"/>
                </a:solidFill>
                <a:effectLst/>
                <a:latin typeface="JetBrains Mono"/>
              </a:rPr>
              <a:t>, () =&gt; {		</a:t>
            </a:r>
            <a:r>
              <a:rPr kumimoji="0" lang="de-DE" altLang="de-DE" sz="1400" b="0" i="0" u="none" strike="noStrike" cap="none" normalizeH="0" baseline="0" dirty="0">
                <a:ln>
                  <a:noFill/>
                </a:ln>
                <a:solidFill>
                  <a:schemeClr val="accent1">
                    <a:lumMod val="60000"/>
                    <a:lumOff val="40000"/>
                  </a:schemeClr>
                </a:solidFill>
                <a:effectLst/>
              </a:rPr>
              <a:t> </a:t>
            </a:r>
            <a:r>
              <a:rPr kumimoji="0" lang="de-DE" altLang="de-DE" sz="1400" b="0" i="0" u="none" strike="noStrike" cap="none" normalizeH="0" baseline="0" dirty="0" err="1">
                <a:ln>
                  <a:noFill/>
                </a:ln>
                <a:solidFill>
                  <a:schemeClr val="accent1">
                    <a:lumMod val="60000"/>
                    <a:lumOff val="40000"/>
                  </a:schemeClr>
                </a:solidFill>
                <a:effectLst/>
              </a:rPr>
              <a:t>Specs</a:t>
            </a:r>
            <a:endParaRPr kumimoji="0" lang="de-DE" altLang="de-DE" sz="1400" b="0" i="0" u="none" strike="noStrike" cap="none" normalizeH="0" baseline="0" dirty="0">
              <a:ln>
                <a:noFill/>
              </a:ln>
              <a:solidFill>
                <a:srgbClr val="080808"/>
              </a:solidFill>
              <a:effectLst/>
              <a:latin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830091"/>
                </a:solidFill>
                <a:effectLst/>
                <a:latin typeface="JetBrains Mono"/>
              </a:rPr>
              <a:t>cy</a:t>
            </a:r>
            <a:r>
              <a:rPr kumimoji="0" lang="de-DE" altLang="de-DE" sz="1400" b="0" i="0" u="none" strike="noStrike" cap="none" normalizeH="0" baseline="0" dirty="0" err="1">
                <a:ln>
                  <a:noFill/>
                </a:ln>
                <a:solidFill>
                  <a:srgbClr val="080808"/>
                </a:solidFill>
                <a:effectLst/>
                <a:latin typeface="JetBrains Mono"/>
              </a:rPr>
              <a:t>.</a:t>
            </a:r>
            <a:r>
              <a:rPr kumimoji="0" lang="de-DE" altLang="de-DE" sz="1400" b="0" i="0" u="none" strike="noStrike" cap="none" normalizeH="0" baseline="0" dirty="0" err="1">
                <a:ln>
                  <a:noFill/>
                </a:ln>
                <a:solidFill>
                  <a:srgbClr val="7A7A43"/>
                </a:solidFill>
                <a:effectLst/>
                <a:latin typeface="JetBrains Mono"/>
              </a:rPr>
              <a:t>visit</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lang="de-DE" altLang="de-DE" sz="1400" dirty="0">
                <a:solidFill>
                  <a:srgbClr val="080808"/>
                </a:solidFill>
                <a:latin typeface="JetBrains Mono"/>
              </a:rPr>
              <a:t>    </a:t>
            </a:r>
            <a:r>
              <a:rPr kumimoji="0" lang="de-DE" altLang="de-DE" sz="1400" b="0" i="0" u="none" strike="noStrike" cap="none" normalizeH="0" baseline="0" dirty="0" err="1">
                <a:ln>
                  <a:noFill/>
                </a:ln>
                <a:solidFill>
                  <a:srgbClr val="830091"/>
                </a:solidFill>
                <a:effectLst/>
                <a:latin typeface="JetBrains Mono"/>
              </a:rPr>
              <a:t>cy</a:t>
            </a:r>
            <a:r>
              <a:rPr kumimoji="0" lang="de-DE" altLang="de-DE" sz="1400" b="0" i="0" u="none" strike="noStrike" cap="none" normalizeH="0" baseline="0" dirty="0" err="1">
                <a:ln>
                  <a:noFill/>
                </a:ln>
                <a:solidFill>
                  <a:srgbClr val="080808"/>
                </a:solidFill>
                <a:effectLst/>
                <a:latin typeface="JetBrains Mono"/>
              </a:rPr>
              <a:t>.</a:t>
            </a:r>
            <a:r>
              <a:rPr kumimoji="0" lang="de-DE" altLang="de-DE" sz="1400" b="0" i="0" u="none" strike="noStrike" cap="none" normalizeH="0" baseline="0" dirty="0" err="1">
                <a:ln>
                  <a:noFill/>
                </a:ln>
                <a:solidFill>
                  <a:srgbClr val="7A7A43"/>
                </a:solidFill>
                <a:effectLst/>
                <a:latin typeface="JetBrains Mono"/>
              </a:rPr>
              <a:t>pause</a:t>
            </a:r>
            <a:r>
              <a:rPr kumimoji="0" lang="de-DE" altLang="de-DE" sz="1400" b="0" i="0" u="none" strike="noStrike" cap="none" normalizeH="0" baseline="0" dirty="0">
                <a:ln>
                  <a:noFill/>
                </a:ln>
                <a:solidFill>
                  <a:srgbClr val="080808"/>
                </a:solidFill>
                <a:effectLst/>
                <a:latin typeface="JetBrains Mono"/>
              </a:rPr>
              <a:t>();</a:t>
            </a:r>
          </a:p>
          <a:p>
            <a:pPr marL="0" indent="0" eaLnBrk="0" fontAlgn="base" hangingPunct="0">
              <a:lnSpc>
                <a:spcPct val="100000"/>
              </a:lnSpc>
              <a:spcBef>
                <a:spcPct val="0"/>
              </a:spcBef>
              <a:spcAft>
                <a:spcPct val="0"/>
              </a:spcAft>
              <a:buNone/>
            </a:pPr>
            <a:r>
              <a:rPr lang="de-DE" altLang="de-DE" sz="1400" dirty="0">
                <a:solidFill>
                  <a:srgbClr val="830091"/>
                </a:solidFill>
                <a:latin typeface="Arial Unicode MS"/>
              </a:rPr>
              <a:t>   </a:t>
            </a:r>
            <a:r>
              <a:rPr kumimoji="0" lang="de-DE" altLang="de-DE" sz="1400" b="0" i="0" u="none" strike="noStrike" cap="none" normalizeH="0" baseline="0" dirty="0" err="1">
                <a:ln>
                  <a:noFill/>
                </a:ln>
                <a:solidFill>
                  <a:srgbClr val="830091"/>
                </a:solidFill>
                <a:effectLst/>
                <a:latin typeface="Arial Unicode MS"/>
              </a:rPr>
              <a:t>cy</a:t>
            </a:r>
            <a:r>
              <a:rPr kumimoji="0" lang="de-DE" altLang="de-DE" sz="1400" b="0" i="0" u="none" strike="noStrike" cap="none" normalizeH="0" baseline="0" dirty="0" err="1">
                <a:ln>
                  <a:noFill/>
                </a:ln>
                <a:solidFill>
                  <a:srgbClr val="080808"/>
                </a:solidFill>
                <a:effectLst/>
                <a:latin typeface="Arial Unicode MS"/>
              </a:rPr>
              <a:t>.</a:t>
            </a:r>
            <a:r>
              <a:rPr kumimoji="0" lang="de-DE" altLang="de-DE" sz="1400" b="0" i="0" u="none" strike="noStrike" cap="none" normalizeH="0" baseline="0" dirty="0" err="1">
                <a:ln>
                  <a:noFill/>
                </a:ln>
                <a:solidFill>
                  <a:srgbClr val="7A7A43"/>
                </a:solidFill>
                <a:effectLst/>
                <a:latin typeface="Arial Unicode MS"/>
              </a:rPr>
              <a:t>get</a:t>
            </a:r>
            <a:r>
              <a:rPr kumimoji="0" lang="de-DE" altLang="de-DE" sz="1400" b="0" i="0" u="none" strike="noStrike" cap="none" normalizeH="0" baseline="0" dirty="0">
                <a:ln>
                  <a:noFill/>
                </a:ln>
                <a:solidFill>
                  <a:srgbClr val="080808"/>
                </a:solidFill>
                <a:effectLst/>
                <a:latin typeface="Arial Unicode MS"/>
              </a:rPr>
              <a:t>(</a:t>
            </a:r>
            <a:r>
              <a:rPr kumimoji="0" lang="de-DE" altLang="de-DE" sz="1400" b="0" i="0" u="none" strike="noStrike" cap="none" normalizeH="0" baseline="0" dirty="0">
                <a:ln>
                  <a:noFill/>
                </a:ln>
                <a:solidFill>
                  <a:srgbClr val="067D17"/>
                </a:solidFill>
                <a:effectLst/>
                <a:latin typeface="Arial Unicode MS"/>
              </a:rPr>
              <a:t>"li"</a:t>
            </a:r>
            <a:r>
              <a:rPr kumimoji="0" lang="de-DE" altLang="de-DE" sz="1400" b="0" i="0" u="none" strike="noStrike" cap="none" normalizeH="0" baseline="0" dirty="0">
                <a:ln>
                  <a:noFill/>
                </a:ln>
                <a:solidFill>
                  <a:srgbClr val="080808"/>
                </a:solidFill>
                <a:effectLst/>
                <a:latin typeface="Arial Unicode MS"/>
              </a:rPr>
              <a:t>).</a:t>
            </a:r>
            <a:r>
              <a:rPr lang="de-DE" altLang="de-DE" sz="1400" dirty="0" err="1">
                <a:solidFill>
                  <a:srgbClr val="7A7A43"/>
                </a:solidFill>
                <a:latin typeface="Arial Unicode MS"/>
              </a:rPr>
              <a:t>first</a:t>
            </a:r>
            <a:r>
              <a:rPr kumimoji="0" lang="de-DE" altLang="de-DE" sz="1400" b="0" i="0" u="none" strike="noStrike" cap="none" normalizeH="0" baseline="0" dirty="0">
                <a:ln>
                  <a:noFill/>
                </a:ln>
                <a:solidFill>
                  <a:srgbClr val="080808"/>
                </a:solidFill>
                <a:effectLst/>
                <a:latin typeface="Arial Unicode MS"/>
              </a:rPr>
              <a:t>().</a:t>
            </a:r>
            <a:r>
              <a:rPr kumimoji="0" lang="de-DE" altLang="de-DE" sz="1400" b="0" i="0" u="none" strike="noStrike" cap="none" normalizeH="0" baseline="0" dirty="0" err="1">
                <a:ln>
                  <a:noFill/>
                </a:ln>
                <a:solidFill>
                  <a:srgbClr val="871094"/>
                </a:solidFill>
                <a:effectLst/>
                <a:latin typeface="Arial Unicode MS"/>
              </a:rPr>
              <a:t>should</a:t>
            </a:r>
            <a:r>
              <a:rPr kumimoji="0" lang="de-DE" altLang="de-DE" sz="1400" b="0" i="0" u="none" strike="noStrike" cap="none" normalizeH="0" baseline="0" dirty="0">
                <a:ln>
                  <a:noFill/>
                </a:ln>
                <a:solidFill>
                  <a:srgbClr val="080808"/>
                </a:solidFill>
                <a:effectLst/>
                <a:latin typeface="Arial Unicode MS"/>
              </a:rPr>
              <a:t>(</a:t>
            </a:r>
            <a:r>
              <a:rPr kumimoji="0" lang="de-DE" altLang="de-DE" sz="1400" b="0" i="0" u="none" strike="noStrike" cap="none" normalizeH="0" baseline="0" dirty="0">
                <a:ln>
                  <a:noFill/>
                </a:ln>
                <a:solidFill>
                  <a:srgbClr val="067D17"/>
                </a:solidFill>
                <a:effectLst/>
                <a:latin typeface="Arial Unicode MS"/>
              </a:rPr>
              <a:t>"have.</a:t>
            </a:r>
            <a:r>
              <a:rPr kumimoji="0" lang="de-DE" altLang="de-DE" sz="1400" b="0" i="0" u="none" strike="noStrike" cap="none" normalizeH="0" baseline="0" dirty="0" err="1">
                <a:ln>
                  <a:noFill/>
                </a:ln>
                <a:solidFill>
                  <a:srgbClr val="067D17"/>
                </a:solidFill>
                <a:effectLst/>
                <a:latin typeface="Arial Unicode MS"/>
              </a:rPr>
              <a:t>class</a:t>
            </a:r>
            <a:r>
              <a:rPr kumimoji="0" lang="de-DE" altLang="de-DE" sz="1400" b="0" i="0" u="none" strike="noStrike" cap="none" normalizeH="0" baseline="0" dirty="0">
                <a:ln>
                  <a:noFill/>
                </a:ln>
                <a:solidFill>
                  <a:srgbClr val="067D17"/>
                </a:solidFill>
                <a:effectLst/>
                <a:latin typeface="Arial Unicode MS"/>
              </a:rPr>
              <a:t>","</a:t>
            </a:r>
            <a:r>
              <a:rPr kumimoji="0" lang="de-DE" altLang="de-DE" sz="1400" b="0" i="0" u="none" strike="noStrike" cap="none" normalizeH="0" baseline="0" dirty="0" err="1">
                <a:ln>
                  <a:noFill/>
                </a:ln>
                <a:solidFill>
                  <a:srgbClr val="067D17"/>
                </a:solidFill>
                <a:effectLst/>
                <a:latin typeface="Arial Unicode MS"/>
              </a:rPr>
              <a:t>selected</a:t>
            </a:r>
            <a:r>
              <a:rPr kumimoji="0" lang="de-DE" altLang="de-DE" sz="1400" b="0" i="0" u="none" strike="noStrike" cap="none" normalizeH="0" baseline="0" dirty="0">
                <a:ln>
                  <a:noFill/>
                </a:ln>
                <a:solidFill>
                  <a:srgbClr val="067D17"/>
                </a:solidFill>
                <a:effectLst/>
                <a:latin typeface="Arial Unicode MS"/>
              </a:rPr>
              <a:t>"</a:t>
            </a:r>
            <a:r>
              <a:rPr kumimoji="0" lang="de-DE" altLang="de-DE" sz="1400" b="0" i="0" u="none" strike="noStrike" cap="none" normalizeH="0" baseline="0" dirty="0">
                <a:ln>
                  <a:noFill/>
                </a:ln>
                <a:solidFill>
                  <a:srgbClr val="080808"/>
                </a:solidFill>
                <a:effectLst/>
                <a:latin typeface="Arial Unicode MS"/>
              </a:rPr>
              <a:t>);	</a:t>
            </a:r>
            <a:r>
              <a:rPr kumimoji="0" lang="de-DE" altLang="de-DE" sz="1400" b="0" i="0" u="none" strike="noStrike" cap="none" normalizeH="0" baseline="0" dirty="0">
                <a:ln>
                  <a:noFill/>
                </a:ln>
                <a:solidFill>
                  <a:schemeClr val="accent1">
                    <a:lumMod val="60000"/>
                    <a:lumOff val="40000"/>
                  </a:schemeClr>
                </a:solidFill>
                <a:effectLst/>
              </a:rPr>
              <a:t> </a:t>
            </a:r>
            <a:r>
              <a:rPr kumimoji="0" lang="de-DE" altLang="de-DE" sz="1400" b="0" i="0" u="none" strike="noStrike" cap="none" normalizeH="0" baseline="0" dirty="0" err="1">
                <a:ln>
                  <a:noFill/>
                </a:ln>
                <a:solidFill>
                  <a:schemeClr val="accent1">
                    <a:lumMod val="60000"/>
                    <a:lumOff val="40000"/>
                  </a:schemeClr>
                </a:solidFill>
                <a:effectLst/>
              </a:rPr>
              <a:t>Matcher</a:t>
            </a:r>
            <a:r>
              <a:rPr kumimoji="0" lang="de-DE" altLang="de-DE" sz="1400" b="0" i="0" u="none" strike="noStrike" cap="none" normalizeH="0" baseline="0" dirty="0">
                <a:ln>
                  <a:noFill/>
                </a:ln>
                <a:solidFill>
                  <a:schemeClr val="accent1">
                    <a:lumMod val="60000"/>
                    <a:lumOff val="40000"/>
                  </a:schemeClr>
                </a:solidFill>
                <a:effectLst/>
              </a:rPr>
              <a:t>, </a:t>
            </a:r>
            <a:r>
              <a:rPr kumimoji="0" lang="de-DE" altLang="de-DE" sz="1400" b="0" i="0" u="none" strike="noStrike" cap="none" normalizeH="0" baseline="0" dirty="0" err="1">
                <a:ln>
                  <a:noFill/>
                </a:ln>
                <a:solidFill>
                  <a:schemeClr val="accent1">
                    <a:lumMod val="60000"/>
                    <a:lumOff val="40000"/>
                  </a:schemeClr>
                </a:solidFill>
                <a:effectLst/>
              </a:rPr>
              <a:t>Expectation</a:t>
            </a:r>
            <a:endParaRPr kumimoji="0" lang="de-DE" altLang="de-DE" sz="1400" b="0" i="0" u="none" strike="noStrike" cap="none" normalizeH="0" baseline="0" dirty="0">
              <a:ln>
                <a:noFill/>
              </a:ln>
              <a:solidFill>
                <a:srgbClr val="080808"/>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endParaRPr kumimoji="0" lang="de-DE" altLang="de-DE"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4164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1">
            <a:extLst>
              <a:ext uri="{FF2B5EF4-FFF2-40B4-BE49-F238E27FC236}">
                <a16:creationId xmlns:a16="http://schemas.microsoft.com/office/drawing/2014/main" id="{8C4086F5-5AAC-F692-73E3-87A47A652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FFE9213-D3A8-7A45-6C21-894000EE6FFD}"/>
              </a:ext>
            </a:extLst>
          </p:cNvPr>
          <p:cNvSpPr>
            <a:spLocks noGrp="1"/>
          </p:cNvSpPr>
          <p:nvPr>
            <p:ph type="title"/>
          </p:nvPr>
        </p:nvSpPr>
        <p:spPr>
          <a:xfrm>
            <a:off x="1066800" y="4048691"/>
            <a:ext cx="5029200" cy="1962150"/>
          </a:xfrm>
        </p:spPr>
        <p:txBody>
          <a:bodyPr anchor="ctr">
            <a:normAutofit/>
          </a:bodyPr>
          <a:lstStyle/>
          <a:p>
            <a:r>
              <a:rPr lang="de-DE" sz="4800"/>
              <a:t>Übung 2</a:t>
            </a:r>
          </a:p>
        </p:txBody>
      </p:sp>
      <p:pic>
        <p:nvPicPr>
          <p:cNvPr id="7" name="Grafik 6">
            <a:extLst>
              <a:ext uri="{FF2B5EF4-FFF2-40B4-BE49-F238E27FC236}">
                <a16:creationId xmlns:a16="http://schemas.microsoft.com/office/drawing/2014/main" id="{73E3BBB8-447C-ED65-99E3-494DBE235C4F}"/>
              </a:ext>
            </a:extLst>
          </p:cNvPr>
          <p:cNvPicPr>
            <a:picLocks noChangeAspect="1"/>
          </p:cNvPicPr>
          <p:nvPr/>
        </p:nvPicPr>
        <p:blipFill>
          <a:blip r:embed="rId2"/>
          <a:srcRect l="4678" r="12150" b="-1"/>
          <a:stretch/>
        </p:blipFill>
        <p:spPr>
          <a:xfrm>
            <a:off x="-2380" y="-17766"/>
            <a:ext cx="6394567" cy="3479045"/>
          </a:xfrm>
          <a:custGeom>
            <a:avLst/>
            <a:gdLst/>
            <a:ahLst/>
            <a:cxnLst/>
            <a:rect l="l" t="t" r="r" b="b"/>
            <a:pathLst>
              <a:path w="6394567" h="3479045">
                <a:moveTo>
                  <a:pt x="0" y="0"/>
                </a:moveTo>
                <a:lnTo>
                  <a:pt x="6394567" y="0"/>
                </a:lnTo>
                <a:lnTo>
                  <a:pt x="2477593" y="3073542"/>
                </a:lnTo>
                <a:lnTo>
                  <a:pt x="2435111" y="3105189"/>
                </a:lnTo>
                <a:cubicBezTo>
                  <a:pt x="2103481" y="3339382"/>
                  <a:pt x="1723470" y="3461518"/>
                  <a:pt x="1342352" y="3477290"/>
                </a:cubicBezTo>
                <a:cubicBezTo>
                  <a:pt x="1302651" y="3478932"/>
                  <a:pt x="1262940" y="3479421"/>
                  <a:pt x="1223270" y="3478762"/>
                </a:cubicBezTo>
                <a:cubicBezTo>
                  <a:pt x="786893" y="3471515"/>
                  <a:pt x="355525" y="3325396"/>
                  <a:pt x="277" y="3048974"/>
                </a:cubicBezTo>
                <a:lnTo>
                  <a:pt x="0" y="3048730"/>
                </a:lnTo>
                <a:close/>
              </a:path>
            </a:pathLst>
          </a:custGeom>
        </p:spPr>
      </p:pic>
      <p:sp>
        <p:nvSpPr>
          <p:cNvPr id="3" name="Inhaltsplatzhalter 2">
            <a:extLst>
              <a:ext uri="{FF2B5EF4-FFF2-40B4-BE49-F238E27FC236}">
                <a16:creationId xmlns:a16="http://schemas.microsoft.com/office/drawing/2014/main" id="{B187B7C2-A3CE-0CC0-DC30-7D17A3FD8A48}"/>
              </a:ext>
            </a:extLst>
          </p:cNvPr>
          <p:cNvSpPr>
            <a:spLocks noGrp="1"/>
          </p:cNvSpPr>
          <p:nvPr>
            <p:ph idx="1"/>
          </p:nvPr>
        </p:nvSpPr>
        <p:spPr>
          <a:xfrm>
            <a:off x="7239000" y="1143000"/>
            <a:ext cx="3924300" cy="4572000"/>
          </a:xfrm>
        </p:spPr>
        <p:txBody>
          <a:bodyPr>
            <a:normAutofit/>
          </a:bodyPr>
          <a:lstStyle/>
          <a:p>
            <a:pPr>
              <a:lnSpc>
                <a:spcPct val="110000"/>
              </a:lnSpc>
            </a:pPr>
            <a:r>
              <a:rPr lang="de-DE" dirty="0" sz="1800"/>
              <a:t>Installieren sie Cypress mittels </a:t>
            </a:r>
            <a:r>
              <a:rPr lang="de-DE" dirty="0" err="1" sz="1800"/>
              <a:t>ng</a:t>
            </a:r>
            <a:r>
              <a:rPr lang="de-DE" dirty="0" sz="1800"/>
              <a:t> e2e</a:t>
            </a:r>
          </a:p>
          <a:p>
            <a:pPr>
              <a:lnSpc>
                <a:spcPct val="110000"/>
              </a:lnSpc>
            </a:pPr>
            <a:r>
              <a:rPr lang="de-DE" dirty="0" sz="1800"/>
              <a:t>Passen sie die generierte Datei </a:t>
            </a:r>
            <a:r>
              <a:rPr lang="de-DE" dirty="0" err="1" sz="1800"/>
              <a:t>spec.cy.ts</a:t>
            </a:r>
            <a:endParaRPr lang="de-DE" dirty="0" sz="1800"/>
          </a:p>
          <a:p>
            <a:pPr>
              <a:lnSpc>
                <a:spcPct val="110000"/>
              </a:lnSpc>
            </a:pPr>
            <a:r>
              <a:rPr lang="de-DE" dirty="0" sz="1800"/>
              <a:t>Ändern sie</a:t>
            </a:r>
          </a:p>
          <a:p>
            <a:pPr lvl="1">
              <a:lnSpc>
                <a:spcPct val="110000"/>
              </a:lnSpc>
            </a:pPr>
            <a:r>
              <a:rPr kumimoji="0" lang="de-DE" altLang="de-DE" b="0" i="0" u="none" strike="noStrike" cap="none" normalizeH="0" baseline="0" dirty="0" err="1" sz="1800">
                <a:ln>
                  <a:noFill/>
                </a:ln>
                <a:effectLst/>
                <a:latin typeface="Arial Unicode MS"/>
              </a:rPr>
              <a:t>cy.contains</a:t>
            </a:r>
            <a:r>
              <a:rPr kumimoji="0" lang="de-DE" altLang="de-DE" b="0" i="0" u="none" strike="noStrike" cap="none" normalizeH="0" baseline="0" dirty="0" sz="1800">
                <a:ln>
                  <a:noFill/>
                </a:ln>
                <a:effectLst/>
                <a:latin typeface="Arial Unicode MS"/>
              </a:rPr>
              <a:t>('</a:t>
            </a:r>
            <a:r>
              <a:rPr kumimoji="0" lang="de-DE" altLang="de-DE" b="0" i="0" u="none" strike="noStrike" cap="none" normalizeH="0" baseline="0" dirty="0" err="1" sz="1800">
                <a:ln>
                  <a:noFill/>
                </a:ln>
                <a:effectLst/>
                <a:latin typeface="Arial Unicode MS"/>
              </a:rPr>
              <a:t>app</a:t>
            </a:r>
            <a:r>
              <a:rPr kumimoji="0" lang="de-DE" altLang="de-DE" b="0" i="0" u="none" strike="noStrike" cap="none" normalizeH="0" baseline="0" dirty="0" sz="1800">
                <a:ln>
                  <a:noFill/>
                </a:ln>
                <a:effectLst/>
                <a:latin typeface="Arial Unicode MS"/>
              </a:rPr>
              <a:t> </a:t>
            </a:r>
            <a:r>
              <a:rPr kumimoji="0" lang="de-DE" altLang="de-DE" b="0" i="0" u="none" strike="noStrike" cap="none" normalizeH="0" baseline="0" dirty="0" err="1" sz="1800">
                <a:ln>
                  <a:noFill/>
                </a:ln>
                <a:effectLst/>
                <a:latin typeface="Arial Unicode MS"/>
              </a:rPr>
              <a:t>ís</a:t>
            </a:r>
            <a:r>
              <a:rPr kumimoji="0" lang="de-DE" altLang="de-DE" b="0" i="0" u="none" strike="noStrike" cap="none" normalizeH="0" baseline="0" dirty="0" sz="1800">
                <a:ln>
                  <a:noFill/>
                </a:ln>
                <a:effectLst/>
                <a:latin typeface="Arial Unicode MS"/>
              </a:rPr>
              <a:t> </a:t>
            </a:r>
            <a:r>
              <a:rPr kumimoji="0" lang="de-DE" altLang="de-DE" b="0" i="0" u="none" strike="noStrike" cap="none" normalizeH="0" baseline="0" dirty="0" err="1" sz="1800">
                <a:ln>
                  <a:noFill/>
                </a:ln>
                <a:effectLst/>
                <a:latin typeface="Arial Unicode MS"/>
              </a:rPr>
              <a:t>running</a:t>
            </a:r>
            <a:r>
              <a:rPr kumimoji="0" lang="de-DE" altLang="de-DE" b="0" i="0" u="none" strike="noStrike" cap="none" normalizeH="0" baseline="0" dirty="0" sz="1800">
                <a:ln>
                  <a:noFill/>
                </a:ln>
                <a:effectLst/>
                <a:latin typeface="Arial Unicode MS"/>
              </a:rPr>
              <a:t>‘) in</a:t>
            </a:r>
            <a:endParaRPr lang="de-DE" dirty="0" sz="1800"/>
          </a:p>
          <a:p>
            <a:pPr lvl="1">
              <a:lnSpc>
                <a:spcPct val="110000"/>
              </a:lnSpc>
            </a:pPr>
            <a:r>
              <a:rPr kumimoji="0" lang="de-DE" altLang="de-DE" b="0" i="0" u="none" strike="noStrike" cap="none" normalizeH="0" baseline="0" dirty="0" err="1" sz="1800">
                <a:ln>
                  <a:noFill/>
                </a:ln>
                <a:effectLst/>
                <a:latin typeface="Arial Unicode MS"/>
              </a:rPr>
              <a:t>cy.contains('Invoice Manager App') ab</a:t>
            </a:r>
          </a:p>
          <a:p>
            <a:pPr>
              <a:lnSpc>
                <a:spcPct val="110000"/>
              </a:lnSpc>
            </a:pPr>
            <a:endParaRPr lang="de-DE" altLang="de-DE" dirty="0" sz="1800"/>
          </a:p>
          <a:p>
            <a:pPr>
              <a:lnSpc>
                <a:spcPct val="110000"/>
              </a:lnSpc>
            </a:pPr>
            <a:r>
              <a:rPr lang="de-DE" altLang="de-DE" dirty="0" sz="1800"/>
              <a:t>Starten sie </a:t>
            </a:r>
            <a:r>
              <a:rPr lang="de-DE" altLang="de-DE" dirty="0" err="1" sz="1800"/>
              <a:t>ng</a:t>
            </a:r>
            <a:r>
              <a:rPr lang="de-DE" altLang="de-DE" dirty="0" sz="1800"/>
              <a:t> e2e und navigiere zu </a:t>
            </a:r>
          </a:p>
          <a:p>
            <a:pPr lvl="1">
              <a:lnSpc>
                <a:spcPct val="110000"/>
              </a:lnSpc>
            </a:pPr>
            <a:r>
              <a:rPr lang="de-DE" altLang="de-DE" dirty="0" err="1" sz="1800"/>
              <a:t>spec.cy.ts</a:t>
            </a:r>
            <a:endParaRPr lang="de-DE" altLang="de-DE" dirty="0" sz="1800"/>
          </a:p>
          <a:p>
            <a:pPr>
              <a:lnSpc>
                <a:spcPct val="110000"/>
              </a:lnSpc>
            </a:pPr>
            <a:endParaRPr lang="de-DE" altLang="de-DE" dirty="0" sz="1800"/>
          </a:p>
          <a:p>
            <a:pPr lvl="1">
              <a:lnSpc>
                <a:spcPct val="110000"/>
              </a:lnSpc>
            </a:pPr>
            <a:endParaRPr lang="de-DE" dirty="0" sz="1800"/>
          </a:p>
          <a:p>
            <a:pPr>
              <a:lnSpc>
                <a:spcPct val="110000"/>
              </a:lnSpc>
            </a:pPr>
            <a:endParaRPr lang="de-DE" dirty="0" sz="1800"/>
          </a:p>
        </p:txBody>
      </p:sp>
    </p:spTree>
    <p:extLst>
      <p:ext uri="{BB962C8B-B14F-4D97-AF65-F5344CB8AC3E}">
        <p14:creationId xmlns:p14="http://schemas.microsoft.com/office/powerpoint/2010/main" val="3737646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C193F9-B8B3-94DA-26FA-81D60047CC3C}"/>
              </a:ext>
            </a:extLst>
          </p:cNvPr>
          <p:cNvSpPr>
            <a:spLocks noGrp="1"/>
          </p:cNvSpPr>
          <p:nvPr>
            <p:ph type="title"/>
          </p:nvPr>
        </p:nvSpPr>
        <p:spPr/>
        <p:txBody>
          <a:bodyPr/>
          <a:lstStyle/>
          <a:p>
            <a:r>
              <a:rPr lang="de-DE" dirty="0"/>
              <a:t>Cypress Elements – DSL </a:t>
            </a:r>
          </a:p>
        </p:txBody>
      </p:sp>
      <p:sp>
        <p:nvSpPr>
          <p:cNvPr id="3" name="Inhaltsplatzhalter 2">
            <a:extLst>
              <a:ext uri="{FF2B5EF4-FFF2-40B4-BE49-F238E27FC236}">
                <a16:creationId xmlns:a16="http://schemas.microsoft.com/office/drawing/2014/main" id="{1A5AB6C8-F807-AFD7-84B9-55029B80DDF3}"/>
              </a:ext>
            </a:extLst>
          </p:cNvPr>
          <p:cNvSpPr>
            <a:spLocks noGrp="1"/>
          </p:cNvSpPr>
          <p:nvPr>
            <p:ph idx="1"/>
          </p:nvPr>
        </p:nvSpPr>
        <p:spPr/>
        <p:txBody>
          <a:bodyPr/>
          <a:lstStyle/>
          <a:p>
            <a:pPr algn="l">
              <a:buFont typeface="Arial" panose="020B0604020202020204" pitchFamily="34" charset="0"/>
              <a:buChar char="•"/>
            </a:pPr>
            <a:r>
              <a:rPr lang="en-US" b="0" i="0" dirty="0" err="1">
                <a:solidFill>
                  <a:srgbClr val="333333"/>
                </a:solidFill>
                <a:effectLst/>
                <a:latin typeface="source-sans-pro"/>
              </a:rPr>
              <a:t>Elemente</a:t>
            </a:r>
            <a:r>
              <a:rPr lang="en-US" b="0" i="0" dirty="0">
                <a:solidFill>
                  <a:srgbClr val="333333"/>
                </a:solidFill>
                <a:effectLst/>
                <a:latin typeface="source-sans-pro"/>
              </a:rPr>
              <a:t> </a:t>
            </a:r>
            <a:r>
              <a:rPr lang="en-US" b="0" i="0" dirty="0" err="1">
                <a:solidFill>
                  <a:srgbClr val="333333"/>
                </a:solidFill>
                <a:effectLst/>
                <a:latin typeface="source-sans-pro"/>
              </a:rPr>
              <a:t>definieren</a:t>
            </a:r>
            <a:r>
              <a:rPr lang="en-US" b="0" i="0" dirty="0">
                <a:solidFill>
                  <a:srgbClr val="333333"/>
                </a:solidFill>
                <a:effectLst/>
                <a:latin typeface="source-sans-pro"/>
              </a:rPr>
              <a:t> die structure und </a:t>
            </a:r>
            <a:r>
              <a:rPr lang="en-US" b="0" i="0" dirty="0" err="1">
                <a:solidFill>
                  <a:srgbClr val="333333"/>
                </a:solidFill>
                <a:effectLst/>
                <a:latin typeface="source-sans-pro"/>
              </a:rPr>
              <a:t>Verhalten</a:t>
            </a:r>
            <a:r>
              <a:rPr lang="en-US" b="0" i="0" dirty="0">
                <a:solidFill>
                  <a:srgbClr val="333333"/>
                </a:solidFill>
                <a:effectLst/>
                <a:latin typeface="source-sans-pro"/>
              </a:rPr>
              <a:t> </a:t>
            </a:r>
            <a:r>
              <a:rPr lang="en-US" b="0" i="0" dirty="0" err="1">
                <a:solidFill>
                  <a:srgbClr val="333333"/>
                </a:solidFill>
                <a:effectLst/>
                <a:latin typeface="source-sans-pro"/>
              </a:rPr>
              <a:t>einer</a:t>
            </a:r>
            <a:r>
              <a:rPr lang="en-US" b="0" i="0" dirty="0">
                <a:solidFill>
                  <a:srgbClr val="333333"/>
                </a:solidFill>
                <a:effectLst/>
                <a:latin typeface="source-sans-pro"/>
              </a:rPr>
              <a:t> </a:t>
            </a:r>
            <a:r>
              <a:rPr lang="en-US" b="0" i="0" dirty="0" err="1">
                <a:solidFill>
                  <a:srgbClr val="333333"/>
                </a:solidFill>
                <a:effectLst/>
                <a:latin typeface="source-sans-pro"/>
              </a:rPr>
              <a:t>Seite</a:t>
            </a:r>
            <a:r>
              <a:rPr lang="en-US" b="0" i="0" dirty="0">
                <a:solidFill>
                  <a:srgbClr val="333333"/>
                </a:solidFill>
                <a:effectLst/>
                <a:latin typeface="source-sans-pro"/>
              </a:rPr>
              <a:t>. </a:t>
            </a:r>
          </a:p>
          <a:p>
            <a:pPr algn="l">
              <a:buFont typeface="Arial" panose="020B0604020202020204" pitchFamily="34" charset="0"/>
              <a:buChar char="•"/>
            </a:pPr>
            <a:r>
              <a:rPr lang="en-US" b="0" i="0" dirty="0" err="1">
                <a:solidFill>
                  <a:srgbClr val="333333"/>
                </a:solidFill>
                <a:effectLst/>
                <a:latin typeface="source-sans-pro"/>
              </a:rPr>
              <a:t>Durch</a:t>
            </a:r>
            <a:r>
              <a:rPr lang="en-US" b="0" i="0" dirty="0">
                <a:solidFill>
                  <a:srgbClr val="333333"/>
                </a:solidFill>
                <a:effectLst/>
                <a:latin typeface="source-sans-pro"/>
              </a:rPr>
              <a:t> das </a:t>
            </a:r>
            <a:r>
              <a:rPr lang="en-US" b="0" i="0" dirty="0" err="1">
                <a:solidFill>
                  <a:srgbClr val="333333"/>
                </a:solidFill>
                <a:effectLst/>
                <a:latin typeface="source-sans-pro"/>
              </a:rPr>
              <a:t>selektieren</a:t>
            </a:r>
            <a:r>
              <a:rPr lang="en-US" b="0" i="0" dirty="0">
                <a:solidFill>
                  <a:srgbClr val="333333"/>
                </a:solidFill>
                <a:effectLst/>
                <a:latin typeface="source-sans-pro"/>
              </a:rPr>
              <a:t> und </a:t>
            </a:r>
            <a:r>
              <a:rPr lang="en-US" b="0" i="0" dirty="0" err="1">
                <a:solidFill>
                  <a:srgbClr val="333333"/>
                </a:solidFill>
                <a:effectLst/>
                <a:latin typeface="source-sans-pro"/>
              </a:rPr>
              <a:t>interagieren</a:t>
            </a:r>
            <a:r>
              <a:rPr lang="en-US" b="0" i="0" dirty="0">
                <a:solidFill>
                  <a:srgbClr val="333333"/>
                </a:solidFill>
                <a:effectLst/>
                <a:latin typeface="source-sans-pro"/>
              </a:rPr>
              <a:t> </a:t>
            </a:r>
            <a:r>
              <a:rPr lang="en-US" b="0" i="0" dirty="0" err="1">
                <a:solidFill>
                  <a:srgbClr val="333333"/>
                </a:solidFill>
                <a:effectLst/>
                <a:latin typeface="source-sans-pro"/>
              </a:rPr>
              <a:t>mit</a:t>
            </a:r>
            <a:r>
              <a:rPr lang="en-US" b="0" i="0" dirty="0">
                <a:solidFill>
                  <a:srgbClr val="333333"/>
                </a:solidFill>
                <a:effectLst/>
                <a:latin typeface="source-sans-pro"/>
              </a:rPr>
              <a:t> </a:t>
            </a:r>
            <a:r>
              <a:rPr lang="en-US" b="0" i="0" dirty="0" err="1">
                <a:solidFill>
                  <a:srgbClr val="333333"/>
                </a:solidFill>
                <a:effectLst/>
                <a:latin typeface="source-sans-pro"/>
              </a:rPr>
              <a:t>diesen</a:t>
            </a:r>
            <a:r>
              <a:rPr lang="en-US" b="0" i="0" dirty="0">
                <a:solidFill>
                  <a:srgbClr val="333333"/>
                </a:solidFill>
                <a:effectLst/>
                <a:latin typeface="source-sans-pro"/>
              </a:rPr>
              <a:t>, </a:t>
            </a:r>
            <a:r>
              <a:rPr lang="en-US" b="0" i="0" dirty="0" err="1">
                <a:solidFill>
                  <a:srgbClr val="333333"/>
                </a:solidFill>
                <a:effectLst/>
                <a:latin typeface="source-sans-pro"/>
              </a:rPr>
              <a:t>kann</a:t>
            </a:r>
            <a:r>
              <a:rPr lang="en-US" b="0" i="0" dirty="0">
                <a:solidFill>
                  <a:srgbClr val="333333"/>
                </a:solidFill>
                <a:effectLst/>
                <a:latin typeface="source-sans-pro"/>
              </a:rPr>
              <a:t> man </a:t>
            </a:r>
            <a:r>
              <a:rPr lang="en-US" b="0" i="0" dirty="0" err="1">
                <a:solidFill>
                  <a:srgbClr val="333333"/>
                </a:solidFill>
                <a:effectLst/>
                <a:latin typeface="source-sans-pro"/>
              </a:rPr>
              <a:t>funktionale</a:t>
            </a:r>
            <a:r>
              <a:rPr lang="en-US" b="0" i="0" dirty="0">
                <a:solidFill>
                  <a:srgbClr val="333333"/>
                </a:solidFill>
                <a:effectLst/>
                <a:latin typeface="source-sans-pro"/>
              </a:rPr>
              <a:t> Tests </a:t>
            </a:r>
            <a:r>
              <a:rPr lang="en-US" b="0" i="0" dirty="0" err="1">
                <a:solidFill>
                  <a:srgbClr val="333333"/>
                </a:solidFill>
                <a:effectLst/>
                <a:latin typeface="source-sans-pro"/>
              </a:rPr>
              <a:t>schreiben</a:t>
            </a:r>
            <a:r>
              <a:rPr lang="en-US" b="0" i="0" dirty="0">
                <a:solidFill>
                  <a:srgbClr val="333333"/>
                </a:solidFill>
                <a:effectLst/>
                <a:latin typeface="source-sans-pro"/>
              </a:rPr>
              <a:t>.</a:t>
            </a:r>
          </a:p>
          <a:p>
            <a:pPr algn="l">
              <a:buFont typeface="Arial" panose="020B0604020202020204" pitchFamily="34" charset="0"/>
              <a:buChar char="•"/>
            </a:pPr>
            <a:r>
              <a:rPr lang="en-US" dirty="0" err="1">
                <a:solidFill>
                  <a:srgbClr val="333333"/>
                </a:solidFill>
                <a:latin typeface="source-sans-pro"/>
              </a:rPr>
              <a:t>Beispiel</a:t>
            </a:r>
            <a:r>
              <a:rPr lang="en-US" dirty="0">
                <a:solidFill>
                  <a:srgbClr val="333333"/>
                </a:solidFill>
                <a:latin typeface="source-sans-pro"/>
              </a:rPr>
              <a:t> ID </a:t>
            </a:r>
            <a:r>
              <a:rPr lang="en-US" dirty="0" err="1">
                <a:solidFill>
                  <a:srgbClr val="333333"/>
                </a:solidFill>
                <a:latin typeface="source-sans-pro"/>
              </a:rPr>
              <a:t>Selektor</a:t>
            </a:r>
            <a:r>
              <a:rPr lang="en-US" dirty="0">
                <a:solidFill>
                  <a:srgbClr val="333333"/>
                </a:solidFill>
                <a:latin typeface="source-sans-pro"/>
              </a:rPr>
              <a:t> </a:t>
            </a:r>
            <a:endParaRPr lang="en-US" b="0" i="0" dirty="0">
              <a:solidFill>
                <a:srgbClr val="333333"/>
              </a:solidFill>
              <a:effectLst/>
              <a:latin typeface="source-sans-pro"/>
            </a:endParaRPr>
          </a:p>
          <a:p>
            <a:pPr lvl="1">
              <a:buFont typeface="Arial" panose="020B0604020202020204" pitchFamily="34" charset="0"/>
              <a:buChar char="•"/>
            </a:pPr>
            <a:r>
              <a:rPr kumimoji="0" lang="de-DE" altLang="de-DE" b="0" i="0" u="none" strike="noStrike" cap="none" normalizeH="0" baseline="0" dirty="0" err="1">
                <a:ln>
                  <a:noFill/>
                </a:ln>
                <a:solidFill>
                  <a:srgbClr val="830091"/>
                </a:solidFill>
                <a:effectLst/>
                <a:latin typeface="Arial Unicode MS"/>
              </a:rPr>
              <a:t>cy</a:t>
            </a:r>
            <a:r>
              <a:rPr kumimoji="0" lang="de-DE" altLang="de-DE" b="0" i="0" u="none" strike="noStrike" cap="none" normalizeH="0" baseline="0" dirty="0" err="1">
                <a:ln>
                  <a:noFill/>
                </a:ln>
                <a:solidFill>
                  <a:srgbClr val="080808"/>
                </a:solidFill>
                <a:effectLst/>
                <a:latin typeface="Arial Unicode MS"/>
              </a:rPr>
              <a:t>.</a:t>
            </a:r>
            <a:r>
              <a:rPr kumimoji="0" lang="de-DE" altLang="de-DE" b="0" i="0" u="none" strike="noStrike" cap="none" normalizeH="0" baseline="0" dirty="0" err="1">
                <a:ln>
                  <a:noFill/>
                </a:ln>
                <a:solidFill>
                  <a:srgbClr val="7A7A43"/>
                </a:solidFill>
                <a:effectLst/>
                <a:latin typeface="Arial Unicode MS"/>
              </a:rPr>
              <a:t>get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err="1">
                <a:ln>
                  <a:noFill/>
                </a:ln>
                <a:solidFill>
                  <a:srgbClr val="067D17"/>
                </a:solidFill>
                <a:effectLst/>
                <a:latin typeface="Arial Unicode MS"/>
              </a:rPr>
              <a:t>username</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7A7A43"/>
                </a:solidFill>
                <a:effectLst/>
                <a:latin typeface="Arial Unicode MS"/>
              </a:rPr>
              <a:t>type</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'user@angularseminar.com‘</a:t>
            </a:r>
            <a:r>
              <a:rPr kumimoji="0" lang="de-DE" altLang="de-DE" b="0" i="0" u="none" strike="noStrike" cap="none" normalizeH="0" baseline="0" dirty="0">
                <a:ln>
                  <a:noFill/>
                </a:ln>
                <a:solidFill>
                  <a:srgbClr val="080808"/>
                </a:solidFill>
                <a:effectLst/>
                <a:latin typeface="Arial Unicode MS"/>
              </a:rPr>
              <a:t>);</a:t>
            </a:r>
          </a:p>
          <a:p>
            <a:pPr lvl="1">
              <a:buFont typeface="Arial" panose="020B0604020202020204" pitchFamily="34" charset="0"/>
              <a:buChar char="•"/>
            </a:pPr>
            <a:r>
              <a:rPr kumimoji="0" lang="de-DE" altLang="de-DE" b="0" i="0" u="none" strike="noStrike" cap="none" normalizeH="0" baseline="0" dirty="0" err="1">
                <a:ln>
                  <a:noFill/>
                </a:ln>
                <a:solidFill>
                  <a:srgbClr val="830091"/>
                </a:solidFill>
                <a:effectLst/>
                <a:latin typeface="Arial Unicode MS"/>
              </a:rPr>
              <a:t>cy</a:t>
            </a:r>
            <a:r>
              <a:rPr kumimoji="0" lang="de-DE" altLang="de-DE" b="0" i="0" u="none" strike="noStrike" cap="none" normalizeH="0" baseline="0" dirty="0" err="1">
                <a:ln>
                  <a:noFill/>
                </a:ln>
                <a:solidFill>
                  <a:srgbClr val="080808"/>
                </a:solidFill>
                <a:effectLst/>
                <a:latin typeface="Arial Unicode MS"/>
              </a:rPr>
              <a:t>.</a:t>
            </a:r>
            <a:r>
              <a:rPr kumimoji="0" lang="de-DE" altLang="de-DE" b="0" i="0" u="none" strike="noStrike" cap="none" normalizeH="0" baseline="0" dirty="0" err="1">
                <a:ln>
                  <a:noFill/>
                </a:ln>
                <a:solidFill>
                  <a:srgbClr val="7A7A43"/>
                </a:solidFill>
                <a:effectLst/>
                <a:latin typeface="Arial Unicode MS"/>
              </a:rPr>
              <a:t>get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err="1">
                <a:ln>
                  <a:noFill/>
                </a:ln>
                <a:solidFill>
                  <a:srgbClr val="067D17"/>
                </a:solidFill>
                <a:effectLst/>
                <a:latin typeface="Arial Unicode MS"/>
              </a:rPr>
              <a:t>password</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7A7A43"/>
                </a:solidFill>
                <a:effectLst/>
                <a:latin typeface="Arial Unicode MS"/>
              </a:rPr>
              <a:t>type</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err="1">
                <a:ln>
                  <a:noFill/>
                </a:ln>
                <a:solidFill>
                  <a:srgbClr val="067D17"/>
                </a:solidFill>
                <a:effectLst/>
                <a:latin typeface="Arial Unicode MS"/>
              </a:rPr>
              <a:t>password</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a:ln>
                  <a:noFill/>
                </a:ln>
                <a:solidFill>
                  <a:srgbClr val="080808"/>
                </a:solidFill>
                <a:effectLst/>
                <a:latin typeface="Arial Unicode MS"/>
              </a:rPr>
              <a:t>);</a:t>
            </a:r>
          </a:p>
          <a:p>
            <a:r>
              <a:rPr lang="de-DE" altLang="de-DE" dirty="0">
                <a:solidFill>
                  <a:srgbClr val="080808"/>
                </a:solidFill>
                <a:latin typeface="Arial Unicode MS"/>
              </a:rPr>
              <a:t>Beispiel Attribut Selektor</a:t>
            </a:r>
            <a:endParaRPr kumimoji="0" lang="de-DE" altLang="de-DE" b="0" i="0" u="none" strike="noStrike" cap="none" normalizeH="0" baseline="0" dirty="0">
              <a:ln>
                <a:noFill/>
              </a:ln>
              <a:solidFill>
                <a:srgbClr val="080808"/>
              </a:solidFill>
              <a:effectLst/>
              <a:latin typeface="Arial Unicode MS"/>
            </a:endParaRPr>
          </a:p>
          <a:p>
            <a:pPr lvl="1"/>
            <a:r>
              <a:rPr kumimoji="0" lang="de-DE" altLang="de-DE" b="0" i="0" u="none" strike="noStrike" cap="none" normalizeH="0" baseline="0" dirty="0" err="1">
                <a:ln>
                  <a:noFill/>
                </a:ln>
                <a:solidFill>
                  <a:srgbClr val="830091"/>
                </a:solidFill>
                <a:effectLst/>
                <a:latin typeface="Arial Unicode MS"/>
              </a:rPr>
              <a:t>cy</a:t>
            </a:r>
            <a:r>
              <a:rPr kumimoji="0" lang="de-DE" altLang="de-DE" b="0" i="0" u="none" strike="noStrike" cap="none" normalizeH="0" baseline="0" dirty="0" err="1">
                <a:ln>
                  <a:noFill/>
                </a:ln>
                <a:solidFill>
                  <a:srgbClr val="080808"/>
                </a:solidFill>
                <a:effectLst/>
                <a:latin typeface="Arial Unicode MS"/>
              </a:rPr>
              <a:t>.</a:t>
            </a:r>
            <a:r>
              <a:rPr kumimoji="0" lang="de-DE" altLang="de-DE" b="0" i="0" u="none" strike="noStrike" cap="none" normalizeH="0" baseline="0" dirty="0" err="1">
                <a:ln>
                  <a:noFill/>
                </a:ln>
                <a:solidFill>
                  <a:srgbClr val="7A7A43"/>
                </a:solidFill>
                <a:effectLst/>
                <a:latin typeface="Arial Unicode MS"/>
              </a:rPr>
              <a:t>get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err="1">
                <a:ln>
                  <a:noFill/>
                </a:ln>
                <a:solidFill>
                  <a:srgbClr val="067D17"/>
                </a:solidFill>
                <a:effectLst/>
                <a:latin typeface="Arial Unicode MS"/>
              </a:rPr>
              <a:t>formControlName</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err="1">
                <a:ln>
                  <a:noFill/>
                </a:ln>
                <a:solidFill>
                  <a:srgbClr val="067D17"/>
                </a:solidFill>
                <a:effectLst/>
                <a:latin typeface="Arial Unicode MS"/>
              </a:rPr>
              <a:t>username</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7A7A43"/>
                </a:solidFill>
                <a:effectLst/>
                <a:latin typeface="Arial Unicode MS"/>
              </a:rPr>
              <a:t>type</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'user@angularseminar.com‘</a:t>
            </a:r>
            <a:r>
              <a:rPr kumimoji="0" lang="de-DE" altLang="de-DE" b="0" i="0" u="none" strike="noStrike" cap="none" normalizeH="0" baseline="0" dirty="0">
                <a:ln>
                  <a:noFill/>
                </a:ln>
                <a:solidFill>
                  <a:srgbClr val="080808"/>
                </a:solidFill>
                <a:effectLst/>
                <a:latin typeface="Arial Unicode MS"/>
              </a:rPr>
              <a:t>);</a:t>
            </a:r>
          </a:p>
          <a:p>
            <a:r>
              <a:rPr lang="de-DE" dirty="0">
                <a:solidFill>
                  <a:srgbClr val="080808"/>
                </a:solidFill>
                <a:latin typeface="Arial Unicode MS"/>
              </a:rPr>
              <a:t>Beispiel Element Selektor</a:t>
            </a:r>
          </a:p>
          <a:p>
            <a:pPr lvl="1"/>
            <a:r>
              <a:rPr kumimoji="0" lang="de-DE" altLang="de-DE" b="0" i="0" u="none" strike="noStrike" cap="none" normalizeH="0" baseline="0" dirty="0" err="1">
                <a:ln>
                  <a:noFill/>
                </a:ln>
                <a:solidFill>
                  <a:srgbClr val="830091"/>
                </a:solidFill>
                <a:effectLst/>
                <a:latin typeface="Arial Unicode MS"/>
              </a:rPr>
              <a:t>cy</a:t>
            </a:r>
            <a:r>
              <a:rPr kumimoji="0" lang="de-DE" altLang="de-DE" b="0" i="0" u="none" strike="noStrike" cap="none" normalizeH="0" baseline="0" dirty="0" err="1">
                <a:ln>
                  <a:noFill/>
                </a:ln>
                <a:solidFill>
                  <a:srgbClr val="080808"/>
                </a:solidFill>
                <a:effectLst/>
                <a:latin typeface="Arial Unicode MS"/>
              </a:rPr>
              <a:t>.</a:t>
            </a:r>
            <a:r>
              <a:rPr kumimoji="0" lang="de-DE" altLang="de-DE" b="0" i="0" u="none" strike="noStrike" cap="none" normalizeH="0" baseline="0" dirty="0" err="1">
                <a:ln>
                  <a:noFill/>
                </a:ln>
                <a:solidFill>
                  <a:srgbClr val="7A7A43"/>
                </a:solidFill>
                <a:effectLst/>
                <a:latin typeface="Arial Unicode MS"/>
              </a:rPr>
              <a:t>get</a:t>
            </a:r>
            <a:r>
              <a:rPr kumimoji="0" lang="de-DE" altLang="de-DE" b="0" i="0" u="none" strike="noStrike" cap="none" normalizeH="0" baseline="0" dirty="0">
                <a:ln>
                  <a:noFill/>
                </a:ln>
                <a:solidFill>
                  <a:srgbClr val="080808"/>
                </a:solidFill>
                <a:effectLst/>
                <a:latin typeface="Arial Unicode MS"/>
              </a:rPr>
              <a:t>(</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err="1">
                <a:ln>
                  <a:noFill/>
                </a:ln>
                <a:solidFill>
                  <a:srgbClr val="067D17"/>
                </a:solidFill>
                <a:effectLst/>
                <a:latin typeface="Arial Unicode MS"/>
              </a:rPr>
              <a:t>ul</a:t>
            </a:r>
            <a:r>
              <a:rPr kumimoji="0" lang="de-DE" altLang="de-DE" b="0" i="0" u="none" strike="noStrike" cap="none" normalizeH="0" baseline="0" dirty="0">
                <a:ln>
                  <a:noFill/>
                </a:ln>
                <a:solidFill>
                  <a:srgbClr val="067D17"/>
                </a:solidFill>
                <a:effectLst/>
                <a:latin typeface="Arial Unicode MS"/>
              </a:rPr>
              <a:t>'</a:t>
            </a:r>
            <a:r>
              <a:rPr kumimoji="0" lang="de-DE" altLang="de-DE" b="0" i="0" u="none" strike="noStrike" cap="none" normalizeH="0" baseline="0" dirty="0">
                <a:ln>
                  <a:noFill/>
                </a:ln>
                <a:solidFill>
                  <a:srgbClr val="080808"/>
                </a:solidFill>
                <a:effectLst/>
                <a:latin typeface="Arial Unicode MS"/>
              </a:rPr>
              <a:t>);</a:t>
            </a:r>
            <a:endParaRPr lang="en-US" b="0" i="0" dirty="0">
              <a:solidFill>
                <a:srgbClr val="333333"/>
              </a:solidFill>
              <a:effectLst/>
              <a:latin typeface="source-sans-pro"/>
            </a:endParaRPr>
          </a:p>
        </p:txBody>
      </p:sp>
      <p:sp>
        <p:nvSpPr>
          <p:cNvPr id="4" name="Rectangle 1">
            <a:extLst>
              <a:ext uri="{FF2B5EF4-FFF2-40B4-BE49-F238E27FC236}">
                <a16:creationId xmlns:a16="http://schemas.microsoft.com/office/drawing/2014/main" id="{2C000867-4F9C-BE8F-75A3-7CD270E3017F}"/>
              </a:ext>
            </a:extLst>
          </p:cNvPr>
          <p:cNvSpPr>
            <a:spLocks noChangeArrowheads="1"/>
          </p:cNvSpPr>
          <p:nvPr/>
        </p:nvSpPr>
        <p:spPr bwMode="auto">
          <a:xfrm>
            <a:off x="0" y="-33010"/>
            <a:ext cx="184731"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000" b="0" i="0" u="none" strike="noStrike" cap="none" normalizeH="0" baseline="0" dirty="0">
                <a:ln>
                  <a:noFill/>
                </a:ln>
                <a:solidFill>
                  <a:srgbClr val="080808"/>
                </a:solidFill>
                <a:effectLst/>
                <a:latin typeface="Arial Unicode MS"/>
              </a:rPr>
            </a:b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896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52CC1D-8EBD-4003-EBF1-1D16AE362C46}"/>
              </a:ext>
            </a:extLst>
          </p:cNvPr>
          <p:cNvSpPr>
            <a:spLocks noGrp="1"/>
          </p:cNvSpPr>
          <p:nvPr>
            <p:ph type="title"/>
          </p:nvPr>
        </p:nvSpPr>
        <p:spPr/>
        <p:txBody>
          <a:bodyPr/>
          <a:lstStyle/>
          <a:p>
            <a:r>
              <a:rPr lang="de-DE" dirty="0"/>
              <a:t>Cypress Elements – Element API</a:t>
            </a:r>
          </a:p>
        </p:txBody>
      </p:sp>
      <p:graphicFrame>
        <p:nvGraphicFramePr>
          <p:cNvPr id="4" name="Inhaltsplatzhalter 3">
            <a:extLst>
              <a:ext uri="{FF2B5EF4-FFF2-40B4-BE49-F238E27FC236}">
                <a16:creationId xmlns:a16="http://schemas.microsoft.com/office/drawing/2014/main" id="{3091876A-669B-A2D3-CEAB-9EAD3B6013D8}"/>
              </a:ext>
            </a:extLst>
          </p:cNvPr>
          <p:cNvGraphicFramePr>
            <a:graphicFrameLocks noGrp="1"/>
          </p:cNvGraphicFramePr>
          <p:nvPr>
            <p:ph idx="1"/>
            <p:extLst>
              <p:ext uri="{D42A27DB-BD31-4B8C-83A1-F6EECF244321}">
                <p14:modId xmlns:p14="http://schemas.microsoft.com/office/powerpoint/2010/main" val="2991347317"/>
              </p:ext>
            </p:extLst>
          </p:nvPr>
        </p:nvGraphicFramePr>
        <p:xfrm>
          <a:off x="1069975" y="2139950"/>
          <a:ext cx="8883650" cy="2494280"/>
        </p:xfrm>
        <a:graphic>
          <a:graphicData uri="http://schemas.openxmlformats.org/drawingml/2006/table">
            <a:tbl>
              <a:tblPr firstRow="1" bandRow="1">
                <a:tableStyleId>{5C22544A-7EE6-4342-B048-85BDC9FD1C3A}</a:tableStyleId>
              </a:tblPr>
              <a:tblGrid>
                <a:gridCol w="4441825">
                  <a:extLst>
                    <a:ext uri="{9D8B030D-6E8A-4147-A177-3AD203B41FA5}">
                      <a16:colId xmlns:a16="http://schemas.microsoft.com/office/drawing/2014/main" val="1840696896"/>
                    </a:ext>
                  </a:extLst>
                </a:gridCol>
                <a:gridCol w="4441825">
                  <a:extLst>
                    <a:ext uri="{9D8B030D-6E8A-4147-A177-3AD203B41FA5}">
                      <a16:colId xmlns:a16="http://schemas.microsoft.com/office/drawing/2014/main" val="1974344402"/>
                    </a:ext>
                  </a:extLst>
                </a:gridCol>
              </a:tblGrid>
              <a:tr h="370840">
                <a:tc>
                  <a:txBody>
                    <a:bodyPr/>
                    <a:lstStyle/>
                    <a:p>
                      <a:r>
                        <a:rPr lang="de-DE" dirty="0"/>
                        <a:t>Funktion</a:t>
                      </a:r>
                    </a:p>
                  </a:txBody>
                  <a:tcPr/>
                </a:tc>
                <a:tc>
                  <a:txBody>
                    <a:bodyPr/>
                    <a:lstStyle/>
                    <a:p>
                      <a:r>
                        <a:rPr lang="de-DE" dirty="0"/>
                        <a:t>Bedeutung</a:t>
                      </a:r>
                    </a:p>
                  </a:txBody>
                  <a:tcPr/>
                </a:tc>
                <a:extLst>
                  <a:ext uri="{0D108BD9-81ED-4DB2-BD59-A6C34878D82A}">
                    <a16:rowId xmlns:a16="http://schemas.microsoft.com/office/drawing/2014/main" val="32758577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.type() </a:t>
                      </a:r>
                    </a:p>
                    <a:p>
                      <a:endParaRPr lang="de-DE" dirty="0"/>
                    </a:p>
                  </a:txBody>
                  <a:tcPr/>
                </a:tc>
                <a:tc>
                  <a:txBody>
                    <a:bodyPr/>
                    <a:lstStyle/>
                    <a:p>
                      <a:r>
                        <a:rPr lang="de-DE" dirty="0"/>
                        <a:t>Ausfüllen eines Textfeldes</a:t>
                      </a:r>
                    </a:p>
                  </a:txBody>
                  <a:tcPr/>
                </a:tc>
                <a:extLst>
                  <a:ext uri="{0D108BD9-81ED-4DB2-BD59-A6C34878D82A}">
                    <a16:rowId xmlns:a16="http://schemas.microsoft.com/office/drawing/2014/main" val="492567085"/>
                  </a:ext>
                </a:extLst>
              </a:tr>
              <a:tr h="370840">
                <a:tc>
                  <a:txBody>
                    <a:bodyPr/>
                    <a:lstStyle/>
                    <a:p>
                      <a:r>
                        <a:rPr lang="de-DE" dirty="0"/>
                        <a:t>.</a:t>
                      </a:r>
                      <a:r>
                        <a:rPr lang="de-DE" dirty="0" err="1"/>
                        <a:t>click</a:t>
                      </a:r>
                      <a:r>
                        <a:rPr lang="de-DE" dirty="0"/>
                        <a:t>()</a:t>
                      </a:r>
                    </a:p>
                  </a:txBody>
                  <a:tcPr/>
                </a:tc>
                <a:tc>
                  <a:txBody>
                    <a:bodyPr/>
                    <a:lstStyle/>
                    <a:p>
                      <a:r>
                        <a:rPr lang="de-DE" dirty="0"/>
                        <a:t>Klicken / Selektieren</a:t>
                      </a:r>
                    </a:p>
                  </a:txBody>
                  <a:tcPr/>
                </a:tc>
                <a:extLst>
                  <a:ext uri="{0D108BD9-81ED-4DB2-BD59-A6C34878D82A}">
                    <a16:rowId xmlns:a16="http://schemas.microsoft.com/office/drawing/2014/main" val="3742489744"/>
                  </a:ext>
                </a:extLst>
              </a:tr>
              <a:tr h="370840">
                <a:tc>
                  <a:txBody>
                    <a:bodyPr/>
                    <a:lstStyle/>
                    <a:p>
                      <a:r>
                        <a:rPr lang="de-DE" dirty="0"/>
                        <a:t>.</a:t>
                      </a:r>
                      <a:r>
                        <a:rPr lang="de-DE" dirty="0" err="1"/>
                        <a:t>first</a:t>
                      </a:r>
                      <a:r>
                        <a:rPr lang="de-DE" dirty="0"/>
                        <a:t>()</a:t>
                      </a:r>
                    </a:p>
                  </a:txBody>
                  <a:tcPr/>
                </a:tc>
                <a:tc>
                  <a:txBody>
                    <a:bodyPr/>
                    <a:lstStyle/>
                    <a:p>
                      <a:r>
                        <a:rPr lang="de-DE" dirty="0"/>
                        <a:t>Falls </a:t>
                      </a:r>
                      <a:r>
                        <a:rPr lang="de-DE" dirty="0" err="1"/>
                        <a:t>element</a:t>
                      </a:r>
                      <a:r>
                        <a:rPr lang="de-DE" dirty="0"/>
                        <a:t> </a:t>
                      </a:r>
                      <a:r>
                        <a:rPr lang="de-DE" dirty="0" err="1"/>
                        <a:t>NodeListe</a:t>
                      </a:r>
                      <a:r>
                        <a:rPr lang="de-DE" dirty="0"/>
                        <a:t>, gib erstes</a:t>
                      </a:r>
                    </a:p>
                  </a:txBody>
                  <a:tcPr/>
                </a:tc>
                <a:extLst>
                  <a:ext uri="{0D108BD9-81ED-4DB2-BD59-A6C34878D82A}">
                    <a16:rowId xmlns:a16="http://schemas.microsoft.com/office/drawing/2014/main" val="2321360598"/>
                  </a:ext>
                </a:extLst>
              </a:tr>
              <a:tr h="370840">
                <a:tc>
                  <a:txBody>
                    <a:bodyPr/>
                    <a:lstStyle/>
                    <a:p>
                      <a:r>
                        <a:rPr lang="de-DE" dirty="0"/>
                        <a:t>.</a:t>
                      </a:r>
                      <a:r>
                        <a:rPr lang="de-DE" dirty="0" err="1"/>
                        <a:t>focus</a:t>
                      </a:r>
                      <a:r>
                        <a:rPr lang="de-DE" dirty="0"/>
                        <a:t>()</a:t>
                      </a:r>
                    </a:p>
                  </a:txBody>
                  <a:tcPr/>
                </a:tc>
                <a:tc>
                  <a:txBody>
                    <a:bodyPr/>
                    <a:lstStyle/>
                    <a:p>
                      <a:r>
                        <a:rPr lang="de-DE" dirty="0"/>
                        <a:t>Setzt den Fokus auf das Element</a:t>
                      </a:r>
                    </a:p>
                  </a:txBody>
                  <a:tcPr/>
                </a:tc>
                <a:extLst>
                  <a:ext uri="{0D108BD9-81ED-4DB2-BD59-A6C34878D82A}">
                    <a16:rowId xmlns:a16="http://schemas.microsoft.com/office/drawing/2014/main" val="2749797678"/>
                  </a:ext>
                </a:extLst>
              </a:tr>
              <a:tr h="370840">
                <a:tc>
                  <a:txBody>
                    <a:bodyPr/>
                    <a:lstStyle/>
                    <a:p>
                      <a:r>
                        <a:rPr lang="de-DE" dirty="0"/>
                        <a:t>.</a:t>
                      </a:r>
                      <a:r>
                        <a:rPr lang="de-DE" dirty="0" err="1"/>
                        <a:t>should</a:t>
                      </a:r>
                      <a:r>
                        <a:rPr lang="de-DE" dirty="0"/>
                        <a:t>()</a:t>
                      </a:r>
                    </a:p>
                  </a:txBody>
                  <a:tcPr/>
                </a:tc>
                <a:tc>
                  <a:txBody>
                    <a:bodyPr/>
                    <a:lstStyle/>
                    <a:p>
                      <a:r>
                        <a:rPr lang="de-DE" dirty="0" err="1"/>
                        <a:t>Matcher</a:t>
                      </a:r>
                      <a:r>
                        <a:rPr lang="de-DE" dirty="0"/>
                        <a:t> siehe nächste Folie</a:t>
                      </a:r>
                    </a:p>
                  </a:txBody>
                  <a:tcPr/>
                </a:tc>
                <a:extLst>
                  <a:ext uri="{0D108BD9-81ED-4DB2-BD59-A6C34878D82A}">
                    <a16:rowId xmlns:a16="http://schemas.microsoft.com/office/drawing/2014/main" val="968096010"/>
                  </a:ext>
                </a:extLst>
              </a:tr>
            </a:tbl>
          </a:graphicData>
        </a:graphic>
      </p:graphicFrame>
    </p:spTree>
    <p:extLst>
      <p:ext uri="{BB962C8B-B14F-4D97-AF65-F5344CB8AC3E}">
        <p14:creationId xmlns:p14="http://schemas.microsoft.com/office/powerpoint/2010/main" val="2278463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AE2ABF-3164-040A-D450-F6B8CC9B6C69}"/>
              </a:ext>
            </a:extLst>
          </p:cNvPr>
          <p:cNvSpPr>
            <a:spLocks noGrp="1"/>
          </p:cNvSpPr>
          <p:nvPr>
            <p:ph type="title"/>
          </p:nvPr>
        </p:nvSpPr>
        <p:spPr/>
        <p:txBody>
          <a:bodyPr/>
          <a:lstStyle/>
          <a:p>
            <a:r>
              <a:rPr lang="de-DE" dirty="0" err="1"/>
              <a:t>Assertions</a:t>
            </a:r>
            <a:r>
              <a:rPr lang="de-DE" dirty="0"/>
              <a:t> und </a:t>
            </a:r>
            <a:r>
              <a:rPr lang="de-DE" dirty="0" err="1"/>
              <a:t>Matchers</a:t>
            </a:r>
            <a:endParaRPr lang="de-DE" dirty="0"/>
          </a:p>
        </p:txBody>
      </p:sp>
      <p:sp>
        <p:nvSpPr>
          <p:cNvPr id="3" name="Inhaltsplatzhalter 2">
            <a:extLst>
              <a:ext uri="{FF2B5EF4-FFF2-40B4-BE49-F238E27FC236}">
                <a16:creationId xmlns:a16="http://schemas.microsoft.com/office/drawing/2014/main" id="{BC83AD80-4DB9-422D-651A-E975875FD1B2}"/>
              </a:ext>
            </a:extLst>
          </p:cNvPr>
          <p:cNvSpPr>
            <a:spLocks noGrp="1"/>
          </p:cNvSpPr>
          <p:nvPr>
            <p:ph idx="1"/>
          </p:nvPr>
        </p:nvSpPr>
        <p:spPr/>
        <p:txBody>
          <a:bodyPr/>
          <a:lstStyle/>
          <a:p>
            <a:r>
              <a:rPr lang="de-DE" dirty="0"/>
              <a:t>Die Funktion </a:t>
            </a:r>
            <a:r>
              <a:rPr lang="de-DE" dirty="0" err="1"/>
              <a:t>should</a:t>
            </a:r>
            <a:r>
              <a:rPr lang="de-DE" dirty="0"/>
              <a:t>() an einem Element leitet den Prüfschritt ein</a:t>
            </a:r>
          </a:p>
          <a:p>
            <a:endParaRPr lang="de-DE" dirty="0"/>
          </a:p>
          <a:p>
            <a:r>
              <a:rPr kumimoji="0" lang="de-DE" altLang="de-DE" sz="1800" b="0" i="0" u="none" strike="noStrike" cap="none" normalizeH="0" baseline="0" dirty="0" err="1">
                <a:ln>
                  <a:noFill/>
                </a:ln>
                <a:solidFill>
                  <a:srgbClr val="830091"/>
                </a:solidFill>
                <a:effectLst/>
                <a:latin typeface="Arial Unicode MS"/>
              </a:rPr>
              <a:t>cy</a:t>
            </a:r>
            <a:r>
              <a:rPr kumimoji="0" lang="de-DE" altLang="de-DE" sz="1800" b="0" i="0" u="none" strike="noStrike" cap="none" normalizeH="0" baseline="0" dirty="0" err="1">
                <a:ln>
                  <a:noFill/>
                </a:ln>
                <a:solidFill>
                  <a:srgbClr val="080808"/>
                </a:solidFill>
                <a:effectLst/>
                <a:latin typeface="Arial Unicode MS"/>
              </a:rPr>
              <a:t>.</a:t>
            </a:r>
            <a:r>
              <a:rPr kumimoji="0" lang="de-DE" altLang="de-DE" sz="1800" b="0" i="0" u="none" strike="noStrike" cap="none" normalizeH="0" baseline="0" dirty="0" err="1">
                <a:ln>
                  <a:noFill/>
                </a:ln>
                <a:solidFill>
                  <a:srgbClr val="7A7A43"/>
                </a:solidFill>
                <a:effectLst/>
                <a:latin typeface="Arial Unicode MS"/>
              </a:rPr>
              <a:t>get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appCustomerList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err="1">
                <a:ln>
                  <a:noFill/>
                </a:ln>
                <a:solidFill>
                  <a:srgbClr val="871094"/>
                </a:solidFill>
                <a:effectLst/>
                <a:latin typeface="Arial Unicode MS"/>
              </a:rPr>
              <a:t>should</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exist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endParaRPr kumimoji="0" lang="de-DE" altLang="de-DE" sz="4000" b="0" i="0" u="none" strike="noStrike" cap="none" normalizeH="0" baseline="0" dirty="0">
              <a:ln>
                <a:noFill/>
              </a:ln>
              <a:solidFill>
                <a:schemeClr val="tx1"/>
              </a:solidFill>
              <a:effectLst/>
              <a:latin typeface="Arial" panose="020B0604020202020204" pitchFamily="34" charset="0"/>
            </a:endParaRPr>
          </a:p>
          <a:p>
            <a:r>
              <a:rPr kumimoji="0" lang="de-DE" altLang="de-DE" sz="1800" b="0" i="0" u="none" strike="noStrike" cap="none" normalizeH="0" baseline="0" dirty="0" err="1">
                <a:ln>
                  <a:noFill/>
                </a:ln>
                <a:solidFill>
                  <a:srgbClr val="830091"/>
                </a:solidFill>
                <a:effectLst/>
                <a:latin typeface="Arial Unicode MS"/>
              </a:rPr>
              <a:t>cy</a:t>
            </a:r>
            <a:r>
              <a:rPr kumimoji="0" lang="de-DE" altLang="de-DE" sz="1800" b="0" i="0" u="none" strike="noStrike" cap="none" normalizeH="0" baseline="0" dirty="0" err="1">
                <a:ln>
                  <a:noFill/>
                </a:ln>
                <a:solidFill>
                  <a:srgbClr val="080808"/>
                </a:solidFill>
                <a:effectLst/>
                <a:latin typeface="Arial Unicode MS"/>
              </a:rPr>
              <a:t>.</a:t>
            </a:r>
            <a:r>
              <a:rPr kumimoji="0" lang="de-DE" altLang="de-DE" sz="1800" b="0" i="0" u="none" strike="noStrike" cap="none" normalizeH="0" baseline="0" dirty="0" err="1">
                <a:ln>
                  <a:noFill/>
                </a:ln>
                <a:solidFill>
                  <a:srgbClr val="7A7A43"/>
                </a:solidFill>
                <a:effectLst/>
                <a:latin typeface="Arial Unicode MS"/>
              </a:rPr>
              <a:t>get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selected</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err="1">
                <a:ln>
                  <a:noFill/>
                </a:ln>
                <a:solidFill>
                  <a:srgbClr val="871094"/>
                </a:solidFill>
                <a:effectLst/>
                <a:latin typeface="Arial Unicode MS"/>
              </a:rPr>
              <a:t>should</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not.exist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endParaRPr kumimoji="0" lang="de-DE" altLang="de-DE" sz="4000" b="0" i="0" u="none" strike="noStrike" cap="none" normalizeH="0" baseline="0" dirty="0">
              <a:ln>
                <a:noFill/>
              </a:ln>
              <a:solidFill>
                <a:schemeClr val="tx1"/>
              </a:solidFill>
              <a:effectLst/>
              <a:latin typeface="Arial" panose="020B0604020202020204" pitchFamily="34" charset="0"/>
            </a:endParaRPr>
          </a:p>
          <a:p>
            <a:r>
              <a:rPr kumimoji="0" lang="de-DE" altLang="de-DE" sz="1800" b="0" i="0" u="none" strike="noStrike" cap="none" normalizeH="0" baseline="0" dirty="0" err="1">
                <a:ln>
                  <a:noFill/>
                </a:ln>
                <a:solidFill>
                  <a:srgbClr val="830091"/>
                </a:solidFill>
                <a:effectLst/>
                <a:latin typeface="Arial Unicode MS"/>
              </a:rPr>
              <a:t>cy</a:t>
            </a:r>
            <a:r>
              <a:rPr kumimoji="0" lang="de-DE" altLang="de-DE" sz="1800" b="0" i="0" u="none" strike="noStrike" cap="none" normalizeH="0" baseline="0" dirty="0" err="1">
                <a:ln>
                  <a:noFill/>
                </a:ln>
                <a:solidFill>
                  <a:srgbClr val="080808"/>
                </a:solidFill>
                <a:effectLst/>
                <a:latin typeface="Arial Unicode MS"/>
              </a:rPr>
              <a:t>.</a:t>
            </a:r>
            <a:r>
              <a:rPr kumimoji="0" lang="de-DE" altLang="de-DE" sz="1800" b="0" i="0" u="none" strike="noStrike" cap="none" normalizeH="0" baseline="0" dirty="0" err="1">
                <a:ln>
                  <a:noFill/>
                </a:ln>
                <a:solidFill>
                  <a:srgbClr val="7A7A43"/>
                </a:solidFill>
                <a:effectLst/>
                <a:latin typeface="Arial Unicode MS"/>
              </a:rPr>
              <a:t>get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selected</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err="1">
                <a:ln>
                  <a:noFill/>
                </a:ln>
                <a:solidFill>
                  <a:srgbClr val="871094"/>
                </a:solidFill>
                <a:effectLst/>
                <a:latin typeface="Arial Unicode MS"/>
              </a:rPr>
              <a:t>should</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be.</a:t>
            </a:r>
            <a:r>
              <a:rPr lang="de-DE" altLang="de-DE" dirty="0" err="1">
                <a:solidFill>
                  <a:srgbClr val="067D17"/>
                </a:solidFill>
                <a:latin typeface="Arial Unicode MS"/>
              </a:rPr>
              <a:t>visible</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p>
          <a:p>
            <a:r>
              <a:rPr kumimoji="0" lang="de-DE" altLang="de-DE" sz="1800" b="0" i="0" u="none" strike="noStrike" cap="none" normalizeH="0" baseline="0" dirty="0" err="1">
                <a:ln>
                  <a:noFill/>
                </a:ln>
                <a:solidFill>
                  <a:srgbClr val="830091"/>
                </a:solidFill>
                <a:effectLst/>
                <a:latin typeface="Arial Unicode MS"/>
              </a:rPr>
              <a:t>cy</a:t>
            </a:r>
            <a:r>
              <a:rPr kumimoji="0" lang="de-DE" altLang="de-DE" sz="1800" b="0" i="0" u="none" strike="noStrike" cap="none" normalizeH="0" baseline="0" dirty="0" err="1">
                <a:ln>
                  <a:noFill/>
                </a:ln>
                <a:solidFill>
                  <a:srgbClr val="080808"/>
                </a:solidFill>
                <a:effectLst/>
                <a:latin typeface="Arial Unicode MS"/>
              </a:rPr>
              <a:t>.</a:t>
            </a:r>
            <a:r>
              <a:rPr kumimoji="0" lang="de-DE" altLang="de-DE" sz="1800" b="0" i="0" u="none" strike="noStrike" cap="none" normalizeH="0" baseline="0" dirty="0" err="1">
                <a:ln>
                  <a:noFill/>
                </a:ln>
                <a:solidFill>
                  <a:srgbClr val="7A7A43"/>
                </a:solidFill>
                <a:effectLst/>
                <a:latin typeface="Arial Unicode MS"/>
              </a:rPr>
              <a:t>get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"li"</a:t>
            </a:r>
            <a:r>
              <a:rPr kumimoji="0" lang="de-DE" altLang="de-DE" sz="1800" b="0" i="0" u="none" strike="noStrike" cap="none" normalizeH="0" baseline="0" dirty="0">
                <a:ln>
                  <a:noFill/>
                </a:ln>
                <a:solidFill>
                  <a:srgbClr val="080808"/>
                </a:solidFill>
                <a:effectLst/>
                <a:latin typeface="Arial Unicode MS"/>
              </a:rPr>
              <a:t>).</a:t>
            </a:r>
            <a:r>
              <a:rPr lang="de-DE" altLang="de-DE" dirty="0" err="1">
                <a:solidFill>
                  <a:srgbClr val="7A7A43"/>
                </a:solidFill>
                <a:latin typeface="Arial Unicode MS"/>
              </a:rPr>
              <a:t>first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err="1">
                <a:ln>
                  <a:noFill/>
                </a:ln>
                <a:solidFill>
                  <a:srgbClr val="871094"/>
                </a:solidFill>
                <a:effectLst/>
                <a:latin typeface="Arial Unicode MS"/>
              </a:rPr>
              <a:t>should</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"have.</a:t>
            </a:r>
            <a:r>
              <a:rPr kumimoji="0" lang="de-DE" altLang="de-DE" sz="1800" b="0" i="0" u="none" strike="noStrike" cap="none" normalizeH="0" baseline="0" dirty="0" err="1">
                <a:ln>
                  <a:noFill/>
                </a:ln>
                <a:solidFill>
                  <a:srgbClr val="067D17"/>
                </a:solidFill>
                <a:effectLst/>
                <a:latin typeface="Arial Unicode MS"/>
              </a:rPr>
              <a:t>class</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selected</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p>
          <a:p>
            <a:r>
              <a:rPr kumimoji="0" lang="de-DE" altLang="de-DE" sz="1800" b="0" i="0" u="none" strike="noStrike" cap="none" normalizeH="0" baseline="0" dirty="0" err="1">
                <a:ln>
                  <a:noFill/>
                </a:ln>
                <a:solidFill>
                  <a:srgbClr val="830091"/>
                </a:solidFill>
                <a:effectLst/>
                <a:latin typeface="Arial Unicode MS"/>
              </a:rPr>
              <a:t>cy</a:t>
            </a:r>
            <a:r>
              <a:rPr kumimoji="0" lang="de-DE" altLang="de-DE" sz="1800" b="0" i="0" u="none" strike="noStrike" cap="none" normalizeH="0" baseline="0" dirty="0" err="1">
                <a:ln>
                  <a:noFill/>
                </a:ln>
                <a:solidFill>
                  <a:srgbClr val="080808"/>
                </a:solidFill>
                <a:effectLst/>
                <a:latin typeface="Arial Unicode MS"/>
              </a:rPr>
              <a:t>.</a:t>
            </a:r>
            <a:r>
              <a:rPr kumimoji="0" lang="de-DE" altLang="de-DE" sz="1800" b="0" i="0" u="none" strike="noStrike" cap="none" normalizeH="0" baseline="0" dirty="0" err="1">
                <a:ln>
                  <a:noFill/>
                </a:ln>
                <a:solidFill>
                  <a:srgbClr val="7A7A43"/>
                </a:solidFill>
                <a:effectLst/>
                <a:latin typeface="Arial Unicode MS"/>
              </a:rPr>
              <a:t>get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"li"</a:t>
            </a:r>
            <a:r>
              <a:rPr kumimoji="0" lang="de-DE" altLang="de-DE" sz="1800" b="0" i="0" u="none" strike="noStrike" cap="none" normalizeH="0" baseline="0" dirty="0">
                <a:ln>
                  <a:noFill/>
                </a:ln>
                <a:solidFill>
                  <a:srgbClr val="080808"/>
                </a:solidFill>
                <a:effectLst/>
                <a:latin typeface="Arial Unicode MS"/>
              </a:rPr>
              <a:t>).</a:t>
            </a:r>
            <a:r>
              <a:rPr lang="de-DE" altLang="de-DE" dirty="0" err="1">
                <a:solidFill>
                  <a:srgbClr val="7A7A43"/>
                </a:solidFill>
                <a:latin typeface="Arial Unicode MS"/>
              </a:rPr>
              <a:t>first</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err="1">
                <a:ln>
                  <a:noFill/>
                </a:ln>
                <a:solidFill>
                  <a:srgbClr val="871094"/>
                </a:solidFill>
                <a:effectLst/>
                <a:latin typeface="Arial Unicode MS"/>
              </a:rPr>
              <a:t>should</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"not.have.</a:t>
            </a:r>
            <a:r>
              <a:rPr kumimoji="0" lang="de-DE" altLang="de-DE" sz="1800" b="0" i="0" u="none" strike="noStrike" cap="none" normalizeH="0" baseline="0" dirty="0" err="1">
                <a:ln>
                  <a:noFill/>
                </a:ln>
                <a:solidFill>
                  <a:srgbClr val="067D17"/>
                </a:solidFill>
                <a:effectLst/>
                <a:latin typeface="Arial Unicode MS"/>
              </a:rPr>
              <a:t>value</a:t>
            </a:r>
            <a:r>
              <a:rPr kumimoji="0" lang="de-DE" altLang="de-DE" sz="1800" b="0" i="0" u="none" strike="noStrike" cap="none" normalizeH="0" baseline="0" dirty="0">
                <a:ln>
                  <a:noFill/>
                </a:ln>
                <a:solidFill>
                  <a:srgbClr val="067D17"/>
                </a:solidFill>
                <a:effectLst/>
                <a:latin typeface="Arial Unicode MS"/>
              </a:rPr>
              <a:t>",„Hans"</a:t>
            </a:r>
            <a:r>
              <a:rPr kumimoji="0" lang="de-DE" altLang="de-DE" sz="1800" b="0" i="0" u="none" strike="noStrike" cap="none" normalizeH="0" baseline="0" dirty="0">
                <a:ln>
                  <a:noFill/>
                </a:ln>
                <a:solidFill>
                  <a:srgbClr val="080808"/>
                </a:solidFill>
                <a:effectLst/>
                <a:latin typeface="Arial Unicode MS"/>
              </a:rPr>
              <a:t>);</a:t>
            </a:r>
            <a:endParaRPr lang="de-DE" altLang="de-DE" dirty="0">
              <a:solidFill>
                <a:srgbClr val="830091"/>
              </a:solidFill>
              <a:latin typeface="Arial Unicode MS"/>
            </a:endParaRPr>
          </a:p>
          <a:p>
            <a:r>
              <a:rPr kumimoji="0" lang="de-DE" altLang="de-DE" sz="1800" b="0" i="0" u="none" strike="noStrike" cap="none" normalizeH="0" baseline="0" dirty="0">
                <a:ln>
                  <a:noFill/>
                </a:ln>
                <a:solidFill>
                  <a:srgbClr val="830091"/>
                </a:solidFill>
                <a:effectLst/>
                <a:latin typeface="Arial Unicode MS"/>
              </a:rPr>
              <a:t>cy</a:t>
            </a:r>
            <a:r>
              <a:rPr kumimoji="0" lang="de-DE" altLang="de-DE" sz="1800" b="0" i="0" u="none" strike="noStrike" cap="none" normalizeH="0" baseline="0" dirty="0">
                <a:ln>
                  <a:noFill/>
                </a:ln>
                <a:solidFill>
                  <a:srgbClr val="080808"/>
                </a:solidFill>
                <a:effectLst/>
                <a:latin typeface="Arial Unicode MS"/>
              </a:rPr>
              <a:t>.</a:t>
            </a:r>
            <a:r>
              <a:rPr lang="de-DE" altLang="de-DE" dirty="0">
                <a:solidFill>
                  <a:srgbClr val="7A7A43"/>
                </a:solidFill>
                <a:latin typeface="Arial Unicode MS"/>
              </a:rPr>
              <a:t>url</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err="1">
                <a:ln>
                  <a:noFill/>
                </a:ln>
                <a:solidFill>
                  <a:srgbClr val="871094"/>
                </a:solidFill>
                <a:effectLst/>
                <a:latin typeface="Arial Unicode MS"/>
              </a:rPr>
              <a:t>should</a:t>
            </a:r>
            <a:r>
              <a:rPr kumimoji="0" lang="de-DE" altLang="de-DE" sz="1800" b="0" i="0" u="none" strike="noStrike" cap="none" normalizeH="0" baseline="0" dirty="0">
                <a:ln>
                  <a:noFill/>
                </a:ln>
                <a:solidFill>
                  <a:srgbClr val="080808"/>
                </a:solidFill>
                <a:effectLst/>
                <a:latin typeface="Arial Unicode MS"/>
              </a:rPr>
              <a:t>(</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contain</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err="1">
                <a:ln>
                  <a:noFill/>
                </a:ln>
                <a:solidFill>
                  <a:srgbClr val="067D17"/>
                </a:solidFill>
                <a:effectLst/>
                <a:latin typeface="Arial Unicode MS"/>
              </a:rPr>
              <a:t>greeting</a:t>
            </a:r>
            <a:r>
              <a:rPr kumimoji="0" lang="de-DE" altLang="de-DE" sz="1800" b="0" i="0" u="none" strike="noStrike" cap="none" normalizeH="0" baseline="0" dirty="0">
                <a:ln>
                  <a:noFill/>
                </a:ln>
                <a:solidFill>
                  <a:srgbClr val="067D17"/>
                </a:solidFill>
                <a:effectLst/>
                <a:latin typeface="Arial Unicode MS"/>
              </a:rPr>
              <a:t>"</a:t>
            </a:r>
            <a:r>
              <a:rPr kumimoji="0" lang="de-DE" altLang="de-DE" sz="1800" b="0" i="0" u="none" strike="noStrike" cap="none" normalizeH="0" baseline="0" dirty="0">
                <a:ln>
                  <a:noFill/>
                </a:ln>
                <a:solidFill>
                  <a:srgbClr val="080808"/>
                </a:solidFill>
                <a:effectLst/>
                <a:latin typeface="Arial Unicode MS"/>
              </a:rPr>
              <a:t>);</a:t>
            </a:r>
          </a:p>
          <a:p>
            <a:endParaRPr kumimoji="0" lang="de-DE" altLang="de-DE" sz="1800" b="0" i="0" u="none" strike="noStrike" cap="none" normalizeH="0" baseline="0" dirty="0">
              <a:ln>
                <a:noFill/>
              </a:ln>
              <a:solidFill>
                <a:srgbClr val="080808"/>
              </a:solidFill>
              <a:effectLst/>
              <a:latin typeface="Arial Unicode MS"/>
            </a:endParaRPr>
          </a:p>
          <a:p>
            <a:endParaRPr lang="de-DE" dirty="0">
              <a:solidFill>
                <a:srgbClr val="080808"/>
              </a:solidFill>
              <a:latin typeface="Arial Unicode MS"/>
            </a:endParaRPr>
          </a:p>
          <a:p>
            <a:endParaRPr lang="de-DE" dirty="0"/>
          </a:p>
          <a:p>
            <a:endParaRPr lang="de-DE" dirty="0"/>
          </a:p>
          <a:p>
            <a:endParaRPr lang="de-DE" dirty="0"/>
          </a:p>
          <a:p>
            <a:endParaRPr lang="de-DE" dirty="0"/>
          </a:p>
          <a:p>
            <a:endParaRPr lang="de-DE" dirty="0"/>
          </a:p>
        </p:txBody>
      </p:sp>
      <p:sp>
        <p:nvSpPr>
          <p:cNvPr id="4" name="Rectangle 1">
            <a:extLst>
              <a:ext uri="{FF2B5EF4-FFF2-40B4-BE49-F238E27FC236}">
                <a16:creationId xmlns:a16="http://schemas.microsoft.com/office/drawing/2014/main" id="{81B14B9B-411A-952D-EA5B-2E2F2FF6246D}"/>
              </a:ext>
            </a:extLst>
          </p:cNvPr>
          <p:cNvSpPr>
            <a:spLocks noChangeArrowheads="1"/>
          </p:cNvSpPr>
          <p:nvPr/>
        </p:nvSpPr>
        <p:spPr bwMode="auto">
          <a:xfrm>
            <a:off x="-1000369"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0495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4086F5-5AAC-F692-73E3-87A47A652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FFE9213-D3A8-7A45-6C21-894000EE6FFD}"/>
              </a:ext>
            </a:extLst>
          </p:cNvPr>
          <p:cNvSpPr>
            <a:spLocks noGrp="1"/>
          </p:cNvSpPr>
          <p:nvPr>
            <p:ph type="title"/>
          </p:nvPr>
        </p:nvSpPr>
        <p:spPr>
          <a:xfrm>
            <a:off x="1066800" y="4107693"/>
            <a:ext cx="4305892" cy="1805111"/>
          </a:xfrm>
        </p:spPr>
        <p:txBody>
          <a:bodyPr anchor="ctr">
            <a:normAutofit/>
          </a:bodyPr>
          <a:lstStyle/>
          <a:p>
            <a:r>
              <a:rPr lang="de-DE" dirty="0"/>
              <a:t>Übung 3</a:t>
            </a:r>
          </a:p>
        </p:txBody>
      </p:sp>
      <p:sp>
        <p:nvSpPr>
          <p:cNvPr id="10" name="Freeform: Shape 9">
            <a:extLst>
              <a:ext uri="{FF2B5EF4-FFF2-40B4-BE49-F238E27FC236}">
                <a16:creationId xmlns:a16="http://schemas.microsoft.com/office/drawing/2014/main" id="{3351B06F-42FD-3E0A-3AA8-C51082644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CF32190-1DF5-5FFF-D532-889495A9B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740000" flipV="1">
            <a:off x="7884803" y="5010325"/>
            <a:ext cx="4324338" cy="1889417"/>
          </a:xfrm>
          <a:custGeom>
            <a:avLst/>
            <a:gdLst>
              <a:gd name="connsiteX0" fmla="*/ 26412 w 4324338"/>
              <a:gd name="connsiteY0" fmla="*/ 1889417 h 1889417"/>
              <a:gd name="connsiteX1" fmla="*/ 4324338 w 4324338"/>
              <a:gd name="connsiteY1" fmla="*/ 1814397 h 1889417"/>
              <a:gd name="connsiteX2" fmla="*/ 2459858 w 4324338"/>
              <a:gd name="connsiteY2" fmla="*/ 403264 h 1889417"/>
              <a:gd name="connsiteX3" fmla="*/ 2414726 w 4324338"/>
              <a:gd name="connsiteY3" fmla="*/ 370852 h 1889417"/>
              <a:gd name="connsiteX4" fmla="*/ 1261883 w 4324338"/>
              <a:gd name="connsiteY4" fmla="*/ 615 h 1889417"/>
              <a:gd name="connsiteX5" fmla="*/ 70385 w 4324338"/>
              <a:gd name="connsiteY5" fmla="*/ 326182 h 1889417"/>
              <a:gd name="connsiteX6" fmla="*/ 0 w 4324338"/>
              <a:gd name="connsiteY6" fmla="*/ 376291 h 188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4338" h="1889417">
                <a:moveTo>
                  <a:pt x="26412" y="1889417"/>
                </a:moveTo>
                <a:lnTo>
                  <a:pt x="4324338" y="1814397"/>
                </a:lnTo>
                <a:lnTo>
                  <a:pt x="2459858" y="403264"/>
                </a:lnTo>
                <a:lnTo>
                  <a:pt x="2414726" y="370852"/>
                </a:lnTo>
                <a:cubicBezTo>
                  <a:pt x="2062641" y="131313"/>
                  <a:pt x="1661870" y="10180"/>
                  <a:pt x="1261883" y="615"/>
                </a:cubicBezTo>
                <a:cubicBezTo>
                  <a:pt x="845229" y="-9347"/>
                  <a:pt x="429425" y="101751"/>
                  <a:pt x="70385" y="326182"/>
                </a:cubicBezTo>
                <a:lnTo>
                  <a:pt x="0" y="376291"/>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nhaltsplatzhalter 2">
            <a:extLst>
              <a:ext uri="{FF2B5EF4-FFF2-40B4-BE49-F238E27FC236}">
                <a16:creationId xmlns:a16="http://schemas.microsoft.com/office/drawing/2014/main" id="{B187B7C2-A3CE-0CC0-DC30-7D17A3FD8A48}"/>
              </a:ext>
            </a:extLst>
          </p:cNvPr>
          <p:cNvSpPr>
            <a:spLocks noGrp="1"/>
          </p:cNvSpPr>
          <p:nvPr>
            <p:ph idx="1"/>
          </p:nvPr>
        </p:nvSpPr>
        <p:spPr>
          <a:xfrm>
            <a:off x="6096000" y="1143000"/>
            <a:ext cx="4953000" cy="3829733"/>
          </a:xfrm>
        </p:spPr>
        <p:txBody>
          <a:bodyPr>
            <a:normAutofit/>
          </a:bodyPr>
          <a:lstStyle/>
          <a:p>
            <a:r>
              <a:rPr lang="de-DE" dirty="0"/>
              <a:t>Erstellen Sie eine neue Test Methode </a:t>
            </a:r>
            <a:r>
              <a:rPr lang="de-DE" dirty="0" err="1"/>
              <a:t>navigation_works</a:t>
            </a:r>
            <a:endParaRPr lang="de-DE" dirty="0"/>
          </a:p>
          <a:p>
            <a:r>
              <a:rPr lang="de-DE" dirty="0"/>
              <a:t>Hier soll der erste Eintrag in der </a:t>
            </a:r>
            <a:r>
              <a:rPr lang="de-DE" dirty="0" err="1"/>
              <a:t>CustomerListe</a:t>
            </a:r>
            <a:r>
              <a:rPr lang="de-DE" dirty="0"/>
              <a:t> geklickt werden</a:t>
            </a:r>
            <a:endParaRPr kumimoji="0" lang="de-DE" altLang="de-DE" b="0" i="0" u="none" strike="noStrike" cap="none" normalizeH="0" baseline="0" dirty="0">
              <a:ln>
                <a:noFill/>
              </a:ln>
              <a:effectLst/>
              <a:latin typeface="Arial Unicode MS"/>
            </a:endParaRPr>
          </a:p>
          <a:p>
            <a:r>
              <a:rPr lang="de-DE" altLang="de-DE" dirty="0"/>
              <a:t>Danach soll geprüft werden, dass</a:t>
            </a:r>
          </a:p>
          <a:p>
            <a:pPr lvl="1"/>
            <a:r>
              <a:rPr lang="de-DE" altLang="de-DE" dirty="0"/>
              <a:t>Die App auf der Detailseite ist </a:t>
            </a:r>
          </a:p>
          <a:p>
            <a:pPr lvl="2"/>
            <a:r>
              <a:rPr lang="de-DE" altLang="de-DE" dirty="0"/>
              <a:t>Mittels URL </a:t>
            </a:r>
            <a:r>
              <a:rPr lang="de-DE" altLang="de-DE" dirty="0" err="1"/>
              <a:t>Matcher</a:t>
            </a:r>
            <a:endParaRPr lang="de-DE" altLang="de-DE" dirty="0"/>
          </a:p>
          <a:p>
            <a:pPr lvl="2"/>
            <a:r>
              <a:rPr lang="de-DE" altLang="de-DE" dirty="0"/>
              <a:t>Und prüfen ob </a:t>
            </a:r>
            <a:r>
              <a:rPr lang="de-DE" altLang="de-DE" dirty="0" err="1"/>
              <a:t>lastOrder</a:t>
            </a:r>
            <a:r>
              <a:rPr lang="de-DE" altLang="de-DE" dirty="0"/>
              <a:t> Date angezeigt wird</a:t>
            </a:r>
          </a:p>
          <a:p>
            <a:pPr lvl="1"/>
            <a:endParaRPr lang="de-DE" dirty="0"/>
          </a:p>
          <a:p>
            <a:endParaRPr lang="de-DE" dirty="0"/>
          </a:p>
        </p:txBody>
      </p:sp>
    </p:spTree>
    <p:extLst>
      <p:ext uri="{BB962C8B-B14F-4D97-AF65-F5344CB8AC3E}">
        <p14:creationId xmlns:p14="http://schemas.microsoft.com/office/powerpoint/2010/main" val="1572254879"/>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1">
            <a:extLst>
              <a:ext uri="{FF2B5EF4-FFF2-40B4-BE49-F238E27FC236}">
                <a16:creationId xmlns:a16="http://schemas.microsoft.com/office/drawing/2014/main" id="{E1D70460-FE6D-DB11-EDE0-0BBD52907F4F}"/>
              </a:ext>
            </a:extLst>
          </p:cNvPr>
          <p:cNvSpPr>
            <a:spLocks noGrp="1"/>
          </p:cNvSpPr>
          <p:nvPr>
            <p:ph type="title"/>
          </p:nvPr>
        </p:nvSpPr>
        <p:spPr>
          <a:xfrm>
            <a:off x="1987680" y="1143000"/>
            <a:ext cx="7946597" cy="1257300"/>
          </a:xfrm>
        </p:spPr>
        <p:txBody>
          <a:bodyPr anchor="ctr">
            <a:normAutofit/>
          </a:bodyPr>
          <a:lstStyle/>
          <a:p>
            <a:r>
              <a:t>Umstieg von Jasmine auf Vitest (Bestandsprojekte)</a:t>
            </a:r>
          </a:p>
        </p:txBody>
      </p:sp>
      <p:sp>
        <p:nvSpPr>
          <p:cNvPr id="4" name="Rectangle 1">
            <a:extLst>
              <a:ext uri="{FF2B5EF4-FFF2-40B4-BE49-F238E27FC236}">
                <a16:creationId xmlns:a16="http://schemas.microsoft.com/office/drawing/2014/main" id="{9952C1FA-BE54-8105-0D00-6D9827FD2E9E}"/>
              </a:ext>
            </a:extLst>
          </p:cNvPr>
          <p:cNvSpPr>
            <a:spLocks noGrp="1" noChangeArrowheads="1"/>
          </p:cNvSpPr>
          <p:nvPr>
            <p:ph idx="1"/>
          </p:nvPr>
        </p:nvSpPr>
        <p:spPr bwMode="auto">
          <a:xfrm>
            <a:off x="1987680" y="2411519"/>
            <a:ext cx="5380530" cy="3394641"/>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Jasmine / Karma   →   Vitest</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jasmine.createSpy()   →   vi.fn()</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jasmine.createSpyObj('S', ['a'])   →   { a: vi.fn()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spyOn(obj, 'm')   →   vi.spyOn(obj, 'm')</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spy.and.returnValue(x)   →   spy.mockReturnValue(x)</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spy.and.callFake(fn)   →   spy.mockImplementation(fn)</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spy.calls.count()   →   spy.mock.calls.length</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expect(list).toHaveSize(2)   →   expect(list).toHaveLength(2)</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it(..., (done) =&gt; { ...; done(); })   →   it(..., async () =&gt; { await ...; })</a:t>
            </a:r>
          </a:p>
          <a:p>
            <a:pPr marL="0" marR="0" indent="0" defTabSz="914400" rtl="0" eaLnBrk="0" fontAlgn="base" latinLnBrk="0" hangingPunct="0">
              <a:lnSpc>
                <a:spcPct val="110000"/>
              </a:lnSpc>
              <a:spcBef>
                <a:spcPct val="0"/>
              </a:spcBef>
              <a:spcAft>
                <a:spcPts val="600"/>
              </a:spcAft>
              <a:buClrTx/>
              <a:buSzTx/>
              <a:buFontTx/>
              <a:buNone/>
              <a:tabLst/>
            </a:pPr>
            <a:r>
              <a:rPr kumimoji="0" lang="de-DE" altLang="de-DE" sz="1100" b="0" i="0" u="none" strike="noStrike" cap="none" normalizeH="0" baseline="0">
                <a:ln>
                  <a:noFill/>
                </a:ln>
                <a:effectLst/>
              </a:rPr>
              <a:t>// karma.conf.js, src/test.ts, polyfills.ts entfallen; Typen: "vitest/globals"</a:t>
            </a:r>
          </a:p>
        </p:txBody>
      </p:sp>
      <p:sp>
        <p:nvSpPr>
          <p:cNvPr id="11" name="Footer Placeholder 11">
            <a:extLst>
              <a:ext uri="{FF2B5EF4-FFF2-40B4-BE49-F238E27FC236}">
                <a16:creationId xmlns:a16="http://schemas.microsoft.com/office/drawing/2014/main" id="{D3F11434-174D-1999-3EFB-12EAB103792E}"/>
              </a:ext>
            </a:extLst>
          </p:cNvPr>
          <p:cNvSpPr>
            <a:spLocks noGrp="1"/>
          </p:cNvSpPr>
          <p:nvPr>
            <p:ph type="ftr" sz="quarter" idx="11"/>
          </p:nvPr>
        </p:nvSpPr>
        <p:spPr>
          <a:xfrm>
            <a:off x="8610602" y="6318446"/>
            <a:ext cx="2743198" cy="365125"/>
          </a:xfrm>
        </p:spPr>
        <p:txBody>
          <a:bodyPr/>
          <a:lstStyle/>
          <a:p>
            <a:r>
              <a:t>Vitest</a:t>
            </a:r>
          </a:p>
        </p:txBody>
      </p:sp>
      <p:sp>
        <p:nvSpPr>
          <p:cNvPr id="13" name="Slide Number Placeholder 12">
            <a:extLst>
              <a:ext uri="{FF2B5EF4-FFF2-40B4-BE49-F238E27FC236}">
                <a16:creationId xmlns:a16="http://schemas.microsoft.com/office/drawing/2014/main" id="{E81E43C7-A0CC-1802-1337-C72177715401}"/>
              </a:ext>
            </a:extLst>
          </p:cNvPr>
          <p:cNvSpPr>
            <a:spLocks noGrp="1"/>
          </p:cNvSpPr>
          <p:nvPr>
            <p:ph type="sldNum" sz="quarter" idx="12"/>
          </p:nvPr>
        </p:nvSpPr>
        <p:spPr>
          <a:xfrm>
            <a:off x="11353800" y="6318446"/>
            <a:ext cx="615696" cy="365125"/>
          </a:xfrm>
        </p:spPr>
        <p:txBody>
          <a:bodyPr/>
          <a:lstStyle/>
          <a:p>
            <a:pPr>
              <a:spcAft>
                <a:spcPts val="600"/>
              </a:spcAft>
            </a:pPr>
            <a:fld id="{5E84AC6A-A0EF-437B-BCEE-4772B0214A58}" type="slidenum">
              <a:rPr lang="en-US" smtClean="0"/>
              <a:pPr>
                <a:spcAft>
                  <a:spcPts val="600"/>
                </a:spcAft>
              </a:pPr>
              <a:t>9</a:t>
            </a:fld>
            <a:endParaRPr lang="en-US"/>
          </a:p>
        </p:txBody>
      </p:sp>
    </p:spTree>
  </p:cSld>
  <p:clrMapOvr>
    <a:masterClrMapping/>
  </p:clrMapOvr>
</p:sld>
</file>

<file path=ppt/theme/theme1.xml><?xml version="1.0" encoding="utf-8"?>
<a:theme xmlns:a="http://schemas.openxmlformats.org/drawingml/2006/main" name="SwellVTI">
  <a:themeElements>
    <a:clrScheme name="AnalogousFromRegularSeed_2SEEDS">
      <a:dk1>
        <a:srgbClr val="000000"/>
      </a:dk1>
      <a:lt1>
        <a:srgbClr val="FFFFFF"/>
      </a:lt1>
      <a:dk2>
        <a:srgbClr val="36301E"/>
      </a:dk2>
      <a:lt2>
        <a:srgbClr val="E8E6E2"/>
      </a:lt2>
      <a:accent1>
        <a:srgbClr val="3B62B1"/>
      </a:accent1>
      <a:accent2>
        <a:srgbClr val="4DA5C3"/>
      </a:accent2>
      <a:accent3>
        <a:srgbClr val="574DC3"/>
      </a:accent3>
      <a:accent4>
        <a:srgbClr val="B1633B"/>
      </a:accent4>
      <a:accent5>
        <a:srgbClr val="BDA04A"/>
      </a:accent5>
      <a:accent6>
        <a:srgbClr val="99AD39"/>
      </a:accent6>
      <a:hlink>
        <a:srgbClr val="A07D35"/>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1937</Words>
  <Application>Microsoft Office PowerPoint</Application>
  <PresentationFormat>Breitbild</PresentationFormat>
  <Paragraphs>215</Paragraphs>
  <Slides>31</Slides>
  <Notes>0</Notes>
  <HiddenSlides>0</HiddenSlides>
  <MMClips>1</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31</vt:i4>
      </vt:variant>
    </vt:vector>
  </HeadingPairs>
  <TitlesOfParts>
    <vt:vector size="38" baseType="lpstr">
      <vt:lpstr>Arial</vt:lpstr>
      <vt:lpstr>Arial Unicode MS</vt:lpstr>
      <vt:lpstr>JetBrains Mono</vt:lpstr>
      <vt:lpstr>Neue Haas Grotesk Text Pro</vt:lpstr>
      <vt:lpstr>source-sans-pro</vt:lpstr>
      <vt:lpstr>Wingdings</vt:lpstr>
      <vt:lpstr>SwellVTI</vt:lpstr>
      <vt:lpstr>Testing</vt:lpstr>
      <vt:lpstr>Testpyramide</vt:lpstr>
      <vt:lpstr>Default Angular Unittest Framework &lt; V17</vt:lpstr>
      <vt:lpstr>Konfiguration Karma package.json</vt:lpstr>
      <vt:lpstr>Konfiguration Karma angular.json</vt:lpstr>
      <vt:lpstr>Konfiguration Karma tsconfig.spec.json</vt:lpstr>
      <vt:lpstr>Karma Runner</vt:lpstr>
      <vt:lpstr>Jasmine Vokabular</vt:lpstr>
      <vt:lpstr>Einfaches Beispiel – Testsubjekt ExampleService</vt:lpstr>
      <vt:lpstr>Setup, Teardown </vt:lpstr>
      <vt:lpstr>Setup initialisiere Testwelt</vt:lpstr>
      <vt:lpstr>Expectation</vt:lpstr>
      <vt:lpstr>UnitTest Component</vt:lpstr>
      <vt:lpstr>UnitTests Component - Setup</vt:lpstr>
      <vt:lpstr>UnitTests Component – Set </vt:lpstr>
      <vt:lpstr>Dependency Injection</vt:lpstr>
      <vt:lpstr>Mocking Dependencies</vt:lpstr>
      <vt:lpstr>Async result</vt:lpstr>
      <vt:lpstr>Aync result</vt:lpstr>
      <vt:lpstr>Throw Error</vt:lpstr>
      <vt:lpstr>Trigger Eventhandling</vt:lpstr>
      <vt:lpstr>Übung 1</vt:lpstr>
      <vt:lpstr>Cypress</vt:lpstr>
      <vt:lpstr>Installation Cypress</vt:lpstr>
      <vt:lpstr>Konfig</vt:lpstr>
      <vt:lpstr>Bestandteile eines Tests</vt:lpstr>
      <vt:lpstr>Übung 2</vt:lpstr>
      <vt:lpstr>Cypress Elements – DSL </vt:lpstr>
      <vt:lpstr>Cypress Elements – Element API</vt:lpstr>
      <vt:lpstr>Assertions und Matchers</vt:lpstr>
      <vt:lpstr>Übung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dc:title>
  <dc:creator>Thomas Götzinger</dc:creator>
  <cp:lastModifiedBy>Thomas Götzinger</cp:lastModifiedBy>
  <cp:revision>19</cp:revision>
  <dcterms:created xsi:type="dcterms:W3CDTF">2023-12-10T08:26:12Z</dcterms:created>
  <dcterms:modified xsi:type="dcterms:W3CDTF">2025-03-29T16:34:30Z</dcterms:modified>
</cp:coreProperties>
</file>