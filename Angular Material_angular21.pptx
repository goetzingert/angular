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0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5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7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12/14/2023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6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12/14/2023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3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1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5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9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874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12/14/2023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2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76" r:id="rId6"/>
    <p:sldLayoutId id="2147483681" r:id="rId7"/>
    <p:sldLayoutId id="2147483677" r:id="rId8"/>
    <p:sldLayoutId id="2147483678" r:id="rId9"/>
    <p:sldLayoutId id="2147483679" r:id="rId10"/>
    <p:sldLayoutId id="214748368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2.material.io/design" TargetMode="Externa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3" descr="Cuadrado y rectángulo en 3D">
            <a:extLst>
              <a:ext uri="{FF2B5EF4-FFF2-40B4-BE49-F238E27FC236}">
                <a16:creationId xmlns:a16="http://schemas.microsoft.com/office/drawing/2014/main" id="{8739EF65-56D2-3C8E-7466-4B8F72A433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148" b="83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2A8A6CB-711B-EF76-B4A4-6A5C77309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de-DE" sz="8200">
                <a:solidFill>
                  <a:srgbClr val="FFFFFF"/>
                </a:solidFill>
              </a:rPr>
              <a:t>Angular Material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FFB31A6-108C-28BA-0FD3-12AF40C48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Component Library</a:t>
            </a:r>
          </a:p>
        </p:txBody>
      </p:sp>
    </p:spTree>
    <p:extLst>
      <p:ext uri="{BB962C8B-B14F-4D97-AF65-F5344CB8AC3E}">
        <p14:creationId xmlns:p14="http://schemas.microsoft.com/office/powerpoint/2010/main" val="377097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2C40E8-87D5-0969-0822-1C315A9C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>
            <a:normAutofit/>
          </a:bodyPr>
          <a:lstStyle/>
          <a:p>
            <a:r>
              <a:rPr lang="de-DE" dirty="0"/>
              <a:t>UI Elemente</a:t>
            </a:r>
          </a:p>
          <a:p>
            <a:pPr lvl="1"/>
            <a:r>
              <a:rPr lang="de-DE" sz="1600"/>
              <a:t>Buttons</a:t>
            </a:r>
          </a:p>
          <a:p>
            <a:pPr lvl="1"/>
            <a:r>
              <a:rPr lang="de-DE" sz="1600"/>
              <a:t>Fonts</a:t>
            </a:r>
          </a:p>
          <a:p>
            <a:pPr lvl="1"/>
            <a:r>
              <a:rPr lang="de-DE" sz="1600"/>
              <a:t>…</a:t>
            </a:r>
          </a:p>
          <a:p>
            <a:r>
              <a:rPr lang="de-DE"/>
              <a:t>Nutzung </a:t>
            </a:r>
            <a:r>
              <a:rPr lang="de-DE" dirty="0" err="1"/>
              <a:t>mittls</a:t>
            </a:r>
            <a:r>
              <a:rPr lang="de-DE" dirty="0"/>
              <a:t> NPM </a:t>
            </a:r>
            <a:r>
              <a:rPr lang="de-DE" dirty="0" err="1"/>
              <a:t>Dependency</a:t>
            </a:r>
            <a:endParaRPr lang="de-DE" dirty="0"/>
          </a:p>
          <a:p>
            <a:endParaRPr lang="de-DE" dirty="0"/>
          </a:p>
          <a:p>
            <a:r>
              <a:rPr lang="de-DE" dirty="0"/>
              <a:t>Unterstützt: Konsistentes Design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1906483-6441-F2F3-0365-C8FF957A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de-DE" dirty="0" err="1"/>
              <a:t>Component</a:t>
            </a:r>
            <a:r>
              <a:rPr lang="de-DE" dirty="0"/>
              <a:t> Library</a:t>
            </a:r>
          </a:p>
        </p:txBody>
      </p:sp>
      <p:pic>
        <p:nvPicPr>
          <p:cNvPr id="1026" name="Picture 2" descr="Angular Material buttons">
            <a:extLst>
              <a:ext uri="{FF2B5EF4-FFF2-40B4-BE49-F238E27FC236}">
                <a16:creationId xmlns:a16="http://schemas.microsoft.com/office/drawing/2014/main" id="{4F7F839F-8D7A-9940-1D9E-EF42709A2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7824" y="3066807"/>
            <a:ext cx="4977453" cy="220252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0E148-D3E4-43BF-5055-C73FDD8F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8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823D8-013D-27F5-9E96-7BF8B3D9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de-DE" dirty="0"/>
              <a:t>Angular Material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6AE15CE-D7B6-A360-6777-CB3ADD2A9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</a:rPr>
              <a:t>Google's official component library. </a:t>
            </a:r>
          </a:p>
          <a:p>
            <a:r>
              <a:rPr lang="en-US" b="0" i="0">
                <a:effectLst/>
              </a:rPr>
              <a:t>Standard CSS </a:t>
            </a:r>
          </a:p>
          <a:p>
            <a:r>
              <a:rPr lang="en-US" b="0" i="0">
                <a:effectLst/>
              </a:rPr>
              <a:t>Simple APIs </a:t>
            </a:r>
            <a:r>
              <a:rPr lang="en-US" b="0" i="0" err="1">
                <a:effectLst/>
              </a:rPr>
              <a:t>mit</a:t>
            </a:r>
            <a:r>
              <a:rPr lang="en-US" b="0" i="0">
                <a:effectLst/>
              </a:rPr>
              <a:t> </a:t>
            </a:r>
            <a:r>
              <a:rPr lang="en-US" b="0" i="0" err="1">
                <a:effectLst/>
              </a:rPr>
              <a:t>konsistentem</a:t>
            </a:r>
            <a:r>
              <a:rPr lang="en-US" b="0" i="0">
                <a:effectLst/>
              </a:rPr>
              <a:t> cross platform </a:t>
            </a:r>
            <a:r>
              <a:rPr lang="en-US" b="0" i="0" err="1">
                <a:effectLst/>
              </a:rPr>
              <a:t>Verhalten</a:t>
            </a:r>
            <a:endParaRPr lang="en-US"/>
          </a:p>
          <a:p>
            <a:r>
              <a:rPr lang="en-US" b="0" i="0">
                <a:effectLst/>
              </a:rPr>
              <a:t>Customizable Components in Compliance der </a:t>
            </a:r>
            <a:r>
              <a:rPr lang="en-US" b="0" i="0" u="sng">
                <a:effectLst/>
                <a:hlinkClick r:id="rId2"/>
              </a:rPr>
              <a:t>material design</a:t>
            </a:r>
            <a:r>
              <a:rPr lang="en-US" b="0" i="0">
                <a:effectLst/>
              </a:rPr>
              <a:t> </a:t>
            </a:r>
            <a:r>
              <a:rPr lang="en-US" b="0" i="0" err="1">
                <a:effectLst/>
              </a:rPr>
              <a:t>Specifikation</a:t>
            </a:r>
            <a:r>
              <a:rPr lang="en-US" b="0" i="0">
                <a:effectLst/>
              </a:rPr>
              <a:t>.</a:t>
            </a:r>
            <a:endParaRPr lang="de-DE" dirty="0"/>
          </a:p>
        </p:txBody>
      </p:sp>
      <p:pic>
        <p:nvPicPr>
          <p:cNvPr id="10" name="Grafik 9" descr="Ein Bild, das Design, Rechteck, Screenshot, Quadrat enthält.&#10;&#10;Automatisch generierte Beschreibung">
            <a:extLst>
              <a:ext uri="{FF2B5EF4-FFF2-40B4-BE49-F238E27FC236}">
                <a16:creationId xmlns:a16="http://schemas.microsoft.com/office/drawing/2014/main" id="{1F1F0EF9-A95A-2D86-CBAE-15AFE8C06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391" y="2691029"/>
            <a:ext cx="4985785" cy="2954078"/>
          </a:xfrm>
          <a:prstGeom prst="rect">
            <a:avLst/>
          </a:prstGeom>
          <a:noFill/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556605-58EE-8C12-8FFC-D17C2A08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3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67C0A-2479-F6D0-AD9C-5349D0C1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de-DE" dirty="0"/>
              <a:t>Projekt Anpassungen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B1AA353-D6CD-A140-297D-5C8CB1CF0A3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77824" y="2159175"/>
            <a:ext cx="4977453" cy="4017787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5600" b="0" i="0" u="none" strike="noStrike" cap="none" normalizeH="0" baseline="0" dirty="0" err="1">
                <a:ln>
                  <a:noFill/>
                </a:ln>
                <a:effectLst/>
              </a:rPr>
              <a:t>ng</a:t>
            </a:r>
            <a:r>
              <a:rPr kumimoji="0" lang="de-DE" altLang="de-DE" sz="5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5600" b="0" i="0" u="none" strike="noStrike" cap="none" normalizeH="0" baseline="0" dirty="0" err="1">
                <a:ln>
                  <a:noFill/>
                </a:ln>
                <a:effectLst/>
              </a:rPr>
              <a:t>add</a:t>
            </a:r>
            <a:r>
              <a:rPr kumimoji="0" lang="de-DE" altLang="de-DE" sz="5600" b="0" i="0" u="none" strike="noStrike" cap="none" normalizeH="0" baseline="0" dirty="0">
                <a:ln>
                  <a:noFill/>
                </a:ln>
                <a:effectLst/>
              </a:rPr>
              <a:t> @angular/material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e-DE" altLang="de-DE" sz="56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e-DE" altLang="de-DE" sz="5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5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53B2D67-AF83-891F-BA57-57729AF1A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 err="1"/>
              <a:t>i</a:t>
            </a:r>
            <a:r>
              <a:rPr lang="en-US" sz="4400" dirty="0"/>
              <a:t> Using package manager: </a:t>
            </a:r>
            <a:r>
              <a:rPr lang="en-US" sz="4400" dirty="0" err="1"/>
              <a:t>npm</a:t>
            </a:r>
            <a:endParaRPr lang="en-US" sz="4400" dirty="0"/>
          </a:p>
          <a:p>
            <a:pPr marL="0" indent="0">
              <a:buNone/>
            </a:pPr>
            <a:r>
              <a:rPr lang="en-US" sz="4400" dirty="0"/>
              <a:t>√ Found compatible package version: @angular/material@21.x</a:t>
            </a:r>
          </a:p>
          <a:p>
            <a:pPr marL="0" indent="0">
              <a:buNone/>
            </a:pPr>
            <a:r>
              <a:rPr lang="en-US" sz="4400" dirty="0"/>
              <a:t>√ Package information loaded.</a:t>
            </a:r>
          </a:p>
          <a:p>
            <a:pPr marL="0" indent="0">
              <a:buNone/>
            </a:pPr>
            <a:r>
              <a:rPr lang="en-US" sz="4400" dirty="0"/>
              <a:t>-…</a:t>
            </a:r>
          </a:p>
          <a:p>
            <a:pPr marL="0" indent="0">
              <a:buNone/>
            </a:pPr>
            <a:r>
              <a:rPr lang="en-US" sz="4400" dirty="0"/>
              <a:t>? Choose a prebuilt theme name, or "custom" for a custom theme: Azure/Blue</a:t>
            </a:r>
          </a:p>
          <a:p>
            <a:pPr marL="0" indent="0">
              <a:buNone/>
            </a:pPr>
            <a:r>
              <a:rPr lang="en-US" sz="4400" dirty="0"/>
              <a:t>? Set up global Angular Material typography styles? Yes</a:t>
            </a:r>
          </a:p>
          <a:p>
            <a:pPr marL="0" indent="0">
              <a:buNone/>
            </a:pPr>
            <a:r>
              <a:rPr lang="en-US" sz="4400" dirty="0"/>
              <a:t>? (Animations-Frage entfällt in neueren Versionen)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package.json</a:t>
            </a:r>
            <a:r>
              <a:rPr lang="en-US" sz="4400" dirty="0"/>
              <a:t> (1250 bytes)</a:t>
            </a:r>
          </a:p>
          <a:p>
            <a:pPr marL="0" indent="0">
              <a:buNone/>
            </a:pPr>
            <a:r>
              <a:rPr lang="en-US" sz="4400" dirty="0"/>
              <a:t>√ Packages installed successfully.</a:t>
            </a:r>
          </a:p>
          <a:p>
            <a:pPr marL="0" indent="0">
              <a:buNone/>
            </a:pPr>
            <a:r>
              <a:rPr lang="en-US" sz="4400" dirty="0"/>
              <a:t>UPDATE src/main.ts bzw. src/app/app.config.ts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angular.json</a:t>
            </a:r>
            <a:r>
              <a:rPr lang="en-US" sz="4400" dirty="0"/>
              <a:t> (2929 bytes)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src</a:t>
            </a:r>
            <a:r>
              <a:rPr lang="en-US" sz="4400" dirty="0"/>
              <a:t>/index.html (590 bytes)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src</a:t>
            </a:r>
            <a:r>
              <a:rPr lang="en-US" sz="4400" dirty="0"/>
              <a:t>/styles.css (181 bytes)</a:t>
            </a:r>
          </a:p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8BCA62-F3E6-DF44-F809-2F8C40D5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47B8DBC-27B9-DC0A-5091-598AAA76E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857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A5517-44BE-10E7-3A84-1BF800F8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Wichtige Anpassungen durch 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add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2589EB-BA2B-A9D9-2FE3-2FB3730100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Index.html</a:t>
            </a:r>
          </a:p>
          <a:p>
            <a:pPr marL="0" indent="0">
              <a:buNone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link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rel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preconnect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href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="https://fonts.gstatic.com"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link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href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="https://fonts.googleapis.com/css2?family=Roboto:wght@300;400;500&amp;display=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swap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rel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stylesheet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link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href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="https://fonts.googleapis.com/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icon?family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Material+Icons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rel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stylesheet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6DE121-E8C2-C1E8-D25B-92FAC67C5F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angular.json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"styles": [  "@angular/material/prebuilt-themes/azure-blue.css",  "src/styles.css"],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48DB98-445D-EA57-B26A-90BCA479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1BA07B3-A26E-53B3-C265-2E76CBE26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F002770-937E-B4E0-2524-04333828E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239A0-D977-2A6D-6489-1D082CAC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Nutzung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55FF270-1068-A521-12D6-EF65F397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https://material.angular.io/components/categories</a:t>
            </a:r>
          </a:p>
          <a:p>
            <a:pPr/>
            <a:r>
              <a:rPr lang="de-DE" dirty="0"/>
              <a:t>Material-Komponenten direkt im imports-Array der Standalone-Komponente einbinden, z. B. imports: [MatButtonModule, MatInputModule, MatSelectModule]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5C02F4-8693-042C-8C34-F9CEA545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9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4C562-2F1C-449B-0ECE-00400ED0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Buchungsseite mit Angular Material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69DD84-8550-1023-9E1C-DE6A3E96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 sz="2000"/>
              <a:t>BookingComponent</a:t>
            </a:r>
            <a:r>
              <a:rPr lang="de-DE" dirty="0" sz="2000"/>
              <a:t> Formular mit Material Eingabefeldern</a:t>
            </a:r>
          </a:p>
          <a:p>
            <a:pPr lvl="1"/>
            <a:r>
              <a:rPr lang="de-DE" dirty="0" sz="2000"/>
              <a:t>Training: &lt;mat-select&gt; mit &lt;mat-option&gt; per @for über trainings()</a:t>
            </a:r>
            <a:endParaRPr lang="de-DE" dirty="0" sz="2000"/>
          </a:p>
          <a:p>
            <a:pPr lvl="1"/>
            <a:r>
              <a:rPr lang="de-DE" dirty="0" sz="2000"/>
              <a:t>Datum	</a:t>
            </a:r>
          </a:p>
          <a:p>
            <a:pPr lvl="1"/>
            <a:r>
              <a:rPr lang="de-DE" dirty="0" sz="2000"/>
              <a:t>Name</a:t>
            </a:r>
          </a:p>
          <a:p>
            <a:pPr lvl="1"/>
            <a:r>
              <a:rPr lang="de-DE" dirty="0" sz="2000"/>
              <a:t>Email (optional)</a:t>
            </a:r>
          </a:p>
          <a:p>
            <a:pPr lvl="1"/>
            <a:r>
              <a:rPr lang="de-DE" dirty="0" sz="2000"/>
              <a:t>Teilnehmeranzahl</a:t>
            </a:r>
          </a:p>
          <a:p>
            <a:pPr/>
            <a:r>
              <a:rPr lang="de-DE" dirty="0" sz="2000">
                <a:sym typeface="Wingdings" panose="05000000000000000000" pitchFamily="2" charset="2"/>
              </a:rPr>
              <a:t> Standalone BookingComponent (Material-Module im imports-Array)</a:t>
            </a:r>
          </a:p>
          <a:p>
            <a:pPr/>
            <a:r>
              <a:rPr lang="de-DE" dirty="0" sz="2000">
                <a:sym typeface="Wingdings" panose="05000000000000000000" pitchFamily="2" charset="2"/>
              </a:rPr>
              <a:t> Route zu BookingComponent in app.routes.ts mit Pfad „booking“ einrichten</a:t>
            </a:r>
          </a:p>
          <a:p>
            <a:r>
              <a:rPr lang="de-DE" dirty="0" sz="2000">
                <a:sym typeface="Wingdings" panose="05000000000000000000" pitchFamily="2" charset="2"/>
              </a:rPr>
              <a:t> Booking Class {</a:t>
            </a:r>
            <a:r>
              <a:rPr lang="de-DE" dirty="0" err="1" sz="2000">
                <a:sym typeface="Wingdings" panose="05000000000000000000" pitchFamily="2" charset="2"/>
              </a:rPr>
              <a:t>id</a:t>
            </a:r>
            <a:r>
              <a:rPr lang="de-DE" dirty="0" sz="2000">
                <a:sym typeface="Wingdings" panose="05000000000000000000" pitchFamily="2" charset="2"/>
              </a:rPr>
              <a:t>: </a:t>
            </a:r>
            <a:r>
              <a:rPr lang="de-DE" dirty="0" err="1" sz="2000">
                <a:sym typeface="Wingdings" panose="05000000000000000000" pitchFamily="2" charset="2"/>
              </a:rPr>
              <a:t>number</a:t>
            </a:r>
            <a:r>
              <a:rPr lang="de-DE" dirty="0" sz="2000">
                <a:sym typeface="Wingdings" panose="05000000000000000000" pitchFamily="2" charset="2"/>
              </a:rPr>
              <a:t>, </a:t>
            </a:r>
            <a:r>
              <a:rPr lang="de-DE" dirty="0" err="1" sz="2000">
                <a:sym typeface="Wingdings" panose="05000000000000000000" pitchFamily="2" charset="2"/>
              </a:rPr>
              <a:t>trainingId</a:t>
            </a:r>
            <a:r>
              <a:rPr lang="de-DE" dirty="0" sz="2000">
                <a:sym typeface="Wingdings" panose="05000000000000000000" pitchFamily="2" charset="2"/>
              </a:rPr>
              <a:t>: </a:t>
            </a:r>
            <a:r>
              <a:rPr lang="de-DE" dirty="0" err="1" sz="2000">
                <a:sym typeface="Wingdings" panose="05000000000000000000" pitchFamily="2" charset="2"/>
              </a:rPr>
              <a:t>number</a:t>
            </a:r>
            <a:r>
              <a:rPr lang="de-DE" dirty="0" sz="2000">
                <a:sym typeface="Wingdings" panose="05000000000000000000" pitchFamily="2" charset="2"/>
              </a:rPr>
              <a:t>, </a:t>
            </a:r>
            <a:r>
              <a:rPr lang="de-DE" dirty="0" err="1" sz="2000">
                <a:sym typeface="Wingdings" panose="05000000000000000000" pitchFamily="2" charset="2"/>
              </a:rPr>
              <a:t>name</a:t>
            </a:r>
            <a:r>
              <a:rPr lang="de-DE" dirty="0" sz="2000">
                <a:sym typeface="Wingdings" panose="05000000000000000000" pitchFamily="2" charset="2"/>
              </a:rPr>
              <a:t>: </a:t>
            </a:r>
            <a:r>
              <a:rPr lang="de-DE" dirty="0" err="1" sz="2000">
                <a:sym typeface="Wingdings" panose="05000000000000000000" pitchFamily="2" charset="2"/>
              </a:rPr>
              <a:t>string</a:t>
            </a:r>
            <a:r>
              <a:rPr lang="de-DE" dirty="0" sz="2000">
                <a:sym typeface="Wingdings" panose="05000000000000000000" pitchFamily="2" charset="2"/>
              </a:rPr>
              <a:t>, </a:t>
            </a:r>
            <a:r>
              <a:rPr lang="de-DE" dirty="0" err="1" sz="2000">
                <a:sym typeface="Wingdings" panose="05000000000000000000" pitchFamily="2" charset="2"/>
              </a:rPr>
              <a:t>numberOfParticants</a:t>
            </a:r>
            <a:r>
              <a:rPr lang="de-DE" dirty="0" sz="2000">
                <a:sym typeface="Wingdings" panose="05000000000000000000" pitchFamily="2" charset="2"/>
              </a:rPr>
              <a:t>: </a:t>
            </a:r>
            <a:r>
              <a:rPr lang="de-DE" dirty="0" err="1" sz="2000">
                <a:sym typeface="Wingdings" panose="05000000000000000000" pitchFamily="2" charset="2"/>
              </a:rPr>
              <a:t>number</a:t>
            </a:r>
            <a:r>
              <a:rPr lang="de-DE" dirty="0" sz="2000">
                <a:sym typeface="Wingdings" panose="05000000000000000000" pitchFamily="2" charset="2"/>
              </a:rPr>
              <a:t>} in </a:t>
            </a:r>
            <a:r>
              <a:rPr lang="de-DE" dirty="0" err="1" sz="2000">
                <a:sym typeface="Wingdings" panose="05000000000000000000" pitchFamily="2" charset="2"/>
              </a:rPr>
              <a:t>booking.model.ts</a:t>
            </a:r>
            <a:endParaRPr lang="de-DE" dirty="0" sz="2000">
              <a:sym typeface="Wingdings" panose="05000000000000000000" pitchFamily="2" charset="2"/>
            </a:endParaRPr>
          </a:p>
          <a:p>
            <a:r>
              <a:rPr lang="de-DE" dirty="0" sz="2000">
                <a:sym typeface="Wingdings" panose="05000000000000000000" pitchFamily="2" charset="2"/>
              </a:rPr>
              <a:t> </a:t>
            </a:r>
            <a:r>
              <a:rPr lang="de-DE" dirty="0" err="1" sz="2000">
                <a:sym typeface="Wingdings" panose="05000000000000000000" pitchFamily="2" charset="2"/>
              </a:rPr>
              <a:t>BookingService</a:t>
            </a:r>
            <a:r>
              <a:rPr lang="de-DE" dirty="0" sz="2000">
                <a:sym typeface="Wingdings" panose="05000000000000000000" pitchFamily="2" charset="2"/>
              </a:rPr>
              <a:t>  </a:t>
            </a:r>
            <a:r>
              <a:rPr lang="de-DE" dirty="0" err="1" sz="2000">
                <a:sym typeface="Wingdings" panose="05000000000000000000" pitchFamily="2" charset="2"/>
              </a:rPr>
              <a:t>getAll</a:t>
            </a:r>
            <a:r>
              <a:rPr lang="de-DE" dirty="0" sz="2000">
                <a:sym typeface="Wingdings" panose="05000000000000000000" pitchFamily="2" charset="2"/>
              </a:rPr>
              <a:t>(), </a:t>
            </a:r>
            <a:r>
              <a:rPr lang="de-DE" dirty="0" err="1" sz="2000">
                <a:sym typeface="Wingdings" panose="05000000000000000000" pitchFamily="2" charset="2"/>
              </a:rPr>
              <a:t>insert</a:t>
            </a:r>
            <a:r>
              <a:rPr lang="de-DE" dirty="0" sz="2000">
                <a:sym typeface="Wingdings" panose="05000000000000000000" pitchFamily="2" charset="2"/>
              </a:rPr>
              <a:t>() speichert in Array private </a:t>
            </a:r>
            <a:r>
              <a:rPr lang="de-DE" dirty="0" err="1" sz="2000">
                <a:sym typeface="Wingdings" panose="05000000000000000000" pitchFamily="2" charset="2"/>
              </a:rPr>
              <a:t>bookings</a:t>
            </a:r>
            <a:r>
              <a:rPr lang="de-DE" dirty="0" sz="2000">
                <a:sym typeface="Wingdings" panose="05000000000000000000" pitchFamily="2" charset="2"/>
              </a:rPr>
              <a:t>[]: Booking</a:t>
            </a:r>
          </a:p>
          <a:p>
            <a:endParaRPr lang="de-DE" dirty="0" sz="200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364D59-7450-A6E2-20FA-DADC3957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3BB49E8-1A25-912E-9B17-F9790CF7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79" y="2986084"/>
            <a:ext cx="4090996" cy="133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51312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AnalogousFromDarkSeed_2SEEDS">
      <a:dk1>
        <a:srgbClr val="000000"/>
      </a:dk1>
      <a:lt1>
        <a:srgbClr val="FFFFFF"/>
      </a:lt1>
      <a:dk2>
        <a:srgbClr val="22283C"/>
      </a:dk2>
      <a:lt2>
        <a:srgbClr val="E8E7E2"/>
      </a:lt2>
      <a:accent1>
        <a:srgbClr val="3B58B1"/>
      </a:accent1>
      <a:accent2>
        <a:srgbClr val="4D9BC3"/>
      </a:accent2>
      <a:accent3>
        <a:srgbClr val="614DC3"/>
      </a:accent3>
      <a:accent4>
        <a:srgbClr val="B13B46"/>
      </a:accent4>
      <a:accent5>
        <a:srgbClr val="C3724D"/>
      </a:accent5>
      <a:accent6>
        <a:srgbClr val="B1923B"/>
      </a:accent6>
      <a:hlink>
        <a:srgbClr val="BF3F9E"/>
      </a:hlink>
      <a:folHlink>
        <a:srgbClr val="7F7F7F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Breitbild</PresentationFormat>
  <Paragraphs>59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 Light</vt:lpstr>
      <vt:lpstr>Arial</vt:lpstr>
      <vt:lpstr>Calibri</vt:lpstr>
      <vt:lpstr>JetBrains Mono</vt:lpstr>
      <vt:lpstr>Walbaum Display</vt:lpstr>
      <vt:lpstr>BohoVogueVTI</vt:lpstr>
      <vt:lpstr>Angular Material</vt:lpstr>
      <vt:lpstr>Component Library</vt:lpstr>
      <vt:lpstr>Angular Material</vt:lpstr>
      <vt:lpstr>Projekt Anpassungen</vt:lpstr>
      <vt:lpstr>Wichtige Anpassungen durch ng add</vt:lpstr>
      <vt:lpstr>Nutzung</vt:lpstr>
      <vt:lpstr>Buchungsseite mit Angular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Material</dc:title>
  <dc:creator>Thomas Götzinger</dc:creator>
  <cp:lastModifiedBy>Thomas Götzinger</cp:lastModifiedBy>
  <cp:revision>8</cp:revision>
  <dcterms:created xsi:type="dcterms:W3CDTF">2023-12-14T05:03:21Z</dcterms:created>
  <dcterms:modified xsi:type="dcterms:W3CDTF">2023-12-14T12:07:32Z</dcterms:modified>
</cp:coreProperties>
</file>